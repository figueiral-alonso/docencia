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7eccd1900f4f4b" /><Relationship Type="http://schemas.openxmlformats.org/officeDocument/2006/relationships/extended-properties" Target="/docProps/app.xml" Id="R664045c8886b43b6" /><Relationship Type="http://schemas.openxmlformats.org/officeDocument/2006/relationships/officeDocument" Target="/ppt/presentation.xml" Id="R46dfb087b75249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121de30dfc4572"/>
  </p:sldMasterIdLst>
  <p:notesMasterIdLst>
    <p:notesMasterId xmlns:r="http://schemas.openxmlformats.org/officeDocument/2006/relationships" r:id="R58264099eda045e3"/>
  </p:notesMasterIdLst>
  <p:sldIdLst>
    <p:sldId xmlns:r="http://schemas.openxmlformats.org/officeDocument/2006/relationships" id="256" r:id="R97ad5e497354444a"/>
    <p:sldId xmlns:r="http://schemas.openxmlformats.org/officeDocument/2006/relationships" id="257" r:id="R4ddad55d815f4c14"/>
    <p:sldId xmlns:r="http://schemas.openxmlformats.org/officeDocument/2006/relationships" id="258" r:id="Rd41fef6377624d6a"/>
    <p:sldId xmlns:r="http://schemas.openxmlformats.org/officeDocument/2006/relationships" id="259" r:id="Rd658b93a64e943b4"/>
    <p:sldId xmlns:r="http://schemas.openxmlformats.org/officeDocument/2006/relationships" id="260" r:id="Ra89c3a022778468c"/>
    <p:sldId xmlns:r="http://schemas.openxmlformats.org/officeDocument/2006/relationships" id="261" r:id="Rbc088a647b964303"/>
    <p:sldId xmlns:r="http://schemas.openxmlformats.org/officeDocument/2006/relationships" id="262" r:id="R5e7b30d0245a4a14"/>
    <p:sldId xmlns:r="http://schemas.openxmlformats.org/officeDocument/2006/relationships" id="263" r:id="R8621f0f6950442f6"/>
    <p:sldId xmlns:r="http://schemas.openxmlformats.org/officeDocument/2006/relationships" id="264" r:id="Rd34140c70d5b412b"/>
    <p:sldId xmlns:r="http://schemas.openxmlformats.org/officeDocument/2006/relationships" id="265" r:id="R35bff153e7834353"/>
    <p:sldId xmlns:r="http://schemas.openxmlformats.org/officeDocument/2006/relationships" id="266" r:id="Rc96179013eb648a4"/>
    <p:sldId xmlns:r="http://schemas.openxmlformats.org/officeDocument/2006/relationships" id="267" r:id="R47470942ac964074"/>
    <p:sldId xmlns:r="http://schemas.openxmlformats.org/officeDocument/2006/relationships" id="268" r:id="Rea94eac46c84411e"/>
    <p:sldId xmlns:r="http://schemas.openxmlformats.org/officeDocument/2006/relationships" id="269" r:id="Ra02b9245332c4da1"/>
    <p:sldId xmlns:r="http://schemas.openxmlformats.org/officeDocument/2006/relationships" id="270" r:id="R12c5bcf046a14320"/>
    <p:sldId xmlns:r="http://schemas.openxmlformats.org/officeDocument/2006/relationships" id="271" r:id="Re41c7aaef78143c1"/>
    <p:sldId xmlns:r="http://schemas.openxmlformats.org/officeDocument/2006/relationships" id="272" r:id="R3a4947f9ed0f4580"/>
    <p:sldId xmlns:r="http://schemas.openxmlformats.org/officeDocument/2006/relationships" id="273" r:id="R1e9a44e836e149eb"/>
    <p:sldId xmlns:r="http://schemas.openxmlformats.org/officeDocument/2006/relationships" id="274" r:id="Ra767f1dbca7445a0"/>
    <p:sldId xmlns:r="http://schemas.openxmlformats.org/officeDocument/2006/relationships" id="275" r:id="R5e2e3b110e95467d"/>
    <p:sldId xmlns:r="http://schemas.openxmlformats.org/officeDocument/2006/relationships" id="276" r:id="R31c2246bb44b4088"/>
    <p:sldId xmlns:r="http://schemas.openxmlformats.org/officeDocument/2006/relationships" id="277" r:id="R645a1addba1441f0"/>
    <p:sldId xmlns:r="http://schemas.openxmlformats.org/officeDocument/2006/relationships" id="278" r:id="Raf05c00ae97c44c5"/>
    <p:sldId xmlns:r="http://schemas.openxmlformats.org/officeDocument/2006/relationships" id="279" r:id="Rea5bce0f7322493c"/>
    <p:sldId xmlns:r="http://schemas.openxmlformats.org/officeDocument/2006/relationships" id="280" r:id="Rcd2b85df67e04a53"/>
    <p:sldId xmlns:r="http://schemas.openxmlformats.org/officeDocument/2006/relationships" id="281" r:id="R4c539c67d1094d4c"/>
    <p:sldId xmlns:r="http://schemas.openxmlformats.org/officeDocument/2006/relationships" id="282" r:id="Rdbe5971900924ddc"/>
    <p:sldId xmlns:r="http://schemas.openxmlformats.org/officeDocument/2006/relationships" id="283" r:id="R8c285ea37354476d"/>
    <p:sldId xmlns:r="http://schemas.openxmlformats.org/officeDocument/2006/relationships" id="284" r:id="Rd2704a89259a46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6b98e77c494623" /><Relationship Type="http://schemas.openxmlformats.org/officeDocument/2006/relationships/slideMaster" Target="/ppt/slideMasters/slideMaster1.xml" Id="R6c121de30dfc4572" /><Relationship Type="http://schemas.openxmlformats.org/officeDocument/2006/relationships/notesMaster" Target="/ppt/notesMasters/notesMaster1.xml" Id="R58264099eda045e3" /><Relationship Type="http://schemas.openxmlformats.org/officeDocument/2006/relationships/presProps" Target="/ppt/presProps.xml" Id="R7df8013f756d4430" /><Relationship Type="http://schemas.openxmlformats.org/officeDocument/2006/relationships/tableStyles" Target="/ppt/tableStyles.xml" Id="R581a8b84722e43e2" /><Relationship Type="http://schemas.openxmlformats.org/officeDocument/2006/relationships/slide" Target="/ppt/slides/slide1.xml" Id="R97ad5e497354444a" /><Relationship Type="http://schemas.openxmlformats.org/officeDocument/2006/relationships/slide" Target="/ppt/slides/slide2.xml" Id="R4ddad55d815f4c14" /><Relationship Type="http://schemas.openxmlformats.org/officeDocument/2006/relationships/slide" Target="/ppt/slides/slide3.xml" Id="Rd41fef6377624d6a" /><Relationship Type="http://schemas.openxmlformats.org/officeDocument/2006/relationships/slide" Target="/ppt/slides/slide4.xml" Id="Rd658b93a64e943b4" /><Relationship Type="http://schemas.openxmlformats.org/officeDocument/2006/relationships/slide" Target="/ppt/slides/slide5.xml" Id="Ra89c3a022778468c" /><Relationship Type="http://schemas.openxmlformats.org/officeDocument/2006/relationships/slide" Target="/ppt/slides/slide6.xml" Id="Rbc088a647b964303" /><Relationship Type="http://schemas.openxmlformats.org/officeDocument/2006/relationships/slide" Target="/ppt/slides/slide7.xml" Id="R5e7b30d0245a4a14" /><Relationship Type="http://schemas.openxmlformats.org/officeDocument/2006/relationships/slide" Target="/ppt/slides/slide8.xml" Id="R8621f0f6950442f6" /><Relationship Type="http://schemas.openxmlformats.org/officeDocument/2006/relationships/slide" Target="/ppt/slides/slide9.xml" Id="Rd34140c70d5b412b" /><Relationship Type="http://schemas.openxmlformats.org/officeDocument/2006/relationships/slide" Target="/ppt/slides/slide10.xml" Id="R35bff153e7834353" /><Relationship Type="http://schemas.openxmlformats.org/officeDocument/2006/relationships/slide" Target="/ppt/slides/slide11.xml" Id="Rc96179013eb648a4" /><Relationship Type="http://schemas.openxmlformats.org/officeDocument/2006/relationships/slide" Target="/ppt/slides/slide12.xml" Id="R47470942ac964074" /><Relationship Type="http://schemas.openxmlformats.org/officeDocument/2006/relationships/slide" Target="/ppt/slides/slide13.xml" Id="Rea94eac46c84411e" /><Relationship Type="http://schemas.openxmlformats.org/officeDocument/2006/relationships/slide" Target="/ppt/slides/slide14.xml" Id="Ra02b9245332c4da1" /><Relationship Type="http://schemas.openxmlformats.org/officeDocument/2006/relationships/slide" Target="/ppt/slides/slide15.xml" Id="R12c5bcf046a14320" /><Relationship Type="http://schemas.openxmlformats.org/officeDocument/2006/relationships/slide" Target="/ppt/slides/slide16.xml" Id="Re41c7aaef78143c1" /><Relationship Type="http://schemas.openxmlformats.org/officeDocument/2006/relationships/slide" Target="/ppt/slides/slide17.xml" Id="R3a4947f9ed0f4580" /><Relationship Type="http://schemas.openxmlformats.org/officeDocument/2006/relationships/slide" Target="/ppt/slides/slide18.xml" Id="R1e9a44e836e149eb" /><Relationship Type="http://schemas.openxmlformats.org/officeDocument/2006/relationships/slide" Target="/ppt/slides/slide19.xml" Id="Ra767f1dbca7445a0" /><Relationship Type="http://schemas.openxmlformats.org/officeDocument/2006/relationships/slide" Target="/ppt/slides/slide20.xml" Id="R5e2e3b110e95467d" /><Relationship Type="http://schemas.openxmlformats.org/officeDocument/2006/relationships/slide" Target="/ppt/slides/slide21.xml" Id="R31c2246bb44b4088" /><Relationship Type="http://schemas.openxmlformats.org/officeDocument/2006/relationships/slide" Target="/ppt/slides/slide22.xml" Id="R645a1addba1441f0" /><Relationship Type="http://schemas.openxmlformats.org/officeDocument/2006/relationships/slide" Target="/ppt/slides/slide23.xml" Id="Raf05c00ae97c44c5" /><Relationship Type="http://schemas.openxmlformats.org/officeDocument/2006/relationships/slide" Target="/ppt/slides/slide24.xml" Id="Rea5bce0f7322493c" /><Relationship Type="http://schemas.openxmlformats.org/officeDocument/2006/relationships/slide" Target="/ppt/slides/slide25.xml" Id="Rcd2b85df67e04a53" /><Relationship Type="http://schemas.openxmlformats.org/officeDocument/2006/relationships/slide" Target="/ppt/slides/slide26.xml" Id="R4c539c67d1094d4c" /><Relationship Type="http://schemas.openxmlformats.org/officeDocument/2006/relationships/slide" Target="/ppt/slides/slide27.xml" Id="Rdbe5971900924ddc" /><Relationship Type="http://schemas.openxmlformats.org/officeDocument/2006/relationships/slide" Target="/ppt/slides/slide28.xml" Id="R8c285ea37354476d" /><Relationship Type="http://schemas.openxmlformats.org/officeDocument/2006/relationships/slide" Target="/ppt/slides/slide29.xml" Id="Rd2704a89259a46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3fb3ecc32d43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64e5fe745d4d30" /><Relationship Type="http://schemas.openxmlformats.org/officeDocument/2006/relationships/notesMaster" Target="/ppt/notesMasters/notesMaster1.xml" Id="R533820050ad24b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45e352dd154efe" /><Relationship Type="http://schemas.openxmlformats.org/officeDocument/2006/relationships/notesMaster" Target="/ppt/notesMasters/notesMaster1.xml" Id="Ra39dc758a7c14f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1801bf187e4852" /><Relationship Type="http://schemas.openxmlformats.org/officeDocument/2006/relationships/notesMaster" Target="/ppt/notesMasters/notesMaster1.xml" Id="R54b07784241147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9d5b78b4b14720" /><Relationship Type="http://schemas.openxmlformats.org/officeDocument/2006/relationships/notesMaster" Target="/ppt/notesMasters/notesMaster1.xml" Id="R78f3e3cabcb247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04b848c2c14361" /><Relationship Type="http://schemas.openxmlformats.org/officeDocument/2006/relationships/notesMaster" Target="/ppt/notesMasters/notesMaster1.xml" Id="Rf9c61f8a304d40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d304c2566b4993" /><Relationship Type="http://schemas.openxmlformats.org/officeDocument/2006/relationships/notesMaster" Target="/ppt/notesMasters/notesMaster1.xml" Id="R8b0edd69204248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25ecc9a6af4132" /><Relationship Type="http://schemas.openxmlformats.org/officeDocument/2006/relationships/notesMaster" Target="/ppt/notesMasters/notesMaster1.xml" Id="Re86e2dfa4bc84b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a211b4cd9744d5" /><Relationship Type="http://schemas.openxmlformats.org/officeDocument/2006/relationships/notesMaster" Target="/ppt/notesMasters/notesMaster1.xml" Id="Rcf7fe01c561b41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1f276102ad419b" /><Relationship Type="http://schemas.openxmlformats.org/officeDocument/2006/relationships/notesMaster" Target="/ppt/notesMasters/notesMaster1.xml" Id="R776f1b9a55184f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6f0fd5d54d43c3" /><Relationship Type="http://schemas.openxmlformats.org/officeDocument/2006/relationships/notesMaster" Target="/ppt/notesMasters/notesMaster1.xml" Id="R676d85c620224a5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8daea8f143d44c2" /><Relationship Type="http://schemas.openxmlformats.org/officeDocument/2006/relationships/notesMaster" Target="/ppt/notesMasters/notesMaster1.xml" Id="Rae9f6dc24989475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7c86964c91146d8" /><Relationship Type="http://schemas.openxmlformats.org/officeDocument/2006/relationships/notesMaster" Target="/ppt/notesMasters/notesMaster1.xml" Id="Re70b1e539ed54d2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9be87d122da4d99" /><Relationship Type="http://schemas.openxmlformats.org/officeDocument/2006/relationships/notesMaster" Target="/ppt/notesMasters/notesMaster1.xml" Id="R860c19e88c3f4ca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5a2daaa7f49477f" /><Relationship Type="http://schemas.openxmlformats.org/officeDocument/2006/relationships/notesMaster" Target="/ppt/notesMasters/notesMaster1.xml" Id="Rfe866b8a5a2a41f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804872366d045b8" /><Relationship Type="http://schemas.openxmlformats.org/officeDocument/2006/relationships/notesMaster" Target="/ppt/notesMasters/notesMaster1.xml" Id="R5feecbd0c2604d7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f6af3cda3e14ce1" /><Relationship Type="http://schemas.openxmlformats.org/officeDocument/2006/relationships/notesMaster" Target="/ppt/notesMasters/notesMaster1.xml" Id="Rc2811b395d244ec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7242e9813674fff" /><Relationship Type="http://schemas.openxmlformats.org/officeDocument/2006/relationships/notesMaster" Target="/ppt/notesMasters/notesMaster1.xml" Id="R6c3f643f1dbf4b4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e36ab50c8a74755" /><Relationship Type="http://schemas.openxmlformats.org/officeDocument/2006/relationships/notesMaster" Target="/ppt/notesMasters/notesMaster1.xml" Id="Re19bfefedc67424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b8bd753ea234f09" /><Relationship Type="http://schemas.openxmlformats.org/officeDocument/2006/relationships/notesMaster" Target="/ppt/notesMasters/notesMaster1.xml" Id="R4a234d92bff2496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23b560d2efc4781" /><Relationship Type="http://schemas.openxmlformats.org/officeDocument/2006/relationships/notesMaster" Target="/ppt/notesMasters/notesMaster1.xml" Id="R0e332bfe9460412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50014a432aa470b" /><Relationship Type="http://schemas.openxmlformats.org/officeDocument/2006/relationships/notesMaster" Target="/ppt/notesMasters/notesMaster1.xml" Id="R6b1e56ca7870448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d37c30e70db4f5c" /><Relationship Type="http://schemas.openxmlformats.org/officeDocument/2006/relationships/notesMaster" Target="/ppt/notesMasters/notesMaster1.xml" Id="Rf851c592e4534a6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e95732bfdd84784" /><Relationship Type="http://schemas.openxmlformats.org/officeDocument/2006/relationships/notesMaster" Target="/ppt/notesMasters/notesMaster1.xml" Id="R336f2da9abd94ee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b05f5df4b934dcd" /><Relationship Type="http://schemas.openxmlformats.org/officeDocument/2006/relationships/notesMaster" Target="/ppt/notesMasters/notesMaster1.xml" Id="R12f9eac4da79460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c02ad8fd22940fb" /><Relationship Type="http://schemas.openxmlformats.org/officeDocument/2006/relationships/notesMaster" Target="/ppt/notesMasters/notesMaster1.xml" Id="R92652aa9b9fa418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5efeaf7ac0c4e8f" /><Relationship Type="http://schemas.openxmlformats.org/officeDocument/2006/relationships/notesMaster" Target="/ppt/notesMasters/notesMaster1.xml" Id="R944a4ed8f598499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886f3ebd9284224" /><Relationship Type="http://schemas.openxmlformats.org/officeDocument/2006/relationships/notesMaster" Target="/ppt/notesMasters/notesMaster1.xml" Id="Ra878eec1bdae493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907920632be49f0" /><Relationship Type="http://schemas.openxmlformats.org/officeDocument/2006/relationships/notesMaster" Target="/ppt/notesMasters/notesMaster1.xml" Id="Rdf0a3e9e01ac419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a1595464b574d5c" /><Relationship Type="http://schemas.openxmlformats.org/officeDocument/2006/relationships/notesMaster" Target="/ppt/notesMasters/notesMaster1.xml" Id="R08efc84c1a1346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037a0202cb4b9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2d99c12da0428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2d7e9e00fb486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08bb847c8f435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0d9b2415f2407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434e372ea943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EE9988-407D-4528-BEDD-835F9AF015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622FD4D-0618-4E50-AD3E-E73B21FE272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7790887-069A-4BB0-97EC-6375EF465B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9F16D9-EEE0-4203-B73C-8DF2A81988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F7C1E85-3E8D-4EE7-84C2-CEB97240EF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5B5CBAE-E445-4AEE-A707-681DFBAA49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54972BE-E680-43B2-8AD4-3BB557611F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E914B4A-05C1-4935-938D-802D3FC401C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098A66-E4B2-4300-9E4F-BFE79D7F64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66BEC31-1E87-4180-B3E9-8A0676B729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1221f719914ff6" /><Relationship Type="http://schemas.openxmlformats.org/officeDocument/2006/relationships/slideLayout" Target="/ppt/slideLayouts/slideLayout1.xml" Id="R3592572a9bd649e4" /><Relationship Type="http://schemas.openxmlformats.org/officeDocument/2006/relationships/slideLayout" Target="/ppt/slideLayouts/slideLayout2.xml" Id="Refafe5e1ed924278" /><Relationship Type="http://schemas.openxmlformats.org/officeDocument/2006/relationships/slideLayout" Target="/ppt/slideLayouts/slideLayout3.xml" Id="Rc67553b8ba0c4e04" /><Relationship Type="http://schemas.openxmlformats.org/officeDocument/2006/relationships/slideLayout" Target="/ppt/slideLayouts/slideLayout4.xml" Id="Rfad608b3921f4260" /><Relationship Type="http://schemas.openxmlformats.org/officeDocument/2006/relationships/slideLayout" Target="/ppt/slideLayouts/slideLayout5.xml" Id="Ra0442d24ad504746" /><Relationship Type="http://schemas.openxmlformats.org/officeDocument/2006/relationships/slideLayout" Target="/ppt/slideLayouts/slideLayout6.xml" Id="R02bed5bfb7de42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92572a9bd649e4"/>
    <p:sldLayoutId xmlns:r="http://schemas.openxmlformats.org/officeDocument/2006/relationships" id="2147483650" r:id="Refafe5e1ed924278"/>
    <p:sldLayoutId xmlns:r="http://schemas.openxmlformats.org/officeDocument/2006/relationships" id="2147483651" r:id="Rc67553b8ba0c4e04"/>
    <p:sldLayoutId xmlns:r="http://schemas.openxmlformats.org/officeDocument/2006/relationships" id="2147483652" r:id="Rfad608b3921f4260"/>
    <p:sldLayoutId xmlns:r="http://schemas.openxmlformats.org/officeDocument/2006/relationships" id="2147483653" r:id="Ra0442d24ad504746"/>
    <p:sldLayoutId xmlns:r="http://schemas.openxmlformats.org/officeDocument/2006/relationships" id="2147483654" r:id="R02bed5bfb7de42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1efd54bf554b19" /><Relationship Type="http://schemas.openxmlformats.org/officeDocument/2006/relationships/notesSlide" Target="/ppt/notesSlides/notesSlide1.xml" Id="R14f7b24f4f964a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5a55575c9d4f0e" /><Relationship Type="http://schemas.openxmlformats.org/officeDocument/2006/relationships/notesSlide" Target="/ppt/notesSlides/notesSlide2.xml" Id="R1ca5d7554f4747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1930c8cb6b46cb" /><Relationship Type="http://schemas.openxmlformats.org/officeDocument/2006/relationships/notesSlide" Target="/ppt/notesSlides/notesSlide3.xml" Id="Rb3c4eec7dce34c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c65bffaae44528" /><Relationship Type="http://schemas.openxmlformats.org/officeDocument/2006/relationships/notesSlide" Target="/ppt/notesSlides/notesSlide4.xml" Id="R451e7e67f60542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713ac93b314745" /><Relationship Type="http://schemas.openxmlformats.org/officeDocument/2006/relationships/notesSlide" Target="/ppt/notesSlides/notesSlide5.xml" Id="Rfdd30442a60c4f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517587054a4722" /><Relationship Type="http://schemas.openxmlformats.org/officeDocument/2006/relationships/notesSlide" Target="/ppt/notesSlides/notesSlide6.xml" Id="Rdf815a02a90946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261526557c4ae8" /><Relationship Type="http://schemas.openxmlformats.org/officeDocument/2006/relationships/image" Target="/ppt/media/image.png" Id="R535cc9b1295b4342" /><Relationship Type="http://schemas.openxmlformats.org/officeDocument/2006/relationships/notesSlide" Target="/ppt/notesSlides/notesSlide7.xml" Id="Rff239f53654743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1ef06267884d60" /><Relationship Type="http://schemas.openxmlformats.org/officeDocument/2006/relationships/notesSlide" Target="/ppt/notesSlides/notesSlide8.xml" Id="R2ae7ddbe682c40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f105a928f246b8" /><Relationship Type="http://schemas.openxmlformats.org/officeDocument/2006/relationships/notesSlide" Target="/ppt/notesSlides/notesSlide9.xml" Id="R3b5fe89042dd49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65ac10d63c45da" /><Relationship Type="http://schemas.openxmlformats.org/officeDocument/2006/relationships/notesSlide" Target="/ppt/notesSlides/notesSlide10.xml" Id="R551d03feba6040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f9cf079cb5479b" /><Relationship Type="http://schemas.openxmlformats.org/officeDocument/2006/relationships/notesSlide" Target="/ppt/notesSlides/notesSlide11.xml" Id="R3f4083994466479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80f01579cb4b42" /><Relationship Type="http://schemas.openxmlformats.org/officeDocument/2006/relationships/notesSlide" Target="/ppt/notesSlides/notesSlide12.xml" Id="Rf7d167fa74a7469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d1cf40256c445e" /><Relationship Type="http://schemas.openxmlformats.org/officeDocument/2006/relationships/image" Target="/ppt/media/image2.png" Id="R916845293ba54f10" /><Relationship Type="http://schemas.openxmlformats.org/officeDocument/2006/relationships/notesSlide" Target="/ppt/notesSlides/notesSlide13.xml" Id="Rf96b3a7e83184c4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95eaffdbc9447d" /><Relationship Type="http://schemas.openxmlformats.org/officeDocument/2006/relationships/notesSlide" Target="/ppt/notesSlides/notesSlide14.xml" Id="R094e05d38bc04a1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65f452ff3e49b0" /><Relationship Type="http://schemas.openxmlformats.org/officeDocument/2006/relationships/notesSlide" Target="/ppt/notesSlides/notesSlide15.xml" Id="Rfbc9e13e748c446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3f4fbfeb784adf" /><Relationship Type="http://schemas.openxmlformats.org/officeDocument/2006/relationships/notesSlide" Target="/ppt/notesSlides/notesSlide16.xml" Id="R25f5f1c8ae98445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6550cfa39f4396" /><Relationship Type="http://schemas.openxmlformats.org/officeDocument/2006/relationships/notesSlide" Target="/ppt/notesSlides/notesSlide17.xml" Id="Rbc524646b6c14f4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9c1a0e9ffe4702" /><Relationship Type="http://schemas.openxmlformats.org/officeDocument/2006/relationships/notesSlide" Target="/ppt/notesSlides/notesSlide18.xml" Id="R5d0bc9b08d10449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dfd4ac89ab492b" /><Relationship Type="http://schemas.openxmlformats.org/officeDocument/2006/relationships/notesSlide" Target="/ppt/notesSlides/notesSlide19.xml" Id="Rfe6d8399c2354f4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915e9ef72b474f" /><Relationship Type="http://schemas.openxmlformats.org/officeDocument/2006/relationships/notesSlide" Target="/ppt/notesSlides/notesSlide20.xml" Id="R0e3e03513289490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d9f6aa0fb34b37" /><Relationship Type="http://schemas.openxmlformats.org/officeDocument/2006/relationships/notesSlide" Target="/ppt/notesSlides/notesSlide21.xml" Id="Rfa33a456513549a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4cef67b3d94f89" /><Relationship Type="http://schemas.openxmlformats.org/officeDocument/2006/relationships/notesSlide" Target="/ppt/notesSlides/notesSlide22.xml" Id="Racbc017f6c08471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4924dbbb674723" /><Relationship Type="http://schemas.openxmlformats.org/officeDocument/2006/relationships/notesSlide" Target="/ppt/notesSlides/notesSlide23.xml" Id="Raca3902fc8414c2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ad94b83cb0466d" /><Relationship Type="http://schemas.openxmlformats.org/officeDocument/2006/relationships/notesSlide" Target="/ppt/notesSlides/notesSlide24.xml" Id="R3121fa7633d643a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f0afecc10846d4" /><Relationship Type="http://schemas.openxmlformats.org/officeDocument/2006/relationships/notesSlide" Target="/ppt/notesSlides/notesSlide25.xml" Id="Rf079d604516c407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716615223e4e55" /><Relationship Type="http://schemas.openxmlformats.org/officeDocument/2006/relationships/notesSlide" Target="/ppt/notesSlides/notesSlide26.xml" Id="Re034ac767df644b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e3e80b745f4f6f" /><Relationship Type="http://schemas.openxmlformats.org/officeDocument/2006/relationships/notesSlide" Target="/ppt/notesSlides/notesSlide27.xml" Id="R6e516dd31cad47e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c265f332f244fc" /><Relationship Type="http://schemas.openxmlformats.org/officeDocument/2006/relationships/notesSlide" Target="/ppt/notesSlides/notesSlide28.xml" Id="Rd81895d09b8242b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177737d401453f" /><Relationship Type="http://schemas.openxmlformats.org/officeDocument/2006/relationships/notesSlide" Target="/ppt/notesSlides/notesSlide29.xml" Id="R60d1261415be45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47719F-D1FF-4E3E-BA0C-3D3FE59B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3EADA-058D-4DD7-A2D4-338801A7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Práctica 3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7420FE-BAEE-45E6-9B7E-3B12CEA0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811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0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087F83"/>
                </a:solidFill>
              </a:defRPr>
            </a:pPr>
            <a:r>
              <a:rPr sz="3000" b="0">
                <a:solidFill>
                  <a:srgbClr val="087F83"/>
                </a:solidFill>
              </a:rPr>
              <a:t>Introducción a Whoosh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DE8E9-41A0-4610-8ACF-B04E2B30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63238"/>
                </a:solidFill>
              </a:defRPr>
            </a:pPr>
            <a:r>
              <a:rPr sz="1800" b="1">
                <a:solidFill>
                  <a:srgbClr val="263238"/>
                </a:solidFill>
              </a:rPr>
              <a:t>Modelo booleano clásico y motor de búsqueda en Python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EBC753-C290-43D8-8520-6628DCE1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47175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175"/>
                </a:solidFill>
              </a:defRPr>
            </a:pPr>
            <a:r>
              <a:rPr sz="1200" b="0">
                <a:solidFill>
                  <a:srgbClr val="647175"/>
                </a:solidFill>
              </a:rPr>
              <a:t>Erik Figueiral Alonso · erik.figueiral.alonso@uvigo.gal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D7C5F-4003-45D9-9454-76FCD5E5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91125"/>
            <a:ext cx="103822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5F8F8"/>
          </a:solidFill>
          <a:ln xmlns:a="http://schemas.openxmlformats.org/drawingml/2006/main" w="13335">
            <a:solidFill>
              <a:srgbClr val="C7D4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5644E-E4BF-44F7-9373-D4631B7B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768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87F83"/>
                </a:solidFill>
              </a:defRPr>
            </a:pPr>
            <a:r>
              <a:rPr sz="1275" b="1">
                <a:solidFill>
                  <a:srgbClr val="087F83"/>
                </a:solidFill>
              </a:rPr>
              <a:t>Práctica guiada en clase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94F693-BF12-4550-BFA6-F126DA68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2768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35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D9534F"/>
                </a:solidFill>
              </a:defRPr>
            </a:pPr>
            <a:r>
              <a:rPr sz="1350" b="1">
                <a:solidFill>
                  <a:srgbClr val="D9534F"/>
                </a:solidFill>
              </a:rPr>
              <a:t>NO SE ENTREGA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1B8E63-E1AA-49FA-83C9-1E8D2561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F74247-44E4-4E0D-B3E2-EBB8188E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933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Erik Figueiral Alonso</a:t>
            </a:r>
          </a:p>
        </p:txBody>
      </p:sp>
    </p:spTree>
    <p:extLst>
      <p:ext uri="{BB962C8B-B14F-4D97-AF65-F5344CB8AC3E}">
        <p14:creationId xmlns:p14="http://schemas.microsoft.com/office/powerpoint/2010/main" val="16697973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230D9A-C749-44DD-8806-A4E98572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AFA16-F08C-4A78-83B4-3CBFD054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Práctica 3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7B3733-1BAD-4407-899D-CEA0F5D9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087F83"/>
                </a:solidFill>
              </a:defRPr>
            </a:pPr>
            <a:r>
              <a:rPr sz="2025" b="0">
                <a:solidFill>
                  <a:srgbClr val="087F83"/>
                </a:solidFill>
              </a:rPr>
              <a:t>Índice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5F2F5F-24C8-4B31-BFAE-B999CA30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E40243-D198-4925-928A-9ABC6418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933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08C8C3-B579-4A35-ADCD-DA1BE9A0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98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4286FB-20DB-4A31-875A-5811FA08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0810875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7F4F3"/>
          </a:solidFill>
          <a:ln xmlns:a="http://schemas.openxmlformats.org/drawingml/2006/main" w="13335">
            <a:solidFill>
              <a:srgbClr val="087F8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C1D74C-953C-4D8A-B4C6-DF9DC05E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D9534F"/>
                </a:solidFill>
              </a:defRPr>
            </a:pPr>
            <a:r>
              <a:rPr sz="1500" b="1">
                <a:solidFill>
                  <a:srgbClr val="D9534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8784B-A131-4134-AF2A-F4F69813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335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87F83"/>
                </a:solidFill>
              </a:defRPr>
            </a:pPr>
            <a:r>
              <a:rPr sz="1500" b="1">
                <a:solidFill>
                  <a:srgbClr val="087F83"/>
                </a:solidFill>
              </a:rPr>
              <a:t>Introducción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98FEEC-E27E-4C7E-9017-58788043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3335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63238"/>
                </a:solidFill>
              </a:defRPr>
            </a:pPr>
            <a:r>
              <a:rPr sz="1425" b="0">
                <a:solidFill>
                  <a:srgbClr val="263238"/>
                </a:solidFill>
              </a:rPr>
              <a:t>¿Qué es Whoosh?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E23051-0988-480E-8DBD-0A31AFE5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10810875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8F8"/>
          </a:solidFill>
          <a:ln xmlns:a="http://schemas.openxmlformats.org/drawingml/2006/main" w="13335">
            <a:solidFill>
              <a:srgbClr val="C7D4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A5C2C3-F7E3-4181-BACF-B9518938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D9534F"/>
                </a:solidFill>
              </a:defRPr>
            </a:pPr>
            <a:r>
              <a:rPr sz="1500" b="1">
                <a:solidFill>
                  <a:srgbClr val="D9534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084834-981A-49F9-9742-97049E96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87F83"/>
                </a:solidFill>
              </a:defRPr>
            </a:pPr>
            <a:r>
              <a:rPr sz="1500" b="1">
                <a:solidFill>
                  <a:srgbClr val="087F83"/>
                </a:solidFill>
              </a:rPr>
              <a:t>Arquitectura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032DDB-1F73-4B4D-A6A5-4DE9B766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145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63238"/>
                </a:solidFill>
              </a:defRPr>
            </a:pPr>
            <a:r>
              <a:rPr sz="1425" b="0">
                <a:solidFill>
                  <a:srgbClr val="263238"/>
                </a:solidFill>
              </a:rPr>
              <a:t>Pipeline y módulos de la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159817-A99D-4732-B854-F3B67714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10810875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8F8"/>
          </a:solidFill>
          <a:ln xmlns:a="http://schemas.openxmlformats.org/drawingml/2006/main" w="13335">
            <a:solidFill>
              <a:srgbClr val="C7D4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1B0657-7ABB-4850-86FC-1D0BBD29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D9534F"/>
                </a:solidFill>
              </a:defRPr>
            </a:pPr>
            <a:r>
              <a:rPr sz="1500" b="1">
                <a:solidFill>
                  <a:srgbClr val="D9534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F89C76-CB28-4760-942A-3B953E8C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956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87F83"/>
                </a:solidFill>
              </a:defRPr>
            </a:pPr>
            <a:r>
              <a:rPr sz="1500" b="1">
                <a:solidFill>
                  <a:srgbClr val="087F83"/>
                </a:solidFill>
              </a:rPr>
              <a:t>Representación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C291E1-F56D-453B-B78B-A3B2D9BA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956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63238"/>
                </a:solidFill>
              </a:defRPr>
            </a:pPr>
            <a:r>
              <a:rPr sz="1425" b="0">
                <a:solidFill>
                  <a:srgbClr val="263238"/>
                </a:solidFill>
              </a:rPr>
              <a:t>Schema y análisis textual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9D6E87-475A-4D3D-945F-DA3EEF75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10810875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8F8"/>
          </a:solidFill>
          <a:ln xmlns:a="http://schemas.openxmlformats.org/drawingml/2006/main" w="13335">
            <a:solidFill>
              <a:srgbClr val="C7D4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9EED79-D611-443E-8006-F69E4C22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D9534F"/>
                </a:solidFill>
              </a:defRPr>
            </a:pPr>
            <a:r>
              <a:rPr sz="1500" b="1">
                <a:solidFill>
                  <a:srgbClr val="D9534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BCF669-7C35-4B3A-89BA-5D1703F6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87F83"/>
                </a:solidFill>
              </a:defRPr>
            </a:pPr>
            <a:r>
              <a:rPr sz="1500" b="1">
                <a:solidFill>
                  <a:srgbClr val="087F83"/>
                </a:solidFill>
              </a:rPr>
              <a:t>Indexación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555744-A44B-4E7C-9111-60F7095C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76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63238"/>
                </a:solidFill>
              </a:defRPr>
            </a:pPr>
            <a:r>
              <a:rPr sz="1425" b="0">
                <a:solidFill>
                  <a:srgbClr val="263238"/>
                </a:solidFill>
              </a:rPr>
              <a:t>Writer y Storage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D32826-DCDA-413A-9F17-3C174C76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10810875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8F8"/>
          </a:solidFill>
          <a:ln xmlns:a="http://schemas.openxmlformats.org/drawingml/2006/main" w="13335">
            <a:solidFill>
              <a:srgbClr val="C7D4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406E60-2758-4F82-819A-9EA41241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D9534F"/>
                </a:solidFill>
              </a:defRPr>
            </a:pPr>
            <a:r>
              <a:rPr sz="1500" b="1">
                <a:solidFill>
                  <a:srgbClr val="D9534F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7357BD-1354-4EB3-A6F0-65C5C09C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577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87F83"/>
                </a:solidFill>
              </a:defRPr>
            </a:pPr>
            <a:r>
              <a:rPr sz="1500" b="1">
                <a:solidFill>
                  <a:srgbClr val="087F83"/>
                </a:solidFill>
              </a:rPr>
              <a:t>Búsqueda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4FBF1F-DFBB-4A6B-8002-E8BEBF67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577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63238"/>
                </a:solidFill>
              </a:defRPr>
            </a:pPr>
            <a:r>
              <a:rPr sz="1425" b="0">
                <a:solidFill>
                  <a:srgbClr val="263238"/>
                </a:solidFill>
              </a:rPr>
              <a:t>QueryParser, Searcher y Results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986608-988A-43C0-A67C-AAEF9F9B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10810875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8F8"/>
          </a:solidFill>
          <a:ln xmlns:a="http://schemas.openxmlformats.org/drawingml/2006/main" w="13335">
            <a:solidFill>
              <a:srgbClr val="C7D4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CF400A-DB25-4536-9D01-F440B2F1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D9534F"/>
                </a:solidFill>
              </a:defRPr>
            </a:pPr>
            <a:r>
              <a:rPr sz="1500" b="1">
                <a:solidFill>
                  <a:srgbClr val="D9534F"/>
                </a:solidFill>
              </a:rPr>
              <a:t>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8A2816-8218-461A-9737-9D4D98DC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387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87F83"/>
                </a:solidFill>
              </a:defRPr>
            </a:pPr>
            <a:r>
              <a:rPr sz="1500" b="1">
                <a:solidFill>
                  <a:srgbClr val="087F83"/>
                </a:solidFill>
              </a:rPr>
              <a:t>Práctica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DEC70C-5ED3-4278-B238-5AD76D25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387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63238"/>
                </a:solidFill>
              </a:defRPr>
            </a:pPr>
            <a:r>
              <a:rPr sz="1425" b="0">
                <a:solidFill>
                  <a:srgbClr val="263238"/>
                </a:solidFill>
              </a:rPr>
              <a:t>Recorrido del notebook</a:t>
            </a:r>
          </a:p>
        </p:txBody>
      </p:sp>
    </p:spTree>
    <p:extLst>
      <p:ext uri="{BB962C8B-B14F-4D97-AF65-F5344CB8AC3E}">
        <p14:creationId xmlns:p14="http://schemas.microsoft.com/office/powerpoint/2010/main" val="3936815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CD8B24-79E8-47BD-B71B-EE70DCF4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04C0A5-1F0E-4303-8CB6-AA955533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Práctica 3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918CCA-C5A5-4F76-AFB8-8B9F0EF5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950" b="1">
                <a:solidFill>
                  <a:srgbClr val="8DBDBE"/>
                </a:solidFill>
              </a:defRPr>
            </a:defPPr>
          </a:lstStyle>
          <a:p xmlns:a="http://schemas.openxmlformats.org/drawingml/2006/main">
            <a:pPr algn="l">
              <a:defRPr sz="4950" b="1">
                <a:solidFill>
                  <a:srgbClr val="8DBDBE"/>
                </a:solidFill>
              </a:defRPr>
            </a:pPr>
            <a:r>
              <a:rPr sz="4950" b="1">
                <a:solidFill>
                  <a:srgbClr val="8DBDBE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BBEB71-A514-469E-9012-93272932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190625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0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87F83"/>
                </a:solidFill>
              </a:defRPr>
            </a:pPr>
            <a:r>
              <a:rPr sz="2850" b="0">
                <a:solidFill>
                  <a:srgbClr val="087F83"/>
                </a:solidFill>
              </a:rPr>
              <a:t>¿Qué es Whoosh?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09F68-8B9C-4FFE-98DF-3BC7020A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095500"/>
            <a:ext cx="1428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34F"/>
          </a:solidFill>
          <a:ln xmlns:a="http://schemas.openxmlformats.org/drawingml/2006/main" w="0">
            <a:solidFill>
              <a:srgbClr val="D9534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1233E7-603A-4744-8FCD-F0CCA621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76500"/>
            <a:ext cx="857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63238"/>
                </a:solidFill>
              </a:defRPr>
            </a:pPr>
            <a:r>
              <a:rPr sz="1725" b="1">
                <a:solidFill>
                  <a:srgbClr val="263238"/>
                </a:solidFill>
              </a:rPr>
              <a:t>Un motor de búsqueda escrito en Python para crear índices y consultar colecciones documentales.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A43138-714A-4B60-A89E-8AE5BE02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828675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7F4F3"/>
          </a:solidFill>
          <a:ln xmlns:a="http://schemas.openxmlformats.org/drawingml/2006/main" w="13335">
            <a:solidFill>
              <a:srgbClr val="087F8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DE0CE0-C130-43AF-9725-17F4E500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98145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0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87F83"/>
                </a:solidFill>
              </a:defRPr>
            </a:pPr>
            <a:r>
              <a:rPr sz="1575" b="0">
                <a:solidFill>
                  <a:srgbClr val="087F83"/>
                </a:solidFill>
              </a:rPr>
              <a:t>En este bloque conectaremos la API con el pipeline completo de Recuperación de Información.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BAAE17-6C6C-4A97-84F1-13E67AB3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30777F-1F66-43F1-A6DD-12560F8F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933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Erik Figueiral Alonso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5232B-4202-4EF3-90B3-461202BF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98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173609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494C22-08BD-4700-A1E2-29E51136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E49C8-AC39-40A5-A2B0-DF6267A0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Práctica 3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E118A3-D5AA-4B87-8CD8-2F7E8BAA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087F83"/>
                </a:solidFill>
              </a:defRPr>
            </a:pPr>
            <a:r>
              <a:rPr sz="2025" b="0">
                <a:solidFill>
                  <a:srgbClr val="087F83"/>
                </a:solidFill>
              </a:rPr>
              <a:t>De programarlo nosotros a delegarlo en el motor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2A9023-6F2C-4DF1-8F17-591D5B38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741C1-BA3E-4C24-B506-621E43FA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933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09A74-A676-43C5-8BB0-891EBAFD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98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F97554-EB3F-4320-AA97-1C51EFBD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D9534F"/>
                </a:solidFill>
              </a:defRPr>
            </a:pPr>
            <a:r>
              <a:rPr sz="1350" b="1">
                <a:solidFill>
                  <a:srgbClr val="D9534F"/>
                </a:solidFill>
              </a:rPr>
              <a:t>ANTES · IMPLEMENTACIÓN MANUAL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C79958-FA68-4D2F-9BF7-59F27CAC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428750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87F83"/>
                </a:solidFill>
              </a:defRPr>
            </a:pPr>
            <a:r>
              <a:rPr sz="1350" b="1">
                <a:solidFill>
                  <a:srgbClr val="087F83"/>
                </a:solidFill>
              </a:rPr>
              <a:t>AHORA · WHOOSH LO GESTIONA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0EA6CE-C9C2-4F65-906A-DB08FA3D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4767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F8F8"/>
          </a:solidFill>
          <a:ln xmlns:a="http://schemas.openxmlformats.org/drawingml/2006/main" w="13335">
            <a:solidFill>
              <a:srgbClr val="B9CC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F9139F-E586-4F5D-8961-7DE92894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04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63238"/>
                </a:solidFill>
              </a:defRPr>
            </a:pPr>
            <a:r>
              <a:rPr sz="1650" b="1">
                <a:solidFill>
                  <a:srgbClr val="263238"/>
                </a:solidFill>
              </a:rPr>
              <a:t>Programamos la tokenización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E89276-DA47-4A4E-A5CE-44136B85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336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D9534F"/>
                </a:solidFill>
              </a:defRPr>
            </a:pPr>
            <a:r>
              <a:rPr sz="1050" b="1">
                <a:solidFill>
                  <a:srgbClr val="D9534F"/>
                </a:solidFill>
              </a:rPr>
              <a:t>DELEGAMOS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F4A179-A9FA-4BAD-995B-253BD7E3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52625"/>
            <a:ext cx="44767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7F4F3"/>
          </a:solidFill>
          <a:ln xmlns:a="http://schemas.openxmlformats.org/drawingml/2006/main" w="13335">
            <a:solidFill>
              <a:srgbClr val="087F8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E42CDB-8881-431D-8799-B51D32F8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95500"/>
            <a:ext cx="404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87F83"/>
                </a:solidFill>
              </a:defRPr>
            </a:pPr>
            <a:r>
              <a:rPr sz="1575" b="1">
                <a:solidFill>
                  <a:srgbClr val="087F83"/>
                </a:solidFill>
              </a:rPr>
              <a:t>Configuramos el Analyzer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4C2866-6521-4F76-8B5B-EDCD6AC2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44767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F8F8"/>
          </a:solidFill>
          <a:ln xmlns:a="http://schemas.openxmlformats.org/drawingml/2006/main" w="13335">
            <a:solidFill>
              <a:srgbClr val="B9CC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306CA3-C0C6-4574-A1CC-FD41FE0B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90875"/>
            <a:ext cx="404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63238"/>
                </a:solidFill>
              </a:defRPr>
            </a:pPr>
            <a:r>
              <a:rPr sz="1650" b="1">
                <a:solidFill>
                  <a:srgbClr val="263238"/>
                </a:solidFill>
              </a:rPr>
              <a:t>Construimos término → postings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1EBF78-10F5-4AA6-99EA-2383BBAC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2897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D9534F"/>
                </a:solidFill>
              </a:defRPr>
            </a:pPr>
            <a:r>
              <a:rPr sz="1050" b="1">
                <a:solidFill>
                  <a:srgbClr val="D9534F"/>
                </a:solidFill>
              </a:rPr>
              <a:t>DELEGAMOS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12B03C-D5AF-46A0-9E6C-CCCBF22D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44767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7F4F3"/>
          </a:solidFill>
          <a:ln xmlns:a="http://schemas.openxmlformats.org/drawingml/2006/main" w="13335">
            <a:solidFill>
              <a:srgbClr val="087F8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359001-F3F0-4138-A40C-57D0411C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90875"/>
            <a:ext cx="404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87F83"/>
                </a:solidFill>
              </a:defRPr>
            </a:pPr>
            <a:r>
              <a:rPr sz="1575" b="1">
                <a:solidFill>
                  <a:srgbClr val="087F83"/>
                </a:solidFill>
              </a:rPr>
              <a:t>Definimos Schema, Writer y Storage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DD947B-7A7F-4594-BCE9-60864C87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4767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F8F8"/>
          </a:solidFill>
          <a:ln xmlns:a="http://schemas.openxmlformats.org/drawingml/2006/main" w="13335">
            <a:solidFill>
              <a:srgbClr val="B9CC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BC03C5-865C-4956-AB3F-F417D764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404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63238"/>
                </a:solidFill>
              </a:defRPr>
            </a:pPr>
            <a:r>
              <a:rPr sz="1650" b="1">
                <a:solidFill>
                  <a:srgbClr val="263238"/>
                </a:solidFill>
              </a:rPr>
              <a:t>Programamos AND, OR y resultados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E3BB3E-DFBA-49BF-976A-9BD6AD56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243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D9534F"/>
                </a:solidFill>
              </a:defRPr>
            </a:pPr>
            <a:r>
              <a:rPr sz="1050" b="1">
                <a:solidFill>
                  <a:srgbClr val="D9534F"/>
                </a:solidFill>
              </a:rPr>
              <a:t>DELEGAMOS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533482-5F10-4424-95F3-4FE953C3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43375"/>
            <a:ext cx="44767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7F4F3"/>
          </a:solidFill>
          <a:ln xmlns:a="http://schemas.openxmlformats.org/drawingml/2006/main" w="13335">
            <a:solidFill>
              <a:srgbClr val="087F8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34C5D0-3E79-447F-B0AC-4F772E38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86250"/>
            <a:ext cx="404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87F83"/>
                </a:solidFill>
              </a:defRPr>
            </a:pPr>
            <a:r>
              <a:rPr sz="1575" b="1">
                <a:solidFill>
                  <a:srgbClr val="087F83"/>
                </a:solidFill>
              </a:rPr>
              <a:t>Expresamos Query y usamos Searcher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ABE335-B685-441E-8D05-28AEE438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19750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63238"/>
                </a:solidFill>
              </a:defRPr>
            </a:pPr>
            <a:r>
              <a:rPr sz="1800" b="1">
                <a:solidFill>
                  <a:srgbClr val="263238"/>
                </a:solidFill>
              </a:rPr>
              <a:t>Las decisiones siguen siendo nuestras; Whoosh ejecuta y mantiene la infraestructura.</a:t>
            </a:r>
          </a:p>
        </p:txBody>
      </p:sp>
    </p:spTree>
    <p:extLst>
      <p:ext uri="{BB962C8B-B14F-4D97-AF65-F5344CB8AC3E}">
        <p14:creationId xmlns:p14="http://schemas.microsoft.com/office/powerpoint/2010/main" val="7989308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10B96F-DDE0-4DAD-BF64-FCF9AF0D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3DB0B-8770-44DC-91CC-CA67AD61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Práctica 3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EDC69D-F6CC-42A4-ABD0-FA6243ED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087F83"/>
                </a:solidFill>
              </a:defRPr>
            </a:pPr>
            <a:r>
              <a:rPr sz="2025" b="0">
                <a:solidFill>
                  <a:srgbClr val="087F83"/>
                </a:solidFill>
              </a:rPr>
              <a:t>Whoosh organiza el sistema en objetos conectados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100C5-CC22-4E3C-84D6-BD996BF6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A1F942-1545-4FAA-BAA9-51EEAF5E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933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7F90B6-7CDA-40E6-AC7A-1D186A43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98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33CE8A-5647-4952-B94D-0CDD984D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381125"/>
            <a:ext cx="31432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087F83"/>
          </a:solidFill>
          <a:ln xmlns:a="http://schemas.openxmlformats.org/drawingml/2006/main" w="13335">
            <a:solidFill>
              <a:srgbClr val="087F8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16BE57-7269-4E54-8205-4D230334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5621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WHOOSH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5C56FB-62A4-4607-8D40-C2D4D186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3190875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4F3"/>
          </a:solidFill>
          <a:ln xmlns:a="http://schemas.openxmlformats.org/drawingml/2006/main" w="13335">
            <a:solidFill>
              <a:srgbClr val="087F8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88032-8E71-4917-80BD-76F4C5A4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847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D9534F"/>
                </a:solidFill>
              </a:defRPr>
            </a:pPr>
            <a:r>
              <a:rPr sz="1200" b="1">
                <a:solidFill>
                  <a:srgbClr val="D9534F"/>
                </a:solidFill>
              </a:rPr>
              <a:t>DOCUMENTOS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17B83A-702D-431E-9B15-F5C87627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2847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87F83"/>
                </a:solidFill>
              </a:defRPr>
            </a:pPr>
            <a:r>
              <a:rPr sz="1650" b="1">
                <a:solidFill>
                  <a:srgbClr val="087F83"/>
                </a:solidFill>
              </a:rPr>
              <a:t>Schema + Fields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D8593C-8092-407A-B30C-D20BB933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3190875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4F3"/>
          </a:solidFill>
          <a:ln xmlns:a="http://schemas.openxmlformats.org/drawingml/2006/main" w="13335">
            <a:solidFill>
              <a:srgbClr val="087F8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9C9DDB-983B-4A76-BD8A-6D22C9D0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2847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D9534F"/>
                </a:solidFill>
              </a:defRPr>
            </a:pPr>
            <a:r>
              <a:rPr sz="1200" b="1">
                <a:solidFill>
                  <a:srgbClr val="D9534F"/>
                </a:solidFill>
              </a:rPr>
              <a:t>TEXTO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75D8BD-272F-4463-9580-EB7F7C7D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91075"/>
            <a:ext cx="2847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87F83"/>
                </a:solidFill>
              </a:defRPr>
            </a:pPr>
            <a:r>
              <a:rPr sz="1650" b="1">
                <a:solidFill>
                  <a:srgbClr val="087F83"/>
                </a:solidFill>
              </a:rPr>
              <a:t>Analyzer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B63411-8CBA-419F-BC54-E0E919F4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14625"/>
            <a:ext cx="3190875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4F3"/>
          </a:solidFill>
          <a:ln xmlns:a="http://schemas.openxmlformats.org/drawingml/2006/main" w="13335">
            <a:solidFill>
              <a:srgbClr val="087F8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0E3618-CFB6-461B-8518-7FE24E92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838450"/>
            <a:ext cx="2847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D9534F"/>
                </a:solidFill>
              </a:defRPr>
            </a:pPr>
            <a:r>
              <a:rPr sz="1200" b="1">
                <a:solidFill>
                  <a:srgbClr val="D9534F"/>
                </a:solidFill>
              </a:rPr>
              <a:t>ÍNDICE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ACE0D1-1423-47A9-990F-FD1245A8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171825"/>
            <a:ext cx="2847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87F83"/>
                </a:solidFill>
              </a:defRPr>
            </a:pPr>
            <a:r>
              <a:rPr sz="1650" b="1">
                <a:solidFill>
                  <a:srgbClr val="087F83"/>
                </a:solidFill>
              </a:rPr>
              <a:t>Writer + Storage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352269-C0F9-4395-ACDC-C78086B0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33875"/>
            <a:ext cx="3190875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4F3"/>
          </a:solidFill>
          <a:ln xmlns:a="http://schemas.openxmlformats.org/drawingml/2006/main" w="13335">
            <a:solidFill>
              <a:srgbClr val="087F8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BB83F9-1EAB-44FF-AC55-3602274C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457700"/>
            <a:ext cx="2847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D9534F"/>
                </a:solidFill>
              </a:defRPr>
            </a:pPr>
            <a:r>
              <a:rPr sz="1200" b="1">
                <a:solidFill>
                  <a:srgbClr val="D9534F"/>
                </a:solidFill>
              </a:rPr>
              <a:t>BÚSQUEDA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759E98-9B42-4014-AADC-6C71C36A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791075"/>
            <a:ext cx="2847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87F83"/>
                </a:solidFill>
              </a:defRPr>
            </a:pPr>
            <a:r>
              <a:rPr sz="1650" b="1">
                <a:solidFill>
                  <a:srgbClr val="087F83"/>
                </a:solidFill>
              </a:rPr>
              <a:t>Query + Searcher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9DD95C-A5A1-49F1-8B9A-4B53F9F5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5275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D9534F"/>
                </a:solidFill>
              </a:defRPr>
            </a:pPr>
            <a:r>
              <a:rPr sz="2250" b="1">
                <a:solidFill>
                  <a:srgbClr val="D9534F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28D31C-70AF-4973-BFE6-18101611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5275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D9534F"/>
                </a:solidFill>
              </a:defRPr>
            </a:pPr>
            <a:r>
              <a:rPr sz="2250" b="1">
                <a:solidFill>
                  <a:srgbClr val="D9534F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26A696-A4EA-40B7-AAA5-C9354BE0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7200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D9534F"/>
                </a:solidFill>
              </a:defRPr>
            </a:pPr>
            <a:r>
              <a:rPr sz="2250" b="1">
                <a:solidFill>
                  <a:srgbClr val="D9534F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1E23E7-8C07-47C8-A07B-C694D446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7200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D9534F"/>
                </a:solidFill>
              </a:defRPr>
            </a:pPr>
            <a:r>
              <a:rPr sz="2250" b="1">
                <a:solidFill>
                  <a:srgbClr val="D9534F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34974F-B075-4A74-BDE1-0F79F049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809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647175"/>
                </a:solidFill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47175"/>
                </a:solidFill>
              </a:defRPr>
            </a:pPr>
            <a:r>
              <a:rPr sz="1200" b="0">
                <a:solidFill>
                  <a:srgbClr val="647175"/>
                </a:solidFill>
              </a:rPr>
              <a:t>Define qué entra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60B1FE-F31C-42E2-BA07-86C57B71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2809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647175"/>
                </a:solidFill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47175"/>
                </a:solidFill>
              </a:defRPr>
            </a:pPr>
            <a:r>
              <a:rPr sz="1200" b="0">
                <a:solidFill>
                  <a:srgbClr val="647175"/>
                </a:solidFill>
              </a:rPr>
              <a:t>Procesa términos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CCF593-41F4-4768-9159-C34DB22B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10000"/>
            <a:ext cx="2809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647175"/>
                </a:solidFill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47175"/>
                </a:solidFill>
              </a:defRPr>
            </a:pPr>
            <a:r>
              <a:rPr sz="1200" b="0">
                <a:solidFill>
                  <a:srgbClr val="647175"/>
                </a:solidFill>
              </a:rPr>
              <a:t>Construye y persiste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89F40F-125E-4E05-A485-D313BA04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429250"/>
            <a:ext cx="2809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647175"/>
                </a:solidFill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47175"/>
                </a:solidFill>
              </a:defRPr>
            </a:pPr>
            <a:r>
              <a:rPr sz="1200" b="0">
                <a:solidFill>
                  <a:srgbClr val="647175"/>
                </a:solidFill>
              </a:rPr>
              <a:t>Interpreta y recupera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CE9257-20C3-4CBB-98FC-7D48EAC1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9055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63238"/>
                </a:solidFill>
              </a:defRPr>
            </a:pPr>
            <a:r>
              <a:rPr sz="1575" b="1">
                <a:solidFill>
                  <a:srgbClr val="263238"/>
                </a:solidFill>
              </a:rPr>
              <a:t>Configuramos estos objetos; el motor coordina el flujo completo.</a:t>
            </a:r>
          </a:p>
        </p:txBody>
      </p:sp>
    </p:spTree>
    <p:extLst>
      <p:ext uri="{BB962C8B-B14F-4D97-AF65-F5344CB8AC3E}">
        <p14:creationId xmlns:p14="http://schemas.microsoft.com/office/powerpoint/2010/main" val="3977302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786328-F7D9-4E0B-8C7A-74EE7787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731A7D-246E-4DB0-A0E2-37B7D7DD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Práctica 3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B154A4-084E-44C1-907D-D45EF960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950" b="1">
                <a:solidFill>
                  <a:srgbClr val="8DBDBE"/>
                </a:solidFill>
              </a:defRPr>
            </a:defPPr>
          </a:lstStyle>
          <a:p xmlns:a="http://schemas.openxmlformats.org/drawingml/2006/main">
            <a:pPr algn="l">
              <a:defRPr sz="4950" b="1">
                <a:solidFill>
                  <a:srgbClr val="8DBDBE"/>
                </a:solidFill>
              </a:defRPr>
            </a:pPr>
            <a:r>
              <a:rPr sz="4950" b="1">
                <a:solidFill>
                  <a:srgbClr val="8DBDBE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9069C-1540-411C-82AA-619837CB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190625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0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87F83"/>
                </a:solidFill>
              </a:defRPr>
            </a:pPr>
            <a:r>
              <a:rPr sz="2850" b="0">
                <a:solidFill>
                  <a:srgbClr val="087F83"/>
                </a:solidFill>
              </a:rPr>
              <a:t>Arquitectura y pipeline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A4D57-2C42-44FD-BEBC-8DF3AFFC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095500"/>
            <a:ext cx="1428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34F"/>
          </a:solidFill>
          <a:ln xmlns:a="http://schemas.openxmlformats.org/drawingml/2006/main" w="0">
            <a:solidFill>
              <a:srgbClr val="D9534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24EA3-1FD2-4AC9-B124-1541BED4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76500"/>
            <a:ext cx="857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63238"/>
                </a:solidFill>
              </a:defRPr>
            </a:pPr>
            <a:r>
              <a:rPr sz="1725" b="1">
                <a:solidFill>
                  <a:srgbClr val="263238"/>
                </a:solidFill>
              </a:rPr>
              <a:t>Dos recorridos conectados: indexación fuera de línea y consulta en línea.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392299-6CA6-4F19-B6E4-EFCC24E8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828675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7F4F3"/>
          </a:solidFill>
          <a:ln xmlns:a="http://schemas.openxmlformats.org/drawingml/2006/main" w="13335">
            <a:solidFill>
              <a:srgbClr val="087F8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556340-F411-4460-9D6D-630A3D2E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98145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0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87F83"/>
                </a:solidFill>
              </a:defRPr>
            </a:pPr>
            <a:r>
              <a:rPr sz="1575" b="0">
                <a:solidFill>
                  <a:srgbClr val="087F83"/>
                </a:solidFill>
              </a:rPr>
              <a:t>En este bloque conectaremos la API con el pipeline completo de Recuperación de Información.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52B271-ED71-41A8-AD43-A9604A8A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6A82ED-2F10-493F-839B-CA5D6A39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933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Erik Figueiral Alonso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9BA1F8-3E7C-4971-A7B6-651B0AC0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98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547242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98E958-5530-4104-9019-C27249A7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882BF4-A229-4047-910A-0C02938D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Práctica 3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171C84-B16D-4FD4-A7A7-21394B1B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087F83"/>
                </a:solidFill>
              </a:defRPr>
            </a:pPr>
            <a:r>
              <a:rPr sz="2025" b="0">
                <a:solidFill>
                  <a:srgbClr val="087F83"/>
                </a:solidFill>
              </a:rPr>
              <a:t>La arquitectura completa de Whoosh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FF161F-FFA0-4564-9FAE-6919172D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872EDC-DB8B-4B12-A037-FD7173BF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933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4FC217-B71D-47FF-A15D-B4656DD0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98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7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E2A602-9042-4E8B-822C-73CEDD0181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5cc9b1295b4342"/>
          <a:stretch xmlns:a="http://schemas.openxmlformats.org/drawingml/2006/main"/>
        </p:blipFill>
        <p:spPr>
          <a:xfrm xmlns:a="http://schemas.openxmlformats.org/drawingml/2006/main">
            <a:off x="975021" y="1285875"/>
            <a:ext cx="10241957" cy="4095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C247ED-C73B-4102-A52C-1B3DBDDF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71500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D9534F"/>
                </a:solidFill>
              </a:defRPr>
            </a:pPr>
            <a:r>
              <a:rPr sz="1725" b="1">
                <a:solidFill>
                  <a:srgbClr val="D9534F"/>
                </a:solidFill>
              </a:rPr>
              <a:t>Índice y consulta deben compartir la misma política de análisis.</a:t>
            </a:r>
          </a:p>
        </p:txBody>
      </p:sp>
    </p:spTree>
    <p:extLst>
      <p:ext uri="{BB962C8B-B14F-4D97-AF65-F5344CB8AC3E}">
        <p14:creationId xmlns:p14="http://schemas.microsoft.com/office/powerpoint/2010/main" val="13009538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FC2F92-024A-468F-897C-C6D4A491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79B5FB-35F4-442F-90BC-7045009A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Práctica 3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5116D-0286-4380-9777-AA61E905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087F83"/>
                </a:solidFill>
              </a:defRPr>
            </a:pPr>
            <a:r>
              <a:rPr sz="2025" b="0">
                <a:solidFill>
                  <a:srgbClr val="087F83"/>
                </a:solidFill>
              </a:rPr>
              <a:t>Dos procesos que comparten el índice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6C4C5-30CA-4744-90CC-D54F3009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43195-847D-4C70-9A03-58A54AC7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933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924186-2FA2-45FD-95D0-4B797DDC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98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9D9EB-48FB-4E0C-9EE9-816DBA7C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D9534F"/>
                </a:solidFill>
              </a:defRPr>
            </a:pPr>
            <a:r>
              <a:rPr sz="1500" b="1">
                <a:solidFill>
                  <a:srgbClr val="D9534F"/>
                </a:solidFill>
              </a:rPr>
              <a:t>INDEXACIÓN · fuera de línea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7BA4E4-B222-4C8A-A52D-F5B93E08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287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87F83"/>
                </a:solidFill>
              </a:defRPr>
            </a:pPr>
            <a:r>
              <a:rPr sz="1500" b="1">
                <a:solidFill>
                  <a:srgbClr val="087F83"/>
                </a:solidFill>
              </a:rPr>
              <a:t>BÚSQUEDA · en línea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A0621A-FF2F-4DD3-B5C8-BD403665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762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8F8"/>
          </a:solidFill>
          <a:ln xmlns:a="http://schemas.openxmlformats.org/drawingml/2006/main" w="13335">
            <a:solidFill>
              <a:srgbClr val="B9CC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B014D3-958A-4F26-B6B5-CC54CDD1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28825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63238"/>
                </a:solidFill>
              </a:defRPr>
            </a:pPr>
            <a:r>
              <a:rPr sz="1575" b="0">
                <a:solidFill>
                  <a:srgbClr val="263238"/>
                </a:solidFill>
              </a:rPr>
              <a:t>Documento + fields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464D7A-860F-4E23-AB2F-B8D0A80B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5050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D9534F"/>
                </a:solidFill>
              </a:defRPr>
            </a:pPr>
            <a:r>
              <a:rPr sz="1650" b="1">
                <a:solidFill>
                  <a:srgbClr val="D9534F"/>
                </a:solidFill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460724-4C52-4E51-B07C-7E613230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4762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8F8"/>
          </a:solidFill>
          <a:ln xmlns:a="http://schemas.openxmlformats.org/drawingml/2006/main" w="13335">
            <a:solidFill>
              <a:srgbClr val="B9CC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5D4782-7C12-4A1B-9470-DBB300EF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63238"/>
                </a:solidFill>
              </a:defRPr>
            </a:pPr>
            <a:r>
              <a:rPr sz="1575" b="0">
                <a:solidFill>
                  <a:srgbClr val="263238"/>
                </a:solidFill>
              </a:rPr>
              <a:t>Analyzer del campo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BCBE32-7436-4AD6-9A14-4B31479A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3718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D9534F"/>
                </a:solidFill>
              </a:defRPr>
            </a:pPr>
            <a:r>
              <a:rPr sz="1650" b="1">
                <a:solidFill>
                  <a:srgbClr val="D9534F"/>
                </a:solidFill>
              </a:rPr>
              <a:t>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6A5A0D-04A2-426B-9CBC-75865135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86175"/>
            <a:ext cx="4762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7F4F3"/>
          </a:solidFill>
          <a:ln xmlns:a="http://schemas.openxmlformats.org/drawingml/2006/main" w="13335">
            <a:solidFill>
              <a:srgbClr val="D953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342105-996D-4C4C-A3A9-7AF7A279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63238"/>
                </a:solidFill>
              </a:defRPr>
            </a:pPr>
            <a:r>
              <a:rPr sz="1575" b="1">
                <a:solidFill>
                  <a:srgbClr val="263238"/>
                </a:solidFill>
              </a:rPr>
              <a:t>IndexWriter.add_document()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FE5175-DF64-4E6B-8876-5F2AF7CF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2386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D9534F"/>
                </a:solidFill>
              </a:defRPr>
            </a:pPr>
            <a:r>
              <a:rPr sz="1650" b="1">
                <a:solidFill>
                  <a:srgbClr val="D9534F"/>
                </a:solidFill>
              </a:rPr>
              <a:t>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E69C8B-DBD6-4340-AF10-72FC47D2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4762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8F8"/>
          </a:solidFill>
          <a:ln xmlns:a="http://schemas.openxmlformats.org/drawingml/2006/main" w="13335">
            <a:solidFill>
              <a:srgbClr val="B9CC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9CA6D0-8257-45A9-B821-8AAA0292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63238"/>
                </a:solidFill>
              </a:defRPr>
            </a:pPr>
            <a:r>
              <a:rPr sz="1575" b="0">
                <a:solidFill>
                  <a:srgbClr val="263238"/>
                </a:solidFill>
              </a:rPr>
              <a:t>commit() → Storage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FE5710-206B-4F47-B6F9-FE31FF6E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52625"/>
            <a:ext cx="4762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8F8"/>
          </a:solidFill>
          <a:ln xmlns:a="http://schemas.openxmlformats.org/drawingml/2006/main" w="13335">
            <a:solidFill>
              <a:srgbClr val="B9CC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2FDD7B-F7E8-45EE-A421-658FCC46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28825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63238"/>
                </a:solidFill>
              </a:defRPr>
            </a:pPr>
            <a:r>
              <a:rPr sz="1575" b="0">
                <a:solidFill>
                  <a:srgbClr val="263238"/>
                </a:solidFill>
              </a:rPr>
              <a:t>texto de consulta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3CCC16-25C5-48D3-840F-0ECE6EB0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5050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87F83"/>
                </a:solidFill>
              </a:defRPr>
            </a:pPr>
            <a:r>
              <a:rPr sz="1650" b="1">
                <a:solidFill>
                  <a:srgbClr val="087F83"/>
                </a:solidFill>
              </a:rPr>
              <a:t>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7F3A9A-96F6-41DF-B0FD-3BF4705A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19400"/>
            <a:ext cx="4762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7F4F3"/>
          </a:solidFill>
          <a:ln xmlns:a="http://schemas.openxmlformats.org/drawingml/2006/main" w="13335">
            <a:solidFill>
              <a:srgbClr val="087F8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23F70E-FAFF-48E7-873F-25C2D43A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95600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63238"/>
                </a:solidFill>
              </a:defRPr>
            </a:pPr>
            <a:r>
              <a:rPr sz="1575" b="1">
                <a:solidFill>
                  <a:srgbClr val="263238"/>
                </a:solidFill>
              </a:rPr>
              <a:t>QueryParser.parse()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1A4BD1-DC14-4F62-B7D9-B6D7683B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3718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87F83"/>
                </a:solidFill>
              </a:defRPr>
            </a:pPr>
            <a:r>
              <a:rPr sz="1650" b="1">
                <a:solidFill>
                  <a:srgbClr val="087F83"/>
                </a:solidFill>
              </a:rPr>
              <a:t>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4C4608-BA84-4FE2-9945-136D188F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86175"/>
            <a:ext cx="4762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8F8"/>
          </a:solidFill>
          <a:ln xmlns:a="http://schemas.openxmlformats.org/drawingml/2006/main" w="13335">
            <a:solidFill>
              <a:srgbClr val="B9CCC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B25D4E-0F22-4E5D-AF20-91023157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62375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63238"/>
                </a:solidFill>
              </a:defRPr>
            </a:pPr>
            <a:r>
              <a:rPr sz="1575" b="0">
                <a:solidFill>
                  <a:srgbClr val="263238"/>
                </a:solidFill>
              </a:rPr>
              <a:t>Searcher.search()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CFD1D8-22EF-431F-B573-D71EEA03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2386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87F83"/>
                </a:solidFill>
              </a:defRPr>
            </a:pPr>
            <a:r>
              <a:rPr sz="1650" b="1">
                <a:solidFill>
                  <a:srgbClr val="087F83"/>
                </a:solidFill>
              </a:rPr>
              <a:t>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039FB0-9327-4592-8667-3609B979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52950"/>
            <a:ext cx="4762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8F8"/>
          </a:solidFill>
          <a:ln xmlns:a="http://schemas.openxmlformats.org/drawingml/2006/main" w="13335">
            <a:solidFill>
              <a:srgbClr val="B9CCC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34875E-B992-4D3B-B468-DECB2272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629150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63238"/>
                </a:solidFill>
              </a:defRPr>
            </a:pPr>
            <a:r>
              <a:rPr sz="1575" b="0">
                <a:solidFill>
                  <a:srgbClr val="263238"/>
                </a:solidFill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16301501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B8E2F6C-84A9-4A01-948A-B129FDA9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3A282-FA61-4D56-9C79-882FB462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Práctica 3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FFCD8-7406-4A3F-AE46-1CF1D47D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087F83"/>
                </a:solidFill>
              </a:defRPr>
            </a:pPr>
            <a:r>
              <a:rPr sz="2025" b="0">
                <a:solidFill>
                  <a:srgbClr val="087F83"/>
                </a:solidFill>
              </a:rPr>
              <a:t>La API de Whoosh: seis módulos, un flujo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04825-9F71-46DB-BAE2-D1ABC425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54DDD3-1061-43BC-95CD-E5DE485C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933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27EE6F-7867-410C-9FAB-AB20745D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98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4E21B-A7FC-4F02-906D-DF797479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3524250" cy="1905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E7F4F3"/>
          </a:solidFill>
          <a:ln xmlns:a="http://schemas.openxmlformats.org/drawingml/2006/main" w="13335">
            <a:solidFill>
              <a:srgbClr val="087F8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97B06-27E0-4DA5-A2A2-42D5BB94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514475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D9534F"/>
                </a:solidFill>
              </a:defRPr>
            </a:pPr>
            <a:r>
              <a:rPr sz="1350" b="1">
                <a:solidFill>
                  <a:srgbClr val="D9534F"/>
                </a:solidFill>
              </a:rPr>
              <a:t>whoosh.fields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7CAB45-9C9F-4E1E-B303-50D82648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57375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87F83"/>
                </a:solidFill>
              </a:defRPr>
            </a:pPr>
            <a:r>
              <a:rPr sz="1425" b="1">
                <a:solidFill>
                  <a:srgbClr val="087F83"/>
                </a:solidFill>
              </a:rPr>
              <a:t>Schema · TEXT · 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FE39AE-81A8-4CF2-900A-8F9552AA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09800"/>
            <a:ext cx="3181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63238"/>
                </a:solidFill>
              </a:defRPr>
            </a:pPr>
            <a:r>
              <a:rPr sz="1275" b="0">
                <a:solidFill>
                  <a:srgbClr val="263238"/>
                </a:solidFill>
              </a:rPr>
              <a:t>¿Qué campos tiene el documento?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FBAB8B-37E4-482D-80E1-F1DFBD97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3238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1F5F5"/>
          </a:solidFill>
          <a:ln xmlns:a="http://schemas.openxmlformats.org/drawingml/2006/main" w="13335">
            <a:solidFill>
              <a:srgbClr val="C7D4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C1D1E8-827D-42DD-9646-8646DFF0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2895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8363A"/>
                </a:solidFill>
              </a:defRPr>
            </a:pPr>
            <a:r>
              <a:rPr sz="975" b="0">
                <a:solidFill>
                  <a:srgbClr val="18363A"/>
                </a:solidFill>
              </a:rPr>
              <a:t>Schema(title=TEXT(stored=True))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EBF02C-245D-4524-A009-3A3179BA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381125"/>
            <a:ext cx="3524250" cy="1905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E7F4F3"/>
          </a:solidFill>
          <a:ln xmlns:a="http://schemas.openxmlformats.org/drawingml/2006/main" w="13335">
            <a:solidFill>
              <a:srgbClr val="087F8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681F33-DBF8-4236-B006-0763A19C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514475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D9534F"/>
                </a:solidFill>
              </a:defRPr>
            </a:pPr>
            <a:r>
              <a:rPr sz="1350" b="1">
                <a:solidFill>
                  <a:srgbClr val="D9534F"/>
                </a:solidFill>
              </a:rPr>
              <a:t>whoosh.analysis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F149DC-B873-4792-ADCF-2BFBC25B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57375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87F83"/>
                </a:solidFill>
              </a:defRPr>
            </a:pPr>
            <a:r>
              <a:rPr sz="1425" b="1">
                <a:solidFill>
                  <a:srgbClr val="087F83"/>
                </a:solidFill>
              </a:rPr>
              <a:t>Analyzer · filtros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CBCFA8-1770-49B0-B31E-3EA03295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09800"/>
            <a:ext cx="3181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63238"/>
                </a:solidFill>
              </a:defRPr>
            </a:pPr>
            <a:r>
              <a:rPr sz="1275" b="0">
                <a:solidFill>
                  <a:srgbClr val="263238"/>
                </a:solidFill>
              </a:rPr>
              <a:t>¿Cómo se transforma el texto?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EC5C84-885A-42BD-BF75-EDBA7843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62250"/>
            <a:ext cx="3238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1F5F5"/>
          </a:solidFill>
          <a:ln xmlns:a="http://schemas.openxmlformats.org/drawingml/2006/main" w="13335">
            <a:solidFill>
              <a:srgbClr val="C7D4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E27891-8AEF-471C-8270-9F9715E2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876550"/>
            <a:ext cx="2895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8363A"/>
                </a:solidFill>
              </a:defRPr>
            </a:pPr>
            <a:r>
              <a:rPr sz="975" b="0">
                <a:solidFill>
                  <a:srgbClr val="18363A"/>
                </a:solidFill>
              </a:rPr>
              <a:t>RegexTokenizer() | LowercaseFilter()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6566B9-4C93-4027-83CA-F8919A3E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381125"/>
            <a:ext cx="3524250" cy="1905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E7F4F3"/>
          </a:solidFill>
          <a:ln xmlns:a="http://schemas.openxmlformats.org/drawingml/2006/main" w="13335">
            <a:solidFill>
              <a:srgbClr val="087F8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422CA0-A05E-400F-A981-01D83782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514475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D9534F"/>
                </a:solidFill>
              </a:defRPr>
            </a:pPr>
            <a:r>
              <a:rPr sz="1350" b="1">
                <a:solidFill>
                  <a:srgbClr val="D9534F"/>
                </a:solidFill>
              </a:rPr>
              <a:t>whoosh.index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CB168D-FE91-4B87-901C-77707F82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857375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87F83"/>
                </a:solidFill>
              </a:defRPr>
            </a:pPr>
            <a:r>
              <a:rPr sz="1425" b="1">
                <a:solidFill>
                  <a:srgbClr val="087F83"/>
                </a:solidFill>
              </a:rPr>
              <a:t>Index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4D6893-903F-427B-ADAE-20993CA9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209800"/>
            <a:ext cx="3181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63238"/>
                </a:solidFill>
              </a:defRPr>
            </a:pPr>
            <a:r>
              <a:rPr sz="1275" b="0">
                <a:solidFill>
                  <a:srgbClr val="263238"/>
                </a:solidFill>
              </a:rPr>
              <a:t>¿Dónde está el índice?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9A3AEB-7062-4AC7-B0F4-CD1CA4E7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3238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1F5F5"/>
          </a:solidFill>
          <a:ln xmlns:a="http://schemas.openxmlformats.org/drawingml/2006/main" w="13335">
            <a:solidFill>
              <a:srgbClr val="C7D4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CBA45F-6DDD-4DDB-9161-DA59FAAD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76550"/>
            <a:ext cx="2895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8363A"/>
                </a:solidFill>
              </a:defRPr>
            </a:pPr>
            <a:r>
              <a:rPr sz="975" b="0">
                <a:solidFill>
                  <a:srgbClr val="18363A"/>
                </a:solidFill>
              </a:rPr>
              <a:t>create_in() · open_dir()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1BD571-374C-4817-9A5A-4A16D250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0"/>
            <a:ext cx="3524250" cy="1905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5F8F8"/>
          </a:solidFill>
          <a:ln xmlns:a="http://schemas.openxmlformats.org/drawingml/2006/main" w="13335">
            <a:solidFill>
              <a:srgbClr val="AFC5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79F61F-DBB8-4914-9BE1-65BD349B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752850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D9534F"/>
                </a:solidFill>
              </a:defRPr>
            </a:pPr>
            <a:r>
              <a:rPr sz="1350" b="1">
                <a:solidFill>
                  <a:srgbClr val="D9534F"/>
                </a:solidFill>
              </a:rPr>
              <a:t>whoosh.writing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3E0EDF-5FAC-4367-BA88-7BE03F6E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95750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87F83"/>
                </a:solidFill>
              </a:defRPr>
            </a:pPr>
            <a:r>
              <a:rPr sz="1425" b="1">
                <a:solidFill>
                  <a:srgbClr val="087F83"/>
                </a:solidFill>
              </a:rPr>
              <a:t>Writer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6B2FA7-EBA9-442C-9435-FB6BFF90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48175"/>
            <a:ext cx="3181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63238"/>
                </a:solidFill>
              </a:defRPr>
            </a:pPr>
            <a:r>
              <a:rPr sz="1275" b="0">
                <a:solidFill>
                  <a:srgbClr val="263238"/>
                </a:solidFill>
              </a:rPr>
              <a:t>¿Cómo se añaden documentos?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88749E-EC34-4DF2-94FE-A8119435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3238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1F5F5"/>
          </a:solidFill>
          <a:ln xmlns:a="http://schemas.openxmlformats.org/drawingml/2006/main" w="13335">
            <a:solidFill>
              <a:srgbClr val="C7D4D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9D9016-947B-40F3-B232-1BDD6F53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14925"/>
            <a:ext cx="2895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8363A"/>
                </a:solidFill>
              </a:defRPr>
            </a:pPr>
            <a:r>
              <a:rPr sz="975" b="0">
                <a:solidFill>
                  <a:srgbClr val="18363A"/>
                </a:solidFill>
              </a:rPr>
              <a:t>add_document() · commit()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BF72FA-4AF4-4C2C-B639-0E56F12F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19500"/>
            <a:ext cx="3524250" cy="1905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5F8F8"/>
          </a:solidFill>
          <a:ln xmlns:a="http://schemas.openxmlformats.org/drawingml/2006/main" w="13335">
            <a:solidFill>
              <a:srgbClr val="AFC5C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60447E-741B-4CB5-BCD7-B384A7E8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52850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D9534F"/>
                </a:solidFill>
              </a:defRPr>
            </a:pPr>
            <a:r>
              <a:rPr sz="1350" b="1">
                <a:solidFill>
                  <a:srgbClr val="D9534F"/>
                </a:solidFill>
              </a:rPr>
              <a:t>whoosh.qparser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1AE469-EBF5-48F7-B660-5C4BFDE5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95750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87F83"/>
                </a:solidFill>
              </a:defRPr>
            </a:pPr>
            <a:r>
              <a:rPr sz="1425" b="1">
                <a:solidFill>
                  <a:srgbClr val="087F83"/>
                </a:solidFill>
              </a:rPr>
              <a:t>QueryParser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6D496C-62A5-4443-9634-F5B39265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48175"/>
            <a:ext cx="3181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63238"/>
                </a:solidFill>
              </a:defRPr>
            </a:pPr>
            <a:r>
              <a:rPr sz="1275" b="0">
                <a:solidFill>
                  <a:srgbClr val="263238"/>
                </a:solidFill>
              </a:rPr>
              <a:t>¿Cómo se interpreta la consulta?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AD59FA-E7A7-4E8D-B8A1-4CDA6A74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000625"/>
            <a:ext cx="3238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1F5F5"/>
          </a:solidFill>
          <a:ln xmlns:a="http://schemas.openxmlformats.org/drawingml/2006/main" w="13335">
            <a:solidFill>
              <a:srgbClr val="C7D4D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989B41-D4C6-4907-9EC0-28FDDF74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114925"/>
            <a:ext cx="2895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8363A"/>
                </a:solidFill>
              </a:defRPr>
            </a:pPr>
            <a:r>
              <a:rPr sz="975" b="0">
                <a:solidFill>
                  <a:srgbClr val="18363A"/>
                </a:solidFill>
              </a:rPr>
              <a:t>parse("python AND datos")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C48880-A270-4CFA-94C9-B3B5E706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19500"/>
            <a:ext cx="3524250" cy="1905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5F8F8"/>
          </a:solidFill>
          <a:ln xmlns:a="http://schemas.openxmlformats.org/drawingml/2006/main" w="13335">
            <a:solidFill>
              <a:srgbClr val="AFC5C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A2FE80-1A00-4516-A6E2-8B331D2E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752850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D9534F"/>
                </a:solidFill>
              </a:defRPr>
            </a:pPr>
            <a:r>
              <a:rPr sz="1350" b="1">
                <a:solidFill>
                  <a:srgbClr val="D9534F"/>
                </a:solidFill>
              </a:rPr>
              <a:t>whoosh.searching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E1031C-BCD2-480F-8CD8-D7390B7C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95750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87F83"/>
                </a:solidFill>
              </a:defRPr>
            </a:pPr>
            <a:r>
              <a:rPr sz="1425" b="1">
                <a:solidFill>
                  <a:srgbClr val="087F83"/>
                </a:solidFill>
              </a:rPr>
              <a:t>Searcher · Results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25B3765-F4F9-4ED4-9DF5-3B657EBD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448175"/>
            <a:ext cx="3181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63238"/>
                </a:solidFill>
              </a:defRPr>
            </a:pPr>
            <a:r>
              <a:rPr sz="1275" b="0">
                <a:solidFill>
                  <a:srgbClr val="263238"/>
                </a:solidFill>
              </a:rPr>
              <a:t>¿Cómo se recuperan los hits?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B9827D-3FBB-4EF0-9457-8DEBA01C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00625"/>
            <a:ext cx="3238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1F5F5"/>
          </a:solidFill>
          <a:ln xmlns:a="http://schemas.openxmlformats.org/drawingml/2006/main" w="13335">
            <a:solidFill>
              <a:srgbClr val="C7D4D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987B814-6566-45D9-9AFF-E5EB449E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114925"/>
            <a:ext cx="2895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8363A"/>
                </a:solidFill>
              </a:defRPr>
            </a:pPr>
            <a:r>
              <a:rPr sz="975" b="0">
                <a:solidFill>
                  <a:srgbClr val="18363A"/>
                </a:solidFill>
              </a:rPr>
              <a:t>search(query) · hit["title"]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27E9A9F-83C4-44E7-8D0C-ABD8FF4D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53125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D9534F"/>
                </a:solidFill>
              </a:defRPr>
            </a:pPr>
            <a:r>
              <a:rPr sz="1500" b="1">
                <a:solidFill>
                  <a:srgbClr val="D9534F"/>
                </a:solidFill>
              </a:rPr>
              <a:t>Cada módulo responde a una decisión concreta del sistema de RI.</a:t>
            </a:r>
          </a:p>
        </p:txBody>
      </p:sp>
    </p:spTree>
    <p:extLst>
      <p:ext uri="{BB962C8B-B14F-4D97-AF65-F5344CB8AC3E}">
        <p14:creationId xmlns:p14="http://schemas.microsoft.com/office/powerpoint/2010/main" val="6722711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2A87F5-D67E-4B29-B2E5-93E394A9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DEB57-2F1D-4959-9885-A8DD0D69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Práctica 3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465DA-CF5F-4BDC-A08D-C356ECF1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950" b="1">
                <a:solidFill>
                  <a:srgbClr val="8DBDBE"/>
                </a:solidFill>
              </a:defRPr>
            </a:defPPr>
          </a:lstStyle>
          <a:p xmlns:a="http://schemas.openxmlformats.org/drawingml/2006/main">
            <a:pPr algn="l">
              <a:defRPr sz="4950" b="1">
                <a:solidFill>
                  <a:srgbClr val="8DBDBE"/>
                </a:solidFill>
              </a:defRPr>
            </a:pPr>
            <a:r>
              <a:rPr sz="4950" b="1">
                <a:solidFill>
                  <a:srgbClr val="8DBDBE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A441D-8538-4415-91B3-77004720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190625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0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87F83"/>
                </a:solidFill>
              </a:defRPr>
            </a:pPr>
            <a:r>
              <a:rPr sz="2850" b="0">
                <a:solidFill>
                  <a:srgbClr val="087F83"/>
                </a:solidFill>
              </a:rPr>
              <a:t>Schema y análisis textual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93A1CA-63D3-4726-B0C8-F1E3BD1A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095500"/>
            <a:ext cx="1428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34F"/>
          </a:solidFill>
          <a:ln xmlns:a="http://schemas.openxmlformats.org/drawingml/2006/main" w="0">
            <a:solidFill>
              <a:srgbClr val="D9534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19993E-2331-4DF1-A1D5-10D2E42D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76500"/>
            <a:ext cx="857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63238"/>
                </a:solidFill>
              </a:defRPr>
            </a:pPr>
            <a:r>
              <a:rPr sz="1725" b="1">
                <a:solidFill>
                  <a:srgbClr val="263238"/>
                </a:solidFill>
              </a:rPr>
              <a:t>Diseñamos la representación del documento antes de indexarlo.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C814A2-EF74-400F-8787-4560F2BE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828675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7F4F3"/>
          </a:solidFill>
          <a:ln xmlns:a="http://schemas.openxmlformats.org/drawingml/2006/main" w="13335">
            <a:solidFill>
              <a:srgbClr val="087F8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B358CE-6A8E-4ED6-AB9A-8159125F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98145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0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87F83"/>
                </a:solidFill>
              </a:defRPr>
            </a:pPr>
            <a:r>
              <a:rPr sz="1575" b="0">
                <a:solidFill>
                  <a:srgbClr val="087F83"/>
                </a:solidFill>
              </a:rPr>
              <a:t>En este bloque conectaremos la API con el pipeline completo de Recuperación de Información.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74E12C-FE8B-40F9-A705-53465983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BFAB0F-7E4B-4730-8D5F-169EBEC0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933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Erik Figueiral Alonso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ADBD76-5CC9-446A-B1E1-82B042D2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98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725416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0921B7-C276-48FE-823B-4C88DE19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9EC3EE-7945-4787-A3A7-D7B39017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Práctica 3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531C66-2DDF-4FBE-A445-FB98E997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087F83"/>
                </a:solidFill>
              </a:defRPr>
            </a:pPr>
            <a:r>
              <a:rPr sz="2025" b="0">
                <a:solidFill>
                  <a:srgbClr val="087F83"/>
                </a:solidFill>
              </a:rPr>
              <a:t>Schema: cada campo declara su función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79EF1-5217-4423-B96F-F5FD0B52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593D-6DF1-45C1-B1CF-C342CB0C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933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D3F459-C6EF-412B-B8D3-1F487793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98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63F37C-6A2F-4866-A530-943715E9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285875"/>
            <a:ext cx="6572250" cy="40005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F1F5F5"/>
          </a:solidFill>
          <a:ln xmlns:a="http://schemas.openxmlformats.org/drawingml/2006/main" w="13335">
            <a:solidFill>
              <a:srgbClr val="C7D4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002FF7-089F-42F4-9448-F42FA617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81125"/>
            <a:ext cx="62293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9534F"/>
                </a:solidFill>
              </a:defRPr>
            </a:pPr>
            <a:r>
              <a:rPr sz="1200" b="1">
                <a:solidFill>
                  <a:srgbClr val="D9534F"/>
                </a:solidFill>
              </a:rPr>
              <a:t>from whoosh.fields import Schema, ID, TEXT, KEYWORD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F7208A-4098-4A4A-B238-8AC305A6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58315"/>
            <a:ext cx="62293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9534F"/>
                </a:solidFill>
              </a:defRPr>
            </a:pPr>
            <a:r>
              <a:rPr sz="1200" b="1">
                <a:solidFill>
                  <a:srgbClr val="D9534F"/>
                </a:solidFill>
              </a:rPr>
              <a:t>from whoosh.analysis import LanguageAnalyzer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EF0D7E-BD35-4AF6-883E-80765B21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135505"/>
            <a:ext cx="62293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07AD27-D432-41D7-85AB-8EE8507E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512695"/>
            <a:ext cx="62293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87F83"/>
                </a:solidFill>
              </a:defRPr>
            </a:pPr>
            <a:r>
              <a:rPr sz="1200" b="1">
                <a:solidFill>
                  <a:srgbClr val="087F83"/>
                </a:solidFill>
              </a:rPr>
              <a:t>analizador_es = LanguageAnalyzer("es")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8D7152-43EF-40AE-9DBB-5431D3EA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889885"/>
            <a:ext cx="62293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63238"/>
                </a:solidFill>
              </a:defRPr>
            </a:pPr>
            <a:r>
              <a:rPr sz="1200" b="1">
                <a:solidFill>
                  <a:srgbClr val="263238"/>
                </a:solidFill>
              </a:rPr>
              <a:t>schema = Schema(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C4D395-82B0-42A3-AB10-1304CA47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267075"/>
            <a:ext cx="62293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8363A"/>
                </a:solidFill>
              </a:defRPr>
            </a:pPr>
            <a:r>
              <a:rPr sz="1200" b="0">
                <a:solidFill>
                  <a:srgbClr val="18363A"/>
                </a:solidFill>
              </a:rPr>
              <a:t>    codigo=ID(stored=True, unique=True),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047805-D5D9-4DCE-90F7-1FFC8BC9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644265"/>
            <a:ext cx="62293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8363A"/>
                </a:solidFill>
              </a:defRPr>
            </a:pPr>
            <a:r>
              <a:rPr sz="1200" b="0">
                <a:solidFill>
                  <a:srgbClr val="18363A"/>
                </a:solidFill>
              </a:rPr>
              <a:t>    titulo=TEXT(stored=True),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5DB0D7-CD4C-4423-B7B0-1E9A93AC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021455"/>
            <a:ext cx="62293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8363A"/>
                </a:solidFill>
              </a:defRPr>
            </a:pPr>
            <a:r>
              <a:rPr sz="1200" b="0">
                <a:solidFill>
                  <a:srgbClr val="18363A"/>
                </a:solidFill>
              </a:rPr>
              <a:t>    contenido=TEXT(analyzer=analizador_es),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0C069A-1825-450D-B902-C283F662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398645"/>
            <a:ext cx="62293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8363A"/>
                </a:solidFill>
              </a:defRPr>
            </a:pPr>
            <a:r>
              <a:rPr sz="1200" b="0">
                <a:solidFill>
                  <a:srgbClr val="18363A"/>
                </a:solidFill>
              </a:rPr>
              <a:t>    temas=KEYWORD(commas=True, stored=True)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B0C093-877B-4487-9495-EDA7DAD4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775835"/>
            <a:ext cx="62293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8363A"/>
                </a:solidFill>
              </a:defRPr>
            </a:pPr>
            <a:r>
              <a:rPr sz="1200" b="0">
                <a:solidFill>
                  <a:srgbClr val="18363A"/>
                </a:solidFill>
              </a:rPr>
              <a:t>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B9C63B-3919-4A44-BF8F-25F8B9D7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3335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D9534F"/>
                </a:solidFill>
              </a:defRPr>
            </a:pPr>
            <a:r>
              <a:rPr sz="1350" b="1">
                <a:solidFill>
                  <a:srgbClr val="D9534F"/>
                </a:solidFill>
              </a:rPr>
              <a:t>EJEMPLO INDEXADO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F70BF8-FB13-45B2-97D0-C06F087C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62125"/>
            <a:ext cx="4429125" cy="2333625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1F5F5"/>
          </a:solidFill>
          <a:ln xmlns:a="http://schemas.openxmlformats.org/drawingml/2006/main" w="13335">
            <a:solidFill>
              <a:srgbClr val="C7D4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BBAD10-F1CB-4AE5-91B2-39BA8A5C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857375"/>
            <a:ext cx="4086225" cy="369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63238"/>
                </a:solidFill>
              </a:defRPr>
            </a:pPr>
            <a:r>
              <a:rPr sz="1200" b="1">
                <a:solidFill>
                  <a:srgbClr val="263238"/>
                </a:solidFill>
              </a:rPr>
              <a:t>writer.add_document(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1868AE-FE01-4F30-8036-73C8782D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208213"/>
            <a:ext cx="4086225" cy="369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8363A"/>
                </a:solidFill>
              </a:defRPr>
            </a:pPr>
            <a:r>
              <a:rPr sz="1200" b="0">
                <a:solidFill>
                  <a:srgbClr val="18363A"/>
                </a:solidFill>
              </a:rPr>
              <a:t>    codigo="001",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30963C-C63A-4D4A-B59B-22208B75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559050"/>
            <a:ext cx="4086225" cy="369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8363A"/>
                </a:solidFill>
              </a:defRPr>
            </a:pPr>
            <a:r>
              <a:rPr sz="1200" b="0">
                <a:solidFill>
                  <a:srgbClr val="18363A"/>
                </a:solidFill>
              </a:rPr>
              <a:t>    titulo="Recuperación documental",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DDB171-6F49-44AF-A086-A33F214E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909888"/>
            <a:ext cx="4086225" cy="369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8363A"/>
                </a:solidFill>
              </a:defRPr>
            </a:pPr>
            <a:r>
              <a:rPr sz="1200" b="0">
                <a:solidFill>
                  <a:srgbClr val="18363A"/>
                </a:solidFill>
              </a:rPr>
              <a:t>    contenido="Los sistemas recuperaron documentos",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10A660-9390-46FE-91C2-172FE2B7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260725"/>
            <a:ext cx="4086225" cy="369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8363A"/>
                </a:solidFill>
              </a:defRPr>
            </a:pPr>
            <a:r>
              <a:rPr sz="1200" b="0">
                <a:solidFill>
                  <a:srgbClr val="18363A"/>
                </a:solidFill>
              </a:rPr>
              <a:t>    temas="índices, búsqueda"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A8D26E-E5B1-416E-98F4-6955F3E7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611563"/>
            <a:ext cx="4086225" cy="369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8363A"/>
                </a:solidFill>
              </a:defRPr>
            </a:pPr>
            <a:r>
              <a:rPr sz="1200" b="0">
                <a:solidFill>
                  <a:srgbClr val="18363A"/>
                </a:solidFill>
              </a:rPr>
              <a:t>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E525AD-5739-482D-B1E4-A0A86796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381500"/>
            <a:ext cx="4429125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7F4F3"/>
          </a:solidFill>
          <a:ln xmlns:a="http://schemas.openxmlformats.org/drawingml/2006/main" w="13335">
            <a:solidFill>
              <a:srgbClr val="087F8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36E6D7-8E42-42F0-9D2F-95BB4926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524375"/>
            <a:ext cx="4048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D9534F"/>
                </a:solidFill>
              </a:defRPr>
            </a:pPr>
            <a:r>
              <a:rPr sz="1350" b="1">
                <a:solidFill>
                  <a:srgbClr val="D9534F"/>
                </a:solidFill>
              </a:rPr>
              <a:t>contenido no se almacena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8E32BC-8477-478E-A075-90BA515E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829175"/>
            <a:ext cx="4048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63238"/>
                </a:solidFill>
              </a:defRPr>
            </a:pPr>
            <a:r>
              <a:rPr sz="1350" b="1">
                <a:solidFill>
                  <a:srgbClr val="263238"/>
                </a:solidFill>
              </a:rPr>
              <a:t>pero sí se analiza e indexa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7523ED-42A5-4650-8BD2-37881E4A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191125"/>
            <a:ext cx="404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87F83"/>
                </a:solidFill>
              </a:defRPr>
            </a:pPr>
            <a:r>
              <a:rPr sz="1425" b="1">
                <a:solidFill>
                  <a:srgbClr val="087F83"/>
                </a:solidFill>
              </a:rPr>
              <a:t>recuperaron → recuper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7A8FC2-2092-4858-9FAA-A47C9ACC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531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63238"/>
                </a:solidFill>
              </a:defRPr>
            </a:pPr>
            <a:r>
              <a:rPr sz="1350" b="1">
                <a:solidFill>
                  <a:srgbClr val="263238"/>
                </a:solidFill>
              </a:rPr>
              <a:t>LanguageAnalyzer("es") aplica minúsculas, stopwords y stemming del español.</a:t>
            </a:r>
          </a:p>
        </p:txBody>
      </p:sp>
    </p:spTree>
    <p:extLst>
      <p:ext uri="{BB962C8B-B14F-4D97-AF65-F5344CB8AC3E}">
        <p14:creationId xmlns:p14="http://schemas.microsoft.com/office/powerpoint/2010/main" val="14106912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144A91A-7171-48D5-9254-6A197362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FF9D7-603E-48B4-9D5C-FD73A5F2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Práctica 3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EE331-C4EC-4D77-B00F-18656697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087F83"/>
                </a:solidFill>
              </a:defRPr>
            </a:pPr>
            <a:r>
              <a:rPr sz="2025" b="0">
                <a:solidFill>
                  <a:srgbClr val="087F83"/>
                </a:solidFill>
              </a:rPr>
              <a:t>Tipos de field: la pregunta que responde cada uno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4D11DA-E007-400F-9B49-3529A6D6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42E6B-A394-40E7-9590-97538254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933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8F524-08E2-4D54-BD66-3A74A64F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98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FC30B7-729F-4356-AB9A-6396CC2B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0"/>
            <a:ext cx="5476875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7F4F3"/>
          </a:solidFill>
          <a:ln xmlns:a="http://schemas.openxmlformats.org/drawingml/2006/main" w="13335">
            <a:solidFill>
              <a:srgbClr val="087F8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58FF1B-C3B8-48E2-8233-7870632F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4478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D9534F"/>
                </a:solidFill>
              </a:defRPr>
            </a:pPr>
            <a:r>
              <a:rPr sz="1425" b="1">
                <a:solidFill>
                  <a:srgbClr val="D9534F"/>
                </a:solidFill>
              </a:rPr>
              <a:t>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608398-0BCA-4A51-83C7-00EA6B6A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447800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63238"/>
                </a:solidFill>
              </a:defRPr>
            </a:pPr>
            <a:r>
              <a:rPr sz="1350" b="1">
                <a:solidFill>
                  <a:srgbClr val="263238"/>
                </a:solidFill>
              </a:rPr>
              <a:t>¿Qué palabras contiene?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D1E57B-50A1-404D-BA5D-842ADAA2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28800"/>
            <a:ext cx="5095875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1F5F5"/>
          </a:solidFill>
          <a:ln xmlns:a="http://schemas.openxmlformats.org/drawingml/2006/main" w="13335">
            <a:solidFill>
              <a:srgbClr val="C7D4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EB9BA5-7C41-4477-AB17-48AE3BD6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943100"/>
            <a:ext cx="4752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8363A"/>
                </a:solidFill>
              </a:defRPr>
            </a:pPr>
            <a:r>
              <a:rPr sz="975" b="0">
                <a:solidFill>
                  <a:srgbClr val="18363A"/>
                </a:solidFill>
              </a:rPr>
              <a:t>contenido="Python procesa documentos"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544CD1-BE17-4365-BF06-0C219EC4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66950"/>
            <a:ext cx="5095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47175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175"/>
                </a:solidFill>
              </a:defRPr>
            </a:pPr>
            <a:r>
              <a:rPr sz="1200" b="0">
                <a:solidFill>
                  <a:srgbClr val="647175"/>
                </a:solidFill>
              </a:rPr>
              <a:t>tokeniza · posiciones · frases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495934-BE83-4E68-AC22-EDCD0EE3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33500"/>
            <a:ext cx="5476875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5F8F8"/>
          </a:solidFill>
          <a:ln xmlns:a="http://schemas.openxmlformats.org/drawingml/2006/main" w="13335">
            <a:solidFill>
              <a:srgbClr val="B9CC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63EBED-AB8E-49E5-8C30-329F584A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4478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87F83"/>
                </a:solidFill>
              </a:defRPr>
            </a:pPr>
            <a:r>
              <a:rPr sz="1425" b="1">
                <a:solidFill>
                  <a:srgbClr val="087F83"/>
                </a:solidFill>
              </a:rPr>
              <a:t>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E562FE-3EC2-4DAA-A171-C94772A7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47800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63238"/>
                </a:solidFill>
              </a:defRPr>
            </a:pPr>
            <a:r>
              <a:rPr sz="1350" b="1">
                <a:solidFill>
                  <a:srgbClr val="263238"/>
                </a:solidFill>
              </a:rPr>
              <a:t>¿Cuál es su identidad?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31B6D8-2D4F-4664-B219-DADAB4BC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828800"/>
            <a:ext cx="5095875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1F5F5"/>
          </a:solidFill>
          <a:ln xmlns:a="http://schemas.openxmlformats.org/drawingml/2006/main" w="13335">
            <a:solidFill>
              <a:srgbClr val="C7D4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2F65F7-E614-48F9-AE1B-E24C7A57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943100"/>
            <a:ext cx="4752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8363A"/>
                </a:solidFill>
              </a:defRPr>
            </a:pPr>
            <a:r>
              <a:rPr sz="975" b="0">
                <a:solidFill>
                  <a:srgbClr val="18363A"/>
                </a:solidFill>
              </a:rPr>
              <a:t>codigo="DOC-001"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FA0F7F-13FA-438D-9451-4A286140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266950"/>
            <a:ext cx="5095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47175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175"/>
                </a:solidFill>
              </a:defRPr>
            </a:pPr>
            <a:r>
              <a:rPr sz="1200" b="0">
                <a:solidFill>
                  <a:srgbClr val="647175"/>
                </a:solidFill>
              </a:rPr>
              <a:t>valor completo · unique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7AD082-6143-46BE-AA65-B048DA8A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05125"/>
            <a:ext cx="5476875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5F8F8"/>
          </a:solidFill>
          <a:ln xmlns:a="http://schemas.openxmlformats.org/drawingml/2006/main" w="13335">
            <a:solidFill>
              <a:srgbClr val="B9CC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FF2DF1-B509-4527-8A58-523D59A0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19425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87F83"/>
                </a:solidFill>
              </a:defRPr>
            </a:pPr>
            <a:r>
              <a:rPr sz="1425" b="1">
                <a:solidFill>
                  <a:srgbClr val="087F83"/>
                </a:solidFill>
              </a:rPr>
              <a:t>KEYWORD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66C127-D8B8-440B-9CEE-79FDBC84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19425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63238"/>
                </a:solidFill>
              </a:defRPr>
            </a:pPr>
            <a:r>
              <a:rPr sz="1350" b="1">
                <a:solidFill>
                  <a:srgbClr val="263238"/>
                </a:solidFill>
              </a:rPr>
              <a:t>¿Qué etiquetas tiene?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920F65-0817-4017-BA44-E6C50CFE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00425"/>
            <a:ext cx="5095875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1F5F5"/>
          </a:solidFill>
          <a:ln xmlns:a="http://schemas.openxmlformats.org/drawingml/2006/main" w="13335">
            <a:solidFill>
              <a:srgbClr val="C7D4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0E922A-2DD5-40E4-82BA-D0885566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514725"/>
            <a:ext cx="4752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8363A"/>
                </a:solidFill>
              </a:defRPr>
            </a:pPr>
            <a:r>
              <a:rPr sz="975" b="0">
                <a:solidFill>
                  <a:srgbClr val="18363A"/>
                </a:solidFill>
              </a:rPr>
              <a:t>temas="python, recuperación"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E86B83-7B3E-43A3-8379-40096B49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38575"/>
            <a:ext cx="5095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47175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175"/>
                </a:solidFill>
              </a:defRPr>
            </a:pPr>
            <a:r>
              <a:rPr sz="1200" b="0">
                <a:solidFill>
                  <a:srgbClr val="647175"/>
                </a:solidFill>
              </a:rPr>
              <a:t>separa por espacios o comas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B74548-CF11-4277-9582-C66389F5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05125"/>
            <a:ext cx="5476875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5F8F8"/>
          </a:solidFill>
          <a:ln xmlns:a="http://schemas.openxmlformats.org/drawingml/2006/main" w="13335">
            <a:solidFill>
              <a:srgbClr val="B9CCC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26F242-D4DC-417F-80EB-DA991597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019425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87F83"/>
                </a:solidFill>
              </a:defRPr>
            </a:pPr>
            <a:r>
              <a:rPr sz="1425" b="1">
                <a:solidFill>
                  <a:srgbClr val="087F83"/>
                </a:solidFill>
              </a:rPr>
              <a:t>STORED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C0E08F-1078-4D54-BCE0-79BCE7E1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19425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63238"/>
                </a:solidFill>
              </a:defRPr>
            </a:pPr>
            <a:r>
              <a:rPr sz="1350" b="1">
                <a:solidFill>
                  <a:srgbClr val="263238"/>
                </a:solidFill>
              </a:rPr>
              <a:t>¿Qué quiero mostrar?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8FD5DE-E8B6-4465-9A5A-25815212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400425"/>
            <a:ext cx="5095875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1F5F5"/>
          </a:solidFill>
          <a:ln xmlns:a="http://schemas.openxmlformats.org/drawingml/2006/main" w="13335">
            <a:solidFill>
              <a:srgbClr val="C7D4D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888276-C128-42E1-AB02-A1E6E960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514725"/>
            <a:ext cx="4752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8363A"/>
                </a:solidFill>
              </a:defRPr>
            </a:pPr>
            <a:r>
              <a:rPr sz="975" b="0">
                <a:solidFill>
                  <a:srgbClr val="18363A"/>
                </a:solidFill>
              </a:rPr>
              <a:t>resumen={...}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16767F-1E53-42D0-9573-D83687E2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838575"/>
            <a:ext cx="5095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47175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175"/>
                </a:solidFill>
              </a:defRPr>
            </a:pPr>
            <a:r>
              <a:rPr sz="1200" b="0">
                <a:solidFill>
                  <a:srgbClr val="647175"/>
                </a:solidFill>
              </a:rPr>
              <a:t>se guarda · no se busca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394E55-8027-49C6-90FB-EAC872C8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76750"/>
            <a:ext cx="5476875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5F8F8"/>
          </a:solidFill>
          <a:ln xmlns:a="http://schemas.openxmlformats.org/drawingml/2006/main" w="13335">
            <a:solidFill>
              <a:srgbClr val="B9CCC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DEBF39-D5D8-4B78-B08E-EF010466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59105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87F83"/>
                </a:solidFill>
              </a:defRPr>
            </a:pPr>
            <a:r>
              <a:rPr sz="1425" b="1">
                <a:solidFill>
                  <a:srgbClr val="087F83"/>
                </a:solidFill>
              </a:rPr>
              <a:t>NUMERIC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95DB12-CABC-4164-86AE-6E0F7FC9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91050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63238"/>
                </a:solidFill>
              </a:defRPr>
            </a:pPr>
            <a:r>
              <a:rPr sz="1350" b="1">
                <a:solidFill>
                  <a:srgbClr val="263238"/>
                </a:solidFill>
              </a:rPr>
              <a:t>¿Qué valor numérico tiene?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8212D9-7102-480B-A31D-47179220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72050"/>
            <a:ext cx="5095875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1F5F5"/>
          </a:solidFill>
          <a:ln xmlns:a="http://schemas.openxmlformats.org/drawingml/2006/main" w="13335">
            <a:solidFill>
              <a:srgbClr val="C7D4D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7DA8CB-8469-4C6C-B672-43EA4DA7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086350"/>
            <a:ext cx="4752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8363A"/>
                </a:solidFill>
              </a:defRPr>
            </a:pPr>
            <a:r>
              <a:rPr sz="975" b="0">
                <a:solidFill>
                  <a:srgbClr val="18363A"/>
                </a:solidFill>
              </a:rPr>
              <a:t>precio=19.99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F405FF-4631-4FA3-B4E9-1AB1F048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10200"/>
            <a:ext cx="5095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47175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175"/>
                </a:solidFill>
              </a:defRPr>
            </a:pPr>
            <a:r>
              <a:rPr sz="1200" b="0">
                <a:solidFill>
                  <a:srgbClr val="647175"/>
                </a:solidFill>
              </a:rPr>
              <a:t>rango · ordenación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52D4C6-453C-495D-B823-62D3500C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76750"/>
            <a:ext cx="5476875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5F8F8"/>
          </a:solidFill>
          <a:ln xmlns:a="http://schemas.openxmlformats.org/drawingml/2006/main" w="13335">
            <a:solidFill>
              <a:srgbClr val="B9CCC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9DD5B1-36FC-4822-8580-58414F19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59105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87F83"/>
                </a:solidFill>
              </a:defRPr>
            </a:pPr>
            <a:r>
              <a:rPr sz="1425" b="1">
                <a:solidFill>
                  <a:srgbClr val="087F83"/>
                </a:solidFill>
              </a:rPr>
              <a:t>DATETIME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2E8E56-D5A7-4FA6-AB18-939AC225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91050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63238"/>
                </a:solidFill>
              </a:defRPr>
            </a:pPr>
            <a:r>
              <a:rPr sz="1350" b="1">
                <a:solidFill>
                  <a:srgbClr val="263238"/>
                </a:solidFill>
              </a:rPr>
              <a:t>¿Cuándo ocurrió?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5B88A2F-31B6-495C-BB0F-9FE59D23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972050"/>
            <a:ext cx="5095875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1F5F5"/>
          </a:solidFill>
          <a:ln xmlns:a="http://schemas.openxmlformats.org/drawingml/2006/main" w="13335">
            <a:solidFill>
              <a:srgbClr val="C7D4D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512F83-3842-4620-9B32-2AC908A1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5086350"/>
            <a:ext cx="4752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8363A"/>
                </a:solidFill>
              </a:defRPr>
            </a:pPr>
            <a:r>
              <a:rPr sz="975" b="0">
                <a:solidFill>
                  <a:srgbClr val="18363A"/>
                </a:solidFill>
              </a:rPr>
              <a:t>fecha=datetime(2026, 10, 9)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C0B067-5C3B-4077-BA1B-EE9445F7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410200"/>
            <a:ext cx="5095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47175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47175"/>
                </a:solidFill>
              </a:defRPr>
            </a:pPr>
            <a:r>
              <a:rPr sz="1200" b="0">
                <a:solidFill>
                  <a:srgbClr val="647175"/>
                </a:solidFill>
              </a:rPr>
              <a:t>intervalos temporales</a:t>
            </a:r>
          </a:p>
        </p:txBody>
      </p:sp>
    </p:spTree>
    <p:extLst>
      <p:ext uri="{BB962C8B-B14F-4D97-AF65-F5344CB8AC3E}">
        <p14:creationId xmlns:p14="http://schemas.microsoft.com/office/powerpoint/2010/main" val="15029599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8FABC-A61D-4D01-9113-8B73E642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AB0D6-A96B-4E34-B80D-DF73F3F5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Práctica 3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38546-A37E-4658-ABBE-2AF13B35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087F83"/>
                </a:solidFill>
              </a:defRPr>
            </a:pPr>
            <a:r>
              <a:rPr sz="2025" b="0">
                <a:solidFill>
                  <a:srgbClr val="087F83"/>
                </a:solidFill>
              </a:rPr>
              <a:t>TEXT(): indexar no significa almacenar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B9122-08DA-4306-8AA3-03A7D7B8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F2827F-A515-4335-ADEF-8D129FF8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933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EC1AD1-E10F-4735-914F-C6F9833F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98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13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7242CF-0079-4017-9E2D-D49ECC49DA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6845293ba54f10"/>
          <a:stretch xmlns:a="http://schemas.openxmlformats.org/drawingml/2006/main"/>
        </p:blipFill>
        <p:spPr>
          <a:xfrm xmlns:a="http://schemas.openxmlformats.org/drawingml/2006/main">
            <a:off x="2457268" y="1238250"/>
            <a:ext cx="7277464" cy="4095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EA7117-16BB-4A26-AE0B-64BCE46F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197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D9534F"/>
                </a:solidFill>
              </a:defRPr>
            </a:pPr>
            <a:r>
              <a:rPr sz="1575" b="1">
                <a:solidFill>
                  <a:srgbClr val="D9534F"/>
                </a:solidFill>
              </a:rPr>
              <a:t>TEXT() usa StandardAnalyzer por defecto. stored=True solo decide si recuperamos el valor original.</a:t>
            </a:r>
          </a:p>
        </p:txBody>
      </p:sp>
    </p:spTree>
    <p:extLst>
      <p:ext uri="{BB962C8B-B14F-4D97-AF65-F5344CB8AC3E}">
        <p14:creationId xmlns:p14="http://schemas.microsoft.com/office/powerpoint/2010/main" val="9027713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69AD42-7C29-471A-AB8B-5DA7FFF6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EAE018-9700-4A8E-AB30-F7E9354E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Práctica 3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1FC650-52DD-4C5D-9158-2A95B285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087F83"/>
                </a:solidFill>
              </a:defRPr>
            </a:pPr>
            <a:r>
              <a:rPr sz="2025" b="0">
                <a:solidFill>
                  <a:srgbClr val="087F83"/>
                </a:solidFill>
              </a:rPr>
              <a:t>Cada campo TEXT puede tener su propio Analyzer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DFEA3E-B4C9-4651-892F-442CFD56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12542F-F5CD-42AC-B96D-96F1C334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933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53062-4C15-48FF-8142-036E29EF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98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C6938A-93BD-4272-8C52-F4EB412E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81125"/>
            <a:ext cx="6191250" cy="3857625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1F5F5"/>
          </a:solidFill>
          <a:ln xmlns:a="http://schemas.openxmlformats.org/drawingml/2006/main" w="13335">
            <a:solidFill>
              <a:srgbClr val="C7D4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B2500-8678-4C2F-9F72-C9D2D0D5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476375"/>
            <a:ext cx="5848350" cy="3489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9534F"/>
                </a:solidFill>
              </a:defRPr>
            </a:pPr>
            <a:r>
              <a:rPr sz="1200" b="1">
                <a:solidFill>
                  <a:srgbClr val="D9534F"/>
                </a:solidFill>
              </a:rPr>
              <a:t>from whoosh.analysis import StandardAnalyzer, LanguageAnalyzer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4F53CD-1A66-4B7A-A795-BF43CBA1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806286"/>
            <a:ext cx="5848350" cy="3489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ECACCF-D470-4A55-91B6-F86BD9C5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136198"/>
            <a:ext cx="5848350" cy="3489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63238"/>
                </a:solidFill>
              </a:defRPr>
            </a:pPr>
            <a:r>
              <a:rPr sz="1200" b="1">
                <a:solidFill>
                  <a:srgbClr val="263238"/>
                </a:solidFill>
              </a:rPr>
              <a:t>schema = Schema(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82EFFB-80E4-400C-8041-40A14552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466109"/>
            <a:ext cx="5848350" cy="3489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63238"/>
                </a:solidFill>
              </a:defRPr>
            </a:pPr>
            <a:r>
              <a:rPr sz="1200" b="1">
                <a:solidFill>
                  <a:srgbClr val="263238"/>
                </a:solidFill>
              </a:rPr>
              <a:t>    titulo=TEXT(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A3683F-8FF1-4EBD-9BD6-5DF684EC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796020"/>
            <a:ext cx="5848350" cy="3489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8363A"/>
                </a:solidFill>
              </a:defRPr>
            </a:pPr>
            <a:r>
              <a:rPr sz="1200" b="0">
                <a:solidFill>
                  <a:srgbClr val="18363A"/>
                </a:solidFill>
              </a:rPr>
              <a:t>        stored=True,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942526-E99C-4B55-A2E9-69D0C577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125932"/>
            <a:ext cx="5848350" cy="3489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8363A"/>
                </a:solidFill>
              </a:defRPr>
            </a:pPr>
            <a:r>
              <a:rPr sz="1200" b="0">
                <a:solidFill>
                  <a:srgbClr val="18363A"/>
                </a:solidFill>
              </a:rPr>
              <a:t>        analyzer=StandardAnalyzer(stoplist=None)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81092B-D6A1-4E0D-B48B-7FB77DB2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455843"/>
            <a:ext cx="5848350" cy="3489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8363A"/>
                </a:solidFill>
              </a:defRPr>
            </a:pPr>
            <a:r>
              <a:rPr sz="1200" b="0">
                <a:solidFill>
                  <a:srgbClr val="18363A"/>
                </a:solidFill>
              </a:rPr>
              <a:t>    ),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3ADF5D-29AE-46FA-9716-0152AA8B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785755"/>
            <a:ext cx="5848350" cy="3489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63238"/>
                </a:solidFill>
              </a:defRPr>
            </a:pPr>
            <a:r>
              <a:rPr sz="1200" b="1">
                <a:solidFill>
                  <a:srgbClr val="263238"/>
                </a:solidFill>
              </a:rPr>
              <a:t>    contenido=TEXT(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9206B5-34FE-4B87-974C-25817153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115666"/>
            <a:ext cx="5848350" cy="3489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8363A"/>
                </a:solidFill>
              </a:defRPr>
            </a:pPr>
            <a:r>
              <a:rPr sz="1200" b="0">
                <a:solidFill>
                  <a:srgbClr val="18363A"/>
                </a:solidFill>
              </a:rPr>
              <a:t>        analyzer=LanguageAnalyzer("es")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F85E11-DAC2-4908-BB81-385DB5E0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445577"/>
            <a:ext cx="5848350" cy="3489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8363A"/>
                </a:solidFill>
              </a:defRPr>
            </a:pPr>
            <a:r>
              <a:rPr sz="1200" b="0">
                <a:solidFill>
                  <a:srgbClr val="18363A"/>
                </a:solidFill>
              </a:rPr>
              <a:t>    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1F5EAA-652B-4EB8-BC20-317C5D96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775489"/>
            <a:ext cx="5848350" cy="3489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8363A"/>
                </a:solidFill>
              </a:defRPr>
            </a:pPr>
            <a:r>
              <a:rPr sz="1200" b="0">
                <a:solidFill>
                  <a:srgbClr val="18363A"/>
                </a:solidFill>
              </a:rPr>
              <a:t>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707747-DFD4-4E70-B17F-2601A1AE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38112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D9534F"/>
                </a:solidFill>
              </a:defRPr>
            </a:pPr>
            <a:r>
              <a:rPr sz="1350" b="1">
                <a:solidFill>
                  <a:srgbClr val="D9534F"/>
                </a:solidFill>
              </a:rPr>
              <a:t>DOS CAMPOS · DOS POLÍTICAS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C8E308-0CAD-4183-B8DC-DD067E1C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857375"/>
            <a:ext cx="45720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7F4F3"/>
          </a:solidFill>
          <a:ln xmlns:a="http://schemas.openxmlformats.org/drawingml/2006/main" w="13335">
            <a:solidFill>
              <a:srgbClr val="087F8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67E47A-6FDC-4640-B6DE-47767E06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00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87F83"/>
                </a:solidFill>
              </a:defRPr>
            </a:pPr>
            <a:r>
              <a:rPr sz="1425" b="1">
                <a:solidFill>
                  <a:srgbClr val="087F83"/>
                </a:solidFill>
              </a:rPr>
              <a:t>título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9905DB-3946-4AD8-B21C-82E2FD33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002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63238"/>
                </a:solidFill>
              </a:defRPr>
            </a:pPr>
            <a:r>
              <a:rPr sz="1275" b="0">
                <a:solidFill>
                  <a:srgbClr val="263238"/>
                </a:solidFill>
              </a:rPr>
              <a:t>conserva palabras funcionales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302CCF-1601-48AD-B00B-C8945DA8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4003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63238"/>
                </a:solidFill>
              </a:defRPr>
            </a:pPr>
            <a:r>
              <a:rPr sz="1350" b="1">
                <a:solidFill>
                  <a:srgbClr val="263238"/>
                </a:solidFill>
              </a:rPr>
              <a:t>"Modelos de recuperación"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3F1E43-F20A-4175-9C55-3243A658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813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47175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47175"/>
                </a:solidFill>
              </a:defRPr>
            </a:pPr>
            <a:r>
              <a:rPr sz="1275" b="0">
                <a:solidFill>
                  <a:srgbClr val="647175"/>
                </a:solidFill>
              </a:rPr>
              <a:t>→ modelos · de · recuperación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7B516F-40B7-45F6-9672-2235B717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524250"/>
            <a:ext cx="4572000" cy="1666875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5F8F8"/>
          </a:solidFill>
          <a:ln xmlns:a="http://schemas.openxmlformats.org/drawingml/2006/main" w="13335">
            <a:solidFill>
              <a:srgbClr val="B9CCC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E97070-80F2-45E8-AC5F-DD2A3D27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671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D9534F"/>
                </a:solidFill>
              </a:defRPr>
            </a:pPr>
            <a:r>
              <a:rPr sz="1425" b="1">
                <a:solidFill>
                  <a:srgbClr val="D9534F"/>
                </a:solidFill>
              </a:rPr>
              <a:t>contenido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B679BF-3B55-4B5A-858C-D4FB3BB2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67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63238"/>
                </a:solidFill>
              </a:defRPr>
            </a:pPr>
            <a:r>
              <a:rPr sz="1350" b="0">
                <a:solidFill>
                  <a:srgbClr val="263238"/>
                </a:solidFill>
              </a:rPr>
              <a:t>stemming español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733F97-4D81-4BB4-B1B8-E557AB72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76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63238"/>
                </a:solidFill>
              </a:defRPr>
            </a:pPr>
            <a:r>
              <a:rPr sz="1275" b="1">
                <a:solidFill>
                  <a:srgbClr val="263238"/>
                </a:solidFill>
              </a:rPr>
              <a:t>Índice: "recuperaron documentos"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402920-88F8-4B8F-85C1-CD924B87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4005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63238"/>
                </a:solidFill>
              </a:defRPr>
            </a:pPr>
            <a:r>
              <a:rPr sz="1275" b="1">
                <a:solidFill>
                  <a:srgbClr val="263238"/>
                </a:solidFill>
              </a:rPr>
              <a:t>Consulta: "recuperar documento"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B32849-8B13-41AE-BA73-5C69910F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8101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87F83"/>
                </a:solidFill>
              </a:defRPr>
            </a:pPr>
            <a:r>
              <a:rPr sz="1350" b="1">
                <a:solidFill>
                  <a:srgbClr val="087F83"/>
                </a:solidFill>
              </a:rPr>
              <a:t>ambos → recuper · document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3B60E2-78D2-435E-9900-AB61B974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953125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D9534F"/>
                </a:solidFill>
              </a:defRPr>
            </a:pPr>
            <a:r>
              <a:rPr sz="1425" b="1">
                <a:solidFill>
                  <a:srgbClr val="D9534F"/>
                </a:solidFill>
              </a:rPr>
              <a:t>El mismo Analyzer procesa documentos y consultas: las variantes morfológicas pueden coincidir.</a:t>
            </a:r>
          </a:p>
        </p:txBody>
      </p:sp>
    </p:spTree>
    <p:extLst>
      <p:ext uri="{BB962C8B-B14F-4D97-AF65-F5344CB8AC3E}">
        <p14:creationId xmlns:p14="http://schemas.microsoft.com/office/powerpoint/2010/main" val="7451268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95543B-64AC-4CCA-8D9B-025A7B7C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4E128E-3B47-4AD4-93A6-6CBCF01B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Práctica 3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01EAD3-78EC-4AD2-A0FE-1630DA67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950" b="1">
                <a:solidFill>
                  <a:srgbClr val="8DBDBE"/>
                </a:solidFill>
              </a:defRPr>
            </a:defPPr>
          </a:lstStyle>
          <a:p xmlns:a="http://schemas.openxmlformats.org/drawingml/2006/main">
            <a:pPr algn="l">
              <a:defRPr sz="4950" b="1">
                <a:solidFill>
                  <a:srgbClr val="8DBDBE"/>
                </a:solidFill>
              </a:defRPr>
            </a:pPr>
            <a:r>
              <a:rPr sz="4950" b="1">
                <a:solidFill>
                  <a:srgbClr val="8DBDBE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4D1A9F-40BE-4A32-B9A8-480B2B63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190625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0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87F83"/>
                </a:solidFill>
              </a:defRPr>
            </a:pPr>
            <a:r>
              <a:rPr sz="2850" b="0">
                <a:solidFill>
                  <a:srgbClr val="087F83"/>
                </a:solidFill>
              </a:rPr>
              <a:t>Indexación y almacenamiento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3616FF-F033-4C69-A631-B7B94B77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095500"/>
            <a:ext cx="1428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34F"/>
          </a:solidFill>
          <a:ln xmlns:a="http://schemas.openxmlformats.org/drawingml/2006/main" w="0">
            <a:solidFill>
              <a:srgbClr val="D9534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81B791-86F0-40E7-8AAD-709E8EA4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76500"/>
            <a:ext cx="857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63238"/>
                </a:solidFill>
              </a:defRPr>
            </a:pPr>
            <a:r>
              <a:rPr sz="1725" b="1">
                <a:solidFill>
                  <a:srgbClr val="263238"/>
                </a:solidFill>
              </a:rPr>
              <a:t>El writer transforma documentos y el storage conserva el índice.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2F69F7-0894-49D2-87DF-B9AA2B70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828675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7F4F3"/>
          </a:solidFill>
          <a:ln xmlns:a="http://schemas.openxmlformats.org/drawingml/2006/main" w="13335">
            <a:solidFill>
              <a:srgbClr val="087F8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D12E91-F859-4C02-B7F7-0BD22804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98145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0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87F83"/>
                </a:solidFill>
              </a:defRPr>
            </a:pPr>
            <a:r>
              <a:rPr sz="1575" b="0">
                <a:solidFill>
                  <a:srgbClr val="087F83"/>
                </a:solidFill>
              </a:rPr>
              <a:t>En este bloque conectaremos la API con el pipeline completo de Recuperación de Información.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B953B0-D33E-4EF4-AEE2-A59A1022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25944C-9F3C-4871-998E-4C1EBB3B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933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Erik Figueiral Alonso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C647CC-5389-4ADA-AF52-5B30A2AD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98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7133493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D649A0-B65E-47CB-A42C-51C9BE2E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E1DCFD-BD78-4AE4-868F-7C6D653D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Práctica 3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3C942-63A4-4790-9E84-9C839997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087F83"/>
                </a:solidFill>
              </a:defRPr>
            </a:pPr>
            <a:r>
              <a:rPr sz="2025" b="0">
                <a:solidFill>
                  <a:srgbClr val="087F83"/>
                </a:solidFill>
              </a:rPr>
              <a:t>Crear y abrir un índice persistente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C4E41F-3E6F-4929-BDE8-68680C5A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12518-4705-4127-9B0C-F54EDCD5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933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00315-EF3B-46CD-85FF-7A26EE8D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98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7CB538-BE2F-41E7-90B4-4C239357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647700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1F5F5"/>
          </a:solidFill>
          <a:ln xmlns:a="http://schemas.openxmlformats.org/drawingml/2006/main" w="13335">
            <a:solidFill>
              <a:srgbClr val="C7D4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E43426-D664-470A-AEC8-67ACE122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90675"/>
            <a:ext cx="61341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8363A"/>
                </a:solidFill>
              </a:defRPr>
            </a:pPr>
            <a:r>
              <a:rPr sz="1425" b="0">
                <a:solidFill>
                  <a:srgbClr val="18363A"/>
                </a:solidFill>
              </a:rPr>
              <a:t>import os</a:t>
            </a:r>
          </a:p>
          <a:p xmlns:a="http://schemas.openxmlformats.org/drawingml/2006/main">
            <a:pPr algn="l">
              <a:defRPr sz="1425" b="0">
                <a:solidFill>
                  <a:srgbClr val="18363A"/>
                </a:solidFill>
              </a:defRPr>
            </a:pPr>
            <a:r>
              <a:rPr sz="1425" b="0">
                <a:solidFill>
                  <a:srgbClr val="18363A"/>
                </a:solidFill>
              </a:rPr>
              <a:t>from whoosh import index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8363A"/>
                </a:solidFill>
              </a:defRPr>
            </a:pPr>
            <a:r>
              <a:rPr sz="1425" b="0">
                <a:solidFill>
                  <a:srgbClr val="18363A"/>
                </a:solidFill>
              </a:rPr>
              <a:t>os.makedirs("indexdir", exist_ok=True)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8363A"/>
                </a:solidFill>
              </a:defRPr>
            </a:pPr>
            <a:r>
              <a:rPr sz="1425" b="0">
                <a:solidFill>
                  <a:srgbClr val="18363A"/>
                </a:solidFill>
              </a:rPr>
              <a:t>if index.exists_in("indexdir"):</a:t>
            </a:r>
          </a:p>
          <a:p xmlns:a="http://schemas.openxmlformats.org/drawingml/2006/main">
            <a:pPr algn="l">
              <a:defRPr sz="1425" b="0">
                <a:solidFill>
                  <a:srgbClr val="18363A"/>
                </a:solidFill>
              </a:defRPr>
            </a:pPr>
            <a:r>
              <a:rPr sz="1425" b="0">
                <a:solidFill>
                  <a:srgbClr val="18363A"/>
                </a:solidFill>
              </a:rPr>
              <a:t>    ix = index.open_dir("indexdir")</a:t>
            </a:r>
          </a:p>
          <a:p xmlns:a="http://schemas.openxmlformats.org/drawingml/2006/main">
            <a:pPr algn="l">
              <a:defRPr sz="1425" b="0">
                <a:solidFill>
                  <a:srgbClr val="18363A"/>
                </a:solidFill>
              </a:defRPr>
            </a:pPr>
            <a:r>
              <a:rPr sz="1425" b="0">
                <a:solidFill>
                  <a:srgbClr val="18363A"/>
                </a:solidFill>
              </a:rPr>
              <a:t>else:</a:t>
            </a:r>
          </a:p>
          <a:p xmlns:a="http://schemas.openxmlformats.org/drawingml/2006/main">
            <a:pPr algn="l">
              <a:defRPr sz="1425" b="0">
                <a:solidFill>
                  <a:srgbClr val="18363A"/>
                </a:solidFill>
              </a:defRPr>
            </a:pPr>
            <a:r>
              <a:rPr sz="1425" b="0">
                <a:solidFill>
                  <a:srgbClr val="18363A"/>
                </a:solidFill>
              </a:rPr>
              <a:t>    ix = index.create_in("indexdir", schema)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70583D-F5E7-49FE-9939-2281A384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524000"/>
            <a:ext cx="238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D9534F"/>
                </a:solidFill>
              </a:defRPr>
            </a:pPr>
            <a:r>
              <a:rPr sz="1725" b="1">
                <a:solidFill>
                  <a:srgbClr val="D9534F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4E2634-47D7-4574-A9C7-1D275DD8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24000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63238"/>
                </a:solidFill>
              </a:defRPr>
            </a:pPr>
            <a:r>
              <a:rPr sz="1575" b="0">
                <a:solidFill>
                  <a:srgbClr val="263238"/>
                </a:solidFill>
              </a:rPr>
              <a:t>create_in() crea el índice y guarda el schema.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8523D0-949D-446F-8EC5-83072429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86000"/>
            <a:ext cx="238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D9534F"/>
                </a:solidFill>
              </a:defRPr>
            </a:pPr>
            <a:r>
              <a:rPr sz="1725" b="1">
                <a:solidFill>
                  <a:srgbClr val="D9534F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AE3A6F-5465-4FAE-8655-02D69752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63238"/>
                </a:solidFill>
              </a:defRPr>
            </a:pPr>
            <a:r>
              <a:rPr sz="1575" b="0">
                <a:solidFill>
                  <a:srgbClr val="263238"/>
                </a:solidFill>
              </a:rPr>
              <a:t>open_dir() abre un índice existente.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196ABD-14E9-4268-BE56-3FC0F09E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48000"/>
            <a:ext cx="238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D9534F"/>
                </a:solidFill>
              </a:defRPr>
            </a:pPr>
            <a:r>
              <a:rPr sz="1725" b="1">
                <a:solidFill>
                  <a:srgbClr val="D9534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FDFA19-FE19-4938-9319-99AAA33B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48000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63238"/>
                </a:solidFill>
              </a:defRPr>
            </a:pPr>
            <a:r>
              <a:rPr sz="1575" b="0">
                <a:solidFill>
                  <a:srgbClr val="263238"/>
                </a:solidFill>
              </a:rPr>
              <a:t>exists_in() evita recrearlo por error.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FF47C7-9545-4AB9-B3BC-7B0D766D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810000"/>
            <a:ext cx="238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D9534F"/>
                </a:solidFill>
              </a:defRPr>
            </a:pPr>
            <a:r>
              <a:rPr sz="1725" b="1">
                <a:solidFill>
                  <a:srgbClr val="D9534F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7F08E1-1063-4E31-8060-09AF5CE9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10000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63238"/>
                </a:solidFill>
              </a:defRPr>
            </a:pPr>
            <a:r>
              <a:rPr sz="1575" b="0">
                <a:solidFill>
                  <a:srgbClr val="263238"/>
                </a:solidFill>
              </a:rPr>
              <a:t>FileStorage usa archivos en una carpeta.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5EB474-4675-470F-A0C5-D1715E11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0958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D9534F"/>
                </a:solidFill>
              </a:defRPr>
            </a:pPr>
            <a:r>
              <a:rPr sz="1650" b="1">
                <a:solidFill>
                  <a:srgbClr val="D9534F"/>
                </a:solidFill>
              </a:rPr>
              <a:t>Crear de nuevo ≠ abrir lo existente</a:t>
            </a:r>
          </a:p>
        </p:txBody>
      </p:sp>
    </p:spTree>
    <p:extLst>
      <p:ext uri="{BB962C8B-B14F-4D97-AF65-F5344CB8AC3E}">
        <p14:creationId xmlns:p14="http://schemas.microsoft.com/office/powerpoint/2010/main" val="132228359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FEAB7B-1561-4239-BAEA-0554F66E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B043F-C183-46F7-ADB7-15860678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Práctica 3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B94395-7A06-45B4-A7EF-499792C5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087F83"/>
                </a:solidFill>
              </a:defRPr>
            </a:pPr>
            <a:r>
              <a:rPr sz="2025" b="0">
                <a:solidFill>
                  <a:srgbClr val="087F83"/>
                </a:solidFill>
              </a:rPr>
              <a:t>IndexWriter: una transacción de escritura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002D7E-19F4-4D27-8E72-C76D0ABE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AFCDE7-1309-4C95-9D0A-CACBC1E2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933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C751E2-993F-47AF-AB09-6FAB077F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98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32C418-277F-4E80-B2A9-9B8177A1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81025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1F5F5"/>
          </a:solidFill>
          <a:ln xmlns:a="http://schemas.openxmlformats.org/drawingml/2006/main" w="13335">
            <a:solidFill>
              <a:srgbClr val="C7D4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D12608-A349-4FBB-B3FE-D75DCFB3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90675"/>
            <a:ext cx="546735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8363A"/>
                </a:solidFill>
              </a:defRPr>
            </a:pPr>
            <a:r>
              <a:rPr sz="1500" b="0">
                <a:solidFill>
                  <a:srgbClr val="18363A"/>
                </a:solidFill>
              </a:rPr>
              <a:t>writer = ix.writer()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63A"/>
                </a:solidFill>
              </a:defRPr>
            </a:pPr>
            <a:r>
              <a:rPr sz="1500" b="0">
                <a:solidFill>
                  <a:srgbClr val="18363A"/>
                </a:solidFill>
              </a:rPr>
              <a:t>writer.add_document(</a:t>
            </a:r>
          </a:p>
          <a:p xmlns:a="http://schemas.openxmlformats.org/drawingml/2006/main">
            <a:pPr algn="l">
              <a:defRPr sz="1500" b="0">
                <a:solidFill>
                  <a:srgbClr val="18363A"/>
                </a:solidFill>
              </a:defRPr>
            </a:pPr>
            <a:r>
              <a:rPr sz="1500" b="0">
                <a:solidFill>
                  <a:srgbClr val="18363A"/>
                </a:solidFill>
              </a:rPr>
              <a:t>    id="D1",</a:t>
            </a:r>
          </a:p>
          <a:p xmlns:a="http://schemas.openxmlformats.org/drawingml/2006/main">
            <a:pPr algn="l">
              <a:defRPr sz="1500" b="0">
                <a:solidFill>
                  <a:srgbClr val="18363A"/>
                </a:solidFill>
              </a:defRPr>
            </a:pPr>
            <a:r>
              <a:rPr sz="1500" b="0">
                <a:solidFill>
                  <a:srgbClr val="18363A"/>
                </a:solidFill>
              </a:rPr>
              <a:t>    title="Índices invertidos",</a:t>
            </a:r>
          </a:p>
          <a:p xmlns:a="http://schemas.openxmlformats.org/drawingml/2006/main">
            <a:pPr algn="l">
              <a:defRPr sz="1500" b="0">
                <a:solidFill>
                  <a:srgbClr val="18363A"/>
                </a:solidFill>
              </a:defRPr>
            </a:pPr>
            <a:r>
              <a:rPr sz="1500" b="0">
                <a:solidFill>
                  <a:srgbClr val="18363A"/>
                </a:solidFill>
              </a:rPr>
              <a:t>    body="Las listas de postings..."</a:t>
            </a:r>
          </a:p>
          <a:p xmlns:a="http://schemas.openxmlformats.org/drawingml/2006/main">
            <a:pPr algn="l">
              <a:defRPr sz="1500" b="0">
                <a:solidFill>
                  <a:srgbClr val="18363A"/>
                </a:solidFill>
              </a:defRPr>
            </a:pPr>
            <a:r>
              <a:rPr sz="1500" b="0">
                <a:solidFill>
                  <a:srgbClr val="18363A"/>
                </a:solidFill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63A"/>
                </a:solidFill>
              </a:defRPr>
            </a:pPr>
            <a:r>
              <a:rPr sz="1500" b="0">
                <a:solidFill>
                  <a:srgbClr val="18363A"/>
                </a:solidFill>
              </a:rPr>
              <a:t>writer.commit()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786F6-10DB-42B6-9A90-E585BF03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24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7525C4-BFFE-45C7-B9F4-C4DF7D80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04950"/>
            <a:ext cx="4572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9534F"/>
          </a:solidFill>
          <a:ln xmlns:a="http://schemas.openxmlformats.org/drawingml/2006/main" w="13335">
            <a:solidFill>
              <a:srgbClr val="D953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7AAED7-98C0-46E3-87D9-A8042A72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47637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87F83"/>
                </a:solidFill>
              </a:defRPr>
            </a:pPr>
            <a:r>
              <a:rPr sz="1575" b="1">
                <a:solidFill>
                  <a:srgbClr val="087F83"/>
                </a:solidFill>
              </a:rPr>
              <a:t>writer()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B1F613-6A60-469D-8D49-8CC95657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819275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63238"/>
                </a:solidFill>
              </a:defRPr>
            </a:pPr>
            <a:r>
              <a:rPr sz="1350" b="0">
                <a:solidFill>
                  <a:srgbClr val="263238"/>
                </a:solidFill>
              </a:rPr>
              <a:t>abre el escritor y bloquea la escritura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A9548E-7576-4ADE-A07C-C69AE4E7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146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C4D3B4-A75A-4B13-9A35-022A5829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95575"/>
            <a:ext cx="4572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9534F"/>
          </a:solidFill>
          <a:ln xmlns:a="http://schemas.openxmlformats.org/drawingml/2006/main" w="13335">
            <a:solidFill>
              <a:srgbClr val="D953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BBD5E7-3F31-4A4D-98DC-68821FC9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6700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87F83"/>
                </a:solidFill>
              </a:defRPr>
            </a:pPr>
            <a:r>
              <a:rPr sz="1575" b="1">
                <a:solidFill>
                  <a:srgbClr val="087F83"/>
                </a:solidFill>
              </a:rPr>
              <a:t>add_document()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043BD5-34AE-4532-A7B9-AE2D6A39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0099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63238"/>
                </a:solidFill>
              </a:defRPr>
            </a:pPr>
            <a:r>
              <a:rPr sz="1350" b="0">
                <a:solidFill>
                  <a:srgbClr val="263238"/>
                </a:solidFill>
              </a:rPr>
              <a:t>valida los fields y analiza 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441FC2-5E55-4937-80BE-B6A92B57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05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BDBE62-23E5-4EA0-B123-FBDC8E38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86200"/>
            <a:ext cx="4572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9534F"/>
          </a:solidFill>
          <a:ln xmlns:a="http://schemas.openxmlformats.org/drawingml/2006/main" w="13335">
            <a:solidFill>
              <a:srgbClr val="D953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3460DA-1FDE-494A-8C9A-5278BC8D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85762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87F83"/>
                </a:solidFill>
              </a:defRPr>
            </a:pPr>
            <a:r>
              <a:rPr sz="1575" b="1">
                <a:solidFill>
                  <a:srgbClr val="087F83"/>
                </a:solidFill>
              </a:rPr>
              <a:t>commit()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91B0B6-21A7-4DE5-989C-6A4CA9B2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200525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63238"/>
                </a:solidFill>
              </a:defRPr>
            </a:pPr>
            <a:r>
              <a:rPr sz="1350" b="0">
                <a:solidFill>
                  <a:srgbClr val="263238"/>
                </a:solidFill>
              </a:rPr>
              <a:t>guarda los cambios y libera el writer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65CEA6-0AD0-4C5F-B4F1-45C9FAD6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387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D9534F"/>
                </a:solidFill>
              </a:defRPr>
            </a:pPr>
            <a:r>
              <a:rPr sz="1500" b="1">
                <a:solidFill>
                  <a:srgbClr val="D9534F"/>
                </a:solidFill>
              </a:rPr>
              <a:t>Sin commit(), los cambios no quedan confirmados.</a:t>
            </a:r>
          </a:p>
        </p:txBody>
      </p:sp>
    </p:spTree>
    <p:extLst>
      <p:ext uri="{BB962C8B-B14F-4D97-AF65-F5344CB8AC3E}">
        <p14:creationId xmlns:p14="http://schemas.microsoft.com/office/powerpoint/2010/main" val="27988545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70A061-1236-41F8-9E32-59F20F3C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857999-D5A2-4BE1-929A-AC9B3647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Práctica 3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58A84-B937-4499-9E7F-6D07E75E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087F83"/>
                </a:solidFill>
              </a:defRPr>
            </a:pPr>
            <a:r>
              <a:rPr sz="2025" b="0">
                <a:solidFill>
                  <a:srgbClr val="087F83"/>
                </a:solidFill>
              </a:rPr>
              <a:t>Storage: dónde vive el índice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290C6-09AB-4B21-87B4-2CAA6484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F57107-4773-4EFA-8B00-90C0EBD5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933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4ED4B1-580B-45D5-BBB6-49CFB6EA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98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1087D9-08E9-4969-9193-BFD3D6DC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87F83"/>
                </a:solidFill>
              </a:defRPr>
            </a:pPr>
            <a:r>
              <a:rPr sz="1800" b="1">
                <a:solidFill>
                  <a:srgbClr val="087F83"/>
                </a:solidFill>
              </a:rPr>
              <a:t>FileStorage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EB32B1-FB52-4DFA-9C67-4A61CDAB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4953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1F5F5"/>
          </a:solidFill>
          <a:ln xmlns:a="http://schemas.openxmlformats.org/drawingml/2006/main" w="13335">
            <a:solidFill>
              <a:srgbClr val="C7D4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E1CF99-B93D-4E48-A712-5A056846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14550"/>
            <a:ext cx="46101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8363A"/>
                </a:solidFill>
              </a:defRPr>
            </a:pPr>
            <a:r>
              <a:rPr sz="1275" b="0">
                <a:solidFill>
                  <a:srgbClr val="18363A"/>
                </a:solidFill>
              </a:rPr>
              <a:t>from whoosh.filedb.filestore import FileStorage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8363A"/>
                </a:solidFill>
              </a:defRPr>
            </a:pPr>
            <a:r>
              <a:rPr sz="1275" b="0">
                <a:solidFill>
                  <a:srgbClr val="18363A"/>
                </a:solidFill>
              </a:rPr>
              <a:t>storage = FileStorage("indexdir")</a:t>
            </a:r>
          </a:p>
          <a:p xmlns:a="http://schemas.openxmlformats.org/drawingml/2006/main">
            <a:pPr algn="l">
              <a:defRPr sz="1275" b="0">
                <a:solidFill>
                  <a:srgbClr val="18363A"/>
                </a:solidFill>
              </a:defRPr>
            </a:pPr>
            <a:r>
              <a:rPr sz="1275" b="0">
                <a:solidFill>
                  <a:srgbClr val="18363A"/>
                </a:solidFill>
              </a:rPr>
              <a:t>ix = storage.create_index(schema)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6D2A95-FA47-4346-83D2-CCDCE510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4333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63238"/>
                </a:solidFill>
              </a:defRPr>
            </a:pPr>
            <a:r>
              <a:rPr sz="1500" b="0">
                <a:solidFill>
                  <a:srgbClr val="263238"/>
                </a:solidFill>
              </a:rPr>
              <a:t>Persistente · archivos en disco</a:t>
            </a:r>
          </a:p>
          <a:p xmlns:a="http://schemas.openxmlformats.org/drawingml/2006/main">
            <a:pPr algn="l">
              <a:defRPr sz="1500" b="0">
                <a:solidFill>
                  <a:srgbClr val="263238"/>
                </a:solidFill>
              </a:defRPr>
            </a:pPr>
            <a:r>
              <a:rPr sz="1500" b="0">
                <a:solidFill>
                  <a:srgbClr val="263238"/>
                </a:solidFill>
              </a:rPr>
              <a:t>Adecuado para la práctica y para reabrir el índice.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BD136D-86F0-4C03-A7AB-82746251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763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D9534F"/>
                </a:solidFill>
              </a:defRPr>
            </a:pPr>
            <a:r>
              <a:rPr sz="1800" b="1">
                <a:solidFill>
                  <a:srgbClr val="D9534F"/>
                </a:solidFill>
              </a:rPr>
              <a:t>RamStorage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637062-D514-4ACF-8678-983B746E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000250"/>
            <a:ext cx="4953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1F5F5"/>
          </a:solidFill>
          <a:ln xmlns:a="http://schemas.openxmlformats.org/drawingml/2006/main" w="13335">
            <a:solidFill>
              <a:srgbClr val="C7D4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4BCD14-0307-456A-AFB0-7ABA7BF6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114550"/>
            <a:ext cx="46101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8363A"/>
                </a:solidFill>
              </a:defRPr>
            </a:pPr>
            <a:r>
              <a:rPr sz="1275" b="0">
                <a:solidFill>
                  <a:srgbClr val="18363A"/>
                </a:solidFill>
              </a:rPr>
              <a:t>from whoosh.filedb.filestore import RamStorage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8363A"/>
                </a:solidFill>
              </a:defRPr>
            </a:pPr>
            <a:r>
              <a:rPr sz="1275" b="0">
                <a:solidFill>
                  <a:srgbClr val="18363A"/>
                </a:solidFill>
              </a:rPr>
              <a:t>storage = RamStorage()</a:t>
            </a:r>
          </a:p>
          <a:p xmlns:a="http://schemas.openxmlformats.org/drawingml/2006/main">
            <a:pPr algn="l">
              <a:defRPr sz="1275" b="0">
                <a:solidFill>
                  <a:srgbClr val="18363A"/>
                </a:solidFill>
              </a:defRPr>
            </a:pPr>
            <a:r>
              <a:rPr sz="1275" b="0">
                <a:solidFill>
                  <a:srgbClr val="18363A"/>
                </a:solidFill>
              </a:rPr>
              <a:t>ix = storage.create_index(schema)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3BCA9E-887A-4CCE-AEFF-9437FD92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95750"/>
            <a:ext cx="4333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63238"/>
                </a:solidFill>
              </a:defRPr>
            </a:pPr>
            <a:r>
              <a:rPr sz="1500" b="0">
                <a:solidFill>
                  <a:srgbClr val="263238"/>
                </a:solidFill>
              </a:rPr>
              <a:t>Temporal · completamente en memoria</a:t>
            </a:r>
          </a:p>
          <a:p xmlns:a="http://schemas.openxmlformats.org/drawingml/2006/main">
            <a:pPr algn="l">
              <a:defRPr sz="1500" b="0">
                <a:solidFill>
                  <a:srgbClr val="263238"/>
                </a:solidFill>
              </a:defRPr>
            </a:pPr>
            <a:r>
              <a:rPr sz="1500" b="0">
                <a:solidFill>
                  <a:srgbClr val="263238"/>
                </a:solidFill>
              </a:rPr>
              <a:t>Rápido para pruebas; desaparece al terminar el proceso.</a:t>
            </a:r>
          </a:p>
        </p:txBody>
      </p:sp>
    </p:spTree>
    <p:extLst>
      <p:ext uri="{BB962C8B-B14F-4D97-AF65-F5344CB8AC3E}">
        <p14:creationId xmlns:p14="http://schemas.microsoft.com/office/powerpoint/2010/main" val="132412368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65E4EC-541C-4452-98F1-F6DD1A00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1E575D-BB4D-4109-96F0-C98CB5B4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Práctica 3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72C0B-EFA9-4CE5-8135-134B542A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087F83"/>
                </a:solidFill>
              </a:defRPr>
            </a:pPr>
            <a:r>
              <a:rPr sz="2025" b="0">
                <a:solidFill>
                  <a:srgbClr val="087F83"/>
                </a:solidFill>
              </a:rPr>
              <a:t>BufferedWriter: commit() no significa terminar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A6CD00-5A26-4FF3-9666-723367A1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5A5762-DB24-4544-9D72-7A8074DF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933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C7724-313B-48C5-A9F0-013EC4B5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98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26D6F-460E-49BC-901E-C889B4A5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87F83"/>
                </a:solidFill>
              </a:defRPr>
            </a:pPr>
            <a:r>
              <a:rPr sz="1575" b="1">
                <a:solidFill>
                  <a:srgbClr val="087F83"/>
                </a:solidFill>
              </a:rPr>
              <a:t>IndexWriter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B3287A-955D-4B84-8383-FFFB872B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57375"/>
            <a:ext cx="4905375" cy="1714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1F5F5"/>
          </a:solidFill>
          <a:ln xmlns:a="http://schemas.openxmlformats.org/drawingml/2006/main" w="13335">
            <a:solidFill>
              <a:srgbClr val="C7D4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CFFAA-96E1-4113-820A-FD5DB38C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52625"/>
            <a:ext cx="4562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8363A"/>
                </a:solidFill>
              </a:defRPr>
            </a:pPr>
            <a:r>
              <a:rPr sz="1275" b="0">
                <a:solidFill>
                  <a:srgbClr val="18363A"/>
                </a:solidFill>
              </a:rPr>
              <a:t>writer = ix.writer()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9AE554-17E6-444E-BBA7-5A7926AF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24100"/>
            <a:ext cx="4562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8363A"/>
                </a:solidFill>
              </a:defRPr>
            </a:pPr>
            <a:r>
              <a:rPr sz="1275" b="0">
                <a:solidFill>
                  <a:srgbClr val="18363A"/>
                </a:solidFill>
              </a:rPr>
              <a:t>writer.add_document(...)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18100B-9C4D-4F99-B5C9-6F03062D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95575"/>
            <a:ext cx="4562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9534F"/>
                </a:solidFill>
              </a:defRPr>
            </a:pPr>
            <a:r>
              <a:rPr sz="1275" b="1">
                <a:solidFill>
                  <a:srgbClr val="D9534F"/>
                </a:solidFill>
              </a:rPr>
              <a:t>writer.commit()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5FC1A0-027A-4256-B872-0272A3F3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67050"/>
            <a:ext cx="4562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87F83"/>
                </a:solidFill>
              </a:defRPr>
            </a:pPr>
            <a:r>
              <a:rPr sz="1275" b="1">
                <a:solidFill>
                  <a:srgbClr val="087F83"/>
                </a:solidFill>
              </a:rPr>
              <a:t># cambios confirmados y writer cerrado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1E6693-A8AF-4C83-98EE-5097ADDA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647175"/>
                </a:solidFill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647175"/>
                </a:solidFill>
              </a:defRPr>
            </a:pPr>
            <a:r>
              <a:rPr sz="1275" b="1">
                <a:solidFill>
                  <a:srgbClr val="647175"/>
                </a:solidFill>
              </a:rPr>
              <a:t>flujo corto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FC9511-8306-4790-B053-096627E9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38625"/>
            <a:ext cx="414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63238"/>
                </a:solidFill>
              </a:defRPr>
            </a:pPr>
            <a:r>
              <a:rPr sz="1425" b="1">
                <a:solidFill>
                  <a:srgbClr val="263238"/>
                </a:solidFill>
              </a:rPr>
              <a:t>abrir  →  añadir  →  commit  →  fin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69EACA-261A-4E1D-B215-11B4BB80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81125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D9534F"/>
                </a:solidFill>
              </a:defRPr>
            </a:pPr>
            <a:r>
              <a:rPr sz="1575" b="1">
                <a:solidFill>
                  <a:srgbClr val="D9534F"/>
                </a:solidFill>
              </a:rPr>
              <a:t>BufferedWriter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5F4A5C-0A14-47C3-9974-C1DF7EA9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57375"/>
            <a:ext cx="4905375" cy="1714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1F5F5"/>
          </a:solidFill>
          <a:ln xmlns:a="http://schemas.openxmlformats.org/drawingml/2006/main" w="13335">
            <a:solidFill>
              <a:srgbClr val="C7D4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8E5946-8ABA-45EF-A8CC-3C3FF9FC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952625"/>
            <a:ext cx="4562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8363A"/>
                </a:solidFill>
              </a:defRPr>
            </a:pPr>
            <a:r>
              <a:rPr sz="1275" b="0">
                <a:solidFill>
                  <a:srgbClr val="18363A"/>
                </a:solidFill>
              </a:rPr>
              <a:t>writer = BufferedWriter(ix, limit=2)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C9C42F-2726-4907-911E-E8068CBA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4562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8363A"/>
                </a:solidFill>
              </a:defRPr>
            </a:pPr>
            <a:r>
              <a:rPr sz="1275" b="0">
                <a:solidFill>
                  <a:srgbClr val="18363A"/>
                </a:solidFill>
              </a:rPr>
              <a:t>writer.add_document(...)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3CDCE6-8C01-45A7-A097-C1330BF6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95575"/>
            <a:ext cx="4562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8363A"/>
                </a:solidFill>
              </a:defRPr>
            </a:pPr>
            <a:r>
              <a:rPr sz="1275" b="0">
                <a:solidFill>
                  <a:srgbClr val="18363A"/>
                </a:solidFill>
              </a:rPr>
              <a:t>writer.commit()  # puede seguir abierto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580839-C5E5-43F9-BC40-AD90137F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67050"/>
            <a:ext cx="4562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9534F"/>
                </a:solidFill>
              </a:defRPr>
            </a:pPr>
            <a:r>
              <a:rPr sz="1275" b="1">
                <a:solidFill>
                  <a:srgbClr val="D9534F"/>
                </a:solidFill>
              </a:rPr>
              <a:t>writer.close()   # finaliza y libera lock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FD6F8A-AD38-4292-A246-2F11A7F9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100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647175"/>
                </a:solidFill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647175"/>
                </a:solidFill>
              </a:defRPr>
            </a:pPr>
            <a:r>
              <a:rPr sz="1275" b="1">
                <a:solidFill>
                  <a:srgbClr val="647175"/>
                </a:solidFill>
              </a:rPr>
              <a:t>flujo continuo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B7E864-D568-42F3-91A0-56828C3F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238625"/>
            <a:ext cx="423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63238"/>
                </a:solidFill>
              </a:defRPr>
            </a:pPr>
            <a:r>
              <a:rPr sz="1425" b="1">
                <a:solidFill>
                  <a:srgbClr val="263238"/>
                </a:solidFill>
              </a:rPr>
              <a:t>añadir  →  commit  →  añadir  →  close()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CDD6C6-D991-4BEE-8C14-F3BC2230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95875"/>
            <a:ext cx="895350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2EF"/>
          </a:solidFill>
          <a:ln xmlns:a="http://schemas.openxmlformats.org/drawingml/2006/main" w="13335">
            <a:solidFill>
              <a:srgbClr val="D9534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48C479-05EC-4E6E-8DE1-E7593B98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57800"/>
            <a:ext cx="828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D9534F"/>
                </a:solidFill>
              </a:defRPr>
            </a:pPr>
            <a:r>
              <a:rPr sz="1575" b="1">
                <a:solidFill>
                  <a:srgbClr val="D9534F"/>
                </a:solidFill>
              </a:rPr>
              <a:t>Si vuelves a crear otro BufferedWriter mientras el anterior conserva el bloqueo, puede aparecer LockError. Al terminar: close().</a:t>
            </a:r>
          </a:p>
        </p:txBody>
      </p:sp>
    </p:spTree>
    <p:extLst>
      <p:ext uri="{BB962C8B-B14F-4D97-AF65-F5344CB8AC3E}">
        <p14:creationId xmlns:p14="http://schemas.microsoft.com/office/powerpoint/2010/main" val="16703659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3AB5DA-5B95-4C75-A14C-686E6F95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CAAF9-91EC-4235-B443-9A392EC6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Práctica 3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7A597D-1D54-49A7-BA85-8AE279C7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950" b="1">
                <a:solidFill>
                  <a:srgbClr val="8DBDBE"/>
                </a:solidFill>
              </a:defRPr>
            </a:defPPr>
          </a:lstStyle>
          <a:p xmlns:a="http://schemas.openxmlformats.org/drawingml/2006/main">
            <a:pPr algn="l">
              <a:defRPr sz="4950" b="1">
                <a:solidFill>
                  <a:srgbClr val="8DBDBE"/>
                </a:solidFill>
              </a:defRPr>
            </a:pPr>
            <a:r>
              <a:rPr sz="4950" b="1">
                <a:solidFill>
                  <a:srgbClr val="8DBDBE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C5976-17A9-41E1-AB74-7E94F98E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190625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0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087F83"/>
                </a:solidFill>
              </a:defRPr>
            </a:pPr>
            <a:r>
              <a:rPr sz="2850" b="0">
                <a:solidFill>
                  <a:srgbClr val="087F83"/>
                </a:solidFill>
              </a:rPr>
              <a:t>Consultas y resultados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59809-AC91-49D2-A6FB-3C3D6746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095500"/>
            <a:ext cx="1428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34F"/>
          </a:solidFill>
          <a:ln xmlns:a="http://schemas.openxmlformats.org/drawingml/2006/main" w="0">
            <a:solidFill>
              <a:srgbClr val="D9534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E8CB6B-B2CA-4F34-A987-BBCA6DC2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76500"/>
            <a:ext cx="857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63238"/>
                </a:solidFill>
              </a:defRPr>
            </a:pPr>
            <a:r>
              <a:rPr sz="1725" b="1">
                <a:solidFill>
                  <a:srgbClr val="263238"/>
                </a:solidFill>
              </a:rPr>
              <a:t>Convertimos una necesidad de información en un objeto Query ejecutable.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AF81E8-8A0A-4D42-8CEF-367A32D2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828675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7F4F3"/>
          </a:solidFill>
          <a:ln xmlns:a="http://schemas.openxmlformats.org/drawingml/2006/main" w="13335">
            <a:solidFill>
              <a:srgbClr val="087F8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40496D-3F1A-4F22-AB51-376084EF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98145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0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087F83"/>
                </a:solidFill>
              </a:defRPr>
            </a:pPr>
            <a:r>
              <a:rPr sz="1575" b="0">
                <a:solidFill>
                  <a:srgbClr val="087F83"/>
                </a:solidFill>
              </a:rPr>
              <a:t>En este bloque conectaremos la API con el pipeline completo de Recuperación de Información.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5F320-E9A0-4BCD-88EB-7650CAE7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6208CF-1993-4415-AF3C-1DAAE1A2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933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Erik Figueiral Alonso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82AE2C-3045-4321-BE27-FAA9CFF2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98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44684214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BB3F3C-BED5-4402-9D37-D43BA2D1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87B6D-62C5-4721-BEE1-DACEF513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Práctica 3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EC135-EC5B-4047-83D7-96B2B69F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087F83"/>
                </a:solidFill>
              </a:defRPr>
            </a:pPr>
            <a:r>
              <a:rPr sz="2025" b="0">
                <a:solidFill>
                  <a:srgbClr val="087F83"/>
                </a:solidFill>
              </a:rPr>
              <a:t>QueryParser: de texto a un objeto Query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3C0840-6025-4338-8331-F28E55BF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7096F-E898-4CC0-90C0-C4CF020E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933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8FC33-EA5A-4A73-B455-B0E811A1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98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C012B8-6383-43F8-B798-398B2E6B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647700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1F5F5"/>
          </a:solidFill>
          <a:ln xmlns:a="http://schemas.openxmlformats.org/drawingml/2006/main" w="13335">
            <a:solidFill>
              <a:srgbClr val="C7D4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1E954B-07AB-448B-9548-46D74C7C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90675"/>
            <a:ext cx="61341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8363A"/>
                </a:solidFill>
              </a:defRPr>
            </a:pPr>
            <a:r>
              <a:rPr sz="1425" b="0">
                <a:solidFill>
                  <a:srgbClr val="18363A"/>
                </a:solidFill>
              </a:rPr>
              <a:t>from whoosh.qparser import QueryParser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8363A"/>
                </a:solidFill>
              </a:defRPr>
            </a:pPr>
            <a:r>
              <a:rPr sz="1425" b="0">
                <a:solidFill>
                  <a:srgbClr val="18363A"/>
                </a:solidFill>
              </a:rPr>
              <a:t>parser = QueryParser("body", schema=ix.schema)</a:t>
            </a:r>
          </a:p>
          <a:p xmlns:a="http://schemas.openxmlformats.org/drawingml/2006/main">
            <a:pPr algn="l">
              <a:defRPr sz="1425" b="0">
                <a:solidFill>
                  <a:srgbClr val="18363A"/>
                </a:solidFill>
              </a:defRPr>
            </a:pPr>
            <a:r>
              <a:rPr sz="1425" b="0">
                <a:solidFill>
                  <a:srgbClr val="18363A"/>
                </a:solidFill>
              </a:rPr>
              <a:t>query = parser.parse(</a:t>
            </a:r>
          </a:p>
          <a:p xmlns:a="http://schemas.openxmlformats.org/drawingml/2006/main">
            <a:pPr algn="l">
              <a:defRPr sz="1425" b="0">
                <a:solidFill>
                  <a:srgbClr val="18363A"/>
                </a:solidFill>
              </a:defRPr>
            </a:pPr>
            <a:r>
              <a:rPr sz="1425" b="0">
                <a:solidFill>
                  <a:srgbClr val="18363A"/>
                </a:solidFill>
              </a:rPr>
              <a:t>    '(recuperación OR postings) AND documentos'</a:t>
            </a:r>
          </a:p>
          <a:p xmlns:a="http://schemas.openxmlformats.org/drawingml/2006/main">
            <a:pPr algn="l">
              <a:defRPr sz="1425" b="0">
                <a:solidFill>
                  <a:srgbClr val="18363A"/>
                </a:solidFill>
              </a:defRPr>
            </a:pPr>
            <a:r>
              <a:rPr sz="1425" b="0">
                <a:solidFill>
                  <a:srgbClr val="18363A"/>
                </a:solidFill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8363A"/>
                </a:solidFill>
              </a:defRPr>
            </a:pPr>
            <a:r>
              <a:rPr sz="1425" b="0">
                <a:solidFill>
                  <a:srgbClr val="18363A"/>
                </a:solidFill>
              </a:rPr>
              <a:t>print(query)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2F1779-5B50-4E47-954D-D030BFEF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476375"/>
            <a:ext cx="238125" cy="833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D9534F"/>
                </a:solidFill>
              </a:defRPr>
            </a:pPr>
            <a:r>
              <a:rPr sz="1650" b="1">
                <a:solidFill>
                  <a:srgbClr val="D9534F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F7358-68F9-466F-98AB-CD9D752C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76375"/>
            <a:ext cx="3476625" cy="833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63238"/>
                </a:solidFill>
              </a:defRPr>
            </a:pPr>
            <a:r>
              <a:rPr sz="1500" b="0">
                <a:solidFill>
                  <a:srgbClr val="263238"/>
                </a:solidFill>
              </a:rPr>
              <a:t>El primer argumento es el campo por defecto.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833D00-18F5-40D1-A00D-033924D8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09813"/>
            <a:ext cx="238125" cy="833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D9534F"/>
                </a:solidFill>
              </a:defRPr>
            </a:pPr>
            <a:r>
              <a:rPr sz="1650" b="1">
                <a:solidFill>
                  <a:srgbClr val="D9534F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3C6D81-911A-4FFD-A6F8-68E8B39C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09813"/>
            <a:ext cx="3476625" cy="833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63238"/>
                </a:solidFill>
              </a:defRPr>
            </a:pPr>
            <a:r>
              <a:rPr sz="1500" b="0">
                <a:solidFill>
                  <a:srgbClr val="263238"/>
                </a:solidFill>
              </a:rPr>
              <a:t>El schema permite analizar cada término con la política del campo.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DF180E-DFB0-4933-B290-2B26A98F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43250"/>
            <a:ext cx="238125" cy="833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D9534F"/>
                </a:solidFill>
              </a:defRPr>
            </a:pPr>
            <a:r>
              <a:rPr sz="1650" b="1">
                <a:solidFill>
                  <a:srgbClr val="D9534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558421-11A2-42EA-9C27-C1BFDA4E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143250"/>
            <a:ext cx="3476625" cy="833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63238"/>
                </a:solidFill>
              </a:defRPr>
            </a:pPr>
            <a:r>
              <a:rPr sz="1500" b="0">
                <a:solidFill>
                  <a:srgbClr val="263238"/>
                </a:solidFill>
              </a:rPr>
              <a:t>AND, OR, NOT y paréntesis expresan la lógica booleana.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1ABBA5-94C9-460F-B2C6-0E307B52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976688"/>
            <a:ext cx="238125" cy="833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D9534F"/>
                </a:solidFill>
              </a:defRPr>
            </a:pPr>
            <a:r>
              <a:rPr sz="1650" b="1">
                <a:solidFill>
                  <a:srgbClr val="D9534F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DFDC9D-6693-4D10-A3A1-57029D1A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976688"/>
            <a:ext cx="3476625" cy="833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63238"/>
                </a:solidFill>
              </a:defRPr>
            </a:pPr>
            <a:r>
              <a:rPr sz="1500" b="0">
                <a:solidFill>
                  <a:srgbClr val="263238"/>
                </a:solidFill>
              </a:rPr>
              <a:t>También admite campos explícitos: title:índice.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99DBB9-BF51-4B4F-9F87-940C7D59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286375"/>
            <a:ext cx="866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D9534F"/>
                </a:solidFill>
              </a:defRPr>
            </a:pPr>
            <a:r>
              <a:rPr sz="1650" b="1">
                <a:solidFill>
                  <a:srgbClr val="D9534F"/>
                </a:solidFill>
              </a:rPr>
              <a:t>La consulta textual no se ejecuta directamente: primero se interpreta.</a:t>
            </a:r>
          </a:p>
        </p:txBody>
      </p:sp>
    </p:spTree>
    <p:extLst>
      <p:ext uri="{BB962C8B-B14F-4D97-AF65-F5344CB8AC3E}">
        <p14:creationId xmlns:p14="http://schemas.microsoft.com/office/powerpoint/2010/main" val="27179766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49FD53-2EE6-48AE-9C67-D0155591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5DBC19-FAD4-4F42-B740-920359FC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Práctica 3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7DD683-3411-46DC-A812-E7AE1315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087F83"/>
                </a:solidFill>
              </a:defRPr>
            </a:pPr>
            <a:r>
              <a:rPr sz="2025" b="0">
                <a:solidFill>
                  <a:srgbClr val="087F83"/>
                </a:solidFill>
              </a:rPr>
              <a:t>Consultas: el lenguaje y los objetos representan lo mismo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9CBF63-66C9-449D-999F-298FA0F0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EF41D2-EF22-406C-98E2-69DD9B2F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933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368B0-EE34-4C1D-B51C-2FBD55A0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98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B60340-BCDA-4578-8550-5F40A51E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D9534F"/>
                </a:solidFill>
              </a:defRPr>
            </a:pPr>
            <a:r>
              <a:rPr sz="1425" b="1">
                <a:solidFill>
                  <a:srgbClr val="D9534F"/>
                </a:solidFill>
              </a:rPr>
              <a:t>Cadena para el usuario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715373-9860-42B3-8B26-7C67D3A1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49530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1F5F5"/>
          </a:solidFill>
          <a:ln xmlns:a="http://schemas.openxmlformats.org/drawingml/2006/main" w="13335">
            <a:solidFill>
              <a:srgbClr val="C7D4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DA7B90-1538-469F-88CC-FBB84086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71675"/>
            <a:ext cx="4610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8363A"/>
                </a:solidFill>
              </a:defRPr>
            </a:pPr>
            <a:r>
              <a:rPr sz="1500" b="0">
                <a:solidFill>
                  <a:srgbClr val="18363A"/>
                </a:solidFill>
              </a:rPr>
              <a:t>"recuperación AND documentos"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394BA-E14F-48E8-B129-CC8134B7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81125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87F83"/>
                </a:solidFill>
              </a:defRPr>
            </a:pPr>
            <a:r>
              <a:rPr sz="1425" b="1">
                <a:solidFill>
                  <a:srgbClr val="087F83"/>
                </a:solidFill>
              </a:rPr>
              <a:t>Objeto para el motor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111672-1EDA-4616-8BD2-B36FADC0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57375"/>
            <a:ext cx="49530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1F5F5"/>
          </a:solidFill>
          <a:ln xmlns:a="http://schemas.openxmlformats.org/drawingml/2006/main" w="13335">
            <a:solidFill>
              <a:srgbClr val="C7D4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311543-01BD-4BEA-B658-31BDA86B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71675"/>
            <a:ext cx="4610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363A"/>
                </a:solidFill>
              </a:defRPr>
            </a:pPr>
            <a:r>
              <a:rPr sz="1350" b="0">
                <a:solidFill>
                  <a:srgbClr val="18363A"/>
                </a:solidFill>
              </a:rPr>
              <a:t>And([</a:t>
            </a:r>
          </a:p>
          <a:p xmlns:a="http://schemas.openxmlformats.org/drawingml/2006/main">
            <a:pPr algn="l">
              <a:defRPr sz="1350" b="0">
                <a:solidFill>
                  <a:srgbClr val="18363A"/>
                </a:solidFill>
              </a:defRPr>
            </a:pPr>
            <a:r>
              <a:rPr sz="1350" b="0">
                <a:solidFill>
                  <a:srgbClr val="18363A"/>
                </a:solidFill>
              </a:rPr>
              <a:t>  Term("body", "recuperación"),</a:t>
            </a:r>
          </a:p>
          <a:p xmlns:a="http://schemas.openxmlformats.org/drawingml/2006/main">
            <a:pPr algn="l">
              <a:defRPr sz="1350" b="0">
                <a:solidFill>
                  <a:srgbClr val="18363A"/>
                </a:solidFill>
              </a:defRPr>
            </a:pPr>
            <a:r>
              <a:rPr sz="1350" b="0">
                <a:solidFill>
                  <a:srgbClr val="18363A"/>
                </a:solidFill>
              </a:rPr>
              <a:t>  Term("body", "documentos")</a:t>
            </a:r>
          </a:p>
          <a:p xmlns:a="http://schemas.openxmlformats.org/drawingml/2006/main">
            <a:pPr algn="l">
              <a:defRPr sz="1350" b="0">
                <a:solidFill>
                  <a:srgbClr val="18363A"/>
                </a:solidFill>
              </a:defRPr>
            </a:pPr>
            <a:r>
              <a:rPr sz="1350" b="0">
                <a:solidFill>
                  <a:srgbClr val="18363A"/>
                </a:solidFill>
              </a:rPr>
              <a:t>])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37AC24-FF5D-4711-B6D6-72EE9CB0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33337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5F8F8"/>
          </a:solidFill>
          <a:ln xmlns:a="http://schemas.openxmlformats.org/drawingml/2006/main" w="13335">
            <a:solidFill>
              <a:srgbClr val="B9CC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5EF622-4176-4C55-98A3-7E60492E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86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87F83"/>
                </a:solidFill>
              </a:defRPr>
            </a:pPr>
            <a:r>
              <a:rPr sz="1350" b="1">
                <a:solidFill>
                  <a:srgbClr val="087F83"/>
                </a:solidFill>
              </a:rPr>
              <a:t>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047C03-6262-4151-8F95-E7F67868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6240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63238"/>
                </a:solidFill>
              </a:defRPr>
            </a:pPr>
            <a:r>
              <a:rPr sz="1200" b="0">
                <a:solidFill>
                  <a:srgbClr val="263238"/>
                </a:solidFill>
              </a:rPr>
              <a:t>unión de postings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581416-8347-4155-BEBF-91BD600A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19500"/>
            <a:ext cx="33337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5F8F8"/>
          </a:solidFill>
          <a:ln xmlns:a="http://schemas.openxmlformats.org/drawingml/2006/main" w="13335">
            <a:solidFill>
              <a:srgbClr val="B9CCC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99584B-815A-4248-B4F9-A48DF378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86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87F83"/>
                </a:solidFill>
              </a:defRPr>
            </a:pPr>
            <a:r>
              <a:rPr sz="1350" b="1">
                <a:solidFill>
                  <a:srgbClr val="087F83"/>
                </a:solidFill>
              </a:rPr>
              <a:t>AND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7172C2-8F68-473C-9E8B-8013A17B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6240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63238"/>
                </a:solidFill>
              </a:defRPr>
            </a:pPr>
            <a:r>
              <a:rPr sz="1200" b="0">
                <a:solidFill>
                  <a:srgbClr val="263238"/>
                </a:solidFill>
              </a:rPr>
              <a:t>intersección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F3635A-A720-4163-806A-B805D5F1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33337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5F8F8"/>
          </a:solidFill>
          <a:ln xmlns:a="http://schemas.openxmlformats.org/drawingml/2006/main" w="13335">
            <a:solidFill>
              <a:srgbClr val="B9CC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DA3127-4EBA-442E-ADF7-35BDDD2B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86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87F83"/>
                </a:solidFill>
              </a:defRPr>
            </a:pPr>
            <a:r>
              <a:rPr sz="1350" b="1">
                <a:solidFill>
                  <a:srgbClr val="087F83"/>
                </a:solidFill>
              </a:rPr>
              <a:t>NOT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6CE0AF-2D28-4304-99B2-1A6C2465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6240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63238"/>
                </a:solidFill>
              </a:defRPr>
            </a:pPr>
            <a:r>
              <a:rPr sz="1200" b="0">
                <a:solidFill>
                  <a:srgbClr val="263238"/>
                </a:solidFill>
              </a:rPr>
              <a:t>exclusión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7A3E9C-F260-47C1-B39C-F8E6685B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33337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5F8F8"/>
          </a:solidFill>
          <a:ln xmlns:a="http://schemas.openxmlformats.org/drawingml/2006/main" w="13335">
            <a:solidFill>
              <a:srgbClr val="B9CC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74E7C8-6247-49BE-ADD6-A0A654EE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87F83"/>
                </a:solidFill>
              </a:defRPr>
            </a:pPr>
            <a:r>
              <a:rPr sz="1350" b="1">
                <a:solidFill>
                  <a:srgbClr val="087F83"/>
                </a:solidFill>
              </a:rPr>
              <a:t>"frase exacta"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014253-3F71-4382-80F5-5DF013F1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6252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63238"/>
                </a:solidFill>
              </a:defRPr>
            </a:pPr>
            <a:r>
              <a:rPr sz="1200" b="0">
                <a:solidFill>
                  <a:srgbClr val="263238"/>
                </a:solidFill>
              </a:rPr>
              <a:t>posiciones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82AD21-015C-40D7-8E42-77BBC962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19625"/>
            <a:ext cx="33337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5F8F8"/>
          </a:solidFill>
          <a:ln xmlns:a="http://schemas.openxmlformats.org/drawingml/2006/main" w="13335">
            <a:solidFill>
              <a:srgbClr val="B9CCC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7DAFDE-5347-44D8-8E0F-5018772F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86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87F83"/>
                </a:solidFill>
              </a:defRPr>
            </a:pPr>
            <a:r>
              <a:rPr sz="1350" b="1">
                <a:solidFill>
                  <a:srgbClr val="087F83"/>
                </a:solidFill>
              </a:rPr>
              <a:t>recuper*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E5DC99-9C98-4EFC-B214-4A2A8ABC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96252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63238"/>
                </a:solidFill>
              </a:defRPr>
            </a:pPr>
            <a:r>
              <a:rPr sz="1200" b="0">
                <a:solidFill>
                  <a:srgbClr val="263238"/>
                </a:solidFill>
              </a:rPr>
              <a:t>prefijo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990119-2D4C-47C0-8FFD-4CB069FD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19625"/>
            <a:ext cx="33337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5F8F8"/>
          </a:solidFill>
          <a:ln xmlns:a="http://schemas.openxmlformats.org/drawingml/2006/main" w="13335">
            <a:solidFill>
              <a:srgbClr val="B9CCC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19B4B7-F59A-428C-8CC8-0728EB46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86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87F83"/>
                </a:solidFill>
              </a:defRPr>
            </a:pPr>
            <a:r>
              <a:rPr sz="1350" b="1">
                <a:solidFill>
                  <a:srgbClr val="087F83"/>
                </a:solidFill>
              </a:rPr>
              <a:t>date:[2020 TO 2024]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079C9F-9A2A-4D20-992B-E34BC623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6252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63238"/>
                </a:solidFill>
              </a:defRPr>
            </a:pPr>
            <a:r>
              <a:rPr sz="1200" b="0">
                <a:solidFill>
                  <a:srgbClr val="263238"/>
                </a:solidFill>
              </a:rPr>
              <a:t>rango</a:t>
            </a:r>
          </a:p>
        </p:txBody>
      </p:sp>
    </p:spTree>
    <p:extLst>
      <p:ext uri="{BB962C8B-B14F-4D97-AF65-F5344CB8AC3E}">
        <p14:creationId xmlns:p14="http://schemas.microsoft.com/office/powerpoint/2010/main" val="188220221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C1DD08-3257-4B9E-8184-0528CECA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B326D9-E6E0-460D-ABF1-DD67F32A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Práctica 3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212D3-AD0A-4CA8-A535-2ED072F8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087F83"/>
                </a:solidFill>
              </a:defRPr>
            </a:pPr>
            <a:r>
              <a:rPr sz="2025" b="0">
                <a:solidFill>
                  <a:srgbClr val="087F83"/>
                </a:solidFill>
              </a:rPr>
              <a:t>Searcher y Results: ejecutar, limitar y mostrar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248C2-D212-491F-BAA1-19ABE73E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E56AF-CAE5-49F8-B3D4-03E07D7A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933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8B8D93-FF81-48D2-8729-8EBB253B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98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803C9F-74B2-4BC2-BFF2-E58FDB3C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9055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1F5F5"/>
          </a:solidFill>
          <a:ln xmlns:a="http://schemas.openxmlformats.org/drawingml/2006/main" w="13335">
            <a:solidFill>
              <a:srgbClr val="C7D4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F47EE9-8CB2-461F-A3AC-566B3F95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90675"/>
            <a:ext cx="55626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8363A"/>
                </a:solidFill>
              </a:defRPr>
            </a:pPr>
            <a:r>
              <a:rPr sz="1500" b="0">
                <a:solidFill>
                  <a:srgbClr val="18363A"/>
                </a:solidFill>
              </a:rPr>
              <a:t>with ix.searcher() as searcher:</a:t>
            </a:r>
          </a:p>
          <a:p xmlns:a="http://schemas.openxmlformats.org/drawingml/2006/main">
            <a:pPr algn="l">
              <a:defRPr sz="1500" b="0">
                <a:solidFill>
                  <a:srgbClr val="18363A"/>
                </a:solidFill>
              </a:defRPr>
            </a:pPr>
            <a:r>
              <a:rPr sz="1500" b="0">
                <a:solidFill>
                  <a:srgbClr val="18363A"/>
                </a:solidFill>
              </a:rPr>
              <a:t>    results = searcher.search(query, limit=10)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63A"/>
                </a:solidFill>
              </a:defRPr>
            </a:pPr>
            <a:r>
              <a:rPr sz="1500" b="0">
                <a:solidFill>
                  <a:srgbClr val="18363A"/>
                </a:solidFill>
              </a:rPr>
              <a:t>    for hit in results:</a:t>
            </a:r>
          </a:p>
          <a:p xmlns:a="http://schemas.openxmlformats.org/drawingml/2006/main">
            <a:pPr algn="l">
              <a:defRPr sz="1500" b="0">
                <a:solidFill>
                  <a:srgbClr val="18363A"/>
                </a:solidFill>
              </a:defRPr>
            </a:pPr>
            <a:r>
              <a:rPr sz="1500" b="0">
                <a:solidFill>
                  <a:srgbClr val="18363A"/>
                </a:solidFill>
              </a:rPr>
              <a:t>        print(hit["title"], hit.score)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B6A6E5-960F-4A43-A3B9-7A8ECB0E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428750"/>
            <a:ext cx="23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D9534F"/>
                </a:solidFill>
              </a:defRPr>
            </a:pPr>
            <a:r>
              <a:rPr sz="1650" b="1">
                <a:solidFill>
                  <a:srgbClr val="D9534F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2B86F1-5DA6-4ED3-B191-63222CAE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28750"/>
            <a:ext cx="3952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63238"/>
                </a:solidFill>
              </a:defRPr>
            </a:pPr>
            <a:r>
              <a:rPr sz="1500" b="0">
                <a:solidFill>
                  <a:srgbClr val="263238"/>
                </a:solidFill>
              </a:rPr>
              <a:t>with cierra el Searcher automáticamente.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4B7E0-6049-4CBC-96DE-A6EAC68C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23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D9534F"/>
                </a:solidFill>
              </a:defRPr>
            </a:pPr>
            <a:r>
              <a:rPr sz="1650" b="1">
                <a:solidFill>
                  <a:srgbClr val="D9534F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775BF6-4563-48E3-9CF7-422C5910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95500"/>
            <a:ext cx="3952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63238"/>
                </a:solidFill>
              </a:defRPr>
            </a:pPr>
            <a:r>
              <a:rPr sz="1500" b="0">
                <a:solidFill>
                  <a:srgbClr val="263238"/>
                </a:solidFill>
              </a:rPr>
              <a:t>search() recibe un Query, no una cadena.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22642F-4477-4D89-94EB-4ED4E6F0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62250"/>
            <a:ext cx="23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D9534F"/>
                </a:solidFill>
              </a:defRPr>
            </a:pPr>
            <a:r>
              <a:rPr sz="1650" b="1">
                <a:solidFill>
                  <a:srgbClr val="D9534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A27ABA-F633-4726-8B11-76C623EC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62250"/>
            <a:ext cx="3952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63238"/>
                </a:solidFill>
              </a:defRPr>
            </a:pPr>
            <a:r>
              <a:rPr sz="1500" b="0">
                <a:solidFill>
                  <a:srgbClr val="263238"/>
                </a:solidFill>
              </a:rPr>
              <a:t>Results se comporta como una colección de hits.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10292B-47AE-44BC-8DFB-9D838896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29000"/>
            <a:ext cx="23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D9534F"/>
                </a:solidFill>
              </a:defRPr>
            </a:pPr>
            <a:r>
              <a:rPr sz="1650" b="1">
                <a:solidFill>
                  <a:srgbClr val="D9534F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DF7625-6803-4D7C-AF5A-7DE524A8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29000"/>
            <a:ext cx="3952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63238"/>
                </a:solidFill>
              </a:defRPr>
            </a:pPr>
            <a:r>
              <a:rPr sz="1500" b="0">
                <a:solidFill>
                  <a:srgbClr val="263238"/>
                </a:solidFill>
              </a:rPr>
              <a:t>Solo se puede mostrar un field almacenado.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F608D4-FBB4-4D3F-97DC-3BC7EA8C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95750"/>
            <a:ext cx="238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D9534F"/>
                </a:solidFill>
              </a:defRPr>
            </a:pPr>
            <a:r>
              <a:rPr sz="1650" b="1">
                <a:solidFill>
                  <a:srgbClr val="D9534F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E2802E-0509-4693-B2F8-955C5EAC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95750"/>
            <a:ext cx="3952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63238"/>
                </a:solidFill>
              </a:defRPr>
            </a:pPr>
            <a:r>
              <a:rPr sz="1500" b="0">
                <a:solidFill>
                  <a:srgbClr val="263238"/>
                </a:solidFill>
              </a:rPr>
              <a:t>limit=None recupera todo, pero puede costar más.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7DABD5-CB23-4ABC-A8CB-F4FBB472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10096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7F4F3"/>
          </a:solidFill>
          <a:ln xmlns:a="http://schemas.openxmlformats.org/drawingml/2006/main" w="13335">
            <a:solidFill>
              <a:srgbClr val="087F8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C3F2D2-4ABB-47CD-9E56-E345469F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29200"/>
            <a:ext cx="942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D9534F"/>
                </a:solidFill>
              </a:defRPr>
            </a:pPr>
            <a:r>
              <a:rPr sz="1725" b="1">
                <a:solidFill>
                  <a:srgbClr val="D9534F"/>
                </a:solidFill>
              </a:rPr>
              <a:t>INDEXADO responde «¿coincide?» · ALMACENADO responde «¿qué puedo mostrar?»</a:t>
            </a:r>
          </a:p>
        </p:txBody>
      </p:sp>
    </p:spTree>
    <p:extLst>
      <p:ext uri="{BB962C8B-B14F-4D97-AF65-F5344CB8AC3E}">
        <p14:creationId xmlns:p14="http://schemas.microsoft.com/office/powerpoint/2010/main" val="127695471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6D51A8-63E1-4A3D-85A8-C45DCC64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7855E-B6ED-4349-8076-DBF998D8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Práctica 3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3861C-6F7D-41CE-A03B-D20FA6C5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087F83"/>
                </a:solidFill>
              </a:defRPr>
            </a:pPr>
            <a:r>
              <a:rPr sz="2025" b="0">
                <a:solidFill>
                  <a:srgbClr val="087F83"/>
                </a:solidFill>
              </a:rPr>
              <a:t>Recorrido del notebook: qué construimos en cada paso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3E707-A04F-4419-AA15-C022C3EA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FEB820-EFD8-4D27-8832-61D0914D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933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CB78E-8BA1-46EE-9AB9-C253B2D5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98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43E964-E2AD-4F88-A219-25923BEE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8E2A92-A3C0-40DA-97A3-F6AC9EB2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4762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87F83"/>
          </a:solidFill>
          <a:ln xmlns:a="http://schemas.openxmlformats.org/drawingml/2006/main" w="13335">
            <a:solidFill>
              <a:srgbClr val="087F8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DB3E75-1E53-478F-AA45-8715800F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3144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87F83"/>
                </a:solidFill>
              </a:defRPr>
            </a:pPr>
            <a:r>
              <a:rPr sz="1500" b="1">
                <a:solidFill>
                  <a:srgbClr val="087F83"/>
                </a:solidFill>
              </a:rPr>
              <a:t>Schema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1BFDC7-5079-4B47-9C60-B813A257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3144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63238"/>
                </a:solidFill>
              </a:defRPr>
            </a:pPr>
            <a:r>
              <a:rPr sz="1350" b="0">
                <a:solidFill>
                  <a:srgbClr val="263238"/>
                </a:solidFill>
              </a:rPr>
              <a:t>Definimos fields y Analyzer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FC13DF-5F71-4C4E-9529-DDC7771A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3144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47175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47175"/>
                </a:solidFill>
              </a:defRPr>
            </a:pPr>
            <a:r>
              <a:rPr sz="1275" b="0">
                <a:solidFill>
                  <a:srgbClr val="647175"/>
                </a:solidFill>
              </a:rPr>
              <a:t>resultado: estructura del índice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125FB4-1321-4B52-8E00-52972A6D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0" cy="4572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53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8A2C8B-26C1-4077-BBCF-4DBF96C6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15A4EC-F440-468E-8007-58972B69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4762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87F83"/>
          </a:solidFill>
          <a:ln xmlns:a="http://schemas.openxmlformats.org/drawingml/2006/main" w="13335">
            <a:solidFill>
              <a:srgbClr val="087F8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AEC0D6-3173-442C-BBB2-72D76901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247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87F83"/>
                </a:solidFill>
              </a:defRPr>
            </a:pPr>
            <a:r>
              <a:rPr sz="1500" b="1">
                <a:solidFill>
                  <a:srgbClr val="087F83"/>
                </a:solidFill>
              </a:rPr>
              <a:t>Storage + Index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125BA4-C1B7-4867-8690-1A299B76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47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63238"/>
                </a:solidFill>
              </a:defRPr>
            </a:pPr>
            <a:r>
              <a:rPr sz="1350" b="0">
                <a:solidFill>
                  <a:srgbClr val="263238"/>
                </a:solidFill>
              </a:rPr>
              <a:t>Elegimos memoria o disco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5041E3-8971-4D9E-9168-4B4BE990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479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47175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47175"/>
                </a:solidFill>
              </a:defRPr>
            </a:pPr>
            <a:r>
              <a:rPr sz="1275" b="0">
                <a:solidFill>
                  <a:srgbClr val="647175"/>
                </a:solidFill>
              </a:rPr>
              <a:t>resultado: índice vacío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B2268A-58DC-4E41-B3A0-68284F81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43200"/>
            <a:ext cx="0" cy="4572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53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73676F-66EC-42E2-BEF7-02068011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04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131075-0AEC-442A-B2FB-73347C0F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0400"/>
            <a:ext cx="4762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87F83"/>
          </a:solidFill>
          <a:ln xmlns:a="http://schemas.openxmlformats.org/drawingml/2006/main" w="13335">
            <a:solidFill>
              <a:srgbClr val="087F8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7FF4E4-53F1-402F-BFB4-09ACE482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813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87F83"/>
                </a:solidFill>
              </a:defRPr>
            </a:pPr>
            <a:r>
              <a:rPr sz="1500" b="1">
                <a:solidFill>
                  <a:srgbClr val="087F83"/>
                </a:solidFill>
              </a:rPr>
              <a:t>Writer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53878E-4799-4348-9CF8-7AEAF07A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81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63238"/>
                </a:solidFill>
              </a:defRPr>
            </a:pPr>
            <a:r>
              <a:rPr sz="1350" b="0">
                <a:solidFill>
                  <a:srgbClr val="263238"/>
                </a:solidFill>
              </a:rPr>
              <a:t>Añadimos documentos y commit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38A6A8-383B-4A9A-A3C1-A8A1A5B6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813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47175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47175"/>
                </a:solidFill>
              </a:defRPr>
            </a:pPr>
            <a:r>
              <a:rPr sz="1275" b="0">
                <a:solidFill>
                  <a:srgbClr val="647175"/>
                </a:solidFill>
              </a:rPr>
              <a:t>resultado: postings persistidos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E311DF-FDA1-4D37-8D3E-6D6320A7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76650"/>
            <a:ext cx="0" cy="4572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534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8FE54A-9A94-4881-AAF5-84AB7F38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338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AB0F52-A50A-40C9-BD37-8D6266E3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33850"/>
            <a:ext cx="4762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87F83"/>
          </a:solidFill>
          <a:ln xmlns:a="http://schemas.openxmlformats.org/drawingml/2006/main" w="13335">
            <a:solidFill>
              <a:srgbClr val="087F8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69CCBA-8E23-497D-BEF7-D4C200AD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114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87F83"/>
                </a:solidFill>
              </a:defRPr>
            </a:pPr>
            <a:r>
              <a:rPr sz="1500" b="1">
                <a:solidFill>
                  <a:srgbClr val="087F83"/>
                </a:solidFill>
              </a:rPr>
              <a:t>QueryParser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E596F9-4D52-48C3-9A2B-E61694E0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14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63238"/>
                </a:solidFill>
              </a:defRPr>
            </a:pPr>
            <a:r>
              <a:rPr sz="1350" b="0">
                <a:solidFill>
                  <a:srgbClr val="263238"/>
                </a:solidFill>
              </a:rPr>
              <a:t>Convertimos texto en Query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16A7F6-49DA-419D-A60D-DB2B20A7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148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47175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47175"/>
                </a:solidFill>
              </a:defRPr>
            </a:pPr>
            <a:r>
              <a:rPr sz="1275" b="0">
                <a:solidFill>
                  <a:srgbClr val="647175"/>
                </a:solidFill>
              </a:rPr>
              <a:t>resultado: árbol lógico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379B0A-921E-421D-BFF6-2E5FE36B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10100"/>
            <a:ext cx="0" cy="4572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534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837138-CCC9-4406-8DD4-B1B9CC9A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673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EEA1B7-AAF2-4280-8F6A-FEA9AD4E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67300"/>
            <a:ext cx="4762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9534F"/>
          </a:solidFill>
          <a:ln xmlns:a="http://schemas.openxmlformats.org/drawingml/2006/main" w="13335">
            <a:solidFill>
              <a:srgbClr val="D9534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717856-81E5-45BA-9AA4-CF644A2E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48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87F83"/>
                </a:solidFill>
              </a:defRPr>
            </a:pPr>
            <a:r>
              <a:rPr sz="1500" b="1">
                <a:solidFill>
                  <a:srgbClr val="087F83"/>
                </a:solidFill>
              </a:rPr>
              <a:t>Searcher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C5E161-F8D2-43C5-8D0B-3CE55D14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48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63238"/>
                </a:solidFill>
              </a:defRPr>
            </a:pPr>
            <a:r>
              <a:rPr sz="1350" b="0">
                <a:solidFill>
                  <a:srgbClr val="263238"/>
                </a:solidFill>
              </a:rPr>
              <a:t>Ejecutamos y leemos Hits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9CC32C-9DE4-4E33-B06C-F4051B76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48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47175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47175"/>
                </a:solidFill>
              </a:defRPr>
            </a:pPr>
            <a:r>
              <a:rPr sz="1275" b="0">
                <a:solidFill>
                  <a:srgbClr val="647175"/>
                </a:solidFill>
              </a:rPr>
              <a:t>resultado: documentos recuperados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E3E0E1-B5CE-46D1-8AEA-3076A166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048375"/>
            <a:ext cx="100965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7F4F3"/>
          </a:solidFill>
          <a:ln xmlns:a="http://schemas.openxmlformats.org/drawingml/2006/main" w="13335">
            <a:solidFill>
              <a:srgbClr val="087F8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079276-D6CC-44B4-9D25-63176376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086475"/>
            <a:ext cx="971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D9534F"/>
                </a:solidFill>
              </a:defRPr>
            </a:pPr>
            <a:r>
              <a:rPr sz="1425" b="1">
                <a:solidFill>
                  <a:srgbClr val="D9534F"/>
                </a:solidFill>
              </a:rPr>
              <a:t>El notebook recorre el ciclo completo: definir → indexar → consultar → recuperar.</a:t>
            </a:r>
          </a:p>
        </p:txBody>
      </p:sp>
    </p:spTree>
    <p:extLst>
      <p:ext uri="{BB962C8B-B14F-4D97-AF65-F5344CB8AC3E}">
        <p14:creationId xmlns:p14="http://schemas.microsoft.com/office/powerpoint/2010/main" val="88428315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226140-C61B-4B46-8AD2-4960951C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BED829-16AF-4710-982F-B600FF84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Práctica 3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2EF59-551D-4AC5-9DAD-D9F034A5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087F83"/>
                </a:solidFill>
              </a:defRPr>
            </a:pPr>
            <a:r>
              <a:rPr sz="2025" b="0">
                <a:solidFill>
                  <a:srgbClr val="087F83"/>
                </a:solidFill>
              </a:rPr>
              <a:t>Depuración: síntoma → causa → corrección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9D642-0260-416A-A0E1-27550B0C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C7316-7810-4A01-AEA3-3623F12E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933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52D0F0-CD60-4252-86AB-CC65B664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98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D0D6E1-CEB5-495D-80BB-63371A0A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9534F"/>
                </a:solidFill>
              </a:defRPr>
            </a:pPr>
            <a:r>
              <a:rPr sz="1275" b="1">
                <a:solidFill>
                  <a:srgbClr val="D9534F"/>
                </a:solidFill>
              </a:rPr>
              <a:t>SÍNTOMA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10CA87-748C-4FFA-9E76-4A02D6E5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333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87F83"/>
                </a:solidFill>
              </a:defRPr>
            </a:pPr>
            <a:r>
              <a:rPr sz="1275" b="1">
                <a:solidFill>
                  <a:srgbClr val="087F83"/>
                </a:solidFill>
              </a:rPr>
              <a:t>CAUSA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CDCE44-BEAF-4EB9-9EF2-18317B71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3335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87F83"/>
                </a:solidFill>
              </a:defRPr>
            </a:pPr>
            <a:r>
              <a:rPr sz="1275" b="1">
                <a:solidFill>
                  <a:srgbClr val="087F83"/>
                </a:solidFill>
              </a:rPr>
              <a:t>CORRECCIÓN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A4ADAD-BD46-4462-92E6-F9D166FD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333375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8F8"/>
          </a:solidFill>
          <a:ln xmlns:a="http://schemas.openxmlformats.org/drawingml/2006/main" w="13335">
            <a:solidFill>
              <a:srgbClr val="D3DF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CDEF45-57D2-408D-B735-257A9556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95450"/>
            <a:ext cx="3381375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8F8"/>
          </a:solidFill>
          <a:ln xmlns:a="http://schemas.openxmlformats.org/drawingml/2006/main" w="13335">
            <a:solidFill>
              <a:srgbClr val="D3DF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C500D4-7C99-4981-9DEA-AAD71653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695450"/>
            <a:ext cx="4048125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8F8"/>
          </a:solidFill>
          <a:ln xmlns:a="http://schemas.openxmlformats.org/drawingml/2006/main" w="13335">
            <a:solidFill>
              <a:srgbClr val="D3DF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9B5B79-047B-4B83-BA14-7DA87003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3067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63238"/>
                </a:solidFill>
              </a:defRPr>
            </a:pPr>
            <a:r>
              <a:rPr sz="1275" b="1">
                <a:solidFill>
                  <a:srgbClr val="263238"/>
                </a:solidFill>
              </a:rPr>
              <a:t>No aparece hit["contenido"]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0BE445-BFC1-4A74-AC42-DBADC08C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752600"/>
            <a:ext cx="3114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63238"/>
                </a:solidFill>
              </a:defRPr>
            </a:pPr>
            <a:r>
              <a:rPr sz="1275" b="0">
                <a:solidFill>
                  <a:srgbClr val="263238"/>
                </a:solidFill>
              </a:rPr>
              <a:t>TEXT no tiene stored=True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140CBB-2297-4930-AD94-557ED6A1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752600"/>
            <a:ext cx="3781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63238"/>
                </a:solidFill>
              </a:defRPr>
            </a:pPr>
            <a:r>
              <a:rPr sz="1275" b="0">
                <a:solidFill>
                  <a:srgbClr val="263238"/>
                </a:solidFill>
              </a:rPr>
              <a:t>Almacena el campo que quieras mostrar.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D4681D-BF58-4ACB-9E59-D55E2B76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14600"/>
            <a:ext cx="333375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3DF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39D370-A484-405C-A3B8-3C516942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14600"/>
            <a:ext cx="3381375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3DF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EBC6BF-7178-4FCA-B30A-6D557663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514600"/>
            <a:ext cx="4048125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7F4F3"/>
          </a:solidFill>
          <a:ln xmlns:a="http://schemas.openxmlformats.org/drawingml/2006/main" w="13335">
            <a:solidFill>
              <a:srgbClr val="087F8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57D8F0-EB77-40BC-98BD-A08BEE22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3067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63238"/>
                </a:solidFill>
              </a:defRPr>
            </a:pPr>
            <a:r>
              <a:rPr sz="1275" b="1">
                <a:solidFill>
                  <a:srgbClr val="263238"/>
                </a:solidFill>
              </a:rPr>
              <a:t>La consulta devuelve 0 resultados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4E5603-FBF2-4D99-86E8-1582955D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571750"/>
            <a:ext cx="3114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63238"/>
                </a:solidFill>
              </a:defRPr>
            </a:pPr>
            <a:r>
              <a:rPr sz="1275" b="0">
                <a:solidFill>
                  <a:srgbClr val="263238"/>
                </a:solidFill>
              </a:rPr>
              <a:t>Analyzer distinto o campo incorrecto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D4C5D3-83CF-4172-9960-142177ED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571750"/>
            <a:ext cx="3781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87F83"/>
                </a:solidFill>
              </a:defRPr>
            </a:pPr>
            <a:r>
              <a:rPr sz="1275" b="1">
                <a:solidFill>
                  <a:srgbClr val="087F83"/>
                </a:solidFill>
              </a:rPr>
              <a:t>Inspecciona tokens y usa el schema del índice.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EEC8ED-3329-4B34-A22A-A1D32C24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333375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8F8"/>
          </a:solidFill>
          <a:ln xmlns:a="http://schemas.openxmlformats.org/drawingml/2006/main" w="13335">
            <a:solidFill>
              <a:srgbClr val="D3DF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069497-F193-4450-A616-1CB8A6DC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33750"/>
            <a:ext cx="3381375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8F8"/>
          </a:solidFill>
          <a:ln xmlns:a="http://schemas.openxmlformats.org/drawingml/2006/main" w="13335">
            <a:solidFill>
              <a:srgbClr val="D3DF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C8BAC5-39EF-41AC-95E8-7D5CAF9D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333750"/>
            <a:ext cx="4048125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8F8"/>
          </a:solidFill>
          <a:ln xmlns:a="http://schemas.openxmlformats.org/drawingml/2006/main" w="13335">
            <a:solidFill>
              <a:srgbClr val="D3DF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79BBC8-ADFD-48A1-B691-72C09B9D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3067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63238"/>
                </a:solidFill>
              </a:defRPr>
            </a:pPr>
            <a:r>
              <a:rPr sz="1275" b="1">
                <a:solidFill>
                  <a:srgbClr val="263238"/>
                </a:solidFill>
              </a:rPr>
              <a:t>Al reejecutar cambia el comportamiento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22E4D9-F01F-4D58-BC7A-CEFF5090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390900"/>
            <a:ext cx="3114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63238"/>
                </a:solidFill>
              </a:defRPr>
            </a:pPr>
            <a:r>
              <a:rPr sz="1275" b="0">
                <a:solidFill>
                  <a:srgbClr val="263238"/>
                </a:solidFill>
              </a:rPr>
              <a:t>Se recrea o bloquea el índice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8ED6D6-E344-413E-841E-6B813B06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390900"/>
            <a:ext cx="3781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63238"/>
                </a:solidFill>
              </a:defRPr>
            </a:pPr>
            <a:r>
              <a:rPr sz="1275" b="0">
                <a:solidFill>
                  <a:srgbClr val="263238"/>
                </a:solidFill>
              </a:rPr>
              <a:t>exists_in/open_dir y un solo writer.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93964D-C16A-4046-BA47-F51488D7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52900"/>
            <a:ext cx="333375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3DF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EC1D00-3F5D-4501-8495-E4436525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52900"/>
            <a:ext cx="3381375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3DF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0DD473-0B84-4E47-9829-B596AD1B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152900"/>
            <a:ext cx="4048125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3DF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E7426D-06D7-4ED6-B396-F3D40AB6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10050"/>
            <a:ext cx="3067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63238"/>
                </a:solidFill>
              </a:defRPr>
            </a:pPr>
            <a:r>
              <a:rPr sz="1275" b="1">
                <a:solidFill>
                  <a:srgbClr val="263238"/>
                </a:solidFill>
              </a:rPr>
              <a:t>No se guardan documentos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E7D3DA-AFE1-492B-8EA1-E6759D71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210050"/>
            <a:ext cx="3114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63238"/>
                </a:solidFill>
              </a:defRPr>
            </a:pPr>
            <a:r>
              <a:rPr sz="1275" b="0">
                <a:solidFill>
                  <a:srgbClr val="263238"/>
                </a:solidFill>
              </a:rPr>
              <a:t>Falta commit()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2C3503-FE6A-4304-B6A8-9174F734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210050"/>
            <a:ext cx="3781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63238"/>
                </a:solidFill>
              </a:defRPr>
            </a:pPr>
            <a:r>
              <a:rPr sz="1275" b="0">
                <a:solidFill>
                  <a:srgbClr val="263238"/>
                </a:solidFill>
              </a:rPr>
              <a:t>Confirma o cancela la transacción.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914AB4-A9BD-4F89-A56E-8E4F991E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72050"/>
            <a:ext cx="333375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8F8"/>
          </a:solidFill>
          <a:ln xmlns:a="http://schemas.openxmlformats.org/drawingml/2006/main" w="13335">
            <a:solidFill>
              <a:srgbClr val="D3DF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5D3E60-3E48-47FB-9C48-5F5C37AD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72050"/>
            <a:ext cx="3381375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8F8"/>
          </a:solidFill>
          <a:ln xmlns:a="http://schemas.openxmlformats.org/drawingml/2006/main" w="13335">
            <a:solidFill>
              <a:srgbClr val="D3DFD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844624-7247-4CBE-8D8D-338713A0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972050"/>
            <a:ext cx="4048125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8F8"/>
          </a:solidFill>
          <a:ln xmlns:a="http://schemas.openxmlformats.org/drawingml/2006/main" w="13335">
            <a:solidFill>
              <a:srgbClr val="D3DF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FA75C7-F532-4AA3-81CF-22906F3C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3067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63238"/>
                </a:solidFill>
              </a:defRPr>
            </a:pPr>
            <a:r>
              <a:rPr sz="1275" b="1">
                <a:solidFill>
                  <a:srgbClr val="263238"/>
                </a:solidFill>
              </a:rPr>
              <a:t>Falla DateRange / NumericRange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4DDBE5-F12B-438E-9B92-F59BF346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029200"/>
            <a:ext cx="3114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63238"/>
                </a:solidFill>
              </a:defRPr>
            </a:pPr>
            <a:r>
              <a:rPr sz="1275" b="0">
                <a:solidFill>
                  <a:srgbClr val="263238"/>
                </a:solidFill>
              </a:rPr>
              <a:t>Tipo de field o valor incorrecto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C93E9B-32D6-40F4-A4A4-43841434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5029200"/>
            <a:ext cx="3781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63238"/>
                </a:solidFill>
              </a:defRPr>
            </a:pPr>
            <a:r>
              <a:rPr sz="1275" b="0">
                <a:solidFill>
                  <a:srgbClr val="263238"/>
                </a:solidFill>
              </a:rPr>
              <a:t>Usa DATETIME/NUMERIC y objetos compatibles.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E019B8-8A2A-4623-A2ED-270343DA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5312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D9534F"/>
                </a:solidFill>
              </a:defRPr>
            </a:pPr>
            <a:r>
              <a:rPr sz="1500" b="1">
                <a:solidFill>
                  <a:srgbClr val="D9534F"/>
                </a:solidFill>
              </a:rPr>
              <a:t>Diagnostica el flujo: campo → análisis → escritura → consulta → lectura.</a:t>
            </a:r>
          </a:p>
        </p:txBody>
      </p:sp>
    </p:spTree>
    <p:extLst>
      <p:ext uri="{BB962C8B-B14F-4D97-AF65-F5344CB8AC3E}">
        <p14:creationId xmlns:p14="http://schemas.microsoft.com/office/powerpoint/2010/main" val="135649313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182602-3720-461F-874E-30B65B5F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6BBCF-5124-4B58-98AC-55D82307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Práctica 3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FF9090-9983-4856-B6FC-2F8D4074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087F83"/>
                </a:solidFill>
              </a:defRPr>
            </a:pPr>
            <a:r>
              <a:rPr sz="2025" b="0">
                <a:solidFill>
                  <a:srgbClr val="087F83"/>
                </a:solidFill>
              </a:rPr>
              <a:t>Ejemplo completo · 1/2 · documento → índice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8DD2EE-11D0-4AEE-A26B-8E1DA969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8ED939-B5A4-4245-937A-8B5100E4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933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0498E-3440-4E73-80CE-41099514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98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6F4D4-92F1-4D21-9656-113A0252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285875"/>
            <a:ext cx="5905500" cy="4762500"/>
          </a:xfrm>
          <a:prstGeom xmlns:a="http://schemas.openxmlformats.org/drawingml/2006/main" prst="roundRect">
            <a:avLst>
              <a:gd name="adj" fmla="val 1200"/>
            </a:avLst>
          </a:prstGeom>
          <a:solidFill xmlns:a="http://schemas.openxmlformats.org/drawingml/2006/main">
            <a:srgbClr val="F1F5F5"/>
          </a:solidFill>
          <a:ln xmlns:a="http://schemas.openxmlformats.org/drawingml/2006/main" w="13335">
            <a:solidFill>
              <a:srgbClr val="C7D4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D71A30-7E48-4C72-85CB-86F22C2F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81125"/>
            <a:ext cx="5562600" cy="321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D9534F"/>
                </a:solidFill>
              </a:defRPr>
            </a:pPr>
            <a:r>
              <a:rPr sz="1125" b="1">
                <a:solidFill>
                  <a:srgbClr val="D9534F"/>
                </a:solidFill>
              </a:rPr>
              <a:t>from whoosh.fields import Schema, ID, 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DDA691-4E20-4503-A95E-BF0109EC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683385"/>
            <a:ext cx="5562600" cy="321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D9534F"/>
                </a:solidFill>
              </a:defRPr>
            </a:pPr>
            <a:r>
              <a:rPr sz="1125" b="1">
                <a:solidFill>
                  <a:srgbClr val="D9534F"/>
                </a:solidFill>
              </a:rPr>
              <a:t>from whoosh.analysis import LanguageAnalyzer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45782C-DEF2-4BF9-9018-1D16D71B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985645"/>
            <a:ext cx="5562600" cy="321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D9534F"/>
                </a:solidFill>
              </a:defRPr>
            </a:pPr>
            <a:r>
              <a:rPr sz="1125" b="1">
                <a:solidFill>
                  <a:srgbClr val="D9534F"/>
                </a:solidFill>
              </a:rPr>
              <a:t>from whoosh.filedb.filestore import RamStorage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E7904E-0354-467F-B104-986E633F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287905"/>
            <a:ext cx="5562600" cy="321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B15273-8DB0-47F6-933D-97B05F9D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590165"/>
            <a:ext cx="5562600" cy="321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87F83"/>
                </a:solidFill>
              </a:defRPr>
            </a:pPr>
            <a:r>
              <a:rPr sz="1125" b="1">
                <a:solidFill>
                  <a:srgbClr val="087F83"/>
                </a:solidFill>
              </a:rPr>
              <a:t># 1. El contenido usa stemming en español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12BEF4-122A-4A88-B650-0CF54A9B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892425"/>
            <a:ext cx="5562600" cy="321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8363A"/>
                </a:solidFill>
              </a:defRPr>
            </a:pPr>
            <a:r>
              <a:rPr sz="1125" b="0">
                <a:solidFill>
                  <a:srgbClr val="18363A"/>
                </a:solidFill>
              </a:rPr>
              <a:t>schema = Schema(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617108-58AF-447A-8FBA-20AF4E80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194685"/>
            <a:ext cx="5562600" cy="321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8363A"/>
                </a:solidFill>
              </a:defRPr>
            </a:pPr>
            <a:r>
              <a:rPr sz="1125" b="0">
                <a:solidFill>
                  <a:srgbClr val="18363A"/>
                </a:solidFill>
              </a:rPr>
              <a:t>    codigo=ID(stored=True),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FF8177-1D07-4F80-BB23-7FC498E4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496945"/>
            <a:ext cx="5562600" cy="321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8363A"/>
                </a:solidFill>
              </a:defRPr>
            </a:pPr>
            <a:r>
              <a:rPr sz="1125" b="0">
                <a:solidFill>
                  <a:srgbClr val="18363A"/>
                </a:solidFill>
              </a:rPr>
              <a:t>    titulo=TEXT(stored=True),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908B2A-2BCB-4988-9627-E0976572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799205"/>
            <a:ext cx="5562600" cy="321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8363A"/>
                </a:solidFill>
              </a:defRPr>
            </a:pPr>
            <a:r>
              <a:rPr sz="1125" b="0">
                <a:solidFill>
                  <a:srgbClr val="18363A"/>
                </a:solidFill>
              </a:rPr>
              <a:t>    contenido=TEXT(analyzer=LanguageAnalyzer("es"))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D51C03-42A5-42C4-9B00-EE58D85B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101465"/>
            <a:ext cx="5562600" cy="321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8363A"/>
                </a:solidFill>
              </a:defRPr>
            </a:pPr>
            <a:r>
              <a:rPr sz="1125" b="0">
                <a:solidFill>
                  <a:srgbClr val="18363A"/>
                </a:solidFill>
              </a:rPr>
              <a:t>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4DCA91-2A53-4ACE-A2CE-B20A9D9D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403725"/>
            <a:ext cx="5562600" cy="321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FAAD2B-C53D-4FA3-9BAB-AC33BF64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705985"/>
            <a:ext cx="5562600" cy="321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87F83"/>
                </a:solidFill>
              </a:defRPr>
            </a:pPr>
            <a:r>
              <a:rPr sz="1125" b="1">
                <a:solidFill>
                  <a:srgbClr val="087F83"/>
                </a:solidFill>
              </a:rPr>
              <a:t># 2. Creamos el índice en memoria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E40725-4842-462C-BA21-05B04C0D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008245"/>
            <a:ext cx="5562600" cy="321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8363A"/>
                </a:solidFill>
              </a:defRPr>
            </a:pPr>
            <a:r>
              <a:rPr sz="1125" b="0">
                <a:solidFill>
                  <a:srgbClr val="18363A"/>
                </a:solidFill>
              </a:rPr>
              <a:t>storage = RamStorage()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F9DCE0-72FB-4ED4-8F04-09AF7387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310505"/>
            <a:ext cx="5562600" cy="321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8363A"/>
                </a:solidFill>
              </a:defRPr>
            </a:pPr>
            <a:r>
              <a:rPr sz="1125" b="0">
                <a:solidFill>
                  <a:srgbClr val="18363A"/>
                </a:solidFill>
              </a:rPr>
              <a:t>ix = storage.create_index(schema)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225CBF-4759-43A8-815A-74C947AF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612765"/>
            <a:ext cx="5562600" cy="321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8363A"/>
                </a:solidFill>
              </a:defRPr>
            </a:pPr>
            <a:r>
              <a:rPr sz="1125" b="0">
                <a:solidFill>
                  <a:srgbClr val="18363A"/>
                </a:solidFill>
              </a:rPr>
              <a:t>writer = ix.writer()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172FFE-E830-47F4-B895-FFAD420F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85875"/>
            <a:ext cx="5191125" cy="4762500"/>
          </a:xfrm>
          <a:prstGeom xmlns:a="http://schemas.openxmlformats.org/drawingml/2006/main" prst="roundRect">
            <a:avLst>
              <a:gd name="adj" fmla="val 1200"/>
            </a:avLst>
          </a:prstGeom>
          <a:solidFill xmlns:a="http://schemas.openxmlformats.org/drawingml/2006/main">
            <a:srgbClr val="F1F5F5"/>
          </a:solidFill>
          <a:ln xmlns:a="http://schemas.openxmlformats.org/drawingml/2006/main" w="13335">
            <a:solidFill>
              <a:srgbClr val="C7D4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F53510-A4FA-41B8-AC23-C43FEF1D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381125"/>
            <a:ext cx="4848225" cy="321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87F83"/>
                </a:solidFill>
              </a:defRPr>
            </a:pPr>
            <a:r>
              <a:rPr sz="1125" b="1">
                <a:solidFill>
                  <a:srgbClr val="087F83"/>
                </a:solidFill>
              </a:rPr>
              <a:t># 3. Añadimos variantes morfológicas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A9C158-7768-468E-89CD-F7D89BAE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83385"/>
            <a:ext cx="4848225" cy="321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8363A"/>
                </a:solidFill>
              </a:defRPr>
            </a:pPr>
            <a:r>
              <a:rPr sz="1125" b="0">
                <a:solidFill>
                  <a:srgbClr val="18363A"/>
                </a:solidFill>
              </a:rPr>
              <a:t>writer.add_document(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32F558-8C88-42CC-8E06-4E466BAD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85645"/>
            <a:ext cx="4848225" cy="321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8363A"/>
                </a:solidFill>
              </a:defRPr>
            </a:pPr>
            <a:r>
              <a:rPr sz="1125" b="0">
                <a:solidFill>
                  <a:srgbClr val="18363A"/>
                </a:solidFill>
              </a:rPr>
              <a:t>    codigo="001",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383138-3157-4EA8-A98E-08CE86ED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87905"/>
            <a:ext cx="4848225" cy="321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8363A"/>
                </a:solidFill>
              </a:defRPr>
            </a:pPr>
            <a:r>
              <a:rPr sz="1125" b="0">
                <a:solidFill>
                  <a:srgbClr val="18363A"/>
                </a:solidFill>
              </a:rPr>
              <a:t>    titulo="Sistemas documentales",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01A045-BC67-4122-9097-3F74EC6D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90165"/>
            <a:ext cx="4848225" cy="321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8363A"/>
                </a:solidFill>
              </a:defRPr>
            </a:pPr>
            <a:r>
              <a:rPr sz="1125" b="0">
                <a:solidFill>
                  <a:srgbClr val="18363A"/>
                </a:solidFill>
              </a:rPr>
              <a:t>    contenido="El sistema recuperó documentos relevantes"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613E9D-A87F-42D2-8A97-E82598D1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92425"/>
            <a:ext cx="4848225" cy="321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8363A"/>
                </a:solidFill>
              </a:defRPr>
            </a:pPr>
            <a:r>
              <a:rPr sz="1125" b="0">
                <a:solidFill>
                  <a:srgbClr val="18363A"/>
                </a:solidFill>
              </a:rPr>
              <a:t>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9E1DEB-7199-413B-836E-51C15857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94685"/>
            <a:ext cx="4848225" cy="321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6D6A44-6C49-4CFD-BCDE-75A50D78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96945"/>
            <a:ext cx="4848225" cy="321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8363A"/>
                </a:solidFill>
              </a:defRPr>
            </a:pPr>
            <a:r>
              <a:rPr sz="1125" b="0">
                <a:solidFill>
                  <a:srgbClr val="18363A"/>
                </a:solidFill>
              </a:rPr>
              <a:t>writer.add_document(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8BF4FF-FBF1-42A8-8D02-FBD1D08A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99205"/>
            <a:ext cx="4848225" cy="321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8363A"/>
                </a:solidFill>
              </a:defRPr>
            </a:pPr>
            <a:r>
              <a:rPr sz="1125" b="0">
                <a:solidFill>
                  <a:srgbClr val="18363A"/>
                </a:solidFill>
              </a:rPr>
              <a:t>    codigo="002",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AB3FB8-473C-464B-9F82-420835A4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01465"/>
            <a:ext cx="4848225" cy="321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8363A"/>
                </a:solidFill>
              </a:defRPr>
            </a:pPr>
            <a:r>
              <a:rPr sz="1125" b="0">
                <a:solidFill>
                  <a:srgbClr val="18363A"/>
                </a:solidFill>
              </a:rPr>
              <a:t>    titulo="Construcción de índices",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52A5F6-1C8B-4CD2-93D5-0A055E0D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03725"/>
            <a:ext cx="4848225" cy="321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8363A"/>
                </a:solidFill>
              </a:defRPr>
            </a:pPr>
            <a:r>
              <a:rPr sz="1125" b="0">
                <a:solidFill>
                  <a:srgbClr val="18363A"/>
                </a:solidFill>
              </a:rPr>
              <a:t>    contenido="Los índices permiten buscar información"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C06215-2C40-4B8A-A0D8-05350746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05985"/>
            <a:ext cx="4848225" cy="321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8363A"/>
                </a:solidFill>
              </a:defRPr>
            </a:pPr>
            <a:r>
              <a:rPr sz="1125" b="0">
                <a:solidFill>
                  <a:srgbClr val="18363A"/>
                </a:solidFill>
              </a:rPr>
              <a:t>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E5E37B-5D20-4D31-B487-1865DE7F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08245"/>
            <a:ext cx="4848225" cy="321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D6C689-264F-4AB1-9D0D-2BE80D6B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10505"/>
            <a:ext cx="4848225" cy="321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87F83"/>
                </a:solidFill>
              </a:defRPr>
            </a:pPr>
            <a:r>
              <a:rPr sz="1125" b="1">
                <a:solidFill>
                  <a:srgbClr val="087F83"/>
                </a:solidFill>
              </a:rPr>
              <a:t># Confirma cambios y libera el writer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8CF094-C282-465E-BA04-DB461A5D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612765"/>
            <a:ext cx="4848225" cy="321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D9534F"/>
                </a:solidFill>
              </a:defRPr>
            </a:pPr>
            <a:r>
              <a:rPr sz="1125" b="1">
                <a:solidFill>
                  <a:srgbClr val="D9534F"/>
                </a:solidFill>
              </a:rPr>
              <a:t>writer.commit()</a:t>
            </a:r>
          </a:p>
        </p:txBody>
      </p:sp>
    </p:spTree>
    <p:extLst>
      <p:ext uri="{BB962C8B-B14F-4D97-AF65-F5344CB8AC3E}">
        <p14:creationId xmlns:p14="http://schemas.microsoft.com/office/powerpoint/2010/main" val="96166341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0D9F75-B588-4128-8F6A-C225AC8E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55D63A-F74A-460A-88F9-E3832B21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Práctica 3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C263F-9859-42EF-BEF9-9F4B77F3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087F83"/>
                </a:solidFill>
              </a:defRPr>
            </a:pPr>
            <a:r>
              <a:rPr sz="2025" b="0">
                <a:solidFill>
                  <a:srgbClr val="087F83"/>
                </a:solidFill>
              </a:rPr>
              <a:t>Ejemplo completo · 2/2 · consulta booleana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A84D2-7204-4AF8-AF8F-9DA5B0AE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EBE95-B58C-421D-B4C6-21B5BC3D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933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BDBFDC-6B96-4E75-BE60-3887FDD5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98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10A6A2-CBF0-40EC-8423-288E18DF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285875"/>
            <a:ext cx="7239000" cy="4762500"/>
          </a:xfrm>
          <a:prstGeom xmlns:a="http://schemas.openxmlformats.org/drawingml/2006/main" prst="roundRect">
            <a:avLst>
              <a:gd name="adj" fmla="val 1200"/>
            </a:avLst>
          </a:prstGeom>
          <a:solidFill xmlns:a="http://schemas.openxmlformats.org/drawingml/2006/main">
            <a:srgbClr val="F1F5F5"/>
          </a:solidFill>
          <a:ln xmlns:a="http://schemas.openxmlformats.org/drawingml/2006/main" w="13335">
            <a:solidFill>
              <a:srgbClr val="C7D4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7127FA-A92D-4142-9F67-044A55DE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81125"/>
            <a:ext cx="6896100" cy="302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D9534F"/>
                </a:solidFill>
              </a:defRPr>
            </a:pPr>
            <a:r>
              <a:rPr sz="1125" b="1">
                <a:solidFill>
                  <a:srgbClr val="D9534F"/>
                </a:solidFill>
              </a:rPr>
              <a:t>from whoosh.qparser import QueryParser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57A10-B6F0-45D8-BCD2-9CAFEC48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664494"/>
            <a:ext cx="6896100" cy="302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2995FB-90E7-42FD-AE36-964BE5C6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947863"/>
            <a:ext cx="6896100" cy="302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87F83"/>
                </a:solidFill>
              </a:defRPr>
            </a:pPr>
            <a:r>
              <a:rPr sz="1125" b="1">
                <a:solidFill>
                  <a:srgbClr val="087F83"/>
                </a:solidFill>
              </a:rPr>
              <a:t># 4. El parser aplica el Analyzer de contenido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A07761-E450-4D83-B3AC-2667E5F6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231231"/>
            <a:ext cx="6896100" cy="302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8363A"/>
                </a:solidFill>
              </a:defRPr>
            </a:pPr>
            <a:r>
              <a:rPr sz="1125" b="0">
                <a:solidFill>
                  <a:srgbClr val="18363A"/>
                </a:solidFill>
              </a:rPr>
              <a:t>parser = QueryParser("contenido", schema=ix.schema)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5E84B5-B9EF-4E57-BAF9-74BD77ED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514600"/>
            <a:ext cx="6896100" cy="302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8363A"/>
                </a:solidFill>
              </a:defRPr>
            </a:pPr>
            <a:r>
              <a:rPr sz="1125" b="0">
                <a:solidFill>
                  <a:srgbClr val="18363A"/>
                </a:solidFill>
              </a:rPr>
              <a:t>consulta = parser.parse(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665885-E826-4888-82A8-44210BA3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797969"/>
            <a:ext cx="6896100" cy="302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8363A"/>
                </a:solidFill>
              </a:defRPr>
            </a:pPr>
            <a:r>
              <a:rPr sz="1125" b="0">
                <a:solidFill>
                  <a:srgbClr val="18363A"/>
                </a:solidFill>
              </a:rPr>
              <a:t>    "recuperar AND documentos"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26B7A8-40F7-48A4-9F97-39EB69C3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081338"/>
            <a:ext cx="6896100" cy="302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8363A"/>
                </a:solidFill>
              </a:defRPr>
            </a:pPr>
            <a:r>
              <a:rPr sz="1125" b="0">
                <a:solidFill>
                  <a:srgbClr val="18363A"/>
                </a:solidFill>
              </a:rPr>
              <a:t>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A4C4CD-CAE6-42DF-9385-372F1DC1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364706"/>
            <a:ext cx="6896100" cy="302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8C621B-F859-4146-BA7F-E737C512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648075"/>
            <a:ext cx="6896100" cy="302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8363A"/>
                </a:solidFill>
              </a:defRPr>
            </a:pPr>
            <a:r>
              <a:rPr sz="1125" b="0">
                <a:solidFill>
                  <a:srgbClr val="18363A"/>
                </a:solidFill>
              </a:rPr>
              <a:t>print(consulta)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98331A-518B-47E2-B421-5C9DC582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931444"/>
            <a:ext cx="6896100" cy="302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647175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647175"/>
                </a:solidFill>
              </a:defRPr>
            </a:pPr>
            <a:r>
              <a:rPr sz="1125" b="1">
                <a:solidFill>
                  <a:srgbClr val="647175"/>
                </a:solidFill>
              </a:rPr>
              <a:t># (contenido:recuper AND contenido:document)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05F591-99CB-475E-9427-69D33DA0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214813"/>
            <a:ext cx="6896100" cy="302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3CFFF5-FF65-4F3A-B5F5-FA9D69F9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498181"/>
            <a:ext cx="6896100" cy="302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87F83"/>
                </a:solidFill>
              </a:defRPr>
            </a:pPr>
            <a:r>
              <a:rPr sz="1125" b="1">
                <a:solidFill>
                  <a:srgbClr val="087F83"/>
                </a:solidFill>
              </a:rPr>
              <a:t># 5. Ejecutamos la consulta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F2FE86-43C0-4322-8290-A9A9F7E2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781550"/>
            <a:ext cx="6896100" cy="302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8363A"/>
                </a:solidFill>
              </a:defRPr>
            </a:pPr>
            <a:r>
              <a:rPr sz="1125" b="0">
                <a:solidFill>
                  <a:srgbClr val="18363A"/>
                </a:solidFill>
              </a:rPr>
              <a:t>with ix.searcher() as searcher: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AE6312-46D0-425D-A5FE-667F4989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064919"/>
            <a:ext cx="6896100" cy="302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8363A"/>
                </a:solidFill>
              </a:defRPr>
            </a:pPr>
            <a:r>
              <a:rPr sz="1125" b="0">
                <a:solidFill>
                  <a:srgbClr val="18363A"/>
                </a:solidFill>
              </a:rPr>
              <a:t>    resultados = searcher.search(consulta)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DF8603-8F25-472B-970A-1442DACF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348288"/>
            <a:ext cx="6896100" cy="302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8363A"/>
                </a:solidFill>
              </a:defRPr>
            </a:pPr>
            <a:r>
              <a:rPr sz="1125" b="0">
                <a:solidFill>
                  <a:srgbClr val="18363A"/>
                </a:solidFill>
              </a:rPr>
              <a:t>    for hit in resultados: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C6CFBB-C733-4BDD-862A-C22CA121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631656"/>
            <a:ext cx="6896100" cy="302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8363A"/>
                </a:solidFill>
              </a:defRPr>
            </a:pPr>
            <a:r>
              <a:rPr sz="1125" b="0">
                <a:solidFill>
                  <a:srgbClr val="18363A"/>
                </a:solidFill>
              </a:rPr>
              <a:t>        print(hit["codigo"], hit["titulo"])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DCB492-B88A-409E-A444-B3F24ED4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3337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7F4F3"/>
          </a:solidFill>
          <a:ln xmlns:a="http://schemas.openxmlformats.org/drawingml/2006/main" w="13335">
            <a:solidFill>
              <a:srgbClr val="087F8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ABD4E9-4593-4A60-AA74-4D15980F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71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D9534F"/>
                </a:solidFill>
              </a:defRPr>
            </a:pPr>
            <a:r>
              <a:rPr sz="1275" b="1">
                <a:solidFill>
                  <a:srgbClr val="D9534F"/>
                </a:solidFill>
              </a:rPr>
              <a:t>RESULTADO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0DC1CA-E107-47B1-BD0E-10998F90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81200"/>
            <a:ext cx="28575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1F5F5"/>
          </a:solidFill>
          <a:ln xmlns:a="http://schemas.openxmlformats.org/drawingml/2006/main" w="13335">
            <a:solidFill>
              <a:srgbClr val="C7D4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A4639D-CB28-4BFA-A286-B24B42CB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09550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8363A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18363A"/>
                </a:solidFill>
              </a:defRPr>
            </a:pPr>
            <a:r>
              <a:rPr sz="1050" b="0">
                <a:solidFill>
                  <a:srgbClr val="18363A"/>
                </a:solidFill>
              </a:rPr>
              <a:t>001  Sistemas documentales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D83EEA-B4E2-4B13-BBA4-0AF7A695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076575"/>
            <a:ext cx="38100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9534F"/>
          </a:solidFill>
          <a:ln xmlns:a="http://schemas.openxmlformats.org/drawingml/2006/main" w="13335">
            <a:solidFill>
              <a:srgbClr val="D9534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E2C35A-975C-44E8-B4DA-207A48FC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956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49A1E0-B931-4473-9E2F-483DCF19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5752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87F83"/>
                </a:solidFill>
              </a:defRPr>
            </a:pPr>
            <a:r>
              <a:rPr sz="1350" b="1">
                <a:solidFill>
                  <a:srgbClr val="087F83"/>
                </a:solidFill>
              </a:rPr>
              <a:t>recuperar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061464-488F-4BDC-AA25-810A188F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05752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63238"/>
                </a:solidFill>
              </a:defRPr>
            </a:pPr>
            <a:r>
              <a:rPr sz="1200" b="0">
                <a:solidFill>
                  <a:srgbClr val="263238"/>
                </a:solidFill>
              </a:rPr>
              <a:t>→ recuper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70B7F4-383A-4DD7-872A-6CD4D7A0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724275"/>
            <a:ext cx="38100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9534F"/>
          </a:solidFill>
          <a:ln xmlns:a="http://schemas.openxmlformats.org/drawingml/2006/main" w="13335">
            <a:solidFill>
              <a:srgbClr val="D9534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08951E-8398-4F62-A2B6-51B26F72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433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86912F-AC03-43F5-B100-C703C5B6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70522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87F83"/>
                </a:solidFill>
              </a:defRPr>
            </a:pPr>
            <a:r>
              <a:rPr sz="1350" b="1">
                <a:solidFill>
                  <a:srgbClr val="087F83"/>
                </a:solidFill>
              </a:rPr>
              <a:t>documentos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5FAAA9-8539-401F-AC76-8C4882A9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70522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63238"/>
                </a:solidFill>
              </a:defRPr>
            </a:pPr>
            <a:r>
              <a:rPr sz="1200" b="0">
                <a:solidFill>
                  <a:srgbClr val="263238"/>
                </a:solidFill>
              </a:rPr>
              <a:t>→ document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05FF03-C9AD-44AF-8185-D0BBC74A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371975"/>
            <a:ext cx="38100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9534F"/>
          </a:solidFill>
          <a:ln xmlns:a="http://schemas.openxmlformats.org/drawingml/2006/main" w="13335">
            <a:solidFill>
              <a:srgbClr val="D9534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8A33CE-C59B-4EBF-9AFB-4279E0B9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910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BA28FE-A4EF-4157-9190-27DDFC82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35292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87F83"/>
                </a:solidFill>
              </a:defRPr>
            </a:pPr>
            <a:r>
              <a:rPr sz="1350" b="1">
                <a:solidFill>
                  <a:srgbClr val="087F83"/>
                </a:solidFill>
              </a:rPr>
              <a:t>AND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8D3D73-6AD5-4F00-8B4D-2BF3DDFF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35292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63238"/>
                </a:solidFill>
              </a:defRPr>
            </a:pPr>
            <a:r>
              <a:rPr sz="1200" b="0">
                <a:solidFill>
                  <a:srgbClr val="263238"/>
                </a:solidFill>
              </a:rPr>
              <a:t>exige ambos términos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2C2B2E-DEF3-41C6-AE7C-E9DB1E42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019675"/>
            <a:ext cx="38100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9534F"/>
          </a:solidFill>
          <a:ln xmlns:a="http://schemas.openxmlformats.org/drawingml/2006/main" w="13335">
            <a:solidFill>
              <a:srgbClr val="D9534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7A1EB0-5489-4867-8C6C-4074C59B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387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5749AC-D157-49D5-BADD-FC0ACC98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00062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87F83"/>
                </a:solidFill>
              </a:defRPr>
            </a:pPr>
            <a:r>
              <a:rPr sz="1350" b="1">
                <a:solidFill>
                  <a:srgbClr val="087F83"/>
                </a:solidFill>
              </a:rPr>
              <a:t>Hit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C30F02-C169-4483-ACEB-954A6A1C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00062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63238"/>
                </a:solidFill>
              </a:defRPr>
            </a:pPr>
            <a:r>
              <a:rPr sz="1200" b="0">
                <a:solidFill>
                  <a:srgbClr val="263238"/>
                </a:solidFill>
              </a:rPr>
              <a:t>devuelve campos stored</a:t>
            </a:r>
          </a:p>
        </p:txBody>
      </p:sp>
    </p:spTree>
    <p:extLst>
      <p:ext uri="{BB962C8B-B14F-4D97-AF65-F5344CB8AC3E}">
        <p14:creationId xmlns:p14="http://schemas.microsoft.com/office/powerpoint/2010/main" val="23738414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F0D64F-4A9B-4EDE-90D7-BEB6C87E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BB822-CF6B-4B96-85CE-34F8F886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Práctica 3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3C281C-9732-4A37-9083-13B84CD8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087F83"/>
                </a:solidFill>
              </a:defRPr>
            </a:pPr>
            <a:r>
              <a:rPr sz="2025" b="0">
                <a:solidFill>
                  <a:srgbClr val="087F83"/>
                </a:solidFill>
              </a:rPr>
              <a:t>Idea final: Whoosh hace operativo el modelo de RI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370D3C-0276-4D98-A3A9-9B4224AB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68963E-5D21-40BD-9D2C-DACBCD84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933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9EE75E-E4B2-4B5E-A096-6F661450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98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AC504-0480-4AAA-8B9A-082D6C28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D9534F"/>
                </a:solidFill>
              </a:defRPr>
            </a:pPr>
            <a:r>
              <a:rPr sz="1425" b="1">
                <a:solidFill>
                  <a:srgbClr val="D9534F"/>
                </a:solidFill>
              </a:rPr>
              <a:t>DOCUMENTOS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0F3FB-C065-49FC-A285-4B6E7A91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52400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D9534F"/>
                </a:solidFill>
              </a:defRPr>
            </a:pPr>
            <a:r>
              <a:rPr sz="1875" b="1">
                <a:solidFill>
                  <a:srgbClr val="D9534F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BCA8F9-6515-47A4-BB32-A97499A2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5240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087F83"/>
                </a:solidFill>
              </a:defRPr>
            </a:pPr>
            <a:r>
              <a:rPr sz="1425" b="1">
                <a:solidFill>
                  <a:srgbClr val="087F83"/>
                </a:solidFill>
              </a:rPr>
              <a:t>REPRESENTACIÓN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0266B-29A7-40F3-8BD5-1A637E19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2400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D9534F"/>
                </a:solidFill>
              </a:defRPr>
            </a:pPr>
            <a:r>
              <a:rPr sz="1875" b="1">
                <a:solidFill>
                  <a:srgbClr val="D9534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AA5C34-727C-4B11-BB46-4094714B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52400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087F83"/>
                </a:solidFill>
              </a:defRPr>
            </a:pPr>
            <a:r>
              <a:rPr sz="1425" b="1">
                <a:solidFill>
                  <a:srgbClr val="087F83"/>
                </a:solidFill>
              </a:rPr>
              <a:t>ÍNDICE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424D7E-0532-46C4-91EC-A8B11E14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52400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D9534F"/>
                </a:solidFill>
              </a:defRPr>
            </a:pPr>
            <a:r>
              <a:rPr sz="1875" b="1">
                <a:solidFill>
                  <a:srgbClr val="D9534F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91EF19-BCA2-4A64-BCD7-7532E7D2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240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087F83"/>
                </a:solidFill>
              </a:defRPr>
            </a:pPr>
            <a:r>
              <a:rPr sz="1425" b="1">
                <a:solidFill>
                  <a:srgbClr val="087F83"/>
                </a:solidFill>
              </a:rPr>
              <a:t>RESULTADOS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B639C0-8413-4AAA-B5F0-B79A80A7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33625"/>
            <a:ext cx="9810750" cy="2143125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7F4F3"/>
          </a:solidFill>
          <a:ln xmlns:a="http://schemas.openxmlformats.org/drawingml/2006/main" w="13335">
            <a:solidFill>
              <a:srgbClr val="087F8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BE987C-9602-474E-B6EE-BA76066F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619375"/>
            <a:ext cx="8858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263238"/>
                </a:solidFill>
              </a:defRPr>
            </a:pPr>
            <a:r>
              <a:rPr sz="2100" b="1">
                <a:solidFill>
                  <a:srgbClr val="263238"/>
                </a:solidFill>
              </a:rPr>
              <a:t>Schema decide qué existe.</a:t>
            </a:r>
          </a:p>
          <a:p xmlns:a="http://schemas.openxmlformats.org/drawingml/2006/main">
            <a:pPr algn="ctr">
              <a:defRPr sz="2100" b="1">
                <a:solidFill>
                  <a:srgbClr val="263238"/>
                </a:solidFill>
              </a:defRPr>
            </a:pPr>
            <a:r>
              <a:rPr sz="2100" b="1">
                <a:solidFill>
                  <a:srgbClr val="263238"/>
                </a:solidFill>
              </a:rPr>
              <a:t>Analyzer decide qué términos representan el texto.</a:t>
            </a:r>
          </a:p>
          <a:p xmlns:a="http://schemas.openxmlformats.org/drawingml/2006/main">
            <a:pPr algn="ctr">
              <a:defRPr sz="2100" b="1">
                <a:solidFill>
                  <a:srgbClr val="263238"/>
                </a:solidFill>
              </a:defRPr>
            </a:pPr>
            <a:r>
              <a:rPr sz="2100" b="1">
                <a:solidFill>
                  <a:srgbClr val="263238"/>
                </a:solidFill>
              </a:rPr>
              <a:t>Writer construye el índice.</a:t>
            </a:r>
          </a:p>
          <a:p xmlns:a="http://schemas.openxmlformats.org/drawingml/2006/main">
            <a:pPr algn="ctr">
              <a:defRPr sz="2100" b="1">
                <a:solidFill>
                  <a:srgbClr val="263238"/>
                </a:solidFill>
              </a:defRPr>
            </a:pPr>
            <a:r>
              <a:rPr sz="2100" b="1">
                <a:solidFill>
                  <a:srgbClr val="263238"/>
                </a:solidFill>
              </a:rPr>
              <a:t>QueryParser y Searcher lo convierten en búsqueda.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5BF03C-09D3-450D-9FDC-BC0809CB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D9534F"/>
                </a:solidFill>
              </a:defRPr>
            </a:pPr>
            <a:r>
              <a:rPr sz="1725" b="1">
                <a:solidFill>
                  <a:srgbClr val="D9534F"/>
                </a:solidFill>
              </a:rPr>
              <a:t>La práctica consiste en conectar estas decisiones, no solo en ejecutar celdas.</a:t>
            </a:r>
          </a:p>
        </p:txBody>
      </p:sp>
    </p:spTree>
    <p:extLst>
      <p:ext uri="{BB962C8B-B14F-4D97-AF65-F5344CB8AC3E}">
        <p14:creationId xmlns:p14="http://schemas.microsoft.com/office/powerpoint/2010/main" val="208635048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1E15C9-DDC1-408E-B558-06FCFB22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E3367-F963-476C-A12C-24DBC947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Práctica 3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20DEA-FF23-4D02-831D-3325B3F6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087F83"/>
                </a:solidFill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087F83"/>
                </a:solidFill>
              </a:defRPr>
            </a:pPr>
            <a:r>
              <a:rPr sz="2025" b="0">
                <a:solidFill>
                  <a:srgbClr val="087F83"/>
                </a:solidFill>
              </a:rPr>
              <a:t>Referencias para la práctica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F46681-FD7C-4DA6-BC88-988A3993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0">
            <a:solidFill>
              <a:srgbClr val="087F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E32E11-33B4-422B-83AD-FDC4C8A4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9875"/>
            <a:ext cx="933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07D39B-69AB-4AD6-A6F7-A27DA822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98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76B161-022C-42CA-A0B7-E654061F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38125" cy="738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D9534F"/>
                </a:solidFill>
              </a:defRPr>
            </a:pPr>
            <a:r>
              <a:rPr sz="1725" b="1">
                <a:solidFill>
                  <a:srgbClr val="D9534F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1E2424-BAB6-4D09-BCF0-110D41F7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10382250" cy="738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63238"/>
                </a:solidFill>
              </a:defRPr>
            </a:pPr>
            <a:r>
              <a:rPr sz="1575" b="0">
                <a:solidFill>
                  <a:srgbClr val="263238"/>
                </a:solidFill>
              </a:rPr>
              <a:t>Whoosh 2.7.4 · Quick start — whoosh.readthedocs.io/en/latest/quickstart.html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74F828-F64F-400A-85E8-433F1351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4563"/>
            <a:ext cx="238125" cy="738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D9534F"/>
                </a:solidFill>
              </a:defRPr>
            </a:pPr>
            <a:r>
              <a:rPr sz="1725" b="1">
                <a:solidFill>
                  <a:srgbClr val="D9534F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83FEAE-E9C8-4253-A6AA-20D98393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14563"/>
            <a:ext cx="10382250" cy="738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63238"/>
                </a:solidFill>
              </a:defRPr>
            </a:pPr>
            <a:r>
              <a:rPr sz="1575" b="0">
                <a:solidFill>
                  <a:srgbClr val="263238"/>
                </a:solidFill>
              </a:rPr>
              <a:t>Designing a schema — whoosh.readthedocs.io/en/latest/schema.html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FF9215-7FC4-419C-822E-5F8D8100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238125" cy="738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D9534F"/>
                </a:solidFill>
              </a:defRPr>
            </a:pPr>
            <a:r>
              <a:rPr sz="1725" b="1">
                <a:solidFill>
                  <a:srgbClr val="D9534F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828AF5-2431-495C-8978-7EEEB24D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10382250" cy="738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63238"/>
                </a:solidFill>
              </a:defRPr>
            </a:pPr>
            <a:r>
              <a:rPr sz="1575" b="0">
                <a:solidFill>
                  <a:srgbClr val="263238"/>
                </a:solidFill>
              </a:rPr>
              <a:t>How to index documents — whoosh.readthedocs.io/en/latest/indexing.html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910E2B-A7DB-4686-B97A-138418F6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0938"/>
            <a:ext cx="238125" cy="738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D9534F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D9534F"/>
                </a:solidFill>
              </a:defRPr>
            </a:pPr>
            <a:r>
              <a:rPr sz="1725" b="1">
                <a:solidFill>
                  <a:srgbClr val="D9534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BEBD40-8BF6-43B5-BAC1-D77998C7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90938"/>
            <a:ext cx="10382250" cy="738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263238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63238"/>
                </a:solidFill>
              </a:defRPr>
            </a:pPr>
            <a:r>
              <a:rPr sz="1575" b="0">
                <a:solidFill>
                  <a:srgbClr val="263238"/>
                </a:solidFill>
              </a:rPr>
              <a:t>How to search — whoosh.readthedocs.io/en/latest/searching.html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461B30-6D55-44C2-9CD4-512DFACE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647175"/>
                </a:solidFill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647175"/>
                </a:solidFill>
              </a:defRPr>
            </a:pPr>
            <a:r>
              <a:rPr sz="1275" b="0">
                <a:solidFill>
                  <a:srgbClr val="647175"/>
                </a:solidFill>
              </a:rPr>
              <a:t>Documentación oficial consultada el 9 de octubre de 2026.</a:t>
            </a:r>
          </a:p>
        </p:txBody>
      </p:sp>
    </p:spTree>
    <p:extLst>
      <p:ext uri="{BB962C8B-B14F-4D97-AF65-F5344CB8AC3E}">
        <p14:creationId xmlns:p14="http://schemas.microsoft.com/office/powerpoint/2010/main" val="18300060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2026-10-09T04:44:43.6700000Z</dcterms:created>
  <dcterms:modified xsi:type="dcterms:W3CDTF">2026-10-09T04:44:43.6700000Z</dcterms:modified>
</coreProperties>
</file>