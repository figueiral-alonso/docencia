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3c4b19d373e4c3d" Type="http://schemas.openxmlformats.org/officeDocument/2006/relationships/officeDocument" Target="ppt/presentation.xml"/><Relationship Id="R1b293c49907546e2" Type="http://schemas.openxmlformats.org/package/2006/relationships/metadata/core-properties" Target="docProps/core.xml"/><Relationship Id="R7034d7fb6bbc473a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db8338d1a6456b"/>
  </p:sldMasterIdLst>
  <p:notesMasterIdLst>
    <p:notesMasterId xmlns:r="http://schemas.openxmlformats.org/officeDocument/2006/relationships" r:id="R44714332fddc4d8b"/>
  </p:notesMasterIdLst>
  <p:sldIdLst>
    <p:sldId xmlns:r="http://schemas.openxmlformats.org/officeDocument/2006/relationships" id="256" r:id="R4bf032416e8145ea"/>
    <p:sldId xmlns:r="http://schemas.openxmlformats.org/officeDocument/2006/relationships" id="257" r:id="R1f85f3880c044121"/>
    <p:sldId xmlns:ns0="http://schemas.openxmlformats.org/officeDocument/2006/relationships" id="285" ns0:id="rId35"/>
    <p:sldId xmlns:ns0="http://schemas.openxmlformats.org/officeDocument/2006/relationships" id="286" ns0:id="rId36"/>
    <p:sldId xmlns:ns0="http://schemas.openxmlformats.org/officeDocument/2006/relationships" id="287" ns0:id="rId37"/>
    <p:sldId xmlns:ns0="http://schemas.openxmlformats.org/officeDocument/2006/relationships" id="288" ns0:id="rId38"/>
    <p:sldId xmlns:ns0="http://schemas.openxmlformats.org/officeDocument/2006/relationships" id="289" ns0:id="rId39"/>
    <p:sldId xmlns:ns0="http://schemas.openxmlformats.org/officeDocument/2006/relationships" id="290" ns0:id="rId40"/>
    <p:sldId xmlns:ns0="http://schemas.openxmlformats.org/officeDocument/2006/relationships" id="291" ns0:id="rId41"/>
    <p:sldId xmlns:ns0="http://schemas.openxmlformats.org/officeDocument/2006/relationships" id="292" ns0:id="rId42"/>
    <p:sldId xmlns:ns0="http://schemas.openxmlformats.org/officeDocument/2006/relationships" id="293" ns0:id="rId43"/>
    <p:sldId xmlns:r="http://schemas.openxmlformats.org/officeDocument/2006/relationships" id="267" r:id="Rc076638f11e140ab"/>
    <p:sldId xmlns:r="http://schemas.openxmlformats.org/officeDocument/2006/relationships" id="268" r:id="Ree2b70929c3f4a86"/>
    <p:sldId xmlns:ns0="http://schemas.openxmlformats.org/officeDocument/2006/relationships" id="294" ns0:id="rId44"/>
    <p:sldId xmlns:ns0="http://schemas.openxmlformats.org/officeDocument/2006/relationships" id="295" ns0:id="rId45"/>
    <p:sldId xmlns:ns0="http://schemas.openxmlformats.org/officeDocument/2006/relationships" id="296" ns0:id="rId46"/>
    <p:sldId xmlns:ns0="http://schemas.openxmlformats.org/officeDocument/2006/relationships" id="297" ns0:id="rId47"/>
    <p:sldId xmlns:ns0="http://schemas.openxmlformats.org/officeDocument/2006/relationships" id="298" ns0:id="rId48"/>
    <p:sldId xmlns:ns0="http://schemas.openxmlformats.org/officeDocument/2006/relationships" id="299" ns0:id="rId49"/>
    <p:sldId xmlns:ns0="http://schemas.openxmlformats.org/officeDocument/2006/relationships" id="300" ns0:id="rId50"/>
    <p:sldId xmlns:ns0="http://schemas.openxmlformats.org/officeDocument/2006/relationships" id="301" ns0:id="rId51"/>
    <p:sldId xmlns:ns0="http://schemas.openxmlformats.org/officeDocument/2006/relationships" id="302" ns0:id="rId52"/>
    <p:sldId xmlns:ns0="http://schemas.openxmlformats.org/officeDocument/2006/relationships" id="303" ns0:id="rId53"/>
    <p:sldId xmlns:ns0="http://schemas.openxmlformats.org/officeDocument/2006/relationships" id="304" ns0:id="rId54"/>
    <p:sldId xmlns:ns0="http://schemas.openxmlformats.org/officeDocument/2006/relationships" id="305" ns0:id="rId55"/>
    <p:sldId xmlns:ns0="http://schemas.openxmlformats.org/officeDocument/2006/relationships" id="306" ns0:id="rId56"/>
    <p:sldId xmlns:ns0="http://schemas.openxmlformats.org/officeDocument/2006/relationships" id="307" ns0:id="rId57"/>
    <p:sldId xmlns:ns0="http://schemas.openxmlformats.org/officeDocument/2006/relationships" id="308" ns0:id="rId58"/>
    <p:sldId xmlns:ns0="http://schemas.openxmlformats.org/officeDocument/2006/relationships" id="309" ns0:id="rId59"/>
    <p:sldId xmlns:ns0="http://schemas.openxmlformats.org/officeDocument/2006/relationships" id="310" ns0:id="rId60"/>
    <p:sldId xmlns:ns0="http://schemas.openxmlformats.org/officeDocument/2006/relationships" id="311" ns0:id="rId61"/>
    <p:sldId xmlns:ns0="http://schemas.openxmlformats.org/officeDocument/2006/relationships" id="312" ns0:id="rId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7ef7b6ee0ca4053" Type="http://schemas.openxmlformats.org/officeDocument/2006/relationships/slide" Target="slides/slide26.xml"/><Relationship Id="R1913a901f5b64583" Type="http://schemas.openxmlformats.org/officeDocument/2006/relationships/slide" Target="slides/slide29.xml"/><Relationship Id="R1d02ec4750f54b80" Type="http://schemas.openxmlformats.org/officeDocument/2006/relationships/slide" Target="slides/slide21.xml"/><Relationship Id="R1d4fe97d75584849" Type="http://schemas.openxmlformats.org/officeDocument/2006/relationships/slide" Target="slides/slide16.xml"/><Relationship Id="R1f85f3880c044121" Type="http://schemas.openxmlformats.org/officeDocument/2006/relationships/slide" Target="slides/slide2.xml"/><Relationship Id="R30b8484434054bdc" Type="http://schemas.openxmlformats.org/officeDocument/2006/relationships/slide" Target="slides/slide11.xml"/><Relationship Id="R311e50f9e5bb4f7b" Type="http://schemas.openxmlformats.org/officeDocument/2006/relationships/slide" Target="slides/slide17.xml"/><Relationship Id="R34f52034041b4bb4" Type="http://schemas.openxmlformats.org/officeDocument/2006/relationships/tableStyles" Target="tableStyles.xml"/><Relationship Id="R44714332fddc4d8b" Type="http://schemas.openxmlformats.org/officeDocument/2006/relationships/notesMaster" Target="notesMasters/notesMaster1.xml"/><Relationship Id="R4b8ae037d1f04ecd" Type="http://schemas.openxmlformats.org/officeDocument/2006/relationships/slide" Target="slides/slide9.xml"/><Relationship Id="R4bf032416e8145ea" Type="http://schemas.openxmlformats.org/officeDocument/2006/relationships/slide" Target="slides/slide1.xml"/><Relationship Id="R525bd65eb1af4fa0" Type="http://schemas.openxmlformats.org/officeDocument/2006/relationships/presProps" Target="presProps.xml"/><Relationship Id="R537e197902f54ba9" Type="http://schemas.openxmlformats.org/officeDocument/2006/relationships/slide" Target="slides/slide22.xml"/><Relationship Id="R5fdb8338d1a6456b" Type="http://schemas.openxmlformats.org/officeDocument/2006/relationships/slideMaster" Target="slideMasters/slideMaster1.xml"/><Relationship Id="R71344974e7e542e5" Type="http://schemas.openxmlformats.org/officeDocument/2006/relationships/slide" Target="slides/slide20.xml"/><Relationship Id="R7997ad317ba44b56" Type="http://schemas.openxmlformats.org/officeDocument/2006/relationships/slide" Target="slides/slide25.xml"/><Relationship Id="R8481337a4ebc4500" Type="http://schemas.openxmlformats.org/officeDocument/2006/relationships/slide" Target="slides/slide23.xml"/><Relationship Id="R8a64de6ba906453c" Type="http://schemas.openxmlformats.org/officeDocument/2006/relationships/slide" Target="slides/slide15.xml"/><Relationship Id="R8c15005ead234d02" Type="http://schemas.openxmlformats.org/officeDocument/2006/relationships/slide" Target="slides/slide5.xml"/><Relationship Id="R8d12886d4372441e" Type="http://schemas.openxmlformats.org/officeDocument/2006/relationships/slide" Target="slides/slide3.xml"/><Relationship Id="R951fd0893e8645ad" Type="http://schemas.openxmlformats.org/officeDocument/2006/relationships/slide" Target="slides/slide7.xml"/><Relationship Id="R9e874b90796c440d" Type="http://schemas.openxmlformats.org/officeDocument/2006/relationships/slide" Target="slides/slide27.xml"/><Relationship Id="Ra1eab562c4c0460f" Type="http://schemas.openxmlformats.org/officeDocument/2006/relationships/slide" Target="slides/slide19.xml"/><Relationship Id="Ra92d8e07354843ff" Type="http://schemas.openxmlformats.org/officeDocument/2006/relationships/slide" Target="slides/slide18.xml"/><Relationship Id="Rad210eff75ce4fc5" Type="http://schemas.openxmlformats.org/officeDocument/2006/relationships/slide" Target="slides/slide6.xml"/><Relationship Id="Rbea7758e1ce544a6" Type="http://schemas.openxmlformats.org/officeDocument/2006/relationships/slide" Target="slides/slide4.xml"/><Relationship Id="Rc076638f11e140ab" Type="http://schemas.openxmlformats.org/officeDocument/2006/relationships/slide" Target="slides/slide12.xml"/><Relationship Id="Rd04de87c8ca84467" Type="http://schemas.openxmlformats.org/officeDocument/2006/relationships/theme" Target="theme/theme1.xml"/><Relationship Id="Rd78985f4f20a4ba2" Type="http://schemas.openxmlformats.org/officeDocument/2006/relationships/slide" Target="slides/slide28.xml"/><Relationship Id="Rdcd4c38e57834a69" Type="http://schemas.openxmlformats.org/officeDocument/2006/relationships/slide" Target="slides/slide10.xml"/><Relationship Id="Rde51194693254184" Type="http://schemas.openxmlformats.org/officeDocument/2006/relationships/slide" Target="slides/slide14.xml"/><Relationship Id="Ree2b70929c3f4a86" Type="http://schemas.openxmlformats.org/officeDocument/2006/relationships/slide" Target="slides/slide13.xml"/><Relationship Id="Rf716c402ae594207" Type="http://schemas.openxmlformats.org/officeDocument/2006/relationships/slide" Target="slides/slide8.xml"/><Relationship Id="Rfabe36e7e9414564" Type="http://schemas.openxmlformats.org/officeDocument/2006/relationships/slide" Target="slides/slide24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d8c7c0b180034d8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bcf12b23df64b1b" Type="http://schemas.openxmlformats.org/officeDocument/2006/relationships/notesMaster" Target="../notesMasters/notesMaster1.xml"/><Relationship Id="Rc9b4d8297c024c0a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7481d044ff414b48" Type="http://schemas.openxmlformats.org/officeDocument/2006/relationships/slide" Target="../slides/slide2.xml"/><Relationship Id="R8db4ce715ea841f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fc591ca2e04642a5" Type="http://schemas.openxmlformats.org/officeDocument/2006/relationships/notesMaster" Target="../notesMasters/notesMaster1.xml"/><Relationship Id="Rff3381d40825483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91109172ec2d4579" Type="http://schemas.openxmlformats.org/officeDocument/2006/relationships/slide" Target="../slides/slide4.xml"/><Relationship Id="Rd91e278e9b504b39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cfcf92711a374b20" Type="http://schemas.openxmlformats.org/officeDocument/2006/relationships/slide" Target="../slides/slide5.xml"/><Relationship Id="Rfe8d832b4c0d4344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c23ab4ad0b9d46f9" Type="http://schemas.openxmlformats.org/officeDocument/2006/relationships/slide" Target="../slides/slide6.xml"/><Relationship Id="Rf24ffccfca0146a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96e49aa48a594f4d" Type="http://schemas.openxmlformats.org/officeDocument/2006/relationships/notesMaster" Target="../notesMasters/notesMaster1.xml"/><Relationship Id="R9b80cda9b895484c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630ea43e20544cc" Type="http://schemas.openxmlformats.org/officeDocument/2006/relationships/slide" Target="../slides/slide8.xml"/><Relationship Id="R71a898b38d9d4125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7b1a4d6c70eb4e12" Type="http://schemas.openxmlformats.org/officeDocument/2006/relationships/slide" Target="../slides/slide9.xml"/><Relationship Id="Rfcdaed8cdb7b4c95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2393c8d827844997" Type="http://schemas.openxmlformats.org/officeDocument/2006/relationships/slide" Target="../slides/slide10.xml"/><Relationship Id="Reb01850ed2e64c6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327f66653b5a4dc5" Type="http://schemas.openxmlformats.org/officeDocument/2006/relationships/slide" Target="../slides/slide11.xml"/><Relationship Id="Rf6c111bc8a6b48a3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09c1b0ad5dcc426d" Type="http://schemas.openxmlformats.org/officeDocument/2006/relationships/slide" Target="../slides/slide12.xml"/><Relationship Id="R0a1e16d42e414c06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db2dc4cb97184f79" Type="http://schemas.openxmlformats.org/officeDocument/2006/relationships/notesMaster" Target="../notesMasters/notesMaster1.xml"/><Relationship Id="Rf1de35b125724b59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071b18b9caa24938" Type="http://schemas.openxmlformats.org/officeDocument/2006/relationships/slide" Target="../slides/slide14.xml"/><Relationship Id="R1d5396c001ff4987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550f9e7bc78c4e85" Type="http://schemas.openxmlformats.org/officeDocument/2006/relationships/slide" Target="../slides/slide15.xml"/><Relationship Id="R6057211b6ac24b7f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8901fe7e35bb41ae" Type="http://schemas.openxmlformats.org/officeDocument/2006/relationships/notesMaster" Target="../notesMasters/notesMaster1.xml"/><Relationship Id="Rd62eab976be74673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4f76fef726e74f94" Type="http://schemas.openxmlformats.org/officeDocument/2006/relationships/notesMaster" Target="../notesMasters/notesMaster1.xml"/><Relationship Id="Rdc309ed8c0d548cd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32da1b157b7b4926" Type="http://schemas.openxmlformats.org/officeDocument/2006/relationships/slide" Target="../slides/slide18.xml"/><Relationship Id="R66a0a620bf254fc7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038cf5190767423c" Type="http://schemas.openxmlformats.org/officeDocument/2006/relationships/slide" Target="../slides/slide19.xml"/><Relationship Id="Rd8b66297c7a640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70cf91359c3546c2" Type="http://schemas.openxmlformats.org/officeDocument/2006/relationships/notesMaster" Target="../notesMasters/notesMaster1.xml"/><Relationship Id="Ra65b2c53ce1c4323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97b7599349b84847" Type="http://schemas.openxmlformats.org/officeDocument/2006/relationships/notesMaster" Target="../notesMasters/notesMaster1.xml"/><Relationship Id="Rebfeb213a45b4fbb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775cc3262ea8404b" Type="http://schemas.openxmlformats.org/officeDocument/2006/relationships/notesMaster" Target="../notesMasters/notesMaster1.xml"/><Relationship Id="Ra2e4c5228cc742a0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36edb3960f154aa4" Type="http://schemas.openxmlformats.org/officeDocument/2006/relationships/notesMaster" Target="../notesMasters/notesMaster1.xml"/><Relationship Id="R97ae4c1472ca46a8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e7422116a004f32" Type="http://schemas.openxmlformats.org/officeDocument/2006/relationships/slide" Target="../slides/slide24.xml"/><Relationship Id="R71c59b1c28d7423a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899c8255dcfb4ff4" Type="http://schemas.openxmlformats.org/officeDocument/2006/relationships/slide" Target="../slides/slide25.xml"/><Relationship Id="Re95009043d464e5e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37f60c1e3fe640ae" Type="http://schemas.openxmlformats.org/officeDocument/2006/relationships/slide" Target="../slides/slide26.xml"/><Relationship Id="Rfd23a4890a1b4699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6b9c2ac3fd8d4adc" Type="http://schemas.openxmlformats.org/officeDocument/2006/relationships/notesMaster" Target="../notesMasters/notesMaster1.xml"/><Relationship Id="R8021ed88dfea4e06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a5654949a125458f" Type="http://schemas.openxmlformats.org/officeDocument/2006/relationships/notesMaster" Target="../notesMasters/notesMaster1.xml"/><Relationship Id="Rcb8a3ef0ae4b4a7a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252f8ae7157a4cfe" Type="http://schemas.openxmlformats.org/officeDocument/2006/relationships/notesMaster" Target="../notesMasters/notesMaster1.xml"/><Relationship Id="Ra309178e1da34ab6" Type="http://schemas.openxmlformats.org/officeDocument/2006/relationships/slide" Target="../slides/slide2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Sesión teórica del 18 de septiembre. Esta versión contiene solo la introducción y el ejemplo conceptual. La práctica guiada en Colab se mantiene en un archivo aparte.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Lunes 09:00–10:30 y jueves 15:00–16:30 en el Laboratorio de Ciencia Computacional; tres horas concertadas por correo.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Definición adaptada de Modern Information Retrieval, cap. 1: https://www.pearsonhighered.com/assets/samplechapter/0/3/2/1/0321416910.pdf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Texto, imágenes, audio y vídeo pueden ser objeto de recuperación. Todos se almacenan digitalmente como bits; difieren en estructura y representación útil para buscar. Audio y vídeo incluyen tiempo.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Historia de la clase: la escala de la Web crea el problema; el sistema organiza la búsqueda; la representación de documentos permite recuperar. El ejemplo de D1 y D2 acompaña el último bloque.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Resumen didáctico de la evolución, sin afirmar que todas las bibliotecas pasaron por etapas idénticas. Modern Information Retrieval, introducción.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1989 Berners-Lee propuso en el CERN conectar información distribuida. Deja que el alumnado conteste antes de revelar la Web en la siguiente diapositiva. Fuente: https://timeline.web.cern.ch/first-outline-world-wide-web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hipertexto ya existía. Berners-Lee combinó documentos enlazados y estándares abiertos sobre Internet. HTML, HTTP y URL facilitaron una interfaz común. Fuente: https://home.cern/science/computing/the-birth-of-the-web/where-web-was-born/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Analogía didáctica, no equivalencia absoluta: SQL también puede incluir búsqueda textual, y RI puede usar filtros estructurados.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Ejemplo inspirado en una necesidad larga de TREC/Modern Information Retrieval: documentos sobre el papel del gobierno federal al financiar operaciones de Amtrak. La primera formulación puede ser ineficaz.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relevancia depende de tarea, contexto y usuario. Retrieval selecciona candidatos; ranking intenta poner antes los más útiles. Los clics son señales implícitas sesgadas por posición; los enlaces pueden aportar autoridad, pero ninguno equivale a relevancia.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Figura didáctica generada con IA y revisada. Adquisición manual o por crawler, procesamiento e indexación se ejecutan sin esperar a cada consulta. Online se procesa consulta, se recuperan candidatos y se ordenan. Inspirada en Modern Information Retrieval, figuras 1.2–1.3.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Vista detallada inspirada en la figura 1.3 de Modern Information Retrieval y en la fotografía aportada por el docente. La colección se transforma e indexa offline; el índice alimenta recuperación, que produce candidatos; ranking ordena esos candidatos. La expansión y el feedback son opcionales. Ilustración generada con IA y revisada.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crawler es opcional. El procesamiento de consulta no debe ser idéntico en todos sus pasos, pero sí compatible con el índice.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Ejemplos inventados para esta clase; no son resultados de Snowball ni de un modelo concreto. Mantener D1 y D2 visibles en el resto del bloque.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Dos familias de representación; pueden combinarse. Los ejemplos numéricos son esquemáticos, no resultados reales de BM25 o DPR.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conceptual 2D; los embeddings reales suelen tener muchas dimensiones. La cercanía vectorial puede ayudar a recuperar paráfrasis, pero no garantiza relevancia.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Cronología didáctica: LSA y representaciones latentes preceden al transformer. Los encoders neuronales y DPR impulsan búsqueda densa; RAG combina recuperación y generación. Transformer: https://arxiv.org/abs/1706.03762; DPR: https://aclanthology.org/2020.emnlp-main.550/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Figura 6.6 aportada por el docente, recreada previamente con IA. No todas las aplicaciones ejecutan todas las etapas ni en el mismo orden. Estructura, léxico, normalización, stopwords, grupos nominales, stemming y vocabulario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Mapa conceptual, no receta obligatoria. Tesauro y expansión pueden ser recursos externos al preprocesamiento de documentos.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tokenización parece sencilla, pero guiones, fechas y nombres son excepciones. SentencePiece BPE: https://github.com/google/sentencepiece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tokenizador puede mantener expresiones completas además de sus palabras. Pato Donald es un nombre de dos palabras; «inteligencia artificial» también puede ser una expresión indexable. Para ello se usan reglas o modelos de detección de frases, no basta con dividir por espacios. spaCy PhraseMatcher: https://spacy.io/usage/rule-based-matching/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fecha buscada es la del accidente, no necesariamente la publicación del documento. Si tenemos un campo fecha del suceso, indexamos ese campo y filtramos por rango. Si la fecha solo aparece en el texto, podemos reconocer la mención y tratar de vincularla al suceso, con incertidumbre. Si no aparece ni en metadatos ni en texto, no podemos afirmar que cumpla la condición.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Normalizar no equivale a quitar siempre todas las tildes. Se requiere política compatible al procesar la consulta.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Implementación típica: conjunto/hash para comprobar pertenencia tras tokenizar y normalizar. La lista es opcional y dependiente del corpus. «no» puede cambiar sentido. NLTK corpus: https://www.nltk.org/book/ch02.html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fingir salida de Snowball. D1 y D2 muestran lemas hipotéticos lingüísticamente razonables. Un stemmer podría generar otra representación. No afirmar que la lematización siempre sea mejor.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selección de términos es una decisión de diseño, a veces apoyada por expertos del dominio o por análisis de corpus. Un etiquetador gramatical puede identificar nombres y verbos. Para consultas de acciones, restringir el índice solo a nombres puede perder la distinción crítica.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Existen diccionarios y bases léxicas reutilizables. WordNet es una base léxica en inglés que agrupa sentidos en synsets y expresa relaciones semánticas. https://wordnet.princeton.edu/ Un tesauro para RI puede incluir sinónimos y términos más amplios/específicos.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misma política relevante se aplica a documentos y consulta: minúsculas, tokenización, términos equivalentes. No exige idéntico tratamiento en cada paso; se pueden usar filtros o expansión solo en consulta.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800184afb57447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87173b7e2724453" Type="http://schemas.openxmlformats.org/officeDocument/2006/relationships/slideLayout" Target="../slideLayouts/slideLayout1.xml"/><Relationship Id="Rb8acdd2a07064995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7173b7e27244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e4e89e568d0447a" Type="http://schemas.openxmlformats.org/officeDocument/2006/relationships/notesSlide" Target="../notesSlides/notesSlide1.xml"/><Relationship Id="R94a0d7b64a1d417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4d82689a3d454cd0" Type="http://schemas.openxmlformats.org/officeDocument/2006/relationships/notesSlide" Target="../notesSlides/notesSlide2.xml"/><Relationship Id="Rf282b19cc0b946f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1615ca71e90c4789" Type="http://schemas.openxmlformats.org/officeDocument/2006/relationships/slideLayout" Target="../slideLayouts/slideLayout1.xml"/><Relationship Id="R6eb224db46884abd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d478c3cd00be40cc" Type="http://schemas.openxmlformats.org/officeDocument/2006/relationships/notesSlide" Target="../notesSlides/notesSlide4.xml"/><Relationship Id="Rd5a940a5a946444f" Type="http://schemas.openxmlformats.org/officeDocument/2006/relationships/image" Target="../media/image.png"/><Relationship Id="Rf1c49bed26b84da7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7ed05fc920f74cbb" Type="http://schemas.openxmlformats.org/officeDocument/2006/relationships/slideLayout" Target="../slideLayouts/slideLayout1.xml"/><Relationship Id="Rc26d376597b64c9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9564460658724999" Type="http://schemas.openxmlformats.org/officeDocument/2006/relationships/notesSlide" Target="../notesSlides/notesSlide6.xml"/><Relationship Id="Rcd27b9adcd3b48f6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c9e145963def4ba4" Type="http://schemas.openxmlformats.org/officeDocument/2006/relationships/slideLayout" Target="../slideLayouts/slideLayout1.xml"/><Relationship Id="Rda13b00b12bb4a2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6799382ce3d947cf" Type="http://schemas.openxmlformats.org/officeDocument/2006/relationships/slideLayout" Target="../slideLayouts/slideLayout1.xml"/><Relationship Id="R7c830ff6f4e74505" Type="http://schemas.openxmlformats.org/officeDocument/2006/relationships/image" Target="../media/image2.png"/><Relationship Id="Rf11a1592ec0b45fc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51699a49794d430c" Type="http://schemas.openxmlformats.org/officeDocument/2006/relationships/slideLayout" Target="../slideLayouts/slideLayout1.xml"/><Relationship Id="R5540f52dfed84fa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190bed7e7bdb4ce3" Type="http://schemas.openxmlformats.org/officeDocument/2006/relationships/slideLayout" Target="../slideLayouts/slideLayout1.xml"/><Relationship Id="Rfa5d6ca3f477489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392b78676ac94a2e" Type="http://schemas.openxmlformats.org/officeDocument/2006/relationships/slideLayout" Target="../slideLayouts/slideLayout1.xml"/><Relationship Id="R45cea725d29947b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315879f11afb4a0f" Type="http://schemas.openxmlformats.org/officeDocument/2006/relationships/slideLayout" Target="../slideLayouts/slideLayout1.xml"/><Relationship Id="R34e36f3595d24b4c" Type="http://schemas.openxmlformats.org/officeDocument/2006/relationships/notesSlide" Target="../notesSlides/notesSlide12.xml"/><Relationship Id="R84c295395b4c429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74e960e482aa45b6" Type="http://schemas.openxmlformats.org/officeDocument/2006/relationships/notesSlide" Target="../notesSlides/notesSlide13.xml"/><Relationship Id="R9a4ebee2f37145ed" Type="http://schemas.openxmlformats.org/officeDocument/2006/relationships/image" Target="../media/image4.png"/><Relationship Id="Rfe23ee3986de4a53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046eb1db4bda44ee" Type="http://schemas.openxmlformats.org/officeDocument/2006/relationships/notesSlide" Target="../notesSlides/notesSlide14.xml"/><Relationship Id="R99b868983d5d4c10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5d8f6174969042c8" Type="http://schemas.openxmlformats.org/officeDocument/2006/relationships/notesSlide" Target="../notesSlides/notesSlide15.xml"/><Relationship Id="Rd1395f717266487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61404dd9652846b8" Type="http://schemas.openxmlformats.org/officeDocument/2006/relationships/slideLayout" Target="../slideLayouts/slideLayout1.xml"/><Relationship Id="R9580ee6d9ea94059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5629383cbd4d470f" Type="http://schemas.openxmlformats.org/officeDocument/2006/relationships/slideLayout" Target="../slideLayouts/slideLayout1.xml"/><Relationship Id="R6df03bec72a9490f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be90f675cb3c4adf" Type="http://schemas.openxmlformats.org/officeDocument/2006/relationships/image" Target="../media/image5.png"/><Relationship Id="Re2929563924a4b08" Type="http://schemas.openxmlformats.org/officeDocument/2006/relationships/slideLayout" Target="../slideLayouts/slideLayout1.xml"/><Relationship Id="Rf76a566b6c014391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2dbe77f60e94cef" Type="http://schemas.openxmlformats.org/officeDocument/2006/relationships/image" Target="../media/image6.png"/><Relationship Id="R36300d5d093748f3" Type="http://schemas.openxmlformats.org/officeDocument/2006/relationships/notesSlide" Target="../notesSlides/notesSlide19.xml"/><Relationship Id="R558eea4d8ccf4463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62bf8d98db67466f" Type="http://schemas.openxmlformats.org/officeDocument/2006/relationships/notesSlide" Target="../notesSlides/notesSlide20.xml"/><Relationship Id="Rd0e8aaeeffcf4366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83ee11751abc441e" Type="http://schemas.openxmlformats.org/officeDocument/2006/relationships/notesSlide" Target="../notesSlides/notesSlide21.xml"/><Relationship Id="Rb35b559c85464762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71403aa278c24908" Type="http://schemas.openxmlformats.org/officeDocument/2006/relationships/slideLayout" Target="../slideLayouts/slideLayout1.xml"/><Relationship Id="Re24eb575835847f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0c7dfb7da1834eb9" Type="http://schemas.openxmlformats.org/officeDocument/2006/relationships/slideLayout" Target="../slideLayouts/slideLayout1.xml"/><Relationship Id="R2ef9b6095c22418b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0b29cd7c32b74772" Type="http://schemas.openxmlformats.org/officeDocument/2006/relationships/notesSlide" Target="../notesSlides/notesSlide24.xml"/><Relationship Id="Rddd08133fee94447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583e526a416c479c" Type="http://schemas.openxmlformats.org/officeDocument/2006/relationships/slideLayout" Target="../slideLayouts/slideLayout1.xml"/><Relationship Id="Ra8763235a36c460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8bd4db4bd60a44fb" Type="http://schemas.openxmlformats.org/officeDocument/2006/relationships/slideLayout" Target="../slideLayouts/slideLayout1.xml"/><Relationship Id="Ra551645544c94680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51f34ffcc8254f67" Type="http://schemas.openxmlformats.org/officeDocument/2006/relationships/slideLayout" Target="../slideLayouts/slideLayout1.xml"/><Relationship Id="R84a14c165eba4a9f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407a9f90dcf14df7" Type="http://schemas.openxmlformats.org/officeDocument/2006/relationships/notesSlide" Target="../notesSlides/notesSlide28.xml"/><Relationship Id="R6a6b7e1ef09843bd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471029a7ffdf44b0" Type="http://schemas.openxmlformats.org/officeDocument/2006/relationships/slideLayout" Target="../slideLayouts/slideLayout1.xml"/><Relationship Id="Re8ed52d90bb349d9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6E161-023A-460A-8C69-054B1DB7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F089B-18E4-44EE-90A0-ACB36B84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544AC-3579-4DA7-B052-A3FADD75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A3F1A-63DC-425B-A801-0359AA4E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A247C-C56F-4D77-ACE6-04F80813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5C18F-AF6F-48D0-9E6D-92E46489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9B895-3B38-425A-8095-0D0CF8B9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047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Adquisición y procesamiento de información textual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D5C8C-B899-43BC-8DBA-3AC9B335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Erik Figueiral Alonso · erik.figueiral.alonso@uvigo.gal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4644B-2774-46F3-9350-11F74F78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18 de septiembre · Práctica de dos semanas · Entrega: 9 de octubre</a:t>
            </a:r>
          </a:p>
        </p:txBody>
      </p:sp>
    </p:spTree>
    <p:extLst>
      <p:ext uri="{BB962C8B-B14F-4D97-AF65-F5344CB8AC3E}">
        <p14:creationId xmlns:p14="http://schemas.microsoft.com/office/powerpoint/2010/main" val="1936365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51412-D7CD-4CE8-BB21-7203D541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AF031-31A3-4F7D-AD03-8EE69A4B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19F15-3929-4B11-9335-3EF8FE96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Horario · Erik Figueiral Alonso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BFA65-4FAB-4615-9486-40753B4D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1BB1A-F7AB-4FD3-951D-56FFFF78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36638-C94F-46F4-96A5-D04771A7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1E425-1A25-47EF-8537-7BE8BB8F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431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Lunes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7CBF3-9B9E-42EE-88F9-9330EED9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431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09:00–10:30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021DD-67F6-4337-9706-0D91BFF0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908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Jueves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4A5D4-5DB5-408F-8549-762D6412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15:00–16:30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2D660-59BB-49A6-A9D0-79B76AD2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9102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Laboratorio de Ciencia Computacional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010A8-6958-40FC-9736-247F1C96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768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3 horas concertadas · erik.figueiral.alonso@uvigo.gal</a:t>
            </a:r>
          </a:p>
        </p:txBody>
      </p:sp>
    </p:spTree>
    <p:extLst>
      <p:ext uri="{BB962C8B-B14F-4D97-AF65-F5344CB8AC3E}">
        <p14:creationId xmlns:p14="http://schemas.microsoft.com/office/powerpoint/2010/main" val="1882719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07CBF-6876-4355-B38B-832501F8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C7131-70B0-4F14-9569-94A9A79A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6363A-CB45-40E8-94E4-9A2626AA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¿Qué es la Recuperación de Información?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6EAF7-8050-427D-BC73-0682CF27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B76D6-02B6-4BF8-A32B-7D083871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A4C87-B35B-4E80-8817-5E7B2C0C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3E19E-BCEE-4294-995C-EB44B644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14500"/>
            <a:ext cx="10525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La RI estudia cómo representar, almacenar, organizar y acceder a documentos para satisfacer una necesidad de información.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D712F-975C-4CF9-98E9-943D58F4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D27B6-FC76-4A65-A97B-729167DB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051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Representamos documentos para poder buscarlos.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A154C-269D-44A2-87AF-2517502A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8B27E-2EAE-4637-8FEF-79A0C360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05275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Construimos índices y recuperamos candidatos.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62E92-034C-457B-9BE0-5A893282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297AD-504F-4284-B884-9C63798D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054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Ordenamos los resultados según su posible relevancia.</a:t>
            </a:r>
          </a:p>
        </p:txBody>
      </p:sp>
    </p:spTree>
    <p:extLst>
      <p:ext uri="{BB962C8B-B14F-4D97-AF65-F5344CB8AC3E}">
        <p14:creationId xmlns:p14="http://schemas.microsoft.com/office/powerpoint/2010/main" val="1364163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D915E-B1F5-4010-8747-E676B9D4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1AA53-BDD1-485A-AAE3-22BD594C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E48C4-878A-416A-A2CA-BCDDC669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Un documento no tiene por qué ser 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A84E3-85C5-4B27-A4E6-CE4A0532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978C4-8115-4427-BA49-F7DA34CA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AEF76-FAA2-4504-8414-DE8194AB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940a5a946444f"/>
          <a:stretch xmlns:a="http://schemas.openxmlformats.org/drawingml/2006/main"/>
        </p:blipFill>
        <p:spPr>
          <a:xfrm xmlns:a="http://schemas.openxmlformats.org/drawingml/2006/main">
            <a:off x="838200" y="1485900"/>
            <a:ext cx="1051560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32775-681F-4621-BB79-F6EBB1F1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98157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TEXTO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CF19B-3C91-4E8B-84EE-32FD66BA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673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caracteres + campos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2DDE7-A0BB-4B62-B41E-9D5021B5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8157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IMAGEN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E3277-12ED-412C-8DB4-8AF97696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4673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píxeles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FF57D-A8FD-4BB3-8927-BC0E4DF3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98157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AUDIO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D419A-EB95-4DA3-853D-6A6DE217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4673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muestras temporales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EF7BD-47C0-48BA-B38F-17F1B298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98157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VÍDEO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7B137-7811-47D5-A0C9-29CE287C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4673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fotogramas + audio</a:t>
            </a:r>
          </a:p>
        </p:txBody>
      </p:sp>
    </p:spTree>
    <p:extLst>
      <p:ext uri="{BB962C8B-B14F-4D97-AF65-F5344CB8AC3E}">
        <p14:creationId xmlns:p14="http://schemas.microsoft.com/office/powerpoint/2010/main" val="379850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73712-5658-40ED-962B-7FC65FE9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7326A-9DEA-4E92-809C-D9E40AD3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7BE7F-11D5-497A-811F-816B9336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Mapa de la sesión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A4C36-A17B-4216-B907-4355E4A0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B716D-3CD2-4AE2-AAD9-A3E81F8C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EBB0B-FC3D-4766-9054-7E2726BE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3326B-8B11-4AC6-9284-279174EE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76425"/>
            <a:ext cx="904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54E96-CC4F-4CF1-8902-D8580EF5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876425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Por qué buscamos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DE044-2E28-4BAB-80D1-10788664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05000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De las bibliotecas a la Web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CE1A0-34BD-4C46-B110-FCC912FB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904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33941-F3A9-4E29-B353-146A0FD4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004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1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Cómo responde un sistema de 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EFD82-3CB4-4184-A7B4-692C1102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28975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Consulta, relevancia, índice y 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19556-8807-4378-8177-7105EA61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904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24FE0-F30B-4915-95CC-186BCA31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24375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Cómo representamos documentos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6DB23-018D-4F87-8989-4BAA33FB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52950"/>
            <a:ext cx="581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Sparse, dense y procesamiento de D1/D2</a:t>
            </a:r>
          </a:p>
        </p:txBody>
      </p:sp>
    </p:spTree>
    <p:extLst>
      <p:ext uri="{BB962C8B-B14F-4D97-AF65-F5344CB8AC3E}">
        <p14:creationId xmlns:p14="http://schemas.microsoft.com/office/powerpoint/2010/main" val="2066447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DE675-8D6C-4B8C-B5BC-06B4F325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251B5-F80F-4ED2-B129-AF567AE7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238DE-0142-409C-A6B8-74325BDC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Buscar información: una tarea humana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D01CA-5827-442E-9D0C-09FF4287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44C6A-2401-4411-80EE-00F77A08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E4E3B-FD99-4F8F-B31B-4A9F922B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0AA3E-119C-4E9B-9F94-727B7375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14500"/>
            <a:ext cx="10525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Siempre hemos necesitado conservar conocimiento y volver a encontrarlo.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4B99F-AD67-4730-9DAB-19EBFF8A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D7517-7D12-49DB-A714-D26F4F04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051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Bibliotecas y catálogos: colecciones centralizadas.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598A7-C1D9-42BF-86C6-195B7854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12DD2-A227-4B03-8FAB-EBF45E7F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05275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Bibliotecas digitales: autor y título; después materia y palabras clave.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2A8D8-6353-406F-B943-CFCDD083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8513B-0B24-4616-869D-95D8DC86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054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La Web multiplica la publicación distribuida y la escala de la búsqueda.</a:t>
            </a:r>
          </a:p>
        </p:txBody>
      </p:sp>
    </p:spTree>
    <p:extLst>
      <p:ext uri="{BB962C8B-B14F-4D97-AF65-F5344CB8AC3E}">
        <p14:creationId xmlns:p14="http://schemas.microsoft.com/office/powerpoint/2010/main" val="19321935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0973A-10CD-452B-B29A-8A29DA2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5F510-2BB8-46B9-AA01-488E7907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5820C-96D4-4E63-AE75-232F2A96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1989 · un cambio de escala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28B58-72D7-46BB-92D2-1B5CBDCD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8EBFE-A087-4252-9CA9-5109335B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CF944-5564-4654-9922-7206583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E9578-A05E-40F9-8527-A49D2BC4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De colecciones delimitadas a una red abierta de documentos.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D45ED-CF2D-4F19-94E3-BD4D0F7B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952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¿Qué creó Tim Berners-Lee?</a:t>
            </a:r>
          </a:p>
        </p:txBody>
      </p:sp>
    </p:spTree>
    <p:extLst>
      <p:ext uri="{BB962C8B-B14F-4D97-AF65-F5344CB8AC3E}">
        <p14:creationId xmlns:p14="http://schemas.microsoft.com/office/powerpoint/2010/main" val="3858586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F420A-D86C-4291-8732-CF20516D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E9C3E-10A3-4D53-BB08-72000323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CA824-F8A3-4B33-9F16-287B2F84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La Web hizo urgente encontrar información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9BF38-BABE-43D8-9089-A9D5B191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3C7D6-E53B-4F8B-A461-276EB561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10C72-F869-4139-837F-4BE9601E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D7AD6-6AF4-4B81-A766-A718BFF6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World Wide Web: documentos enlazados mediante hipertexto.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30ff6f4e74505"/>
          <a:stretch xmlns:a="http://schemas.openxmlformats.org/drawingml/2006/main"/>
        </p:blipFill>
        <p:spPr>
          <a:xfrm xmlns:a="http://schemas.openxmlformats.org/drawingml/2006/main">
            <a:off x="6655594" y="2466975"/>
            <a:ext cx="4500563" cy="3000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27D8F-0E54-4082-BEA1-A105296C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62250"/>
            <a:ext cx="5238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HTML describe páginas</a:t>
            </a:r>
          </a:p>
          <a:p xmlns:a="http://schemas.openxmlformats.org/drawingml/2006/main">
            <a:pPr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HTTP las transfiere</a:t>
            </a:r>
          </a:p>
          <a:p xmlns:a="http://schemas.openxmlformats.org/drawingml/2006/main">
            <a:pPr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URL identifica recursos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A4DD5-BDD0-4C29-BACB-9EE7C36E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483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Más documentos y enlaces → la RI necesita índices y ranking eficientes.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323E5-D7A7-4419-92FC-45F26764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ACM SIGIR: conferencia internacional de investigación en recuperación de información.</a:t>
            </a:r>
          </a:p>
        </p:txBody>
      </p:sp>
    </p:spTree>
    <p:extLst>
      <p:ext uri="{BB962C8B-B14F-4D97-AF65-F5344CB8AC3E}">
        <p14:creationId xmlns:p14="http://schemas.microsoft.com/office/powerpoint/2010/main" val="18337021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43A27-7C34-4FF8-8AC6-D4276A03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7363B-FC59-4F84-AA2E-76D19ABD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F2008-1FFB-4574-803E-2B8936B4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Datos estructurados y documentos: dos preguntas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677C5-F1FD-42DF-AA05-97713627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1964C-8F2B-4CA8-9E7D-00B114FA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90A06-4633-4232-8F17-65015651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41079-425E-4FD9-8C12-4CD5F362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Consulta SQL a una tabla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EF2B8-208A-4D6E-B33C-25797238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716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Consulta de 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A149A-AEC7-4585-A43B-7C4BAAE2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E0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BB8B4-A116-4790-B074-E7ADFDBC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SELECT * FROM ayudas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AFA98-CE32-4F2D-87B2-44974197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WHERE año = 1985;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C8B5A-7B03-49F3-AA77-4C9D867C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Registros que cumplen condiciones sobre campos.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BB4F4-0CD5-4F9A-B1BB-A7FF8669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«financiación ferroviaria federal»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2B8FE-0E5E-4FC5-B7F6-18489106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Informes con expresiones distintas.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64BB0-C1DA-4A6E-A61A-B630F4B5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767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Documentos candidatos ordenados por relevancia.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B41A5-7CF0-42EB-9247-6EC90999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912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Aquí estudiaremos principalmente documentos y técnicas de texto y PLN.</a:t>
            </a:r>
          </a:p>
        </p:txBody>
      </p:sp>
    </p:spTree>
    <p:extLst>
      <p:ext uri="{BB962C8B-B14F-4D97-AF65-F5344CB8AC3E}">
        <p14:creationId xmlns:p14="http://schemas.microsoft.com/office/powerpoint/2010/main" val="9864853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4FB36-D02F-404C-A2E0-4B51C894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5653D-FEF1-4342-B83B-E6C5FC25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868FC-FFD4-4772-94E1-E85CADD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La necesidad no siempre produce una buena consulta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F91CC-8820-48CC-8A58-B96272F8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88E2A-C452-43F2-B0E4-3B890C7A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73690-024E-4D55-A074-844E600F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7187D-3F13-446E-AD6B-61ABB631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33550"/>
            <a:ext cx="1047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Necesidad: ¿cómo financia el gobierno federal las operaciones de Amtrak?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5543E-DA06-4CCD-A842-865B4071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289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43895-DEF5-4177-B94C-D0791A5B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00375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«Amtrak financiación federal»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3BE97-83C7-4DF9-8A1F-EE618258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338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E002E-B7CD-41AA-BAA0-D7A993B4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857625"/>
            <a:ext cx="9448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Tras leer resultados: «subvención operaciones Amtrak»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B51BF-8C5B-41C3-A830-5431D135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9725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Podemos ampliar con sinónimos o repetir la búsqueda con nuevas pistas.</a:t>
            </a:r>
          </a:p>
        </p:txBody>
      </p:sp>
    </p:spTree>
    <p:extLst>
      <p:ext uri="{BB962C8B-B14F-4D97-AF65-F5344CB8AC3E}">
        <p14:creationId xmlns:p14="http://schemas.microsoft.com/office/powerpoint/2010/main" val="10312657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7A3FD-273C-415B-BB9F-AF5448A0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4168C-2662-4439-BB64-601A22FA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5DDCE-0B4C-477C-9903-FBE5BC30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La relevancia dirige el ranking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562F9-289C-44B2-B6A9-1B8D484C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AD04B-984D-4BC9-BF31-D93FBF1D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DFBAF-5FD9-447B-A9B1-0FB6368C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4FB47-B9C8-4DFD-B6A4-A366513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Consulta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38C8A-0DC2-4BE2-86D8-19C449F7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19325"/>
            <a:ext cx="51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58B57-D826-440D-BF16-B81B4F4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38375"/>
            <a:ext cx="214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Candidatos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D7104-D574-42B8-BC56-CB54ED8F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19325"/>
            <a:ext cx="51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00238-9CE3-481B-B734-755D1F87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38375"/>
            <a:ext cx="1685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Ranking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33E4D-B70B-4215-B5CD-DA75FCEA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19325"/>
            <a:ext cx="51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ADB71-2669-4D72-B30E-6A9CCABF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383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Resultados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3C915-7D41-4498-9AA2-EE9D2895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9975"/>
            <a:ext cx="10382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Feedback: clics o enlaces pueden aportar pistas, con sesgos.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F6D12-CD14-4F49-829B-B6DF96AE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Tiempo: «partido del Real Madrid» · Lugar: «tiempo hoy» · Dispositivo: móvil o PC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75D62-DD3E-485B-97EF-AB7B18A7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626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Pregunta para clase: ¿qué otros problemas puede tener una consulta?</a:t>
            </a:r>
          </a:p>
        </p:txBody>
      </p:sp>
    </p:spTree>
    <p:extLst>
      <p:ext uri="{BB962C8B-B14F-4D97-AF65-F5344CB8AC3E}">
        <p14:creationId xmlns:p14="http://schemas.microsoft.com/office/powerpoint/2010/main" val="14646071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4CCDA-1D95-4E5C-BC3C-260BEC70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1EDE6-0959-4435-80AA-CDE28ABF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20570-65A4-4D99-83B9-34A0D9CC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Arquitectura de un sistema de 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6E353-F075-4C0A-B280-34824B8A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55103-A166-42BC-9A95-E813749D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B6457-A91D-450C-810F-28D37B7E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Picture 8" descr="fig12_libro_reconstrui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508760"/>
            <a:ext cx="11228832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384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A4F8F-38F1-4ED5-B2DB-B0827CEF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35F80-6546-4954-9904-B1D3DABE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5FAC0-7A25-491F-B989-584606FD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Del índice a los resultados · procesos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BA23C-ADD0-40BC-B2A3-9802FB9B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97CC9-5B18-400F-9C84-C86DC3CE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2DE1C-4C52-42DD-AE9D-98EBF075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Picture 8" descr="fig13_libro_reconstrui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508760"/>
            <a:ext cx="11228832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60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E9EB1-4586-40E3-9925-3411738B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EC316-E026-4A8C-9D98-B95BE3A3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FA0DD-BEE6-4FF5-BB06-93F9AAA7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Cuatro procesos, dos momentos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B383F-B838-4410-BE5A-2A112CAC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8B474-4009-4075-A2B2-9EEBF35E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C1EAF-1F04-4010-9FFE-646A86DD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744D6-09EC-45DE-A041-6E8D16E9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Antes de la consulta · offline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95537-DA0E-4339-A18F-759595B2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716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Al recibir la consulta · online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58ED5-FE4D-4AEA-8B84-61B28251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E0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525E4-97DE-4A2E-849A-E2774803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1 Adquisición: crawler o carga manual.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63EAC-FD97-4A33-9FE9-0F2EF147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2 Indexación: procesar documentos y construir el índice.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A186F-634B-4395-BBE6-925F413C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El índice es la estructura rápida de acceso.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92940-F105-4BFC-A578-AF148E70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3 Recuperación: buscar candidatos en el índice.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5BA3D-1512-43F5-B35E-68970424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4 Ranking: puntuar y ordenar candidatos.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79363-2A61-4E46-91ED-A6839363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767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Después puede haber clics y reformulación.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18CE6-8B4F-48F0-81C0-DB7FED74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912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La consulta y el documento deben llegar a representaciones compatibles.</a:t>
            </a:r>
          </a:p>
        </p:txBody>
      </p:sp>
    </p:spTree>
    <p:extLst>
      <p:ext uri="{BB962C8B-B14F-4D97-AF65-F5344CB8AC3E}">
        <p14:creationId xmlns:p14="http://schemas.microsoft.com/office/powerpoint/2010/main" val="20318980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D21AC-CBB8-47E3-B8E6-07FF62DF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246FE-0BE6-4617-8BD9-45210940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934E3-DE58-4FB2-AC30-8532C2BD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Documento de ejemplo: de texto a representación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A5872-3084-4F9C-99D4-C25DAA6D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AC2A1-7099-4FE5-8587-52B1C3D3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BEA2B-3C76-4EF8-ADC8-7CDFB889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D4078-0B6A-404D-99A2-B867A690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AC5D5-7618-4C9B-8F8C-CC1FF14E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85950"/>
            <a:ext cx="947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«La CHICA repara coches.»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A5C75-5380-44BF-A1DD-A0D75820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D2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25A1E-B6F4-4285-9493-9C2FBF57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57525"/>
            <a:ext cx="947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«Un taller vende automóviles.»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67B72-4EFA-4D77-97DC-D8DDC629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529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Consulta: «reparar coche»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76A78-89CC-4B99-BA26-BF49F4EC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95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Seguiremos cada decisión y veremos qué términos quedan en el índice.</a:t>
            </a:r>
          </a:p>
        </p:txBody>
      </p:sp>
    </p:spTree>
    <p:extLst>
      <p:ext uri="{BB962C8B-B14F-4D97-AF65-F5344CB8AC3E}">
        <p14:creationId xmlns:p14="http://schemas.microsoft.com/office/powerpoint/2010/main" val="3654089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A67D2-F3FB-4093-8797-12F12151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C573B-4B43-4106-B76E-294AB624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9E3C5-781D-4247-B6A5-74B516DE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IDEA CLAVE · búsqueda dispersa y densa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DAE19-C71B-47B0-81DB-4B53974B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12F1A-7518-4DC1-B908-269AE9BA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91865-4694-4F83-8795-40DFEFEF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97602-6C49-4F75-81F0-7424AB94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514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DISPERSA · términos explícitos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520EB-9ADB-4657-87B8-F9EC8ECA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5048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D1: [reparar:1, coche:1, vender:0]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3A557-2DD7-43D4-80B6-9ABE73AA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5048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Muchos ceros en un vocabulario amplio. Un índice invertido guarda términos presentes.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D9C3A-82E9-47BA-9622-5229A57C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724025"/>
            <a:ext cx="5000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357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3579A"/>
                </a:solidFill>
                <a:latin typeface="Arial"/>
                <a:ea typeface="Arial"/>
                <a:cs typeface="Arial"/>
              </a:rPr>
              <a:t>DENSA · embedding aprendido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288F8-EE2D-44B1-8BEE-57E4E4F1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D1: [0,21; −0,34; 0,72; …]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7BFE3-B9A0-4953-8ECD-953118A1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33775"/>
            <a:ext cx="4857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Un modelo calcula coordenadas. Textos relacionados pueden estar próximos aunque no compartan palabras.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28B97-9568-415D-9649-6310B25C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626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Las coincidencias exactas y las relaciones semánticas aportan señales diferentes.</a:t>
            </a:r>
          </a:p>
        </p:txBody>
      </p:sp>
    </p:spTree>
    <p:extLst>
      <p:ext uri="{BB962C8B-B14F-4D97-AF65-F5344CB8AC3E}">
        <p14:creationId xmlns:p14="http://schemas.microsoft.com/office/powerpoint/2010/main" val="4728652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3691BE-AAD1-43E6-81A2-0105DB65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A850C-C024-4523-A6AA-213E396B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00E88-2028-4D93-9394-F7A8221A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Espacio de embeddings: proximidad, no certeza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BE913-EBF8-46AA-84BD-8CE76580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01484-B14C-4EF1-90A2-16A30B63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BECDC-7818-485B-8BA2-2989077B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F2DD8-6879-4B7A-B3C7-634A415C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90725"/>
            <a:ext cx="6858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A"/>
          </a:solidFill>
          <a:ln xmlns:a="http://schemas.openxmlformats.org/drawingml/2006/main" w="9525">
            <a:solidFill>
              <a:srgbClr val="D5E5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1E439-A4D6-4AD8-9C59-AA6D4735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7F302-D3FB-42B4-9681-42342092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86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5363E-FE99-420A-A1EC-0C726D03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24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40C16-764E-43A5-BDD1-D7C1C0FD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90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1C762-8C3A-4885-8801-E3D8CEF1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76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A15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6DFED-E879-4790-B4FE-E5843E19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33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A15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6BD42-8A64-4AE3-BAA6-F7F70666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62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A15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FED29-BACA-418B-B1AC-5411403D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575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7EA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6D6E8-3632-44FA-9D4A-E068A905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623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7EA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D8A6E-805C-4F7F-BD7C-3DB4FA8F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000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7EA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4F247-5C4F-47E2-96E0-2DF4E01A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coche · automóvil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A9A44-7B12-40A1-84A9-07763D1C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0768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D763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D7639"/>
                </a:solidFill>
                <a:latin typeface="Arial"/>
                <a:ea typeface="Arial"/>
                <a:cs typeface="Arial"/>
              </a:rPr>
              <a:t>recetas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55AFC9-0889-45F6-AFFC-4BA84A07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33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17EA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7EAC"/>
                </a:solidFill>
                <a:latin typeface="Arial"/>
                <a:ea typeface="Arial"/>
                <a:cs typeface="Arial"/>
              </a:rPr>
              <a:t>deporte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70EBE-143F-4CA1-B6A4-2E0E4ACF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2099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El modelo aprende posiciones a partir de datos.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B9B7EF-6FF9-4DFC-8C4F-46D0C58F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Números y nombres raros aún pueden requerir búsqueda léxica o filtros.</a:t>
            </a:r>
          </a:p>
        </p:txBody>
      </p:sp>
    </p:spTree>
    <p:extLst>
      <p:ext uri="{BB962C8B-B14F-4D97-AF65-F5344CB8AC3E}">
        <p14:creationId xmlns:p14="http://schemas.microsoft.com/office/powerpoint/2010/main" val="18296706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5DBB6-B08F-4438-9C7C-D50BD0F1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1EA1D-E899-4D20-8421-FD244BD1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B6A81-7A87-4CF7-B89A-95342464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Evolución de la IA para buscar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BFD1F-4EBB-4CDE-A401-CF6BA175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4B445-AB61-436B-BF4C-718A7F2B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6A40F-B411-47DB-B3EF-308E2DFD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0f675cb3c4adf"/>
          <a:stretch xmlns:a="http://schemas.openxmlformats.org/drawingml/2006/main"/>
        </p:blipFill>
        <p:spPr>
          <a:xfrm xmlns:a="http://schemas.openxmlformats.org/drawingml/2006/main">
            <a:off x="2828540" y="1628775"/>
            <a:ext cx="6515869" cy="3667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7F182-C579-4208-935B-4CD4FE10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Léxico → representaciones latentes → transformers → búsqueda densa y RAG</a:t>
            </a:r>
          </a:p>
        </p:txBody>
      </p:sp>
    </p:spTree>
    <p:extLst>
      <p:ext uri="{BB962C8B-B14F-4D97-AF65-F5344CB8AC3E}">
        <p14:creationId xmlns:p14="http://schemas.microsoft.com/office/powerpoint/2010/main" val="11096018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D96C5-159D-47E8-B661-74A05C99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A21AA-80BF-47B9-BA1A-0DE2715B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D2FEA-8B92-41C2-84C2-A8F622ED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Procesamiento textual · ruta posible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EB4A4-3F83-4D2D-A7CC-39FDF3DF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5AAB0-A224-4A1B-BAFC-E9B75D31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93A82-7180-4936-B171-169ABF0D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be77f60e94cef"/>
          <a:stretch xmlns:a="http://schemas.openxmlformats.org/drawingml/2006/main"/>
        </p:blipFill>
        <p:spPr>
          <a:xfrm xmlns:a="http://schemas.openxmlformats.org/drawingml/2006/main">
            <a:off x="2922687" y="1733550"/>
            <a:ext cx="6346626" cy="3571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0CA36-9B2E-4BFD-AC71-0B45375F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02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Trabajaremos con D1 y D2 para ver cómo cambia su representación.</a:t>
            </a:r>
          </a:p>
        </p:txBody>
      </p:sp>
    </p:spTree>
    <p:extLst>
      <p:ext uri="{BB962C8B-B14F-4D97-AF65-F5344CB8AC3E}">
        <p14:creationId xmlns:p14="http://schemas.microsoft.com/office/powerpoint/2010/main" val="15617223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BF70E-5E51-4748-B4CB-D2DABC83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538E2-A06C-4E1B-8B5F-84013355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A1C3B-7CAB-4ECB-BB8C-9BD68E1D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Seis decisiones antes de indexar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43A31-0D01-4AB3-829B-0E7177BB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A899A-3A92-40B2-A20B-623AC0E7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63F94-E279-4D34-AFAB-8CD05699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C9C26-FCB3-4225-8476-04109B2E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430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0220C-559A-47C8-BCB5-B645081D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43075"/>
            <a:ext cx="828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Estructura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90E60-026F-402D-AAAF-09987FC4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4FF09-230E-4179-8B4D-A0CE0DC9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828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Análisis léxico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9FC8B-C83B-4473-A1D9-6A2EBCC7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1BEA8-A92B-46F8-9174-2383BC20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09925"/>
            <a:ext cx="828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Normalización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17DB9-8DB7-472D-8C3A-25CEA1F5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28F08-FA39-4DD9-A1BC-1C0EAE49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28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Stopwords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3A1EC-C71B-4464-9B70-7BCA2234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1F663-31E6-4289-9FED-B94255FB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76775"/>
            <a:ext cx="828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Morfología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E6713-CBBF-41D3-AB24-5E8D1384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C85A9-DD95-4028-A7F7-D08CB8B8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28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Términos y recursos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4E950-821F-4DF5-9068-75368DE0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531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La consulta debe seguir una política compatible con el índice.</a:t>
            </a:r>
          </a:p>
        </p:txBody>
      </p:sp>
    </p:spTree>
    <p:extLst>
      <p:ext uri="{BB962C8B-B14F-4D97-AF65-F5344CB8AC3E}">
        <p14:creationId xmlns:p14="http://schemas.microsoft.com/office/powerpoint/2010/main" val="2179837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27765-4091-4D11-84AC-9A04BDB3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AADC8-F7E1-40A1-A72B-CF17A652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92606-610F-4689-AAAC-E9BA198C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1 · Estructura y análisis léxico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4C34B-04F1-4532-BE8B-5BB93276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276C2-EEF3-4813-B95E-2F98D983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C2026-BCC1-45AF-8F71-57B9F654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842C4-D55E-41AF-8270-5081339F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1009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DOCUMENTOS DE EJEMPLO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04E60-EE23-44BD-A874-2E585A63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764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D1: «La CHICA repara coches.»    D2: «Un taller vende automóviles.»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33C4B-AAEF-48EF-855E-9894B408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Texto → secuencia de tokens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17756-5BED-472E-95BE-4938E2B6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67175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D1: [La, CHICA, repara, coches]    D2: [Un, taller, vende, automóviles]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8F383-41AD-4DF7-82D1-FB3FC34C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10382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Si hay HTML/XML, separamos contenido y marcado. Los modelos neuronales suelen usar subpalabras como BPE.</a:t>
            </a:r>
          </a:p>
        </p:txBody>
      </p:sp>
    </p:spTree>
    <p:extLst>
      <p:ext uri="{BB962C8B-B14F-4D97-AF65-F5344CB8AC3E}">
        <p14:creationId xmlns:p14="http://schemas.microsoft.com/office/powerpoint/2010/main" val="9572546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F518F-E302-4C7C-B158-C11E8FD7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70857-FB97-4238-82DA-DCA4302E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8C4A2-DDA0-4089-99C8-895B4254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Análisis léxico: ¿qué cuenta como unidad?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3FEDA-5529-4B8B-9A19-DE850DE5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06FC2-6BFB-4771-83AF-094EDE7A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B28F3-278C-44EB-B168-76222740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3D5FF-80BB-4C34-826A-BCEF58D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19275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Pato Donald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9FC84-E178-4A6F-97A0-63B7D8E8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19275"/>
            <a:ext cx="6429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Dos palabras, una entidad.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B1876-4CC4-4BA3-A90E-6A51E459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14675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inteligencia artificial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6EE53-1348-440F-86DF-16DD5ADC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14675"/>
            <a:ext cx="6429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La expresión junta tiene un significado propio.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9DC43-5836-41B0-89AE-8B992AA5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10075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state-of-the-art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CA5A0-0B64-4C95-BF1E-50DCB9C8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10075"/>
            <a:ext cx="6429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Conservar la expresión y, si conviene, sus partes.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25F93-422C-4DAB-BFCB-02C85520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9055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Una regla de frases o un reconocedor puede conservar varias palabras como una unidad.</a:t>
            </a:r>
          </a:p>
        </p:txBody>
      </p:sp>
    </p:spTree>
    <p:extLst>
      <p:ext uri="{BB962C8B-B14F-4D97-AF65-F5344CB8AC3E}">
        <p14:creationId xmlns:p14="http://schemas.microsoft.com/office/powerpoint/2010/main" val="17265074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482A2-3541-458A-A6B1-0BD24D87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E05D9-AAD2-4E27-9A58-B0F05D2B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CC480-BE38-438A-A85D-30752CC6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¿Qué hacemos con «entre 1910 y 1989»?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6A624-53EC-4174-8CA0-00319751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B0722-6245-4DC6-8EFA-F3DC4D1C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76F2B-4A27-4B83-9F5E-60ED7105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C0FD4-8BB0-4E54-BE71-431D22AE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288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FECHA ESTRUCTURADA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434A4-7142-4230-8EB6-FC0A1C3F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28800"/>
            <a:ext cx="6743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fecha_accidente = 1935 → filtro 1910–1989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C3635-528E-4C06-BA63-EC7C3D04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14675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SOLO TEXTO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8297A-01A9-4AD4-BC29-6C60B017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14675"/>
            <a:ext cx="6743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«en 1935 ocurrió…» → extraer y verificar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00770-5A76-4E87-AA72-4774B910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0055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FECHA DESCONOCIDA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35A9B-4D49-49E7-8E2D-8BD4AB8A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00550"/>
            <a:ext cx="6743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No inferir que el suceso está en el rango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7A22F-FE6E-4449-94FC-08EFBA40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905500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La fecha de publicación no sustituye a la fecha del accidente.</a:t>
            </a:r>
          </a:p>
        </p:txBody>
      </p:sp>
    </p:spTree>
    <p:extLst>
      <p:ext uri="{BB962C8B-B14F-4D97-AF65-F5344CB8AC3E}">
        <p14:creationId xmlns:p14="http://schemas.microsoft.com/office/powerpoint/2010/main" val="24605533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FAD1B-24B1-4BD1-B2F4-DC9478D5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25939-54E0-4E0C-81FE-201901D5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77BCE-9EAB-45B8-BDF9-AFE76C8B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2 · Normalización: misma escritura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1167F-9251-40D2-96F7-F8F2EAD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6F40A-396B-4FA1-9077-223044A9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348A1-C0CE-4006-BE75-A2B6AA0F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C1833-C4C8-40CF-849A-FF216A39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1009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DOCUMENTOS DE EJEMPLO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4B8FA-3E66-4A75-B4DD-3D35FC13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764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D1: [La, CHICA, repara, coches]    D2: [Un, taller, vende, automóviles]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F3F5F-ECD1-48E5-9D72-58250EE7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Minúsculas y una política de tildes/espacios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E77AB-5670-47C4-8E96-2418866A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67175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D1: [la, chica, repara, coches]    D2: [un, taller, vende, automóviles]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15B4D-8106-42C4-A9C2-1CE48E0B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10382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«Bank» y «bank» pueden diferir; «sí» y «si» también. Guardamos el original para mostrar.</a:t>
            </a:r>
          </a:p>
        </p:txBody>
      </p:sp>
    </p:spTree>
    <p:extLst>
      <p:ext uri="{BB962C8B-B14F-4D97-AF65-F5344CB8AC3E}">
        <p14:creationId xmlns:p14="http://schemas.microsoft.com/office/powerpoint/2010/main" val="161124199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C0924-D828-4A4B-B3EA-E5B75BF6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4758E-EBFB-40C7-BD6E-222DDA93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7FF63-F1B8-4344-ADEE-5F8079C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3 · Stopwords: filtrar con una lista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C63AA-F268-4C1A-90A4-D490113C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34538-5421-4200-A77E-F72499C8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2B864-636A-4026-9607-B4DEDE0A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5F4DB-4C1A-41DD-B2FD-A543DCF2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1009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DOCUMENTOS DE EJEMPLO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BCCD6-B920-419E-807B-1CA47283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764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D1: [la, chica, repara, coches]    D2: [un, taller, vende, automóviles]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F977C-70B1-41CA-A686-725C7936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Si token ∈ lista, lo omitimos del índice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C68D8-FEFE-4E4D-9803-8C55609D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67175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D1: [chica, repara, coches]    D2: [taller, vende, automóviles]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4BFBC-39F3-4776-9757-0E5CFE8F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10382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Suele implementarse con un diccionario/lista del idioma: en Python, set(stopwords.words("spanish")) de NLTK.</a:t>
            </a:r>
          </a:p>
        </p:txBody>
      </p:sp>
    </p:spTree>
    <p:extLst>
      <p:ext uri="{BB962C8B-B14F-4D97-AF65-F5344CB8AC3E}">
        <p14:creationId xmlns:p14="http://schemas.microsoft.com/office/powerpoint/2010/main" val="116632251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7CEFF-0FD8-45FD-9273-7D0C694A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ADDE0-1C56-4696-80EE-7B6923EB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A32ED-469F-402C-B75A-CFBBFF8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4 · Morfología: stemming o 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EB1BD-00B4-4F4E-9F61-BB5D8A43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72CFB-845F-429E-8A3C-F1C1D6F2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52410-6F3B-45BF-B182-46FB147E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AA72B-3EB1-4064-8E01-5E8EC9EB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1009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DOCUMENTOS DE EJEMPLO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1AD1A-283A-4C6C-86DB-04AA66FB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764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D1: [chica, repara, coches]    D2: [taller, vende, automóviles]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01F42-31F0-423E-B320-B1C7B901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Lematización ilustrativa: formas → lema de diccionario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0F5B7-5CE1-4C0B-9282-1BA90964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67175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D1: [chica, reparar, coche]    D2: [taller, vender, automóvil]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B810C-954A-4463-9FA0-B7BCC5ED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10382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Stemming produce raíces algorítmicas, quizá no palabras. Puede agrupar mal; «cochecito» no tiene por qué acabar como «coche».</a:t>
            </a:r>
          </a:p>
        </p:txBody>
      </p:sp>
    </p:spTree>
    <p:extLst>
      <p:ext uri="{BB962C8B-B14F-4D97-AF65-F5344CB8AC3E}">
        <p14:creationId xmlns:p14="http://schemas.microsoft.com/office/powerpoint/2010/main" val="81830378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7768F-B191-4992-8EC0-B1DEDE97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F9205-5C0B-4C5C-AFED-81B991A7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50151-4C0C-473C-8338-E7EB4E8D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5 · Selección de términos índice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D57F9-6C28-4DA5-AA80-169D2A6C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22990-CB68-4945-95C9-106E77CE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920BD-0A5E-433C-A3A7-1074D2EB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604B4-BBDE-49FE-B9C6-6941FE54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Solo nombres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74A6C-6066-4792-95A3-D3223BCC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D1 → {chica, coche}        D2 → {taller, automóvil}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4B237-B845-410B-A8D4-3D88C644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¿Qué se pierde?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52D80-6939-4E57-AE41-4F34ED19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D1 repara · D2 vende: el verbo decide si el documento responde a la consulta.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BE797-035D-4CEE-B20A-3A490B90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14975"/>
            <a:ext cx="10382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Para «reparar coche» conservamos nombres y verbos; NER puede añadir personas o fechas cuando importen.</a:t>
            </a:r>
          </a:p>
        </p:txBody>
      </p:sp>
    </p:spTree>
    <p:extLst>
      <p:ext uri="{BB962C8B-B14F-4D97-AF65-F5344CB8AC3E}">
        <p14:creationId xmlns:p14="http://schemas.microsoft.com/office/powerpoint/2010/main" val="3560027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CCABA-66CB-4C78-8A82-D6299786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B25BD-CE2C-4B15-9563-E1E9E18D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705EE-BB91-49C2-B8AF-4B7C1C4F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6 · Tesauro y expansión de consulta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4E898-DBF9-4709-9F0D-C87D706F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679A7-06C8-4A47-BFCB-74A68454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D8C86-C09B-4076-B486-D98D6C36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4C67F-9869-4CF1-888B-73F647C9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716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Consulta inicial: «reparar coche»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8FA45-A4B1-4E16-86E7-8769B0AE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coche ↔ automóvil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C32C7-4661-40B0-815D-A49488FD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76675"/>
            <a:ext cx="10287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Un diccionario léxico como WordNet (en inglés) aporta relaciones para construir el tesauro.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DB265-92B4-4C62-90BE-4D77C982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D2 menciona «automóviles», pero vende: la expansión no debe hacer que supere a D1 para esta tarea.</a:t>
            </a:r>
          </a:p>
        </p:txBody>
      </p:sp>
    </p:spTree>
    <p:extLst>
      <p:ext uri="{BB962C8B-B14F-4D97-AF65-F5344CB8AC3E}">
        <p14:creationId xmlns:p14="http://schemas.microsoft.com/office/powerpoint/2010/main" val="12013206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E5CD0-B892-497C-B529-F5AB27C5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B4626-B69C-4305-BA0A-CE6F2D43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de Recuperación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7C1BA-48BF-4C56-BFE9-9BA7DD5D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A817F"/>
                </a:solidFill>
                <a:latin typeface="Arial"/>
                <a:ea typeface="Arial"/>
                <a:cs typeface="Arial"/>
              </a:rPr>
              <a:t>El índice y la consulta deben ser compatibles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8C861-47CA-4F8F-8038-7B1D4FE8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17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9063B-D63D-4C9F-B7C3-FDEBEF43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198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95401-1B7A-40B9-B2FF-EEC85101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198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36AF0-07AD-44B7-86E0-C069A461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02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Índice invertido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78BC1-3189-4511-A1BC-0BECBB50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887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reparar → D1    vender → D2    coche → D1    automóvil → D2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9E0A2-2D02-451E-A0B5-81A32139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57625"/>
            <a:ext cx="10382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Consulta: «REPARAR COCHE» → [reparar, coche]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44739-217B-42FD-8682-2EE57B6D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29225"/>
            <a:ext cx="1038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A817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817F"/>
                </a:solidFill>
                <a:latin typeface="Arial"/>
                <a:ea typeface="Arial"/>
                <a:cs typeface="Arial"/>
              </a:rPr>
              <a:t>Recuperación encuentra candidatos; ranking decide cuáles mostrar primero.</a:t>
            </a:r>
          </a:p>
        </p:txBody>
      </p:sp>
    </p:spTree>
    <p:extLst>
      <p:ext uri="{BB962C8B-B14F-4D97-AF65-F5344CB8AC3E}">
        <p14:creationId xmlns:p14="http://schemas.microsoft.com/office/powerpoint/2010/main" val="774129400"/>
      </p:ext>
    </p:extLst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Una búsqueda sencilla puede fallar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972800" cy="36576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3777F"/>
                </a:solidFill>
                <a:latin typeface="Arial"/>
              </a:defRPr>
            </a:pPr>
            <a:r>
              <a:t>Empezamos con una necesidad de información, no con un algoritmo.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8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47672"/>
            <a:ext cx="5285232" cy="10972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258568"/>
            <a:ext cx="4800600" cy="4572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233641"/>
                </a:solidFill>
                <a:latin typeface="Arial"/>
              </a:defRPr>
            </a:pPr>
            <a:r>
              <a:t>D1  «La CHICA repara televisores.»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47672"/>
            <a:ext cx="5285232" cy="10972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2258568"/>
            <a:ext cx="4800600" cy="4572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233641"/>
                </a:solidFill>
                <a:latin typeface="Arial"/>
              </a:defRPr>
            </a:pPr>
            <a:r>
              <a:t>D2  «Un taller vende automóviles.»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3547872"/>
            <a:ext cx="83667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3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7712" y="3867912"/>
            <a:ext cx="7680960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B93638"/>
                </a:solidFill>
                <a:latin typeface="Arial"/>
              </a:defRPr>
            </a:pPr>
            <a:r>
              <a:t>Consulta: «reparar coche»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47488"/>
            <a:ext cx="10332720" cy="73152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0B777D"/>
                </a:solidFill>
                <a:latin typeface="Arial"/>
              </a:defRPr>
            </a:pPr>
            <a:r>
              <a:t>D1 coincide en la acción; D2, en el objeto si ampliamos «coche». ¿Cuál sirve?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Qué estudia la Recuperación de Información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607040" cy="100584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233641"/>
                </a:solidFill>
                <a:latin typeface="Arial"/>
              </a:defRPr>
            </a:pPr>
            <a:r>
              <a:t>Organizar y representar documentos para acceder a la información que necesita una persona.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3072384"/>
            <a:ext cx="3127248" cy="1975104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2798064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Documentos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03320"/>
            <a:ext cx="2798064" cy="121615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Texto, imágenes, audio o vídeo.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3072384"/>
            <a:ext cx="3127248" cy="1975104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3200400"/>
            <a:ext cx="2798064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Representación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3703320"/>
            <a:ext cx="2798064" cy="121615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Términos, campos o vectores.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17536" y="3072384"/>
            <a:ext cx="3127248" cy="1975104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3200400"/>
            <a:ext cx="2798064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Consulta y respuesta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703320"/>
            <a:ext cx="2798064" cy="121615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Candidatos ordenados por utilidad estimada.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96128"/>
            <a:ext cx="10378440" cy="50292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0B777D"/>
                </a:solidFill>
                <a:latin typeface="Arial"/>
              </a:defRPr>
            </a:pPr>
            <a:r>
              <a:t>El objetivo es satisfacer una necesidad, aunque las palabras de la consulta no coincidan exactamente.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Hoy: de la Web al texto preparado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10533888" cy="978408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075688"/>
            <a:ext cx="594360" cy="4572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B777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057400"/>
            <a:ext cx="2057400" cy="4572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233641"/>
                </a:solidFill>
                <a:latin typeface="Arial"/>
              </a:defRPr>
            </a:pPr>
            <a:r>
              <a:t>Adquirir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3904" y="2011679"/>
            <a:ext cx="7187184" cy="61264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33641"/>
                </a:solidFill>
                <a:latin typeface="Arial"/>
              </a:defRPr>
            </a:pPr>
            <a:r>
              <a:t>Obtener documentos de una fuente: Web, API o carga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90672"/>
            <a:ext cx="10533888" cy="978408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91840"/>
            <a:ext cx="594360" cy="4572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B777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3273552"/>
            <a:ext cx="2057400" cy="4572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233641"/>
                </a:solidFill>
                <a:latin typeface="Arial"/>
              </a:defRPr>
            </a:pPr>
            <a:r>
              <a:t>Procesar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3904" y="3227832"/>
            <a:ext cx="7187184" cy="61264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33641"/>
                </a:solidFill>
                <a:latin typeface="Arial"/>
              </a:defRPr>
            </a:pPr>
            <a:r>
              <a:t>Extraer texto y decidir sus unidades: tokens, normalización, filtrado.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06824"/>
            <a:ext cx="10533888" cy="978408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507992"/>
            <a:ext cx="594360" cy="4572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B777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4489704"/>
            <a:ext cx="2057400" cy="4572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233641"/>
                </a:solidFill>
                <a:latin typeface="Arial"/>
              </a:defRPr>
            </a:pPr>
            <a:r>
              <a:t>Representar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4443984"/>
            <a:ext cx="7187184" cy="61264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33641"/>
                </a:solidFill>
                <a:latin typeface="Arial"/>
              </a:defRPr>
            </a:pPr>
            <a:r>
              <a:t>Preparar términos o vectores para comparar documentos y consultas.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742432"/>
            <a:ext cx="10241280" cy="41148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63777F"/>
                </a:solidFill>
                <a:latin typeface="Arial"/>
              </a:defRPr>
            </a:pPr>
            <a:r>
              <a:t>La construcción y el almacenamiento del índice se desarrollarán más adelante.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Buscar información es una necesidad antigua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64792"/>
            <a:ext cx="10515600" cy="59436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233641"/>
                </a:solidFill>
                <a:latin typeface="Arial"/>
              </a:defRPr>
            </a:pPr>
            <a:r>
              <a:t>De catálogos de biblioteca a documentos publicados y enlazados en la Web.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2999232" cy="13258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2633472" cy="41148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0B777D"/>
                </a:solidFill>
                <a:latin typeface="Arial"/>
              </a:defRPr>
            </a:pPr>
            <a:r>
              <a:t>Bibliotecas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2633472" cy="32004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233641"/>
                </a:solidFill>
                <a:latin typeface="Arial"/>
              </a:defRPr>
            </a:pPr>
            <a:r>
              <a:t>Colecciones y catálogos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2743200"/>
            <a:ext cx="2999232" cy="13258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971800"/>
            <a:ext cx="2633472" cy="41148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0B777D"/>
                </a:solidFill>
                <a:latin typeface="Arial"/>
              </a:defRPr>
            </a:pPr>
            <a:r>
              <a:t>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474720"/>
            <a:ext cx="2633472" cy="32004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233641"/>
                </a:solidFill>
                <a:latin typeface="Arial"/>
              </a:defRPr>
            </a:pPr>
            <a:r>
              <a:t>Publicación distribuida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743200"/>
            <a:ext cx="2999232" cy="13258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971800"/>
            <a:ext cx="2633472" cy="41148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0B777D"/>
                </a:solidFill>
                <a:latin typeface="Arial"/>
              </a:defRPr>
            </a:pPr>
            <a:r>
              <a:t>RI actual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474720"/>
            <a:ext cx="2633472" cy="32004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233641"/>
                </a:solidFill>
                <a:latin typeface="Arial"/>
              </a:defRPr>
            </a:pPr>
            <a:r>
              <a:t>Índices y ranking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41063" y="3401568"/>
            <a:ext cx="466345" cy="0"/>
          </a:xfrm>
          <a:prstGeom prst="line">
            <a:avLst/>
          </a:prstGeom>
          <a:ln w="33020">
            <a:solidFill>
              <a:srgbClr val="0B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25512" y="3401568"/>
            <a:ext cx="475488" cy="0"/>
          </a:xfrm>
          <a:prstGeom prst="line">
            <a:avLst/>
          </a:prstGeom>
          <a:ln w="33020">
            <a:solidFill>
              <a:srgbClr val="0B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60120" y="4882896"/>
            <a:ext cx="10149840" cy="58521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233641"/>
                </a:solidFill>
                <a:latin typeface="Arial"/>
              </a:defRPr>
            </a:pPr>
            <a:r>
              <a:t>La World Wide Web, propuesta por Tim Berners-Lee en 1989, cambió la escala del problema.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641848"/>
            <a:ext cx="10149840" cy="34747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3777F"/>
                </a:solidFill>
                <a:latin typeface="Arial"/>
              </a:defRPr>
            </a:pPr>
            <a:r>
              <a:t>ACM SIGIR es una conferencia internacional central para la investigación en RI.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Recuperación de datos y RI: dos preguntas distintas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257800" cy="233172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48256"/>
            <a:ext cx="4928616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Consulta estructurada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51176"/>
            <a:ext cx="4928616" cy="1572767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«Muéstrame registros cuya fecha_accidente esté entre 1910 y 1989». El campo y la condición están definidos.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920240"/>
            <a:ext cx="5257800" cy="233172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2048256"/>
            <a:ext cx="4928616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Necesidad de información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2551176"/>
            <a:ext cx="4928616" cy="1572767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«Encuentra documentos que expliquen accidentes ferroviarios de ese período». El texto puede expresarlo de muchas maneras.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65192"/>
            <a:ext cx="10332720" cy="61264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0B777D"/>
                </a:solidFill>
                <a:latin typeface="Arial"/>
              </a:defRPr>
            </a:pPr>
            <a:r>
              <a:t>En un sistema real podemos combinar filtros sobre campos con búsqueda textual.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Recuperar candidatos no basta: hay que ordenarlos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487168"/>
            <a:ext cx="1984248" cy="96012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770632"/>
            <a:ext cx="1764792" cy="34747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Consulta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487168"/>
            <a:ext cx="1984248" cy="96012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8" y="2770632"/>
            <a:ext cx="1764792" cy="34747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Candidatos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2487168"/>
            <a:ext cx="1984248" cy="96012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2770632"/>
            <a:ext cx="1764792" cy="34747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Ranking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8" y="2487168"/>
            <a:ext cx="1984248" cy="96012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74936" y="2770632"/>
            <a:ext cx="1764792" cy="34747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Resultados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71800" y="2971800"/>
            <a:ext cx="886968" cy="0"/>
          </a:xfrm>
          <a:prstGeom prst="line">
            <a:avLst/>
          </a:prstGeom>
          <a:ln w="33020">
            <a:solidFill>
              <a:srgbClr val="0B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89320" y="2971800"/>
            <a:ext cx="886968" cy="0"/>
          </a:xfrm>
          <a:prstGeom prst="line">
            <a:avLst/>
          </a:prstGeom>
          <a:ln w="33020">
            <a:solidFill>
              <a:srgbClr val="0B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06840" y="2971800"/>
            <a:ext cx="886968" cy="0"/>
          </a:xfrm>
          <a:prstGeom prst="line">
            <a:avLst/>
          </a:prstGeom>
          <a:ln w="33020">
            <a:solidFill>
              <a:srgbClr val="0B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5840" y="4251960"/>
            <a:ext cx="10195560" cy="64008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233641"/>
                </a:solidFill>
                <a:latin typeface="Arial"/>
              </a:defRPr>
            </a:pPr>
            <a:r>
              <a:t>Ranking estima qué documentos serán más útiles para esta necesidad concreta.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212080"/>
            <a:ext cx="10195560" cy="53035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1900" b="0">
                <a:solidFill>
                  <a:srgbClr val="63777F"/>
                </a:solidFill>
                <a:latin typeface="Arial"/>
              </a:defRPr>
            </a:pPr>
            <a:r>
              <a:t>Pregunta: ¿cambiaría el resultado con el tiempo, el lugar o la intención del usuario?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Qué consideraremos un documento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10607040" cy="48463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233641"/>
                </a:solidFill>
                <a:latin typeface="Arial"/>
              </a:defRPr>
            </a:pPr>
            <a:r>
              <a:t>Un documento reúne contenido, estructura y metadatos.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" y="2478024"/>
            <a:ext cx="5870448" cy="23957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724912"/>
            <a:ext cx="5376672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0B777D"/>
                </a:solidFill>
                <a:latin typeface="Arial"/>
              </a:defRPr>
            </a:pPr>
            <a:r>
              <a:t>Texto + estructura + otros medios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328416"/>
            <a:ext cx="5376672" cy="10789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33641"/>
                </a:solidFill>
                <a:latin typeface="Arial"/>
              </a:defRPr>
            </a:pPr>
            <a:r>
              <a:t>La estructura puede ser implícita (títulos y párrafos reconocibles) o explícita (etiquetas HTML/XML).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13448" y="2478024"/>
            <a:ext cx="4334256" cy="2395728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7768" y="2724912"/>
            <a:ext cx="3785615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0B777D"/>
                </a:solidFill>
                <a:latin typeface="Arial"/>
              </a:defRPr>
            </a:pPr>
            <a:r>
              <a:t>En nuestro notebook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3355848"/>
            <a:ext cx="3785615" cy="82296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233641"/>
                </a:solidFill>
                <a:latin typeface="Arial"/>
              </a:defRPr>
            </a:pPr>
            <a:r>
              <a:t>id · título · URL</a:t>
            </a:r>
          </a:p>
          <a:p>
            <a:pPr>
              <a:spcAft>
                <a:spcPts val="600"/>
              </a:spcAft>
              <a:defRPr sz="2100" b="0">
                <a:solidFill>
                  <a:srgbClr val="233641"/>
                </a:solidFill>
                <a:latin typeface="Arial"/>
              </a:defRPr>
            </a:pPr>
            <a:r>
              <a:t>texto extraído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58384"/>
            <a:ext cx="10378440" cy="50292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63777F"/>
                </a:solidFill>
                <a:latin typeface="Arial"/>
              </a:defRPr>
            </a:pPr>
            <a:r>
              <a:t>El formato influye en cómo se presenta y en qué significado podemos extraer.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La consulta también necesita interpretación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4846320" cy="1152144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67128"/>
            <a:ext cx="4389120" cy="65836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233641"/>
                </a:solidFill>
                <a:latin typeface="Arial"/>
              </a:defRPr>
            </a:pPr>
            <a:r>
              <a:t>Necesidad: documentos sobre reparación de automóviles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56248" y="1947672"/>
            <a:ext cx="4846320" cy="1152144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2267712"/>
            <a:ext cx="4389120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233641"/>
                </a:solidFill>
                <a:latin typeface="Arial"/>
              </a:defRPr>
            </a:pPr>
            <a:r>
              <a:t>Consulta inicial: «arreglar coche»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96712" y="2514600"/>
            <a:ext cx="777240" cy="0"/>
          </a:xfrm>
          <a:prstGeom prst="line">
            <a:avLst/>
          </a:prstGeom>
          <a:ln w="33020">
            <a:solidFill>
              <a:srgbClr val="0B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9536" y="3822191"/>
            <a:ext cx="10515600" cy="100584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0B777D"/>
                </a:solidFill>
                <a:latin typeface="Arial"/>
              </a:defRPr>
            </a:pPr>
            <a:r>
              <a:t>La primera formulación puede fallar. Podemos corregirla, ampliarla o buscar de nuevo tras leer resultados.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5266944"/>
            <a:ext cx="10131552" cy="54864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63777F"/>
                </a:solidFill>
                <a:latin typeface="Arial"/>
              </a:defRPr>
            </a:pPr>
            <a:r>
              <a:t>Ejemplo: «arreglar» → «reparar»; «coche» → «automóvil». La expansión puede añadir ruido.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El recorrido completo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23744"/>
            <a:ext cx="2359152" cy="1901952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2779776"/>
            <a:ext cx="347472" cy="36576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B777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79776"/>
            <a:ext cx="1719072" cy="38404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33641"/>
                </a:solidFill>
                <a:latin typeface="Arial"/>
              </a:defRPr>
            </a:pPr>
            <a:r>
              <a:t>Adquisición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355848"/>
            <a:ext cx="1993392" cy="74980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33641"/>
                </a:solidFill>
                <a:latin typeface="Arial"/>
              </a:defRPr>
            </a:pPr>
            <a:r>
              <a:t>Obtiene documentos.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2523744"/>
            <a:ext cx="2359152" cy="1901952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2779776"/>
            <a:ext cx="347472" cy="36576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B777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5928" y="2779776"/>
            <a:ext cx="1719072" cy="38404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33641"/>
                </a:solidFill>
                <a:latin typeface="Arial"/>
              </a:defRPr>
            </a:pPr>
            <a:r>
              <a:t>Preparación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355848"/>
            <a:ext cx="1993392" cy="74980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33641"/>
                </a:solidFill>
                <a:latin typeface="Arial"/>
              </a:defRPr>
            </a:pPr>
            <a:r>
              <a:t>Extrae y transforma texto.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2523744"/>
            <a:ext cx="2359152" cy="1901952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2779776"/>
            <a:ext cx="347472" cy="36576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B777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2779776"/>
            <a:ext cx="1719072" cy="38404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33641"/>
                </a:solidFill>
                <a:latin typeface="Arial"/>
              </a:defRPr>
            </a:pPr>
            <a:r>
              <a:t>Recuperación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355848"/>
            <a:ext cx="1993392" cy="74980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33641"/>
                </a:solidFill>
                <a:latin typeface="Arial"/>
              </a:defRPr>
            </a:pPr>
            <a:r>
              <a:t>Selecciona candidatos.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2523744"/>
            <a:ext cx="2359152" cy="1901952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7736" y="2779776"/>
            <a:ext cx="347472" cy="36576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B777D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5208" y="2779776"/>
            <a:ext cx="1719072" cy="38404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33641"/>
                </a:solidFill>
                <a:latin typeface="Arial"/>
              </a:defRPr>
            </a:pPr>
            <a:r>
              <a:t>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7" y="3355848"/>
            <a:ext cx="1993392" cy="74980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33641"/>
                </a:solidFill>
                <a:latin typeface="Arial"/>
              </a:defRPr>
            </a:pPr>
            <a:r>
              <a:t>Ordena resultados.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26664" y="3474720"/>
            <a:ext cx="438912" cy="0"/>
          </a:xfrm>
          <a:prstGeom prst="line">
            <a:avLst/>
          </a:prstGeom>
          <a:ln w="33020">
            <a:solidFill>
              <a:srgbClr val="0B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61304" y="3474720"/>
            <a:ext cx="438912" cy="0"/>
          </a:xfrm>
          <a:prstGeom prst="line">
            <a:avLst/>
          </a:prstGeom>
          <a:ln w="33020">
            <a:solidFill>
              <a:srgbClr val="0B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95944" y="3474720"/>
            <a:ext cx="438912" cy="0"/>
          </a:xfrm>
          <a:prstGeom prst="line">
            <a:avLst/>
          </a:prstGeom>
          <a:ln w="33020">
            <a:solidFill>
              <a:srgbClr val="0B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5230368"/>
            <a:ext cx="10332720" cy="64008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0B777D"/>
                </a:solidFill>
                <a:latin typeface="Arial"/>
              </a:defRPr>
            </a:pPr>
            <a:r>
              <a:t>Los dos primeros preparan la colección. La consulta activa los dos últimos.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Una forma de adquirir documentos: el crawler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73936"/>
            <a:ext cx="10515600" cy="6675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233641"/>
                </a:solidFill>
                <a:latin typeface="Arial"/>
              </a:defRPr>
            </a:pPr>
            <a:r>
              <a:t>Un crawler (o spider) recorre enlaces para descubrir y descargar páginas.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16352"/>
            <a:ext cx="3264408" cy="20116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944368"/>
            <a:ext cx="2935224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Crawler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447288"/>
            <a:ext cx="2935224" cy="1252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Descubre URLs y decide cuáles visitar.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2816352"/>
            <a:ext cx="3264408" cy="20116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944368"/>
            <a:ext cx="2935224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Scraper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447288"/>
            <a:ext cx="2935224" cy="1252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Extrae contenido útil del HTML descargado.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816352"/>
            <a:ext cx="3264408" cy="20116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2944368"/>
            <a:ext cx="2935224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3447288"/>
            <a:ext cx="2935224" cy="1252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Entrega contenido estructurado cuando existe una interfaz oficial.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10424160" cy="54864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0B777D"/>
                </a:solidFill>
                <a:latin typeface="Arial"/>
              </a:defRPr>
            </a:pPr>
            <a:r>
              <a:t>El crawler alimenta la colección; no construye por sí solo el índice de búsqueda.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Cómo recorre la Web un crawler básico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972800" cy="36576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3777F"/>
                </a:solidFill>
                <a:latin typeface="Arial"/>
              </a:defRPr>
            </a:pPr>
            <a:r>
              <a:t>La frontera es la cola de URLs pendientes.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8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92807"/>
            <a:ext cx="10451592" cy="6400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993391"/>
            <a:ext cx="420624" cy="3931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0B777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2011679"/>
            <a:ext cx="1847088" cy="32004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33641"/>
                </a:solidFill>
                <a:latin typeface="Arial"/>
              </a:defRPr>
            </a:pPr>
            <a:r>
              <a:t>Empezar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79"/>
            <a:ext cx="7296912" cy="35661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Añadir una o varias URL semilla.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688336"/>
            <a:ext cx="10451592" cy="6400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2788920"/>
            <a:ext cx="420624" cy="3931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0B777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2807208"/>
            <a:ext cx="1847088" cy="32004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33641"/>
                </a:solidFill>
                <a:latin typeface="Arial"/>
              </a:defRPr>
            </a:pPr>
            <a:r>
              <a:t>Elegir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807208"/>
            <a:ext cx="7296912" cy="35661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Sacar una URL permitida de la frontera.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483863"/>
            <a:ext cx="10451592" cy="6400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584447"/>
            <a:ext cx="420624" cy="3931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0B777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9928" y="3602735"/>
            <a:ext cx="1847088" cy="32004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33641"/>
                </a:solidFill>
                <a:latin typeface="Arial"/>
              </a:defRPr>
            </a:pPr>
            <a:r>
              <a:t>Descargar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02735"/>
            <a:ext cx="7296912" cy="35661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Obtener la página y registrar errores.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279392"/>
            <a:ext cx="10451592" cy="6400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4379976"/>
            <a:ext cx="420624" cy="3931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0B777D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9928" y="4398264"/>
            <a:ext cx="1847088" cy="32004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33641"/>
                </a:solidFill>
                <a:latin typeface="Arial"/>
              </a:defRPr>
            </a:pPr>
            <a:r>
              <a:t>Parsear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398264"/>
            <a:ext cx="7296912" cy="35661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Extraer texto, estructura y enlaces.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074920"/>
            <a:ext cx="10451592" cy="6400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" y="5175504"/>
            <a:ext cx="420624" cy="3931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0B777D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9928" y="5193792"/>
            <a:ext cx="1847088" cy="32004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33641"/>
                </a:solidFill>
                <a:latin typeface="Arial"/>
              </a:defRPr>
            </a:pPr>
            <a:r>
              <a:t>Repetir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193792"/>
            <a:ext cx="7296912" cy="35661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Añadir enlaces nuevos y volver a 2; parar al cumplir un criterio.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117336"/>
            <a:ext cx="10332720" cy="32004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3777F"/>
                </a:solidFill>
                <a:latin typeface="Arial"/>
              </a:defRPr>
            </a:pPr>
            <a:r>
              <a:t>Evitar duplicados y limitar profundidad, volumen y frecuencia de solicitudes.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Arquitectura mínima de un crawler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16</a:t>
            </a:r>
          </a:p>
        </p:txBody>
      </p:sp>
      <p:pic>
        <p:nvPicPr>
          <p:cNvPr id="8" name="Picture 7" descr="crawler_arch_ai_cropped_v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10908792" cy="3490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8" y="5468112"/>
            <a:ext cx="10607040" cy="51206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233641"/>
                </a:solidFill>
                <a:latin typeface="Arial"/>
              </a:defRPr>
            </a:pPr>
            <a:r>
              <a:t>El planificador envía URL al descargador; el almacén conserva páginas y metadatos.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6199632"/>
            <a:ext cx="10149840" cy="2286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3777F"/>
                </a:solidFill>
                <a:latin typeface="Arial"/>
              </a:defRPr>
            </a:pPr>
            <a:r>
              <a:t>Tema 2: diaps. 11–14 y 17.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Qué parte de la Web puede recorrer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17</a:t>
            </a:r>
          </a:p>
        </p:txBody>
      </p:sp>
      <p:pic>
        <p:nvPicPr>
          <p:cNvPr id="8" name="Picture 7" descr="web_access_ai_cropped_v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1600200"/>
            <a:ext cx="8281911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080760"/>
            <a:ext cx="10360152" cy="3383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63777F"/>
                </a:solidFill>
                <a:latin typeface="Arial"/>
              </a:defRPr>
            </a:pPr>
            <a:r>
              <a:t>Los enlaces no descubren por sí solos páginas tras formularios o autenticación.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Qué URL visita primero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755648"/>
            <a:ext cx="10479024" cy="69494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233641"/>
                </a:solidFill>
                <a:latin typeface="Arial"/>
              </a:defRPr>
            </a:pPr>
            <a:r>
              <a:t>El planificador no puede descargar toda la Web: elige prioridades y un criterio de parada.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834640"/>
            <a:ext cx="3310128" cy="20116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962656"/>
            <a:ext cx="2980944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Cobertura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465576"/>
            <a:ext cx="2980944" cy="1252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Visitar más páginas y descubrir nuevas zonas.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834640"/>
            <a:ext cx="3310128" cy="20116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2962656"/>
            <a:ext cx="2980944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Calidad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3465576"/>
            <a:ext cx="2980944" cy="1252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Priorizar páginas relevantes para un tema.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834640"/>
            <a:ext cx="3310128" cy="20116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962656"/>
            <a:ext cx="2980944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Frescura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465576"/>
            <a:ext cx="2980944" cy="1252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Volver a páginas que pueden haber cambiado.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05272"/>
            <a:ext cx="10341864" cy="48463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63777F"/>
                </a:solidFill>
                <a:latin typeface="Arial"/>
              </a:defRPr>
            </a:pPr>
            <a:r>
              <a:t>General: amplía cobertura. Focalizado: sigue un tema. Ambos necesitan límites y cortesía.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Antes de descargar: consultar robots.txt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" y="1865376"/>
            <a:ext cx="5120640" cy="3273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50008"/>
            <a:ext cx="4535424" cy="2066543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233641"/>
                </a:solidFill>
                <a:latin typeface="Arial"/>
              </a:defRPr>
            </a:pPr>
            <a:r>
              <a:t>User-agent: *</a:t>
            </a:r>
          </a:p>
          <a:p>
            <a:pPr>
              <a:spcAft>
                <a:spcPts val="600"/>
              </a:spcAft>
              <a:defRPr sz="2100" b="0">
                <a:solidFill>
                  <a:srgbClr val="233641"/>
                </a:solidFill>
                <a:latin typeface="Arial"/>
              </a:defRPr>
            </a:pPr>
            <a:r>
              <a:t>Disallow: /privado/</a:t>
            </a:r>
          </a:p>
          <a:p>
            <a:pPr>
              <a:spcAft>
                <a:spcPts val="600"/>
              </a:spcAft>
              <a:defRPr sz="2100" b="0">
                <a:solidFill>
                  <a:srgbClr val="233641"/>
                </a:solidFill>
                <a:latin typeface="Arial"/>
              </a:defRPr>
            </a:pPr>
            <a:r>
              <a:t>Allow: /privado/infopublica.html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57984"/>
            <a:ext cx="4764024" cy="99669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0B777D"/>
                </a:solidFill>
                <a:latin typeface="Arial"/>
              </a:defRPr>
            </a:pPr>
            <a:r>
              <a:t>¿Puede visitarse /privado/infopublica.html?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65576"/>
            <a:ext cx="4736592" cy="141732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33641"/>
                </a:solidFill>
                <a:latin typeface="Arial"/>
              </a:defRPr>
            </a:pPr>
            <a:r>
              <a:t>El archivo expresa reglas de rastreo para agentes identificados. No protege información confidencial ni garantiza que una URL no aparezca en resultados.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777D"/>
                </a:solidFill>
                <a:latin typeface="Arial"/>
              </a:defRPr>
            </a:pPr>
            <a:r>
              <a:t>Sí. La regla Allow coincide con una ruta más específica y prevalece para esa URL.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De la página descargada al documento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87168"/>
            <a:ext cx="3264408" cy="214884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615184"/>
            <a:ext cx="2935224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118104"/>
            <a:ext cx="2935224" cy="138988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Navegación, scripts, estilos y contenido.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2487168"/>
            <a:ext cx="3264408" cy="214884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15184"/>
            <a:ext cx="2935224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Texto útil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118104"/>
            <a:ext cx="2935224" cy="138988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El scraper elimina elementos no informativos.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2487168"/>
            <a:ext cx="3264408" cy="214884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615184"/>
            <a:ext cx="2935224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Documento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118104"/>
            <a:ext cx="2935224" cy="138988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Conserva id, título, URL y texto.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87368" y="3538728"/>
            <a:ext cx="292608" cy="0"/>
          </a:xfrm>
          <a:prstGeom prst="line">
            <a:avLst/>
          </a:prstGeom>
          <a:ln w="33020">
            <a:solidFill>
              <a:srgbClr val="0B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63256" y="3538728"/>
            <a:ext cx="292608" cy="0"/>
          </a:xfrm>
          <a:prstGeom prst="line">
            <a:avLst/>
          </a:prstGeom>
          <a:ln w="33020">
            <a:solidFill>
              <a:srgbClr val="0B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5367528"/>
            <a:ext cx="10378440" cy="59436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0B777D"/>
                </a:solidFill>
                <a:latin typeface="Arial"/>
              </a:defRPr>
            </a:pPr>
            <a:r>
              <a:t>En la práctica también obtendremos documentos mediante una API de Wikipedia.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Del texto bruto a una representación para buscar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572768"/>
            <a:ext cx="10149840" cy="50292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233641"/>
                </a:solidFill>
                <a:latin typeface="Arial"/>
              </a:defRPr>
            </a:pPr>
            <a:r>
              <a:t>D1  «La CHICA repara televisores.»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rcRect t="18000" b="27000"/>
          <a:stretch>
            <a:fillRect/>
          </a:stretch>
        </p:blipFill>
        <p:spPr>
          <a:xfrm>
            <a:off x="749808" y="2231136"/>
            <a:ext cx="10716768" cy="33467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705856"/>
            <a:ext cx="10360152" cy="53035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Cada etapa transforma la representación; algunas se pueden omitir según la colección.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10149840" cy="21945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3777F"/>
                </a:solidFill>
                <a:latin typeface="Arial"/>
              </a:defRPr>
            </a:pPr>
            <a:r>
              <a:t>Tema 2: diaps. 47 y 56.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Tokenizar: decidir cuáles son las unidades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947672"/>
            <a:ext cx="10607040" cy="932688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240280"/>
            <a:ext cx="10058400" cy="46634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233641"/>
                </a:solidFill>
                <a:latin typeface="Arial"/>
              </a:defRPr>
            </a:pPr>
            <a:r>
              <a:t>«La CHICA repara televisores.»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71616" y="2980944"/>
            <a:ext cx="0" cy="557784"/>
          </a:xfrm>
          <a:prstGeom prst="line">
            <a:avLst/>
          </a:prstGeom>
          <a:ln w="33020">
            <a:solidFill>
              <a:srgbClr val="0B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4672" y="3648456"/>
            <a:ext cx="10607040" cy="987552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3931920"/>
            <a:ext cx="10040112" cy="46634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0B777D"/>
                </a:solidFill>
                <a:latin typeface="Arial"/>
              </a:defRPr>
            </a:pPr>
            <a:r>
              <a:t>[La]  [CHICA]  [repara]  [televisores]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5230368"/>
            <a:ext cx="10378440" cy="72237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33641"/>
                </a:solidFill>
                <a:latin typeface="Arial"/>
              </a:defRPr>
            </a:pPr>
            <a:r>
              <a:t>Antes de tokenizar HTML, extraemos el texto visible. La puntuación, fechas y guiones exigen reglas.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149840" cy="21945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3777F"/>
                </a:solidFill>
                <a:latin typeface="Arial"/>
              </a:defRPr>
            </a:pPr>
            <a:r>
              <a:t>Tema 2: diaps. 58–60.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Una expresión puede contener varios tokens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938528"/>
            <a:ext cx="5074920" cy="2267712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50008"/>
            <a:ext cx="4599432" cy="46634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233641"/>
                </a:solidFill>
                <a:latin typeface="Arial"/>
              </a:defRPr>
            </a:pPr>
            <a:r>
              <a:t>«inteligencia artificial»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118104"/>
            <a:ext cx="4599432" cy="50292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63777F"/>
                </a:solidFill>
                <a:latin typeface="Arial"/>
              </a:defRPr>
            </a:pPr>
            <a:r>
              <a:t>Tokens: inteligencia | artificial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1938528"/>
            <a:ext cx="5074920" cy="2267712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350008"/>
            <a:ext cx="4599432" cy="46634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0B777D"/>
                </a:solidFill>
                <a:latin typeface="Arial"/>
              </a:defRPr>
            </a:pPr>
            <a:r>
              <a:t>Término de dos palabras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118104"/>
            <a:ext cx="4599432" cy="50292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33641"/>
                </a:solidFill>
                <a:latin typeface="Arial"/>
              </a:defRPr>
            </a:pPr>
            <a:r>
              <a:t>Exige contigüidad y orden.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056632"/>
            <a:ext cx="10351008" cy="6858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233641"/>
                </a:solidFill>
                <a:latin typeface="Arial"/>
              </a:defRPr>
            </a:pPr>
            <a:r>
              <a:t>Dos palabras presentes en lugares distintos del documento no equivalen a la expresión.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Normalizar: hacer comparables variantes escritas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52144" y="1965960"/>
            <a:ext cx="3931920" cy="68580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35608" y="2121408"/>
            <a:ext cx="3291840" cy="35661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233641"/>
                </a:solidFill>
                <a:latin typeface="Arial"/>
              </a:defRPr>
            </a:pPr>
            <a:r>
              <a:t>CHICA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57800" y="2304288"/>
            <a:ext cx="722376" cy="0"/>
          </a:xfrm>
          <a:prstGeom prst="line">
            <a:avLst/>
          </a:prstGeom>
          <a:ln w="33020">
            <a:solidFill>
              <a:srgbClr val="0B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44768" y="1965960"/>
            <a:ext cx="3931920" cy="68580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121408"/>
            <a:ext cx="3291840" cy="35661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B777D"/>
                </a:solidFill>
                <a:latin typeface="Arial"/>
              </a:defRPr>
            </a:pPr>
            <a:r>
              <a:t>chica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52144" y="2962656"/>
            <a:ext cx="3931920" cy="68580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5608" y="3118104"/>
            <a:ext cx="3291840" cy="35661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233641"/>
                </a:solidFill>
                <a:latin typeface="Arial"/>
              </a:defRPr>
            </a:pPr>
            <a:r>
              <a:t>Televisores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57800" y="3300984"/>
            <a:ext cx="722376" cy="0"/>
          </a:xfrm>
          <a:prstGeom prst="line">
            <a:avLst/>
          </a:prstGeom>
          <a:ln w="33020">
            <a:solidFill>
              <a:srgbClr val="0B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44768" y="2962656"/>
            <a:ext cx="3931920" cy="68580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118104"/>
            <a:ext cx="3291840" cy="35661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B777D"/>
                </a:solidFill>
                <a:latin typeface="Arial"/>
              </a:defRPr>
            </a:pPr>
            <a:r>
              <a:t>televisores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2144" y="3959352"/>
            <a:ext cx="3931920" cy="68580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5608" y="4114800"/>
            <a:ext cx="3291840" cy="35661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233641"/>
                </a:solidFill>
                <a:latin typeface="Arial"/>
              </a:defRPr>
            </a:pPr>
            <a:r>
              <a:t>información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57800" y="4297680"/>
            <a:ext cx="722376" cy="0"/>
          </a:xfrm>
          <a:prstGeom prst="line">
            <a:avLst/>
          </a:prstGeom>
          <a:ln w="33020">
            <a:solidFill>
              <a:srgbClr val="0B7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44768" y="3959352"/>
            <a:ext cx="3931920" cy="68580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4114800"/>
            <a:ext cx="3291840" cy="35661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B777D"/>
                </a:solidFill>
                <a:latin typeface="Arial"/>
              </a:defRPr>
            </a:pPr>
            <a:r>
              <a:t>informacion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49240"/>
            <a:ext cx="10241280" cy="65836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33641"/>
                </a:solidFill>
                <a:latin typeface="Arial"/>
              </a:defRPr>
            </a:pPr>
            <a:r>
              <a:t>Minúsculas suele ayudar. Eliminar tildes depende de la colección y puede perder distinciones.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6080760"/>
            <a:ext cx="10241280" cy="32004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B777D"/>
                </a:solidFill>
                <a:latin typeface="Arial"/>
              </a:defRPr>
            </a:pPr>
            <a:r>
              <a:t>D1 ahora: [la, chica, repara, televisores].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Stopwords: filtrar con un objetivo concreto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0241280" cy="57607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233641"/>
                </a:solidFill>
                <a:latin typeface="Arial"/>
              </a:defRPr>
            </a:pPr>
            <a:r>
              <a:t>D1: [la, chica, repara, televisores]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07208"/>
            <a:ext cx="10287000" cy="1115568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" y="3118104"/>
            <a:ext cx="9683496" cy="47548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0B777D"/>
                </a:solidFill>
                <a:latin typeface="Arial"/>
              </a:defRPr>
            </a:pPr>
            <a:r>
              <a:t>[chica, repara, televisores]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507992"/>
            <a:ext cx="10168128" cy="83210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233641"/>
                </a:solidFill>
                <a:latin typeface="Arial"/>
              </a:defRPr>
            </a:pPr>
            <a:r>
              <a:t>«La» se elimina; la decisión depende de la tarea. En «el coche no funciona», «no» sí cambia el sentido.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833872"/>
            <a:ext cx="10168128" cy="34747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3777F"/>
                </a:solidFill>
                <a:latin typeface="Arial"/>
              </a:defRPr>
            </a:pPr>
            <a:r>
              <a:t>Tema 2: diaps. 61 y 63. Notebook: comparar antes y después.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Stemming y lematización: agrupar variantes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728216"/>
            <a:ext cx="10451592" cy="47548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Entrada tras stopwords: [chica, repara, televisores]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86584"/>
            <a:ext cx="5138928" cy="219456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14600"/>
            <a:ext cx="4809744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Stemming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017520"/>
            <a:ext cx="4809744" cy="1435607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Recorta terminaciones con reglas. Puede producir raíces que no son palabras; la salida depende del algoritmo.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2386584"/>
            <a:ext cx="5138928" cy="219456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2514600"/>
            <a:ext cx="4809744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Lematización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017520"/>
            <a:ext cx="4809744" cy="1435607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Busca la forma de diccionario. Ejemplo ilustrativo: [chica, reparar, televisor].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065776"/>
            <a:ext cx="10405872" cy="64008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0B777D"/>
                </a:solidFill>
                <a:latin typeface="Arial"/>
              </a:defRPr>
            </a:pPr>
            <a:r>
              <a:t>Objetivo: mejorar coincidencias. Riesgo: perder distinciones útiles.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6144768"/>
            <a:ext cx="10149840" cy="23774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3777F"/>
                </a:solidFill>
                <a:latin typeface="Arial"/>
              </a:defRPr>
            </a:pPr>
            <a:r>
              <a:t>Tema 2: diaps. 65–72.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Qué términos conservamos para buscar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10469880" cy="109728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40280"/>
            <a:ext cx="9948672" cy="47548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33641"/>
                </a:solidFill>
                <a:latin typeface="Arial"/>
              </a:defRPr>
            </a:pPr>
            <a:r>
              <a:t>D1: «La CHICA repara televisores.» → {chica, reparar, televisor}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92424"/>
            <a:ext cx="5074920" cy="173736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520440"/>
            <a:ext cx="4745736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Política amplia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023360"/>
            <a:ext cx="4745736" cy="978407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Conservar términos informativos, incluidos verbos.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3392424"/>
            <a:ext cx="5074920" cy="1737360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3520440"/>
            <a:ext cx="4745736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Política selectiva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4023360"/>
            <a:ext cx="4745736" cy="978407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Priorizar nombres o entidades según la tarea.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5669280"/>
            <a:ext cx="10241280" cy="47548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B93638"/>
                </a:solidFill>
                <a:latin typeface="Arial"/>
              </a:defRPr>
            </a:pPr>
            <a:r>
              <a:t>Si quitamos «reparar», perdemos la única coincidencia de D1 con la consulta.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Un recurso léxico puede ampliar la consulta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728216"/>
            <a:ext cx="10469880" cy="5669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233641"/>
                </a:solidFill>
                <a:latin typeface="Arial"/>
              </a:defRPr>
            </a:pPr>
            <a:r>
              <a:t>Tesauro o diccionario: relaciones explícitas entre términos.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633472"/>
            <a:ext cx="5102352" cy="2112264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761488"/>
            <a:ext cx="4773168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Sinonimia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264408"/>
            <a:ext cx="4773168" cy="13533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coche ↔ automóvil</a:t>
            </a:r>
          </a:p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Puede hacer coincidir D2 por el objeto.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633472"/>
            <a:ext cx="5102352" cy="2112264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761488"/>
            <a:ext cx="4773168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B777D"/>
                </a:solidFill>
                <a:latin typeface="Arial"/>
              </a:defRPr>
            </a:pPr>
            <a:r>
              <a:t>Jerarquía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64408"/>
            <a:ext cx="4773168" cy="13533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automóvil → vehículo</a:t>
            </a:r>
          </a:p>
          <a:p>
            <a:pPr>
              <a:spcAft>
                <a:spcPts val="600"/>
              </a:spcAft>
              <a:defRPr sz="1700" b="0">
                <a:solidFill>
                  <a:srgbClr val="233641"/>
                </a:solidFill>
                <a:latin typeface="Arial"/>
              </a:defRPr>
            </a:pPr>
            <a:r>
              <a:t>«Vehículo» es más amplio que «automóvil».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257800"/>
            <a:ext cx="1046988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B93638"/>
                </a:solidFill>
                <a:latin typeface="Arial"/>
              </a:defRPr>
            </a:pPr>
            <a:r>
              <a:t>Consulta «reparar coche»: en una búsqueda flexible, ampliar «coche» puede recuperar D2 por objeto, pero D2 vende. Más candidatos no significa más relevancia.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Representación dispersa y densa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554480"/>
            <a:ext cx="10789920" cy="47548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B93638"/>
                </a:solidFill>
                <a:latin typeface="Arial"/>
              </a:defRPr>
            </a:pPr>
            <a:r>
              <a:t>ACTUALIDAD  ·  Los transformers impulsan las representaciones densas.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59152"/>
            <a:ext cx="4754880" cy="38404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0B777D"/>
                </a:solidFill>
                <a:latin typeface="Arial"/>
              </a:defRPr>
            </a:pPr>
            <a:r>
              <a:t>DISPERSA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852928"/>
            <a:ext cx="4828032" cy="8961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33641"/>
                </a:solidFill>
                <a:latin typeface="Arial"/>
              </a:defRPr>
            </a:pPr>
            <a:r>
              <a:t>Una dimensión por término del vocabulario. Casi todos los pesos son cero.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886200"/>
            <a:ext cx="4800600" cy="69494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33641"/>
                </a:solidFill>
                <a:latin typeface="Arial"/>
              </a:defRPr>
            </a:pPr>
            <a:r>
              <a:t>D1: {chica: 1, reparar: 1, televisor: 1}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700016"/>
            <a:ext cx="4754880" cy="38404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B93638"/>
                </a:solidFill>
                <a:latin typeface="Arial"/>
              </a:defRPr>
            </a:pPr>
            <a:r>
              <a:t>DENSA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202936"/>
            <a:ext cx="4846320" cy="8503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33641"/>
                </a:solidFill>
                <a:latin typeface="Arial"/>
              </a:defRPr>
            </a:pPr>
            <a:r>
              <a:t>El modelo aprende vectores. La cercanía puede reflejar relaciones semánticas.</a:t>
            </a:r>
          </a:p>
        </p:txBody>
      </p:sp>
      <p:pic>
        <p:nvPicPr>
          <p:cNvPr id="14" name="Picture 13" descr="embedding_semantico_v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176272"/>
            <a:ext cx="5559552" cy="371246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06440" y="5971032"/>
            <a:ext cx="5577840" cy="31089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63777F"/>
                </a:solidFill>
                <a:latin typeface="Arial"/>
              </a:defRPr>
            </a:pPr>
            <a:r>
              <a:t>Esquema conceptual de un espacio de embeddings.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La consulta debe ser compatible con los documentos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" y="1865376"/>
            <a:ext cx="10488168" cy="1078992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194560"/>
            <a:ext cx="9957816" cy="47548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33641"/>
                </a:solidFill>
                <a:latin typeface="Arial"/>
              </a:defRPr>
            </a:pPr>
            <a:r>
              <a:t>D1 → {chica, reparar, televisor}  ·  D2 → {taller, vender, automóvil}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" y="3246120"/>
            <a:ext cx="10488168" cy="1078992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575304"/>
            <a:ext cx="9957816" cy="47548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0B777D"/>
                </a:solidFill>
                <a:latin typeface="Arial"/>
              </a:defRPr>
            </a:pPr>
            <a:r>
              <a:t>Consulta «reparar coche» → {reparar, coche, automóvil*}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4892040"/>
            <a:ext cx="10396728" cy="87782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33641"/>
                </a:solidFill>
                <a:latin typeface="Arial"/>
              </a:defRPr>
            </a:pPr>
            <a:r>
              <a:t>*Automóvil aparece solo si expandimos la consulta. D1 coincide en la acción; D2, en el objeto. Hay que estimar la relevancia.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Ahora, en el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19072"/>
            <a:ext cx="10561320" cy="768096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1865376"/>
            <a:ext cx="411480" cy="38404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B777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1837943"/>
            <a:ext cx="2267712" cy="42976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33641"/>
                </a:solidFill>
                <a:latin typeface="Arial"/>
              </a:defRPr>
            </a:pPr>
            <a:r>
              <a:t>Preparación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828800"/>
            <a:ext cx="7141464" cy="49377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33641"/>
                </a:solidFill>
                <a:latin typeface="Arial"/>
              </a:defRPr>
            </a:pPr>
            <a:r>
              <a:t>Abrir el notebook en Colab y comprobar los recursos.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2670048"/>
            <a:ext cx="10561320" cy="768096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2816352"/>
            <a:ext cx="411480" cy="38404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B777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788920"/>
            <a:ext cx="2267712" cy="42976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33641"/>
                </a:solidFill>
                <a:latin typeface="Arial"/>
              </a:defRPr>
            </a:pPr>
            <a:r>
              <a:t>Adquisición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779776"/>
            <a:ext cx="7141464" cy="49377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33641"/>
                </a:solidFill>
                <a:latin typeface="Arial"/>
              </a:defRPr>
            </a:pPr>
            <a:r>
              <a:t>robots.txt, scraping y documentos desde la API.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3621024"/>
            <a:ext cx="10561320" cy="768096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5" y="3767328"/>
            <a:ext cx="411480" cy="38404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B777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784" y="3739896"/>
            <a:ext cx="2267712" cy="42976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33641"/>
                </a:solidFill>
                <a:latin typeface="Arial"/>
              </a:defRPr>
            </a:pPr>
            <a:r>
              <a:t>Procesamiento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730752"/>
            <a:ext cx="7141464" cy="49377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33641"/>
                </a:solidFill>
                <a:latin typeface="Arial"/>
              </a:defRPr>
            </a:pPr>
            <a:r>
              <a:t>Segmentación, normalización, tokenización, stopwords y stemming.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4572000"/>
            <a:ext cx="10561320" cy="768096"/>
          </a:xfrm>
          <a:prstGeom prst="roundRect">
            <a:avLst/>
          </a:prstGeom>
          <a:solidFill>
            <a:srgbClr val="EEF7F7"/>
          </a:solidFill>
          <a:ln w="19050">
            <a:solidFill>
              <a:srgbClr val="0B7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" y="4718304"/>
            <a:ext cx="411480" cy="38404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B777D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4690872"/>
            <a:ext cx="2267712" cy="42976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33641"/>
                </a:solidFill>
                <a:latin typeface="Arial"/>
              </a:defRPr>
            </a:pPr>
            <a:r>
              <a:t>Representación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681728"/>
            <a:ext cx="7141464" cy="493776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33641"/>
                </a:solidFill>
                <a:latin typeface="Arial"/>
              </a:defRPr>
            </a:pPr>
            <a:r>
              <a:t>Palabras y n-gramas; comparar las unidades obtenidas.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559552"/>
            <a:ext cx="7159752" cy="43891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777D"/>
                </a:solidFill>
                <a:latin typeface="Arial"/>
              </a:defRPr>
            </a:pPr>
            <a:r>
              <a:t>Siguiente sesión: frecuencias y ley de Zipf.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5486400"/>
            <a:ext cx="3182112" cy="5577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3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5641848"/>
            <a:ext cx="2880360" cy="27432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B93638"/>
                </a:solidFill>
                <a:latin typeface="Arial"/>
              </a:defRPr>
            </a:pPr>
            <a:r>
              <a:t>Entrega en Moovi: 9 de octubre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46888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45720"/>
            <a:ext cx="7315200" cy="164592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Práctica 1 de Recuperación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78638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0B777D"/>
                </a:solidFill>
                <a:latin typeface="Arial"/>
              </a:defRPr>
            </a:pPr>
            <a:r>
              <a:t>Referencia principal de esta introducción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B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693408"/>
            <a:ext cx="457200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700" b="0">
                <a:solidFill>
                  <a:srgbClr val="FFFFFF"/>
                </a:solidFill>
                <a:latin typeface="Arial"/>
              </a:defRPr>
            </a:pPr>
            <a:r>
              <a:t>Erik Figueiral Alonso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292840" y="6693408"/>
            <a:ext cx="320040" cy="109728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r>
              <a:t>32</a:t>
            </a:r>
          </a:p>
        </p:txBody>
      </p:sp>
      <p:pic>
        <p:nvPicPr>
          <p:cNvPr id="8" name="Picture 7" descr="modern_ir_cover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3221956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1965960"/>
            <a:ext cx="6172200" cy="64008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B777D"/>
                </a:solidFill>
                <a:latin typeface="Arial"/>
              </a:defRPr>
            </a:pPr>
            <a:r>
              <a:t>Modern Information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770632"/>
            <a:ext cx="6108192" cy="73152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33641"/>
                </a:solidFill>
                <a:latin typeface="Arial"/>
              </a:defRPr>
            </a:pPr>
            <a:r>
              <a:t>The Concepts and Technology Behind Search</a:t>
            </a:r>
          </a:p>
          <a:p>
            <a:pPr>
              <a:spcAft>
                <a:spcPts val="600"/>
              </a:spcAft>
              <a:defRPr sz="2000" b="0">
                <a:solidFill>
                  <a:srgbClr val="233641"/>
                </a:solidFill>
                <a:latin typeface="Arial"/>
              </a:defRPr>
            </a:pPr>
            <a:r>
              <a:t>2.ª edición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785615"/>
            <a:ext cx="6108192" cy="100584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233641"/>
                </a:solidFill>
                <a:latin typeface="Arial"/>
              </a:defRPr>
            </a:pPr>
            <a:r>
              <a:t>Ricardo Baeza-Yates</a:t>
            </a:r>
          </a:p>
          <a:p>
            <a:pPr>
              <a:spcAft>
                <a:spcPts val="600"/>
              </a:spcAft>
              <a:defRPr sz="2100" b="1">
                <a:solidFill>
                  <a:srgbClr val="233641"/>
                </a:solidFill>
                <a:latin typeface="Arial"/>
              </a:defRPr>
            </a:pPr>
            <a:r>
              <a:t>Berthier Ribeiro-Neto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5129784"/>
            <a:ext cx="5989320" cy="685800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63777F"/>
                </a:solidFill>
                <a:latin typeface="Arial"/>
              </a:defRPr>
            </a:pPr>
            <a:r>
              <a:t>Base para la visión del sistema, los documentos, el crawling y el procesamiento textual.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6025896"/>
            <a:ext cx="5989320" cy="237744"/>
          </a:xfrm>
          <a:prstGeom prst="rect">
            <a:avLst/>
          </a:prstGeom>
          <a:noFill/>
        </p:spPr>
        <p:txBody>
          <a:bodyPr wrap="square" lIns="12700" rIns="12700" tIns="0" bIns="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3777F"/>
                </a:solidFill>
                <a:latin typeface="Arial"/>
              </a:defRPr>
            </a:pPr>
            <a:r>
              <a:t>Portada: sitio web oficial de los autores.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2026-09-17T18:36:47.5930000Z</dcterms:created>
  <dcterms:modified xsi:type="dcterms:W3CDTF">2026-09-17T18:36:47.5930000Z</dcterms:modified>
</coreProperties>
</file>