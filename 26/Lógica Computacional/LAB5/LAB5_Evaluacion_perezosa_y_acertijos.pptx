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c8351bb3034450d"/><Relationship Type="http://schemas.openxmlformats.org/officeDocument/2006/relationships/extended-properties" Target="/docProps/app.xml" Id="Rfdd1aa0f64e54d66"/><Relationship Type="http://schemas.openxmlformats.org/officeDocument/2006/relationships/officeDocument" Target="/ppt/presentation.xml" Id="R0fd4657511d54eb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572d30eb484368"/>
  </p:sldMasterIdLst>
  <p:sldIdLst>
    <p:sldId xmlns:r="http://schemas.openxmlformats.org/officeDocument/2006/relationships" id="256" r:id="Rd788ccc14b0d47a2"/>
    <p:sldId xmlns:r="http://schemas.openxmlformats.org/officeDocument/2006/relationships" id="257" r:id="R30ac87cf2a694227"/>
    <p:sldId xmlns:r="http://schemas.openxmlformats.org/officeDocument/2006/relationships" id="258" r:id="Rd1cb515fb2e54f64"/>
    <p:sldId xmlns:r="http://schemas.openxmlformats.org/officeDocument/2006/relationships" id="259" r:id="Rcf3daa6d10634996"/>
    <p:sldId xmlns:r="http://schemas.openxmlformats.org/officeDocument/2006/relationships" id="260" r:id="R83d200261a5e407e"/>
    <p:sldId xmlns:r="http://schemas.openxmlformats.org/officeDocument/2006/relationships" id="261" r:id="R0ebae90b486b4109"/>
    <p:sldId xmlns:r="http://schemas.openxmlformats.org/officeDocument/2006/relationships" id="262" r:id="R8902b72543e345a8"/>
    <p:sldId xmlns:r="http://schemas.openxmlformats.org/officeDocument/2006/relationships" id="263" r:id="R9ff119befcfe4c4f"/>
    <p:sldId xmlns:r="http://schemas.openxmlformats.org/officeDocument/2006/relationships" id="264" r:id="R3a3ee9d3952b492c"/>
    <p:sldId xmlns:r="http://schemas.openxmlformats.org/officeDocument/2006/relationships" id="265" r:id="R2322e4218d584b64"/>
    <p:sldId xmlns:r="http://schemas.openxmlformats.org/officeDocument/2006/relationships" id="266" r:id="Rca1bfae421fe4746"/>
    <p:sldId xmlns:r="http://schemas.openxmlformats.org/officeDocument/2006/relationships" id="267" r:id="R8e91562756e94384"/>
    <p:sldId xmlns:r="http://schemas.openxmlformats.org/officeDocument/2006/relationships" id="268" r:id="R7306afe8c8664d9d"/>
    <p:sldId xmlns:r="http://schemas.openxmlformats.org/officeDocument/2006/relationships" id="269" r:id="R4c1ee55caab64b7f"/>
    <p:sldId xmlns:r="http://schemas.openxmlformats.org/officeDocument/2006/relationships" id="270" r:id="Rb3cccc81a2e4404b"/>
    <p:sldId xmlns:r="http://schemas.openxmlformats.org/officeDocument/2006/relationships" id="271" r:id="R0cac0afb10304802"/>
    <p:sldId xmlns:r="http://schemas.openxmlformats.org/officeDocument/2006/relationships" id="272" r:id="R0861a34bfabe44f1"/>
    <p:sldId xmlns:r="http://schemas.openxmlformats.org/officeDocument/2006/relationships" id="273" r:id="R40c5cf307e26461f"/>
    <p:sldId xmlns:r="http://schemas.openxmlformats.org/officeDocument/2006/relationships" id="274" r:id="Readd379f75a04898"/>
    <p:sldId xmlns:r="http://schemas.openxmlformats.org/officeDocument/2006/relationships" id="275" r:id="R1da8542a3cee4f22"/>
    <p:sldId xmlns:r="http://schemas.openxmlformats.org/officeDocument/2006/relationships" id="276" r:id="R4e39a7a8d61d4c9d"/>
    <p:sldId xmlns:r="http://schemas.openxmlformats.org/officeDocument/2006/relationships" id="277" r:id="Rf7a0295e016b450d"/>
    <p:sldId xmlns:r="http://schemas.openxmlformats.org/officeDocument/2006/relationships" id="278" r:id="Re6af4f432aac43e8"/>
    <p:sldId xmlns:r="http://schemas.openxmlformats.org/officeDocument/2006/relationships" id="279" r:id="R7c1b2f028ecb40f7"/>
    <p:sldId xmlns:r="http://schemas.openxmlformats.org/officeDocument/2006/relationships" id="280" r:id="Raa2719160a6d4d9e"/>
    <p:sldId xmlns:r="http://schemas.openxmlformats.org/officeDocument/2006/relationships" id="281" r:id="R027f3cf199454911"/>
    <p:sldId xmlns:r="http://schemas.openxmlformats.org/officeDocument/2006/relationships" id="282" r:id="Rebc271da8e28460c"/>
    <p:sldId xmlns:r="http://schemas.openxmlformats.org/officeDocument/2006/relationships" id="283" r:id="R68c6513c1af044a4"/>
    <p:sldId xmlns:r="http://schemas.openxmlformats.org/officeDocument/2006/relationships" id="284" r:id="Rdcfb2b4d17644509"/>
    <p:sldId xmlns:r="http://schemas.openxmlformats.org/officeDocument/2006/relationships" id="285" r:id="R877274c69f244855"/>
    <p:sldId xmlns:r="http://schemas.openxmlformats.org/officeDocument/2006/relationships" id="286" r:id="R347597dd59194179"/>
    <p:sldId xmlns:r="http://schemas.openxmlformats.org/officeDocument/2006/relationships" id="287" r:id="R39d1160c735d4d81"/>
    <p:sldId xmlns:r="http://schemas.openxmlformats.org/officeDocument/2006/relationships" id="288" r:id="Re173b440f0744a76"/>
    <p:sldId xmlns:r="http://schemas.openxmlformats.org/officeDocument/2006/relationships" id="289" r:id="Rc464800a612d479f"/>
    <p:sldId xmlns:r="http://schemas.openxmlformats.org/officeDocument/2006/relationships" id="290" r:id="R613ebd3f213144b1"/>
    <p:sldId xmlns:r="http://schemas.openxmlformats.org/officeDocument/2006/relationships" id="291" r:id="Rf26ea5ceef0042c1"/>
    <p:sldId xmlns:r="http://schemas.openxmlformats.org/officeDocument/2006/relationships" id="292" r:id="Rbd907dd1b53f4f69"/>
    <p:sldId xmlns:r="http://schemas.openxmlformats.org/officeDocument/2006/relationships" id="293" r:id="Rbcc0e29aed944e57"/>
  </p:sldIdLst>
  <p:sldSz cx="11704320" cy="65836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fcdc1bb1dd24f1c"/><Relationship Type="http://schemas.openxmlformats.org/officeDocument/2006/relationships/slideMaster" Target="/ppt/slideMasters/slideMaster1.xml" Id="Rb0572d30eb484368"/><Relationship Type="http://schemas.openxmlformats.org/officeDocument/2006/relationships/presProps" Target="/ppt/presProps.xml" Id="Ra11fc46e7e2b4a0d"/><Relationship Type="http://schemas.openxmlformats.org/officeDocument/2006/relationships/tableStyles" Target="/ppt/tableStyles.xml" Id="Rb5075f745ab447be"/><Relationship Type="http://schemas.openxmlformats.org/officeDocument/2006/relationships/slide" Target="/ppt/slides/slide1.xml" Id="Rd788ccc14b0d47a2"/><Relationship Type="http://schemas.openxmlformats.org/officeDocument/2006/relationships/slide" Target="/ppt/slides/slide2.xml" Id="R30ac87cf2a694227"/><Relationship Type="http://schemas.openxmlformats.org/officeDocument/2006/relationships/slide" Target="/ppt/slides/slide3.xml" Id="Rd1cb515fb2e54f64"/><Relationship Type="http://schemas.openxmlformats.org/officeDocument/2006/relationships/slide" Target="/ppt/slides/slide4.xml" Id="Rcf3daa6d10634996"/><Relationship Type="http://schemas.openxmlformats.org/officeDocument/2006/relationships/slide" Target="/ppt/slides/slide5.xml" Id="R83d200261a5e407e"/><Relationship Type="http://schemas.openxmlformats.org/officeDocument/2006/relationships/slide" Target="/ppt/slides/slide6.xml" Id="R0ebae90b486b4109"/><Relationship Type="http://schemas.openxmlformats.org/officeDocument/2006/relationships/slide" Target="/ppt/slides/slide7.xml" Id="R8902b72543e345a8"/><Relationship Type="http://schemas.openxmlformats.org/officeDocument/2006/relationships/slide" Target="/ppt/slides/slide8.xml" Id="R9ff119befcfe4c4f"/><Relationship Type="http://schemas.openxmlformats.org/officeDocument/2006/relationships/slide" Target="/ppt/slides/slide9.xml" Id="R3a3ee9d3952b492c"/><Relationship Type="http://schemas.openxmlformats.org/officeDocument/2006/relationships/slide" Target="/ppt/slides/slide10.xml" Id="R2322e4218d584b64"/><Relationship Type="http://schemas.openxmlformats.org/officeDocument/2006/relationships/slide" Target="/ppt/slides/slide11.xml" Id="Rca1bfae421fe4746"/><Relationship Type="http://schemas.openxmlformats.org/officeDocument/2006/relationships/slide" Target="/ppt/slides/slide12.xml" Id="R8e91562756e94384"/><Relationship Type="http://schemas.openxmlformats.org/officeDocument/2006/relationships/slide" Target="/ppt/slides/slide13.xml" Id="R7306afe8c8664d9d"/><Relationship Type="http://schemas.openxmlformats.org/officeDocument/2006/relationships/slide" Target="/ppt/slides/slide14.xml" Id="R4c1ee55caab64b7f"/><Relationship Type="http://schemas.openxmlformats.org/officeDocument/2006/relationships/slide" Target="/ppt/slides/slide15.xml" Id="Rb3cccc81a2e4404b"/><Relationship Type="http://schemas.openxmlformats.org/officeDocument/2006/relationships/slide" Target="/ppt/slides/slide16.xml" Id="R0cac0afb10304802"/><Relationship Type="http://schemas.openxmlformats.org/officeDocument/2006/relationships/slide" Target="/ppt/slides/slide17.xml" Id="R0861a34bfabe44f1"/><Relationship Type="http://schemas.openxmlformats.org/officeDocument/2006/relationships/slide" Target="/ppt/slides/slide18.xml" Id="R40c5cf307e26461f"/><Relationship Type="http://schemas.openxmlformats.org/officeDocument/2006/relationships/slide" Target="/ppt/slides/slide19.xml" Id="Readd379f75a04898"/><Relationship Type="http://schemas.openxmlformats.org/officeDocument/2006/relationships/slide" Target="/ppt/slides/slide20.xml" Id="R1da8542a3cee4f22"/><Relationship Type="http://schemas.openxmlformats.org/officeDocument/2006/relationships/slide" Target="/ppt/slides/slide21.xml" Id="R4e39a7a8d61d4c9d"/><Relationship Type="http://schemas.openxmlformats.org/officeDocument/2006/relationships/slide" Target="/ppt/slides/slide22.xml" Id="Rf7a0295e016b450d"/><Relationship Type="http://schemas.openxmlformats.org/officeDocument/2006/relationships/slide" Target="/ppt/slides/slide23.xml" Id="Re6af4f432aac43e8"/><Relationship Type="http://schemas.openxmlformats.org/officeDocument/2006/relationships/slide" Target="/ppt/slides/slide24.xml" Id="R7c1b2f028ecb40f7"/><Relationship Type="http://schemas.openxmlformats.org/officeDocument/2006/relationships/slide" Target="/ppt/slides/slide25.xml" Id="Raa2719160a6d4d9e"/><Relationship Type="http://schemas.openxmlformats.org/officeDocument/2006/relationships/slide" Target="/ppt/slides/slide26.xml" Id="R027f3cf199454911"/><Relationship Type="http://schemas.openxmlformats.org/officeDocument/2006/relationships/slide" Target="/ppt/slides/slide27.xml" Id="Rebc271da8e28460c"/><Relationship Type="http://schemas.openxmlformats.org/officeDocument/2006/relationships/slide" Target="/ppt/slides/slide28.xml" Id="R68c6513c1af044a4"/><Relationship Type="http://schemas.openxmlformats.org/officeDocument/2006/relationships/slide" Target="/ppt/slides/slide29.xml" Id="Rdcfb2b4d17644509"/><Relationship Type="http://schemas.openxmlformats.org/officeDocument/2006/relationships/slide" Target="/ppt/slides/slide30.xml" Id="R877274c69f244855"/><Relationship Type="http://schemas.openxmlformats.org/officeDocument/2006/relationships/slide" Target="/ppt/slides/slide31.xml" Id="R347597dd59194179"/><Relationship Type="http://schemas.openxmlformats.org/officeDocument/2006/relationships/slide" Target="/ppt/slides/slide32.xml" Id="R39d1160c735d4d81"/><Relationship Type="http://schemas.openxmlformats.org/officeDocument/2006/relationships/slide" Target="/ppt/slides/slide33.xml" Id="Re173b440f0744a76"/><Relationship Type="http://schemas.openxmlformats.org/officeDocument/2006/relationships/slide" Target="/ppt/slides/slide34.xml" Id="Rc464800a612d479f"/><Relationship Type="http://schemas.openxmlformats.org/officeDocument/2006/relationships/slide" Target="/ppt/slides/slide35.xml" Id="R613ebd3f213144b1"/><Relationship Type="http://schemas.openxmlformats.org/officeDocument/2006/relationships/slide" Target="/ppt/slides/slide36.xml" Id="Rf26ea5ceef0042c1"/><Relationship Type="http://schemas.openxmlformats.org/officeDocument/2006/relationships/slide" Target="/ppt/slides/slide37.xml" Id="Rbd907dd1b53f4f69"/><Relationship Type="http://schemas.openxmlformats.org/officeDocument/2006/relationships/slide" Target="/ppt/slides/slide38.xml" Id="Rbcc0e29aed944e57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bf2d2a3fccb465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2f2a453c81a44ace"/><Relationship Type="http://schemas.openxmlformats.org/officeDocument/2006/relationships/slideLayout" Target="/ppt/slideLayouts/slideLayout1.xml" Id="R84d3e81d51a0472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d3e81d51a0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d22a4860a574d0d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590a417c7c74614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54ec66213044cea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da67008dda84ce1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da6edcb07544cfb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9c34aa4926e43d3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bc1b90bdc5345f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3a87bd5c3d642bb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9ed462fe2e64921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0603ba4cb324fd3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79fe1651ff94188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81c72c4950b4dff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cd96b82427d45c4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093150ef2642a0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5811cde739949ed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c87c8c53ca1465f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1acbb76c0ca4880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e3cf77f853d4439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7f05a812efd4726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b1ef6bea54d40c8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1f81cbe1cde47f6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929cf81b91f4540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117e2469f92420c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112a21fef1b4691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625b35d73eb4d0e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d424cc462134f9b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30380d1e45d4b1c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297ea48de744354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abc175fa15a4c75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4cad476ad184fd0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f6b416fe9374d41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ac86b6084974cf6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2d54fc159004109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30c9ac9990f411b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e6478f741e840eb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a53a2b311464a99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9d40e24cbd743ce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5a67e72d4db4f5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Práctica 5 de Lógica Computacional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59BD4F6-6C1C-4D50-A76A-77BC308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Evaluación perezosa</a:t>
            </a:r>
          </a:p>
          <a:p xmlns:a="http://schemas.openxmlformats.org/drawingml/2006/main">
            <a: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y acertijos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38D685F7-0A7C-4090-BF24-B11D903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Negación por fallo, suspensión y búsqueda de soluciones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A90619E3-8D2A-4F5F-A757-7A9CA297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557A0366-4C07-4DFF-B2A9-FF33F08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26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3A4D7F1A-98E5-46C0-86A9-83C50293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1   Negación por fallo y evaluación perezosa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FC674325-5D3B-4150-8BE1-82D1D06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2   Acertijos: describir el problema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AFC06B6-6654-42CD-995A-8141359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Material de trabajo: Perezosa y Acertijos.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fail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fail/0: fallar y volver atrás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195EF-91FE-462A-BF41-6A968A9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883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931E0A95-0011-4C9A-91F2-C76406A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fail.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5D390BC-00E0-48CD-A836-E624AF8C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7885"/>
            <a:ext cx="102870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false.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A13C5729-D964-48E6-89DA-7D48A91F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fail siempre falla. Prolog retrocede al último punto</a:t>
            </a:r>
          </a:p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alternativas pendientes e intenta otra opción.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57B0F-48EB-41F9-9728-7F3212AE797B}"/>
              </a:ext>
            </a:extLst>
          </p:cNvPr>
          <p:cNvGraphicFramePr/>
          <p:nvPr/>
        </p:nvGraphicFramePr>
        <p:xfrm>
          <a:off xmlns:a="http://schemas.openxmlformats.org/drawingml/2006/main" x="822960" y="4238625"/>
          <a:ext xmlns:a="http://schemas.openxmlformats.org/drawingml/2006/main" cx="100584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77150"/>
              </a:tblGrid>
              <a:tr h="4095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Predicado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Efecto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Hace fallar la rama actual.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!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Descarta alternativas dentro de su alcance.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549EC626-C666-48AC-AE7B-94B0FA11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fail no poda alternativas por sí solo.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fail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 fallo permite probar otra alternativa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B8434-B16A-4EFE-82A3-C13431F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4229100" cy="859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89687125-AEF8-44BE-8A31-16082CD1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40005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 :- fail.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3C44E55-7D7A-4BEA-8BE4-DC82D0C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0443"/>
            <a:ext cx="40005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033FC769-4078-4CBC-B831-7116E1DE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2C149-07AE-469E-A75B-B16A404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0250" y="2495550"/>
            <a:ext cx="16192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26C4D69B-04FA-449E-AB12-1ECEEAD7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6513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6F977-D3B3-4903-B880-75F26C2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0" y="2495550"/>
            <a:ext cx="20955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62677EE-5075-455E-ADCF-E8F49B0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6513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C38B3894-232B-49D1-9547-31BE110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fail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CC545748-4640-49C1-8894-A20EB499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81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7F7B0-1047-42C2-BDE7-1FB6976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4324350" cy="83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15D5D9EA-2BEC-4F11-B534-0CF0B49C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409575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p.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9D44CEE0-7116-4C56-AEC0-0F2D9A9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0501"/>
            <a:ext cx="409575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true.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2200710A-894D-4AC4-9C01-7DECE9B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96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Falla la primera cláusula.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segunda todavía puede responder.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Negación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Cómo se implementa la negación por fallo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28366-2FC3-417D-AAEA-D86B4E9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883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63A25F35-40BD-4214-9780-E0E38E6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not(P) :- call(P), </a:t>
            </a:r>
            <a:r>
              <a:rPr sz="22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fail.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ECD6A35-83A4-4417-81FC-48DCA4E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3135"/>
            <a:ext cx="102870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not(_).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73BE9-6A2B-46B5-AFEC-727AD38BFC64}"/>
              </a:ext>
            </a:extLst>
          </p:cNvPr>
          <p:cNvGraphicFramePr/>
          <p:nvPr/>
        </p:nvGraphicFramePr>
        <p:xfrm>
          <a:off xmlns:a="http://schemas.openxmlformats.org/drawingml/2006/main" x="822960" y="3238500"/>
          <a:ext xmlns:a="http://schemas.openxmlformats.org/drawingml/2006/main" cx="100584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54864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 intentar P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hace not(P)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 tiene algún éxito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Ejecuta ! y fail: la negación falla.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 falla tras agotar su búsqueda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Llega a not(_): la negación tiene éxito.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9C709C6D-0329-48BA-A872-08D671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Esquema didáctico. En SWI-Prolog se utiliza también \+ P.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7B439A44-E52D-4720-9675-D26B64B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Referencia: fichero Perezosa. call(P) ejecuta el objetivo P.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Negación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Si P tiene éxito: corte y fallo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42955F73-DD98-4C2F-A26D-43BD2E86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not(europea(opel))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97273-8940-43F3-9AAE-9F173AEC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333750" y="2305050"/>
            <a:ext cx="23812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7D95ADA-6BAE-44B5-912D-B0C71945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19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BEC72-99A6-4256-AFCC-34B632C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305050"/>
            <a:ext cx="342900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BB1B7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A94662AD-4D6E-4C34-8B34-09A93E0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19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1B7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779F6538-3F17-4F72-AB60-D6C02152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europea(opel)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A34EB786-A66E-4148-81A0-C1E1872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BB1B7"/>
                </a:solidFill>
                <a:latin typeface="Consolas"/>
                <a:ea typeface="Consolas"/>
                <a:cs typeface="Consolas"/>
              </a:rPr>
              <a:t>not(_) → true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2DE1E-0F1F-4879-BA08-CBABD69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72375" y="25717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94E9D-3438-42F0-8F1A-F32EEE9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72375" y="25717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B63FE-D244-4304-BD5B-ECDACFF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49567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E83FCB0D-25D2-4F8B-9415-029DB166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  →  fail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C61854E7-8CB2-4B39-9B0F-4AC5DE58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corte descarta otras pruebas de P y la segunda regla de not.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Después, fail hace fracasar esta llamada a not.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Negación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Si P falla: la negación tiene éxito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C031B7C-D6AF-4282-B9AE-8BC5785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66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not(europea(dodge))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7D882-9B0B-491F-887F-861EEF33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8000" y="2352675"/>
            <a:ext cx="26670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0635E74B-A135-4D97-AB04-8764C67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CE215-20D0-4DED-A60F-ECFA753A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352675"/>
            <a:ext cx="32385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1BC5913A-2741-4600-B57F-A84830C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840A392F-4F96-47D7-A597-E3C23D3F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europea(dodge)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75A88C6B-9386-4E27-95E6-5936EAC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not(_) → true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A831603E-3779-4A97-B4E4-8B4BC1E9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7C2FEC81-C739-421D-B3BF-DF402A79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No se llega al corte: la primera regla falla antes.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Prolog prueba la segunda regla y responde true.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052253BE-9EBE-4198-B909-5C549984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No poder demostrar P no equivale siempre a demostrar su falsedad.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Negación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Negar exige saber qué estamos preguntando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9843B-7A80-49B5-8F76-0AF724CDB20B}"/>
              </a:ext>
            </a:extLst>
          </p:cNvPr>
          <p:cNvGraphicFramePr/>
          <p:nvPr/>
        </p:nvGraphicFramePr>
        <p:xfrm>
          <a:off xmlns:a="http://schemas.openxmlformats.org/drawingml/2006/main" x="822960" y="1857375"/>
          <a:ext xmlns:a="http://schemas.openxmlformats.org/drawingml/2006/main" cx="10058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5816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Lectura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not(europea(dodge))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 se puede demostrar que dodge sea europea.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not(europea(Marca))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 existe una Marca demostrable como europea.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4A3E7A34-1BF0-4038-9367-3C5A5C8B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Marca libre, Prolog busca cualquier marca europea.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encuentra opel, la negación falla por completo.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No enumera las marcas que no son europeas.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BD84F2E-604F-445B-97B9-08371B1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La interpretación depende de la información y del modo de consulta.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Coches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Coches: ¿qué responde este programa?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4781C-F003-4562-A3EA-D5769D27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1469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ACE116DC-1FDB-44F8-946E-8DF4ED6E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coche(dodge,caliber).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1A33B842-528A-4265-B2E2-170A57AA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9605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coche(opel,corsa).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D6EC940E-E661-4CB2-BE96-2A85AFD8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524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coche(toyota,prius).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260E89E8-EA7F-4B83-B156-1A9A8D0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54427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europea(opel).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A29CA-D863-48E5-8B6E-516CC09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515600" cy="81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8F9C055-515E-476A-A11F-86B93E1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comprar(Marca,Modelo) :-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AF2C143C-8BFC-4CC3-8A32-6543EDE4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580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not(europea(Marca)), coche(Marca,Modelo).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053AE-FAEB-423E-847A-C5545A2D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156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24CE6F4F-51E7-463E-A7DC-842EE1A1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comprar(X,Y).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392A7FC5-AB67-4F63-8CE6-7BC7AFA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Antes de ejecutarlo, decide cuándo recibe un valor Marca.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Coches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Por qué comprar(X,Y) devuelve false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E1700868-8896-4273-A0AF-A75B6DA4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comprar(X,Y)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90153-7204-4B2C-A2C9-2D953E4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3050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9478FD7-89B7-4BB8-8F7D-021D6E4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not(europea(X))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27E3E-71A0-47F4-A3A5-7E49A06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3352800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2C4FB413-3A14-4C6E-8E33-B885B76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europea(X): X = opel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1E90C38F-EE05-40B5-921D-E8FDF04D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  →  fail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460193FB-9AD6-4E80-A844-937462E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3232"/>
                </a:solidFill>
                <a:latin typeface="Arial"/>
                <a:ea typeface="Arial"/>
                <a:cs typeface="Arial"/>
              </a:rPr>
              <a:t>coche(X,Y) ni siquiera llega a ejecutarse.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DD8C1-970C-4AD5-B664-954D5FC3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10515600" cy="4328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F6F6DC96-91F6-413C-84C9-6D3BC45C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10287000" cy="308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comprar(X,Y).  % false.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Coches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Primera solución: generar antes de comprobar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B3129-6C6A-4F1A-A9C5-BE07DBC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83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21DF7C8F-B7AC-4AF8-A6D3-A4B311F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comprar(Marca,Modelo)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C66F2C4-6827-4709-AC41-2CC87C0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35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coche(Marca,Modelo), not(europea(Marca)).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6AF8E-9D29-40A4-96D5-5E674EA746C2}"/>
              </a:ext>
            </a:extLst>
          </p:cNvPr>
          <p:cNvGraphicFramePr/>
          <p:nvPr/>
        </p:nvGraphicFramePr>
        <p:xfrm>
          <a:off xmlns:a="http://schemas.openxmlformats.org/drawingml/2006/main" x="822960" y="3143250"/>
          <a:ext xmlns:a="http://schemas.openxmlformats.org/drawingml/2006/main" cx="100584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52959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coche/2 propone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not(europea(Marca))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dodge, caliber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Tiene éxito. Se conserva.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opel, corsa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Falla. Se busca otro coche.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toyota, prius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Tiene éxito. Se conserva.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DEC73-F8B7-4957-BE96-23BBAE9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38775"/>
            <a:ext cx="1051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5CC8BC0D-CE3A-45A8-93F9-1AFD48BE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dodge, Y = caliber ;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96DFF654-A99C-452B-B4F3-6B8C574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93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toyota, Y = prius ; false.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Suspensión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Esperar al dato que falta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C497A318-9776-4BEA-B9C4-5D3365DB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En una ventanilla te falta un documento. Tu trámite queda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pendiente mientras se atienden otros. Cuando aportas el documento,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 retoma el trámite que estaba esperando.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E02A5-6A2F-4035-AD7E-304028960DC1}"/>
              </a:ext>
            </a:extLst>
          </p:cNvPr>
          <p:cNvGraphicFramePr/>
          <p:nvPr/>
        </p:nvGraphicFramePr>
        <p:xfrm>
          <a:off xmlns:a="http://schemas.openxmlformats.org/drawingml/2006/main" x="822960" y="3524250"/>
          <a:ext xmlns:a="http://schemas.openxmlformats.org/drawingml/2006/main" cx="100584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52959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sucede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Falta un valor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suspende un objetivo.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ejecutan otros objetivos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Pueden proporcionar ese valor.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cumple la condición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reactiva el objetivo pendiente.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33499AF-6415-45CF-878E-8B2FEF1F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No se espera un número fijo de pasos. Se espera una condición.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when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when/2: condición de activación y objetivo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FF7D2-3CE5-4916-855A-CEBBB45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76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AD314A5E-D1A3-4EA9-A70B-08AA9AA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:- use_module(library(when)).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CE941AE-29B5-42BC-876A-08AD999D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35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E6D0694-8850-42C6-8003-490E501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4877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when(nonvar(Marca), not(europea(Marca)))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45860AE5-BC6E-4B5C-9F05-DA36D98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Primer argumento: condición de activación admitida por when/2.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Segundo argumento: objetivo que se ejecutará al cumplirse.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F22DF-0FBC-46D5-A2B4-13E5CE845D4E}"/>
              </a:ext>
            </a:extLst>
          </p:cNvPr>
          <p:cNvGraphicFramePr/>
          <p:nvPr/>
        </p:nvGraphicFramePr>
        <p:xfrm>
          <a:off xmlns:a="http://schemas.openxmlformats.org/drawingml/2006/main" x="822960" y="4524375"/>
          <a:ext xmlns:a="http://schemas.openxmlformats.org/drawingml/2006/main" cx="100584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5105400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de Marca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Ejecución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Variable libre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Suspende la negación y permite continuar.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Un átomo, como dodge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Ejecuta la negación inmediatamente.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9CD78F58-F1E8-46BF-8E47-436878B2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SWI-Prolog: swi-prolog.org/pldoc/man?predicate=when/2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when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Comprar con when/2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88153-9209-4399-B6DF-47FEA26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A80C64E5-6EF3-41AF-8BDE-BB3CDE0F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puedo_comprar(Marca,Modelo)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1E34EC78-4220-4A44-AF5E-B2F3F0F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130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when(nonvar(Marca), not(europea(Marca))),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13F96F89-C6FF-4763-8C6A-41E02E3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049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coche(Marca,Modelo).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55AB8-6A4E-4252-9833-4A60DEE12EB9}"/>
              </a:ext>
            </a:extLst>
          </p:cNvPr>
          <p:cNvGraphicFramePr/>
          <p:nvPr/>
        </p:nvGraphicFramePr>
        <p:xfrm>
          <a:off xmlns:a="http://schemas.openxmlformats.org/drawingml/2006/main" x="822960" y="3381375"/>
          <a:ext xmlns:a="http://schemas.openxmlformats.org/drawingml/2006/main" cx="100584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2484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Situación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1. when/2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Marca libre: deja pendiente la negación.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2. coche/2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Propone dodge y caliber.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3. Se activa el objetivo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not(europea(dodge)) tiene éxito.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32EBB-9D4B-4663-ACD0-A1DBD590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53025"/>
            <a:ext cx="10515600" cy="1030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16E8C4A7-1C60-4119-923D-FC98B67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0287000" cy="321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puedo_comprar(X,Y).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621E9B9E-7240-47F6-8BD8-49D07D91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31358"/>
            <a:ext cx="10287000" cy="321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dodge, Y = caliber ;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679617CD-2555-43B0-B5B8-0938676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3966"/>
            <a:ext cx="10287000" cy="321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toyota, Y = prius ; false.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when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La suspensión se reactiva en cada alternativa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602ABB9-EB9E-4D84-AA92-9E49DEB9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621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coche(Marca,Modelo)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D1CC5-ECE5-44AD-8886-221F18D8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286000" y="2447925"/>
            <a:ext cx="34290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39230-1348-4B18-AF53-F176B54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447925"/>
            <a:ext cx="952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1D3FF-6E2A-481C-AA25-8D5294E1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447925"/>
            <a:ext cx="376237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7A2E128D-B2F6-43C2-8A53-BA4E6B7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dodge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C3CAAF7D-114F-4053-BC42-21449807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opel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2CABAA1-DA26-46AF-81A8-5E796F0C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toyota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F50F7291-7F98-42ED-85D4-13E8CB2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not(europea(...))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EF976B6B-1489-479A-AA3C-AA920463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not(europea(...))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DDECDBFE-8DC7-4985-AB37-517A4B2F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not(europea(...))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B032BB61-9960-4D81-B40A-F4A0D26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27474493-C178-47AC-9862-45E85DC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6077AA6D-29A2-4F25-912E-76F689BA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72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4397E4A6-3B38-434F-94F0-05860047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El fallo de opel permite volver a coche/2 y probar toyota.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freeze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freeze/2: esperar a que una variable deje de serlo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604A8-1C65-4341-897A-C9B49CAA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39F3A298-23F3-4E6E-8128-95395A3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puedo_comprar(Marca,Modelo)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EEEDEE2-FAFD-47A9-8622-C96E021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130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freeze(Marca, not(europea(Marca))),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CE3D2BC-E235-4005-A6BC-849A2ED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049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coche(Marca,Modelo).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3E553-4A5C-4E1F-BDBE-B0DE582F7B77}"/>
              </a:ext>
            </a:extLst>
          </p:cNvPr>
          <p:cNvGraphicFramePr/>
          <p:nvPr/>
        </p:nvGraphicFramePr>
        <p:xfrm>
          <a:off xmlns:a="http://schemas.openxmlformats.org/drawingml/2006/main" x="822960" y="3524250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724400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 este caso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Mismo criterio de activación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freeze(Marca, Objetivo)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Espera a que Marca no sea variable.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when(nonvar(Marca), Objetivo)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Espera a que nonvar(Marca) sea cierto.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390AEEFB-ABA6-4008-983E-D9C82DD6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Si Marca ya tiene un valor, el objetivo se ejecuta en ese momento.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BAD8CA4-DC9E-446C-AE95-5298D40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SWI-Prolog: swi-prolog.org/pldoc/man?predicate=freeze/2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Suspensión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Suspender no equivale a resolver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2D6CA-A6CA-47DE-BB78-7F8BE6C8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24025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14906D8E-7C46-4C40-96AE-F8A83950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freeze(X, X = permitido).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D0F82BE-63DD-4A32-8BAD-8C4593C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ningún objetivo proporciona un valor a X, la condición queda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pendiente. La consola puede mostrar un objetivo residual.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07478-4A1A-4C4D-8B60-F3EE260F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14775"/>
            <a:ext cx="10515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40887175-9AB9-4C3A-A7BD-1EAD60E8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freeze(X, X = permitido), X = permitido.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251B9909-D8A1-4251-A7FB-6779ADB3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permitido.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A95DEE5-0B70-4C05-93A8-D944D45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01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4FE0A453-27AF-476B-8FFF-4A12A93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149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freeze(X, X = permitido), X = prohibido.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E40FAFA6-FC36-4A5E-812F-2B23EE40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Suspensión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nonvar/1 no significa «sin ninguna variable»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7BA91-F885-4998-9925-F58E92A21CF8}"/>
              </a:ext>
            </a:extLst>
          </p:cNvPr>
          <p:cNvGraphicFramePr/>
          <p:nvPr/>
        </p:nvGraphicFramePr>
        <p:xfrm>
          <a:off xmlns:a="http://schemas.openxmlformats.org/drawingml/2006/main" x="822960" y="1809750"/>
          <a:ext xmlns:a="http://schemas.openxmlformats.org/drawingml/2006/main" cx="100584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505075"/>
                <a:gridCol w="2505075"/>
              </a:tblGrid>
              <a:tr h="4095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Término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nonvar/1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ground/1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Marca libre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dodge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marca(X)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D9D4A569-5724-4B57-A6D4-460C769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Para nuestras marcas, que son átomos, nonvar(Marca) basta.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el objetivo necesita un término totalmente instanciado,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when(ground(Termino), Objetivo) expresa esa condición.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C3F0926D-B5DE-4702-9795-3F69C0FE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SWI-Prolog: condiciones de when/2.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soltero/1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3DB23-3771-4EAE-9BC8-8939DC90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28775"/>
            <a:ext cx="10515600" cy="17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78D5E4BB-FE23-469E-891D-AA9D797F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casado(juan).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3FED593-45A3-4593-87EA-A50D6C5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3684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varon(juan).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D04BCE27-5BEF-4980-AB26-5D6F580B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72868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varon(pepe).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5839890B-27A6-4FF8-A7F0-D6F61DE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02052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DFD3F8A-078D-401F-AEB0-0C11B6B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1236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soltero(P) :- not(casado(P)), varon(P).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6EA54-96C9-48B4-BB7F-1F5BA35D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67150"/>
            <a:ext cx="105156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F9A9B12B-A60B-4D6B-A883-1D10CFE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soltero(X).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78C6A91B-934A-459F-B597-37A9C7B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Explica el resultado y escribe tres versiones: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cambiando el orden, con when/2 y con freeze/2.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651D1DDE-B3D8-4D3D-B6C0-2F0DCF0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Modelo simplificado del fichero: se usa solo esta base de hechos.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tres formas de consultar soltero/1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1F76D-05AD-4C84-93C3-C8755D8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26576784-322D-4BC9-8EBB-9AC4F60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soltero_orden(P)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1E44C83E-0E33-4FEC-9E83-130AAAC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varon(P), not(casado(P)).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0FDF2FF-EFAF-4E63-8D8B-25E1400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764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F632A845-0F44-471C-871E-3EE124A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12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soltero_when(P) :-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8E0925B7-8487-4E44-9AB8-1A63922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60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when(nonvar(P), not(casado(P))), varon(P).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D3E25D2D-2E66-4E1B-A0BF-7A9C759B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3E081174-0DA6-4F45-A7A4-EC202FE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956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soltero_freeze(P) :-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69F7A223-8701-40A0-A059-BEFC08C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freeze(P, not(casado(P))), varon(P).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D1C14FCB-BBCB-47FA-80B2-15FFC17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versión original devuelve false: casado(X) encuentra juan.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Las tres versiones corregidas obtienen X = pepe.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Otro problema: recursividad por la izquierda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7004C-4A56-4087-BBF9-408E16F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76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F652EEDF-DE7D-4DBD-8387-36D40A09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humano(X) :- humano(Y), madre(X,Y).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0D45F4C8-294E-48EA-B2C8-BEB392F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35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humano(elena).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5EC3D6E5-9629-4E93-A5B8-7284044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4877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madre(juan,elena).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BC145EE3-E30F-4395-AFF8-C748861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Aquí madre(Hijo, Madre) relaciona al hijo con su madre.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intención: alguien es humano si su madre es humana.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8344F-492C-4F4C-BF5A-D5C7318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3266FC90-2582-4AFD-9DE3-78B912E9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humano(juan).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095D4423-E44E-4187-ABB7-4F0EFAA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3232"/>
                </a:solidFill>
                <a:latin typeface="Arial"/>
                <a:ea typeface="Arial"/>
                <a:cs typeface="Arial"/>
              </a:rPr>
              <a:t>Con este orden, la búsqueda no llega a responder.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El árbol crece sin consultar madre/2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5758932-FC55-4C4E-9B18-DBAC65ED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19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humano(juan)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AE82-8A25-4BBB-BDC6-70F8016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225742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D95A558-1F7E-4FB8-A94D-9860FCD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humano(Y1), madre(juan,Y1)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E82ED-3BEA-400C-B2CF-376BF2D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3257550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9793F189-A50D-4F05-8548-6FEAE2C8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humano(Y2), madre(Y1,Y2), 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AE7C2-58BA-4570-BD2A-C0A7030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42576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386B5D4F-B8DB-4899-8D26-27DFBE9C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19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humano(Y3), madre(Y2,Y3), ...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231581E2-63A8-42D2-ABF5-2E90C8E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3232"/>
                </a:solidFill>
                <a:latin typeface="Arial"/>
                <a:ea typeface="Arial"/>
                <a:cs typeface="Arial"/>
              </a:rPr>
              <a:t>Siempre se elige primero otra llamada recursiva. No avanza la búsqueda.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8A47E99F-C0FA-4581-8ADD-96AEA123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Rama izquierda del árbol SLD. Las alternativas del axioma quedan pendientes.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Cambiar el orden de los objetivos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B263F-7123-47D3-AB9A-E5AD1A6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76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48AFA207-9656-4CDF-9227-99035CD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humano(X) :- madre(X,Y), humano(Y).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8026B29-DBC8-4060-BA68-EA259DE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35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humano(elena).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390D66C8-5A5E-4477-9E1F-10997C61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4877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madre(juan,elena).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A1FF7-E70E-404F-B49A-4E04B9E32471}"/>
              </a:ext>
            </a:extLst>
          </p:cNvPr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46291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Consulta: humano(juan)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intermedio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madre(juan,Y)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Y = elena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humano(elena)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El axioma permite responder 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B90A7F7F-A9BB-4768-91C8-B4B093AB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Ahora la llamada recursiva recibe una persona concreta.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Poner el axioma primero no elimina todo bucle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2CAA2-B5BE-4C42-B418-9CC0A92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83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1D2BBB21-84B3-4F64-8AFF-2F900D7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humano(elena).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BE7E038-E522-4BC3-BE05-722C07B2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35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humano(X) :- humano(Y), madre(X,Y).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CE579-0EC8-473E-98CE-7D539F5A837B}"/>
              </a:ext>
            </a:extLst>
          </p:cNvPr>
          <p:cNvGraphicFramePr/>
          <p:nvPr/>
        </p:nvGraphicFramePr>
        <p:xfrm>
          <a:off xmlns:a="http://schemas.openxmlformats.org/drawingml/2006/main" x="822960" y="3238500"/>
          <a:ext xmlns:a="http://schemas.openxmlformats.org/drawingml/2006/main" cx="100584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53911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Comportamiento con estos hechos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humano(juan)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Encuentra una primera respuesta 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humano(X), pidiendo todas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Obtiene elena y juan; después sigue en un bucle.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7A76CD43-8132-4990-A810-1E67A4B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32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3232"/>
                </a:solidFill>
                <a:latin typeface="Arial"/>
                <a:ea typeface="Arial"/>
                <a:cs typeface="Arial"/>
              </a:rPr>
              <a:t>Mejora el acceso a algunas respuestas, pero mantiene la recursividad izquierda.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Retrasar la llamada recursiva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8C467-6A1B-48E4-865D-50C4F69E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DC08EDBC-D54B-4986-A064-ECAB46E2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es_humano(X)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595EBA1-6935-4DEB-9DD7-7DA3F0B0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130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freeze(Y, es_humano(Y)), madre(X,Y).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0996753A-F962-4621-9332-FF7CBA87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049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es_humano(elena).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A155C-10A5-4F46-9F10-241F836E5306}"/>
              </a:ext>
            </a:extLst>
          </p:cNvPr>
          <p:cNvGraphicFramePr/>
          <p:nvPr/>
        </p:nvGraphicFramePr>
        <p:xfrm>
          <a:off xmlns:a="http://schemas.openxmlformats.org/drawingml/2006/main" x="822960" y="3381375"/>
          <a:ext xmlns:a="http://schemas.openxmlformats.org/drawingml/2006/main" cx="10058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010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 preguntar es_humano(juan)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sucede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Y es variable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es_humano(Y) queda pendiente.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madre(juan,Y)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Instancia Y = elena y reactiva la llamada.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es_humano(elena)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La regla no encuentra madre; el axioma tiene éxito.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805A731F-1EC9-4027-9F3B-63B61B30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Fichero Perezosa. También: when(nonvar(Y), es_humano(Y)).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Recursividad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Volver con información nueva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08257ACA-86A9-41A8-9F2E-C079A41B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 guardia te envía a otro y ese te devuelve al primero.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vuelves sin información nueva, repites la misma pregunta.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37D2AF90-7C91-465B-A166-EDA96C5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suspensión, se deja pendiente humano(Y) mientras falta Y.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madre(X,Y) aporta el nombre. Se vuelve a preguntar por esa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4E1C8-7BA0-452B-84D6-FC11CFB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10515600" cy="83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081D4765-FC93-4A11-A240-DCF1EE6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Y libre  →  llamada pendiente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000A9FE6-E987-48DD-8E5C-F0BFF6A7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625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Y = elena  →  es_humano(elena)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6E5985E1-51F1-4309-BFDB-FABE3A28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freeze/2 no resuelve cualquier ciclo: aquí ayuda a cambiar el orden efectivo.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Acertijos: describir relaciones y restricciones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6F237A4-3EBE-4574-A270-5AF0685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Elegimos cómo representar el escenario. Traducimos las pistas</a:t>
            </a:r>
          </a:p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 relaciones y condiciones que una solución debe cumplir.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80CFDB2F-F956-4278-95FB-9FB704D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intérprete busca asignaciones y retrocede cuando una pista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no se cumple. El orden de los objetivos sigue influyendo en la búsqueda.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58E0848-A20B-4A34-84BB-D8643F0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Hoy desarrollamos El envenenador. Después: Ocupaciones y Las cinco casas.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El envenenador: seis frascos, siete pistas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7E98C4F7-D3A4-4374-971B-E28B581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Dr. Bacterio tiene seis frascos: rojo, naranja, amarillo,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verde, azul y violeta. Algunos contienen veneno.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C6095-DF09-40F0-A1E2-D46193AEB90A}"/>
              </a:ext>
            </a:extLst>
          </p:cNvPr>
          <p:cNvGraphicFramePr/>
          <p:nvPr/>
        </p:nvGraphicFramePr>
        <p:xfrm>
          <a:off xmlns:a="http://schemas.openxmlformats.org/drawingml/2006/main" x="822960" y="3143250"/>
          <a:ext xmlns:a="http://schemas.openxmlformats.org/drawingml/2006/main" cx="100584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1962150"/>
              </a:tblGrid>
              <a:tr h="4095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cada par: uno tóxico y el otro no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violeta y azul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rojo y amarillo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azul y naranja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0B3A6EA-A2A3-4282-947E-739E62E3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¿Qué frascos contienen veneno?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09D6E6D-FF6D-4106-BB81-5D344F84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Enunciado original: Acertijos / El envenenador.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El envenenador: las pistas restantes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A6B96-BB7D-4973-8C4C-ECB672D138C4}"/>
              </a:ext>
            </a:extLst>
          </p:cNvPr>
          <p:cNvGraphicFramePr/>
          <p:nvPr/>
        </p:nvGraphicFramePr>
        <p:xfrm>
          <a:off xmlns:a="http://schemas.openxmlformats.org/drawingml/2006/main" x="822960" y="1809750"/>
          <a:ext xmlns:a="http://schemas.openxmlformats.org/drawingml/2006/main" cx="100584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1962150"/>
              </a:tblGrid>
              <a:tr h="4095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cada par: al menos uno no es tóxico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violeta y amarillo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rojo y naranja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verde y azul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20D1739B-4C85-42B3-BEF6-DCC789F1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7. El frasco rojo no es venenoso.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D9EA259-7BF2-4C02-BF54-1E6FC96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«Al menos uno» admite que los dos sean no tóxicos.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representar las siete pistas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B55CF-527D-4AA2-82D9-7BFC4F71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24025"/>
            <a:ext cx="10515600" cy="1176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7EA7B708-520C-4714-9B45-6E21014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uno_toxico_otro_no(Color1,Color2)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CC8EE69A-F354-431E-A66F-399F6EB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1126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uno_no_toxico(Color1,Color2)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983E6B63-2E7B-49B3-8A92-B30E2CC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2502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no_toxico(Color)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C0788E5E-F4C2-435B-B50D-A42949D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Escribe los hechos que traducen las pistas.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Después piensa qué puedes deducir al conocer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que uno de los frascos de un par es tóxico o no tóxico.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8618C4A7-BDF2-4D90-B8D4-34EA1E7B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No confundas «uno de cada tipo» con «al menos uno no tóxico».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los hechos del envenenador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2B754-B3B5-4575-BCFC-C185125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3115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4E8505C4-E4F7-40EC-900F-32849C66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uno_toxico_otro_no(violeta,azul).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3543D44-48BC-4E7D-B574-55CA3B9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9605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uno_toxico_otro_no(rojo,amarillo).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685BF14-1D9A-49DB-93BE-EFBBC4D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524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uno_toxico_otro_no(azul,naranja).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50ACE6BB-ED5D-45C7-8533-4C364A5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54427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BE1D2BF8-3081-4FE8-AB39-7BF17FE2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3611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uno_no_toxico(violeta,amarillo).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CC5C8578-86C9-4A06-8925-1522F15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279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uno_no_toxico(rojo,naranja).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1D5B70AF-69E0-487F-A003-82877FA2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197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uno_no_toxico(verde,azul).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88953104-3BAB-4F4E-B6FC-E451440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163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D58E0BFD-0E56-472A-B6A1-B3BBA783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0347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no_toxico(rojo).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DC8229FE-F957-4062-AF12-90CF712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Código de referencia: Acertijos / El envenenador.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Las reglas del código de referencia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F3BF8-E864-48B6-8421-18522E2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0EAACB7E-0BCA-430A-B6B5-92151B02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no_toxico(X) :-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D55D150-26FA-45B4-A604-933C059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(uno_no_toxico(X,Y); uno_no_toxico(Y,X)),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D8297008-7206-4C26-BD12-E42EA9C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764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toxico(Y).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22744A0-C5F5-45E0-88C2-6BBCB56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12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412AE950-C59E-4D9E-B476-BE0D6C6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60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toxico(X) :-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F7FA6B59-B09E-4F53-BE00-E82FB1C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(uno_toxico_otro_no(X,Y);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975BAC4B-3C07-40DB-9C11-DDE9FD9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956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 uno_toxico_otro_no(Y,X)), no_toxico(Y).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D262AE0E-FEA8-4B13-BB7E-EE32232E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 contemplan ambos órdenes del par. El punto y coma expresa «o».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consulta intenta demostrar el estado de un frasco.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5786CF82-DE4E-4B8A-9DB3-BFC4F98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no_toxico/1 es una relación explícita. No está definido como not(toxico(X)).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findall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findall/3: reunir las respuestas de una consulta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3B5C0-B681-45A9-AC44-9B72752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B15C4F48-EA28-46DE-88B4-F893CEDB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findall(Plantilla, Objetivo, Lista)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75F7B21-FEDF-4800-8160-BE5A71F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Busca las soluciones de Objetivo por retroceso. Por cada éxito,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recoge una copia de Plantilla en Lista, conservando posibles repetidos.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31FDE-2ECB-4205-AED7-872BA86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0025"/>
            <a:ext cx="105156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5FE37745-C86D-4785-A5D7-A87D27C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findall(Marca,coche(Marca,_),L).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40960892-36EB-449A-BF75-634A576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27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 = [dodge,opel,toyota].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C5B8803A-A6F1-4327-84B1-27C501C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297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2D114266-913D-4C7F-9059-A18FB60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67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findall(X,toxico(X),L).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CF7BEFAB-C0F6-4FF6-94E1-56D1E5F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637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 = [azul,amarillo].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3DDF2F8C-33BE-48B0-A494-5D712103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SWI-Prolog: swi-prolog.org/pldoc/man?predicate=findall/3. Sin soluciones: L = [].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Una alternativa: buscar soluciones completas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6F6DDCD-1D35-49D9-895F-8031DF8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findall(X,toxico(X),L) reúne demostraciones individuales.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Por sí mismo no exige que L sea una asignación conjunta compatible.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8DB0C-7245-4796-A417-B54EA09B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57525"/>
            <a:ext cx="10515600" cy="481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BBF9460-10CF-4481-B464-D69E8F7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[Rojo,Naranja,Amarillo,Verde,Azul,Violeta]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B0AAC7E-70C2-4C51-89F1-0E816E33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Usaremos 0 para no tóxico y 1 para tóxico.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Una respuesta asignará un estado a los seis frascos y cumplirá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las siete pistas simultáneamente.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29FCC3B9-9DB1-4CBC-BE45-3BBE5D83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Seis estados binarios: 64 asignaciones posibles antes de aplicar las pistas.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comprobar una asignación completa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EF475-5059-4BC0-A502-EEE61253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88439D9B-540D-4155-BF8E-03BD543E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resolver_estados([R,N,A,V,Az,Vi])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F511144-F071-4548-8FAD-DDC81F4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Genera un 0 o un 1 para cada frasco y aplica las siete pistas.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respuesta debe representar todos los frascos a la vez.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33403-D409-41A3-9108-F752D1726FA5}"/>
              </a:ext>
            </a:extLst>
          </p:cNvPr>
          <p:cNvGraphicFramePr/>
          <p:nvPr/>
        </p:nvGraphicFramePr>
        <p:xfrm>
          <a:off xmlns:a="http://schemas.openxmlformats.org/drawingml/2006/main" x="822960" y="4238625"/>
          <a:ext xmlns:a="http://schemas.openxmlformats.org/drawingml/2006/main" cx="100584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0101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Tipo de pista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Condición sobre dos estados X e Y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Uno tóxico y otro no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=\= Y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Al menos uno no tóxico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+ Y =&lt; 1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F3BACF33-AB09-47AF-9A80-0F03E21F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Consulta todas las respuestas para saber si existe otra combinación.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generar y comprobar las siete pistas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43D65-1B45-4AA7-BED7-6C8F3163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33525"/>
            <a:ext cx="10515600" cy="3005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AEAE48A0-BF87-473E-A5E9-A9DB216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estado(0).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DAF36C50-BE9F-493C-B0DD-A08A8E4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62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estado(1).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4DE5E69-8CA9-4527-B4EF-7F82F79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32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7C1EE1A3-E978-4DE1-B8A9-151BFE3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02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resolver_estados([R,N,A,V,Az,Vi]) :-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CF2E3544-2A04-4EB3-B0D5-62FEF826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72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estado(R), estado(N), estado(A),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2A42A5BB-55E4-4D39-9521-D8F86CB9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421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estado(V), estado(Az), estado(Vi),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DAC59526-A3FD-42B0-A052-1169544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120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Vi =\= Az, R =\= A, Az =\= N,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2DC54373-CB06-4BD9-AD3E-AC60B641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19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Vi + A =&lt; 1, R + N =&lt; 1, V + Az =&lt; 1,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85F6A08F-F731-4261-A0BA-3E69F95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518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R = 0.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5F799583-86D5-4C57-850E-54EBB3A3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Primero se generan valores. Las comparaciones aritméticas reciben números.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respuesta es una combinación compatible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4AAE0-8E8B-4AB9-951D-8C7AA52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10515600" cy="81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C7ED36E1-DA71-4B6D-B0F3-DD9C852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findall(E,resolver_estados(E),Soluciones).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5E66752-933D-4DA2-BAE8-F5F3F2C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1309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Soluciones = [[0,0,1,0,1,0]].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EAFC1-6360-4118-A556-E3D55A92A66C}"/>
              </a:ext>
            </a:extLst>
          </p:cNvPr>
          <p:cNvGraphicFramePr/>
          <p:nvPr/>
        </p:nvGraphicFramePr>
        <p:xfrm>
          <a:off xmlns:a="http://schemas.openxmlformats.org/drawingml/2006/main" x="822960" y="3190875"/>
          <a:ext xmlns:a="http://schemas.openxmlformats.org/drawingml/2006/main" cx="100584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3390900"/>
              </a:tblGrid>
              <a:tr h="4095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Frasco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rojo / naranja / verde / violeta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0: no tóxicos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amarillo / azul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1: tóxicos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C3E99BC2-0CC3-4B12-88A8-0B61B14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Hay una única asignación completa que satisface las siete pistas.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hubiera varias, findall/3 devolvería una lista por cada asignación.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5 · Acertijos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Después: dos acertijos disponibles en Moovi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BF88020-0C5F-4C66-BD22-3D18B726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1   Ocupaciones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13A607F6-F465-45D2-A3E2-7EE3D2B0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2   Las cinco casas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FF72862-368C-43E4-9694-E3D3C029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Trabajad primero Ocupaciones y después Las cinco casas.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Los enunciados y el código están en Moovi.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2026-10-26T07:22:18.5480000Z</dcterms:created>
  <dcterms:modified xsi:type="dcterms:W3CDTF">2026-10-26T07:22:18.5480000Z</dcterms:modified>
</coreProperties>
</file>