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a4afc672c64241d2"/><Relationship Type="http://schemas.openxmlformats.org/officeDocument/2006/relationships/extended-properties" Target="/docProps/app.xml" Id="Rd8bf65b2944a42e9"/><Relationship Type="http://schemas.openxmlformats.org/officeDocument/2006/relationships/officeDocument" Target="/ppt/presentation.xml" Id="R5fc195d996f546c5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25b585a8344939"/>
  </p:sldMasterIdLst>
  <p:sldIdLst>
    <p:sldId xmlns:r="http://schemas.openxmlformats.org/officeDocument/2006/relationships" id="256" r:id="Re061f964023f411c"/>
    <p:sldId xmlns:r="http://schemas.openxmlformats.org/officeDocument/2006/relationships" id="257" r:id="Re28c34d475ad423e"/>
    <p:sldId xmlns:r="http://schemas.openxmlformats.org/officeDocument/2006/relationships" id="258" r:id="R12835d78906c4f85"/>
    <p:sldId xmlns:r="http://schemas.openxmlformats.org/officeDocument/2006/relationships" id="259" r:id="R0dc16e888f93467d"/>
    <p:sldId xmlns:r="http://schemas.openxmlformats.org/officeDocument/2006/relationships" id="260" r:id="R87ff68e19d5c4915"/>
    <p:sldId xmlns:r="http://schemas.openxmlformats.org/officeDocument/2006/relationships" id="261" r:id="Re38bf5a2bb474a9a"/>
    <p:sldId xmlns:r="http://schemas.openxmlformats.org/officeDocument/2006/relationships" id="262" r:id="Rc230088855214b4b"/>
    <p:sldId xmlns:r="http://schemas.openxmlformats.org/officeDocument/2006/relationships" id="263" r:id="R630216e82e6b4e24"/>
    <p:sldId xmlns:r="http://schemas.openxmlformats.org/officeDocument/2006/relationships" id="264" r:id="Rc02820f99ea94d55"/>
    <p:sldId xmlns:r="http://schemas.openxmlformats.org/officeDocument/2006/relationships" id="265" r:id="R80b4ec35a48540db"/>
    <p:sldId xmlns:r="http://schemas.openxmlformats.org/officeDocument/2006/relationships" id="266" r:id="R42d39b613bfb44ed"/>
    <p:sldId xmlns:r="http://schemas.openxmlformats.org/officeDocument/2006/relationships" id="267" r:id="R5f186601e8824a41"/>
    <p:sldId xmlns:r="http://schemas.openxmlformats.org/officeDocument/2006/relationships" id="268" r:id="R0596da42479644f7"/>
    <p:sldId xmlns:r="http://schemas.openxmlformats.org/officeDocument/2006/relationships" id="269" r:id="Re4794ae3d90c40d6"/>
    <p:sldId xmlns:r="http://schemas.openxmlformats.org/officeDocument/2006/relationships" id="270" r:id="R6db9017bb9ee4d35"/>
    <p:sldId xmlns:r="http://schemas.openxmlformats.org/officeDocument/2006/relationships" id="271" r:id="R845a4271b3b446b7"/>
    <p:sldId xmlns:r="http://schemas.openxmlformats.org/officeDocument/2006/relationships" id="272" r:id="R828a87deb59540d6"/>
    <p:sldId xmlns:r="http://schemas.openxmlformats.org/officeDocument/2006/relationships" id="273" r:id="Ra2b070e68e924ea7"/>
    <p:sldId xmlns:r="http://schemas.openxmlformats.org/officeDocument/2006/relationships" id="274" r:id="Ra5f8f1df446a4923"/>
    <p:sldId xmlns:r="http://schemas.openxmlformats.org/officeDocument/2006/relationships" id="275" r:id="R5b196a159a964795"/>
    <p:sldId xmlns:r="http://schemas.openxmlformats.org/officeDocument/2006/relationships" id="276" r:id="R927e3cd6fa014ab7"/>
    <p:sldId xmlns:r="http://schemas.openxmlformats.org/officeDocument/2006/relationships" id="277" r:id="R3615eb9f4de24df1"/>
    <p:sldId xmlns:r="http://schemas.openxmlformats.org/officeDocument/2006/relationships" id="278" r:id="Rdac78e56e9824506"/>
    <p:sldId xmlns:r="http://schemas.openxmlformats.org/officeDocument/2006/relationships" id="279" r:id="R98472f3075834f76"/>
    <p:sldId xmlns:r="http://schemas.openxmlformats.org/officeDocument/2006/relationships" id="280" r:id="R277104445f9c4957"/>
    <p:sldId xmlns:r="http://schemas.openxmlformats.org/officeDocument/2006/relationships" id="281" r:id="Raec469287cb149ae"/>
    <p:sldId xmlns:r="http://schemas.openxmlformats.org/officeDocument/2006/relationships" id="282" r:id="Rdfd7a60d1fdc4855"/>
    <p:sldId xmlns:r="http://schemas.openxmlformats.org/officeDocument/2006/relationships" id="283" r:id="R6b7641853ce64d0f"/>
    <p:sldId xmlns:r="http://schemas.openxmlformats.org/officeDocument/2006/relationships" id="284" r:id="Rbdd1cdb0020c459f"/>
    <p:sldId xmlns:r="http://schemas.openxmlformats.org/officeDocument/2006/relationships" id="285" r:id="R3d00f2fd42eb4a63"/>
    <p:sldId xmlns:r="http://schemas.openxmlformats.org/officeDocument/2006/relationships" id="286" r:id="R0ef29c9a9a1340bc"/>
    <p:sldId xmlns:r="http://schemas.openxmlformats.org/officeDocument/2006/relationships" id="287" r:id="Re57e805c321d4145"/>
    <p:sldId xmlns:r="http://schemas.openxmlformats.org/officeDocument/2006/relationships" id="288" r:id="Ra73c8eac19b84463"/>
    <p:sldId xmlns:r="http://schemas.openxmlformats.org/officeDocument/2006/relationships" id="289" r:id="R7e793a732ea7465b"/>
    <p:sldId xmlns:r="http://schemas.openxmlformats.org/officeDocument/2006/relationships" id="290" r:id="R22e9e8edcca541b8"/>
    <p:sldId xmlns:r="http://schemas.openxmlformats.org/officeDocument/2006/relationships" id="291" r:id="R301d450e42014908"/>
    <p:sldId xmlns:r="http://schemas.openxmlformats.org/officeDocument/2006/relationships" id="292" r:id="Re6092fc4f6f24620"/>
    <p:sldId xmlns:r="http://schemas.openxmlformats.org/officeDocument/2006/relationships" id="293" r:id="R43de041de5094bf4"/>
    <p:sldId xmlns:r="http://schemas.openxmlformats.org/officeDocument/2006/relationships" id="294" r:id="R65df2af3136c437c"/>
  </p:sldIdLst>
  <p:sldSz cx="11704320" cy="658368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ac302fb8dc64bbc"/><Relationship Type="http://schemas.openxmlformats.org/officeDocument/2006/relationships/slideMaster" Target="/ppt/slideMasters/slideMaster1.xml" Id="R2325b585a8344939"/><Relationship Type="http://schemas.openxmlformats.org/officeDocument/2006/relationships/presProps" Target="/ppt/presProps.xml" Id="Ra6eceddc3b7a4771"/><Relationship Type="http://schemas.openxmlformats.org/officeDocument/2006/relationships/tableStyles" Target="/ppt/tableStyles.xml" Id="R2fd7371a0ce14117"/><Relationship Type="http://schemas.openxmlformats.org/officeDocument/2006/relationships/slide" Target="/ppt/slides/slide1.xml" Id="Re061f964023f411c"/><Relationship Type="http://schemas.openxmlformats.org/officeDocument/2006/relationships/slide" Target="/ppt/slides/slide2.xml" Id="Re28c34d475ad423e"/><Relationship Type="http://schemas.openxmlformats.org/officeDocument/2006/relationships/slide" Target="/ppt/slides/slide3.xml" Id="R12835d78906c4f85"/><Relationship Type="http://schemas.openxmlformats.org/officeDocument/2006/relationships/slide" Target="/ppt/slides/slide4.xml" Id="R0dc16e888f93467d"/><Relationship Type="http://schemas.openxmlformats.org/officeDocument/2006/relationships/slide" Target="/ppt/slides/slide5.xml" Id="R87ff68e19d5c4915"/><Relationship Type="http://schemas.openxmlformats.org/officeDocument/2006/relationships/slide" Target="/ppt/slides/slide6.xml" Id="Re38bf5a2bb474a9a"/><Relationship Type="http://schemas.openxmlformats.org/officeDocument/2006/relationships/slide" Target="/ppt/slides/slide7.xml" Id="Rc230088855214b4b"/><Relationship Type="http://schemas.openxmlformats.org/officeDocument/2006/relationships/slide" Target="/ppt/slides/slide8.xml" Id="R630216e82e6b4e24"/><Relationship Type="http://schemas.openxmlformats.org/officeDocument/2006/relationships/slide" Target="/ppt/slides/slide9.xml" Id="Rc02820f99ea94d55"/><Relationship Type="http://schemas.openxmlformats.org/officeDocument/2006/relationships/slide" Target="/ppt/slides/slide10.xml" Id="R80b4ec35a48540db"/><Relationship Type="http://schemas.openxmlformats.org/officeDocument/2006/relationships/slide" Target="/ppt/slides/slide11.xml" Id="R42d39b613bfb44ed"/><Relationship Type="http://schemas.openxmlformats.org/officeDocument/2006/relationships/slide" Target="/ppt/slides/slide12.xml" Id="R5f186601e8824a41"/><Relationship Type="http://schemas.openxmlformats.org/officeDocument/2006/relationships/slide" Target="/ppt/slides/slide13.xml" Id="R0596da42479644f7"/><Relationship Type="http://schemas.openxmlformats.org/officeDocument/2006/relationships/slide" Target="/ppt/slides/slide14.xml" Id="Re4794ae3d90c40d6"/><Relationship Type="http://schemas.openxmlformats.org/officeDocument/2006/relationships/slide" Target="/ppt/slides/slide15.xml" Id="R6db9017bb9ee4d35"/><Relationship Type="http://schemas.openxmlformats.org/officeDocument/2006/relationships/slide" Target="/ppt/slides/slide16.xml" Id="R845a4271b3b446b7"/><Relationship Type="http://schemas.openxmlformats.org/officeDocument/2006/relationships/slide" Target="/ppt/slides/slide17.xml" Id="R828a87deb59540d6"/><Relationship Type="http://schemas.openxmlformats.org/officeDocument/2006/relationships/slide" Target="/ppt/slides/slide18.xml" Id="Ra2b070e68e924ea7"/><Relationship Type="http://schemas.openxmlformats.org/officeDocument/2006/relationships/slide" Target="/ppt/slides/slide19.xml" Id="Ra5f8f1df446a4923"/><Relationship Type="http://schemas.openxmlformats.org/officeDocument/2006/relationships/slide" Target="/ppt/slides/slide20.xml" Id="R5b196a159a964795"/><Relationship Type="http://schemas.openxmlformats.org/officeDocument/2006/relationships/slide" Target="/ppt/slides/slide21.xml" Id="R927e3cd6fa014ab7"/><Relationship Type="http://schemas.openxmlformats.org/officeDocument/2006/relationships/slide" Target="/ppt/slides/slide22.xml" Id="R3615eb9f4de24df1"/><Relationship Type="http://schemas.openxmlformats.org/officeDocument/2006/relationships/slide" Target="/ppt/slides/slide23.xml" Id="Rdac78e56e9824506"/><Relationship Type="http://schemas.openxmlformats.org/officeDocument/2006/relationships/slide" Target="/ppt/slides/slide24.xml" Id="R98472f3075834f76"/><Relationship Type="http://schemas.openxmlformats.org/officeDocument/2006/relationships/slide" Target="/ppt/slides/slide25.xml" Id="R277104445f9c4957"/><Relationship Type="http://schemas.openxmlformats.org/officeDocument/2006/relationships/slide" Target="/ppt/slides/slide26.xml" Id="Raec469287cb149ae"/><Relationship Type="http://schemas.openxmlformats.org/officeDocument/2006/relationships/slide" Target="/ppt/slides/slide27.xml" Id="Rdfd7a60d1fdc4855"/><Relationship Type="http://schemas.openxmlformats.org/officeDocument/2006/relationships/slide" Target="/ppt/slides/slide28.xml" Id="R6b7641853ce64d0f"/><Relationship Type="http://schemas.openxmlformats.org/officeDocument/2006/relationships/slide" Target="/ppt/slides/slide29.xml" Id="Rbdd1cdb0020c459f"/><Relationship Type="http://schemas.openxmlformats.org/officeDocument/2006/relationships/slide" Target="/ppt/slides/slide30.xml" Id="R3d00f2fd42eb4a63"/><Relationship Type="http://schemas.openxmlformats.org/officeDocument/2006/relationships/slide" Target="/ppt/slides/slide31.xml" Id="R0ef29c9a9a1340bc"/><Relationship Type="http://schemas.openxmlformats.org/officeDocument/2006/relationships/slide" Target="/ppt/slides/slide32.xml" Id="Re57e805c321d4145"/><Relationship Type="http://schemas.openxmlformats.org/officeDocument/2006/relationships/slide" Target="/ppt/slides/slide33.xml" Id="Ra73c8eac19b84463"/><Relationship Type="http://schemas.openxmlformats.org/officeDocument/2006/relationships/slide" Target="/ppt/slides/slide34.xml" Id="R7e793a732ea7465b"/><Relationship Type="http://schemas.openxmlformats.org/officeDocument/2006/relationships/slide" Target="/ppt/slides/slide35.xml" Id="R22e9e8edcca541b8"/><Relationship Type="http://schemas.openxmlformats.org/officeDocument/2006/relationships/slide" Target="/ppt/slides/slide36.xml" Id="R301d450e42014908"/><Relationship Type="http://schemas.openxmlformats.org/officeDocument/2006/relationships/slide" Target="/ppt/slides/slide37.xml" Id="Re6092fc4f6f24620"/><Relationship Type="http://schemas.openxmlformats.org/officeDocument/2006/relationships/slide" Target="/ppt/slides/slide38.xml" Id="R43de041de5094bf4"/><Relationship Type="http://schemas.openxmlformats.org/officeDocument/2006/relationships/slide" Target="/ppt/slides/slide39.xml" Id="R65df2af3136c437c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1158c0c0ac74add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08366503c1bf4a44"/><Relationship Type="http://schemas.openxmlformats.org/officeDocument/2006/relationships/slideLayout" Target="/ppt/slideLayouts/slideLayout1.xml" Id="Re30eecf229c14c39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0eecf229c14c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342f28bc6d541db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f6a9c6084c648cc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537ca60a43242f0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22eaa8a33ac406a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eebe8ef85a84b72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204c0b494c440cb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3a4fa0c02ba41da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b8a0a78265a46ca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82c8daee2bf4cd3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a5f351905df49b0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58c58d47bed4b82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2d6e585c9174525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5a215f0f8274408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f38fe97975448b8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8087be5c0c14da6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37e07d2332b44e2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bbb6f3732ac418e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a06abe0f4d24511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0c5c2b1c8df40aa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e8dc78cd3814610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ec7dab49c424d79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e006a47eaae4c02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7684f1e05c548c1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62f5e24a950483f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952956cf4704e5b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4a0526ea5ee4622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a8f1d4dbb474345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134eb8a23fe4b3a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5a0c92770b74c37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8523a4edb594da7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44f2257006e4b83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d5455ba838b444a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c72df906f294dca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fb234b043954be2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c49bf2628ce4309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3e25b016c3446ae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540753273b842fe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fbfbee8873344dc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06460d7e9ee4eb9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Práctica 4 de Lógica Computacional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BC0ED08A-3FFC-4A95-9656-4E5ADACA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75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Corte en Prolog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F789F916-D211-4133-9B1E-9BEA7128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corte y sus aplicaciones sobre listas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42266CB1-85B2-415A-94E4-FA495E44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C82834B9-C219-4E7A-896C-21E47265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erik.figueiral.alonso@uvigo.gal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3C8C53D7-3511-4A1E-B222-F8BB658E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19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Índice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A72DE7B3-A9CE-401B-A025-F1670BD4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1   Control y aplicaciones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481AC9E3-DE59-44A4-AFFF-E2039E52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2   Ejercicios de examen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8FA0FBA9-7150-428E-AB56-51C4F4DC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SWI-Prolog · Listas clásicas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El corte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Una salida del laberinto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DAD015C4-91B0-4E03-A730-E6185192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04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solo queremos encontrar una salida, podemos dejar de buscar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otras después del primer éxito.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74EDB188-48AF-46E3-B6FE-0E4A1E96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670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entrada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20D41-7521-4146-B62B-9144A5EC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857500" y="2971800"/>
            <a:ext cx="285750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D818B7CB-8A36-48D3-80F5-EB64F18C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33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camino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0A350-560B-4572-9FF9-B4FD54A8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2971800"/>
            <a:ext cx="285750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ABB1B7"/>
            </a:solidFill>
          </a:ln>
        </p:spPr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D5D92EEA-AB04-4B83-AE82-9E1FA869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BB1B7"/>
                </a:solidFill>
                <a:latin typeface="Arial"/>
                <a:ea typeface="Arial"/>
                <a:cs typeface="Arial"/>
              </a:rPr>
              <a:t>camino B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575BB4FD-A546-46BC-A7C3-79BE4865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salida encontrada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85474732-BDC2-4DC0-B123-34CAAEDB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ABB1B7"/>
                </a:solidFill>
                <a:latin typeface="Consolas"/>
                <a:ea typeface="Consolas"/>
                <a:cs typeface="Consolas"/>
              </a:rPr>
              <a:t>otra salida posible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C15FC-A76C-4E1B-9BDB-49A74E9B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8500" y="3190875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323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C35F6-A23E-4A97-A032-41900E47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48500" y="3190875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323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EFDF5-B5F1-436F-967B-E5E62834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33900"/>
            <a:ext cx="10515600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21" name="content">
            <a:extLst xmlns:a="http://schemas.openxmlformats.org/drawingml/2006/main">
              <a:ext uri="{FF2B5EF4-FFF2-40B4-BE49-F238E27FC236}">
                <a16:creationId xmlns:a16="http://schemas.microsoft.com/office/drawing/2014/main" id="{A908CABB-CA22-44AA-862E-30ACAA0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10287000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una_salida(S) :- salida(S), !.</a:t>
            </a:r>
          </a:p>
        </p:txBody>
      </p:sp>
      <p:sp>
        <p:nvSpPr>
          <p:cNvPr id="22" name="content">
            <a:extLst xmlns:a="http://schemas.openxmlformats.org/drawingml/2006/main">
              <a:ext uri="{FF2B5EF4-FFF2-40B4-BE49-F238E27FC236}">
                <a16:creationId xmlns:a16="http://schemas.microsoft.com/office/drawing/2014/main" id="{4B498DA6-BD9E-4853-88E6-F9FC0319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673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La decisión depende del objetivo: una salida o todas las salidas.</a:t>
            </a:r>
          </a:p>
        </p:txBody>
      </p:sp>
      <p:sp>
        <p:nvSpPr>
          <p:cNvPr id="23" name="content">
            <a:extLst xmlns:a="http://schemas.openxmlformats.org/drawingml/2006/main">
              <a:ext uri="{FF2B5EF4-FFF2-40B4-BE49-F238E27FC236}">
                <a16:creationId xmlns:a16="http://schemas.microsoft.com/office/drawing/2014/main" id="{6A2AAAEB-5011-4297-9A3F-1C738FC3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Apuntes, cap. 7, pp. 111–123 (PDF: desde p. 119).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El corte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Qué elimina el corte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41964-453A-4334-9258-8705874F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24025"/>
            <a:ext cx="10515600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940BD943-6A25-4CAB-BCCD-B77FBDC4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0287000" cy="418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 :- a, </a:t>
            </a:r>
            <a:r>
              <a:rPr sz="240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24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, b.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6DB21610-5973-4579-BF74-EB9A4B95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9894"/>
            <a:ext cx="10287000" cy="418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 :- c.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E16CE-37C2-48A8-B0E2-CE8027912559}"/>
              </a:ext>
            </a:extLst>
          </p:cNvPr>
          <p:cNvGraphicFramePr/>
          <p:nvPr/>
        </p:nvGraphicFramePr>
        <p:xfrm>
          <a:off xmlns:a="http://schemas.openxmlformats.org/drawingml/2006/main" x="822960" y="3000375"/>
          <a:ext xmlns:a="http://schemas.openxmlformats.org/drawingml/2006/main" cx="100584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58165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 llegar a !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Efecto en esta llamada a p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Alternativas pendientes de 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Se descartan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La otra cláusula de p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Se descarta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Alternativas que produzca b después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Pueden seguir explorándose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DF808C9A-7F3B-4176-8813-7B563982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435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! tiene éxito. Si b falla después, no se vuelve a probar c.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9F350389-87B0-4052-B1EC-169C5734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SWI-Prolog, manual de !/0: swi-prolog.org/pldoc/man?predicate=!/0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El corte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Corte verde y corte rojo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433DF14C-6F96-4741-83FE-DCA1D246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A4B"/>
                </a:solidFill>
                <a:latin typeface="Arial"/>
                <a:ea typeface="Arial"/>
                <a:cs typeface="Arial"/>
              </a:rPr>
              <a:t>CORTE VERDE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CAD10A66-280D-41FD-8245-9AB23EA0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B6323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B6323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B6323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B6323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B6323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B6323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B6323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B6323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B6323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B632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632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63232"/>
                </a:solidFill>
                <a:latin typeface="Arial"/>
                <a:ea typeface="Arial"/>
                <a:cs typeface="Arial"/>
              </a:rPr>
              <a:t>CORTE ROJO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E1F2C927-99D8-430B-8534-E57E5DA8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2410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Evita trabajo o respuestas repetidas.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Al quitarlo, las respuestas distintas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siguen siendo correctas y completas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para el uso previsto.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E99A2C79-3D97-47A7-81D4-BBCA44AF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corrección depende del corte.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Al quitarlo, pueden aparecer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respuestas incorrectas para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especificación.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1F312-7D99-4F1B-869E-05622BC7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43400"/>
            <a:ext cx="4752975" cy="481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7ABD6142-6FB4-4A28-85E3-DBFCE00D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4524375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miembro(1,[1,1]).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C73D0-27B4-4989-9A65-89B4F379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752975" cy="481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570B6CEF-590C-41E0-B3B4-02818618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29125"/>
            <a:ext cx="4524375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int([a],[a],R).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6882E3CD-B323-41AF-85F9-9333672C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El color depende del programa y de cómo se consulta, no del símbolo !.</a:t>
            </a:r>
          </a:p>
        </p:txBody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7282E409-8FB8-4C63-A0F0-CFA091F0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Apuntes, cap. 7, §7.2, p. 123 impresa.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Pertenencia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Pregunta: miembro/2 sin corte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F7A755DC-9EB9-4F9F-9E18-50B4835E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control.pl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F3D36-7DB5-485C-84E1-81163936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10515600" cy="859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9B6C9E02-219D-43C1-9659-BADDCAEA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miembro(Car,[Car|_]).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156A9838-B688-468C-AE1B-F897ED92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10943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miembro(X,[_|Cdr]) :- miembro(X,Cdr).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24F79408-0FF9-455B-B71D-C74389DA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Consulta en SWI-Prolog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1C358-DC8C-438D-B529-89A8F94C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90900"/>
            <a:ext cx="10515600" cy="54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215AD1BB-B45A-4C82-82C8-E8D514E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0287000" cy="418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miembro(1,[1,1]).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F3815EAC-8437-4925-BD11-80B7F6DB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¿Qué ocurre si pedimos todas las respuestas con ;?</a:t>
            </a:r>
          </a:p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Dibuja el árbol y distingue los éxitos del fallo final.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Pertenencia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miembro/2: dos pruebas del mismo hecho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53A761A7-87E8-4AD2-B398-C25A3442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71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miembro(1,[1,1])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B6D87-5703-4B49-9C75-21C847D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286000" y="1876425"/>
            <a:ext cx="285750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FEC3132F-9F66-4679-A0C6-CAC3F2B8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axioma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BC96A-DBA3-451D-BF3F-6CAF004D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1876425"/>
            <a:ext cx="238125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3A76B6AC-21A4-483D-9813-AEAFE05B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85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recursiva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96400075-5C22-4978-8277-10D13104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5E1BE870-CD15-4112-84F3-FBCF25B6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miembro(1,[1])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19211-E1DC-4C15-9DF8-F1D15114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34000" y="2924175"/>
            <a:ext cx="219075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3841E542-3B38-41EE-8A09-59EEE752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57513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axioma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37DE7-C27D-4081-9DF9-265B214C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2924175"/>
            <a:ext cx="19050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20" name="content">
            <a:extLst xmlns:a="http://schemas.openxmlformats.org/drawingml/2006/main">
              <a:ext uri="{FF2B5EF4-FFF2-40B4-BE49-F238E27FC236}">
                <a16:creationId xmlns:a16="http://schemas.microsoft.com/office/drawing/2014/main" id="{838E8D88-DADC-4978-A6EE-B6ACE666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7513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recursiva</a:t>
            </a:r>
          </a:p>
        </p:txBody>
      </p:sp>
      <p:sp>
        <p:nvSpPr>
          <p:cNvPr id="21" name="content">
            <a:extLst xmlns:a="http://schemas.openxmlformats.org/drawingml/2006/main">
              <a:ext uri="{FF2B5EF4-FFF2-40B4-BE49-F238E27FC236}">
                <a16:creationId xmlns:a16="http://schemas.microsoft.com/office/drawing/2014/main" id="{7179C6D7-2FE9-4B0E-85C0-A382A31C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22" name="content">
            <a:extLst xmlns:a="http://schemas.openxmlformats.org/drawingml/2006/main">
              <a:ext uri="{FF2B5EF4-FFF2-40B4-BE49-F238E27FC236}">
                <a16:creationId xmlns:a16="http://schemas.microsoft.com/office/drawing/2014/main" id="{33EB7915-FBDA-46B8-B691-C038786C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14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miembro(1,[])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87F4E-23D0-4F87-B5BF-31C50C3D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29750" y="40195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24" name="content">
            <a:extLst xmlns:a="http://schemas.openxmlformats.org/drawingml/2006/main">
              <a:ext uri="{FF2B5EF4-FFF2-40B4-BE49-F238E27FC236}">
                <a16:creationId xmlns:a16="http://schemas.microsoft.com/office/drawing/2014/main" id="{B8B8CF56-CA3C-488C-92B9-74D8021C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37585"/>
                </a:solidFill>
                <a:latin typeface="Consolas"/>
                <a:ea typeface="Consolas"/>
                <a:cs typeface="Consolas"/>
              </a:rPr>
              <a:t>false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F9BDB-C421-4686-9DEA-41E9289D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81525"/>
            <a:ext cx="5943600" cy="81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26" name="content">
            <a:extLst xmlns:a="http://schemas.openxmlformats.org/drawingml/2006/main">
              <a:ext uri="{FF2B5EF4-FFF2-40B4-BE49-F238E27FC236}">
                <a16:creationId xmlns:a16="http://schemas.microsoft.com/office/drawing/2014/main" id="{716D43BF-5764-4B98-9EE2-6880A9B9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5715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miembro(1,[1,1]).</a:t>
            </a:r>
          </a:p>
        </p:txBody>
      </p:sp>
      <p:sp>
        <p:nvSpPr>
          <p:cNvPr id="27" name="content">
            <a:extLst xmlns:a="http://schemas.openxmlformats.org/drawingml/2006/main">
              <a:ext uri="{FF2B5EF4-FFF2-40B4-BE49-F238E27FC236}">
                <a16:creationId xmlns:a16="http://schemas.microsoft.com/office/drawing/2014/main" id="{58A55AAB-B718-45EB-8180-278850DD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96434"/>
            <a:ext cx="5715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true ; true ; false.</a:t>
            </a:r>
          </a:p>
        </p:txBody>
      </p:sp>
      <p:sp>
        <p:nvSpPr>
          <p:cNvPr id="28" name="content">
            <a:extLst xmlns:a="http://schemas.openxmlformats.org/drawingml/2006/main">
              <a:ext uri="{FF2B5EF4-FFF2-40B4-BE49-F238E27FC236}">
                <a16:creationId xmlns:a16="http://schemas.microsoft.com/office/drawing/2014/main" id="{918652D4-FCDB-4E7C-80BB-B3B6CDFE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Tras el segundo true queda una alternativa: buscar en []. Esa rama falla.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Pertenencia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miembro/2: detenerse en la coincidencia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F8B1ADB5-9787-47C8-9689-C62D0B51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control.pl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97AF2-CE6E-4ECD-9B0E-AC149C7F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56102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C21C68FE-36A4-4BEA-AB4F-F8174C53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38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miembro(Car,[Car|_]) :- </a:t>
            </a:r>
            <a:r>
              <a:rPr sz="1875" b="1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E1ED3736-DDC9-4955-86F2-5102B522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2175"/>
            <a:ext cx="538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miembro(X,[_|Cdr]) :-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9C3E0A65-F20C-4634-9FF1-C7F9095B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538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miembro(X,Cdr).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ED6E8F03-46FF-4D45-ADF6-A7CBDD35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526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miembro(1,[1,1])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C75E7-B79A-4E82-A40F-ED56859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524750" y="2257425"/>
            <a:ext cx="11430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89A89F38-4778-4EBA-A10F-9587C78A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8388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axioma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4C50F-8060-4493-BA92-9A24A41D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67750" y="2257425"/>
            <a:ext cx="161925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ABB1B7"/>
            </a:solidFill>
          </a:ln>
        </p:spPr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38B08FFF-ED51-4C70-BE66-4C1F9FD5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8388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BB1B7"/>
                </a:solidFill>
                <a:latin typeface="Arial"/>
                <a:ea typeface="Arial"/>
                <a:cs typeface="Arial"/>
              </a:rPr>
              <a:t>recursiva</a:t>
            </a:r>
          </a:p>
        </p:txBody>
      </p:sp>
      <p:sp>
        <p:nvSpPr>
          <p:cNvPr id="20" name="content">
            <a:extLst xmlns:a="http://schemas.openxmlformats.org/drawingml/2006/main">
              <a:ext uri="{FF2B5EF4-FFF2-40B4-BE49-F238E27FC236}">
                <a16:creationId xmlns:a16="http://schemas.microsoft.com/office/drawing/2014/main" id="{A7C50C0B-6B28-4350-AA55-D03F0AC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!  →  true</a:t>
            </a:r>
          </a:p>
        </p:txBody>
      </p:sp>
      <p:sp>
        <p:nvSpPr>
          <p:cNvPr id="21" name="content">
            <a:extLst xmlns:a="http://schemas.openxmlformats.org/drawingml/2006/main">
              <a:ext uri="{FF2B5EF4-FFF2-40B4-BE49-F238E27FC236}">
                <a16:creationId xmlns:a16="http://schemas.microsoft.com/office/drawing/2014/main" id="{CB94AFB5-F9C2-4D3E-9B6C-6EC6D522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ABB1B7"/>
                </a:solidFill>
                <a:latin typeface="Consolas"/>
                <a:ea typeface="Consolas"/>
                <a:cs typeface="Consolas"/>
              </a:rPr>
              <a:t>podada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3E61B-BEA0-4886-AED4-5E2F8313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0" y="2571750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F5B3B-C177-4359-B326-0459A7F0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25000" y="2571750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386ED-5E79-4782-AF5D-45CD37DC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10025"/>
            <a:ext cx="10515600" cy="859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25" name="content">
            <a:extLst xmlns:a="http://schemas.openxmlformats.org/drawingml/2006/main">
              <a:ext uri="{FF2B5EF4-FFF2-40B4-BE49-F238E27FC236}">
                <a16:creationId xmlns:a16="http://schemas.microsoft.com/office/drawing/2014/main" id="{01CFCB07-853F-44CC-BA95-E063A194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miembro(1,[1,1]).</a:t>
            </a:r>
          </a:p>
        </p:txBody>
      </p:sp>
      <p:sp>
        <p:nvSpPr>
          <p:cNvPr id="26" name="content">
            <a:extLst xmlns:a="http://schemas.openxmlformats.org/drawingml/2006/main">
              <a:ext uri="{FF2B5EF4-FFF2-40B4-BE49-F238E27FC236}">
                <a16:creationId xmlns:a16="http://schemas.microsoft.com/office/drawing/2014/main" id="{7AAF7A45-29AD-46F5-A3B2-E4B57A18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49318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true.</a:t>
            </a:r>
          </a:p>
        </p:txBody>
      </p:sp>
      <p:sp>
        <p:nvSpPr>
          <p:cNvPr id="27" name="content">
            <a:extLst xmlns:a="http://schemas.openxmlformats.org/drawingml/2006/main">
              <a:ext uri="{FF2B5EF4-FFF2-40B4-BE49-F238E27FC236}">
                <a16:creationId xmlns:a16="http://schemas.microsoft.com/office/drawing/2014/main" id="{7C03B27C-151D-42D1-ABE4-3E2C28C2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47A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7A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7A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7A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7A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7A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7A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7A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7A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7A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7A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7A4B"/>
                </a:solidFill>
                <a:latin typeface="Arial"/>
                <a:ea typeface="Arial"/>
                <a:cs typeface="Arial"/>
              </a:rPr>
              <a:t>Verde en esta consulta: desaparece otra prueba del mismo hecho.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Pertenencia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Una variable cambia la pregunta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88E1D-7476-49C7-AFA6-E5B4DCB522D2}"/>
              </a:ext>
            </a:extLst>
          </p:cNvPr>
          <p:cNvGraphicFramePr/>
          <p:nvPr/>
        </p:nvGraphicFramePr>
        <p:xfrm>
          <a:off xmlns:a="http://schemas.openxmlformats.org/drawingml/2006/main" x="822960" y="1809750"/>
          <a:ext xmlns:a="http://schemas.openxmlformats.org/drawingml/2006/main" cx="10058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29200"/>
                <a:gridCol w="50292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 corte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 corte en el axioma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miembro(E,[1,2]).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miembro(E,[1,2]).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 = 1 ; E = 2 ; false.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 = 1.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0AA9719D-6512-429F-8B5D-CE87EED7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Con corte hay una sola respuesta: E = 1. Se acabó la búsqueda.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 = 2 también sería válida, pero se pierde. Esta versión comprueba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pertenencia; no sirve para enumerar todos los elementos.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F908F5E0-F631-44B3-B79E-6FB4B4E7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578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En las siguientes aplicaciones, el elemento y la lista estarán fijados.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Control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Recordatorio: if_then_else/3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FAF25A5F-3A34-4F69-B863-804B9CD1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P, Q y R son objetivos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848E6-7C72-4447-BB96-DDEB5FC3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90700"/>
            <a:ext cx="10515600" cy="835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287CD04E-4B58-400C-A98D-19F8A39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76425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if_then_else(P,Q,_) :- call(P), </a:t>
            </a:r>
            <a:r>
              <a:rPr sz="2100" b="1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, call(Q).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D2B12F0C-F7DD-4C1E-9830-6B6C22C0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17801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if_then_else(_,_,R) :- call(R).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937713F7-4807-4CC9-ADED-98C67381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P tiene éxito, elegimos Q. Si P falla, elegimos R.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Una vez elegido Q, su fallo no permite volver a R.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66CEE-3A86-4C3C-9137-4FB7BFA3F78E}"/>
              </a:ext>
            </a:extLst>
          </p:cNvPr>
          <p:cNvGraphicFramePr/>
          <p:nvPr/>
        </p:nvGraphicFramePr>
        <p:xfrm>
          <a:off xmlns:a="http://schemas.openxmlformats.org/drawingml/2006/main" x="822960" y="4143375"/>
          <a:ext xmlns:a="http://schemas.openxmlformats.org/drawingml/2006/main" cx="100584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15250"/>
                <a:gridCol w="2343150"/>
              </a:tblGrid>
              <a:tr h="409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if_then_else(true,fail,true).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if_then_else(false,fail,true).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62FB1F2E-D898-45D8-853B-CBDD0725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call(P) ejecuta el objetivo P. El corte va después de comprobar P.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C7286EE9-F2C0-4BBB-892D-42BF1F5F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Apuntes, cap. 7, ejemplo 7.1.5.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intersección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AD906992-C348-4937-9664-7A4C7BBD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Sintaxis y firma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05AB9-F26A-4D7A-93AE-3D864CB8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FAD0E4DF-5E34-4711-8EE6-23198B05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int(A,B,R)     int/3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BA5C6F05-02D1-4B57-96A8-6326AC45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 contiene los elementos comunes de A y B.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 y B representan conjuntos mediante listas sin repetidos.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F74E3-0D15-4B35-BDED-E1412018E7B4}"/>
              </a:ext>
            </a:extLst>
          </p:cNvPr>
          <p:cNvGraphicFramePr/>
          <p:nvPr/>
        </p:nvGraphicFramePr>
        <p:xfrm>
          <a:off xmlns:a="http://schemas.openxmlformats.org/drawingml/2006/main" x="822960" y="3714750"/>
          <a:ext xmlns:a="http://schemas.openxmlformats.org/drawingml/2006/main" cx="100584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867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int([a,b],[b,c],R).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[b].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int([],[a],R).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int([a],[b],R).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1D5FEE2F-7250-4F9C-8FD4-3D1CA6D2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67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Uso: A y B fijadas; R libre.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intersección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F962658B-571F-4989-B60B-A978DC82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control.pl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75F6A-0FBD-4163-A1A7-4E5A7A26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105156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851F0882-4D59-408C-A6EB-243DF220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int([],_,[]).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7678BBAD-DD7F-4383-AD68-F4DC44A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484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int([Car|Cdr],C,[Car|T]) :-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B1421492-06C6-4B88-AA85-CF670543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81834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miembro(Car,C), </a:t>
            </a:r>
            <a:r>
              <a:rPr sz="1950" b="1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, int(Cdr,C,T).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1CADFFEF-B283-40D3-82F8-34F56F84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98826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int([_|Cdr],C,T) :-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858B0493-B881-45E0-AC46-C8327FEF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5818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int(Cdr,C,T).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890AD20F-C388-4344-A438-6AD91312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Car está en C, se incluye. En el otro caso, se descarta.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corte rojo impide usar después la regla que lo descarta.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B0A7D-85D7-4B10-9E03-BEA5719FB385}"/>
              </a:ext>
            </a:extLst>
          </p:cNvPr>
          <p:cNvGraphicFramePr/>
          <p:nvPr/>
        </p:nvGraphicFramePr>
        <p:xfrm>
          <a:off xmlns:a="http://schemas.openxmlformats.org/drawingml/2006/main" x="822960" y="4429125"/>
          <a:ext xmlns:a="http://schemas.openxmlformats.org/drawingml/2006/main" cx="10058400" cy="933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377190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int([a,b],[b,c],R).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[b].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Conjuntos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Intersección sin corte: una respuesta falsa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94AF4B91-369F-4C5A-B574-4A3A1C41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Suprimimos solo el corte de int/3. La llamada a miembro/2 se resume.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26EAA70F-E861-46C6-98BA-C01A3EB9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int([a],[a],R)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55F8D-97E3-4A54-800E-C5E321E8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238500" y="2162175"/>
            <a:ext cx="23812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815EE952-BC2A-482D-9EB3-98269DCB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47888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regla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D31EA-85A5-40DB-AE2A-9A8325C6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2162175"/>
            <a:ext cx="31908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A5801781-1836-48C4-9635-930D900E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2147888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regla 3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00852F9C-BFB3-4E26-834C-2636AC6C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miembro(a,[a]) ✓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3D7BBD16-92DF-4FE8-9216-9D030580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575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int([],[a],R)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19C6E-1BC5-486D-977C-CFD54F6C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8500" y="3162300"/>
            <a:ext cx="953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67C60662-05AE-4C7A-82C1-DC961A8F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int([],[a],T)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C991E-65B3-467B-98B3-854F54A6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8500" y="4067175"/>
            <a:ext cx="953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21" name="content">
            <a:extLst xmlns:a="http://schemas.openxmlformats.org/drawingml/2006/main">
              <a:ext uri="{FF2B5EF4-FFF2-40B4-BE49-F238E27FC236}">
                <a16:creationId xmlns:a16="http://schemas.microsoft.com/office/drawing/2014/main" id="{38EE982E-B980-4D35-9E03-633FF367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T=[]  →  R=[a]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C0A79-CBB7-4BB8-B14A-02D1649E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10625" y="3162300"/>
            <a:ext cx="953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23" name="content">
            <a:extLst xmlns:a="http://schemas.openxmlformats.org/drawingml/2006/main">
              <a:ext uri="{FF2B5EF4-FFF2-40B4-BE49-F238E27FC236}">
                <a16:creationId xmlns:a16="http://schemas.microsoft.com/office/drawing/2014/main" id="{2926246A-42EF-4A37-9DC2-936E71F4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24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R=[]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C15716-A932-4103-9961-081379C6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95900"/>
            <a:ext cx="1051560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25" name="content">
            <a:extLst xmlns:a="http://schemas.openxmlformats.org/drawingml/2006/main">
              <a:ext uri="{FF2B5EF4-FFF2-40B4-BE49-F238E27FC236}">
                <a16:creationId xmlns:a16="http://schemas.microsoft.com/office/drawing/2014/main" id="{2F391774-2D1F-4F7C-A1BA-60313066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287000" cy="36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 = [a] ; R = [].</a:t>
            </a:r>
          </a:p>
        </p:txBody>
      </p:sp>
      <p:sp>
        <p:nvSpPr>
          <p:cNvPr id="26" name="content">
            <a:extLst xmlns:a="http://schemas.openxmlformats.org/drawingml/2006/main">
              <a:ext uri="{FF2B5EF4-FFF2-40B4-BE49-F238E27FC236}">
                <a16:creationId xmlns:a16="http://schemas.microsoft.com/office/drawing/2014/main" id="{22BC2A37-F865-4837-B5C6-32A29618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Árbol abreviado: miembro/2 se resuelve como una sola comprobación.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Conjuntos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Intersección con corte: la decisión ya está tomada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9F6A4-1064-41CE-84CF-48F5DC45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22ADD36F-D495-46A8-9397-13F4C455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miembro(Car,C), </a:t>
            </a:r>
            <a:r>
              <a:rPr sz="2175" b="1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, int(Cdr,C,T).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5D8D4270-F021-417D-A538-E80DAD00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19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int([a],[a],R)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EDD72-B4D6-4B53-82A3-9A89B8FA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143250" y="2924175"/>
            <a:ext cx="247650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F137CD2C-9990-4F00-AEC5-D1702CD7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860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regla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6541C-1857-42D9-B89A-041722D7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2924175"/>
            <a:ext cx="333375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ABB1B7"/>
            </a:solidFill>
          </a:ln>
        </p:spPr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DCD1FE80-C862-45F7-83D3-E9FEE5DD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860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B1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BB1B7"/>
                </a:solidFill>
                <a:latin typeface="Arial"/>
                <a:ea typeface="Arial"/>
                <a:cs typeface="Arial"/>
              </a:rPr>
              <a:t>regla 3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89A0303B-9215-4FF1-BF7F-3CBECDF6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71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miembro(a,[a]) ✓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C0863938-8168-438F-BB85-C1999914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71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ABB1B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ABB1B7"/>
                </a:solidFill>
                <a:latin typeface="Consolas"/>
                <a:ea typeface="Consolas"/>
                <a:cs typeface="Consolas"/>
              </a:rPr>
              <a:t>R=[]  (podada)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99691-DCF7-44DE-A578-067A3E80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77125" y="3114675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323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273AA-4BAC-41D3-B387-309AEEB7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77125" y="3114675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323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167D3-CB6A-4CB4-9807-828DEE07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3876675"/>
            <a:ext cx="953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22" name="content">
            <a:extLst xmlns:a="http://schemas.openxmlformats.org/drawingml/2006/main">
              <a:ext uri="{FF2B5EF4-FFF2-40B4-BE49-F238E27FC236}">
                <a16:creationId xmlns:a16="http://schemas.microsoft.com/office/drawing/2014/main" id="{D22BA1F9-20FE-4970-A530-DA1823EF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624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!  →  int([],[a],T)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902492-6830-4299-91F6-997329C2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4667250"/>
            <a:ext cx="953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24" name="content">
            <a:extLst xmlns:a="http://schemas.openxmlformats.org/drawingml/2006/main">
              <a:ext uri="{FF2B5EF4-FFF2-40B4-BE49-F238E27FC236}">
                <a16:creationId xmlns:a16="http://schemas.microsoft.com/office/drawing/2014/main" id="{267F918E-5D35-48A2-A969-8C784DE5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T=[]  →  R=[a]</a:t>
            </a:r>
          </a:p>
        </p:txBody>
      </p:sp>
      <p:sp>
        <p:nvSpPr>
          <p:cNvPr id="25" name="content">
            <a:extLst xmlns:a="http://schemas.openxmlformats.org/drawingml/2006/main">
              <a:ext uri="{FF2B5EF4-FFF2-40B4-BE49-F238E27FC236}">
                <a16:creationId xmlns:a16="http://schemas.microsoft.com/office/drawing/2014/main" id="{C3572EBF-F7A7-4B0D-8C92-286BAD49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578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Primero sabemos que pertenece. Después cortamos la alternativa de excluirlo.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unión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D7E4C572-A00B-4D62-8792-EF74F166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Sintaxis y firma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D8AC7-6C79-4F18-99BA-8564A412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9ECC090E-8371-403E-A86D-AE6FFC98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union(A,B,R)     union/3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5A77D5FA-E6FA-42F6-8B45-CE2D8F4B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 contiene los elementos de A o de B, sin repetirlos.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 y B son listas sin repetidos. Conservamos B al final.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C6DF9-80D3-4C8B-9D63-715511E020FC}"/>
              </a:ext>
            </a:extLst>
          </p:cNvPr>
          <p:cNvGraphicFramePr/>
          <p:nvPr/>
        </p:nvGraphicFramePr>
        <p:xfrm>
          <a:off xmlns:a="http://schemas.openxmlformats.org/drawingml/2006/main" x="822960" y="3714750"/>
          <a:ext xmlns:a="http://schemas.openxmlformats.org/drawingml/2006/main" cx="100584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867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union([a,b],[b,c],R).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[a,b,c].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union([],[a],R).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[a].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union([a],[a],R).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[a].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9A5CC98E-04C7-49D2-8A33-7C6A7BBD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67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Uso: A y B fijadas; R libre.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unión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1BAC0619-3A74-4D48-958E-055BFEE8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control.pl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CC03E-082B-442E-80A5-FB326339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105156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0EAAB2C4-D8E6-4839-A84C-5D7FB28C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union([],C,C).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8AE4C26A-F888-41C5-AA05-F399B52D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484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union([Car|Cdr],C,T) :-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3423ABCE-9073-43C9-87B5-73AE279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81834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miembro(Car,C), </a:t>
            </a:r>
            <a:r>
              <a:rPr sz="1950" b="1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, union(Cdr,C,T).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25964D13-9BA2-498E-99C5-7EDC38CB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98826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union([Car|Cdr],C,[Car|T]) :-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391F24F5-EC2C-46AB-AB99-EC892409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5818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union(Cdr,C,T).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EC2F9163-8186-467F-B780-C8D79CA5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Car ya está en C, no se añade otra vez.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última regla lo añade solo cuando no pertenece a C.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3D116-D966-4F9A-B35A-737865E19A2F}"/>
              </a:ext>
            </a:extLst>
          </p:cNvPr>
          <p:cNvGraphicFramePr/>
          <p:nvPr/>
        </p:nvGraphicFramePr>
        <p:xfrm>
          <a:off xmlns:a="http://schemas.openxmlformats.org/drawingml/2006/main" x="822960" y="4429125"/>
          <a:ext xmlns:a="http://schemas.openxmlformats.org/drawingml/2006/main" cx="10058400" cy="933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377190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union([a,b],[b,c],R).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[a,b,c].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Conjuntos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Unión: el corte evita un duplicado incorrecto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AEC8E13C-5083-4FAC-8AC6-073B14D5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union([a],[a],R)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3F9F6-D1CA-4C86-A179-55F058C9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000375" y="2019300"/>
            <a:ext cx="2524125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8A76D7BB-E194-4516-A83E-452B6B2A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88" y="20288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regla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B43E9-C98C-4909-81AB-FB0F6799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0" y="2019300"/>
            <a:ext cx="333375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4A845766-09A1-42D3-9024-5A764411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288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regla 3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E94C3EFF-AC30-410C-A900-E66514D5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miembro(a,[a]) ✓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3CBE6E2F-387C-488F-B981-FAA72E96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union([],[a],T)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55656-A33D-48EA-8076-ADA33225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0375" y="3067050"/>
            <a:ext cx="953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CDCC6CCE-C700-492D-B22C-32B7C04D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union([],[a],R)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E9423-82EA-46CE-9562-4F6F4C0D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0375" y="397192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20" name="content">
            <a:extLst xmlns:a="http://schemas.openxmlformats.org/drawingml/2006/main">
              <a:ext uri="{FF2B5EF4-FFF2-40B4-BE49-F238E27FC236}">
                <a16:creationId xmlns:a16="http://schemas.microsoft.com/office/drawing/2014/main" id="{2D9E6163-9CC4-469F-B26B-7181234F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24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R=[a]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47EF6-FB49-41BF-8735-1AFDD442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0" y="3067050"/>
            <a:ext cx="953" cy="1409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22" name="content">
            <a:extLst xmlns:a="http://schemas.openxmlformats.org/drawingml/2006/main">
              <a:ext uri="{FF2B5EF4-FFF2-40B4-BE49-F238E27FC236}">
                <a16:creationId xmlns:a16="http://schemas.microsoft.com/office/drawing/2014/main" id="{565CE143-B7D0-4641-BF2E-41D765E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243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B6323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T=[a]  →  R=[a,a]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0EB7D-C047-4C20-8DF9-16F9B0FE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2143125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323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8F92A-6B14-4CF8-B2BB-9D1156A1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86625" y="2143125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3232"/>
            </a:solidFill>
          </a:ln>
        </p:spPr>
      </p:sp>
      <p:sp>
        <p:nvSpPr>
          <p:cNvPr id="25" name="content">
            <a:extLst xmlns:a="http://schemas.openxmlformats.org/drawingml/2006/main">
              <a:ext uri="{FF2B5EF4-FFF2-40B4-BE49-F238E27FC236}">
                <a16:creationId xmlns:a16="http://schemas.microsoft.com/office/drawing/2014/main" id="{DDE4277D-C7A9-4E0C-9017-49796158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Sin corte: ambas ramas.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Con corte: la rama derecha queda podada.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Conjuntos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Los conjuntos y el modo de uso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EED240ED-88A3-4EA2-8EF5-F2E54DFF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Estas definiciones calculan el resultado a partir de dos conjuntos.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No eliminan automáticamente los repetidos de cualquier lista.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4F76B-F29F-458B-860E-67F33BFF49FA}"/>
              </a:ext>
            </a:extLst>
          </p:cNvPr>
          <p:cNvGraphicFramePr/>
          <p:nvPr/>
        </p:nvGraphicFramePr>
        <p:xfrm>
          <a:off xmlns:a="http://schemas.openxmlformats.org/drawingml/2006/main" x="822960" y="2952750"/>
          <a:ext xmlns:a="http://schemas.openxmlformats.org/drawingml/2006/main" cx="10058400" cy="1800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86715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Fuera de la hipótesis sin repetidos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sucede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int([a,a],[a],R).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[a,a].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union([a,a],[],R).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[a,a].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F94783BA-1F61-4526-869D-5B1A321C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Para admitir repetidos habría que comprobar además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el elemento ya aparece en el resultado y distinguir ese caso.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4869AF96-C791-4867-B1B2-6044A376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En esta práctica: listas sin repetidos y resultado inicialmente libre.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contigua/3 con corte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8F1279A2-7BAF-4B08-90A9-A66CCBC3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Sintaxis y firma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A8211-E02D-4167-BF6F-154F84DB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FAF7BC4B-2D17-4828-B946-A4DEBC9D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contigua(X,Y,L)     contigua/3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9808E69C-4BC8-422E-836C-10F41B7F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X e Y aparecen uno junto al otro, en cualquiera de los dos órdenes.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Comprobad la relación sin repetir respuestas.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CCB5D-518E-4263-ABA4-38DC94401567}"/>
              </a:ext>
            </a:extLst>
          </p:cNvPr>
          <p:cNvGraphicFramePr/>
          <p:nvPr/>
        </p:nvGraphicFramePr>
        <p:xfrm>
          <a:off xmlns:a="http://schemas.openxmlformats.org/drawingml/2006/main" x="822960" y="3714750"/>
          <a:ext xmlns:a="http://schemas.openxmlformats.org/drawingml/2006/main" cx="100584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867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contigua(1,2,[1,2,1,2]).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contigua(1,2,[2,1,2,1]).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contigua(1,3,[1,2,3]).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86619B69-8438-4B1C-9C69-9B28C16C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67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X, Y y L fijados. Podéis reutilizar izqda_der/3.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contigua/3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D7996B41-89D9-499F-8FFB-5D035AD5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control.pl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50FEF-BB0D-42D6-B1D2-0A57C14D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1051560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7F07CA82-A5E8-470B-95EA-5ACD6164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contigua(X,Y,L) :- izqda_der(X,Y,L), </a:t>
            </a:r>
            <a:r>
              <a:rPr sz="1950" b="1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CF144A46-58DD-4B08-94EF-7E5648BB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484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contigua(X,Y,L) :- izqda_der(Y,X,L), </a:t>
            </a:r>
            <a:r>
              <a:rPr sz="1950" b="1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A84A7E0B-7823-4E9C-A500-2603EE40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Cada corte detiene la búsqueda al encontrar una pareja válida.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segundo también evita repeticiones en el orden inverso.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04E72-1914-4571-8D2F-05ED12EB8AAA}"/>
              </a:ext>
            </a:extLst>
          </p:cNvPr>
          <p:cNvGraphicFramePr/>
          <p:nvPr/>
        </p:nvGraphicFramePr>
        <p:xfrm>
          <a:off xmlns:a="http://schemas.openxmlformats.org/drawingml/2006/main" x="822960" y="4191000"/>
          <a:ext xmlns:a="http://schemas.openxmlformats.org/drawingml/2006/main" cx="10058400" cy="933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377190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contigua(1,2,[2,1,2,1]).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ady/3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A0BFF948-72A6-46B8-A5F6-EB84C7DC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Sintaxis y firma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C41BD-0714-4B66-A9B3-BE393785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BA52287F-A5AB-4433-9A45-3ADB8907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ady(X,Y,L)     ady/3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ADE0DE45-D53C-4A1A-A390-23AA851E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Misma relación que contigua/3. Implementadla directamente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sobre la lista, sin llamar a izqda_der/3 ni a contigua/3.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BC0E9-E3F1-476C-8731-FB239D11BB07}"/>
              </a:ext>
            </a:extLst>
          </p:cNvPr>
          <p:cNvGraphicFramePr/>
          <p:nvPr/>
        </p:nvGraphicFramePr>
        <p:xfrm>
          <a:off xmlns:a="http://schemas.openxmlformats.org/drawingml/2006/main" x="822960" y="3714750"/>
          <a:ext xmlns:a="http://schemas.openxmlformats.org/drawingml/2006/main" cx="100584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867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ady(1,2,[3,2,1,2]).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ady(1,3,[1,2,3]).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ady(1,2,[]).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414D3D3D-A2A2-4BFD-9B18-659A3018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67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X, Y y L fijados. Una sola respuesta afirmativa.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ady/3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219E7167-E89E-47C0-AA69-BC5984A4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control.pl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1A9F4-7244-4D7A-874A-381A3FD6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10515600" cy="1103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13F55CAB-42DC-48B8-8548-13EE2729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ady(X,Y,[X,Y|_]) :- </a:t>
            </a:r>
            <a:r>
              <a:rPr sz="1950" b="1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AEDE889A-4468-4A31-8E3B-FFA2A69E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484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ady(X,Y,[Y,X|_]) :- </a:t>
            </a:r>
            <a:r>
              <a:rPr sz="1950" b="1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D6D25DEB-0447-4983-8909-E9EEAE1B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81834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ady(X,Y,[_|Cdr]) :- ady(X,Y,Cdr).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F6563D8A-E223-4116-BB45-ECE6A2AA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71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Los dos primeros casos reconocen vecinos.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recursión avanza una posición hasta encontrarlos.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0A2E8-0D2D-45C5-963A-8152A9C71849}"/>
              </a:ext>
            </a:extLst>
          </p:cNvPr>
          <p:cNvGraphicFramePr/>
          <p:nvPr/>
        </p:nvGraphicFramePr>
        <p:xfrm>
          <a:off xmlns:a="http://schemas.openxmlformats.org/drawingml/2006/main" x="822960" y="4191000"/>
          <a:ext xmlns:a="http://schemas.openxmlformats.org/drawingml/2006/main" cx="10058400" cy="1400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377190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ady(1,2,[3,2,1,2]).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ady(1,3,[1,2,3]).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Operadores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Comparaciones y unificación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49BBA-F300-4151-8620-9354303BC276}"/>
              </a:ext>
            </a:extLst>
          </p:cNvPr>
          <p:cNvGraphicFramePr/>
          <p:nvPr/>
        </p:nvGraphicFramePr>
        <p:xfrm>
          <a:off xmlns:a="http://schemas.openxmlformats.org/drawingml/2006/main" x="822960" y="1714500"/>
          <a:ext xmlns:a="http://schemas.openxmlformats.org/drawingml/2006/main" cx="100584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5143500"/>
                <a:gridCol w="2962275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Operador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Significado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Ejemplo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&lt; y &gt;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Comparación numérica estricta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2 &lt; 5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=&lt; y &gt;=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Comparación numérica no estricta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3 =&lt; 3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=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Unificación de términos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3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=:=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Igualdad de valores numéricos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2 =:= 1+1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145B411D-E777-49AB-9D92-1D4A951A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En Prolog se escribe =&lt;. El operador = no evalúa expresiones aritméticas.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E7D23023-F87E-4922-BE5E-4D1CA16A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SWI-Prolog: manual, Arithmetic y Comparison and Unification of Terms.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Operadores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X &lt; 2 no genera valores para X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5234-D321-45CE-82E6-0ECD1259FD3F}"/>
              </a:ext>
            </a:extLst>
          </p:cNvPr>
          <p:cNvGraphicFramePr/>
          <p:nvPr/>
        </p:nvGraphicFramePr>
        <p:xfrm>
          <a:off xmlns:a="http://schemas.openxmlformats.org/drawingml/2006/main" x="822960" y="1638300"/>
          <a:ext xmlns:a="http://schemas.openxmlformats.org/drawingml/2006/main" cx="100584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X &lt; 2.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Error de instanciación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X = 1, X &lt; 2.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1.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X = 1+1.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1+1.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?- 2 = 1+1.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?- 2 =:= 1+1.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A3DB40CA-20B8-47A6-AC51-84E268FB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Las comparaciones aritméticas calculan y comparan valores.</a:t>
            </a:r>
          </a:p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Sus variables deben tener un valor numérico al ejecutarse.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Ordenación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Recordatorio: ¿qué era Quicksort?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568C6B9A-4F0A-4DFD-B329-3E261BCF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Quicksort ordena una lista mediante «divide y vencerás».</a:t>
            </a:r>
          </a:p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Elegimos un pivote, separamos el resto y ordenamos las dos partes</a:t>
            </a:r>
          </a:p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recursivamente. Al reunir izquierda, pivote y derecha, queda ordenada.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4D447-E1CB-406A-8D9A-FF1A5746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241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876E2159-DF6E-4F7B-A40A-5AA31E77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[3,1,4,2]  →  [1,2,3,4]     Pivote: 3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60B3E-D96C-48C5-90EE-226EA710CAE3}"/>
              </a:ext>
            </a:extLst>
          </p:cNvPr>
          <p:cNvGraphicFramePr/>
          <p:nvPr/>
        </p:nvGraphicFramePr>
        <p:xfrm>
          <a:off xmlns:a="http://schemas.openxmlformats.org/drawingml/2006/main" x="822960" y="3524250"/>
          <a:ext xmlns:a="http://schemas.openxmlformats.org/drawingml/2006/main" cx="100584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905000"/>
                <a:gridCol w="3486150"/>
              </a:tblGrid>
              <a:tr h="4095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Menores o iguales que 3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Pivote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Mayores que 3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[1,2]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[4]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3F3137B2-4C6F-49E5-9199-29139BFF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Primero definiremos partir/4 para separar la lista.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Después construiremos quicksort/2 y reuniremos el resultado con concat/3.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partir/4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768D9702-4B42-4313-A628-89CDDB73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Sintaxis y firma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85330-1DD3-450B-A813-862D4191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46F3727A-78C9-43B5-B9C8-C30FE71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partir(Pivote,Lista,MenoresOIguales,Mayores)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FDC058F1-3039-4BF1-BDFE-5E57EEBB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MenoresOIguales contiene los elementos =&lt; Pivote.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Mayores contiene los elementos &gt; Pivote. Se conserva su orden.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9D040-8674-4C86-A18D-C74E733FEB4E}"/>
              </a:ext>
            </a:extLst>
          </p:cNvPr>
          <p:cNvGraphicFramePr/>
          <p:nvPr/>
        </p:nvGraphicFramePr>
        <p:xfrm>
          <a:off xmlns:a="http://schemas.openxmlformats.org/drawingml/2006/main" x="822960" y="3714750"/>
          <a:ext xmlns:a="http://schemas.openxmlformats.org/drawingml/2006/main" cx="100584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867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partir(3,[1,4,3,2],I,D).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 = [1,3,2], D = [4].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partir(3,[],I,D).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 = [], D = [].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6936151E-2868-4578-9DED-99597159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67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partir/4 · Pivote y Lista numéricos y fijados; I y D libres.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partir/4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2F00EFC3-7D4F-44DB-B24A-CA45E7C9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control.pl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CD948-74BD-4B82-A3C7-481B22FC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105156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F83739F1-67C6-4EA3-84C4-7B1B6F55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partir(_,[],[],[]).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BD3CD0BB-457E-4AC7-98A1-3889C327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484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partir(P,[Car|Cdr],[Car|I],D) :-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BD6B191A-576B-4A11-AC8B-6005A6B2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81834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Car =&lt; P, </a:t>
            </a:r>
            <a:r>
              <a:rPr sz="1950" b="1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, partir(P,Cdr,I,D).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AB77653C-9A4F-40EF-8653-21A1564B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98826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partir(P,[Car|Cdr],I,[Car|D]) :-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878DAE9B-BE03-44BC-8726-D551A611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5818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partir(P,Cdr,I,D).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F7C5F287-51DE-4E38-BFD4-C04A8CCA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Lista vacía: ambas partes vacías. Si Car =&lt; P, se coloca en I.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no se cumple, Car &gt; P: la última regla lo coloca en D.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872A8-7E20-4FC4-BBF8-3E5ECC7D3106}"/>
              </a:ext>
            </a:extLst>
          </p:cNvPr>
          <p:cNvGraphicFramePr/>
          <p:nvPr/>
        </p:nvGraphicFramePr>
        <p:xfrm>
          <a:off xmlns:a="http://schemas.openxmlformats.org/drawingml/2006/main" x="822960" y="4429125"/>
          <a:ext xmlns:a="http://schemas.openxmlformats.org/drawingml/2006/main" cx="10058400" cy="933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377190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partir(3,[1,4,3,2],I,D).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 = [1,3,2], D = [4].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Ordenación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partir/4: un ejemplo paso a paso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8A6A0-2FDF-48D2-93B9-514C01B5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00AD9C2B-C487-451A-AF01-72409745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partir(3,[1,4,3,2],I,D).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D235D-5972-493C-978A-ADC0FF71BCC8}"/>
              </a:ext>
            </a:extLst>
          </p:cNvPr>
          <p:cNvGraphicFramePr/>
          <p:nvPr/>
        </p:nvGraphicFramePr>
        <p:xfrm>
          <a:off xmlns:a="http://schemas.openxmlformats.org/drawingml/2006/main" x="822960" y="2428875"/>
          <a:ext xmlns:a="http://schemas.openxmlformats.org/drawingml/2006/main" cx="100584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619500"/>
                <a:gridCol w="4629150"/>
              </a:tblGrid>
              <a:tr h="409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Cabeza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Comparación con 3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Dónde se coloca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1 =&lt; 3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Izquierda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4 &gt; 3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Derecha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3 =&lt; 3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Izquierda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2 =&lt; 3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Izquierda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[]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Caso base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 = [], D = []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9FC66-FF11-48B2-A34A-8A155AA3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81650"/>
            <a:ext cx="10515600" cy="481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33F26C07-B6F7-4182-A653-C394F1B5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67375"/>
            <a:ext cx="10287000" cy="35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 = [1,3,2], D = [4].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quicksort/2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F644EF8E-7828-4E39-971E-8194CFCB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Sintaxis y firma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9DCA7-30AF-4380-A964-05840F3C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4278BD40-D32F-41D3-870E-02483328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quicksort(Lista,Ordenada)     quicksort/2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86D392EC-A0EC-4D0D-9094-6B123C6C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Ordenada contiene los números de Lista en orden no decreciente.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Deben conservarse las repeticiones.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05797-D386-4B47-B16C-4E4B28D15EC2}"/>
              </a:ext>
            </a:extLst>
          </p:cNvPr>
          <p:cNvGraphicFramePr/>
          <p:nvPr/>
        </p:nvGraphicFramePr>
        <p:xfrm>
          <a:off xmlns:a="http://schemas.openxmlformats.org/drawingml/2006/main" x="822960" y="3714750"/>
          <a:ext xmlns:a="http://schemas.openxmlformats.org/drawingml/2006/main" cx="100584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867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quicksort([3,1,4,2],R).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[1,2,3,4].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quicksort([3,1,3],R).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[1,3,3].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quicksort([],R).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B158C82E-3BE2-4389-9695-A0590F4A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67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Lista numérica y fijada; R libre. Disponibles: partir/4 y concat/3.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quicksort/2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980B50D0-7673-40C6-9659-99A97E23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control.pl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17D2E-3C9D-436B-95A6-510169A3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10515600" cy="2054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8634CD0B-1243-4829-83CA-C367D827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quicksort([],[]).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C21790F9-7D42-450D-A0E8-45242734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484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quicksort([Car|Cdr],R) :-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886DC1D5-9A54-45D9-A6F9-D119F68D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81834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partir(Car,Cdr,I,D),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03E7D914-DDD1-4120-A9B4-33C5101E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98826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quicksort(I,IO),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2696FAB7-788C-45F1-B511-55227EFE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5818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quicksort(D,DO),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33E61505-395C-40FE-9A81-08241A58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3281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concat(IO,[Car|DO],R).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0277395C-EECF-45B4-A5D5-0F44FABB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IO y DO son las dos partes ya ordenadas.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pivote se coloca entre ellas.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7A14A-B334-440B-95AC-25D7D2BE4621}"/>
              </a:ext>
            </a:extLst>
          </p:cNvPr>
          <p:cNvGraphicFramePr/>
          <p:nvPr/>
        </p:nvGraphicFramePr>
        <p:xfrm>
          <a:off xmlns:a="http://schemas.openxmlformats.org/drawingml/2006/main" x="822960" y="4752975"/>
          <a:ext xmlns:a="http://schemas.openxmlformats.org/drawingml/2006/main" cx="10058400" cy="933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377190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quicksort([3,1,4,2],R).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[1,2,3,4].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Ordenación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Quicksort: separar, ordenar y concatenar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8D5B6621-BAC9-415A-82B2-115BE7ED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00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[3,1,4,2]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554B4-CCF7-4A7A-8251-1B979070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286125" y="2257425"/>
            <a:ext cx="252412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819CF-0727-46B2-9642-11D39E2B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2257425"/>
            <a:ext cx="257175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2E30937F-1600-4E24-9D23-CA6C5A0D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62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[1,2]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3A405BC7-2ED8-463F-8F9C-5220E978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622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225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225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225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225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225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225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225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225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225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225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1284AAAC-4C10-42F5-8C01-B1F33A74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[4]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B4EB5710-71DD-447A-8205-7FCD0B76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7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Pivote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1E7AC-AB68-478E-9BA3-F2EDFEAB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14500" y="3400425"/>
            <a:ext cx="157162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342F9-1313-4CB2-B1B4-19535662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86125" y="3400425"/>
            <a:ext cx="147637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3442"/>
            </a:solidFill>
          </a:ln>
        </p:spPr>
      </p:sp>
      <p:sp>
        <p:nvSpPr>
          <p:cNvPr id="19" name="content">
            <a:extLst xmlns:a="http://schemas.openxmlformats.org/drawingml/2006/main">
              <a:ext uri="{FF2B5EF4-FFF2-40B4-BE49-F238E27FC236}">
                <a16:creationId xmlns:a16="http://schemas.microsoft.com/office/drawing/2014/main" id="{EF56ADBF-368A-4FAA-8528-57148B6F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433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[]</a:t>
            </a:r>
          </a:p>
        </p:txBody>
      </p:sp>
      <p:sp>
        <p:nvSpPr>
          <p:cNvPr id="20" name="content">
            <a:extLst xmlns:a="http://schemas.openxmlformats.org/drawingml/2006/main">
              <a:ext uri="{FF2B5EF4-FFF2-40B4-BE49-F238E27FC236}">
                <a16:creationId xmlns:a16="http://schemas.microsoft.com/office/drawing/2014/main" id="{45E0EDAC-FCA0-436F-84C4-FC8C9A19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433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217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217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217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217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217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217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217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217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217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217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1" name="content">
            <a:extLst xmlns:a="http://schemas.openxmlformats.org/drawingml/2006/main">
              <a:ext uri="{FF2B5EF4-FFF2-40B4-BE49-F238E27FC236}">
                <a16:creationId xmlns:a16="http://schemas.microsoft.com/office/drawing/2014/main" id="{A123EFC1-4D1C-4EB1-B9A6-86752567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433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[2]</a:t>
            </a:r>
          </a:p>
        </p:txBody>
      </p:sp>
      <p:sp>
        <p:nvSpPr>
          <p:cNvPr id="22" name="content">
            <a:extLst xmlns:a="http://schemas.openxmlformats.org/drawingml/2006/main">
              <a:ext uri="{FF2B5EF4-FFF2-40B4-BE49-F238E27FC236}">
                <a16:creationId xmlns:a16="http://schemas.microsoft.com/office/drawing/2014/main" id="{594C8338-4A19-4290-8C84-5E40B15E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48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Pivote</a:t>
            </a:r>
          </a:p>
        </p:txBody>
      </p:sp>
      <p:sp>
        <p:nvSpPr>
          <p:cNvPr id="23" name="content">
            <a:extLst xmlns:a="http://schemas.openxmlformats.org/drawingml/2006/main">
              <a:ext uri="{FF2B5EF4-FFF2-40B4-BE49-F238E27FC236}">
                <a16:creationId xmlns:a16="http://schemas.microsoft.com/office/drawing/2014/main" id="{E52245D4-B5B9-4397-80C3-E31DCAD2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37585"/>
                </a:solidFill>
                <a:latin typeface="Arial"/>
                <a:ea typeface="Arial"/>
                <a:cs typeface="Arial"/>
              </a:rPr>
              <a:t>DIVIDIR</a:t>
            </a:r>
          </a:p>
        </p:txBody>
      </p:sp>
      <p:sp>
        <p:nvSpPr>
          <p:cNvPr id="24" name="content">
            <a:extLst xmlns:a="http://schemas.openxmlformats.org/drawingml/2006/main">
              <a:ext uri="{FF2B5EF4-FFF2-40B4-BE49-F238E27FC236}">
                <a16:creationId xmlns:a16="http://schemas.microsoft.com/office/drawing/2014/main" id="{3A1825C2-ABE4-40FA-883C-6A3A5E95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47A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7A4B"/>
                </a:solidFill>
                <a:latin typeface="Arial"/>
                <a:ea typeface="Arial"/>
                <a:cs typeface="Arial"/>
              </a:rPr>
              <a:t>REUNIR</a:t>
            </a:r>
          </a:p>
        </p:txBody>
      </p:sp>
      <p:sp>
        <p:nvSpPr>
          <p:cNvPr id="25" name="content">
            <a:extLst xmlns:a="http://schemas.openxmlformats.org/drawingml/2006/main">
              <a:ext uri="{FF2B5EF4-FFF2-40B4-BE49-F238E27FC236}">
                <a16:creationId xmlns:a16="http://schemas.microsoft.com/office/drawing/2014/main" id="{CE27833D-84DE-4CEB-AD57-27B1E01E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[] + [1] + [2] → [1,2]</a:t>
            </a:r>
          </a:p>
        </p:txBody>
      </p:sp>
      <p:sp>
        <p:nvSpPr>
          <p:cNvPr id="26" name="content">
            <a:extLst xmlns:a="http://schemas.openxmlformats.org/drawingml/2006/main">
              <a:ext uri="{FF2B5EF4-FFF2-40B4-BE49-F238E27FC236}">
                <a16:creationId xmlns:a16="http://schemas.microsoft.com/office/drawing/2014/main" id="{79ABE8DF-7527-4423-AA81-0AA95E97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47A4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47A4B"/>
                </a:solidFill>
                <a:latin typeface="Consolas"/>
                <a:ea typeface="Consolas"/>
                <a:cs typeface="Consolas"/>
              </a:rPr>
              <a:t>[4]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5417B-F3DA-45CF-81EC-37BE1AD4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00650"/>
            <a:ext cx="9277350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28" name="content">
            <a:extLst xmlns:a="http://schemas.openxmlformats.org/drawingml/2006/main">
              <a:ext uri="{FF2B5EF4-FFF2-40B4-BE49-F238E27FC236}">
                <a16:creationId xmlns:a16="http://schemas.microsoft.com/office/drawing/2014/main" id="{9701D31A-F8AF-452E-98EB-DF54ABB1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9048750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[1,2] + [3] + [4]  →  [1,2,3,4]</a:t>
            </a:r>
          </a:p>
        </p:txBody>
      </p:sp>
      <p:sp>
        <p:nvSpPr>
          <p:cNvPr id="29" name="content">
            <a:extLst xmlns:a="http://schemas.openxmlformats.org/drawingml/2006/main">
              <a:ext uri="{FF2B5EF4-FFF2-40B4-BE49-F238E27FC236}">
                <a16:creationId xmlns:a16="http://schemas.microsoft.com/office/drawing/2014/main" id="{6E4BBF46-18EA-4255-9BCA-7F091304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+ representa concatenar listas; no es el operador aritmético de Prolog.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Examen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Tres ejercicios del primer examen práctico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4721B472-73D5-4253-83D8-9DF9E33A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Curso 2018–19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4F03D04B-AFA6-43A1-8AB3-F6B562F2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10287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1   superiores/3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2   listar_hasta/3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3   creciente/1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BE53F9D4-8C9E-4971-9C3D-0037709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Trabajad a partir del enunciado y de las consultas de prueba.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Las tres soluciones están al final del bloque.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53DB56C8-2768-4E46-AFC8-D906A148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Enunciados proporcionados: descripcion-LC1-LC2, LC3-LC4 y LC5-LC6.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Examen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Examen 1: superiores/3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0DE0D34A-57BC-4DC1-90E7-D0223ADD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Sintaxis y firma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838C7-7412-4609-BAD4-20627DD8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863FFFB9-4EF0-4681-B0DA-E32DD2E8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superiores(Elem,Lista,Resultado)     superiores/3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FE8BAC80-344B-4DAF-BF76-755E8CB5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Resultado contiene todos los elementos de Lista superiores a Elem.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Los datos son naturales. El orden del resultado es indiferente.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B27A5-984A-4B1A-B99C-B23296CD8E54}"/>
              </a:ext>
            </a:extLst>
          </p:cNvPr>
          <p:cNvGraphicFramePr/>
          <p:nvPr/>
        </p:nvGraphicFramePr>
        <p:xfrm>
          <a:off xmlns:a="http://schemas.openxmlformats.org/drawingml/2006/main" x="822960" y="3714750"/>
          <a:ext xmlns:a="http://schemas.openxmlformats.org/drawingml/2006/main" cx="100584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867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superiores(5,[4,8,2,3,6],X).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[8,6].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superiores(5,[],X).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[].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superiores(5,[4,2],X).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[].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00E6542C-BC31-45BD-BBC3-D0BA4262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67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El enunciado original exige que la primera respuesta sea correcta.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Examen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Examen 2: listar_hasta/3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B9010FE4-4E00-4289-ADAA-90E108BF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Sintaxis y firma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D8E57-2F39-4533-8C45-3B72A463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D8A8F912-04B8-43BC-A9C2-D6F674F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listar_hasta(Lista,Elem,Respuesta)     listar_hasta/3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9D2FCD87-6CED-4744-8559-C77BF36A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Respuesta contiene los elementos anteriores a la primera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aparición de Elem. Esa aparición queda excluida.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AFCB7-5D96-46A9-97E9-FFD5F8C21435}"/>
              </a:ext>
            </a:extLst>
          </p:cNvPr>
          <p:cNvGraphicFramePr/>
          <p:nvPr/>
        </p:nvGraphicFramePr>
        <p:xfrm>
          <a:off xmlns:a="http://schemas.openxmlformats.org/drawingml/2006/main" x="822960" y="3714750"/>
          <a:ext xmlns:a="http://schemas.openxmlformats.org/drawingml/2006/main" cx="100584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867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listar_hasta([1,2,3,4],3,X).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[1,2].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listar_hasta([1,2,3,4],1,X).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[].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listar_hasta([],4,X).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[].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7519A7F5-D45C-40D9-A6B4-2C5075D8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67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El enunciado original exige que la primera respuesta sea correcta.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Examen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Examen 3: creciente/1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9F68329C-8FCD-4CAC-9C72-1B087947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Sintaxis y firma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C032F-4CB1-4FA7-9231-2B8B394E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10515600" cy="50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4CA40C73-DC98-460E-A2C3-E8290DFB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382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creciente(Lista)     creciente/1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6A6040EC-ACB4-45EC-B267-2AD5019A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lista de naturales es estrictamente creciente.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Según este enunciado, [] no se considera creciente.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2AE76-3B18-425C-8FC9-6FD30C23299B}"/>
              </a:ext>
            </a:extLst>
          </p:cNvPr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86715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creciente([2,5,8,9]).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creciente([2,5,1,8,9]).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creciente([4]).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creciente([]).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537B9CC1-B285-4604-8E30-DF06423B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Podéis usar el operador &lt;.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Examen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Pruebas adicionales de los ejercicios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F4728-45E1-4785-9B81-85ED97506C26}"/>
              </a:ext>
            </a:extLst>
          </p:cNvPr>
          <p:cNvGraphicFramePr/>
          <p:nvPr/>
        </p:nvGraphicFramePr>
        <p:xfrm>
          <a:off xmlns:a="http://schemas.openxmlformats.org/drawingml/2006/main" x="822960" y="1714500"/>
          <a:ext xmlns:a="http://schemas.openxmlformats.org/drawingml/2006/main" cx="10058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96125"/>
                <a:gridCol w="2962275"/>
              </a:tblGrid>
              <a:tr h="409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superiores(5,[5,8,8],R).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[8,8].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listar_hasta([1,2,1,3],1,R).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listar_hasta([1,2],9,R).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[1,2].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creciente([2,2,3]).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797BF400-D56A-4F49-9946-47289F7C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caso en que Elem no aparece sigue el comportamiento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del código de referencia: se devuelve toda la lista.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97620E35-735F-4E94-92FC-DAD059BE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53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Pruebas añadidas. Caso ausente en listar_hasta/3: código de referencia.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 de examen: superiores/3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E65D508C-60FC-4122-B90F-20B85F44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control.pl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EA8AF-A23B-4217-AD75-7598230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105156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5C76A9C3-FA48-4FB0-AA7B-C4145EF6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superiores(_,[],[]).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E5F12743-F4B4-4886-BD44-D56BC56F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484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superiores(Elem,[Car|Cdr],[Car|R]) :-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3427B2E0-C0BC-489F-907A-7AA092B7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81834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Elem &lt; Car, </a:t>
            </a:r>
            <a:r>
              <a:rPr sz="1950" b="1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, superiores(Elem,Cdr,R).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BAEC7887-4871-483B-95FD-87D8FAE9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98826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superiores(Elem,[_|Cdr],R) :-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14B43936-9F9F-45CD-8C6D-09D2742E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5818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superiores(Elem,Cdr,R).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595FC168-8157-4CF8-9DCB-CFDB8462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corte rojo evita descartar un elemento que debe aparecer.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Los elementos iguales a Elem quedan fuera.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7D724-011D-436A-AFC0-4E6F61F5400F}"/>
              </a:ext>
            </a:extLst>
          </p:cNvPr>
          <p:cNvGraphicFramePr/>
          <p:nvPr/>
        </p:nvGraphicFramePr>
        <p:xfrm>
          <a:off xmlns:a="http://schemas.openxmlformats.org/drawingml/2006/main" x="822960" y="4429125"/>
          <a:ext xmlns:a="http://schemas.openxmlformats.org/drawingml/2006/main" cx="10058400" cy="933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377190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superiores(5,[4,8,2,3,6],R).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[8,6].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 de examen: listar_hasta/3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9C65600F-1FD6-4739-9996-B71CEC74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control.pl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31D35-F4D1-440A-95FC-2A5A0916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10515600" cy="1420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601B5C56-BEB9-48B1-8CF6-2BF222D1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listar_hasta([],_,[]).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A6D061C4-0306-4319-91C2-637AA99A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484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listar_hasta([Elem|_],Elem,[]) :- </a:t>
            </a:r>
            <a:r>
              <a:rPr sz="1950" b="1">
                <a:solidFill>
                  <a:srgbClr val="B63232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EA7F5FDD-5A05-4D41-8E96-84B0DCF7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81834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listar_hasta([Car|Cdr],Elem,[Car|R]) :-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65E7D99C-1219-4259-A9A9-814602B9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98826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listar_hasta(Cdr,Elem,R).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01AA0CE5-CB82-4B59-94CF-5C422654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Al encontrar Elem, el resultado restante es [].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corte rojo impide continuar por detrás de esa aparición.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C86A0-09E2-48D0-B792-F71107C75F5D}"/>
              </a:ext>
            </a:extLst>
          </p:cNvPr>
          <p:cNvGraphicFramePr/>
          <p:nvPr/>
        </p:nvGraphicFramePr>
        <p:xfrm>
          <a:off xmlns:a="http://schemas.openxmlformats.org/drawingml/2006/main" x="822960" y="4191000"/>
          <a:ext xmlns:a="http://schemas.openxmlformats.org/drawingml/2006/main" cx="10058400" cy="933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377190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listar_hasta([1,2,3,4],3,R).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[1,2].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en Prolog · Soluciones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704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 de examen: creciente/1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63310F64-E8A3-4C13-8091-690B9B95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7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control.pl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E0CCE-657E-4507-8EDE-B40925AD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10515600" cy="1103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BD437B88-FEAC-44B2-ACDC-CC1D4468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creciente([_]).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1FD4AE14-64E0-4C96-88E2-C3DCBF05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4842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creciente([Car,Cadr|Cddr]) :-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740B63DD-79ED-40FE-BD81-57661781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81834"/>
            <a:ext cx="1028700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Car &lt; Cadr, creciente([Cadr|Cddr]).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F60140C6-0657-4B9A-86D9-71A2F6C0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71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Se comparan vecinos y se continúa desde el segundo.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No hay cláusula para []. Aquí no hace falta ningún corte.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99FF3-D775-44C0-85C5-882F495E9D56}"/>
              </a:ext>
            </a:extLst>
          </p:cNvPr>
          <p:cNvGraphicFramePr/>
          <p:nvPr/>
        </p:nvGraphicFramePr>
        <p:xfrm>
          <a:off xmlns:a="http://schemas.openxmlformats.org/drawingml/2006/main" x="822960" y="4191000"/>
          <a:ext xmlns:a="http://schemas.openxmlformats.org/drawingml/2006/main" cx="10058400" cy="1400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377190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SWI-Prolog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T w="5715">
                      <a:solidFill>
                        <a:srgbClr val="A69BA6"/>
                      </a:solidFill>
                    </a:lnT>
                    <a:lnB w="5715">
                      <a:solidFill>
                        <a:srgbClr val="A69BA6"/>
                      </a:solidFill>
                    </a:lnB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creciente([2,5,8,9]).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creciente([]).</a:t>
                      </a:r>
                    </a:p>
                  </a:txBody>
                  <a:tcPr marL="114300" marR="95250" marT="85725" marB="66675" anchor="t">
                    <a:lnL w="5715">
                      <a:solidFill>
                        <a:srgbClr val="A69BA6"/>
                      </a:solidFill>
                    </a:lnL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114300" marR="95250" marT="85725" marB="66675" anchor="t">
                    <a:lnR w="5715">
                      <a:solidFill>
                        <a:srgbClr val="A69BA6"/>
                      </a:solidFill>
                    </a:lnR>
                    <a:lnB w="5715">
                      <a:solidFill>
                        <a:srgbClr val="A69B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2026-10-18T19:21:56.0550000Z</dcterms:created>
  <dcterms:modified xsi:type="dcterms:W3CDTF">2026-10-18T19:21:56.0550000Z</dcterms:modified>
</coreProperties>
</file>