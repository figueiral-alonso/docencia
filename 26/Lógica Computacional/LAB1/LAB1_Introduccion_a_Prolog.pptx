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36200809af404abf"/><Relationship Type="http://schemas.openxmlformats.org/officeDocument/2006/relationships/extended-properties" Target="/docProps/app.xml" Id="Rc9e3d90e72f34e38"/><Relationship Type="http://schemas.openxmlformats.org/officeDocument/2006/relationships/officeDocument" Target="/ppt/presentation.xml" Id="R999be42e72c1422f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c818a370264531"/>
  </p:sldMasterIdLst>
  <p:sldIdLst>
    <p:sldId xmlns:r="http://schemas.openxmlformats.org/officeDocument/2006/relationships" id="256" r:id="R7659403b494c4aa4"/>
    <p:sldId xmlns:r="http://schemas.openxmlformats.org/officeDocument/2006/relationships" id="295" r:id="Ra4df9922c4234bd3"/>
    <p:sldId xmlns:r="http://schemas.openxmlformats.org/officeDocument/2006/relationships" id="257" r:id="R9fb27439572246eb"/>
    <p:sldId xmlns:r="http://schemas.openxmlformats.org/officeDocument/2006/relationships" id="258" r:id="Rc8690086080b4782"/>
    <p:sldId xmlns:r="http://schemas.openxmlformats.org/officeDocument/2006/relationships" id="259" r:id="R94aa058f30e549db"/>
    <p:sldId xmlns:r="http://schemas.openxmlformats.org/officeDocument/2006/relationships" id="260" r:id="Ra15e1517bdc044c1"/>
    <p:sldId xmlns:r="http://schemas.openxmlformats.org/officeDocument/2006/relationships" id="261" r:id="Rad614fa06ad14371"/>
    <p:sldId xmlns:r="http://schemas.openxmlformats.org/officeDocument/2006/relationships" id="262" r:id="Rdb77bc6c4e2b4074"/>
    <p:sldId xmlns:r="http://schemas.openxmlformats.org/officeDocument/2006/relationships" id="263" r:id="R62717964973947ef"/>
    <p:sldId xmlns:r="http://schemas.openxmlformats.org/officeDocument/2006/relationships" id="264" r:id="Rabafd74c503c41f1"/>
    <p:sldId xmlns:r="http://schemas.openxmlformats.org/officeDocument/2006/relationships" id="265" r:id="R3e1787e6f6574a9f"/>
    <p:sldId xmlns:r="http://schemas.openxmlformats.org/officeDocument/2006/relationships" id="266" r:id="Ra1311506a5b24e65"/>
    <p:sldId xmlns:r="http://schemas.openxmlformats.org/officeDocument/2006/relationships" id="267" r:id="R807736c7706c4470"/>
    <p:sldId xmlns:r="http://schemas.openxmlformats.org/officeDocument/2006/relationships" id="268" r:id="Rbfe9f42982424111"/>
    <p:sldId xmlns:r="http://schemas.openxmlformats.org/officeDocument/2006/relationships" id="269" r:id="Ra2098dc7dca94bd0"/>
    <p:sldId xmlns:r="http://schemas.openxmlformats.org/officeDocument/2006/relationships" id="270" r:id="Rfaa3f8acd407439c"/>
    <p:sldId xmlns:r="http://schemas.openxmlformats.org/officeDocument/2006/relationships" id="271" r:id="R270be166ecea4cf3"/>
    <p:sldId xmlns:r="http://schemas.openxmlformats.org/officeDocument/2006/relationships" id="272" r:id="Rf25e7b9e83c340e3"/>
    <p:sldId xmlns:r="http://schemas.openxmlformats.org/officeDocument/2006/relationships" id="273" r:id="Reddc51f79ef24c36"/>
    <p:sldId xmlns:r="http://schemas.openxmlformats.org/officeDocument/2006/relationships" id="274" r:id="Rf04595227a794cbb"/>
    <p:sldId xmlns:r="http://schemas.openxmlformats.org/officeDocument/2006/relationships" id="275" r:id="R1f8734fb51ea4870"/>
    <p:sldId xmlns:r="http://schemas.openxmlformats.org/officeDocument/2006/relationships" id="276" r:id="Rf69a6ee896224824"/>
    <p:sldId xmlns:r="http://schemas.openxmlformats.org/officeDocument/2006/relationships" id="277" r:id="Rdf5abf4c24d1401b"/>
    <p:sldId xmlns:r="http://schemas.openxmlformats.org/officeDocument/2006/relationships" id="278" r:id="R8eff6fd654c745a3"/>
    <p:sldId xmlns:r="http://schemas.openxmlformats.org/officeDocument/2006/relationships" id="279" r:id="R8d196db253f049a8"/>
    <p:sldId xmlns:r="http://schemas.openxmlformats.org/officeDocument/2006/relationships" id="280" r:id="Rc72b4ebdd9a94f6a"/>
    <p:sldId xmlns:r="http://schemas.openxmlformats.org/officeDocument/2006/relationships" id="281" r:id="R948258d5051a47ad"/>
    <p:sldId xmlns:r="http://schemas.openxmlformats.org/officeDocument/2006/relationships" id="282" r:id="Rb1415710f86f4130"/>
    <p:sldId xmlns:r="http://schemas.openxmlformats.org/officeDocument/2006/relationships" id="283" r:id="Rdb69ceb407d14322"/>
    <p:sldId xmlns:r="http://schemas.openxmlformats.org/officeDocument/2006/relationships" id="284" r:id="R27d9b9ddae9742a7"/>
    <p:sldId xmlns:r="http://schemas.openxmlformats.org/officeDocument/2006/relationships" id="285" r:id="R94b0b55c2d81423b"/>
    <p:sldId xmlns:r="http://schemas.openxmlformats.org/officeDocument/2006/relationships" id="286" r:id="R333cb4805c4b4edb"/>
    <p:sldId xmlns:r="http://schemas.openxmlformats.org/officeDocument/2006/relationships" id="287" r:id="Rdf679a0978a349cd"/>
    <p:sldId xmlns:r="http://schemas.openxmlformats.org/officeDocument/2006/relationships" id="288" r:id="Rcbe10cc87d6b4967"/>
    <p:sldId xmlns:r="http://schemas.openxmlformats.org/officeDocument/2006/relationships" id="289" r:id="R2560bc5388d340c7"/>
    <p:sldId xmlns:r="http://schemas.openxmlformats.org/officeDocument/2006/relationships" id="290" r:id="R8360a5d6aef9498f"/>
    <p:sldId xmlns:r="http://schemas.openxmlformats.org/officeDocument/2006/relationships" id="291" r:id="Rf44731c52be342de"/>
    <p:sldId xmlns:r="http://schemas.openxmlformats.org/officeDocument/2006/relationships" id="292" r:id="Re66f2a47609141c7"/>
    <p:sldId xmlns:r="http://schemas.openxmlformats.org/officeDocument/2006/relationships" id="293" r:id="Rd5ea7b93c887475f"/>
    <p:sldId xmlns:r="http://schemas.openxmlformats.org/officeDocument/2006/relationships" id="294" r:id="R5702867364e9440a"/>
  </p:sldIdLst>
  <p:sldSz cx="11704320" cy="658368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ea868dfe696e4216"/><Relationship Type="http://schemas.openxmlformats.org/officeDocument/2006/relationships/slideMaster" Target="/ppt/slideMasters/slideMaster1.xml" Id="R65c818a370264531"/><Relationship Type="http://schemas.openxmlformats.org/officeDocument/2006/relationships/presProps" Target="/ppt/presProps.xml" Id="R5c1e2f3b8c0e4537"/><Relationship Type="http://schemas.openxmlformats.org/officeDocument/2006/relationships/tableStyles" Target="/ppt/tableStyles.xml" Id="Rdfc074f8daba4794"/><Relationship Type="http://schemas.openxmlformats.org/officeDocument/2006/relationships/slide" Target="/ppt/slides/slide1.xml" Id="R7659403b494c4aa4"/><Relationship Type="http://schemas.openxmlformats.org/officeDocument/2006/relationships/slide" Target="/ppt/slides/slide2.xml" Id="R9fb27439572246eb"/><Relationship Type="http://schemas.openxmlformats.org/officeDocument/2006/relationships/slide" Target="/ppt/slides/slide3.xml" Id="Rc8690086080b4782"/><Relationship Type="http://schemas.openxmlformats.org/officeDocument/2006/relationships/slide" Target="/ppt/slides/slide4.xml" Id="R94aa058f30e549db"/><Relationship Type="http://schemas.openxmlformats.org/officeDocument/2006/relationships/slide" Target="/ppt/slides/slide5.xml" Id="Ra15e1517bdc044c1"/><Relationship Type="http://schemas.openxmlformats.org/officeDocument/2006/relationships/slide" Target="/ppt/slides/slide6.xml" Id="Rad614fa06ad14371"/><Relationship Type="http://schemas.openxmlformats.org/officeDocument/2006/relationships/slide" Target="/ppt/slides/slide7.xml" Id="Rdb77bc6c4e2b4074"/><Relationship Type="http://schemas.openxmlformats.org/officeDocument/2006/relationships/slide" Target="/ppt/slides/slide8.xml" Id="R62717964973947ef"/><Relationship Type="http://schemas.openxmlformats.org/officeDocument/2006/relationships/slide" Target="/ppt/slides/slide9.xml" Id="Rabafd74c503c41f1"/><Relationship Type="http://schemas.openxmlformats.org/officeDocument/2006/relationships/slide" Target="/ppt/slides/slide10.xml" Id="R3e1787e6f6574a9f"/><Relationship Type="http://schemas.openxmlformats.org/officeDocument/2006/relationships/slide" Target="/ppt/slides/slide11.xml" Id="Ra1311506a5b24e65"/><Relationship Type="http://schemas.openxmlformats.org/officeDocument/2006/relationships/slide" Target="/ppt/slides/slide12.xml" Id="R807736c7706c4470"/><Relationship Type="http://schemas.openxmlformats.org/officeDocument/2006/relationships/slide" Target="/ppt/slides/slide13.xml" Id="Rbfe9f42982424111"/><Relationship Type="http://schemas.openxmlformats.org/officeDocument/2006/relationships/slide" Target="/ppt/slides/slide14.xml" Id="Ra2098dc7dca94bd0"/><Relationship Type="http://schemas.openxmlformats.org/officeDocument/2006/relationships/slide" Target="/ppt/slides/slide15.xml" Id="Rfaa3f8acd407439c"/><Relationship Type="http://schemas.openxmlformats.org/officeDocument/2006/relationships/slide" Target="/ppt/slides/slide16.xml" Id="R270be166ecea4cf3"/><Relationship Type="http://schemas.openxmlformats.org/officeDocument/2006/relationships/slide" Target="/ppt/slides/slide17.xml" Id="Rf25e7b9e83c340e3"/><Relationship Type="http://schemas.openxmlformats.org/officeDocument/2006/relationships/slide" Target="/ppt/slides/slide18.xml" Id="Reddc51f79ef24c36"/><Relationship Type="http://schemas.openxmlformats.org/officeDocument/2006/relationships/slide" Target="/ppt/slides/slide19.xml" Id="Rf04595227a794cbb"/><Relationship Type="http://schemas.openxmlformats.org/officeDocument/2006/relationships/slide" Target="/ppt/slides/slide20.xml" Id="R1f8734fb51ea4870"/><Relationship Type="http://schemas.openxmlformats.org/officeDocument/2006/relationships/slide" Target="/ppt/slides/slide21.xml" Id="Rf69a6ee896224824"/><Relationship Type="http://schemas.openxmlformats.org/officeDocument/2006/relationships/slide" Target="/ppt/slides/slide22.xml" Id="Rdf5abf4c24d1401b"/><Relationship Type="http://schemas.openxmlformats.org/officeDocument/2006/relationships/slide" Target="/ppt/slides/slide23.xml" Id="R8eff6fd654c745a3"/><Relationship Type="http://schemas.openxmlformats.org/officeDocument/2006/relationships/slide" Target="/ppt/slides/slide24.xml" Id="R8d196db253f049a8"/><Relationship Type="http://schemas.openxmlformats.org/officeDocument/2006/relationships/slide" Target="/ppt/slides/slide25.xml" Id="Rc72b4ebdd9a94f6a"/><Relationship Type="http://schemas.openxmlformats.org/officeDocument/2006/relationships/slide" Target="/ppt/slides/slide26.xml" Id="R948258d5051a47ad"/><Relationship Type="http://schemas.openxmlformats.org/officeDocument/2006/relationships/slide" Target="/ppt/slides/slide27.xml" Id="Rb1415710f86f4130"/><Relationship Type="http://schemas.openxmlformats.org/officeDocument/2006/relationships/slide" Target="/ppt/slides/slide28.xml" Id="Rdb69ceb407d14322"/><Relationship Type="http://schemas.openxmlformats.org/officeDocument/2006/relationships/slide" Target="/ppt/slides/slide29.xml" Id="R27d9b9ddae9742a7"/><Relationship Type="http://schemas.openxmlformats.org/officeDocument/2006/relationships/slide" Target="/ppt/slides/slide30.xml" Id="R94b0b55c2d81423b"/><Relationship Type="http://schemas.openxmlformats.org/officeDocument/2006/relationships/slide" Target="/ppt/slides/slide31.xml" Id="R333cb4805c4b4edb"/><Relationship Type="http://schemas.openxmlformats.org/officeDocument/2006/relationships/slide" Target="/ppt/slides/slide32.xml" Id="Rdf679a0978a349cd"/><Relationship Type="http://schemas.openxmlformats.org/officeDocument/2006/relationships/slide" Target="/ppt/slides/slide33.xml" Id="Rcbe10cc87d6b4967"/><Relationship Type="http://schemas.openxmlformats.org/officeDocument/2006/relationships/slide" Target="/ppt/slides/slide34.xml" Id="R2560bc5388d340c7"/><Relationship Type="http://schemas.openxmlformats.org/officeDocument/2006/relationships/slide" Target="/ppt/slides/slide35.xml" Id="R8360a5d6aef9498f"/><Relationship Type="http://schemas.openxmlformats.org/officeDocument/2006/relationships/slide" Target="/ppt/slides/slide36.xml" Id="Rf44731c52be342de"/><Relationship Type="http://schemas.openxmlformats.org/officeDocument/2006/relationships/slide" Target="/ppt/slides/slide37.xml" Id="Re66f2a47609141c7"/><Relationship Type="http://schemas.openxmlformats.org/officeDocument/2006/relationships/slide" Target="/ppt/slides/slide38.xml" Id="Rd5ea7b93c887475f"/><Relationship Type="http://schemas.openxmlformats.org/officeDocument/2006/relationships/slide" Target="/ppt/slides/slide39.xml" Id="R5702867364e9440a"/><Relationship Type="http://schemas.openxmlformats.org/officeDocument/2006/relationships/slide" Target="/ppt/slides/slide40.xml" Id="Ra4df9922c4234bd3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8fe2f727fab439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df8f04e4a8654c82"/><Relationship Type="http://schemas.openxmlformats.org/officeDocument/2006/relationships/slideLayout" Target="/ppt/slideLayouts/slideLayout1.xml" Id="Rf3f44d864e9f4499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f44d864e9f44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27e0e5362c34625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cc94bfe38d54146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6662ae2c7dc4f85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6c2efe0122746bb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88782579e584868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88a7c4ee91f4b7d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f8b55160e844b21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d17a1f5b2554b6d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ab33a7e7d3747fa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cb0b41371144c74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0a75d23ea7d43ea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84da9c454144688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9163c2bab314d7f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2480a29b49f4b21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63ae2aa4c9040b9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cda60af84de4935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703519b6891476e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6179dffba36487c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11ac9e94a184351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b2a3f704cce4ef5"/><Relationship Type="http://schemas.openxmlformats.org/officeDocument/2006/relationships/image" Target="/ppt/media/image.jpeg" Id="R192d07ea579143d3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302a1a50d734f01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7a43d9707174604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0deed6babad4e10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123b069cd824952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abcc6d8b5a242f8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74cea8441344ea9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28e7fc863ec48ec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6f5eef5754f43f7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ade1dd50ad14ebc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fc6d1f539854825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e577af993e845d6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a645084ba334109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cf582a54fe9411c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3556260923b47cb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6506bd9eaa7466c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67bca05262b4434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db2c4729a32436f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afabc4c18d74d68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ab80c35eaad4df6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a01e18f878b436f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0BEDA-6BF5-4ACC-A016-4CFFC8D0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BC2CD-89F7-414B-9DBE-2BEFED94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7EC9F-E42F-4C5F-95C7-4820C43E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1 · Preparación y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50C8F-597B-4AEF-92D5-FDFA4CED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Práctica 1 de Lógica Computacional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A60D7-44C8-4554-8732-4DAAF1C8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E02F1-40F4-494B-8281-53C894C2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523A7-11FA-452E-8AED-8BA132AB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0058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744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3744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Introducción a Prolog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A41AC-3F69-4570-90EA-C9FA82D1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6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46978A-432F-4D87-AD0B-BCDAD6C7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8912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44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944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erik.figueiral.alonso@uvigo.gal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74574-F528-4BC9-9B8B-6493A8C9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21 de julio de 2026</a:t>
            </a:r>
          </a:p>
        </p:txBody>
      </p:sp>
    </p:spTree>
    <p:extLst>
      <p:ext uri="{BB962C8B-B14F-4D97-AF65-F5344CB8AC3E}">
        <p14:creationId xmlns:p14="http://schemas.microsoft.com/office/powerpoint/2010/main" val="1434251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1 · Preparación y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Qué vamos a aprender y practicar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63D24-4965-42C6-9CF8-07476247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101498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232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Cargar un programa, interpretar sus respuestas</a:t>
            </a:r>
          </a:p>
          <a:p xmlns:a="http://schemas.openxmlformats.org/drawingml/2006/main">
            <a:pPr algn="l">
              <a:defRPr sz="2232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232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y escribir relaciones recursivas sencillas.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22960" y="2834640"/>
          <a:ext xmlns:a="http://schemas.openxmlformats.org/drawingml/2006/main" cx="1014984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9120"/>
                <a:gridCol w="5760720"/>
              </a:tblGrid>
              <a:tr h="6172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Bloque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Contenido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1 · Preparación y lenguaje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Paradigma, entorno, sintaxis y semántica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2 · Consultas y resolución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Preguntas, unificación y árboles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3 · Ejercicios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Naturales, suma, paridad, igualdad y aritmética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C1BC9-060D-4F97-8982-1C4E9FC0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21A45-51F4-417C-9277-7B3E9F96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A69A3-0834-47AF-90BC-D2AA35BF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1 · Preparación y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FE133-DF75-437B-8AB4-EDD15F4F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Describimos las propiedades; el motor resuelve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07F45-8B36-4FB4-A1B2-D159A8A6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3DEE7-32B6-411E-BACA-8FB6E415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4F2CA-2563-409C-83F5-DEAE7B6B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08176"/>
            <a:ext cx="101498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76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376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Nosotros: PROPIEDADES del problema.</a:t>
            </a:r>
          </a:p>
          <a:p xmlns:a="http://schemas.openxmlformats.org/drawingml/2006/main">
            <a:pPr algn="l">
              <a:defRPr sz="2376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376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El MOTOR de inferencia busca las soluciones.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7CC77-703C-491A-B07B-0BB52EE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67712"/>
            <a:ext cx="101498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58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Incógnitas lógicas, sin reasignaciones ni entradas/salidas fijas.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11EF8-7C6C-4A97-BEA3-44431D13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97480"/>
            <a:ext cx="101498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232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«Quien tiene un amigo tiene un tesoro».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22960" y="3337560"/>
          <a:ext xmlns:a="http://schemas.openxmlformats.org/drawingml/2006/main" cx="10149840" cy="196596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77640"/>
                <a:gridCol w="6172200"/>
              </a:tblGrid>
              <a:tr h="491490"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 que describimos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Ejemplo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Hecho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Ana tiene un amigo.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Regla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Si alguien tiene un amigo, tiene un tesoro.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Pregunta → deducción del motor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¿Quién tiene un tesoro? → Ana.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ED0CB-2D15-40E4-B48F-FB18C9EF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32120"/>
            <a:ext cx="10149840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PSR (problemas de satisfacción de restricciones), IA y planificación:</a:t>
            </a:r>
          </a:p>
          <a:p xmlns:a="http://schemas.openxmlformats.org/drawingml/2006/main">
            <a:pPr algn="l">
              <a:defRPr sz="172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definimos qué debe cumplirse; el motor busca cómo satisfacerlo.</a:t>
            </a:r>
          </a:p>
        </p:txBody>
      </p:sp>
    </p:spTree>
    <p:extLst>
      <p:ext uri="{BB962C8B-B14F-4D97-AF65-F5344CB8AC3E}">
        <p14:creationId xmlns:p14="http://schemas.microsoft.com/office/powerpoint/2010/main" val="114159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6136E-43B6-485E-8362-0EA8B004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1FFF1-9B3D-43E0-99EE-830D3EB6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97A20-32ED-4BC3-8FED-C41DE68B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1 · Preparación y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9BD3E-FB62-45D8-97DD-BFEBD80F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Equivalencia: qué se demostró y quién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38496-FBCE-460B-A8BB-E82CE755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AAE07-C608-4AA1-9141-0D0624D2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1D20F-71D1-4408-B12A-416102B0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101498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76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376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Imperativo · Funcional · Lógico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2423160"/>
          <a:ext xmlns:a="http://schemas.openxmlformats.org/drawingml/2006/main" cx="10149840" cy="2240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858000"/>
                <a:gridCol w="3291840"/>
              </a:tblGrid>
              <a:tr h="7467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Autor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Cálculo lambda y máquinas de Turing</a:t>
                      </a:r>
                    </a:p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tienen la misma capacidad de cálculo.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Alan Turing · 1937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Las cláusulas de Horn permiten expresar</a:t>
                      </a:r>
                    </a:p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cualquier función computable.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Sten-Åke Tärnlund · 1977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F6B1C-DEB1-4454-B046-78A2B71D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La equivalencia es de capacidad, no de eficiencia.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E7605-9063-4995-871B-D05CE318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Turing: Computability and λ-Definability · Tärnlund: Horn clause computability, doi.org/10.1007/BF01932293</a:t>
            </a:r>
          </a:p>
        </p:txBody>
      </p:sp>
    </p:spTree>
    <p:extLst>
      <p:ext uri="{BB962C8B-B14F-4D97-AF65-F5344CB8AC3E}">
        <p14:creationId xmlns:p14="http://schemas.microsoft.com/office/powerpoint/2010/main" val="1731711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7C9385-FDEF-472C-BB3D-555C3154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BF0D3-73D9-40B3-ACCE-02D43781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9F905C-34B1-4621-843E-2E0E1DED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1 · Preparación y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E064A-3A14-4AEA-B42F-C23EE064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Antes de empezar: abrir SWI-Prolog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A2AB6-169A-4744-9841-F3B32C0C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3BBB7-9B78-42AD-AB00-422E5AF7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C4AE1-4BB9-4033-A191-531339EE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10149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232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En los equipos Ubuntu del aula debería estar instalado.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9116E-959B-4914-8C4D-68BA2341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429768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BFBA7-EDCA-4942-804B-B4756F0E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587752"/>
            <a:ext cx="387705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66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66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swipl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17AE1-BC2E-4E1B-9568-283BA97E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60320"/>
            <a:ext cx="52120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16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16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En la terminal → aparece ?-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5A638-AE5C-4B98-B1A9-BCFC8F33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2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2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no está instalado en vuestro Ubuntu: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C51C36-B44B-4F5E-803D-6A604A42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50792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Terminal del sistema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EFB5C-E857-4C24-84FD-C3B55315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79392"/>
            <a:ext cx="10149840" cy="1152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A57A2-1A6B-417E-A110-ECD03D76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443984"/>
            <a:ext cx="9729216" cy="896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sudo apt update</a:t>
            </a:r>
          </a:p>
          <a:p xmlns:a="http://schemas.openxmlformats.org/drawingml/2006/main">
            <a:pPr algn="l">
              <a:defRPr sz="216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sudo apt install swi-prolog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BE347-2A0C-4F4C-B5B8-20B05016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22976"/>
            <a:ext cx="101498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6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656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Último recurso: swish.swi-prolog.org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73025-EFA5-4602-A4A3-B021B4A5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70448"/>
            <a:ext cx="101498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12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512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Versión web: no la recomiendo para seguir esta práctica.</a:t>
            </a:r>
          </a:p>
        </p:txBody>
      </p:sp>
    </p:spTree>
    <p:extLst>
      <p:ext uri="{BB962C8B-B14F-4D97-AF65-F5344CB8AC3E}">
        <p14:creationId xmlns:p14="http://schemas.microsoft.com/office/powerpoint/2010/main" val="298459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E4BE2-9414-443F-8F22-449A69D9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245EA-73D2-47BF-9434-269CAE06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4208F-1A1E-4A2E-BD27-7D36EFE2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1 · Preparación y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E0FF2-559B-4594-A8D4-882AF77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Cargar, preguntar y salir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E8C5B6-0E68-45C4-8316-BE0555E8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20CC1-438C-4792-8367-2E2E086F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FDFE9-E2BC-4298-9F0D-40046343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101498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44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944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Guardamos natural.pl en la carpeta desde la que abrimos Prolog.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C0160-6281-4E27-AB43-EE1D6343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4892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94FDC-2CA3-450A-9A08-602CD1416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489204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9AE20-FDA2-4334-AAEA-DD7532D4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542032"/>
            <a:ext cx="4471416" cy="886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consult(natural).</a:t>
            </a:r>
          </a:p>
          <a:p xmlns:a="http://schemas.openxmlformats.org/drawingml/2006/main">
            <a:pPr algn="l">
              <a:defRPr sz="216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true.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4D671-92E3-4BC2-A66A-5825E9B4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60320"/>
            <a:ext cx="48920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16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1  Cargar el archivo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92987-4922-4585-A480-7FDB69A3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48920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96EC3-724C-4B21-B934-D6971A9A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489204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A43598-94A4-4FF5-A154-3F32390A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005072"/>
            <a:ext cx="4471416" cy="886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hombre(adan).</a:t>
            </a:r>
          </a:p>
          <a:p xmlns:a="http://schemas.openxmlformats.org/drawingml/2006/main">
            <a:pPr algn="l">
              <a:defRPr sz="216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true.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80A19-DAA7-42F6-A8C1-8D4BE3AB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023360"/>
            <a:ext cx="48920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16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2  Hacer una pregunta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73AA3-B5FA-46A4-913B-6956A35E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0"/>
            <a:ext cx="101498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44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944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3  Salir: halt.     Si escribimos halt sin punto, Prolog espera.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D845A-C152-4E96-9D0E-A4425413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El programa de ejemplo aparece a continuación. Tras editar: guardar y volver a cargar con consult(natural).</a:t>
            </a:r>
          </a:p>
        </p:txBody>
      </p:sp>
    </p:spTree>
    <p:extLst>
      <p:ext uri="{BB962C8B-B14F-4D97-AF65-F5344CB8AC3E}">
        <p14:creationId xmlns:p14="http://schemas.microsoft.com/office/powerpoint/2010/main" val="972495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80ED7-F02F-4400-B70D-5C96B3AF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937E7-93B0-4968-BB89-A366D37C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FF202-FD7F-49AB-9FEC-1036F485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1 · Preparación y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C5A69-6FA4-47B2-8207-F505CE5C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Un nombre no es una variable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513BE8-11B6-44F8-9ACD-03DE32E4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F56AAD-4ECE-4506-953B-9703DFD4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20246-81B2-459A-9A8C-BC664F9A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101498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232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¿Qué cambia al escribir una mayúscula?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B5F943-A244-4D81-BC6A-3D14388A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31720"/>
            <a:ext cx="59436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830C4-3767-4C42-869F-6FF46FE3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496312"/>
            <a:ext cx="552297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2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52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natural        'natural'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B28E2-DB9A-4E31-9400-8C510D37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7744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El mismo nombre</a:t>
            </a:r>
          </a:p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(un átomo)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A971C-9E95-4274-8AA4-0439AF83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59436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55E24-144A-4A8D-9982-73467866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776472"/>
            <a:ext cx="552297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2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52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Natural        'Natural'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DBF74-9AA1-468D-B228-A3E9684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66160"/>
            <a:ext cx="3566160" cy="8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Natural: variable</a:t>
            </a:r>
          </a:p>
          <a:p xmlns:a="http://schemas.openxmlformats.org/drawingml/2006/main">
            <a:pPr algn="l">
              <a:defRPr sz="18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'Natural': nombre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E46D6-EEB8-4EB8-9CF1-026FF628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101498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Para cargar el fichero: consult('natural.pl').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A692A-C145-4105-AA1A-F0854730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Mayúscula o _ al inicio: variable. Comillas simples: nombre literal.</a:t>
            </a:r>
          </a:p>
        </p:txBody>
      </p:sp>
    </p:spTree>
    <p:extLst>
      <p:ext uri="{BB962C8B-B14F-4D97-AF65-F5344CB8AC3E}">
        <p14:creationId xmlns:p14="http://schemas.microsoft.com/office/powerpoint/2010/main" val="3225212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71CD8-81A9-4732-B1A9-E75E852B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87E30-F73F-4934-94CA-53A24DE2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E3A6E-891F-4B31-ACFD-6EF412F3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1 · Preparación y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5667C-4A95-4F1E-B670-EAD6B0BC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Primero, una tabla de sintaxis y semántica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C229E-C28B-43C2-8007-80BB47AD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94354-B06C-421A-A0BA-3CAC3E19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5D8ED-DEC4-47D9-A246-5276F016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1498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232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La construiremos para cada relación que programemos.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2423160"/>
          <a:ext xmlns:a="http://schemas.openxmlformats.org/drawingml/2006/main" cx="10149840" cy="2011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88920"/>
                <a:gridCol w="5257800"/>
                <a:gridCol w="2103120"/>
              </a:tblGrid>
              <a:tr h="670560">
                <a:tc>
                  <a:txBody>
                    <a:bodyPr/>
                    <a:lstStyle/>
                    <a:p>
                      <a:r>
                        <a:rPr sz="1944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44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 que acordamos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44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944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hombre(P)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44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 es un ser humano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44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hombre/1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944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mortal(P)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44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 es mortal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44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mortal/1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74BB9-B10D-4F09-A4F4-AAC0E0D9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El nombre no aporta el significado: lo fijamos nosotros.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0D44D-86B2-4A6D-8BDA-A3C721CA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77840"/>
            <a:ext cx="1014984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La firma indica el nombre y el número de argumentos.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89EAC-6416-4DB0-ABC3-DCF59AE3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Programación lógica e inteligencia artificial, §2.</a:t>
            </a:r>
          </a:p>
        </p:txBody>
      </p:sp>
    </p:spTree>
    <p:extLst>
      <p:ext uri="{BB962C8B-B14F-4D97-AF65-F5344CB8AC3E}">
        <p14:creationId xmlns:p14="http://schemas.microsoft.com/office/powerpoint/2010/main" val="198761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BD834-1931-4DBE-A1AB-8D62A30E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AD1C3-A5F4-4C90-8B22-C5768899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1AF93-9AFD-4020-A6E9-5D0076F5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1 · Preparación y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F514E-1FF5-4A5D-A121-757CCB78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La sintaxis de un programa lógico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DE481-93CD-486C-8CB5-BAD4D57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85DFC-C622-46FD-930E-CF40F21E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281E8-3F9D-4811-913A-478D5A6C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81328"/>
            <a:ext cx="1014984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16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16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Un programa lógico puro es un conjunto de cláusulas de Horn definidas.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2331720"/>
          <a:ext xmlns:a="http://schemas.openxmlformats.org/drawingml/2006/main" cx="10149840" cy="237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1920"/>
                <a:gridCol w="6217920"/>
              </a:tblGrid>
              <a:tr h="59436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Forma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Cómo se lee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Hecho o axioma: p se acepta sin premisas.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 :- q, 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Regla: p es cierto si q y r son ciertos.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Pregunta al intérprete: ¿puede demostrar p?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12932-71ED-4EEC-A79B-895D5E04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01498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Una conclusión (cabeza), cero o más premisas (cuerpo).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E71F5-2FE7-4E0F-99CF-25501D53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58968"/>
            <a:ext cx="1014984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44" b="0">
                <a:solidFill>
                  <a:srgbClr val="A43B43"/>
                </a:solidFill>
                <a:latin typeface="Arial"/>
                <a:ea typeface="Arial"/>
                <a:cs typeface="Arial"/>
              </a:defRPr>
            </a:pPr>
            <a:r>
              <a:rPr sz="1944" b="0">
                <a:solidFill>
                  <a:srgbClr val="A43B43"/>
                </a:solidFill>
                <a:latin typeface="Arial"/>
                <a:ea typeface="Arial"/>
                <a:cs typeface="Arial"/>
              </a:rPr>
              <a:t>p ∨ q ← r   no es Horn: contiene dos conclusiones positivas.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C59DA-1838-4FB3-9661-BE007610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La consulta no se escribe como un hecho del programa. Aquí usamos el fragmento lógico puro.</a:t>
            </a:r>
          </a:p>
        </p:txBody>
      </p:sp>
    </p:spTree>
    <p:extLst>
      <p:ext uri="{BB962C8B-B14F-4D97-AF65-F5344CB8AC3E}">
        <p14:creationId xmlns:p14="http://schemas.microsoft.com/office/powerpoint/2010/main" val="13042572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06A9A-7B41-478F-BB26-40E47B15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40F14-4ADB-42FC-9217-6D751292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9949E-D133-4052-B565-673C17AF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1 · Preparación y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1B3B0-F7E7-48C7-B78E-5A27F6FC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Nuestro primer programa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95FFB-FC49-4487-8877-25333541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D0B01-BA0B-411A-B759-1543A283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B49F1-1BCD-48FA-A1BB-6850027B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1732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Archivo natural.pl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09E08-9ABF-4616-B80F-F3D44CF2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45920"/>
            <a:ext cx="1014984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B3F55-BEFF-448C-9BC6-64A6E2C4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810512"/>
            <a:ext cx="9729216" cy="1984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hombre(adan).                 % c1: hecho</a:t>
            </a:r>
          </a:p>
          <a:p xmlns:a="http://schemas.openxmlformats.org/drawingml/2006/main">
            <a:pPr algn="l">
              <a:defRPr sz="216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hombre(eva).                  % c2: hecho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6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mortal(P) :- hombre(P).        % c3: regla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FFBF8-AADE-486C-A744-D6038E7D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24528"/>
            <a:ext cx="101498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232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Para toda P: si P es un ser humano, P es mortal.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22C2B-50E5-41DA-B563-56D51782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149840" cy="77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2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2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 es una variable. adan y eva son átomos.</a:t>
            </a:r>
          </a:p>
          <a:p xmlns:a="http://schemas.openxmlformats.org/drawingml/2006/main">
            <a:pPr algn="l">
              <a:defRPr sz="1872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2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% comenta una línea. /* ... */ delimita un comentario.</a:t>
            </a:r>
          </a:p>
        </p:txBody>
      </p:sp>
    </p:spTree>
    <p:extLst>
      <p:ext uri="{BB962C8B-B14F-4D97-AF65-F5344CB8AC3E}">
        <p14:creationId xmlns:p14="http://schemas.microsoft.com/office/powerpoint/2010/main" val="6735735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FF466-5D9B-4539-8D7B-86764214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91156-BE13-41B9-92C6-5690EECD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FE7C8-F573-4DA1-9D0B-57962A4F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2 · Consultas y resolución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32D38-1FE6-4957-8B63-FDC14B83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Preguntar y pedir otra respuesta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EF350-0E17-466B-9E74-FCA798F1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4F80A-0320-4EC0-B293-D2EEF5F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A6C54-22EE-4758-A339-4875F3D7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71600"/>
            <a:ext cx="5943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EEFA1-0603-4E3C-B969-8F426DAB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5943600" cy="2834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7B023-1097-4234-B0E5-96A96E32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764792"/>
            <a:ext cx="5522976" cy="2578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hombre(adan).</a:t>
            </a:r>
          </a:p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hombre(P).</a:t>
            </a:r>
          </a:p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 = adan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DD0DD-C79F-4F36-8134-0AD45177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901952"/>
            <a:ext cx="1554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76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576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520D9-2DE4-4095-8F8A-ACA1277F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834640"/>
            <a:ext cx="393192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Me quedo con esta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B8EEB-EB4E-4C7A-9A1B-599784F5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547872"/>
            <a:ext cx="155448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76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576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F73D2-2B45-496D-BFED-324D6C94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4489704"/>
            <a:ext cx="402336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Busco otra: P = eva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07D2B-F22B-4C96-93B8-6EB5DB88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16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16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Primero: punto para terminar la consulta. Después: . o ;</a:t>
            </a:r>
          </a:p>
        </p:txBody>
      </p:sp>
    </p:spTree>
    <p:extLst>
      <p:ext uri="{BB962C8B-B14F-4D97-AF65-F5344CB8AC3E}">
        <p14:creationId xmlns:p14="http://schemas.microsoft.com/office/powerpoint/2010/main" val="18076974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0FA1D-7054-426A-AE40-3AA39B32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C522D-D335-435F-AB9D-A078A67B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F21A5-E8E0-4B55-8885-099FE27A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2 · Consultas y resolución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368AB-ABAD-47BA-85CD-9F34AD0C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Unificar: hacer coincidir dos términos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FA94C-6050-4EE8-8BCE-8D8B5BE1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2808F-AD16-4748-A54B-8FF3E526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597C7-E1AC-4BB8-96B9-1F480BFF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1014984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D6763-CC5A-477E-BDDB-8D91F925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856232"/>
            <a:ext cx="9729216" cy="1481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9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59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hombre(P)        hombre(adan)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9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59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θ = {P = adan}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1EC69B-155A-4B98-A492-ACC10982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101498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232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La sustitución hace idénticos los dos términos.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BC3A7-F212-4D6D-839F-1A425CD9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709160"/>
            <a:ext cx="1014984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7AE7B-EF9B-40FE-A339-8DD1B21E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873752"/>
            <a:ext cx="972921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hombre(P)        mortal(adan)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6DB73-3499-404A-95AD-420E82A5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724144"/>
            <a:ext cx="101498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2" b="0">
                <a:solidFill>
                  <a:srgbClr val="A43B43"/>
                </a:solidFill>
                <a:latin typeface="Arial"/>
                <a:ea typeface="Arial"/>
                <a:cs typeface="Arial"/>
              </a:defRPr>
            </a:pPr>
            <a:r>
              <a:rPr sz="1872" b="0">
                <a:solidFill>
                  <a:srgbClr val="A43B43"/>
                </a:solidFill>
                <a:latin typeface="Arial"/>
                <a:ea typeface="Arial"/>
                <a:cs typeface="Arial"/>
              </a:rPr>
              <a:t>No unifican: sus nombres son diferentes.</a:t>
            </a:r>
          </a:p>
        </p:txBody>
      </p:sp>
    </p:spTree>
    <p:extLst>
      <p:ext uri="{BB962C8B-B14F-4D97-AF65-F5344CB8AC3E}">
        <p14:creationId xmlns:p14="http://schemas.microsoft.com/office/powerpoint/2010/main" val="4350358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8CB31-3A53-4533-A805-309DA5D5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5425B-B409-4691-AFC3-485CF710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0A35D-15E0-4AE5-8525-AEA0EAC1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2 · Consultas y resolución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49B75-895D-4D9B-AF33-A814D965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Resolución: demostrar mortal(adan)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81AF6-98C8-4C3F-990C-EFEEF4F2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29402-BFD5-41BF-9B7C-72A45221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7BC82-AA51-4BE4-A6AB-78117E22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508760"/>
            <a:ext cx="393192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{mortal(adan)}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2D55C-BA0E-4B6B-967F-47C5B2A9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017520"/>
            <a:ext cx="393192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{hombre(adan)}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47DCC-AB0B-45EF-B1E3-661F6DD9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572000"/>
            <a:ext cx="109728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 }</a:t>
            </a:r>
          </a:p>
        </p:txBody>
      </p:sp>
      <p:cxnSp>
        <p:nvCxnSpPr>
          <p:cNvPr id="26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297680" y="1929384"/>
            <a:ext cx="0" cy="108813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2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297680" y="3438144"/>
            <a:ext cx="0" cy="113385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C7BB36-6240-419A-9765-BD31A75C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331720"/>
            <a:ext cx="49377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c3, θ1 = {P1 = adan}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A861A-3459-4973-B615-0FBC9C0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867912"/>
            <a:ext cx="49377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c1, θ2 = { 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42841-53F9-4E99-808A-9CEC9DEE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0"/>
            <a:ext cx="100584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2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72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Cada nodo: objetivos pendientes.</a:t>
            </a:r>
          </a:p>
          <a:p xmlns:a="http://schemas.openxmlformats.org/drawingml/2006/main">
            <a:pPr algn="l">
              <a:defRPr sz="1872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72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Cada rama: cláusula y unificador.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CFC01-BCD9-4F75-B626-3BD2F85C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5038344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Éxito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DD188-AC61-4296-956A-0E0D8A72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Resolventes y renombramiento de variables: apuntes, §3.1, pp. 8–11.</a:t>
            </a:r>
          </a:p>
        </p:txBody>
      </p:sp>
    </p:spTree>
    <p:extLst>
      <p:ext uri="{BB962C8B-B14F-4D97-AF65-F5344CB8AC3E}">
        <p14:creationId xmlns:p14="http://schemas.microsoft.com/office/powerpoint/2010/main" val="4484743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840881-B0AB-48EE-8C12-72638224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F6253-8CF4-4093-880E-5447B02A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9082AA-D161-455C-BC0C-D6896E44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2 · Consultas y resolución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5C56B-C77D-497B-A5DA-982B526D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Resolución: todas las respuestas de mortal(M)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51341-6A7C-406E-AE2D-3B910A65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48E63-A16E-4557-B3E0-801ED967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48F42-AEA7-4DDD-9A38-5904BDF1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371600"/>
            <a:ext cx="393192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{mortal(M)}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D1CE1-EC94-4068-958D-4C849570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788920"/>
            <a:ext cx="393192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{hombre(M)}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0796F-C420-4ACB-934B-66712E61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72000"/>
            <a:ext cx="9144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 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F56FB-92D9-462F-B030-63418B5C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572000"/>
            <a:ext cx="9144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 }</a:t>
            </a:r>
          </a:p>
        </p:txBody>
      </p:sp>
      <p:cxnSp>
        <p:nvCxnSpPr>
          <p:cNvPr id="30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35040" y="1792224"/>
            <a:ext cx="0" cy="99669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31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2743200" y="3209544"/>
            <a:ext cx="3291840" cy="136245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32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35040" y="3209544"/>
            <a:ext cx="3200400" cy="136245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99A13C-8C10-4BF7-89E8-FF48DE30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057400"/>
            <a:ext cx="32918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c3, {P1 = M}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3DB43-6179-4F41-B95D-D1DDBBC4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611880"/>
            <a:ext cx="36576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c1, {M = adan}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10D0A-915B-4491-9B34-0E467096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83280"/>
            <a:ext cx="324612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c2, {M = eva}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5D488F-1868-48CA-BD15-7506B525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12064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M = adan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1D3F7-0CA4-4598-B05D-A17CEFCD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120640"/>
            <a:ext cx="3291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M = eva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AD7E2B-67E3-43EA-BF57-47E8B8EF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{ } es la resolvente vacía. No quedan objetivos. Cada hoja de éxito da una respuesta.</a:t>
            </a:r>
          </a:p>
        </p:txBody>
      </p:sp>
    </p:spTree>
    <p:extLst>
      <p:ext uri="{BB962C8B-B14F-4D97-AF65-F5344CB8AC3E}">
        <p14:creationId xmlns:p14="http://schemas.microsoft.com/office/powerpoint/2010/main" val="20711902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6A248-9D15-4218-9135-620EE0B1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D3ED1-3D1E-4D6F-B0D2-829D5CDD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CE8B9-7799-4DD6-9D90-78DAA269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BFA1E-6A70-476F-AB75-6EA32DC4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Naturales: sintaxis, semántica y representación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2A5FA-F4A4-4606-8480-29274EB2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6B852-B0CA-48FD-899E-5A2DCD9A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22960" y="1645920"/>
          <a:ext xmlns:a="http://schemas.openxmlformats.org/drawingml/2006/main" cx="10149840" cy="25603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51760"/>
                <a:gridCol w="5303520"/>
                <a:gridCol w="2194560"/>
              </a:tblGrid>
              <a:tr h="640080"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El número cero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s(X)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El siguiente de 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s/1, funtor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nat(N)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 es un natural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nat/1, predicado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FF3E3-7CDD-4612-A9B1-0B356666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63440"/>
            <a:ext cx="10149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4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304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0       s(0)       s(s(0))       s(s(s(0)))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CA33F-43CA-4A95-B459-66D665C8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50408"/>
            <a:ext cx="101498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44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944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s(X) construye un término. nat(N) expresa una propiedad.</a:t>
            </a:r>
          </a:p>
        </p:txBody>
      </p:sp>
    </p:spTree>
    <p:extLst>
      <p:ext uri="{BB962C8B-B14F-4D97-AF65-F5344CB8AC3E}">
        <p14:creationId xmlns:p14="http://schemas.microsoft.com/office/powerpoint/2010/main" val="18954442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A8C92-2E64-47CA-B686-885D0047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5057E-77E3-4373-9A81-E97BF88F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31B3C-4355-4FDD-BE32-2445EA5D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5BAC7-20BF-49A5-A178-BB2FEE00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Los naturales: un axioma y una regla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89BAB-1FFF-43C0-882C-5B3CAEDB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3A26D-D237-4B57-B376-EBBABCC5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26EB7-16E6-45AE-BA80-53BDA6A9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82880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Archivo natural.pl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CAD68-8530-4752-95CD-2678B603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10149840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3A77B-E9E7-49A1-9689-71F6EBEF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221992"/>
            <a:ext cx="9729216" cy="1298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48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48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nat(0).                       % c1</a:t>
            </a:r>
          </a:p>
          <a:p xmlns:a="http://schemas.openxmlformats.org/drawingml/2006/main">
            <a:pPr algn="l">
              <a:defRPr sz="2448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48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nat(s(X)) :- nat(X).           % 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C0491-D4EF-44E2-B791-CF429062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87368"/>
            <a:ext cx="1014984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4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304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El cero es natural.</a:t>
            </a:r>
          </a:p>
          <a:p xmlns:a="http://schemas.openxmlformats.org/drawingml/2006/main">
            <a:pPr algn="l">
              <a:defRPr sz="2304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304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Si X es natural, su siguiente también lo 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4B173-E65F-464A-B937-1D66B43C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7784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Axioma → caso base. Regla recursiva → problema más pequeño.</a:t>
            </a:r>
          </a:p>
        </p:txBody>
      </p:sp>
    </p:spTree>
    <p:extLst>
      <p:ext uri="{BB962C8B-B14F-4D97-AF65-F5344CB8AC3E}">
        <p14:creationId xmlns:p14="http://schemas.microsoft.com/office/powerpoint/2010/main" val="8887745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8FF8E-59DA-48C8-AB58-CD7B7FE6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F5FE8-4AB9-4642-A21E-73FF3136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9FE82-7F4B-4B2C-85AD-BE56B95F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42C5B-1267-403F-8369-99D0D75C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¿Qué consultas tendrán éxito?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3D0F9-0EDA-4849-9A03-9AF2CF67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EE88D-C988-44E1-9A96-6CBB9041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5C1F3-E53A-4D7B-88D2-53E62489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36192"/>
            <a:ext cx="10058400" cy="6217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Responded antes de ejecutar.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784E9-89A4-4181-827B-78377F29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6EC8A-E1DE-44E6-B753-5C957FCB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1014984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F1BA2-E727-4764-9A8B-C873F05C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587752"/>
            <a:ext cx="9729216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nat(0).</a:t>
            </a:r>
          </a:p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nat(s(0)).</a:t>
            </a:r>
          </a:p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nat(1).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2A984-0908-4D78-9CFF-6DF100C4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¿Y nat(S(0))? ¿Qué cambia con esa mayúscula?</a:t>
            </a:r>
          </a:p>
        </p:txBody>
      </p:sp>
    </p:spTree>
    <p:extLst>
      <p:ext uri="{BB962C8B-B14F-4D97-AF65-F5344CB8AC3E}">
        <p14:creationId xmlns:p14="http://schemas.microsoft.com/office/powerpoint/2010/main" val="21157479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1DEB2-2375-43EF-AC84-991FA824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AC8AA-D5C2-46FD-95F5-391B8E57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26C19-93ED-4927-9D07-18D0330F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EA714-7E22-4A03-97C5-50B2E4CD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Resolución: comprobar el natural 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7606C-9957-4C8C-87EE-716CCD4A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4940E-EB4F-4B16-AD30-1C11496F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0D6E0-C7B8-49E4-8499-F29137F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1508760"/>
            <a:ext cx="393192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{nat(s(s(0)))}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A644B-326F-4E01-B973-B93E0D1E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80360"/>
            <a:ext cx="393192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{nat(s(0))}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BFD96-1AF1-4910-B26B-E30F31AE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251960"/>
            <a:ext cx="393192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{nat(0)}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594AD-0B9F-4097-87EC-F4DE9D33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5532120"/>
            <a:ext cx="9144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 }</a:t>
            </a:r>
          </a:p>
        </p:txBody>
      </p: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160520" y="1929384"/>
            <a:ext cx="0" cy="95097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29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4160520" y="3300984"/>
            <a:ext cx="0" cy="95097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30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4160520" y="4672584"/>
            <a:ext cx="0" cy="85953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EB7F4-B204-4526-B08C-AEC3D87F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2286000"/>
            <a:ext cx="45720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c2, {X1 = s(0)}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9F2A2C-7724-44A4-B0ED-C9AE9365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657600"/>
            <a:ext cx="45720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c2, {X2 = 0}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E4E2F-F896-4D1A-9A7A-FE125050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5029200"/>
            <a:ext cx="45720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c1, { 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8FCCBD-F83C-41C2-BC66-DE75BDC5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nat(1) falla: el término 1 no es 0 ni tiene la forma s(X). nat(S(0)) es un error de sintaxis.</a:t>
            </a:r>
          </a:p>
        </p:txBody>
      </p:sp>
    </p:spTree>
    <p:extLst>
      <p:ext uri="{BB962C8B-B14F-4D97-AF65-F5344CB8AC3E}">
        <p14:creationId xmlns:p14="http://schemas.microsoft.com/office/powerpoint/2010/main" val="1404348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7A922C-9EBE-497C-A46E-053545AD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D9D67-C178-4105-AAC3-03DD3CD1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3ABD1-86C0-4540-84B0-25D08286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A4354-1783-4F52-BACB-772C695C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Resolución: generar naturales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E64D7-9214-4E02-BA61-CB1544E2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3FF2AE-C24D-4081-B532-2150D357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53838-7E1F-4355-8E2F-F68CDF95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71600"/>
            <a:ext cx="36576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{nat(N)}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2D23B-D2CC-47EC-99A6-3884FD5A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80360"/>
            <a:ext cx="8229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D801A-106E-4A73-AFA3-590310DE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80360"/>
            <a:ext cx="36576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{nat(N1)}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DDFDE-E2F9-43DF-8B6C-0D0487AE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251960"/>
            <a:ext cx="8229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2CA1A-237A-47EC-B98F-115107C5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251960"/>
            <a:ext cx="36576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{nat(N2)}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B3893-C491-49F4-B1E5-7DBDA9F8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349240"/>
            <a:ext cx="8229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 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6A915-C61F-4454-97A9-A48A497A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5349240"/>
            <a:ext cx="13716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…</a:t>
            </a:r>
          </a:p>
        </p:txBody>
      </p:sp>
      <p:cxnSp>
        <p:nvCxnSpPr>
          <p:cNvPr id="4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606040" y="1792224"/>
            <a:ext cx="5257800" cy="108813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44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863840" y="1792224"/>
            <a:ext cx="0" cy="108813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45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2606040" y="3300984"/>
            <a:ext cx="5257800" cy="95097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46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7863840" y="3300984"/>
            <a:ext cx="0" cy="95097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47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2606040" y="4672584"/>
            <a:ext cx="5257800" cy="67665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48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7863840" y="4672584"/>
            <a:ext cx="0" cy="67665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67FB7-0DBC-43D3-B00F-26B420E9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212848"/>
            <a:ext cx="22860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{N = 0}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7A784-4210-4542-8129-67B44301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67128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{N = s(N1)}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AEA1EB-7A2F-426B-A1CA-6100C09A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593592"/>
            <a:ext cx="246888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{N1 = 0}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796AE-E620-4DA0-AEE5-30EFC008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66160"/>
            <a:ext cx="30632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{N1 = s(N2)}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5CF46-8587-477D-B121-9ED187FC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809744"/>
            <a:ext cx="246888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{N2 = 0}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6254E3-EA4E-40DB-AA52-E1B3402E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09744"/>
            <a:ext cx="30632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{N2 = s(N3)}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51E29A-8B75-436A-B2A8-80EE0AEE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18688"/>
            <a:ext cx="34747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N =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E59CF-5898-4308-8E9E-DFCD1520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90288"/>
            <a:ext cx="34747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N = s(0)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E0C61D-2663-44A9-9CB0-939FE49B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6928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N = s(s(0))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602467-FBFB-40BC-BB13-64429A15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En cada paso renombramos las variables de la regla. La rama derecha continúa indefinidamente.</a:t>
            </a:r>
          </a:p>
        </p:txBody>
      </p:sp>
    </p:spTree>
    <p:extLst>
      <p:ext uri="{BB962C8B-B14F-4D97-AF65-F5344CB8AC3E}">
        <p14:creationId xmlns:p14="http://schemas.microsoft.com/office/powerpoint/2010/main" val="5258782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9F0EE-F634-4080-95BB-E65B88F9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443A3-DAF6-4BCA-9A3C-561EA37A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536E4-1932-4E53-8B0C-FA7A2079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4612D-E629-4923-BF5D-F5A209BB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En el intérprete: una respuesta y otra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3F7DF-C850-40FE-8F5E-C511BB1D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F72DF-C27F-44B2-855E-B5B0E51F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5CE9E3-2824-47EF-B3C7-63680AD3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14984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76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76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nat(N).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d07ea579143d3"/>
          <a:stretch xmlns:a="http://schemas.openxmlformats.org/drawingml/2006/main"/>
        </p:blipFill>
        <p:spPr>
          <a:xfrm xmlns:a="http://schemas.openxmlformats.org/drawingml/2006/main">
            <a:off x="822960" y="2470235"/>
            <a:ext cx="7498080" cy="277706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45B74-DB3F-4B59-A46A-2E70029B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514600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04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504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CB838-9FA4-4AD7-A9FC-FE07161C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328416"/>
            <a:ext cx="20116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88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Otra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76743-CC81-41C2-AED9-8F7E422D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005072"/>
            <a:ext cx="1097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04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504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5ECDF-D3C8-440C-BB1E-D9ABA0FF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818888"/>
            <a:ext cx="201168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88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Parar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83039-4F4B-46EC-9874-9DD61C5C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05272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Cada respuesta llega. La enumeración completa no termina.</a:t>
            </a:r>
          </a:p>
        </p:txBody>
      </p:sp>
    </p:spTree>
    <p:extLst>
      <p:ext uri="{BB962C8B-B14F-4D97-AF65-F5344CB8AC3E}">
        <p14:creationId xmlns:p14="http://schemas.microsoft.com/office/powerpoint/2010/main" val="11218728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CAB6E-2207-4431-88B3-3C9A1BA7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C3A3F-EC85-4118-9470-A1C80A3B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6A1EE-2745-4400-8555-A9BFD656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437F5-BB73-4449-B04A-3E3F5C51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definir la suma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A9EE5-078A-4582-A82E-8182B310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AC955-1EE0-4A68-B239-91633341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1444752"/>
          <a:ext xmlns:a="http://schemas.openxmlformats.org/drawingml/2006/main" cx="10149840" cy="9784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5715000"/>
                <a:gridCol w="1920240"/>
              </a:tblGrid>
              <a:tr h="489204"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suma(X,Y,Z)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+ Y = Z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suma/3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34B87-1B74-49DB-9675-4196372A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9464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208CF-03C9-497B-893E-AF159591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98064"/>
            <a:ext cx="1014984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9D9D2-EBBB-45F2-B001-34C22F4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962656"/>
            <a:ext cx="9729216" cy="1527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suma(0,s(0),Z).</a:t>
            </a:r>
          </a:p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suma(s(0),s(0),Z).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285CB-2CF5-44EA-B672-D8B3F651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Definid suma/3 y probad las consultas.</a:t>
            </a:r>
          </a:p>
        </p:txBody>
      </p:sp>
    </p:spTree>
    <p:extLst>
      <p:ext uri="{BB962C8B-B14F-4D97-AF65-F5344CB8AC3E}">
        <p14:creationId xmlns:p14="http://schemas.microsoft.com/office/powerpoint/2010/main" val="13982090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FA78F-E0D5-40E2-BB7A-D9D3D9F7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0AC38-B8AA-433D-B1AC-9AF1AD6C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55BE4-5D8A-4F52-9213-15D56791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366A8-4F39-4C61-837D-F24F8FCD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Suma: caso base y paso recursivo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301607-021A-461F-A128-FC9B8522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82B06-99F5-4783-89A7-80CED426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F5F45-7711-4ED1-9865-4FD0E6A2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Archivo natural.pl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65320-7ADD-4EDF-AE94-7CC71271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1014984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193E9-BD32-427D-B9C4-A947B4C4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01952"/>
            <a:ext cx="9729216" cy="143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suma(0,Y,Y).                     % c1</a:t>
            </a:r>
          </a:p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suma(s(X),Y,s(Z)) :- suma(X,Y,Z). % c2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3CA79-E02F-47F7-8DAE-7FD618CA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22192"/>
            <a:ext cx="101498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32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0 + Y = Y</a:t>
            </a:r>
          </a:p>
          <a:p xmlns:a="http://schemas.openxmlformats.org/drawingml/2006/main">
            <a:pPr algn="l">
              <a:defRPr sz="2232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32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s(X) + Y = s(Z)  si  X + Y = 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5F0046-2065-479D-A9FC-AC6593CF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02352"/>
            <a:ext cx="101498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¿Y si el axioma fuera suma(X,0,X).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08AA3-AF82-4E81-B3DA-20702F37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05272"/>
            <a:ext cx="1014984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2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72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sin cambiar la regla? Probad 1 + 1. ¿Dónde se detiene la prueba?</a:t>
            </a:r>
          </a:p>
        </p:txBody>
      </p:sp>
    </p:spTree>
    <p:extLst>
      <p:ext uri="{BB962C8B-B14F-4D97-AF65-F5344CB8AC3E}">
        <p14:creationId xmlns:p14="http://schemas.microsoft.com/office/powerpoint/2010/main" val="9027822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68A0E-4A91-467F-BAED-EC1A9539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4FEF6-87B4-43EB-8DD7-91C9081A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950F4-6EBC-43AF-A63A-64ABF60F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89A0D-3860-4197-B0C8-B5E8FBB6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¿Qué podemos preguntar a la misma relación?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BD85B-50FF-448C-AD5A-B82B3A83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87858-C0BF-4619-8858-8B1BD3AC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3A348-A814-47FF-A9ED-21FCA14F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D9242-0598-4D27-BFD3-56059423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1014984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2AE45D-C3E8-4B89-BF84-A1F6F4A2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01952"/>
            <a:ext cx="9729216" cy="2395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suma(s(0),s(0),Z).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suma(s(0),Y,s(s(0))).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suma(X,s(0),s(s(0))).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13226-BE68-4678-A6C8-15E4ACE2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2920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Predecid cada respuesta y explicad cómo se obtiene.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F8CE2-45A7-40B3-990A-CC908B22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60136"/>
            <a:ext cx="1014984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¿Qué conocemos y qué queremos averiguar en cada consulta?</a:t>
            </a:r>
          </a:p>
        </p:txBody>
      </p:sp>
    </p:spTree>
    <p:extLst>
      <p:ext uri="{BB962C8B-B14F-4D97-AF65-F5344CB8AC3E}">
        <p14:creationId xmlns:p14="http://schemas.microsoft.com/office/powerpoint/2010/main" val="171778918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2526AD-BC48-4819-825D-B93ABF7D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F1533-943A-4C5D-BEF5-7687B663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1B754-28CD-4E3F-B436-72568C2A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F614E-D1E8-4EC6-9D4F-A2F0B7A7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Resolución: parejas que suman 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4FE64-3FC0-4654-B632-BFC7DAD7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E173A-2931-44BF-B719-D3DB30FB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4CB34-F3FC-40D2-891A-BDA86F28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71600"/>
            <a:ext cx="59436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{suma(X,Y,s(s(0)))}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96C2D-D140-457A-88E9-57DE70D8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926080"/>
            <a:ext cx="8229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 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8FE0E-E580-4B77-AB6D-C45738D5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59436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{suma(X1,Y,s(0))}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26C71-6C8D-4D0F-B5AF-213EED77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434840"/>
            <a:ext cx="8229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84D12-E904-480D-98C2-F91E1E14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4840"/>
            <a:ext cx="59436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{suma(X2,Y,0)}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21070-6F59-4BB0-8313-40DE4747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303520"/>
            <a:ext cx="82296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{ }</a:t>
            </a:r>
          </a:p>
        </p:txBody>
      </p:sp>
      <p:cxnSp>
        <p:nvCxnSpPr>
          <p:cNvPr id="3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148840" y="1792224"/>
            <a:ext cx="5394960" cy="113385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40" name="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7543800" y="1792224"/>
            <a:ext cx="0" cy="113385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41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2148840" y="3346704"/>
            <a:ext cx="5394960" cy="108813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42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7543800" y="3346704"/>
            <a:ext cx="0" cy="108813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cxnSp>
        <p:nvCxnSpPr>
          <p:cNvPr id="43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543800" y="4855464"/>
            <a:ext cx="0" cy="448056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63442"/>
            </a:solidFill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8A691-4665-4E7E-93E4-62608510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76272"/>
            <a:ext cx="475488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c1: X=0, Y=s(s(0))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E70B1-FC37-458B-9922-C7897CF2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3704"/>
            <a:ext cx="28346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c2: X=s(X1)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25181-B2CC-4E80-A5C3-4D27069D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4176"/>
            <a:ext cx="46634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c1: X1=0, Y=s(0)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B939B-5D3A-4EFB-8F57-6963CBEF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03320"/>
            <a:ext cx="292608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c2: X1=s(X2)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9033F-69EC-4276-A512-A5AAB99A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01768"/>
            <a:ext cx="32004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84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584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c1: X2=0, Y=0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39CCC2-FAFA-43A1-86F0-C1B01041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255264"/>
            <a:ext cx="43434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X=0, Y=s(s(0))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90B5F2-3D74-4325-AF76-6C589A53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782312"/>
            <a:ext cx="448056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X=s(0), Y=s(0)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501676-031E-4384-820D-DDB74AB3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669280"/>
            <a:ext cx="475488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X=s(s(0)), Y=0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64D405-5992-44B0-90D4-367871C9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Ramas rotuladas con las sustituciones relevantes. Cada aplicación utiliza variables frescas.</a:t>
            </a:r>
          </a:p>
        </p:txBody>
      </p:sp>
    </p:spTree>
    <p:extLst>
      <p:ext uri="{BB962C8B-B14F-4D97-AF65-F5344CB8AC3E}">
        <p14:creationId xmlns:p14="http://schemas.microsoft.com/office/powerpoint/2010/main" val="188390842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BC3AB-F488-4422-BA90-4649A8EF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0910F-B245-468E-B1CF-766DC12C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DB1DD-2559-4B17-AAC8-2D0B5B61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AA225-F8B5-4279-8C41-B9F6A815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Una respuesta puede describir infinitos casos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B15FF-C4F5-4B54-A3F2-573BEBAE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4B83B-948B-47AD-BADE-27F03B4F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23FE7-C96D-4326-A4C5-8FE4B553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0876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B069F-032B-4AA0-A6B5-42C57712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37360"/>
            <a:ext cx="10149840" cy="1508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62DB3-93AB-4AB5-8641-6817D35E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901952"/>
            <a:ext cx="9729216" cy="1252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9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59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suma(0,X,Y).</a:t>
            </a:r>
          </a:p>
          <a:p xmlns:a="http://schemas.openxmlformats.org/drawingml/2006/main">
            <a:pPr algn="l">
              <a:defRPr sz="259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59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X = 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A2F6C-40DE-4909-B159-806BA8AA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57600"/>
            <a:ext cx="1014984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0 + 0 = 0</a:t>
            </a:r>
          </a:p>
          <a:p xmlns:a="http://schemas.openxmlformats.org/drawingml/2006/main">
            <a:pPr algn="l">
              <a:defRPr sz="216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0 + s(0) = s(0)</a:t>
            </a:r>
          </a:p>
          <a:p xmlns:a="http://schemas.openxmlformats.org/drawingml/2006/main">
            <a:pPr algn="l">
              <a:defRPr sz="2160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160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0 + s(s(0)) = s(s(0))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BC504-6AA4-4C94-8336-A42F6AEE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8640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¿Por qué no hace falta enumerar todos esos pares?</a:t>
            </a:r>
          </a:p>
        </p:txBody>
      </p:sp>
    </p:spTree>
    <p:extLst>
      <p:ext uri="{BB962C8B-B14F-4D97-AF65-F5344CB8AC3E}">
        <p14:creationId xmlns:p14="http://schemas.microsoft.com/office/powerpoint/2010/main" val="50883764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A0F69C-EFE2-4FB1-A21B-0CC41607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16BE4-B0E9-4431-95ED-05C9C585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08618-8EA1-4827-9960-7326197B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5E57D-03D8-4621-A5A3-37B0C99B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números pares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0DC89-E073-48F5-A418-F1351DFB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6EFEE-E635-41BF-9F7A-D7AC4F09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1444752"/>
          <a:ext xmlns:a="http://schemas.openxmlformats.org/drawingml/2006/main" cx="10149840" cy="9784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5715000"/>
                <a:gridCol w="1920240"/>
              </a:tblGrid>
              <a:tr h="489204"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par(N)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 es un natural par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par/1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4757A9-9631-4652-895D-D4589304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9464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7D2ABD-FB85-4261-93E3-286E5B89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98064"/>
            <a:ext cx="1014984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9E56A-2A7C-4240-86B9-D3A4FB53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962656"/>
            <a:ext cx="9729216" cy="1527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par(0).</a:t>
            </a:r>
          </a:p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par(s(0)).</a:t>
            </a:r>
          </a:p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par(s(s(0))).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408F0-A994-4803-9393-BCCEAB3B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Definid par/1 y probad las consultas.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93E57-68C6-4FCA-AC68-70AA37E3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Después: consult(natural). y par(N). Pedid varias respuestas con ;</a:t>
            </a:r>
          </a:p>
        </p:txBody>
      </p:sp>
    </p:spTree>
    <p:extLst>
      <p:ext uri="{BB962C8B-B14F-4D97-AF65-F5344CB8AC3E}">
        <p14:creationId xmlns:p14="http://schemas.microsoft.com/office/powerpoint/2010/main" val="15139271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236DB-ADBB-4D21-A5F3-02913505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6CE83-5E9B-41C7-8A44-419B08BC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195A8-562F-4BA3-8EC2-40FDD2AC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20F3B-7BF8-4544-8503-F9A2D17B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números pares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EA0B7-B356-4F81-A4C4-53F62A05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52EA7-346B-4576-807F-BB387DDD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956B3-D30B-4A37-B1F5-C981AE58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Archivo natural.pl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B077C-A998-4791-B8F8-BE6EB4E6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1014984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9AF67-88B9-43C1-B5AA-8BA88B75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856232"/>
            <a:ext cx="9729216" cy="1207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2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52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par(0).</a:t>
            </a:r>
          </a:p>
          <a:p xmlns:a="http://schemas.openxmlformats.org/drawingml/2006/main">
            <a:pPr algn="l">
              <a:defRPr sz="252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52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par(s(s(X))) :- par(X).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22960" y="3611880"/>
          <a:ext xmlns:a="http://schemas.openxmlformats.org/drawingml/2006/main" cx="10149840" cy="2011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949440"/>
                <a:gridCol w="3200400"/>
              </a:tblGrid>
              <a:tr h="502920"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Prolog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par(0).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par(s(0)).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par(s(s(0))).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0715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84FFF-7C27-4BE4-8B35-92880EDC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86FFF-251B-4748-A87C-EE68B623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F99F6-88BC-4D50-B637-C05260B9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C1443A-E2E7-4DB0-9268-8C4136D3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números impares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1AA7F-9A66-4C5F-9B9A-2F246CE0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790DA-A6F6-4C46-8321-B6A28DF1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1444752"/>
          <a:ext xmlns:a="http://schemas.openxmlformats.org/drawingml/2006/main" cx="10149840" cy="9784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5715000"/>
                <a:gridCol w="1920240"/>
              </a:tblGrid>
              <a:tr h="489204"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impar(N)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 es un natural impar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impar/1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3E274-C5C3-4C7E-9B5C-464D1858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9464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A7754-C101-43BD-B759-D8205A35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98064"/>
            <a:ext cx="1014984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C187A-38A4-450D-B432-2CAB11F9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962656"/>
            <a:ext cx="9729216" cy="1527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impar(0).</a:t>
            </a:r>
          </a:p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impar(s(0)).</a:t>
            </a:r>
          </a:p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impar(s(s(s(0)))).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5FE7E-1778-45D2-8B00-B3C7A056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Escribid la definición, guardad el fichero, cargadlo y probad impar(N).</a:t>
            </a:r>
          </a:p>
        </p:txBody>
      </p:sp>
    </p:spTree>
    <p:extLst>
      <p:ext uri="{BB962C8B-B14F-4D97-AF65-F5344CB8AC3E}">
        <p14:creationId xmlns:p14="http://schemas.microsoft.com/office/powerpoint/2010/main" val="10553330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90410-3479-469C-9DC7-0FE59ACF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8D9D4-F6B9-476C-A056-861BA9DB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6F091-90BC-4EBD-9F93-43C89218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2D03C6-3689-4FEB-9502-E0C5FFF6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números impares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B05F4-8AA3-4D84-AA56-A986D32D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5CE7E-C02E-44DF-B9F0-2A374C2D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E376E-08EE-4D57-8E50-57F8F6C9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Archivo natural.pl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2170C-F713-4DAC-9C43-8CEEF0AB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10149840" cy="1463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E9CE5-B640-4483-AAC2-C9F2534B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856232"/>
            <a:ext cx="9729216" cy="1207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2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52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impar(s(0)).</a:t>
            </a:r>
          </a:p>
          <a:p xmlns:a="http://schemas.openxmlformats.org/drawingml/2006/main">
            <a:pPr algn="l">
              <a:defRPr sz="252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52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impar(s(s(X))) :- impar(X).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22960" y="3611880"/>
          <a:ext xmlns:a="http://schemas.openxmlformats.org/drawingml/2006/main" cx="10149840" cy="2011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949440"/>
                <a:gridCol w="3200400"/>
              </a:tblGrid>
              <a:tr h="502920"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Prolog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impar(0).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impar(s(0)).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impar(s(s(s(0)))).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187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B828D-8F9C-4EE7-842C-8C13CDC4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22F5B-671D-44E1-AD57-89A31144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2444E-43FB-42E5-9065-B4B9697F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12E7D-A6D0-46CA-8A63-09D659EF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pueden ser iguales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9D729-EB34-4156-BADA-97943E85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111F1-1F67-44DF-8C11-F72D36D9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444752"/>
          <a:ext xmlns:a="http://schemas.openxmlformats.org/drawingml/2006/main" cx="10149840" cy="9784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5715000"/>
                <a:gridCol w="1920240"/>
              </a:tblGrid>
              <a:tr h="489204"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igual(X,Y)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e Y pueden unificarse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igual/2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C9032-3DC5-4F30-9892-DA223E91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9464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A0C3A-6DB4-48F1-97CA-358271C8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98064"/>
            <a:ext cx="1014984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02C7A-7D32-44AB-B21B-5E889F56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962656"/>
            <a:ext cx="9729216" cy="1527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igual(f(X),f(5)).</a:t>
            </a:r>
          </a:p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igual(f(5),s(5)).</a:t>
            </a:r>
          </a:p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igual(5,X).</a:t>
            </a:r>
          </a:p>
        </p:txBody>
      </p:sp>
    </p:spTree>
    <p:extLst>
      <p:ext uri="{BB962C8B-B14F-4D97-AF65-F5344CB8AC3E}">
        <p14:creationId xmlns:p14="http://schemas.microsoft.com/office/powerpoint/2010/main" val="12394408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569EE-BF9C-4211-A76E-B522C19E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83792-B4E5-4304-893B-F9B0E88C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C66F6-FC13-4A55-A4BD-4CE157FD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7BD73-7F5B-4A23-B00E-8448ADC8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igualdad por unificación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98A67-48C9-4AEA-819F-38E2AFB9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1BBAE-56C0-4B0D-B0F5-1DDD337C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CDE36-868F-4C37-9797-9A7CC313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2588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Archivo natural.pl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C40DD-C95E-4874-8904-B26EE6E1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554480"/>
            <a:ext cx="10149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71D3A-B5A2-411B-8B3A-D91271B9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719072"/>
            <a:ext cx="9729216" cy="6126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736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igual(X,X).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22960" y="2880360"/>
          <a:ext xmlns:a="http://schemas.openxmlformats.org/drawingml/2006/main" cx="10149840" cy="23774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00800"/>
                <a:gridCol w="3749040"/>
              </a:tblGrid>
              <a:tr h="594360"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Pregunta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igual(f(X),f(5)).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5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igual(f(5),s(5)).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igual(5,X).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5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1AA6A-D232-4EDF-9760-815B5C9F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2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72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Los dos argumentos deben poder convertirse en el mismo término.</a:t>
            </a:r>
          </a:p>
        </p:txBody>
      </p:sp>
    </p:spTree>
    <p:extLst>
      <p:ext uri="{BB962C8B-B14F-4D97-AF65-F5344CB8AC3E}">
        <p14:creationId xmlns:p14="http://schemas.microsoft.com/office/powerpoint/2010/main" val="5475033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0A348-4589-4A6D-9310-6E6C0E4D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3E82C-5890-4A18-BDE6-045AF2E2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4F53B-FC53-416F-9286-B4F88EB2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D9C22-8C28-4926-8876-3E9F054E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multiplicación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41F21-C103-41D1-89DB-8DEA04B4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FE34A-8802-41B1-952C-492893C2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444752"/>
          <a:ext xmlns:a="http://schemas.openxmlformats.org/drawingml/2006/main" cx="10149840" cy="9784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5715000"/>
                <a:gridCol w="1920240"/>
              </a:tblGrid>
              <a:tr h="489204"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mult(X,Y,Z)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× Y = Z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mult/3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67DB3-2C5E-4017-9F33-5E903169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9464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9F290-F303-4E91-B565-841E1E56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98064"/>
            <a:ext cx="1014984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0117F-8A09-45C4-8231-096816D5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962656"/>
            <a:ext cx="9729216" cy="1527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mult(s(0),s(s(0)),Z).</a:t>
            </a:r>
          </a:p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mult(0,s(s(0)),Z).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BE48EC-47BB-48AA-BAB2-2E40E11B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Definid mult/3 y probad las consultas.</a:t>
            </a:r>
          </a:p>
        </p:txBody>
      </p:sp>
    </p:spTree>
    <p:extLst>
      <p:ext uri="{BB962C8B-B14F-4D97-AF65-F5344CB8AC3E}">
        <p14:creationId xmlns:p14="http://schemas.microsoft.com/office/powerpoint/2010/main" val="5455653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4FD00-D62A-4B51-A380-1A5FEAD5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7F872-16AE-4853-8F55-A61D630A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E1BC2-FFD3-46F3-BDBE-2125757F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FD587-F309-4C38-984C-3B11AC4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multiplicación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38C8BE-F0F8-4E8D-AE12-B98442DE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C8BFB-F215-4997-9D0A-11A77F21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2FFCA-90BD-4CA3-987A-554E2F18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6304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Archivo natural.pl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8EFA4-0BAF-4AAC-A34C-237C1B82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91640"/>
            <a:ext cx="1014984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99FC5-62CD-4700-9089-FE4AB3A4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856232"/>
            <a:ext cx="9729216" cy="1709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48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48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mult(0,_,0).</a:t>
            </a:r>
          </a:p>
          <a:p xmlns:a="http://schemas.openxmlformats.org/drawingml/2006/main">
            <a:pPr algn="l">
              <a:defRPr sz="2448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48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mult(s(X),Y,W) :-</a:t>
            </a:r>
          </a:p>
          <a:p xmlns:a="http://schemas.openxmlformats.org/drawingml/2006/main">
            <a:pPr algn="l">
              <a:defRPr sz="2448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48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mult(X,Y,Z), suma(Z,Y,W).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BA530-51A3-406C-A9EA-94FC811F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60520"/>
            <a:ext cx="1014984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4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304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0 × Y = 0</a:t>
            </a:r>
          </a:p>
          <a:p xmlns:a="http://schemas.openxmlformats.org/drawingml/2006/main">
            <a:pPr algn="l">
              <a:defRPr sz="2304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304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s(X) × Y = X × Y + 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E4FB6-0F8A-49C9-9350-84658D07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101498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16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16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¿Hace falta añadir el neutro mult(1,X,X)? ¿Qué pasaría?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895FA-2F74-4575-8859-0EF4ACF8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En el programa de Peano se escribe mult(s(0),X,X). _ es la variable anónima del axioma.</a:t>
            </a:r>
          </a:p>
        </p:txBody>
      </p:sp>
    </p:spTree>
    <p:extLst>
      <p:ext uri="{BB962C8B-B14F-4D97-AF65-F5344CB8AC3E}">
        <p14:creationId xmlns:p14="http://schemas.microsoft.com/office/powerpoint/2010/main" val="213818162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536C3-9738-47C2-A873-FDA86060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14EA7-AAE1-4F49-B023-57AB8D6E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BD68B-E81F-4D07-867B-198E6597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EC325-406C-4351-8887-7934E871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4 × 2: bajar hasta el axioma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E226A-0B63-4486-9EBD-D8E9CF71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B5347-AFD2-440B-BCFA-A988EAB7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ED7DB-4262-4EC8-989E-83033CE2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99032"/>
            <a:ext cx="101498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16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Pregunta: mult(4,2,R4).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2148840"/>
          <a:ext xmlns:a="http://schemas.openxmlformats.org/drawingml/2006/main" cx="10149840" cy="31546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7560"/>
                <a:gridCol w="6812280"/>
              </a:tblGrid>
              <a:tr h="525780"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Objetivo seleccionado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 sustituye por estos objetivos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mult(4,2,R4)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mult(3,2,R3), suma(R3,2,R4)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mult(3,2,R3)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mult(2,2,R2), suma(R2,2,R3)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mult(2,2,R2)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mult(1,2,R1), suma(R1,2,R2)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mult(1,2,R1)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mult(0,2,R0), suma(R0,2,R1)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mult(0,2,R0)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Axioma: R0 = 0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973F2-F57E-4727-892E-A41A0965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77256"/>
            <a:ext cx="1014984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2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72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Resolvemos primero cada mult. Las sumas quedan pendientes.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40338-0DA1-4FA0-8D33-85F21F8C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Usamos numerales para leer la traza: 4 abrevia s(s(s(s(0)))). No es código para copiar con estos literales.</a:t>
            </a:r>
          </a:p>
        </p:txBody>
      </p:sp>
    </p:spTree>
    <p:extLst>
      <p:ext uri="{BB962C8B-B14F-4D97-AF65-F5344CB8AC3E}">
        <p14:creationId xmlns:p14="http://schemas.microsoft.com/office/powerpoint/2010/main" val="24862301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DFAB3-5AD4-47BE-97A3-4559C69C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F7C33-8EDD-4075-8E7F-EDBD7E75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A2566-DCDC-4099-B3FC-FC9A7962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D04B1-935B-4D43-8DC7-2EC99848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4 × 2: resolver las sumas pendientes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63B3E-0C47-4818-83DF-C546439F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5BDBE-F340-4C29-9540-E30AAD68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E6E13-1D69-48D8-8527-C460CE12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44752"/>
            <a:ext cx="1014984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232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Hemos llegado al axioma: 0 × 2 = 0.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2377440"/>
          <a:ext xmlns:a="http://schemas.openxmlformats.org/drawingml/2006/main" cx="10149840" cy="260604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840480"/>
                <a:gridCol w="2834640"/>
              </a:tblGrid>
              <a:tr h="521208"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Producto que recuperamos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Suma pendiente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1 × 2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suma(0,2,R1)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R1 = 2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2 ×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suma(2,2,R2)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R2 = 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3 × 2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suma(4,2,R3)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R3 = 6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4 ×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suma(6,2,R4)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2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R4 =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C0BFA8-B582-46F4-97C2-2C629271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6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656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Seguimiento: trace. lo activa; notrace. lo desactiva.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D19FB-1061-41D8-90CA-C23BF6B8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504688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16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4 × 2 = 8 porque 3 × 2 = 6 y 6 + 2 = 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F6042-B247-45AB-8159-09FA48A6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1 × X ya se deduce: añadir mult(s(0),X,X). repite pruebas para naturales. Los numerales abrevian Peano.</a:t>
            </a:r>
          </a:p>
        </p:txBody>
      </p:sp>
    </p:spTree>
    <p:extLst>
      <p:ext uri="{BB962C8B-B14F-4D97-AF65-F5344CB8AC3E}">
        <p14:creationId xmlns:p14="http://schemas.microsoft.com/office/powerpoint/2010/main" val="141632775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3C68C4-6DF7-490E-9413-524B2045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0FB250-2DFF-493C-9FB5-DB12919F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2D43B-F60C-48EF-BB8F-B7B8D43C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20C17-4B2B-4488-ABB5-607E4764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potencia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BB87F-5DF0-4A13-BED1-E3697CBC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0C798-CA8F-4040-A336-BD95ABB8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444752"/>
          <a:ext xmlns:a="http://schemas.openxmlformats.org/drawingml/2006/main" cx="10149840" cy="9784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5715000"/>
                <a:gridCol w="1920240"/>
              </a:tblGrid>
              <a:tr h="489204"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exp(X,Y,Z)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elevado a Y es Z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exp/3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5F5BD-5CCE-42EB-967E-A83F9D1B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69464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CBC6A-0604-44A5-8677-9FC69029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98064"/>
            <a:ext cx="10149840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0981A-C610-4EBA-8079-C7490ED2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2962656"/>
            <a:ext cx="9729216" cy="1527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exp(s(s(0)),s(s(0)),Z).</a:t>
            </a:r>
          </a:p>
          <a:p xmlns:a="http://schemas.openxmlformats.org/drawingml/2006/main">
            <a:pPr algn="l">
              <a:defRPr sz="2304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04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exp(s(s(0)),0,Z).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DFD2A-E4B8-4C4D-BBED-179A42E1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07492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Definid exp/3 y probad las consultas.</a:t>
            </a:r>
          </a:p>
        </p:txBody>
      </p:sp>
    </p:spTree>
    <p:extLst>
      <p:ext uri="{BB962C8B-B14F-4D97-AF65-F5344CB8AC3E}">
        <p14:creationId xmlns:p14="http://schemas.microsoft.com/office/powerpoint/2010/main" val="184562314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62D1E-80BE-4BD5-AD79-B21E7E3E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D9744-1CAB-4739-BB49-646993DB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02A8F-5394-4A68-9CED-655CCD13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740F2-A9A5-424E-8A7C-5BA6FC4D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potencia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1B5A1-D0E1-4561-A8A6-B287F0F1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4759E-C9A5-4C90-9DEE-3007645C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340AE7-B8C3-40D0-A06C-FDBCF024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7160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Archivo natural.pl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B71FB-E2E0-4B2B-89A4-D7FE581D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10149840" cy="1920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84BB1-CEB4-4E5A-B042-A8E140D7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764792"/>
            <a:ext cx="9729216" cy="1664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48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48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exp(_,0,s(0)).</a:t>
            </a:r>
          </a:p>
          <a:p xmlns:a="http://schemas.openxmlformats.org/drawingml/2006/main">
            <a:pPr algn="l">
              <a:defRPr sz="2448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48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exp(X,s(Y),W) :-</a:t>
            </a:r>
          </a:p>
          <a:p xmlns:a="http://schemas.openxmlformats.org/drawingml/2006/main">
            <a:pPr algn="l">
              <a:defRPr sz="2448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48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exp(X,Y,Z), mult(X,Z,W).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BD8BD-2720-4118-8493-084D90A5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69080"/>
            <a:ext cx="10149840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exp(s(s(0)),s(s(0)),Z).</a:t>
            </a:r>
          </a:p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Z = s(s(s(s(0)))).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0A0CC-0AF7-4253-9DB6-63A7ED1B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exp(X,s(0),X). sería redundante: ya se deduce.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5B3129-5383-4410-A7DA-D11DE7CC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Convención de esta definición sobre naturales: también asigna 1 a 0 elevado a 0.</a:t>
            </a:r>
          </a:p>
        </p:txBody>
      </p:sp>
    </p:spTree>
    <p:extLst>
      <p:ext uri="{BB962C8B-B14F-4D97-AF65-F5344CB8AC3E}">
        <p14:creationId xmlns:p14="http://schemas.microsoft.com/office/powerpoint/2010/main" val="69826384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F88C4-FAE6-44C1-BEFD-EAF34722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EE2A4-E090-4B6B-9C41-B6BABBBC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D6A832-0517-49E9-91C0-4C3BDDA5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4A4F4-81A9-4F78-937F-B56D4AF2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 final: el doble de un natural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D319E-55CF-442D-9474-6E14E457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E4A57-E9F7-4424-80AD-868B49D0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822960" y="1444752"/>
          <a:ext xmlns:a="http://schemas.openxmlformats.org/drawingml/2006/main" cx="10149840" cy="9784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14600"/>
                <a:gridCol w="5715000"/>
                <a:gridCol w="1920240"/>
              </a:tblGrid>
              <a:tr h="489204"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1440" marR="91440" marT="45720" marB="45720">
                    <a:solidFill>
                      <a:srgbClr val="70436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doble(X,Y)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Y = X + X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8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doble/2</a:t>
                      </a:r>
                    </a:p>
                  </a:txBody>
                  <a:tcPr marL="91440" marR="91440" marT="45720" marB="45720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326602-4916-47BF-BB9A-22FABD14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0332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CD671-41B9-4D03-817E-BEA4CDED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931920"/>
            <a:ext cx="1014984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51FEB-D324-429E-9080-CCFBF81E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4096512"/>
            <a:ext cx="9729216" cy="886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doble(s(0),Y).</a:t>
            </a:r>
          </a:p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doble(X,s(s(0))).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1168C-D400-4A5B-ABAE-87A97FF5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10058400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8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88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Definid doble/2 y predecid las dos respuestas.</a:t>
            </a:r>
          </a:p>
        </p:txBody>
      </p:sp>
    </p:spTree>
    <p:extLst>
      <p:ext uri="{BB962C8B-B14F-4D97-AF65-F5344CB8AC3E}">
        <p14:creationId xmlns:p14="http://schemas.microsoft.com/office/powerpoint/2010/main" val="16399222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D2913-31AD-4A96-A5DC-2DEF10B7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80BC4-458D-475A-B1A6-4E4CB741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DC1AE0-C760-47F4-BD22-0B32307C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3 · Ejercicios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71921-465A-4A5F-8C83-84FD4C41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una relación, dos direcciones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F12C1-C72A-4729-A490-B84498D5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1601B-3ABB-435E-BAE1-E97FE23C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68D71-59ED-41CC-935C-372B860E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399032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Archivo natural.pl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4563F-A001-4E77-B80C-414D56E6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27632"/>
            <a:ext cx="1014984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E9BF6-A516-4EA6-962C-ABC17964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1792224"/>
            <a:ext cx="9729216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48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448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doble(X,Y) :- suma(X,X,Y).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1D6F1-4AA7-4970-BC3A-E8B3A175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834640"/>
            <a:ext cx="1014984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Consola de Prolog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12DF3-B4FB-416F-B142-C82610C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63240"/>
            <a:ext cx="10149840" cy="230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EC46F-40D4-4547-A577-A473FA3E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227832"/>
            <a:ext cx="9729216" cy="20482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doble(s(0),Y).</a:t>
            </a:r>
          </a:p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Y = s(s(0)).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doble(X,s(s(0))).</a:t>
            </a:r>
          </a:p>
          <a:p xmlns:a="http://schemas.openxmlformats.org/drawingml/2006/main">
            <a:pPr algn="l">
              <a:defRPr sz="2232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32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X = s(0).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2482A-26E6-4707-AE83-66FCEEB4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089904"/>
            <a:ext cx="10149840" cy="173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64" b="0">
                <a:solidFill>
                  <a:srgbClr val="60707B"/>
                </a:solidFill>
                <a:latin typeface="Arial"/>
                <a:ea typeface="Arial"/>
                <a:cs typeface="Arial"/>
              </a:defRPr>
            </a:pPr>
            <a:r>
              <a:rPr sz="864" b="0">
                <a:solidFill>
                  <a:srgbClr val="60707B"/>
                </a:solidFill>
                <a:latin typeface="Arial"/>
                <a:ea typeface="Arial"/>
                <a:cs typeface="Arial"/>
              </a:rPr>
              <a:t>En ambos casos resolvemos X + X = Y. Solo cambia qué valor queremos averiguar.</a:t>
            </a:r>
          </a:p>
        </p:txBody>
      </p:sp>
    </p:spTree>
    <p:extLst>
      <p:ext uri="{BB962C8B-B14F-4D97-AF65-F5344CB8AC3E}">
        <p14:creationId xmlns:p14="http://schemas.microsoft.com/office/powerpoint/2010/main" val="19951766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F26E8-340C-4E14-AABB-85146EF7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FC343-6F76-42E9-96BD-310ABB0E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78E92-4402-4C9C-BD46-36DCBF0E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Práctica 1 · 1 · Preparación y lenguaje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94E80-2AAE-434B-9020-F2689434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Horario · 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6ACD4-81DB-480C-BD63-36E32276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B0959-DE31-4EA9-9039-5BFDA838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1D848-80DB-4ECF-A0C5-5B47986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3852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16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16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Lunes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E7C82-36DD-4CF3-ACDD-3D0DCA4F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938528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6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09:00–10:30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71E40-94A0-44F9-94DA-E1CAD5B3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944368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16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016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Jueves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2AFD7-D6E6-4024-A475-CF8CBC8E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44368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6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6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15:00–16:30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15732-0CEC-4149-ADFE-C66B21EB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297680"/>
            <a:ext cx="996696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44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944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Laboratorio de Ciencia Computacional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C3566-A45B-4621-8672-041B3D85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138928"/>
            <a:ext cx="9966960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2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72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3 horas concertadas · erik.figueiral.alonso@uvigo.gal</a:t>
            </a:r>
          </a:p>
        </p:txBody>
      </p:sp>
    </p:spTree>
    <p:extLst>
      <p:ext uri="{BB962C8B-B14F-4D97-AF65-F5344CB8AC3E}">
        <p14:creationId xmlns:p14="http://schemas.microsoft.com/office/powerpoint/2010/main" val="1636389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2026-09-19T21:38:36.0400000Z</dcterms:created>
  <dcterms:modified xsi:type="dcterms:W3CDTF">2026-09-19T21:38:36.0400000Z</dcterms:modified>
</coreProperties>
</file>