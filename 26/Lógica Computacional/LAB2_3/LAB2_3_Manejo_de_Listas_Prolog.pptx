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41087660666a497d"/><Relationship Type="http://schemas.openxmlformats.org/officeDocument/2006/relationships/extended-properties" Target="/docProps/app.xml" Id="Rc79eaa9820b7429e"/><Relationship Type="http://schemas.openxmlformats.org/officeDocument/2006/relationships/officeDocument" Target="/ppt/presentation.xml" Id="R77953ed7cdd94e2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1cb98455174386"/>
  </p:sldMasterIdLst>
  <p:sldIdLst>
    <p:sldId xmlns:r="http://schemas.openxmlformats.org/officeDocument/2006/relationships" id="256" r:id="R42501864966c4dba"/>
    <p:sldId xmlns:r="http://schemas.openxmlformats.org/officeDocument/2006/relationships" id="257" r:id="R06ef3ce1c0d5466f"/>
    <p:sldId xmlns:r="http://schemas.openxmlformats.org/officeDocument/2006/relationships" id="258" r:id="R822b16c365a54679"/>
    <p:sldId xmlns:r="http://schemas.openxmlformats.org/officeDocument/2006/relationships" id="259" r:id="Racb7abc4707d4af7"/>
    <p:sldId xmlns:r="http://schemas.openxmlformats.org/officeDocument/2006/relationships" id="260" r:id="Rdc274b7a841a4370"/>
    <p:sldId xmlns:r="http://schemas.openxmlformats.org/officeDocument/2006/relationships" id="261" r:id="R47391d9f15b74802"/>
    <p:sldId xmlns:r="http://schemas.openxmlformats.org/officeDocument/2006/relationships" id="262" r:id="Rb37805eb37ed40a8"/>
    <p:sldId xmlns:r="http://schemas.openxmlformats.org/officeDocument/2006/relationships" id="263" r:id="R8b008d2730e0491c"/>
    <p:sldId xmlns:r="http://schemas.openxmlformats.org/officeDocument/2006/relationships" id="264" r:id="R6b9a40c67c9d40bd"/>
    <p:sldId xmlns:r="http://schemas.openxmlformats.org/officeDocument/2006/relationships" id="265" r:id="Rcd5aedc9e96a46cd"/>
    <p:sldId xmlns:r="http://schemas.openxmlformats.org/officeDocument/2006/relationships" id="266" r:id="R60ac8d5e67d64337"/>
    <p:sldId xmlns:r="http://schemas.openxmlformats.org/officeDocument/2006/relationships" id="267" r:id="R48e10287b09349f0"/>
    <p:sldId xmlns:r="http://schemas.openxmlformats.org/officeDocument/2006/relationships" id="268" r:id="Rb8810684663441d9"/>
    <p:sldId xmlns:r="http://schemas.openxmlformats.org/officeDocument/2006/relationships" id="269" r:id="Re543e866e19b4d2f"/>
    <p:sldId xmlns:r="http://schemas.openxmlformats.org/officeDocument/2006/relationships" id="270" r:id="Rd3e396a059e643c7"/>
    <p:sldId xmlns:r="http://schemas.openxmlformats.org/officeDocument/2006/relationships" id="271" r:id="R98fc7a829c894d3e"/>
    <p:sldId xmlns:r="http://schemas.openxmlformats.org/officeDocument/2006/relationships" id="272" r:id="R9fc7ec4cacf04f6a"/>
    <p:sldId xmlns:r="http://schemas.openxmlformats.org/officeDocument/2006/relationships" id="273" r:id="R61ceb178238d4a48"/>
    <p:sldId xmlns:r="http://schemas.openxmlformats.org/officeDocument/2006/relationships" id="274" r:id="Rc64892e1d0d84e41"/>
    <p:sldId xmlns:r="http://schemas.openxmlformats.org/officeDocument/2006/relationships" id="275" r:id="R8badc6d81f6343d1"/>
    <p:sldId xmlns:r="http://schemas.openxmlformats.org/officeDocument/2006/relationships" id="276" r:id="Rb5365464cddf4545"/>
    <p:sldId xmlns:r="http://schemas.openxmlformats.org/officeDocument/2006/relationships" id="277" r:id="Rf764c0de3aff40fb"/>
    <p:sldId xmlns:r="http://schemas.openxmlformats.org/officeDocument/2006/relationships" id="278" r:id="Reec50dc7fca2482b"/>
    <p:sldId xmlns:r="http://schemas.openxmlformats.org/officeDocument/2006/relationships" id="279" r:id="R1fc9bb7508d64fc1"/>
    <p:sldId xmlns:r="http://schemas.openxmlformats.org/officeDocument/2006/relationships" id="280" r:id="Rfe6bd6a2fc5148ce"/>
    <p:sldId xmlns:r="http://schemas.openxmlformats.org/officeDocument/2006/relationships" id="281" r:id="R2e1e6a38663e48df"/>
    <p:sldId xmlns:r="http://schemas.openxmlformats.org/officeDocument/2006/relationships" id="282" r:id="R4d2c70aa2a854732"/>
    <p:sldId xmlns:r="http://schemas.openxmlformats.org/officeDocument/2006/relationships" id="283" r:id="R4cb14937ab6141d6"/>
    <p:sldId xmlns:r="http://schemas.openxmlformats.org/officeDocument/2006/relationships" id="284" r:id="R2a9424e5a4304cfe"/>
    <p:sldId xmlns:r="http://schemas.openxmlformats.org/officeDocument/2006/relationships" id="285" r:id="Rd431681e02914816"/>
    <p:sldId xmlns:r="http://schemas.openxmlformats.org/officeDocument/2006/relationships" id="286" r:id="R68188a5fec484aee"/>
    <p:sldId xmlns:r="http://schemas.openxmlformats.org/officeDocument/2006/relationships" id="287" r:id="R0e62a0da716f4c1e"/>
    <p:sldId xmlns:r="http://schemas.openxmlformats.org/officeDocument/2006/relationships" id="288" r:id="R0cdc80af85af4d7f"/>
    <p:sldId xmlns:r="http://schemas.openxmlformats.org/officeDocument/2006/relationships" id="289" r:id="R563f1cdabf3b4677"/>
    <p:sldId xmlns:r="http://schemas.openxmlformats.org/officeDocument/2006/relationships" id="290" r:id="R70aa1409507e47e8"/>
    <p:sldId xmlns:r="http://schemas.openxmlformats.org/officeDocument/2006/relationships" id="291" r:id="Rcfadc16c7f184ca8"/>
    <p:sldId xmlns:r="http://schemas.openxmlformats.org/officeDocument/2006/relationships" id="292" r:id="R6bb0b942dc4c4ce2"/>
    <p:sldId xmlns:r="http://schemas.openxmlformats.org/officeDocument/2006/relationships" id="293" r:id="Ra6c52bf245d6416c"/>
    <p:sldId xmlns:r="http://schemas.openxmlformats.org/officeDocument/2006/relationships" id="294" r:id="Ra8faf42ee4184df6"/>
    <p:sldId xmlns:r="http://schemas.openxmlformats.org/officeDocument/2006/relationships" id="295" r:id="R604cf12ab7d046fb"/>
    <p:sldId xmlns:r="http://schemas.openxmlformats.org/officeDocument/2006/relationships" id="296" r:id="R14477d73e720406c"/>
    <p:sldId xmlns:r="http://schemas.openxmlformats.org/officeDocument/2006/relationships" id="297" r:id="Rbd44f613ba594507"/>
  </p:sldIdLst>
  <p:sldSz cx="11704320" cy="658368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4748f8ec23cc4b3d"/><Relationship Type="http://schemas.openxmlformats.org/officeDocument/2006/relationships/slideMaster" Target="/ppt/slideMasters/slideMaster1.xml" Id="Ra01cb98455174386"/><Relationship Type="http://schemas.openxmlformats.org/officeDocument/2006/relationships/presProps" Target="/ppt/presProps.xml" Id="Raaa283de97874ee2"/><Relationship Type="http://schemas.openxmlformats.org/officeDocument/2006/relationships/tableStyles" Target="/ppt/tableStyles.xml" Id="R99726b4fdca345cc"/><Relationship Type="http://schemas.openxmlformats.org/officeDocument/2006/relationships/slide" Target="/ppt/slides/slide1.xml" Id="R42501864966c4dba"/><Relationship Type="http://schemas.openxmlformats.org/officeDocument/2006/relationships/slide" Target="/ppt/slides/slide2.xml" Id="R06ef3ce1c0d5466f"/><Relationship Type="http://schemas.openxmlformats.org/officeDocument/2006/relationships/slide" Target="/ppt/slides/slide3.xml" Id="R822b16c365a54679"/><Relationship Type="http://schemas.openxmlformats.org/officeDocument/2006/relationships/slide" Target="/ppt/slides/slide4.xml" Id="Racb7abc4707d4af7"/><Relationship Type="http://schemas.openxmlformats.org/officeDocument/2006/relationships/slide" Target="/ppt/slides/slide5.xml" Id="Rdc274b7a841a4370"/><Relationship Type="http://schemas.openxmlformats.org/officeDocument/2006/relationships/slide" Target="/ppt/slides/slide6.xml" Id="R47391d9f15b74802"/><Relationship Type="http://schemas.openxmlformats.org/officeDocument/2006/relationships/slide" Target="/ppt/slides/slide7.xml" Id="Rb37805eb37ed40a8"/><Relationship Type="http://schemas.openxmlformats.org/officeDocument/2006/relationships/slide" Target="/ppt/slides/slide8.xml" Id="R8b008d2730e0491c"/><Relationship Type="http://schemas.openxmlformats.org/officeDocument/2006/relationships/slide" Target="/ppt/slides/slide9.xml" Id="R6b9a40c67c9d40bd"/><Relationship Type="http://schemas.openxmlformats.org/officeDocument/2006/relationships/slide" Target="/ppt/slides/slide10.xml" Id="Rcd5aedc9e96a46cd"/><Relationship Type="http://schemas.openxmlformats.org/officeDocument/2006/relationships/slide" Target="/ppt/slides/slide11.xml" Id="R60ac8d5e67d64337"/><Relationship Type="http://schemas.openxmlformats.org/officeDocument/2006/relationships/slide" Target="/ppt/slides/slide12.xml" Id="R48e10287b09349f0"/><Relationship Type="http://schemas.openxmlformats.org/officeDocument/2006/relationships/slide" Target="/ppt/slides/slide13.xml" Id="Rb8810684663441d9"/><Relationship Type="http://schemas.openxmlformats.org/officeDocument/2006/relationships/slide" Target="/ppt/slides/slide14.xml" Id="Re543e866e19b4d2f"/><Relationship Type="http://schemas.openxmlformats.org/officeDocument/2006/relationships/slide" Target="/ppt/slides/slide15.xml" Id="Rd3e396a059e643c7"/><Relationship Type="http://schemas.openxmlformats.org/officeDocument/2006/relationships/slide" Target="/ppt/slides/slide16.xml" Id="R98fc7a829c894d3e"/><Relationship Type="http://schemas.openxmlformats.org/officeDocument/2006/relationships/slide" Target="/ppt/slides/slide17.xml" Id="R9fc7ec4cacf04f6a"/><Relationship Type="http://schemas.openxmlformats.org/officeDocument/2006/relationships/slide" Target="/ppt/slides/slide18.xml" Id="R61ceb178238d4a48"/><Relationship Type="http://schemas.openxmlformats.org/officeDocument/2006/relationships/slide" Target="/ppt/slides/slide19.xml" Id="Rc64892e1d0d84e41"/><Relationship Type="http://schemas.openxmlformats.org/officeDocument/2006/relationships/slide" Target="/ppt/slides/slide20.xml" Id="R8badc6d81f6343d1"/><Relationship Type="http://schemas.openxmlformats.org/officeDocument/2006/relationships/slide" Target="/ppt/slides/slide21.xml" Id="Rb5365464cddf4545"/><Relationship Type="http://schemas.openxmlformats.org/officeDocument/2006/relationships/slide" Target="/ppt/slides/slide22.xml" Id="Rf764c0de3aff40fb"/><Relationship Type="http://schemas.openxmlformats.org/officeDocument/2006/relationships/slide" Target="/ppt/slides/slide23.xml" Id="Reec50dc7fca2482b"/><Relationship Type="http://schemas.openxmlformats.org/officeDocument/2006/relationships/slide" Target="/ppt/slides/slide24.xml" Id="R1fc9bb7508d64fc1"/><Relationship Type="http://schemas.openxmlformats.org/officeDocument/2006/relationships/slide" Target="/ppt/slides/slide25.xml" Id="Rfe6bd6a2fc5148ce"/><Relationship Type="http://schemas.openxmlformats.org/officeDocument/2006/relationships/slide" Target="/ppt/slides/slide26.xml" Id="R2e1e6a38663e48df"/><Relationship Type="http://schemas.openxmlformats.org/officeDocument/2006/relationships/slide" Target="/ppt/slides/slide27.xml" Id="R4d2c70aa2a854732"/><Relationship Type="http://schemas.openxmlformats.org/officeDocument/2006/relationships/slide" Target="/ppt/slides/slide28.xml" Id="R4cb14937ab6141d6"/><Relationship Type="http://schemas.openxmlformats.org/officeDocument/2006/relationships/slide" Target="/ppt/slides/slide29.xml" Id="R2a9424e5a4304cfe"/><Relationship Type="http://schemas.openxmlformats.org/officeDocument/2006/relationships/slide" Target="/ppt/slides/slide30.xml" Id="Rd431681e02914816"/><Relationship Type="http://schemas.openxmlformats.org/officeDocument/2006/relationships/slide" Target="/ppt/slides/slide31.xml" Id="R68188a5fec484aee"/><Relationship Type="http://schemas.openxmlformats.org/officeDocument/2006/relationships/slide" Target="/ppt/slides/slide32.xml" Id="R0e62a0da716f4c1e"/><Relationship Type="http://schemas.openxmlformats.org/officeDocument/2006/relationships/slide" Target="/ppt/slides/slide33.xml" Id="R0cdc80af85af4d7f"/><Relationship Type="http://schemas.openxmlformats.org/officeDocument/2006/relationships/slide" Target="/ppt/slides/slide34.xml" Id="R563f1cdabf3b4677"/><Relationship Type="http://schemas.openxmlformats.org/officeDocument/2006/relationships/slide" Target="/ppt/slides/slide35.xml" Id="R70aa1409507e47e8"/><Relationship Type="http://schemas.openxmlformats.org/officeDocument/2006/relationships/slide" Target="/ppt/slides/slide36.xml" Id="Rcfadc16c7f184ca8"/><Relationship Type="http://schemas.openxmlformats.org/officeDocument/2006/relationships/slide" Target="/ppt/slides/slide37.xml" Id="R6bb0b942dc4c4ce2"/><Relationship Type="http://schemas.openxmlformats.org/officeDocument/2006/relationships/slide" Target="/ppt/slides/slide38.xml" Id="Ra6c52bf245d6416c"/><Relationship Type="http://schemas.openxmlformats.org/officeDocument/2006/relationships/slide" Target="/ppt/slides/slide39.xml" Id="Ra8faf42ee4184df6"/><Relationship Type="http://schemas.openxmlformats.org/officeDocument/2006/relationships/slide" Target="/ppt/slides/slide40.xml" Id="R604cf12ab7d046fb"/><Relationship Type="http://schemas.openxmlformats.org/officeDocument/2006/relationships/slide" Target="/ppt/slides/slide41.xml" Id="R14477d73e720406c"/><Relationship Type="http://schemas.openxmlformats.org/officeDocument/2006/relationships/slide" Target="/ppt/slides/slide42.xml" Id="Rbd44f613ba594507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24c37be03844207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a608107f62b491b"/><Relationship Type="http://schemas.openxmlformats.org/officeDocument/2006/relationships/slideLayout" Target="/ppt/slideLayouts/slideLayout1.xml" Id="R7499d64a975b4abf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99d64a975b4a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cd5686c47a94b1d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9abc1d01c304628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19175369d2034a1a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ea41de584c14d52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526ac4037304843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971a763a74014fc4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c0ae9194b6b4918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ae739bd66b64e64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7fdc9276163444d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711ba2ff1604476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b7b3bcf36c841b9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dcbbdd034e0491e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fa2afa8e5764668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8d27dd0e9904b96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1ae4f96e7bb4b1a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2498fe3c401045db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897e2a6f88b46c6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7ab562eab07438e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f4b56e0b01041eb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1b2c11dfd134927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08dc62a2d1b41f9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56d9136a0ae4e38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ef71c747da44360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ee7589f88434cec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765f8565badd4de0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076c373d1044a76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c2ea3858ea04a1f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e3cdc247d474b0e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4ef9abbc1784446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3e959e0c08cd43c4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69fa0bd75e314b9f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f690e90f10e41a7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53619825c3df42e9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fbc96ae18414ade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87bbe3b64e764955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e2ea481a65eb439d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a048e6aeb4ab4c8a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0134ffa12044735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fcdcd72638740b8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0f8da5d971bd4915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ca187a18c2ff4ebf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bec8b1bdc259426c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Prácticas de Lógica Computacional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D13DF35-02E5-40DF-A262-E4FF62CC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52625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Introducción manejo</a:t>
            </a:r>
          </a:p>
          <a:p xmlns:a="http://schemas.openxmlformats.org/drawingml/2006/main">
            <a:pPr>
              <a:defRPr sz="360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Listas Prolog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D7B6ADCF-F32D-40C7-9909-BC13479D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A3A4CAE6-68A8-4729-8425-CF5C3679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386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erik.figueiral.alonso@uvigo.gal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95D02F24-36AA-4311-AB3B-FE695C4B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292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SWI-Prolog · 3.º de Ingeniería Informática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Índice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02B757B5-9C12-457D-91B8-CDAB6489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812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1   Representación</a:t>
            </a:r>
          </a:p>
        </p:txBody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F3C9186C-E676-4BE1-B83D-7A5CC935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623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63442"/>
                </a:solidFill>
                <a:latin typeface="Arial"/>
                <a:ea typeface="Arial"/>
                <a:cs typeface="Arial"/>
              </a:rPr>
              <a:t>2   Ejercicios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Representación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Cada célula tiene cabeza y cola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6952714-A480-4ABE-8271-7AE737F7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66850"/>
            <a:ext cx="5905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1" name="content">
            <a:extLst xmlns:a="http://schemas.openxmlformats.org/drawingml/2006/main">
              <a:ext uri="{FF2B5EF4-FFF2-40B4-BE49-F238E27FC236}">
                <a16:creationId xmlns:a16="http://schemas.microsoft.com/office/drawing/2014/main" id="{6CB8B6C2-6485-42B4-95FA-6EBA2302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33525"/>
            <a:ext cx="571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5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[a,[b],c,d]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1BE1C2-6223-4DCE-AB8D-E8C344D7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095500" y="2428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087E93-5E60-4B91-9A20-4E821786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638425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F668D-B648-473E-9C3B-76CB3F6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95375" y="2638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1B1FC-BB13-4C53-860F-2224B9D5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638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B47943-811A-4286-B780-25C97CAF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3190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4D5C6-5DAD-4458-B438-67CAC04B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4004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4BAC5-2C77-4338-812D-E748633E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400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971ED4-71A3-4CCB-890A-E6CDB11C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400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9DB3D-F0C9-47C5-AEA4-C40F3085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33625" y="3952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D368B-1326-4FCA-BF94-30A1A15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416242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8FC24-1590-4F0E-A196-1EB7D3A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09750" y="4162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30BF4C-DBFF-4C4F-9A3D-79A211F7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57500" y="4162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F07633-B01E-474A-968F-38CE8B03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952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C6F56E-58F4-425D-B766-6C8C0D54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3375" y="4162425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158774-CA39-40F8-862C-152F0E10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3375" y="4162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356562-9D4C-4050-AA3E-D7202F66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4162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9654A2-4C2E-4564-BB64-1CCFFDCE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810250" y="4714875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0359BA-5673-4A94-A7DA-4868E3ED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492442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DF50A-9255-4F8A-97D8-44E23273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286375" y="4924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61439-34AA-48AF-9714-31E5E170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29375" y="49244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32" name="content">
            <a:extLst xmlns:a="http://schemas.openxmlformats.org/drawingml/2006/main">
              <a:ext uri="{FF2B5EF4-FFF2-40B4-BE49-F238E27FC236}">
                <a16:creationId xmlns:a16="http://schemas.microsoft.com/office/drawing/2014/main" id="{99EBC621-7C47-42AE-9421-377DDF51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66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3" name="content">
            <a:extLst xmlns:a="http://schemas.openxmlformats.org/drawingml/2006/main">
              <a:ext uri="{FF2B5EF4-FFF2-40B4-BE49-F238E27FC236}">
                <a16:creationId xmlns:a16="http://schemas.microsoft.com/office/drawing/2014/main" id="{0AF69C11-B79A-4DAB-B89F-6753AD73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28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34" name="content">
            <a:extLst xmlns:a="http://schemas.openxmlformats.org/drawingml/2006/main">
              <a:ext uri="{FF2B5EF4-FFF2-40B4-BE49-F238E27FC236}">
                <a16:creationId xmlns:a16="http://schemas.microsoft.com/office/drawing/2014/main" id="{7CE7E204-1A94-4F8F-A499-C053F4F2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28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5" name="content">
            <a:extLst xmlns:a="http://schemas.openxmlformats.org/drawingml/2006/main">
              <a:ext uri="{FF2B5EF4-FFF2-40B4-BE49-F238E27FC236}">
                <a16:creationId xmlns:a16="http://schemas.microsoft.com/office/drawing/2014/main" id="{B821BF69-7EA8-470C-AEC8-FA021266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590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6" name="content">
            <a:extLst xmlns:a="http://schemas.openxmlformats.org/drawingml/2006/main">
              <a:ext uri="{FF2B5EF4-FFF2-40B4-BE49-F238E27FC236}">
                <a16:creationId xmlns:a16="http://schemas.microsoft.com/office/drawing/2014/main" id="{D3B80AD9-5041-4157-BD7E-EE580BF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590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37" name="content">
            <a:extLst xmlns:a="http://schemas.openxmlformats.org/drawingml/2006/main">
              <a:ext uri="{FF2B5EF4-FFF2-40B4-BE49-F238E27FC236}">
                <a16:creationId xmlns:a16="http://schemas.microsoft.com/office/drawing/2014/main" id="{7B3A28F2-8DAE-4DFA-B6B3-45D064F6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52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  <p:sp>
        <p:nvSpPr>
          <p:cNvPr id="38" name="content">
            <a:extLst xmlns:a="http://schemas.openxmlformats.org/drawingml/2006/main">
              <a:ext uri="{FF2B5EF4-FFF2-40B4-BE49-F238E27FC236}">
                <a16:creationId xmlns:a16="http://schemas.microsoft.com/office/drawing/2014/main" id="{3194EB06-C510-4C4D-BED2-58388F5D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52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  <p:sp>
        <p:nvSpPr>
          <p:cNvPr id="39" name="content">
            <a:extLst xmlns:a="http://schemas.openxmlformats.org/drawingml/2006/main">
              <a:ext uri="{FF2B5EF4-FFF2-40B4-BE49-F238E27FC236}">
                <a16:creationId xmlns:a16="http://schemas.microsoft.com/office/drawing/2014/main" id="{B5527010-DAC4-42D5-911C-087BF8A8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4352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c</a:t>
            </a:r>
          </a:p>
        </p:txBody>
      </p:sp>
      <p:sp>
        <p:nvSpPr>
          <p:cNvPr id="40" name="content">
            <a:extLst xmlns:a="http://schemas.openxmlformats.org/drawingml/2006/main">
              <a:ext uri="{FF2B5EF4-FFF2-40B4-BE49-F238E27FC236}">
                <a16:creationId xmlns:a16="http://schemas.microsoft.com/office/drawing/2014/main" id="{FBF45928-A37B-4545-A32B-05C0A69E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52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|</a:t>
            </a:r>
          </a:p>
        </p:txBody>
      </p:sp>
      <p:sp>
        <p:nvSpPr>
          <p:cNvPr id="41" name="content">
            <a:extLst xmlns:a="http://schemas.openxmlformats.org/drawingml/2006/main">
              <a:ext uri="{FF2B5EF4-FFF2-40B4-BE49-F238E27FC236}">
                <a16:creationId xmlns:a16="http://schemas.microsoft.com/office/drawing/2014/main" id="{76AD5D21-7DE8-4A4D-B3AA-43A44C8D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114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d</a:t>
            </a:r>
          </a:p>
        </p:txBody>
      </p:sp>
      <p:sp>
        <p:nvSpPr>
          <p:cNvPr id="42" name="content">
            <a:extLst xmlns:a="http://schemas.openxmlformats.org/drawingml/2006/main">
              <a:ext uri="{FF2B5EF4-FFF2-40B4-BE49-F238E27FC236}">
                <a16:creationId xmlns:a16="http://schemas.microsoft.com/office/drawing/2014/main" id="{056357F5-6375-4BD3-B417-AF87A2D9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114925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  <p:sp>
        <p:nvSpPr>
          <p:cNvPr id="43" name="content">
            <a:extLst xmlns:a="http://schemas.openxmlformats.org/drawingml/2006/main">
              <a:ext uri="{FF2B5EF4-FFF2-40B4-BE49-F238E27FC236}">
                <a16:creationId xmlns:a16="http://schemas.microsoft.com/office/drawing/2014/main" id="{8BC76292-5C7F-47AD-9DDB-C1F83DF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CAR</a:t>
            </a:r>
          </a:p>
        </p:txBody>
      </p:sp>
      <p:sp>
        <p:nvSpPr>
          <p:cNvPr id="44" name="content">
            <a:extLst xmlns:a="http://schemas.openxmlformats.org/drawingml/2006/main">
              <a:ext uri="{FF2B5EF4-FFF2-40B4-BE49-F238E27FC236}">
                <a16:creationId xmlns:a16="http://schemas.microsoft.com/office/drawing/2014/main" id="{BECF5A27-DF95-4C8F-B46E-6CC28E03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3625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CDR</a:t>
            </a:r>
          </a:p>
        </p:txBody>
      </p:sp>
      <p:sp>
        <p:nvSpPr>
          <p:cNvPr id="45" name="content">
            <a:extLst xmlns:a="http://schemas.openxmlformats.org/drawingml/2006/main">
              <a:ext uri="{FF2B5EF4-FFF2-40B4-BE49-F238E27FC236}">
                <a16:creationId xmlns:a16="http://schemas.microsoft.com/office/drawing/2014/main" id="{B87F918E-B2B9-4694-A6B3-40DC71B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8097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CAR · cabeza</a:t>
            </a:r>
          </a:p>
        </p:txBody>
      </p:sp>
      <p:sp>
        <p:nvSpPr>
          <p:cNvPr id="46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A6FF2ED-C39B-4B0D-AF98-3E717AAF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57425"/>
            <a:ext cx="4095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47" name="content">
            <a:extLst xmlns:a="http://schemas.openxmlformats.org/drawingml/2006/main">
              <a:ext uri="{FF2B5EF4-FFF2-40B4-BE49-F238E27FC236}">
                <a16:creationId xmlns:a16="http://schemas.microsoft.com/office/drawing/2014/main" id="{DBAC8457-7C4A-47E1-8522-3949D662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241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48" name="content">
            <a:extLst xmlns:a="http://schemas.openxmlformats.org/drawingml/2006/main">
              <a:ext uri="{FF2B5EF4-FFF2-40B4-BE49-F238E27FC236}">
                <a16:creationId xmlns:a16="http://schemas.microsoft.com/office/drawing/2014/main" id="{DCC63116-7BC7-4D6E-BA83-39155471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CDR · cola</a:t>
            </a:r>
          </a:p>
        </p:txBody>
      </p:sp>
      <p:sp>
        <p:nvSpPr>
          <p:cNvPr id="49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D9C57DC3-4D80-42A8-A3CB-4555A1B5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90900"/>
            <a:ext cx="4095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50" name="content">
            <a:extLst xmlns:a="http://schemas.openxmlformats.org/drawingml/2006/main">
              <a:ext uri="{FF2B5EF4-FFF2-40B4-BE49-F238E27FC236}">
                <a16:creationId xmlns:a16="http://schemas.microsoft.com/office/drawing/2014/main" id="{3C332FC8-EB29-4DEF-98F4-124F67AA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457575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[[b],c,d]</a:t>
            </a:r>
          </a:p>
        </p:txBody>
      </p:sp>
      <p:sp>
        <p:nvSpPr>
          <p:cNvPr id="51" name="content">
            <a:extLst xmlns:a="http://schemas.openxmlformats.org/drawingml/2006/main">
              <a:ext uri="{FF2B5EF4-FFF2-40B4-BE49-F238E27FC236}">
                <a16:creationId xmlns:a16="http://schemas.microsoft.com/office/drawing/2014/main" id="{5F15EA51-C40C-407A-A25E-CFA0452E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18147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[] marca el final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 una lista.</a:t>
            </a:r>
          </a:p>
        </p:txBody>
      </p:sp>
      <p:sp>
        <p:nvSpPr>
          <p:cNvPr id="52" name="content">
            <a:extLst xmlns:a="http://schemas.openxmlformats.org/drawingml/2006/main">
              <a:ext uri="{FF2B5EF4-FFF2-40B4-BE49-F238E27FC236}">
                <a16:creationId xmlns:a16="http://schemas.microsoft.com/office/drawing/2014/main" id="{C231A9EF-D4AC-4646-8537-519E2F82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578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CADR = [b] · CADDR = c</a:t>
            </a:r>
          </a:p>
        </p:txBody>
      </p:sp>
      <p:sp>
        <p:nvSpPr>
          <p:cNvPr id="53" name="content">
            <a:extLst xmlns:a="http://schemas.openxmlformats.org/drawingml/2006/main">
              <a:ext uri="{FF2B5EF4-FFF2-40B4-BE49-F238E27FC236}">
                <a16:creationId xmlns:a16="http://schemas.microsoft.com/office/drawing/2014/main" id="{C732453E-F046-4775-BCFE-08D5A033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Referencia: capítulo 10, figura 10.1 · CAR y CDR: cabeza y cola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Representación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Listas: elementos ordenados entre corchetes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82CB3017-50F4-46A1-A000-1F6E37FD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430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Una lista conserva el orden y puede contener otras listas.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60058DE-006A-4FED-BB55-BC6D79F8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76450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3F0C34DD-49E3-4F6C-B8BC-D86F101A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[a,[b],c,d]     % cuatro elementos; [b] es uno de ellos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822960" y="2809875"/>
          <a:ext xmlns:a="http://schemas.openxmlformats.org/drawingml/2006/main" cx="100584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5772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 misma lista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Cómo leerla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[a,b,c]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Tres elementos separados por comas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[a|[b,c]]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Cabeza: a; cola: [b,c]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[a,b|[c]]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Dos elementos iniciales; cola: [c]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[a,b,c|[]]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La cola final es la lista vacía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75DD5B8D-6192-4731-8A73-39128B4C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02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Sin coma antes de |.  [] no tiene elementos; [a,b,c,[]] tiene cuatro.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Representación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La variable anónima: lo que no necesitamos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B7AF69F0-D965-4301-B62F-D082C666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Consola de SWI-Prolog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DC4D4FC-2D0B-4F37-863D-09B24750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81175"/>
            <a:ext cx="10382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AC439B44-22DE-4F44-B371-E79994A2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[Cabeza|Cola] = [a,b,c].</a:t>
            </a:r>
          </a:p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Cabeza = a, Cola = [b,c].</a:t>
            </a:r>
          </a:p>
        </p:txBody>
      </p:sp>
      <p:sp>
        <p:nvSpPr>
          <p:cNvPr id="13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1F382BA-8B0A-4F82-ADD9-7C8179DB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10382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689AE205-40E9-4704-8885-65C80D54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24175"/>
            <a:ext cx="1019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[_,X|_] = [a,b,c].</a:t>
            </a:r>
          </a:p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X = b.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6DCCF938-5D6E-4956-94C4-BF33504E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76675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_ es una variable distinta: no necesitamos conocer su valor.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Una variable con nombre usada una sola vez puede dar un aviso singleton.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01C7B1AA-5D8A-4478-8B61-998C18B0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Usa _ si ese dato no interesa; revisa si el aviso revela una errata.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93BB3E6B-214E-4BE9-8333-F3BAEC91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Archivo listas.pl: cláusulas. Consola: consult(listas). y consultas con ?-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primero/2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primero(L,X)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es el primer elemento de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 debe tener al menos un elemento.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primero/2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primero([1,2,3],X).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1.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primero([1,2,3],2).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primero([],X).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primero/2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1CFE68A2-71A0-46CE-A897-4CA5A998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5F0DB39-62DD-453D-9C4D-6F73D522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394700FA-D137-486C-8A0B-428473F2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primero([Car|_],Car).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4D5A670F-E82E-4583-BA6B-215A5512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mismo Car une la cabeza de L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el segundo argumento.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Accedemos a la cabeza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directamente: O(1).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primero([1,2,3],X).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1.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primero([1,2,3],2).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primero([],X).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segundo/2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segundo(L,X)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es el segundo elemento de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 debe tener al menos dos elementos.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segundo/2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segundo([a,b,c],X).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b.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segundo([a],X).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segundo/2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652BB60F-8A0C-4964-B00F-402727A2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CCA197A-2A87-409C-94E0-E2C2DD1A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BFCDE40-982E-40DC-8878-B1505192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segundo([_,Cadr|_],Cadr).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6163A099-8092-4FB8-A750-EFF9E5D4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Equivale a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segundo([_|[Cadr|_]],Cadr).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CADR: cabeza de la cola.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segundo([a,b,c],X).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b.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segundo([a],X).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ultimo/2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ultimo(L,X)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es el último elemento de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 debe ser una lista no vacía.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ultimo/2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ultimo([a,b,c],X).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c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ultimo([3],X).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3 ; 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ultimo([],X).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ultimo/2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3BD45591-1431-49D8-A5AE-71E456DD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B31FD912-FB64-407E-90A7-71D30198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3340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D3AFA421-BA1A-4630-BFC5-A4F7AC1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ultimo([X],X).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ultimo([_|Cola],X) :-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ultimo(Cola,X).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E18E876-627A-4D9E-B033-C9147B29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Seguimiento de la consulta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D5577808-6E80-4B1D-933A-1EEC4398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ultimo([a,b,c],X)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0926C1-EA4D-422D-BBBE-7857E86C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22383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132D29EF-2C72-4788-81F7-5A0FFC9C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ultimo([b,c],X)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78168-21C9-45AB-96F3-E85A6535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278130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3A15BEF7-CC77-45CF-B6C4-2DE5810C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ultimo([c],X)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1D9B5-E10F-471E-BB8D-83DB056A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332422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775DF010-CE69-4A3C-9174-7F47291A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51472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X = c</a:t>
            </a:r>
          </a:p>
        </p:txBody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733EA07E-8104-4207-8280-B9D8BCD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 descarta una cabeza en cada llamada.</a:t>
            </a:r>
          </a:p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lista de un elemento satisface el axioma.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822960" y="4343400"/>
          <a:ext xmlns:a="http://schemas.openxmlformats.org/drawingml/2006/main" cx="100584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ultimo([a,b,c],X).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c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ultimo([3],X).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3 ; 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ultimo([],X).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una respuesta representa muchas listas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541C683-9150-49CA-AC1E-9DCAF0DF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Consola de SWI-Prolog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BCF1A37-C9C5-42FB-8F29-CD18C0F5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55245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D5E952C7-90C9-4F44-93C3-133FD6EA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24050"/>
            <a:ext cx="5334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ultimo(L,3).</a:t>
            </a:r>
          </a:p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 = [3] ;</a:t>
            </a:r>
          </a:p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 = [_5576,3] ;</a:t>
            </a:r>
          </a:p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 = [_5576,_5582,3] ;</a:t>
            </a:r>
          </a:p>
          <a:p xmlns:a="http://schemas.openxmlformats.org/drawingml/2006/main">
            <a:pPr>
              <a:defRPr sz="23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...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63C994CA-C23A-441A-89B9-165EAFA0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4810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_5576 es una variable todavía libre.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Su nombre lo asigna el intérprete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y puede cambiar entre ejecuciones.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53B3D8A6-596C-48EE-9C46-97A7B1A7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24275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[_5576,3] admite, por ejemplo: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[a,3], [7,3] o [[a,b],3].</a:t>
            </a:r>
          </a:p>
        </p:txBody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71E3C8A0-9B6E-47CB-AA0C-BF46256F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768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Cualquier lista finita no vacía que termine en 3.</a:t>
            </a:r>
          </a:p>
          <a:p xmlns:a="http://schemas.openxmlformats.org/drawingml/2006/main">
            <a:pPr>
              <a:defRPr sz="195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Cada ; aumenta las posibilidades; la enumeración completa no termina.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penultimo/2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penultimo(L,X)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es el penúltimo elemento de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 debe tener al menos dos elementos.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penultimo/2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penultimo([a,b,c],X).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b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penultimo([a,b],X).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a ; 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penultimo([a],X).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penultimo/2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AD5F0F4A-0D35-4A20-A8B5-265CF278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E104CF0-46C2-4036-8CB7-E2E64AF3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413896FC-C60C-41B0-875D-A0C587AF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penultimo([X,_],X).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penultimo([_|Cola],X)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penultimo(Cola,X).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999490F3-5152-43AE-99D7-76C6DA3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Base: quedan exactamente dos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elementos.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avanzamos por la cola, el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penúltimo sigue siendo el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mismo.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penultimo([a,b,c],X).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b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penultimo([a,b],X).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a ; 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penultimo([a],X).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izqda_der/3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izqda_der(I,D,L)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 está inmediatamente a la izquierda de D en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Por ejemplo, izqda_der(1,2,[1,2,3]) es cierto.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izqda_der/3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izqda_der(2,3,[1,2,3]).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izqda_der(1,3,[1,2,3]).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izqda_der(I,D,[1,2,3]).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 = 1, D = 2 ;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 = 2, D = 3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izqda_der/3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7D2CC3E4-B3A5-4691-A4DE-B9073AB8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382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B0F3619-B4BD-424F-BA66-E8A1950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95450"/>
            <a:ext cx="51911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12EB8DF-56AB-436B-AB47-9E094E3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5000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izqda_der(I,D,[I,D|_]).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izqda_der(I,D,[_|Cdr]) :-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izqda_der(I,D,Cdr).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674696A8-33A6-4596-B159-6ADA7305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95425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Consola de SWI-Prolog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E9099BF-8985-4435-A556-C7F8AEFB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0482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5D2FADE4-AF76-4738-A72C-56B39625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38325"/>
            <a:ext cx="4857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izqda_der(2,3,[1,2,3]).</a:t>
            </a:r>
          </a:p>
          <a:p xmlns:a="http://schemas.openxmlformats.org/drawingml/2006/main">
            <a:pPr>
              <a:defRPr sz="16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true ; false.</a:t>
            </a:r>
          </a:p>
          <a:p xmlns:a="http://schemas.openxmlformats.org/drawingml/2006/main">
            <a:pPr>
              <a:defRPr sz="16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izqda_der(1,3,[1,2,3]).</a:t>
            </a:r>
          </a:p>
          <a:p xmlns:a="http://schemas.openxmlformats.org/drawingml/2006/main">
            <a:pPr>
              <a:defRPr sz="16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false.</a:t>
            </a:r>
          </a:p>
        </p:txBody>
      </p:sp>
      <p:sp>
        <p:nvSpPr>
          <p:cNvPr id="16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A7D97D1-9648-472C-B00D-B601D4CA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76550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DE8225E4-E8A7-40E5-930E-C5453EEB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4322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izqda_der(I,D,[1,2,3]).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44E2C613-4503-44F3-84BD-72A17F0D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956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izqda_der(I,D,[1,2,3])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CD171-C59C-4A1A-89DB-C9557743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382905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40D3D-0153-4B35-BE9C-001A4274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4143375"/>
            <a:ext cx="519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F3273-E841-46BF-AEFE-10EC793D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41433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4976F9-4268-4B11-B73E-BE2C23B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24875" y="4143375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A6D9A7A5-4D09-4DC6-B82A-9DFE26AB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8671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Caso base</a:t>
            </a:r>
          </a:p>
        </p:txBody>
      </p:sp>
      <p:sp>
        <p:nvSpPr>
          <p:cNvPr id="24" name="content">
            <a:extLst xmlns:a="http://schemas.openxmlformats.org/drawingml/2006/main">
              <a:ext uri="{FF2B5EF4-FFF2-40B4-BE49-F238E27FC236}">
                <a16:creationId xmlns:a16="http://schemas.microsoft.com/office/drawing/2014/main" id="{E2A0E12D-10A8-4DD0-8052-BAFDE4ED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6715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Recursión sobre la cola</a:t>
            </a:r>
          </a:p>
        </p:txBody>
      </p:sp>
      <p:sp>
        <p:nvSpPr>
          <p:cNvPr id="25" name="content">
            <a:extLst xmlns:a="http://schemas.openxmlformats.org/drawingml/2006/main">
              <a:ext uri="{FF2B5EF4-FFF2-40B4-BE49-F238E27FC236}">
                <a16:creationId xmlns:a16="http://schemas.microsoft.com/office/drawing/2014/main" id="{5BA99129-87E6-443C-9E4F-7836F16D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196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Éxito: I = 1, D = 2</a:t>
            </a:r>
          </a:p>
        </p:txBody>
      </p:sp>
      <p:sp>
        <p:nvSpPr>
          <p:cNvPr id="26" name="content">
            <a:extLst xmlns:a="http://schemas.openxmlformats.org/drawingml/2006/main">
              <a:ext uri="{FF2B5EF4-FFF2-40B4-BE49-F238E27FC236}">
                <a16:creationId xmlns:a16="http://schemas.microsoft.com/office/drawing/2014/main" id="{EF5E20D8-AC70-4627-A71F-5EF6341C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4196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izqda_der(I,D,[2,3])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58B4B2-2AD7-426F-B645-537F5DE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72500" y="4791075"/>
            <a:ext cx="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8" name="content">
            <a:extLst xmlns:a="http://schemas.openxmlformats.org/drawingml/2006/main">
              <a:ext uri="{FF2B5EF4-FFF2-40B4-BE49-F238E27FC236}">
                <a16:creationId xmlns:a16="http://schemas.microsoft.com/office/drawing/2014/main" id="{073C65FD-B821-4F8E-9241-B4BE11A4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149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Éxito: I = 2, D = 3</a:t>
            </a:r>
          </a:p>
        </p:txBody>
      </p:sp>
      <p:sp>
        <p:nvSpPr>
          <p:cNvPr id="29" name="content">
            <a:extLst xmlns:a="http://schemas.openxmlformats.org/drawingml/2006/main">
              <a:ext uri="{FF2B5EF4-FFF2-40B4-BE49-F238E27FC236}">
                <a16:creationId xmlns:a16="http://schemas.microsoft.com/office/drawing/2014/main" id="{180C0226-7F5F-4C69-95E0-269F73A4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531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La cola [3] ya no contiene dos vecinos: no hay más soluciones.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derecha_izq/3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derecha_izq(D,I,L)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 está inmediatamente a la derecha de I en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El primer argumento es el elemento de la derecha.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derecha_izq/3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derecha_izq(2,1,[1,2,3]).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derecha_izq(1,2,[1,2,3]).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derecha_izq/3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5B0D3D2C-C894-4A3F-B329-0B661B48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 · alternativa A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7F221DA-AB24-4E4E-9E07-CE810D04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81175"/>
            <a:ext cx="104775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17E7264-6153-468F-8FDB-090AA33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7850"/>
            <a:ext cx="10287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derecha_izq(D,I,[I,D|_]).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derecha_izq(D,I,[_|Cdr]) :-</a:t>
            </a:r>
          </a:p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derecha_izq(D,I,Cdr).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6756B250-3847-4757-B76A-2970CCD3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 · alternativa B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15D6AE2-CB56-4514-AB0B-EAE6C3B3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90900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278B7EAD-9DA4-49D3-A424-42C7FCD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575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derecha_izq(D,I,L) :- izqda_der(I,D,L).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822960" y="4248150"/>
          <a:ext xmlns:a="http://schemas.openxmlformats.org/drawingml/2006/main" cx="10058400" cy="1181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143750"/>
                <a:gridCol w="291465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derecha_izq(2,1,[1,2,3]).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derecha_izq(1,2,[1,2,3]).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96A703C9-753A-451A-8635-6E14D8A9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721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Elegid una definición: si cargáis ambas, repetiréis soluciones.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contigua/3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contigua(X,Y,L)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e Y ocupan posiciones consecutivas en L,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en cualquiera de los dos órdenes.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contigua/3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contigua(b,a,[a,b,c]).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contigua(a,c,[a,b,c]).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contigua/3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5553BC4-B02E-4F88-8BB4-AE38579C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8DC9D76-CC85-4D14-87AB-FA41AAC7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212A98CF-7807-4334-9CD2-20F0B686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contigua(X,Y,L) :- izqda_der(X,Y,L).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contigua(X,Y,L) :- derecha_izq(X,Y,L).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7AB4BD6B-D32E-492D-B3B2-9DC4D730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X está justo a la izquierda de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Y o justo a su derecha.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Reutilizamos las dos relaciones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que ya conocemos.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contigua(b,a,[a,b,c]).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contigua(a,c,[a,b,c]).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intercalar/3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intercalar(A,B,R)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alterna elementos de A y B, empezando por A.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Si A acaba, paramos; si B acaba, tomamos solo uno más de A.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intercalar/3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intercalar([1,2],[a],R).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[1,a,2].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intercalar([1],[a,b],R).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[1,a].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intercalar([1,2],[],R).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intercalar([],[a],R).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intercalar/3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1F85A0DF-A79C-469D-A018-4B0265F5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A7A4867-9A81-495D-BA1F-FDEDC7A6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02D561A-E09A-4117-BB95-27109962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intercalar([],_,[]).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intercalar([X|_],[],[X]).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intercalar([X|Xs],[Y|Ys],[X,Y|R])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intercalar(Xs,Ys,R).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90B5D02-A443-4E0A-A6AE-043E6340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paso aporta un elemento de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 y otro de B.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Los casos base fijan cuándo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dejamos de recoger elementos.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39052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intercalar([1,2],[a],R).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[1,a,2].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intercalar([1],[a,b],R).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[1,a].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intercalar([1,2],[],R).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intercalar([],[a],R).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select/3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select(X,L,R)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se obtiene eliminando una aparición de X en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El resto conserva su orden.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select/3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select(a,[a,b,a],R).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[b,a] ;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[a,b]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select(x,[a,b],R).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select/3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115445F4-96D7-460B-A76C-335C404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FC57AE3-67A5-493F-B932-F67630F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3340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054299E-EF32-42FE-A026-3E450BC4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select(X,[X|R],R).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select(X,[Y|L],[Y|R]) :-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select(X,L,R).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B4228292-6FC7-4DDF-A7FE-B2C3D63E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Seguimiento de la consulta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55260006-8C61-443B-B315-86650B84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57375"/>
            <a:ext cx="466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select(a,[a,b,a],R)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9EC290-AAFD-4E94-A12A-CF24D4A8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810375" y="2181225"/>
            <a:ext cx="168592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8DE5C3-77F4-4E40-8333-F2E136CB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96300" y="2181225"/>
            <a:ext cx="10953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AEF55962-9814-4B78-9F6E-D63CB5EB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2412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R = [b,a]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33F1BA4A-36C0-45FF-A34C-675035D2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241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select(a,[b,a],T)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6F79D-998B-438B-BF06-63617554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58375" y="285750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0" name="content">
            <a:extLst xmlns:a="http://schemas.openxmlformats.org/drawingml/2006/main">
              <a:ext uri="{FF2B5EF4-FFF2-40B4-BE49-F238E27FC236}">
                <a16:creationId xmlns:a16="http://schemas.microsoft.com/office/drawing/2014/main" id="{3B68850D-5136-480A-835D-2B5796C5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0384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select(a,[a],U)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758D8-0F80-46AB-A3BE-066617AB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858375" y="3371850"/>
            <a:ext cx="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C3B0D071-5D05-4291-929B-458064C4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U=[]; T=[b]; R=[a,b]</a:t>
            </a:r>
          </a:p>
        </p:txBody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F5061DAE-1857-42B9-A722-DB675CBE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14675"/>
            <a:ext cx="523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Primera rama: se elimina el primer a.</a:t>
            </a:r>
          </a:p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otra rama conserva a y b hasta</a:t>
            </a:r>
          </a:p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eliminar la segunda aparición de a.</a:t>
            </a:r>
          </a:p>
        </p:txBody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822960" y="4343400"/>
          <a:ext xmlns:a="http://schemas.openxmlformats.org/drawingml/2006/main" cx="100584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select(a,[a,b,a],R).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[b,a] ;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[a,b]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select(x,[a,b],R).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miembro/2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miembro(X,L)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ocupa alguna posición de 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Cada aparición puede aportar una solución.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miembro/2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miembro(X,[a,b]).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a ; X = b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miembro(3,[3,a,3,b,3,c,4]).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true ; true ; 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A1FDE37-8D64-4F8E-AEBE-D42439FE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 ya ofrece member/2. Aquí implementamos miembro/2 para practicar.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miembro/2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F414BC22-E53C-46CD-81CE-E8327346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6E7E99F8-BBA4-42BF-9073-B484240A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334000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34B05AA3-2FF4-4797-B65F-791AE00D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143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miembro(X,[X|_]).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miembro(X,[_|Cola]) :-</a:t>
            </a:r>
          </a:p>
          <a:p xmlns:a="http://schemas.openxmlformats.org/drawingml/2006/main">
            <a:pPr>
              <a:defRPr sz="19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miembro(X,Cola).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532D332F-E0FD-4E86-8574-D9F5023F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95425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Seguimiento de la consulta</a:t>
            </a:r>
          </a:p>
        </p:txBody>
      </p:sp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0F21E391-F102-442D-B295-13BD6EC8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57375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miembro(X,[a,b])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B3ACE-A338-4FDF-8810-58A16584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6667500" y="2181225"/>
            <a:ext cx="14287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FDCC4-5892-44F8-A9AE-9E3BB960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6250" y="2181225"/>
            <a:ext cx="12382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CB35C3CC-F97B-4531-AAAA-AA7607D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1460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X = a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3D716148-8C66-4BC7-B6A2-1597832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146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miembro(X,[b])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505DE7-24A2-4F5D-A372-1544DC68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048625" y="2838450"/>
            <a:ext cx="1476375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7C6024-A23A-433A-BD39-A04BBB07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25000" y="2838450"/>
            <a:ext cx="95250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1" name="content">
            <a:extLst xmlns:a="http://schemas.openxmlformats.org/drawingml/2006/main">
              <a:ext uri="{FF2B5EF4-FFF2-40B4-BE49-F238E27FC236}">
                <a16:creationId xmlns:a16="http://schemas.microsoft.com/office/drawing/2014/main" id="{D05A4C25-01E9-4E46-B695-A0B76D16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718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X = b</a:t>
            </a:r>
          </a:p>
        </p:txBody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71650E43-2C94-4C64-97D2-5156B4F5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7182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miembro(X,[])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5C821-735D-4460-B8AE-B582935B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34956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4" name="content">
            <a:extLst xmlns:a="http://schemas.openxmlformats.org/drawingml/2006/main">
              <a:ext uri="{FF2B5EF4-FFF2-40B4-BE49-F238E27FC236}">
                <a16:creationId xmlns:a16="http://schemas.microsoft.com/office/drawing/2014/main" id="{02BF9E94-1BAE-49DB-B2D2-B3DEDF9E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861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58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637585"/>
                </a:solidFill>
                <a:latin typeface="Consolas"/>
                <a:ea typeface="Consolas"/>
                <a:cs typeface="Consolas"/>
              </a:rPr>
              <a:t>false</a:t>
            </a:r>
          </a:p>
        </p:txBody>
      </p:sp>
      <p:sp>
        <p:nvSpPr>
          <p:cNvPr id="25" name="content">
            <a:extLst xmlns:a="http://schemas.openxmlformats.org/drawingml/2006/main">
              <a:ext uri="{FF2B5EF4-FFF2-40B4-BE49-F238E27FC236}">
                <a16:creationId xmlns:a16="http://schemas.microsoft.com/office/drawing/2014/main" id="{FEB1A258-6EAD-40DD-92ED-7288B686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19425"/>
            <a:ext cx="5334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axioma encuentra la cabeza.</a:t>
            </a:r>
          </a:p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Al pedir ;, la regla busca en la cola.</a:t>
            </a:r>
          </a:p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coincidencia da una respuesta.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822960" y="4343400"/>
          <a:ext xmlns:a="http://schemas.openxmlformats.org/drawingml/2006/main" cx="100584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miembro(X,[a,b]).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X = a ; X = b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miembro(3,[3,a,3,b,3,c,4]).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true ; true ; 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concat/3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concat(A,B,C)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 contiene los elementos de A seguidos de los de B.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Se conserva el orden de ambas listas.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concat/3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concat([a,b],[c],R).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[a,b,c].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concat(A,B,[a,b]).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 = [], B = [a,b] ;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 = [a], B = [b] ;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 = [a,b], B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839362CF-6D29-478F-9389-7A6EBE63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SWI-Prolog ya ofrece append/3. Aquí implementamos concat/3 para practicar.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concat/3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D4625BE3-57E6-4DF2-9D07-2AA7ABAD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88E257A-CF9E-44CA-A449-F1DE4FFD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1152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5B2405D-EA0F-4DB4-B27E-3B69E03A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concat([],B,B).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concat([X|A],B,[X|C])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concat(A,B,C).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02AF9FAE-781B-4C22-84C0-AED86041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A vacía, el resultado es B.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 cabeza X, C conserva X y se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concatenan las colas.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concat([a,b],[c],R).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[a,b,c].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concat(A,B,[a,b]).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 = [], B = [a,b] ;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 = [a], B = [b] ;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 = [a,b], B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Concat: recorrer la primera lista y reconstruir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1E3DBF5B-2DFE-4F22-8B82-372BA5CA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Consola de SWI-Prolog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1D214F9-9AA7-446C-B47B-07E35E2C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35B05B23-E260-450F-9F5A-6E84E7C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concat([1,2,3],[a,b],R).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822960" y="2505075"/>
          <a:ext xmlns:a="http://schemas.openxmlformats.org/drawingml/2006/main" cx="10058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667000"/>
                <a:gridCol w="4152900"/>
              </a:tblGrid>
              <a:tr h="409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Primera lista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Segunda lista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pendiente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[1|[2,3]]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[a,b]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[1|R1]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[2|[3]]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[a,b]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R1 = [2|R2]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[3|[]]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[a,b]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R2 = [3|R3]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[a,b]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R3 = [a,b]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0CCF9D00-7CA1-4F04-BE98-F61F070D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Al volver: R2 = [3,a,b] · R1 = [2,3,a,b]</a:t>
            </a:r>
          </a:p>
        </p:txBody>
      </p:sp>
      <p:sp>
        <p:nvSpPr>
          <p:cNvPr id="1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90ED218-B6A3-4F26-8DB7-3941D232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67375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F386E7D2-6C6F-4E46-863B-FBC10949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34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 = [1,2,3,a,b].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inv/2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inv(L,R)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contiene los elementos de L en orden inverso.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Trabajamos con L conocida y finita.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inv/2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inv([a,b,c],R).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[c,b,a].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inv([],R).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inv/2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5147A459-1628-4D5F-969B-8E567716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04AFF931-47DC-47AB-B983-8AA3E413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BBF36372-09A9-444D-B0B2-9491D68D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inv([],[]).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inv([X|Cola],R)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inv(Cola,Inversa),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concat(Inversa,[X],R).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C9BB0F92-BA0A-499B-9C70-F326D9B3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Invertir la cola y añadir la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antigua cabeza al final.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Esta versión sencilla recorre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listas varias veces: O(n²).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inv([a,b,c],R).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[c,b,a].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inv([],R).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Inv: llamadas recursivas y concatenaciones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92AF1B1F-156D-4A28-9E99-04EB0ACB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66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Consola de SWI-Prolog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D5C4B50-B661-44CA-99E9-35A7DB2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24025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EE32D8B-6728-4D43-927D-24D808E1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inv([1,2,3],R).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822960" y="2428875"/>
          <a:ext xmlns:a="http://schemas.openxmlformats.org/drawingml/2006/main" cx="100584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238500"/>
                <a:gridCol w="3867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Lista que se invierte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Llamada a inv/2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Concatenación pendiente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[1|[2,3]]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inv([2,3],R1)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concat(R1,[1],R)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[2|[3]]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inv([3],R2)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concat(R2,[2],R1)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[3|[]]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inv([],R3)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concat(R3,[3],R2)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Axioma: R3 = []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No se añade concatenación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17D01B4F-1118-4E9D-81C7-49342DA4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053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Al volver de la recursión</a:t>
            </a:r>
          </a:p>
        </p:txBody>
      </p:sp>
      <p:sp>
        <p:nvSpPr>
          <p:cNvPr id="1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8BAC1F5D-C1B3-4257-B142-4E5C3398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29225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A09DC086-E67C-400C-B580-1FA7DA8F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R2 = [3]     R1 = [3,2]     R = [3,2,1]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8C4E3447-4CB9-4951-AA53-4E088F00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483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En el último paso: concat([3,2],[1],R).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aplanar/2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aplanar(L,R)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contiene las hojas de L en su orden original.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L: lista finita anidada de átomos y números, sin variables.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aplanar/2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aplanar([a,[b],[],[c,[d]]],R).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[a,b,c,d]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aplanar([[],[]],R).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 ; false.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Aplanar: primero, los casos base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5BD080B3-F2D6-4B6F-8E08-6627003D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04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Casos base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CE0E498F-9525-4EDC-AED3-7D04AB55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38325"/>
            <a:ext cx="56197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4ACE8B60-84F7-4522-A9FC-954D6139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050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aplanar([],[]).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A17E7439-835E-4C05-9E04-4D9B53FB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66975"/>
            <a:ext cx="5476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lista vacía no aporta elementos.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EDE8289-C2BC-4B5B-8BC6-584C7B56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00375"/>
            <a:ext cx="56197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99712D07-0E8E-454C-8447-8DD2DEA8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67050"/>
            <a:ext cx="542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aplanar(X,[X])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atomic(X), X \== [].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3A5AC1E2-3981-419A-9FCE-22CF1DD4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552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Un dato atómico aporta una lista unitaria.</a:t>
            </a:r>
          </a:p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La comprobación excluye []: atomic([])</a:t>
            </a:r>
          </a:p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también tiene éxito.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3EDEF03B-E4A0-408B-8D94-B72A5498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049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Descomposición de [a,[b],[]]</a:t>
            </a:r>
          </a:p>
        </p:txBody>
      </p:sp>
      <p:sp>
        <p:nvSpPr>
          <p:cNvPr id="18" name="content">
            <a:extLst xmlns:a="http://schemas.openxmlformats.org/drawingml/2006/main">
              <a:ext uri="{FF2B5EF4-FFF2-40B4-BE49-F238E27FC236}">
                <a16:creationId xmlns:a16="http://schemas.microsoft.com/office/drawing/2014/main" id="{C751DCED-99BF-43CD-A81F-7F82F879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812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[a,[b],[]]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753834-1892-4453-B63F-95A1ED8C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81875" y="2333625"/>
            <a:ext cx="17907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5BA247-4DC7-4336-8675-8C29579F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72575" y="2333625"/>
            <a:ext cx="11430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1295FF-2586-4C66-97BD-9BB351C1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72575" y="2333625"/>
            <a:ext cx="15906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2" name="content">
            <a:extLst xmlns:a="http://schemas.openxmlformats.org/drawingml/2006/main">
              <a:ext uri="{FF2B5EF4-FFF2-40B4-BE49-F238E27FC236}">
                <a16:creationId xmlns:a16="http://schemas.microsoft.com/office/drawing/2014/main" id="{FBB1F1DB-AAA8-405E-B527-DD81AF1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003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</a:t>
            </a:r>
          </a:p>
        </p:txBody>
      </p:sp>
      <p:sp>
        <p:nvSpPr>
          <p:cNvPr id="23" name="content">
            <a:extLst xmlns:a="http://schemas.openxmlformats.org/drawingml/2006/main">
              <a:ext uri="{FF2B5EF4-FFF2-40B4-BE49-F238E27FC236}">
                <a16:creationId xmlns:a16="http://schemas.microsoft.com/office/drawing/2014/main" id="{21AB1FCE-6292-498C-ADA1-0FF7E267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003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[b]</a:t>
            </a:r>
          </a:p>
        </p:txBody>
      </p:sp>
      <p:sp>
        <p:nvSpPr>
          <p:cNvPr id="24" name="content">
            <a:extLst xmlns:a="http://schemas.openxmlformats.org/drawingml/2006/main">
              <a:ext uri="{FF2B5EF4-FFF2-40B4-BE49-F238E27FC236}">
                <a16:creationId xmlns:a16="http://schemas.microsoft.com/office/drawing/2014/main" id="{FBAA8081-B0D1-4931-9D71-160D3D55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800350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2D5D63-842D-405B-9D85-A704D1B7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44025" y="31623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63442"/>
            </a:solidFill>
          </a:ln>
        </p:spPr>
      </p:sp>
      <p:sp>
        <p:nvSpPr>
          <p:cNvPr id="26" name="content">
            <a:extLst xmlns:a="http://schemas.openxmlformats.org/drawingml/2006/main">
              <a:ext uri="{FF2B5EF4-FFF2-40B4-BE49-F238E27FC236}">
                <a16:creationId xmlns:a16="http://schemas.microsoft.com/office/drawing/2014/main" id="{74DF4E4B-E1C2-42EB-AD60-78FFD5B8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147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  <p:sp>
        <p:nvSpPr>
          <p:cNvPr id="27" name="content">
            <a:extLst xmlns:a="http://schemas.openxmlformats.org/drawingml/2006/main">
              <a:ext uri="{FF2B5EF4-FFF2-40B4-BE49-F238E27FC236}">
                <a16:creationId xmlns:a16="http://schemas.microsoft.com/office/drawing/2014/main" id="{4B691392-2E0E-4C92-96B8-5057331B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243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[a]</a:t>
            </a:r>
          </a:p>
        </p:txBody>
      </p:sp>
      <p:sp>
        <p:nvSpPr>
          <p:cNvPr id="28" name="content">
            <a:extLst xmlns:a="http://schemas.openxmlformats.org/drawingml/2006/main">
              <a:ext uri="{FF2B5EF4-FFF2-40B4-BE49-F238E27FC236}">
                <a16:creationId xmlns:a16="http://schemas.microsoft.com/office/drawing/2014/main" id="{8F1C07C5-1F1D-4E6F-8286-E9BC7F0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243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[b]</a:t>
            </a:r>
          </a:p>
        </p:txBody>
      </p:sp>
      <p:sp>
        <p:nvSpPr>
          <p:cNvPr id="29" name="content">
            <a:extLst xmlns:a="http://schemas.openxmlformats.org/drawingml/2006/main">
              <a:ext uri="{FF2B5EF4-FFF2-40B4-BE49-F238E27FC236}">
                <a16:creationId xmlns:a16="http://schemas.microsoft.com/office/drawing/2014/main" id="{7336E5F9-13B0-4E37-81E4-EA0F0EEE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1243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70436F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70436F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  <p:sp>
        <p:nvSpPr>
          <p:cNvPr id="30" name="content">
            <a:extLst xmlns:a="http://schemas.openxmlformats.org/drawingml/2006/main">
              <a:ext uri="{FF2B5EF4-FFF2-40B4-BE49-F238E27FC236}">
                <a16:creationId xmlns:a16="http://schemas.microsoft.com/office/drawing/2014/main" id="{73540A5D-223C-4D8D-9D09-F5980969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482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Resultados de los casos base</a:t>
            </a:r>
          </a:p>
        </p:txBody>
      </p:sp>
      <p:sp>
        <p:nvSpPr>
          <p:cNvPr id="31" name="content">
            <a:extLst xmlns:a="http://schemas.openxmlformats.org/drawingml/2006/main">
              <a:ext uri="{FF2B5EF4-FFF2-40B4-BE49-F238E27FC236}">
                <a16:creationId xmlns:a16="http://schemas.microsoft.com/office/drawing/2014/main" id="{462F130D-3BEF-4052-9463-CCE9811B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530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Concatenar [a], [b] y [] produce [a,b].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aplanar/2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666A6067-F6D0-4DFE-8881-EE475FE0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47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D3AD6B3-C6C0-4D4B-999E-790B2303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24025"/>
            <a:ext cx="104775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57622DBF-198B-4333-BA3C-65EE3A7A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10287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aplanar([],[]).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aplanar(X,[X]) :- atomic(X), X \== [].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aplanar([C|Cs],R) :-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aplanar(C,A), aplanar(Cs,B),</a:t>
            </a:r>
          </a:p>
          <a:p xmlns:a="http://schemas.openxmlformats.org/drawingml/2006/main">
            <a:pPr>
              <a:defRPr sz="2100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concat(A,B,R).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BFA433D7-EBE4-44C2-866B-7E812EF25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Consola de SWI-Prolog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92B13C40-9E4C-4897-8C65-A1F85904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10477500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5" name="content">
            <a:extLst xmlns:a="http://schemas.openxmlformats.org/drawingml/2006/main">
              <a:ext uri="{FF2B5EF4-FFF2-40B4-BE49-F238E27FC236}">
                <a16:creationId xmlns:a16="http://schemas.microsoft.com/office/drawing/2014/main" id="{980FD01D-EE0A-4026-A4EA-A26F0F1F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10287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aplanar([a,[b],[],[c,[d]]],R).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 = [a,b,c,d] ; 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aplanar([[],[]],R).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 = [] ; false.</a:t>
            </a:r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7F42A0A5-DAB9-4C0C-B5D6-2DE1AAA4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977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atomic([]) también es cierto; X \== [] evita conservarlo como hoja.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subconjunto/2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subconjunto(S,C)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Todos los elementos de S pertenecen a C.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 y C son listas sin elementos repetidos.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subconjunto/2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subconjunto([b,a],[a,b,c]).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subconjunto([],[a,b]).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subconjunto([d],[a,b,c]).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F25CC95F-5B51-479C-BC14-A3F3813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Desde este ejercicio trabajamos con conjuntos:</a:t>
            </a:r>
          </a:p>
          <a:p xmlns:a="http://schemas.openxmlformats.org/drawingml/2006/main">
            <a:pPr>
              <a:defRPr sz="1650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las listas de entrada no contienen elementos repetidos.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subconjunto/2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5533A508-00B7-4AEF-960D-ECD7ADC3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AA5AEB3-BF69-433B-947C-2368845B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655D7670-A2F0-4407-9B23-C1DB83DB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subconjunto([],_).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subconjunto([X|Xs],C)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select(X,C,Resto),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subconjunto(Xs,Resto).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143DFD8C-AD1E-4961-9D06-7A0E69F0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 y C son conjuntos sin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repeticiones.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select/3 retira de C el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elemento que ya se ha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comprobado.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subconjunto([b,a],[a,b,c]).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 ; 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subconjunto([],[a,b]).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true.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subconjunto([d],[a,b,c]).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false.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linea/3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linea(X,C,R)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contiene un par [X,Y] por cada Y de C.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 es un conjunto: lista sin elementos repetidos.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linea/3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linea(a,[1,2],R).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[[a,1],[a,2]].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linea(a,[],R).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linea/3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B07D30A1-F317-4D11-9F64-2E485445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6CC159-4E32-407B-9EA4-89E8A1EC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EF8EDE18-E1BB-44B4-9EFC-06449517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linea(_,[],[]).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linea(Elemento,[Car|Cdr],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  [[Elemento,Car]|Resto])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linea(Elemento,Cdr,Resto).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B258E7AA-1AB4-49B6-BCEF-E5929F20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X se combina con cada elemento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del conjunto C.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par [X,Y] es una lista de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dos elementos.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linea(a,[1,2],R).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[[a,1],[a,2]].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linea(a,[],R).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Linea: construir el resultado paso a paso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B3573CAA-E069-48C1-9A30-3141FC98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66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Consola de SWI-Prolog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EAA92E0E-D655-4EAD-93A6-9E46376C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24025"/>
            <a:ext cx="104775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70522FA7-5B7B-4C09-952A-5720FEEA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90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?- linea(1,[a,b],R).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822960" y="2533650"/>
          <a:ext xmlns:a="http://schemas.openxmlformats.org/drawingml/2006/main" cx="100584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1905000"/>
                <a:gridCol w="3429000"/>
                <a:gridCol w="3486150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Elemento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pendiente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Llamada recursiva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[a|[b]]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[[1,a]|R1]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linea(1,[b],R1)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[b|[]]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R1 = [[1,b]|R2]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linea(1,[],R2)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[]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R2 = []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Axioma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sp>
        <p:nvSpPr>
          <p:cNvPr id="14" name="content">
            <a:extLst xmlns:a="http://schemas.openxmlformats.org/drawingml/2006/main">
              <a:ext uri="{FF2B5EF4-FFF2-40B4-BE49-F238E27FC236}">
                <a16:creationId xmlns:a16="http://schemas.microsoft.com/office/drawing/2014/main" id="{23D74FCF-5609-47A4-9A45-903ACBD0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053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0436F"/>
                </a:solidFill>
                <a:latin typeface="Arial"/>
                <a:ea typeface="Arial"/>
                <a:cs typeface="Arial"/>
              </a:rPr>
              <a:t>Al volver de la recursión</a:t>
            </a:r>
          </a:p>
        </p:txBody>
      </p:sp>
      <p:sp>
        <p:nvSpPr>
          <p:cNvPr id="15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76ABC3A-71DA-4685-9A0D-46B75C28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05375"/>
            <a:ext cx="104775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9C88B723-9304-449A-A8E4-5424FFA8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720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R1 = [[1,b]|[]]       = [[1,b]]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R  = [[1,a]|[[1,b]]] = [[1,a],[1,b]]</a:t>
            </a:r>
          </a:p>
        </p:txBody>
      </p:sp>
      <p:sp>
        <p:nvSpPr>
          <p:cNvPr id="17" name="content">
            <a:extLst xmlns:a="http://schemas.openxmlformats.org/drawingml/2006/main">
              <a:ext uri="{FF2B5EF4-FFF2-40B4-BE49-F238E27FC236}">
                <a16:creationId xmlns:a16="http://schemas.microsoft.com/office/drawing/2014/main" id="{A4D9C857-AE13-46B6-9540-6FD8474D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0550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El elemento 1 se mantiene. Cada llamada añade un par [1,Car].</a:t>
            </a:r>
          </a:p>
        </p:txBody>
      </p:sp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Ejercicio: cartesiano/3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22960" y="1609725"/>
          <a:ext xmlns:a="http://schemas.openxmlformats.org/drawingml/2006/main" cx="10058400" cy="1476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5238750"/>
                <a:gridCol w="1819275"/>
              </a:tblGrid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Sintaxis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Semántica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Firma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cartesiano(A,B,R)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contiene todos los pares [X,Y], con X en A e Y en B.</a:t>
                      </a:r>
                    </a:p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A y B son listas sin elementos repetidos.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cartesiano/3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822960" y="3476625"/>
          <a:ext xmlns:a="http://schemas.openxmlformats.org/drawingml/2006/main" cx="100584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esperado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cartesiano([a,b],[1,2],R).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[[a,1],[a,2],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     [b,1],[b,2]].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cartesiano([],[1,2],R).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band">
            <a:extLst xmlns:a="http://schemas.openxmlformats.org/drawingml/2006/main">
              <a:ext uri="{FF2B5EF4-FFF2-40B4-BE49-F238E27FC236}">
                <a16:creationId xmlns:a16="http://schemas.microsoft.com/office/drawing/2014/main" id="{2A436D7E-AD66-43F2-A111-E5F4F036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7043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2" name="bottom-band">
            <a:extLst xmlns:a="http://schemas.openxmlformats.org/drawingml/2006/main">
              <a:ext uri="{FF2B5EF4-FFF2-40B4-BE49-F238E27FC236}">
                <a16:creationId xmlns:a16="http://schemas.microsoft.com/office/drawing/2014/main" id="{644042B4-72EE-48B4-840A-EFEA286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36792"/>
            <a:ext cx="11704320" cy="246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36F"/>
          </a:solidFill>
          <a:ln xmlns:a="http://schemas.openxmlformats.org/drawingml/2006/main" w="0">
            <a:noFill/>
          </a:ln>
        </p:spPr>
      </p:sp>
      <p:sp>
        <p:nvSpPr>
          <p:cNvPr id="3" name="section">
            <a:extLst xmlns:a="http://schemas.openxmlformats.org/drawingml/2006/main">
              <a:ext uri="{FF2B5EF4-FFF2-40B4-BE49-F238E27FC236}">
                <a16:creationId xmlns:a16="http://schemas.microsoft.com/office/drawing/2014/main" id="{5B88261E-3A26-4CDE-B680-387A60B1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576"/>
            <a:ext cx="100584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Listas en Prolog · Ejercicios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1C875F5-716E-4608-9A0A-899572AE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85216"/>
            <a:ext cx="10515600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36" b="0">
                <a:solidFill>
                  <a:srgbClr val="70436F"/>
                </a:solidFill>
                <a:latin typeface="Arial"/>
                <a:ea typeface="Arial"/>
                <a:cs typeface="Arial"/>
              </a:defRPr>
            </a:pPr>
            <a:r>
              <a:rPr sz="2736" b="0">
                <a:solidFill>
                  <a:srgbClr val="70436F"/>
                </a:solidFill>
                <a:latin typeface="Arial"/>
                <a:ea typeface="Arial"/>
                <a:cs typeface="Arial"/>
              </a:rPr>
              <a:t>Solución: cartesiano/3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21FFD4EC-A1D6-4316-8B2A-08D9408F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373368"/>
            <a:ext cx="6858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DA994AF4-FCE5-4672-8332-525A387B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373368"/>
            <a:ext cx="41148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92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92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0" name="content">
            <a:extLst xmlns:a="http://schemas.openxmlformats.org/drawingml/2006/main">
              <a:ext uri="{FF2B5EF4-FFF2-40B4-BE49-F238E27FC236}">
                <a16:creationId xmlns:a16="http://schemas.microsoft.com/office/drawing/2014/main" id="{80184EA2-C7C1-4B06-ABDF-996C4E39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95425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5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585"/>
                </a:solidFill>
                <a:latin typeface="Arial"/>
                <a:ea typeface="Arial"/>
                <a:cs typeface="Arial"/>
              </a:rPr>
              <a:t>Archivo listas.pl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ABFF15AD-64CA-4C12-9251-4324945B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90700"/>
            <a:ext cx="5953125" cy="1800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</a:ln>
        </p:spPr>
      </p:sp>
      <p:sp>
        <p:nvSpPr>
          <p:cNvPr id="12" name="content">
            <a:extLst xmlns:a="http://schemas.openxmlformats.org/drawingml/2006/main">
              <a:ext uri="{FF2B5EF4-FFF2-40B4-BE49-F238E27FC236}">
                <a16:creationId xmlns:a16="http://schemas.microsoft.com/office/drawing/2014/main" id="{3CD14E0B-EF44-454C-8119-FCEE2F7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57375"/>
            <a:ext cx="576262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cartesiano([],_,[]).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cartesiano([X|Xs],B,R) :-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linea(X,B,Fila),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cartesiano(Xs,B,Resto),</a:t>
            </a:r>
          </a:p>
          <a:p xmlns:a="http://schemas.openxmlformats.org/drawingml/2006/main">
            <a:pPr>
              <a:defRPr sz="2025" b="0">
                <a:solidFill>
                  <a:srgbClr val="263442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63442"/>
                </a:solidFill>
                <a:latin typeface="Consolas"/>
                <a:ea typeface="Consolas"/>
                <a:cs typeface="Consolas"/>
              </a:rPr>
              <a:t>    concat(Fila,Resto,R).</a:t>
            </a:r>
          </a:p>
        </p:txBody>
      </p:sp>
      <p:sp>
        <p:nvSpPr>
          <p:cNvPr id="13" name="content">
            <a:extLst xmlns:a="http://schemas.openxmlformats.org/drawingml/2006/main">
              <a:ext uri="{FF2B5EF4-FFF2-40B4-BE49-F238E27FC236}">
                <a16:creationId xmlns:a16="http://schemas.microsoft.com/office/drawing/2014/main" id="{E0E97AA4-91D2-49EC-9B28-71905A82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4048125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Cada X aporta una fila;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concat/3 reúne todas las filas.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Si A tiene m elementos y B</a:t>
            </a:r>
          </a:p>
          <a:p xmlns:a="http://schemas.openxmlformats.org/drawingml/2006/main">
            <a:pPr>
              <a:defRPr sz="1875" b="0">
                <a:solidFill>
                  <a:srgbClr val="2634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442"/>
                </a:solidFill>
                <a:latin typeface="Arial"/>
                <a:ea typeface="Arial"/>
                <a:cs typeface="Arial"/>
              </a:rPr>
              <a:t>tiene n, obtenemos m × n pares.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22960" y="4019550"/>
          <a:ext xmlns:a="http://schemas.openxmlformats.org/drawingml/2006/main" cx="100584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4533900"/>
              </a:tblGrid>
              <a:tr h="4095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Consulta en consola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Respuesta</a:t>
                      </a:r>
                    </a:p>
                  </a:txBody>
                  <a:tcPr marL="95250" marR="95250" marT="85725" marB="66675" anchor="t">
                    <a:solidFill>
                      <a:srgbClr val="70436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cartesiano([a,b],[1,2],R).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[[a,1],[a,2],</a:t>
                      </a:r>
                    </a:p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     [b,1],[b,2]].</a:t>
                      </a:r>
                    </a:p>
                  </a:txBody>
                  <a:tcPr marL="95250" marR="95250" marT="85725" marB="66675" anchor="t">
                    <a:solidFill>
                      <a:srgbClr val="F5EF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?- cartesiano([],[1,2],R).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63442"/>
                          </a:solidFill>
                          <a:latin typeface="Arial"/>
                          <a:ea typeface="Arial"/>
                          <a:cs typeface="Arial"/>
                        </a:rPr>
                        <a:t>R = [].</a:t>
                      </a:r>
                    </a:p>
                  </a:txBody>
                  <a:tcPr marL="95250" marR="95250" marT="85725" marB="6667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485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2026-09-27T13:36:19.8340000Z</dcterms:created>
  <dcterms:modified xsi:type="dcterms:W3CDTF">2026-09-27T13:36:19.8340000Z</dcterms:modified>
</coreProperties>
</file>