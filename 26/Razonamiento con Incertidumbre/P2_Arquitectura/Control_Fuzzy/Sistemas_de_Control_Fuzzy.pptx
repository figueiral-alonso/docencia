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slides/charts/chart10.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9.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20.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23.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24.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slides/charts/chart25.xml" ContentType="application/vnd.openxmlformats-officedocument.drawingml.chart+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26.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charts/chart27.xml" ContentType="application/vnd.openxmlformats-officedocument.drawingml.chart+xml"/>
  <Override PartName="/ppt/slides/charts/chart28.xml" ContentType="application/vnd.openxmlformats-officedocument.drawingml.chart+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29.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30.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slides/charts/chart31.xml" ContentType="application/vnd.openxmlformats-officedocument.drawingml.chart+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slides/charts/chart32.xml" ContentType="application/vnd.openxmlformats-officedocument.drawingml.chart+xml"/>
  <Override PartName="/ppt/notesSlides/notesSlide48.xml" ContentType="application/vnd.openxmlformats-officedocument.presentationml.notesSlide+xml"/>
  <Override PartName="/ppt/slides/slide49.xml" ContentType="application/vnd.openxmlformats-officedocument.presentationml.slide+xml"/>
  <Override PartName="/ppt/slides/charts/chart33.xml" ContentType="application/vnd.openxmlformats-officedocument.drawingml.chart+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slides/charts/chart34.xml" ContentType="application/vnd.openxmlformats-officedocument.drawingml.chart+xml"/>
  <Override PartName="/ppt/slides/charts/chart35.xml" ContentType="application/vnd.openxmlformats-officedocument.drawingml.chart+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slides/charts/chart36.xml" ContentType="application/vnd.openxmlformats-officedocument.drawingml.chart+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slides/charts/chart37.xml" ContentType="application/vnd.openxmlformats-officedocument.drawingml.chart+xml"/>
  <Override PartName="/ppt/slides/charts/chart38.xml" ContentType="application/vnd.openxmlformats-officedocument.drawingml.chart+xml"/>
  <Override PartName="/ppt/notesSlides/notesSlide76.xml" ContentType="application/vnd.openxmlformats-officedocument.presentationml.notesSlide+xml"/>
  <Override PartName="/ppt/slides/slide77.xml" ContentType="application/vnd.openxmlformats-officedocument.presentationml.slide+xml"/>
  <Override PartName="/ppt/slides/charts/chart39.xml" ContentType="application/vnd.openxmlformats-officedocument.drawingml.chart+xml"/>
  <Override PartName="/ppt/notesSlides/notesSlide77.xml" ContentType="application/vnd.openxmlformats-officedocument.presentationml.notesSlide+xml"/>
  <Override PartName="/ppt/slides/slide78.xml" ContentType="application/vnd.openxmlformats-officedocument.presentationml.slide+xml"/>
  <Override PartName="/ppt/slides/charts/chart40.xml" ContentType="application/vnd.openxmlformats-officedocument.drawingml.chart+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36c5fbdfdf4522" /><Relationship Type="http://schemas.openxmlformats.org/officeDocument/2006/relationships/extended-properties" Target="/docProps/app.xml" Id="R3600426cf9ab497b" /><Relationship Type="http://schemas.openxmlformats.org/officeDocument/2006/relationships/officeDocument" Target="/ppt/presentation.xml" Id="R8597b7082df34722" /></Relationships>
</file>

<file path=ppt/presentation.xml><?xml version="1.0" encoding="utf-8"?>
<p:presentation xmlns:p="http://schemas.openxmlformats.org/presentationml/2006/main">
  <p:sldMasterIdLst>
    <p:sldMasterId xmlns:r="http://schemas.openxmlformats.org/officeDocument/2006/relationships" id="2147483648" r:id="R97b5b5931bc440d2"/>
  </p:sldMasterIdLst>
  <p:notesMasterIdLst>
    <p:notesMasterId xmlns:r="http://schemas.openxmlformats.org/officeDocument/2006/relationships" r:id="R3820200ff2b94ad6"/>
  </p:notesMasterIdLst>
  <p:sldIdLst>
    <p:sldId xmlns:r="http://schemas.openxmlformats.org/officeDocument/2006/relationships" id="256" r:id="R5a049655dbdb4826"/>
    <p:sldId xmlns:r="http://schemas.openxmlformats.org/officeDocument/2006/relationships" id="257" r:id="R25b62785d94b4542"/>
    <p:sldId xmlns:r="http://schemas.openxmlformats.org/officeDocument/2006/relationships" id="258" r:id="R823cd48a9a174e7b"/>
    <p:sldId xmlns:r="http://schemas.openxmlformats.org/officeDocument/2006/relationships" id="259" r:id="R10821e968f7644ad"/>
    <p:sldId xmlns:r="http://schemas.openxmlformats.org/officeDocument/2006/relationships" id="260" r:id="Re475b707015449e8"/>
    <p:sldId xmlns:r="http://schemas.openxmlformats.org/officeDocument/2006/relationships" id="261" r:id="R2bcfe7a1d442497a"/>
    <p:sldId xmlns:r="http://schemas.openxmlformats.org/officeDocument/2006/relationships" id="262" r:id="R7b19c5462bf64f10"/>
    <p:sldId xmlns:r="http://schemas.openxmlformats.org/officeDocument/2006/relationships" id="263" r:id="R0f2cab0ca3354cd7"/>
    <p:sldId xmlns:r="http://schemas.openxmlformats.org/officeDocument/2006/relationships" id="264" r:id="Rd9f1ee28a22841f5"/>
    <p:sldId xmlns:r="http://schemas.openxmlformats.org/officeDocument/2006/relationships" id="265" r:id="R8dd2df2401854c6c"/>
    <p:sldId xmlns:r="http://schemas.openxmlformats.org/officeDocument/2006/relationships" id="266" r:id="R3150e85bbec943af"/>
    <p:sldId xmlns:r="http://schemas.openxmlformats.org/officeDocument/2006/relationships" id="267" r:id="R665d8b24d7304a3b"/>
    <p:sldId xmlns:r="http://schemas.openxmlformats.org/officeDocument/2006/relationships" id="268" r:id="Rf5f8b2632e9c484b"/>
    <p:sldId xmlns:r="http://schemas.openxmlformats.org/officeDocument/2006/relationships" id="269" r:id="R86bc8ba0eb464834"/>
    <p:sldId xmlns:r="http://schemas.openxmlformats.org/officeDocument/2006/relationships" id="270" r:id="Rb81d17151b584786"/>
    <p:sldId xmlns:r="http://schemas.openxmlformats.org/officeDocument/2006/relationships" id="271" r:id="R7c00594714644eda"/>
    <p:sldId xmlns:r="http://schemas.openxmlformats.org/officeDocument/2006/relationships" id="272" r:id="R091fcd54781646c6"/>
    <p:sldId xmlns:r="http://schemas.openxmlformats.org/officeDocument/2006/relationships" id="273" r:id="R968a73a0c56642bb"/>
    <p:sldId xmlns:r="http://schemas.openxmlformats.org/officeDocument/2006/relationships" id="274" r:id="R2b434e09633e4cbe"/>
    <p:sldId xmlns:r="http://schemas.openxmlformats.org/officeDocument/2006/relationships" id="275" r:id="R807c4b4bcee4434f"/>
    <p:sldId xmlns:r="http://schemas.openxmlformats.org/officeDocument/2006/relationships" id="276" r:id="R013f320af0524c0b"/>
    <p:sldId xmlns:r="http://schemas.openxmlformats.org/officeDocument/2006/relationships" id="277" r:id="R09118d6ef1a246db"/>
    <p:sldId xmlns:r="http://schemas.openxmlformats.org/officeDocument/2006/relationships" id="278" r:id="Rfad51292643c4bae"/>
    <p:sldId xmlns:r="http://schemas.openxmlformats.org/officeDocument/2006/relationships" id="279" r:id="Rabec1557ebb84414"/>
    <p:sldId xmlns:r="http://schemas.openxmlformats.org/officeDocument/2006/relationships" id="280" r:id="Re3b0137c10dc41ce"/>
    <p:sldId xmlns:r="http://schemas.openxmlformats.org/officeDocument/2006/relationships" id="281" r:id="R2cfc7b1d3e0a488a"/>
    <p:sldId xmlns:r="http://schemas.openxmlformats.org/officeDocument/2006/relationships" id="282" r:id="R46b4bf4008694cf3"/>
    <p:sldId xmlns:r="http://schemas.openxmlformats.org/officeDocument/2006/relationships" id="283" r:id="Rb325c64d6ff74770"/>
    <p:sldId xmlns:r="http://schemas.openxmlformats.org/officeDocument/2006/relationships" id="284" r:id="R361e029adfc042d2"/>
    <p:sldId xmlns:r="http://schemas.openxmlformats.org/officeDocument/2006/relationships" id="285" r:id="R999e64bbc3734f9a"/>
    <p:sldId xmlns:r="http://schemas.openxmlformats.org/officeDocument/2006/relationships" id="286" r:id="Rc7748998d8484a1c"/>
    <p:sldId xmlns:r="http://schemas.openxmlformats.org/officeDocument/2006/relationships" id="287" r:id="R9033c38b67b447ee"/>
    <p:sldId xmlns:r="http://schemas.openxmlformats.org/officeDocument/2006/relationships" id="288" r:id="R55edc764350d4522"/>
    <p:sldId xmlns:r="http://schemas.openxmlformats.org/officeDocument/2006/relationships" id="289" r:id="Rae783a8ee8a14610"/>
    <p:sldId xmlns:r="http://schemas.openxmlformats.org/officeDocument/2006/relationships" id="290" r:id="R2b374a646f9e463a"/>
    <p:sldId xmlns:r="http://schemas.openxmlformats.org/officeDocument/2006/relationships" id="291" r:id="R9df9a7a516cd499b"/>
    <p:sldId xmlns:r="http://schemas.openxmlformats.org/officeDocument/2006/relationships" id="292" r:id="R6ce8d684201a49a8"/>
    <p:sldId xmlns:r="http://schemas.openxmlformats.org/officeDocument/2006/relationships" id="293" r:id="Rb6f0dd2f3f854cee"/>
    <p:sldId xmlns:r="http://schemas.openxmlformats.org/officeDocument/2006/relationships" id="294" r:id="R4c16c7cfbb4f45cd"/>
    <p:sldId xmlns:r="http://schemas.openxmlformats.org/officeDocument/2006/relationships" id="295" r:id="Rb96352186117431b"/>
    <p:sldId xmlns:r="http://schemas.openxmlformats.org/officeDocument/2006/relationships" id="296" r:id="R52f0305b0265476c"/>
    <p:sldId xmlns:r="http://schemas.openxmlformats.org/officeDocument/2006/relationships" id="297" r:id="Rf33b6abeddbe42b5"/>
    <p:sldId xmlns:r="http://schemas.openxmlformats.org/officeDocument/2006/relationships" id="298" r:id="R22a9f96a8f0b4189"/>
    <p:sldId xmlns:r="http://schemas.openxmlformats.org/officeDocument/2006/relationships" id="299" r:id="Rfb0d0811561447c9"/>
    <p:sldId xmlns:r="http://schemas.openxmlformats.org/officeDocument/2006/relationships" id="300" r:id="R6aaf804189944ac6"/>
    <p:sldId xmlns:r="http://schemas.openxmlformats.org/officeDocument/2006/relationships" id="301" r:id="Rc92366fda5554cbc"/>
    <p:sldId xmlns:r="http://schemas.openxmlformats.org/officeDocument/2006/relationships" id="302" r:id="R2234fa27b74b46bf"/>
    <p:sldId xmlns:r="http://schemas.openxmlformats.org/officeDocument/2006/relationships" id="303" r:id="R130ce80905744520"/>
    <p:sldId xmlns:r="http://schemas.openxmlformats.org/officeDocument/2006/relationships" id="304" r:id="Rccc5a46aaea34a3d"/>
    <p:sldId xmlns:r="http://schemas.openxmlformats.org/officeDocument/2006/relationships" id="305" r:id="R1b82d648dbba4ff2"/>
    <p:sldId xmlns:r="http://schemas.openxmlformats.org/officeDocument/2006/relationships" id="306" r:id="Rcd0f9ebeb43d4a6d"/>
    <p:sldId xmlns:r="http://schemas.openxmlformats.org/officeDocument/2006/relationships" id="307" r:id="Re1ea575e14ca46a8"/>
    <p:sldId xmlns:r="http://schemas.openxmlformats.org/officeDocument/2006/relationships" id="308" r:id="R94968e532724488b"/>
    <p:sldId xmlns:r="http://schemas.openxmlformats.org/officeDocument/2006/relationships" id="309" r:id="Rf05111cd969d47fc"/>
    <p:sldId xmlns:r="http://schemas.openxmlformats.org/officeDocument/2006/relationships" id="310" r:id="Ra98eb7e4660c4cd5"/>
    <p:sldId xmlns:r="http://schemas.openxmlformats.org/officeDocument/2006/relationships" id="311" r:id="Rb1d292430b694156"/>
    <p:sldId xmlns:r="http://schemas.openxmlformats.org/officeDocument/2006/relationships" id="312" r:id="R134091be0ab24ac8"/>
    <p:sldId xmlns:r="http://schemas.openxmlformats.org/officeDocument/2006/relationships" id="313" r:id="R4b31c0b6886548cd"/>
    <p:sldId xmlns:r="http://schemas.openxmlformats.org/officeDocument/2006/relationships" id="314" r:id="R8f643ac2a5424be7"/>
    <p:sldId xmlns:r="http://schemas.openxmlformats.org/officeDocument/2006/relationships" id="315" r:id="R007a6a25edc74bc8"/>
    <p:sldId xmlns:r="http://schemas.openxmlformats.org/officeDocument/2006/relationships" id="316" r:id="Rfd0fa4a131b04be8"/>
    <p:sldId xmlns:r="http://schemas.openxmlformats.org/officeDocument/2006/relationships" id="317" r:id="R79c3c29af6f64de8"/>
    <p:sldId xmlns:r="http://schemas.openxmlformats.org/officeDocument/2006/relationships" id="318" r:id="Reeb658b8f2ad4795"/>
    <p:sldId xmlns:r="http://schemas.openxmlformats.org/officeDocument/2006/relationships" id="319" r:id="R2bea0018afd744ef"/>
    <p:sldId xmlns:r="http://schemas.openxmlformats.org/officeDocument/2006/relationships" id="320" r:id="Rf6024800c44f40bc"/>
    <p:sldId xmlns:r="http://schemas.openxmlformats.org/officeDocument/2006/relationships" id="321" r:id="Ra7146db866b94a04"/>
    <p:sldId xmlns:r="http://schemas.openxmlformats.org/officeDocument/2006/relationships" id="322" r:id="R6db4898282714bcb"/>
    <p:sldId xmlns:r="http://schemas.openxmlformats.org/officeDocument/2006/relationships" id="323" r:id="R7f274a330530474f"/>
    <p:sldId xmlns:r="http://schemas.openxmlformats.org/officeDocument/2006/relationships" id="324" r:id="R94c8b94927c54cc5"/>
    <p:sldId xmlns:r="http://schemas.openxmlformats.org/officeDocument/2006/relationships" id="325" r:id="R36ba5efc1eef43f8"/>
    <p:sldId xmlns:r="http://schemas.openxmlformats.org/officeDocument/2006/relationships" id="326" r:id="R15baf99275bf46cb"/>
    <p:sldId xmlns:r="http://schemas.openxmlformats.org/officeDocument/2006/relationships" id="327" r:id="R23a6f913e84c4dfa"/>
    <p:sldId xmlns:r="http://schemas.openxmlformats.org/officeDocument/2006/relationships" id="328" r:id="Ra687a5c5684e4100"/>
    <p:sldId xmlns:r="http://schemas.openxmlformats.org/officeDocument/2006/relationships" id="329" r:id="Rf8282cdb4bc14c2d"/>
    <p:sldId xmlns:r="http://schemas.openxmlformats.org/officeDocument/2006/relationships" id="330" r:id="Rd12085b563d24ab3"/>
    <p:sldId xmlns:r="http://schemas.openxmlformats.org/officeDocument/2006/relationships" id="331" r:id="R2e2cb17069154ce7"/>
    <p:sldId xmlns:r="http://schemas.openxmlformats.org/officeDocument/2006/relationships" id="332" r:id="R55922e8f00584ff5"/>
    <p:sldId xmlns:r="http://schemas.openxmlformats.org/officeDocument/2006/relationships" id="333" r:id="Red6b0c65a44e4bbf"/>
    <p:sldId xmlns:r="http://schemas.openxmlformats.org/officeDocument/2006/relationships" id="334" r:id="Rce567c76ef5a4756"/>
    <p:sldId xmlns:r="http://schemas.openxmlformats.org/officeDocument/2006/relationships" id="335" r:id="R5b3a6427650e4bdc"/>
    <p:sldId xmlns:r="http://schemas.openxmlformats.org/officeDocument/2006/relationships" id="336" r:id="Rdb8b338cc5df4902"/>
    <p:sldId xmlns:r="http://schemas.openxmlformats.org/officeDocument/2006/relationships" id="337" r:id="R14061693a3c540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0b71c118a24de6" /><Relationship Type="http://schemas.openxmlformats.org/officeDocument/2006/relationships/slideMaster" Target="/ppt/slideMasters/slideMaster1.xml" Id="R97b5b5931bc440d2" /><Relationship Type="http://schemas.openxmlformats.org/officeDocument/2006/relationships/notesMaster" Target="/ppt/notesMasters/notesMaster1.xml" Id="R3820200ff2b94ad6" /><Relationship Type="http://schemas.openxmlformats.org/officeDocument/2006/relationships/presProps" Target="/ppt/presProps.xml" Id="R63308ea1a6cb4784" /><Relationship Type="http://schemas.openxmlformats.org/officeDocument/2006/relationships/tableStyles" Target="/ppt/tableStyles.xml" Id="R95bc5f442d694925" /><Relationship Type="http://schemas.openxmlformats.org/officeDocument/2006/relationships/slide" Target="/ppt/slides/slide1.xml" Id="R5a049655dbdb4826" /><Relationship Type="http://schemas.openxmlformats.org/officeDocument/2006/relationships/slide" Target="/ppt/slides/slide2.xml" Id="R25b62785d94b4542" /><Relationship Type="http://schemas.openxmlformats.org/officeDocument/2006/relationships/slide" Target="/ppt/slides/slide3.xml" Id="R823cd48a9a174e7b" /><Relationship Type="http://schemas.openxmlformats.org/officeDocument/2006/relationships/slide" Target="/ppt/slides/slide4.xml" Id="R10821e968f7644ad" /><Relationship Type="http://schemas.openxmlformats.org/officeDocument/2006/relationships/slide" Target="/ppt/slides/slide5.xml" Id="Re475b707015449e8" /><Relationship Type="http://schemas.openxmlformats.org/officeDocument/2006/relationships/slide" Target="/ppt/slides/slide6.xml" Id="R2bcfe7a1d442497a" /><Relationship Type="http://schemas.openxmlformats.org/officeDocument/2006/relationships/slide" Target="/ppt/slides/slide7.xml" Id="R7b19c5462bf64f10" /><Relationship Type="http://schemas.openxmlformats.org/officeDocument/2006/relationships/slide" Target="/ppt/slides/slide8.xml" Id="R0f2cab0ca3354cd7" /><Relationship Type="http://schemas.openxmlformats.org/officeDocument/2006/relationships/slide" Target="/ppt/slides/slide9.xml" Id="Rd9f1ee28a22841f5" /><Relationship Type="http://schemas.openxmlformats.org/officeDocument/2006/relationships/slide" Target="/ppt/slides/slide10.xml" Id="R8dd2df2401854c6c" /><Relationship Type="http://schemas.openxmlformats.org/officeDocument/2006/relationships/slide" Target="/ppt/slides/slide11.xml" Id="R3150e85bbec943af" /><Relationship Type="http://schemas.openxmlformats.org/officeDocument/2006/relationships/slide" Target="/ppt/slides/slide12.xml" Id="R665d8b24d7304a3b" /><Relationship Type="http://schemas.openxmlformats.org/officeDocument/2006/relationships/slide" Target="/ppt/slides/slide13.xml" Id="Rf5f8b2632e9c484b" /><Relationship Type="http://schemas.openxmlformats.org/officeDocument/2006/relationships/slide" Target="/ppt/slides/slide14.xml" Id="R86bc8ba0eb464834" /><Relationship Type="http://schemas.openxmlformats.org/officeDocument/2006/relationships/slide" Target="/ppt/slides/slide15.xml" Id="Rb81d17151b584786" /><Relationship Type="http://schemas.openxmlformats.org/officeDocument/2006/relationships/slide" Target="/ppt/slides/slide16.xml" Id="R7c00594714644eda" /><Relationship Type="http://schemas.openxmlformats.org/officeDocument/2006/relationships/slide" Target="/ppt/slides/slide17.xml" Id="R091fcd54781646c6" /><Relationship Type="http://schemas.openxmlformats.org/officeDocument/2006/relationships/slide" Target="/ppt/slides/slide18.xml" Id="R968a73a0c56642bb" /><Relationship Type="http://schemas.openxmlformats.org/officeDocument/2006/relationships/slide" Target="/ppt/slides/slide19.xml" Id="R2b434e09633e4cbe" /><Relationship Type="http://schemas.openxmlformats.org/officeDocument/2006/relationships/slide" Target="/ppt/slides/slide20.xml" Id="R807c4b4bcee4434f" /><Relationship Type="http://schemas.openxmlformats.org/officeDocument/2006/relationships/slide" Target="/ppt/slides/slide21.xml" Id="R013f320af0524c0b" /><Relationship Type="http://schemas.openxmlformats.org/officeDocument/2006/relationships/slide" Target="/ppt/slides/slide22.xml" Id="R09118d6ef1a246db" /><Relationship Type="http://schemas.openxmlformats.org/officeDocument/2006/relationships/slide" Target="/ppt/slides/slide23.xml" Id="Rfad51292643c4bae" /><Relationship Type="http://schemas.openxmlformats.org/officeDocument/2006/relationships/slide" Target="/ppt/slides/slide24.xml" Id="Rabec1557ebb84414" /><Relationship Type="http://schemas.openxmlformats.org/officeDocument/2006/relationships/slide" Target="/ppt/slides/slide25.xml" Id="Re3b0137c10dc41ce" /><Relationship Type="http://schemas.openxmlformats.org/officeDocument/2006/relationships/slide" Target="/ppt/slides/slide26.xml" Id="R2cfc7b1d3e0a488a" /><Relationship Type="http://schemas.openxmlformats.org/officeDocument/2006/relationships/slide" Target="/ppt/slides/slide27.xml" Id="R46b4bf4008694cf3" /><Relationship Type="http://schemas.openxmlformats.org/officeDocument/2006/relationships/slide" Target="/ppt/slides/slide28.xml" Id="Rb325c64d6ff74770" /><Relationship Type="http://schemas.openxmlformats.org/officeDocument/2006/relationships/slide" Target="/ppt/slides/slide29.xml" Id="R361e029adfc042d2" /><Relationship Type="http://schemas.openxmlformats.org/officeDocument/2006/relationships/slide" Target="/ppt/slides/slide30.xml" Id="R999e64bbc3734f9a" /><Relationship Type="http://schemas.openxmlformats.org/officeDocument/2006/relationships/slide" Target="/ppt/slides/slide31.xml" Id="Rc7748998d8484a1c" /><Relationship Type="http://schemas.openxmlformats.org/officeDocument/2006/relationships/slide" Target="/ppt/slides/slide32.xml" Id="R9033c38b67b447ee" /><Relationship Type="http://schemas.openxmlformats.org/officeDocument/2006/relationships/slide" Target="/ppt/slides/slide33.xml" Id="R55edc764350d4522" /><Relationship Type="http://schemas.openxmlformats.org/officeDocument/2006/relationships/slide" Target="/ppt/slides/slide34.xml" Id="Rae783a8ee8a14610" /><Relationship Type="http://schemas.openxmlformats.org/officeDocument/2006/relationships/slide" Target="/ppt/slides/slide35.xml" Id="R2b374a646f9e463a" /><Relationship Type="http://schemas.openxmlformats.org/officeDocument/2006/relationships/slide" Target="/ppt/slides/slide36.xml" Id="R9df9a7a516cd499b" /><Relationship Type="http://schemas.openxmlformats.org/officeDocument/2006/relationships/slide" Target="/ppt/slides/slide37.xml" Id="R6ce8d684201a49a8" /><Relationship Type="http://schemas.openxmlformats.org/officeDocument/2006/relationships/slide" Target="/ppt/slides/slide38.xml" Id="Rb6f0dd2f3f854cee" /><Relationship Type="http://schemas.openxmlformats.org/officeDocument/2006/relationships/slide" Target="/ppt/slides/slide39.xml" Id="R4c16c7cfbb4f45cd" /><Relationship Type="http://schemas.openxmlformats.org/officeDocument/2006/relationships/slide" Target="/ppt/slides/slide40.xml" Id="Rb96352186117431b" /><Relationship Type="http://schemas.openxmlformats.org/officeDocument/2006/relationships/slide" Target="/ppt/slides/slide41.xml" Id="R52f0305b0265476c" /><Relationship Type="http://schemas.openxmlformats.org/officeDocument/2006/relationships/slide" Target="/ppt/slides/slide42.xml" Id="Rf33b6abeddbe42b5" /><Relationship Type="http://schemas.openxmlformats.org/officeDocument/2006/relationships/slide" Target="/ppt/slides/slide43.xml" Id="R22a9f96a8f0b4189" /><Relationship Type="http://schemas.openxmlformats.org/officeDocument/2006/relationships/slide" Target="/ppt/slides/slide44.xml" Id="Rfb0d0811561447c9" /><Relationship Type="http://schemas.openxmlformats.org/officeDocument/2006/relationships/slide" Target="/ppt/slides/slide45.xml" Id="R6aaf804189944ac6" /><Relationship Type="http://schemas.openxmlformats.org/officeDocument/2006/relationships/slide" Target="/ppt/slides/slide46.xml" Id="Rc92366fda5554cbc" /><Relationship Type="http://schemas.openxmlformats.org/officeDocument/2006/relationships/slide" Target="/ppt/slides/slide47.xml" Id="R2234fa27b74b46bf" /><Relationship Type="http://schemas.openxmlformats.org/officeDocument/2006/relationships/slide" Target="/ppt/slides/slide48.xml" Id="R130ce80905744520" /><Relationship Type="http://schemas.openxmlformats.org/officeDocument/2006/relationships/slide" Target="/ppt/slides/slide49.xml" Id="Rccc5a46aaea34a3d" /><Relationship Type="http://schemas.openxmlformats.org/officeDocument/2006/relationships/slide" Target="/ppt/slides/slide50.xml" Id="R1b82d648dbba4ff2" /><Relationship Type="http://schemas.openxmlformats.org/officeDocument/2006/relationships/slide" Target="/ppt/slides/slide51.xml" Id="Rcd0f9ebeb43d4a6d" /><Relationship Type="http://schemas.openxmlformats.org/officeDocument/2006/relationships/slide" Target="/ppt/slides/slide52.xml" Id="Re1ea575e14ca46a8" /><Relationship Type="http://schemas.openxmlformats.org/officeDocument/2006/relationships/slide" Target="/ppt/slides/slide53.xml" Id="R94968e532724488b" /><Relationship Type="http://schemas.openxmlformats.org/officeDocument/2006/relationships/slide" Target="/ppt/slides/slide54.xml" Id="Rf05111cd969d47fc" /><Relationship Type="http://schemas.openxmlformats.org/officeDocument/2006/relationships/slide" Target="/ppt/slides/slide55.xml" Id="Ra98eb7e4660c4cd5" /><Relationship Type="http://schemas.openxmlformats.org/officeDocument/2006/relationships/slide" Target="/ppt/slides/slide56.xml" Id="Rb1d292430b694156" /><Relationship Type="http://schemas.openxmlformats.org/officeDocument/2006/relationships/slide" Target="/ppt/slides/slide57.xml" Id="R134091be0ab24ac8" /><Relationship Type="http://schemas.openxmlformats.org/officeDocument/2006/relationships/slide" Target="/ppt/slides/slide58.xml" Id="R4b31c0b6886548cd" /><Relationship Type="http://schemas.openxmlformats.org/officeDocument/2006/relationships/slide" Target="/ppt/slides/slide59.xml" Id="R8f643ac2a5424be7" /><Relationship Type="http://schemas.openxmlformats.org/officeDocument/2006/relationships/slide" Target="/ppt/slides/slide60.xml" Id="R007a6a25edc74bc8" /><Relationship Type="http://schemas.openxmlformats.org/officeDocument/2006/relationships/slide" Target="/ppt/slides/slide61.xml" Id="Rfd0fa4a131b04be8" /><Relationship Type="http://schemas.openxmlformats.org/officeDocument/2006/relationships/slide" Target="/ppt/slides/slide62.xml" Id="R79c3c29af6f64de8" /><Relationship Type="http://schemas.openxmlformats.org/officeDocument/2006/relationships/slide" Target="/ppt/slides/slide63.xml" Id="Reeb658b8f2ad4795" /><Relationship Type="http://schemas.openxmlformats.org/officeDocument/2006/relationships/slide" Target="/ppt/slides/slide64.xml" Id="R2bea0018afd744ef" /><Relationship Type="http://schemas.openxmlformats.org/officeDocument/2006/relationships/slide" Target="/ppt/slides/slide65.xml" Id="Rf6024800c44f40bc" /><Relationship Type="http://schemas.openxmlformats.org/officeDocument/2006/relationships/slide" Target="/ppt/slides/slide66.xml" Id="Ra7146db866b94a04" /><Relationship Type="http://schemas.openxmlformats.org/officeDocument/2006/relationships/slide" Target="/ppt/slides/slide67.xml" Id="R6db4898282714bcb" /><Relationship Type="http://schemas.openxmlformats.org/officeDocument/2006/relationships/slide" Target="/ppt/slides/slide68.xml" Id="R7f274a330530474f" /><Relationship Type="http://schemas.openxmlformats.org/officeDocument/2006/relationships/slide" Target="/ppt/slides/slide69.xml" Id="R94c8b94927c54cc5" /><Relationship Type="http://schemas.openxmlformats.org/officeDocument/2006/relationships/slide" Target="/ppt/slides/slide70.xml" Id="R36ba5efc1eef43f8" /><Relationship Type="http://schemas.openxmlformats.org/officeDocument/2006/relationships/slide" Target="/ppt/slides/slide71.xml" Id="R15baf99275bf46cb" /><Relationship Type="http://schemas.openxmlformats.org/officeDocument/2006/relationships/slide" Target="/ppt/slides/slide72.xml" Id="R23a6f913e84c4dfa" /><Relationship Type="http://schemas.openxmlformats.org/officeDocument/2006/relationships/slide" Target="/ppt/slides/slide73.xml" Id="Ra687a5c5684e4100" /><Relationship Type="http://schemas.openxmlformats.org/officeDocument/2006/relationships/slide" Target="/ppt/slides/slide74.xml" Id="Rf8282cdb4bc14c2d" /><Relationship Type="http://schemas.openxmlformats.org/officeDocument/2006/relationships/slide" Target="/ppt/slides/slide75.xml" Id="Rd12085b563d24ab3" /><Relationship Type="http://schemas.openxmlformats.org/officeDocument/2006/relationships/slide" Target="/ppt/slides/slide76.xml" Id="R2e2cb17069154ce7" /><Relationship Type="http://schemas.openxmlformats.org/officeDocument/2006/relationships/slide" Target="/ppt/slides/slide77.xml" Id="R55922e8f00584ff5" /><Relationship Type="http://schemas.openxmlformats.org/officeDocument/2006/relationships/slide" Target="/ppt/slides/slide78.xml" Id="Red6b0c65a44e4bbf" /><Relationship Type="http://schemas.openxmlformats.org/officeDocument/2006/relationships/slide" Target="/ppt/slides/slide79.xml" Id="Rce567c76ef5a4756" /><Relationship Type="http://schemas.openxmlformats.org/officeDocument/2006/relationships/slide" Target="/ppt/slides/slide80.xml" Id="R5b3a6427650e4bdc" /><Relationship Type="http://schemas.openxmlformats.org/officeDocument/2006/relationships/slide" Target="/ppt/slides/slide81.xml" Id="Rdb8b338cc5df4902" /><Relationship Type="http://schemas.openxmlformats.org/officeDocument/2006/relationships/slide" Target="/ppt/slides/slide82.xml" Id="R14061693a3c540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f9627a94e94c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433b5eaed145ee" /><Relationship Type="http://schemas.openxmlformats.org/officeDocument/2006/relationships/notesMaster" Target="/ppt/notesMasters/notesMaster1.xml" Id="R5946c2dcd70644a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9c7f1f547b4fcd" /><Relationship Type="http://schemas.openxmlformats.org/officeDocument/2006/relationships/notesMaster" Target="/ppt/notesMasters/notesMaster1.xml" Id="R9d93bc78f9fc4e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3764207a894c5b" /><Relationship Type="http://schemas.openxmlformats.org/officeDocument/2006/relationships/notesMaster" Target="/ppt/notesMasters/notesMaster1.xml" Id="R219afc42143049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97e13ec2914c66" /><Relationship Type="http://schemas.openxmlformats.org/officeDocument/2006/relationships/notesMaster" Target="/ppt/notesMasters/notesMaster1.xml" Id="Recdf358e50e448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3b4e3010b842d9" /><Relationship Type="http://schemas.openxmlformats.org/officeDocument/2006/relationships/notesMaster" Target="/ppt/notesMasters/notesMaster1.xml" Id="R44706119c2a7423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9e63137423463b" /><Relationship Type="http://schemas.openxmlformats.org/officeDocument/2006/relationships/notesMaster" Target="/ppt/notesMasters/notesMaster1.xml" Id="R1c95da722bb3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bc63e4f6ce4bcf" /><Relationship Type="http://schemas.openxmlformats.org/officeDocument/2006/relationships/notesMaster" Target="/ppt/notesMasters/notesMaster1.xml" Id="R888f1b81e2c24c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358be11d384c77" /><Relationship Type="http://schemas.openxmlformats.org/officeDocument/2006/relationships/notesMaster" Target="/ppt/notesMasters/notesMaster1.xml" Id="R5181f7a1a6e949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07cdbab1f04359" /><Relationship Type="http://schemas.openxmlformats.org/officeDocument/2006/relationships/notesMaster" Target="/ppt/notesMasters/notesMaster1.xml" Id="Re87741e5d7e74b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d0239d70f34c83" /><Relationship Type="http://schemas.openxmlformats.org/officeDocument/2006/relationships/notesMaster" Target="/ppt/notesMasters/notesMaster1.xml" Id="Ra970d9c1f6924b6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4e42c8c0a0491b" /><Relationship Type="http://schemas.openxmlformats.org/officeDocument/2006/relationships/notesMaster" Target="/ppt/notesMasters/notesMaster1.xml" Id="R709f9ae6e9cd4b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77cfccf7fa4f81" /><Relationship Type="http://schemas.openxmlformats.org/officeDocument/2006/relationships/notesMaster" Target="/ppt/notesMasters/notesMaster1.xml" Id="Rc0b7484efcd843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a136cbd82e4e6b" /><Relationship Type="http://schemas.openxmlformats.org/officeDocument/2006/relationships/notesMaster" Target="/ppt/notesMasters/notesMaster1.xml" Id="R973b904e02a948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26cd1941ddf4ec1" /><Relationship Type="http://schemas.openxmlformats.org/officeDocument/2006/relationships/notesMaster" Target="/ppt/notesMasters/notesMaster1.xml" Id="R9144c280c67f48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2c6daab1ac4af0" /><Relationship Type="http://schemas.openxmlformats.org/officeDocument/2006/relationships/notesMaster" Target="/ppt/notesMasters/notesMaster1.xml" Id="R441975935cce47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109d60bd5648c1" /><Relationship Type="http://schemas.openxmlformats.org/officeDocument/2006/relationships/notesMaster" Target="/ppt/notesMasters/notesMaster1.xml" Id="R2a5e784272934d7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32229cd4604070" /><Relationship Type="http://schemas.openxmlformats.org/officeDocument/2006/relationships/notesMaster" Target="/ppt/notesMasters/notesMaster1.xml" Id="R504d50f9bccb4f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ef823a28e74c96" /><Relationship Type="http://schemas.openxmlformats.org/officeDocument/2006/relationships/notesMaster" Target="/ppt/notesMasters/notesMaster1.xml" Id="Rb31bcfe21e3341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e595cc40864514" /><Relationship Type="http://schemas.openxmlformats.org/officeDocument/2006/relationships/notesMaster" Target="/ppt/notesMasters/notesMaster1.xml" Id="Recb5ec1d27014b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9a363dffe4e446b" /><Relationship Type="http://schemas.openxmlformats.org/officeDocument/2006/relationships/notesMaster" Target="/ppt/notesMasters/notesMaster1.xml" Id="R022d270cbafe46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5c7cb7eabc34755" /><Relationship Type="http://schemas.openxmlformats.org/officeDocument/2006/relationships/notesMaster" Target="/ppt/notesMasters/notesMaster1.xml" Id="Rd432229d6eef43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b003888fd7145a7" /><Relationship Type="http://schemas.openxmlformats.org/officeDocument/2006/relationships/notesMaster" Target="/ppt/notesMasters/notesMaster1.xml" Id="Rcfd063c992e04b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7fb65162e5443f6" /><Relationship Type="http://schemas.openxmlformats.org/officeDocument/2006/relationships/notesMaster" Target="/ppt/notesMasters/notesMaster1.xml" Id="R257e0c6514af44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0b41bfbb9a4c8e" /><Relationship Type="http://schemas.openxmlformats.org/officeDocument/2006/relationships/notesMaster" Target="/ppt/notesMasters/notesMaster1.xml" Id="R07dacfa746b1453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07767eef27a487c" /><Relationship Type="http://schemas.openxmlformats.org/officeDocument/2006/relationships/notesMaster" Target="/ppt/notesMasters/notesMaster1.xml" Id="Rb995d53a740949e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cb6cf02bae74b06" /><Relationship Type="http://schemas.openxmlformats.org/officeDocument/2006/relationships/notesMaster" Target="/ppt/notesMasters/notesMaster1.xml" Id="R6d15bfd41a084d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43efe2d9a2e4355" /><Relationship Type="http://schemas.openxmlformats.org/officeDocument/2006/relationships/notesMaster" Target="/ppt/notesMasters/notesMaster1.xml" Id="Rcbdecdbb9c8f47c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dff407971164eaf" /><Relationship Type="http://schemas.openxmlformats.org/officeDocument/2006/relationships/notesMaster" Target="/ppt/notesMasters/notesMaster1.xml" Id="Rf306f384a6834b5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6dc2516f694bf9" /><Relationship Type="http://schemas.openxmlformats.org/officeDocument/2006/relationships/notesMaster" Target="/ppt/notesMasters/notesMaster1.xml" Id="Rc3afcdeef76c494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ef3eb8084cb4bf8" /><Relationship Type="http://schemas.openxmlformats.org/officeDocument/2006/relationships/notesMaster" Target="/ppt/notesMasters/notesMaster1.xml" Id="Rabda07a8be4a4b8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8266b14e90f4734" /><Relationship Type="http://schemas.openxmlformats.org/officeDocument/2006/relationships/notesMaster" Target="/ppt/notesMasters/notesMaster1.xml" Id="Re4f83b29546c433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c5d7bc03b84e98" /><Relationship Type="http://schemas.openxmlformats.org/officeDocument/2006/relationships/notesMaster" Target="/ppt/notesMasters/notesMaster1.xml" Id="R104d259dadae4b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5a8b1454cfb4ad7" /><Relationship Type="http://schemas.openxmlformats.org/officeDocument/2006/relationships/notesMaster" Target="/ppt/notesMasters/notesMaster1.xml" Id="R09de082acac54ea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404265810d64bce" /><Relationship Type="http://schemas.openxmlformats.org/officeDocument/2006/relationships/notesMaster" Target="/ppt/notesMasters/notesMaster1.xml" Id="Rb5d62b483b30472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2e81f5543cc46d3" /><Relationship Type="http://schemas.openxmlformats.org/officeDocument/2006/relationships/notesMaster" Target="/ppt/notesMasters/notesMaster1.xml" Id="R8866b91cb92e46c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d7f479f1f9646ca" /><Relationship Type="http://schemas.openxmlformats.org/officeDocument/2006/relationships/notesMaster" Target="/ppt/notesMasters/notesMaster1.xml" Id="Re04cc743978147d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0721d1f28b043da" /><Relationship Type="http://schemas.openxmlformats.org/officeDocument/2006/relationships/notesMaster" Target="/ppt/notesMasters/notesMaster1.xml" Id="R381d89012a344eb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5f7646fc51743c9" /><Relationship Type="http://schemas.openxmlformats.org/officeDocument/2006/relationships/notesMaster" Target="/ppt/notesMasters/notesMaster1.xml" Id="R034eafcacd93496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522e3bc5868434d" /><Relationship Type="http://schemas.openxmlformats.org/officeDocument/2006/relationships/notesMaster" Target="/ppt/notesMasters/notesMaster1.xml" Id="R836e16c515ef4e8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de3e9089bcc4dd8" /><Relationship Type="http://schemas.openxmlformats.org/officeDocument/2006/relationships/notesMaster" Target="/ppt/notesMasters/notesMaster1.xml" Id="R793ae6459d86451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61280f43896482e" /><Relationship Type="http://schemas.openxmlformats.org/officeDocument/2006/relationships/notesMaster" Target="/ppt/notesMasters/notesMaster1.xml" Id="R171fd3d86eb44c6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88807d05de54859" /><Relationship Type="http://schemas.openxmlformats.org/officeDocument/2006/relationships/notesMaster" Target="/ppt/notesMasters/notesMaster1.xml" Id="R91c81d24a0194ed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5bf8c73dff046c9" /><Relationship Type="http://schemas.openxmlformats.org/officeDocument/2006/relationships/notesMaster" Target="/ppt/notesMasters/notesMaster1.xml" Id="Rdbb5b157f49a47d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63d0dd1786f42b2" /><Relationship Type="http://schemas.openxmlformats.org/officeDocument/2006/relationships/notesMaster" Target="/ppt/notesMasters/notesMaster1.xml" Id="R497a1d17303e470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c066a6ad6d14196" /><Relationship Type="http://schemas.openxmlformats.org/officeDocument/2006/relationships/notesMaster" Target="/ppt/notesMasters/notesMaster1.xml" Id="Rc4027bf1f643455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e21fb14cc934cf0" /><Relationship Type="http://schemas.openxmlformats.org/officeDocument/2006/relationships/notesMaster" Target="/ppt/notesMasters/notesMaster1.xml" Id="Rb5f32dc4419d46d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b8796270de24d9b" /><Relationship Type="http://schemas.openxmlformats.org/officeDocument/2006/relationships/notesMaster" Target="/ppt/notesMasters/notesMaster1.xml" Id="Rff5eb812b18b4cc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726540060ba4b50" /><Relationship Type="http://schemas.openxmlformats.org/officeDocument/2006/relationships/notesMaster" Target="/ppt/notesMasters/notesMaster1.xml" Id="R43799adcb26d4cef"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d66e12c33fc42da" /><Relationship Type="http://schemas.openxmlformats.org/officeDocument/2006/relationships/notesMaster" Target="/ppt/notesMasters/notesMaster1.xml" Id="Ra68a35620f6649e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2a52e0e1a4e4c6b" /><Relationship Type="http://schemas.openxmlformats.org/officeDocument/2006/relationships/notesMaster" Target="/ppt/notesMasters/notesMaster1.xml" Id="R38f173f8d4a9449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e24a7b64c844f64" /><Relationship Type="http://schemas.openxmlformats.org/officeDocument/2006/relationships/notesMaster" Target="/ppt/notesMasters/notesMaster1.xml" Id="R638ee7910fe14da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4dee0c13d6e4338" /><Relationship Type="http://schemas.openxmlformats.org/officeDocument/2006/relationships/notesMaster" Target="/ppt/notesMasters/notesMaster1.xml" Id="Rc920588a9cb841d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b2924c587ba434f" /><Relationship Type="http://schemas.openxmlformats.org/officeDocument/2006/relationships/notesMaster" Target="/ppt/notesMasters/notesMaster1.xml" Id="R8a3008be28a3491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948184b04fb4f8e" /><Relationship Type="http://schemas.openxmlformats.org/officeDocument/2006/relationships/notesMaster" Target="/ppt/notesMasters/notesMaster1.xml" Id="R1ed49f92704e499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e16a0102c5024339" /><Relationship Type="http://schemas.openxmlformats.org/officeDocument/2006/relationships/notesMaster" Target="/ppt/notesMasters/notesMaster1.xml" Id="R49c675fcc4cf48a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f439f87c593f4f16" /><Relationship Type="http://schemas.openxmlformats.org/officeDocument/2006/relationships/notesMaster" Target="/ppt/notesMasters/notesMaster1.xml" Id="Ra61a0378c05a41c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45e7b4775c14326" /><Relationship Type="http://schemas.openxmlformats.org/officeDocument/2006/relationships/notesMaster" Target="/ppt/notesMasters/notesMaster1.xml" Id="R55e8132b3eee44e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58c6c705bcac4031" /><Relationship Type="http://schemas.openxmlformats.org/officeDocument/2006/relationships/notesMaster" Target="/ppt/notesMasters/notesMaster1.xml" Id="Rf59685650b834e5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25c4d855b6e44a1" /><Relationship Type="http://schemas.openxmlformats.org/officeDocument/2006/relationships/notesMaster" Target="/ppt/notesMasters/notesMaster1.xml" Id="R574ed510b64c448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b667c71b3b24e8a" /><Relationship Type="http://schemas.openxmlformats.org/officeDocument/2006/relationships/notesMaster" Target="/ppt/notesMasters/notesMaster1.xml" Id="R9ea070cedec8498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5bd74fc1d5be4a49" /><Relationship Type="http://schemas.openxmlformats.org/officeDocument/2006/relationships/notesMaster" Target="/ppt/notesMasters/notesMaster1.xml" Id="R7cdf67a1ca0a42f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9ec14403efc40b9" /><Relationship Type="http://schemas.openxmlformats.org/officeDocument/2006/relationships/notesMaster" Target="/ppt/notesMasters/notesMaster1.xml" Id="R9af9c09e26134e1b"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6d35dc9ca04415b" /><Relationship Type="http://schemas.openxmlformats.org/officeDocument/2006/relationships/notesMaster" Target="/ppt/notesMasters/notesMaster1.xml" Id="R46e541225bc8403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fe96ce1aeb94f61" /><Relationship Type="http://schemas.openxmlformats.org/officeDocument/2006/relationships/notesMaster" Target="/ppt/notesMasters/notesMaster1.xml" Id="R571a6a25a11c4d1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60a9ff3bc5d4dd6" /><Relationship Type="http://schemas.openxmlformats.org/officeDocument/2006/relationships/notesMaster" Target="/ppt/notesMasters/notesMaster1.xml" Id="R7b9cef7c299a43b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7a95ee414444a69" /><Relationship Type="http://schemas.openxmlformats.org/officeDocument/2006/relationships/notesMaster" Target="/ppt/notesMasters/notesMaster1.xml" Id="R39c0de0c251c4f54"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2c7e3c839a045db" /><Relationship Type="http://schemas.openxmlformats.org/officeDocument/2006/relationships/notesMaster" Target="/ppt/notesMasters/notesMaster1.xml" Id="R72e5375b61e7400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7e6caf3723648d8" /><Relationship Type="http://schemas.openxmlformats.org/officeDocument/2006/relationships/notesMaster" Target="/ppt/notesMasters/notesMaster1.xml" Id="R016e89350bbf4ef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10b573f574b4dc1" /><Relationship Type="http://schemas.openxmlformats.org/officeDocument/2006/relationships/notesMaster" Target="/ppt/notesMasters/notesMaster1.xml" Id="R8d777215cbb84e0c"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a81333bd1484af1" /><Relationship Type="http://schemas.openxmlformats.org/officeDocument/2006/relationships/notesMaster" Target="/ppt/notesMasters/notesMaster1.xml" Id="R4a348276918c436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cea38e3745d4aeb" /><Relationship Type="http://schemas.openxmlformats.org/officeDocument/2006/relationships/notesMaster" Target="/ppt/notesMasters/notesMaster1.xml" Id="R42d0d19413e14aa0"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bc403d1ecc2f4e17" /><Relationship Type="http://schemas.openxmlformats.org/officeDocument/2006/relationships/notesMaster" Target="/ppt/notesMasters/notesMaster1.xml" Id="R25e7215c15b1429a"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b6e966d698540b4" /><Relationship Type="http://schemas.openxmlformats.org/officeDocument/2006/relationships/notesMaster" Target="/ppt/notesMasters/notesMaster1.xml" Id="Rfa8c90af627d43c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8264d223de5b4236" /><Relationship Type="http://schemas.openxmlformats.org/officeDocument/2006/relationships/notesMaster" Target="/ppt/notesMasters/notesMaster1.xml" Id="R02f7205a338146a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77f15aa59f2484b" /><Relationship Type="http://schemas.openxmlformats.org/officeDocument/2006/relationships/notesMaster" Target="/ppt/notesMasters/notesMaster1.xml" Id="Rff70cbe5318d498e"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1150a627f55477f" /><Relationship Type="http://schemas.openxmlformats.org/officeDocument/2006/relationships/notesMaster" Target="/ppt/notesMasters/notesMaster1.xml" Id="Rf2a4ef3f24cb439b"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1e226e0524a425f" /><Relationship Type="http://schemas.openxmlformats.org/officeDocument/2006/relationships/notesMaster" Target="/ppt/notesMasters/notesMaster1.xml" Id="R94519cb0afc440c3"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4ac0ad1a2df1445c" /><Relationship Type="http://schemas.openxmlformats.org/officeDocument/2006/relationships/notesMaster" Target="/ppt/notesMasters/notesMaster1.xml" Id="Rf2306d1d1d1a4a36"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25bfcd1d0c54d76" /><Relationship Type="http://schemas.openxmlformats.org/officeDocument/2006/relationships/notesMaster" Target="/ppt/notesMasters/notesMaster1.xml" Id="R177c31b090004ae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14ddc3a539a46f9" /><Relationship Type="http://schemas.openxmlformats.org/officeDocument/2006/relationships/notesMaster" Target="/ppt/notesMasters/notesMaster1.xml" Id="Rfabf6237bbcd48dc"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2e37c0ea8b6c4f90" /><Relationship Type="http://schemas.openxmlformats.org/officeDocument/2006/relationships/notesMaster" Target="/ppt/notesMasters/notesMaster1.xml" Id="R39b4f5b32e46488d"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4c8942385b8e40a5" /><Relationship Type="http://schemas.openxmlformats.org/officeDocument/2006/relationships/notesMaster" Target="/ppt/notesMasters/notesMaster1.xml" Id="R1352d78965324e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Wiley, 2010, cap. 1. https://doi.org/10.1002/9781119994374.ch1</a:t>
            </a:r>
          </a:p>
          <a:p xmlns:a="http://schemas.openxmlformats.org/drawingml/2006/main">
            <a:r>
              <a:t>Datos del docente tomados de la presentación de Planificación del repositorio.</a:t>
            </a:r>
          </a:p>
          <a:p xmlns:a="http://schemas.openxmlformats.org/drawingml/2006/main">
            <a:r>
              <a:t>Abrir con una aplicación: una calefacción debe decidir cuánta potencia aplicar a partir de lo que medimos. Antes de programarla necesitamos entender cómo traducir conceptos a números.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Orden docente solicitado: capítulos 1–3, 4, 5, 8 y 13. El capítulo 6 se cita en el diseño de pertenencias. Los capítulos 7 y 9 no son necesarios para la práctica inicial.</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 T. J. Ross, Fuzzy Logic with Engineering Applications, 3.ª ed., capítulo 1. La lógica clásica es bivalente. La cita atribuida a Aristóteles se presenta como paráfrasis. La precisión exigida debe adaptarse al problema. Transición: para representar la imprecisión del lenguaje, transformaremos conceptos vagos en grados de pertenencia.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Wiley, 2010, cap. 1. https://doi.org/10.1002/9781119994374.ch1</a:t>
            </a:r>
          </a:p>
          <a:p xmlns:a="http://schemas.openxmlformats.org/drawingml/2006/main">
            <a:r>
              <a:t>Se elimina el ejemplo «en unos minutos» a petición del docente. «Aproximadamente 2 minutos» se usa explícitamente para representar el concepto fuzzy; decir exactamente 2 minutos no introduce por sí solo pertenencia gradual. La función triangular elegida es ilustrativa: μ(t)=max(0,1−|t−2|), para t en minutos. Los términos vago y fuzzy se usan aquí según la distinción didáctica del texto, no como taxonomía universal.</a:t>
            </a:r>
          </a:p>
          <a:p xmlns:a="http://schemas.openxmlformats.org/drawingml/2006/main">
            <a:r>
              <a:t/>
            </a:r>
          </a:p>
          <a:p xmlns:a="http://schemas.openxmlformats.org/drawingml/2006/main">
            <a:r>
              <a:t/>
            </a:r>
          </a:p>
          <a:p xmlns:a="http://schemas.openxmlformats.org/drawingml/2006/main">
            <a:r>
              <a:t>Después: la altura permite contrastar una frontera crisp con una gradual.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propio, con estaturas expresadas en metros. No se propone una definición demográfica universal de estatura media. Conjunto crisp A=[1,70;1,80]: χA(x)=1 dentro del intervalo cerrado y 0 fuera. La gráfica usa un cambio muy próximo a cada extremo (0,00001 m) únicamente para renderizar el salto con líneas de un gráfico editable; la definición exacta está escrita en la diapositiva. Conjunto fuzzy triangular con a=1,60, b=1,75, c=1,90: μ=0 fuera de [a,c], μ=(x−a)/(b−a) entre a y b y μ=(c−x)/(c−b) entre b y c. A 1,65 m, μ=1/3. Ambos conjuntos alcanzan 1 en 1,75 m. La pertenencia no es una probabilidad. Referencia conceptual: Ross, Fuzzy Logic with Engineering Applications, 3.ª ed., capítulos 1 y 2.</a:t>
            </a:r>
          </a:p>
          <a:p xmlns:a="http://schemas.openxmlformats.org/drawingml/2006/main">
            <a:r>
              <a:t/>
            </a:r>
          </a:p>
          <a:p xmlns:a="http://schemas.openxmlformats.org/drawingml/2006/main">
            <a:r>
              <a:t/>
            </a:r>
          </a:p>
          <a:p xmlns:a="http://schemas.openxmlformats.org/drawingml/2006/main">
            <a:r>
              <a:t>Después: una medida puede activar varias etiquetas con grados distintos.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Wiley, 2010, cap. 1. https://doi.org/10.1002/9781119994374.ch1</a:t>
            </a:r>
          </a:p>
          <a:p xmlns:a="http://schemas.openxmlformats.org/drawingml/2006/main">
            <a:r>
              <a:t>Zadeh introdujo los conjuntos difusos en 1965. Las funciones de esta diapositiva son una elección didáctica, no una clasificación universal de temperaturas. Fría decrece de 1 a 0 entre 16 y 22 °C. Templada forma un triángulo con vértices 16, 22 y 28 °C. Caliente crece de 0 a 1 entre 22 y 28 °C. En 25 °C, templada y caliente tienen pertenencia 0,5. Las pertenencias no tienen que sumar 1 en general.</a:t>
            </a:r>
          </a:p>
          <a:p xmlns:a="http://schemas.openxmlformats.org/drawingml/2006/main">
            <a:r>
              <a:t/>
            </a:r>
          </a:p>
          <a:p xmlns:a="http://schemas.openxmlformats.org/drawingml/2006/main">
            <a:r>
              <a:t/>
            </a:r>
          </a:p>
          <a:p xmlns:a="http://schemas.openxmlformats.org/drawingml/2006/main">
            <a:r>
              <a:t>Después: resumimos varios grados en un perfil geométrico dentro de un cubo.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pp.93-94.</a:t>
            </a:r>
          </a:p>
          <a:p xmlns:a="http://schemas.openxmlformats.org/drawingml/2006/main">
            <a:r>
              <a:t>https://uml.iut.nsysu.edu.tw/ycchou/courses/113-1/FLC/Book/Fuzzy_Logic_with_Engineering_Applications_3rd_Edition.pdf</a:t>
            </a:r>
          </a:p>
          <a:p xmlns:a="http://schemas.openxmlformats.org/drawingml/2006/main">
            <a:r>
              <a:t>Método con entrada crisp de la figura4.7a. No es necesario convertir el sensor en una distribución difusa de errores. Mantener el ejemplo de25°C ya presentado para conectar significado con cálculo.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figuras4.6-4.7, pp.93-94.</a:t>
            </a:r>
          </a:p>
          <a:p xmlns:a="http://schemas.openxmlformats.org/drawingml/2006/main">
            <a:r>
              <a:t>https://uml.iut.nsysu.edu.tw/ycchou/courses/113-1/FLC/Book/Fuzzy_Logic_with_Engineering_Applications_3rd_Edition.pdf</a:t>
            </a:r>
          </a:p>
          <a:p xmlns:a="http://schemas.openxmlformats.org/drawingml/2006/main">
            <a:r>
              <a:t>Figura4.6 reinterpretada con lectura10V: los porcentajes son desviaciones relativas, no voltajes negativos. La figura4.7b compara la lectura fuzzy con medium voltage; el0.4es la altura de la intersección. No hay una comparación directa entre low=.3y medium=.4porque los dibujos son ejemplos distintos. El triángulo es una elección para representar imprecisión, no una densidad probabilística.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propio solicitado por el docente: tres conjuntos distintos A=altos, D=guapos y M=jóvenes definidos sobre un mismo universo de personas; fijamos una persona Ana y representamos el vector (muA(Ana),muD(Ana),muM(Ana)). Cada eje mide un concepto diferente. Este punto es un perfil de pertenencias, no un subconjunto de personas. En la formulación original de Ross, Sets as Points in Hypercubes, las coordenadas son las pertenencias de distintos elementos de un universo fijo a un mismo conjunto: esa formulación también es correcta, pero no es la que muestra ahora esta diapositiva. En ambos casos cada coordenada vive en[0,1]; los perfiles binarios son los8vértices. El cubo es el espacio de perfiles posibles sin imponer restricciones entre conceptos, no una afirmación de independencia probabilística ni de que todos los perfiles aparezcan en una población real. Con complemento estándar1-mu, el centro expresa máxima difusidad componente a componente. No confundir pertenencia1 con difusidadmáxima. No hay condición de suma1.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Timothy J. Ross, Fuzzy Logic with Engineering Applications, 3.ª edición, cap. 1, Chance versus Fuzziness, pp. 16–17; ejemplo atribuido en el libro a Bezdek (1993). https://doi.org/10.1002/9781119994374.ch1</a:t>
            </a:r>
          </a:p>
          <a:p xmlns:a="http://schemas.openxmlformats.org/drawingml/2006/main">
            <a:r>
              <a:t>Adaptación docente: en A se suponen dos estados exhaustivos (sano/envenenado) con probabilidades 0,95 y 0,05. Un análisis ideal y concluyente resuelve esa incertidumbre. En B el valor 0,95 mide la adecuación a una definición fijada de bueno, no la probabilidad de ausencia de veneno ni una proporción de ingredientes. No se puede recomendar beber uno u otro vaso a partir de esos números sin conocer el criterio de pertenencia y las condiciones de seguridad. El mensaje para el controlador: μcaliente(T)=0,8 expresa cuánto activa una medida el concepto caliente, no la probabilidad de que el sensor acierte. Pregunta para clase: ¿qué cambia en cada número al analizar el líquido?</a:t>
            </a:r>
          </a:p>
          <a:p xmlns:a="http://schemas.openxmlformats.org/drawingml/2006/main">
            <a:r>
              <a:t>Ilustración generada con ImageGen: dos vasos idénticos con líquido azul claro, fondo blanco, sin etiquetas, sin porcentajes ni capas de líquido; las diferencias explicativas son texto editable.</a:t>
            </a:r>
          </a:p>
          <a:p xmlns:a="http://schemas.openxmlformats.org/drawingml/2006/main">
            <a:r>
              <a:t/>
            </a:r>
          </a:p>
          <a:p xmlns:a="http://schemas.openxmlformats.org/drawingml/2006/main">
            <a:r>
              <a:t/>
            </a:r>
          </a:p>
          <a:p xmlns:a="http://schemas.openxmlformats.org/drawingml/2006/main">
            <a:r>
              <a:t>Después: situamos qué incertidumbre representa fuzzy y qué información necesita.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Fuzzy representa especialmente la vaguedad no aleatoria mediante grados de pertenencia. La probabilidad sirve para modelar aleatoriedad; ambos enfoques pueden combinarse. Las reglas permiten aprovechar conocimiento parcial, pero no crean información ausente. Referencias: Ross, 3.ª ed., capítulo1; Bellman y Zadeh (1970), Decision-Making in a Fuzzy Environment. Transición: ahora calcularemos pertenencias usando tres funciones típicas y las implementaremos en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Implementaciones propias vectorizadas con NumPy. x debe ser un escalar numérico o un np.ndarray; para una lista, convertir con np.asarray(x,dtype=float). Los parámetros cumplen las condiciones indicadas: triangular a&lt;b&lt;c; trapezoidal a&lt;b&lt;=c&lt;d; sigma&gt;0. No se cubren hombros degenerados a=b o c=d porque producen división por cero en estas fórmulas. np.minimum toma el menor grado y np.clip limita el resultado a [0,1]; la gaussiana ya pertenece a (0,1]. Ejemplos de los gráficos: triangular(x,2,5,8), trapezoidal(x,1,3,7,9), gaussiana(x,5,1.3). La gaussiana no necesita un factor 1/(sigma*sqrt(2*pi)) porque aquí representa pertenencia, no densidad.</a:t>
            </a:r>
          </a:p>
          <a:p xmlns:a="http://schemas.openxmlformats.org/drawingml/2006/main">
            <a:r>
              <a:t/>
            </a:r>
          </a:p>
          <a:p xmlns:a="http://schemas.openxmlformats.org/drawingml/2006/main">
            <a:r>
              <a:t>Después: diseñad vuestras propias funciones para describir tiempos de fraguado.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 J. Ross, Fuzzy Logic with Engineering Applications, 3.ª edición. https://uml.iut.nsysu.edu.tw/ycchou/courses/113-1/FLC/Book/Fuzzy_Logic_with_Engineering_Applications_3rd_Edition.pdf</a:t>
            </a:r>
          </a:p>
          <a:p xmlns:a="http://schemas.openxmlformats.org/drawingml/2006/main">
            <a:r>
              <a:t>Capítulo 1, ejercicio 1.1, p.21. Se conserva la tarea original: diseñar funciones razonables para extra fast, fast y slow según el tiempo de fraguado en minutos. La petición de representarlas en los mismos ejes y justificar umbrales explicita cómo entregar la propuesta. No hay datos ocultos ni un único conjunto de parámetros correcto. Dar 4 minutos por parejas. Preguntar si el paso de rápido a lento debe ser brusco y dónde proponen solapar etiquetas.</a:t>
            </a:r>
          </a:p>
          <a:p xmlns:a="http://schemas.openxmlformats.org/drawingml/2006/main">
            <a:r>
              <a:t/>
            </a:r>
          </a:p>
          <a:p xmlns:a="http://schemas.openxmlformats.org/drawingml/2006/main">
            <a:r>
              <a:t>Después: compararemos vuestra propuesta con una solución posible, no única.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 Fuzzy Logic with Engineering Applications, 3.ª ed., ejercicio1.1, p.21. Propuesta docente: Extra rápido vale1 hasta2min y cae linealmente a0 en5min; Rápido es triangular con vértices(2,0),(8,1),(20,0); Lento vale0 hasta10min, crece linealmente a1 en30min y permanece1 después. A los15min: 0,5/12 y5/20. Son umbrales ilustrativos, no datos calibrados de una resina. Las pertenencias no tienen que sumar1. Transición: ahora usaremos grados como estos para activar reglas y decidir una acción.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edición, sección Limitations of Fuzzy Systems, pp. 8–10. https://doi.org/10.1002/9781119994374.ch1</a:t>
            </a:r>
          </a:p>
          <a:p xmlns:a="http://schemas.openxmlformats.org/drawingml/2006/main">
            <a:r>
              <a:t>Ross caracteriza los sistemas fuzzy basados en reglas como principalmente deductivos: aplican conocimiento general a casos particulares. Las reglas pueden proceder de experiencia, datos o conocimiento físico. Cuando se generalizan observaciones para construirlas hay un componente inductivo; después se aplican deductivamente. La inferencia fuzzy es aproximada en su tratamiento de predicados graduales. El cálculo puede ser determinista sin garantizar que la base de reglas represente completamente el sistema real. La regla de calefacción es una ilustración cualitativa; la acción final depende también de las otras reglas activas y del método de inferencia.</a:t>
            </a:r>
          </a:p>
          <a:p xmlns:a="http://schemas.openxmlformats.org/drawingml/2006/main">
            <a:r>
              <a:t/>
            </a:r>
          </a:p>
          <a:p xmlns:a="http://schemas.openxmlformats.org/drawingml/2006/main">
            <a:r>
              <a:t/>
            </a:r>
          </a:p>
          <a:p xmlns:a="http://schemas.openxmlformats.org/drawingml/2006/main">
            <a:r>
              <a:t>Después: un ejemplo numérico muestra cómo las reglas producen una salida.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Wang y Mendel (1992), Fuzzy basis functions, universal approximation, and orthogonal least-squares learning. https://sipi.usc.edu/~mendel/publications/Wang-Mendel%20OLS.pdf</a:t>
            </a:r>
          </a:p>
          <a:p xmlns:a="http://schemas.openxmlformats.org/drawingml/2006/main">
            <a:r>
              <a:t>Ejemplo Sugeno de orden cero con tres conjuntos sobre [0,1]: μB(x)=max(1−2x,0), μM(x)=max(1−2|x−0,5|,0), μA(x)=max(2x−1,0). Suman 1 en este dominio. Consecuentes cB=0, cM=0,25, cA=1. Salida ŷ=Σ μi(x)ci / Σ μi(x). En x=0,25 la salida es 0,125. El objetivo de la gráfica es mostrar la interpolación y su error frente a x².</a:t>
            </a:r>
          </a:p>
          <a:p xmlns:a="http://schemas.openxmlformats.org/drawingml/2006/main">
            <a:r>
              <a:t/>
            </a:r>
          </a:p>
          <a:p xmlns:a="http://schemas.openxmlformats.org/drawingml/2006/main">
            <a:r>
              <a:t/>
            </a:r>
          </a:p>
          <a:p xmlns:a="http://schemas.openxmlformats.org/drawingml/2006/main">
            <a:r>
              <a:t>Después: el objetivo en control es aproximar una relación que no conocemos explícitamente.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didáctico propio de Sugeno de orden cero. Una política ideal desconocida u=f(p1,…,pn) se aproxima con reglas. Se muestran dos reglas activas para una situación concreta, no una base completa de control. Para el error e en [0,4] °C, μMedio=max(0,1−|e−2|/2) y μGrande=max(0,min(1,(e−2)/2)); en e=3 ambos valen 0,5. Para el ritmo r en [0,1] °C/min, μLento=1−r; en r=0,2 vale 0,8. La conjunción usa mínimo: w1=w2=min(0,5;0,8)=0,5. Los consecuentes constantes 40 % y 90 % se combinan con media ponderada para obtener 65 %. Los parámetros y reglas son ilustrativos. Un controlador completo debe cubrir el resto del dominio. Fuente conceptual: Timothy J. Ross, Fuzzy Logic with Engineering Applications, 3.ª ed., capítulos 1, 5 y 13. https://doi.org/10.1002/9781119994374.ch1</a:t>
            </a:r>
          </a:p>
          <a:p xmlns:a="http://schemas.openxmlformats.org/drawingml/2006/main">
            <a:r>
              <a:t/>
            </a:r>
          </a:p>
          <a:p xmlns:a="http://schemas.openxmlformats.org/drawingml/2006/main">
            <a:r>
              <a:t/>
            </a:r>
          </a:p>
          <a:p xmlns:a="http://schemas.openxmlformats.org/drawingml/2006/main">
            <a:r>
              <a:t>Después: observamos cómo responde el sistema a pequeños cambios de entrada.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Wiley, 2010, cap. 1. https://doi.org/10.1002/9781119994374.ch1</a:t>
            </a:r>
          </a:p>
          <a:p xmlns:a="http://schemas.openxmlformats.org/drawingml/2006/main">
            <a:r>
              <a:t>MathWorks, Analyze Absolute Stability of Fuzzy Controller. https://www.mathworks.com/help/fuzzy/analyze-absolute-stability-of-fuzzy-controller.html</a:t>
            </a:r>
          </a:p>
          <a:p xmlns:a="http://schemas.openxmlformats.org/drawingml/2006/main">
            <a:r>
              <a:t>La robustez que se introduce aquí es la baja sensibilidad de la acción ante pequeñas variaciones de entrada. En el ejemplo u=20+60e para e en [0,1] °C; las pertenencias solapadas permiten interpolar acciones. Un diseño adecuado requiere cobertura del dominio, pertenencias continuas y consecuentes compatibles. La continuidad de una ley estática no demuestra por sí sola estabilidad o robustez del lazo cerrado frente a toda incertidumbre.</a:t>
            </a:r>
          </a:p>
          <a:p xmlns:a="http://schemas.openxmlformats.org/drawingml/2006/main">
            <a:r>
              <a:t/>
            </a:r>
          </a:p>
          <a:p xmlns:a="http://schemas.openxmlformats.org/drawingml/2006/main">
            <a:r>
              <a:t/>
            </a:r>
          </a:p>
          <a:p xmlns:a="http://schemas.openxmlformats.org/drawingml/2006/main">
            <a:r>
              <a:t>Cierre: ya sabemos representar conceptos, calcular grados y combinar reglas para decidir una acción. El siguiente bloque desarrollará la arquitectura y el diseño completo del controlador.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pp.90-91, figura4.1.</a:t>
            </a:r>
          </a:p>
          <a:p xmlns:a="http://schemas.openxmlformats.org/drawingml/2006/main">
            <a:r>
              <a:t>https://uml.iut.nsysu.edu.tw/ycchou/courses/113-1/FLC/Book/Fuzzy_Logic_with_Engineering_Applications_3rd_Edition.pdf</a:t>
            </a:r>
          </a:p>
          <a:p xmlns:a="http://schemas.openxmlformats.org/drawingml/2006/main">
            <a:r>
              <a:t>Redibujo propio del concepto de la figura4.1. Se sigue la convención de soporte mu&gt;0 del libro, sin tomar el cierre topológico. Los extremos2y8 tienen pertenencia0 y se excluyen.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pp.91-92.</a:t>
            </a:r>
          </a:p>
          <a:p xmlns:a="http://schemas.openxmlformats.org/drawingml/2006/main">
            <a:r>
              <a:t>https://uml.iut.nsysu.edu.tw/ycchou/courses/113-1/FLC/Book/Fuzzy_Logic_with_Engineering_Applications_3rd_Edition.pdf</a:t>
            </a:r>
          </a:p>
          <a:p xmlns:a="http://schemas.openxmlformats.org/drawingml/2006/main">
            <a:r>
              <a:t>El prototipo se usa aquí con la condición del libro: conjunto normal cuyo núcleo es un único punto. La altura de conjuntos generales se expresa con supremo si el máximo no se alcanza; aquí son funciones continuas sobre dominio compacto.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pp.91-92.</a:t>
            </a:r>
          </a:p>
          <a:p xmlns:a="http://schemas.openxmlformats.org/drawingml/2006/main">
            <a:r>
              <a:t>https://uml.iut.nsysu.edu.tw/ycchou/courses/113-1/FLC/Book/Fuzzy_Logic_with_Engineering_Applications_3rd_Edition.pdf</a:t>
            </a:r>
          </a:p>
          <a:p xmlns:a="http://schemas.openxmlformats.org/drawingml/2006/main">
            <a:r>
              <a:t>Convexidad fuzzy significa mu(lambda*x+(1-lambda)*y)&gt;=min(mu(x),mu(y)). No es la convexidad habitual de una función real. Normal y convexo son elecciones frecuentes para etiquetas sencillas, no requisitos universales del controlador. Unión max de normales conserva normalidad pero puede perder convexidad, como el gráfico derecho. Intersección y recorte pueden producir subnormalidad.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pp.89-90 y98-110.</a:t>
            </a:r>
          </a:p>
          <a:p xmlns:a="http://schemas.openxmlformats.org/drawingml/2006/main">
            <a:r>
              <a:t>https://uml.iut.nsysu.edu.tw/ycchou/courses/113-1/FLC/Book/Fuzzy_Logic_with_Engineering_Applications_3rd_Edition.pdf</a:t>
            </a:r>
          </a:p>
          <a:p xmlns:a="http://schemas.openxmlformats.org/drawingml/2006/main">
            <a:r>
              <a:t>No todas las decisiones humanas son binarias. La motivación deRossse adapta al control: el sistema físico recibe un valor de mando concreto, aunque tenga interpretación continua.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4, Defuzzification to Scalars. Curva didáctica dada, no requiere haber visto inferencia. Está formada por la unión de dos triángulos recortados: (0,0),(25,1),(50,0) a 0.6, y (50,0),(75,1),(100,0) a 0.3. Se retomará en Mamdani. Para centro de sumas se explicita en su propia diapositiva el caso alternativo con solape.</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pp.99-107.</a:t>
            </a:r>
          </a:p>
          <a:p xmlns:a="http://schemas.openxmlformats.org/drawingml/2006/main">
            <a:r>
              <a:t>https://uml.iut.nsysu.edu.tw/ycchou/courses/113-1/FLC/Book/Fuzzy_Logic_with_Engineering_Applications_3rd_Edition.pdf</a:t>
            </a:r>
          </a:p>
          <a:p xmlns:a="http://schemas.openxmlformats.org/drawingml/2006/main">
            <a:r>
              <a:t>La lista corresponde a los siete métodos enumerados en Ross4, páginas99-107. Max membership principle, centroid, weighted average, mean max membership, center of sums, center of largest area, first or last of maxima. No se afirma que sean los únicos métodos posibles.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p.99, figura4.12.</a:t>
            </a:r>
          </a:p>
          <a:p xmlns:a="http://schemas.openxmlformats.org/drawingml/2006/main">
            <a:r>
              <a:t>https://uml.iut.nsysu.edu.tw/ycchou/courses/113-1/FLC/Book/Fuzzy_Logic_with_Engineering_Applications_3rd_Edition.pdf</a:t>
            </a:r>
          </a:p>
          <a:p xmlns:a="http://schemas.openxmlformats.org/drawingml/2006/main">
            <a:r>
              <a:t>Max membership principle o height method. En este ejemplo los máximos no son únicos. No asignamos arbitrariamente25como si fuera consecuencia del principio;25es una elección adicional, la media de máximos.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centroide, pp.98-110; cálculo docente propio.</a:t>
            </a:r>
          </a:p>
          <a:p xmlns:a="http://schemas.openxmlformats.org/drawingml/2006/main">
            <a:r>
              <a:t>https://uml.iut.nsysu.edu.tw/ycchou/courses/113-1/FLC/Book/Fuzzy_Logic_with_Engineering_Applications_3rd_Edition.pdf</a:t>
            </a:r>
          </a:p>
          <a:p xmlns:a="http://schemas.openxmlformats.org/drawingml/2006/main">
            <a:r>
              <a:t>Áreas exactas de triángulos recortados: ancho50,alpha.6=&gt;50*(.6-.6²/2)=21;alpha.3=&gt;12.75. No hay solape con área positiva, así que se pueden sumar momentos y áreas. El ejemplo no autoriza esa suma simple cuando los recortes se solapan: en ese caso se integra el máximo agregado.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Defuzzification to Scalars; adaptación numérica docente.</a:t>
            </a:r>
          </a:p>
          <a:p xmlns:a="http://schemas.openxmlformats.org/drawingml/2006/main">
            <a:r>
              <a:t>https://uml.iut.nsysu.edu.tw/ycchou/courses/113-1/FLC/Book/Fuzzy_Logic_with_Engineering_Applications_3rd_Edition.pdf</a:t>
            </a:r>
          </a:p>
          <a:p xmlns:a="http://schemas.openxmlformats.org/drawingml/2006/main">
            <a:r>
              <a:t>Ejemplo docente distinto del centroide anterior. La suma representa el centroide de un conjunto discreto; una malla uniforme puede aproximar una salida continua. En esta tabla los extremos tienen mu=0, así que el cociente trapezoidal coincide. Refinar la malla y comprobar convergencia. Para puntos no equidistantes se deben ponderar anchos o integrar.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centroide; implementación docente.</a:t>
            </a:r>
          </a:p>
          <a:p xmlns:a="http://schemas.openxmlformats.org/drawingml/2006/main">
            <a:r>
              <a:t>https://uml.iut.nsysu.edu.tw/ycchou/courses/113-1/FLC/Book/Fuzzy_Logic_with_Engineering_Applications_3rd_Edition.pdf</a:t>
            </a:r>
          </a:p>
          <a:p xmlns:a="http://schemas.openxmlformats.org/drawingml/2006/main">
            <a:r>
              <a:t>Código NumPy 2.x para arrays numéricos u y mu de igual longitud, con u estrictamente creciente, mu finita y no negativa. np.trapezoid aproxima ambas integrales. Lanzar error ayuda a detectar falta de cobertura durante desarrollo; en un sistema real se debe diseñar una respuesta de respaldo apropiada al proceso. No se adopta potencia 0 como valor universal de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pp.99-100, figura4.14.</a:t>
            </a:r>
          </a:p>
          <a:p xmlns:a="http://schemas.openxmlformats.org/drawingml/2006/main">
            <a:r>
              <a:t>https://uml.iut.nsysu.edu.tw/ycchou/courses/113-1/FLC/Book/Fuzzy_Logic_with_Engineering_Applications_3rd_Edition.pdf</a:t>
            </a:r>
          </a:p>
          <a:p xmlns:a="http://schemas.openxmlformats.org/drawingml/2006/main">
            <a:r>
              <a:t>Weighted average de Ross. Se utilizan conjuntos simétricos y pesos dados por sus alturas. No es el centroide de la unión max: aquí da41.67frente43.89. Más adelante Sugeno tendrá una fórmula de media ponderada con consecuentes numéricos; distinguir ambos contextos.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p.100, figura4.15.</a:t>
            </a:r>
          </a:p>
          <a:p xmlns:a="http://schemas.openxmlformats.org/drawingml/2006/main">
            <a:r>
              <a:t>https://uml.iut.nsysu.edu.tw/ycchou/courses/113-1/FLC/Book/Fuzzy_Logic_with_Engineering_Applications_3rd_Edition.pdf</a:t>
            </a:r>
          </a:p>
          <a:p xmlns:a="http://schemas.openxmlformats.org/drawingml/2006/main">
            <a:r>
              <a:t>Ross llama mean max membership o middle-of-maxima a(a+b)/2. En una meseta continua coincide con el promedio de todos sus máximos. En conjuntos de máximos separados algunas bibliotecas diferencian middle-of-maxima del promedio de todas las muestras máximas; declarar la convención.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pp.105-106, figura4.28.</a:t>
            </a:r>
          </a:p>
          <a:p xmlns:a="http://schemas.openxmlformats.org/drawingml/2006/main">
            <a:r>
              <a:t>https://uml.iut.nsysu.edu.tw/ycchou/courses/113-1/FLC/Book/Fuzzy_Logic_with_Engineering_Applications_3rd_Edition.pdf</a:t>
            </a:r>
          </a:p>
          <a:p xmlns:a="http://schemas.openxmlformats.org/drawingml/2006/main">
            <a:r>
              <a:t>Center of sums. Ejemplo propio con triángulos(0,30,60)y(30,60,90), recortadosa0.6y0.3. Áreas25.2y15.3ycentros30y60. Suma de momentos1674, áreas40.5:41.3333. Solapeárea6.3,momento283.5. Unión:1390.5/34.2=40.6579. La suma puede exceder1en otros casos, no se trata como una unión fuzzy 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p.106, figura4.29.</a:t>
            </a:r>
          </a:p>
          <a:p xmlns:a="http://schemas.openxmlformats.org/drawingml/2006/main">
            <a:r>
              <a:t>https://uml.iut.nsysu.edu.tw/ycchou/courses/113-1/FLC/Book/Fuzzy_Logic_with_Engineering_Applications_3rd_Edition.pdf</a:t>
            </a:r>
          </a:p>
          <a:p xmlns:a="http://schemas.openxmlformats.org/drawingml/2006/main">
            <a:r>
              <a:t>Center of largest area aplicado a dos regiones convexas con soportes sin solape positivo. En salidas conectadas no convexas hay que precisar la partición en subregiones; este ejemplo evita esa ambigüedad. No confundir escoger la región mayor con escoger siempre el conjunto original más alto.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pp.106-107, figura4.30.</a:t>
            </a:r>
          </a:p>
          <a:p xmlns:a="http://schemas.openxmlformats.org/drawingml/2006/main">
            <a:r>
              <a:t>https://uml.iut.nsysu.edu.tw/ycchou/courses/113-1/FLC/Book/Fuzzy_Logic_with_Engineering_Applications_3rd_Edition.pdf</a:t>
            </a:r>
          </a:p>
          <a:p xmlns:a="http://schemas.openxmlformats.org/drawingml/2006/main">
            <a:r>
              <a:t>First of maxima y last of maxima, también smallest/largest of maxima en algunas bibliotecas. Se muestran como las dos variantes del séptimo método de Ross.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métodos; cálculos docentes propios.</a:t>
            </a:r>
          </a:p>
          <a:p xmlns:a="http://schemas.openxmlformats.org/drawingml/2006/main">
            <a:r>
              <a:t>https://uml.iut.nsysu.edu.tw/ycchou/courses/113-1/FLC/Book/Fuzzy_Logic_with_Engineering_Applications_3rd_Edition.pdf</a:t>
            </a:r>
          </a:p>
          <a:p xmlns:a="http://schemas.openxmlformats.org/drawingml/2006/main">
            <a:r>
              <a:t>Resultados del ejemplo inicial: triángulos(0,25,50)y(50,75,100), recortes0.6y0.3. Centro de sumas coincide con centroide solo porque no hay solape con área positiva. La diapositiva anterior de centro de sumas empleó otro ejemplo para mostrar la diferencia con solape.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Summary, pp.110-111.</a:t>
            </a:r>
          </a:p>
          <a:p xmlns:a="http://schemas.openxmlformats.org/drawingml/2006/main">
            <a:r>
              <a:t>https://uml.iut.nsysu.edu.tw/ycchou/courses/113-1/FLC/Book/Fuzzy_Logic_with_Engineering_Applications_3rd_Edition.pdf</a:t>
            </a:r>
          </a:p>
          <a:p xmlns:a="http://schemas.openxmlformats.org/drawingml/2006/main">
            <a:r>
              <a:t>Ross recoge los criterios de Hellendoorn y Thomas(1993) en el resumen del capítulo4. Disambiguity se traduce aquí por unicidad o ausencia de ambigüedad. Plausibilidad reúne posición aproximadamente central y grado alto; no equivale a validez física ni a probabilidad. El quinto criterio compara formas de ponderar y no es una técnica adicional ni una escala con un ganador universal.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criterios1y2, p.111; cálculo docente.</a:t>
            </a:r>
          </a:p>
          <a:p xmlns:a="http://schemas.openxmlformats.org/drawingml/2006/main">
            <a:r>
              <a:t>https://uml.iut.nsysu.edu.tw/ycchou/courses/113-1/FLC/Book/Fuzzy_Logic_with_Engineering_Applications_3rd_Edition.pdf</a:t>
            </a:r>
          </a:p>
          <a:p xmlns:a="http://schemas.openxmlformats.org/drawingml/2006/main">
            <a:r>
              <a:t>Ejemplo docente de dos triángulos disjuntos de igual anchura, escalados a0.51y0.49. Áreas proporcionales a alturas; centroides49.4y50.6. En el empate, máximo y centro del área mayor no determinan un único valor sin convención. Primero/último pueden resolver la unicidad, pero no evitan necesariamente saltos. Continuidad del centroide exige variación regular de la salida y área positiva, suficientemente alejada de cero para buena sensibilidad.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criterio3, p.111.</a:t>
            </a:r>
          </a:p>
          <a:p xmlns:a="http://schemas.openxmlformats.org/drawingml/2006/main">
            <a:r>
              <a:t>https://uml.iut.nsysu.edu.tw/ycchou/courses/113-1/FLC/Book/Fuzzy_Logic_with_Engineering_Applications_3rd_Edition.pdf</a:t>
            </a:r>
          </a:p>
          <a:p xmlns:a="http://schemas.openxmlformats.org/drawingml/2006/main">
            <a:r>
              <a:t>Ejemplo docente simétrico con soportes(0,40)y(60,100). Centroide50y pertenencia0. Falla la parte de alta pertenencia del criterio de plausibilidad de Ross; no significa que todo centroide falle ni que una pertenencia baja haga físicamente imposible una acción. Si las regiones expresan alternativas incompatibles, no conviene promediarlas sin revisar reglas y restricciones. No interpretar el grado como probabilidad de éxito.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criterio5, p.111; ejemplo docente.</a:t>
            </a:r>
          </a:p>
          <a:p xmlns:a="http://schemas.openxmlformats.org/drawingml/2006/main">
            <a:r>
              <a:t>https://uml.iut.nsysu.edu.tw/ycchou/courses/113-1/FLC/Book/Fuzzy_Logic_with_Engineering_Applications_3rd_Edition.pdf</a:t>
            </a:r>
          </a:p>
          <a:p xmlns:a="http://schemas.openxmlformats.org/drawingml/2006/main">
            <a:r>
              <a:t>Quinto criterio, weighting method: forma de dar influencia a los conjuntos de salida. Ejemplo de dos triángulos escalados a0.8, centros20y70y bases20y60. Media ponderada por alturas45. Centro de sumas usa áreas8y24:57.5. Aquí el centroide de la unión coincide con centro de sumas porque no existe solape positivo. Con solape, centroide integra max y cuenta cada zona una vez; centro de sumas acumula las contribuciones de las reglas. No confundir este criterio con pesos de confianza de reglas ni con el método concreto weighted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4, resumen y cinco criterios. Mantiene la recomendación de centroide con sus límites, sin adelantar el mecanismo de Mamdani. Ningún método es universalmente superior.</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Ampliación docente sobre desdifusificación.</a:t>
            </a:r>
          </a:p>
          <a:p xmlns:a="http://schemas.openxmlformats.org/drawingml/2006/main">
            <a:r>
              <a:t>https://uml.iut.nsysu.edu.tw/ycchou/courses/113-1/FLC/Book/Fuzzy_Logic_with_Engineering_Applications_3rd_Edition.pdf</a:t>
            </a:r>
          </a:p>
          <a:p xmlns:a="http://schemas.openxmlformats.org/drawingml/2006/main">
            <a:r>
              <a:t>Bisector de la salida inicial. Hasta35eláreaes16.5. Resolver0.6d-d²/50=0.375 da d=(30-sqrt(825))/2 y u=35+d. Su valor difiere del centroide, que equilibra momentos. Cálculo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Ross5 y13; adaptación docente.</a:t>
            </a:r>
          </a:p>
          <a:p xmlns:a="http://schemas.openxmlformats.org/drawingml/2006/main">
            <a:r>
              <a:t>https://uml.iut.nsysu.edu.tw/ycchou/courses/113-1/FLC/Book/Fuzzy_Logic_with_Engineering_Applications_3rd_Edition.pdf</a:t>
            </a:r>
          </a:p>
          <a:p xmlns:a="http://schemas.openxmlformats.org/drawingml/2006/main">
            <a:r>
              <a:t>La regla es conocimiento del controlador. El antecedente usa conjuntos de las entradas. El consecuente describe una acción de salida. Una etiqueta de salida corresponde a un conjunto en Mamdani y puede ser una constante en Sugeno de orden cero. No confundir el grado de activación con la potencia física.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Ross5, pp.131-139 y148-150.</a:t>
            </a:r>
          </a:p>
          <a:p xmlns:a="http://schemas.openxmlformats.org/drawingml/2006/main">
            <a:r>
              <a:t>https://uml.iut.nsysu.edu.tw/ycchou/courses/113-1/FLC/Book/Fuzzy_Logic_with_Engineering_Applications_3rd_Edition.pdf</a:t>
            </a:r>
          </a:p>
          <a:p xmlns:a="http://schemas.openxmlformats.org/drawingml/2006/main">
            <a:r>
              <a:t>Los operadores min/max/1-mu son estándar, no únicos. En crisp coinciden con AND/OR/NOT sobre0y1. El producto también es una t-norma: .6*.3=.18. No requiere interpretar los grados como probabilidades independientes. En el ejemplo térmico Sugeno se elegirá producto; en Mamdani y aterrizaje, mínimo.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Ross2, Alternative Fuzzy Set Operations, pp.40-41; ampliación docente.</a:t>
            </a:r>
          </a:p>
          <a:p xmlns:a="http://schemas.openxmlformats.org/drawingml/2006/main">
            <a:r>
              <a:t>https://uml.iut.nsysu.edu.tw/ycchou/courses/113-1/FLC/Book/Fuzzy_Logic_with_Engineering_Applications_3rd_Edition.pdf</a:t>
            </a:r>
          </a:p>
          <a:p xmlns:a="http://schemas.openxmlformats.org/drawingml/2006/main">
            <a:r>
              <a:t>Una t-norma es conmutativa, asociativa, no decreciente en cada argumento y tiene 1 como elemento neutro: T(a,1)=a. Por ello T(a,b) &lt;= min(a,b). No confundir norma triangular con función de pertenencia triangular. Ejemplos estándar añadidos como ampliación del apartado de Ross.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Ross2, Alternative Fuzzy Set Operations, pp.40-41; ampliación docente.</a:t>
            </a:r>
          </a:p>
          <a:p xmlns:a="http://schemas.openxmlformats.org/drawingml/2006/main">
            <a:r>
              <a:t>https://uml.iut.nsysu.edu.tw/ycchou/courses/113-1/FLC/Book/Fuzzy_Logic_with_Engineering_Applications_3rd_Edition.pdf</a:t>
            </a:r>
          </a:p>
          <a:p xmlns:a="http://schemas.openxmlformats.org/drawingml/2006/main">
            <a:r>
              <a:t>Una t-conorma es conmutativa, asociativa, no decreciente en cada argumento y tiene 0 como elemento neutro. Con complemento 1-a, los pares de estas tablas son duales: S(a,b)=1-T(1-a,1-b). No se exige independencia probabilística para aplicar el operador a pertenencias. No sumar sin acotar: podría superar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Curiosidad opcional antes de Mamdani. P y Q son proposiciones; R es la relación que representa P→Q, no una igualdad de objetos del mismo tipo. ¬A indica el complemento de A respecto de X. En clásico a,b∈{0,1}. AND=min, OR=max y complemento=1−a. La extensión fuzzy max(min(a,b),1−a) no equivale en general a max(1−a,b): a=0.7,b=0.9 produce 0.7 frente a 0.9. En Mamdani max-min, μR=min(a,b) representa la contribución de una regla, no el grado de verdad material de la implicación. Otros sistemas basados en reglas, como ASP, tienen otras semánticas. Fuente: Timothy J. Ross, Fuzzy Logic with Engineering Applications, 3.ª ed., capítulo 5, relación clásica, implicación fuzzy y Mamdani. https://uml.iut.nsysu.edu.tw/ycchou/courses/113-1/FLC/Book/Fuzzy_Logic_with_Engineering_Applications_3rd_Edition.pdf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Ross5, pp.148-151, figuras5.10-5.11.</a:t>
            </a:r>
          </a:p>
          <a:p xmlns:a="http://schemas.openxmlformats.org/drawingml/2006/main">
            <a:r>
              <a:t>https://uml.iut.nsysu.edu.tw/ycchou/courses/113-1/FLC/Book/Fuzzy_Logic_with_Engineering_Applications_3rd_Edition.pdf</a:t>
            </a:r>
          </a:p>
          <a:p xmlns:a="http://schemas.openxmlformats.org/drawingml/2006/main">
            <a:r>
              <a:t>Configuración Mamdani max-min explícita. No confundir la operación AND de los antecedentes con la implicación que afecta al consecuente ni con la agregación entre reglas.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para los métodos de Ross4 y5.</a:t>
            </a:r>
          </a:p>
          <a:p xmlns:a="http://schemas.openxmlformats.org/drawingml/2006/main">
            <a:r>
              <a:t>https://uml.iut.nsysu.edu.tw/ycchou/courses/113-1/FLC/Book/Fuzzy_Logic_with_Engineering_Applications_3rd_Edition.pdf</a:t>
            </a:r>
          </a:p>
          <a:p xmlns:a="http://schemas.openxmlformats.org/drawingml/2006/main">
            <a:r>
              <a:t>Ejemplo Mamdani independiente del Sugeno térmico que programaremos. Se dan las activaciones como entrada del ejercicio, no se deducen de las pertenencias N/Z/P del caso térmico. Cada par de la fórmula indica(potencia,pertenencia). El objetivo es seguir recorte, agregación y elección de un escalar.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Ross5, técnica de la figura5.10; datos docentes.</a:t>
            </a:r>
          </a:p>
          <a:p xmlns:a="http://schemas.openxmlformats.org/drawingml/2006/main">
            <a:r>
              <a:t>https://uml.iut.nsysu.edu.tw/ycchou/courses/113-1/FLC/Book/Fuzzy_Logic_with_Engineering_Applications_3rd_Edition.pdf</a:t>
            </a:r>
          </a:p>
          <a:p xmlns:a="http://schemas.openxmlformats.org/drawingml/2006/main">
            <a:r>
              <a:t>Ejemplo docente de inferencia con activaciones ya calculadas: alpha1=.6,alpha2=.3. Salidas triangulares Baja(0,25,50)yAlta(50,75,100). Las alturas de los trapecios son grados, no porcentajes de potencia. Se eligen soportes adyacentes sin solape para poder verificar las áreas a mano.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Ross4, pp.91-92; Ross5, pp.148-150.</a:t>
            </a:r>
          </a:p>
          <a:p xmlns:a="http://schemas.openxmlformats.org/drawingml/2006/main">
            <a:r>
              <a:t>https://uml.iut.nsysu.edu.tw/ycchou/courses/113-1/FLC/Book/Fuzzy_Logic_with_Engineering_Applications_3rd_Edition.pdf</a:t>
            </a:r>
          </a:p>
          <a:p xmlns:a="http://schemas.openxmlformats.org/drawingml/2006/main">
            <a:r>
              <a:t>El recorte genera alturas menoresque1; la agregación max conserva el máximo de los recortes. La unión de conjuntos normales sísería normal; aquí unimos conjuntos previamente recortados. La salida agregada de este ejemplo tiene dos zonas separadas por mu=0en50.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Ross5, Sugeno, pp.148-159.</a:t>
            </a:r>
          </a:p>
          <a:p xmlns:a="http://schemas.openxmlformats.org/drawingml/2006/main">
            <a:r>
              <a:t>https://uml.iut.nsysu.edu.tw/ycchou/courses/113-1/FLC/Book/Fuzzy_Logic_with_Engineering_Applications_3rd_Edition.pdf</a:t>
            </a:r>
          </a:p>
          <a:p xmlns:a="http://schemas.openxmlformats.org/drawingml/2006/main">
            <a:r>
              <a:t>Sugeno de orden0con constantes25y75y pesos.6,.3. No coincide necesariamente conMamdani aunque se usen los centros de las mismas etiquetas: las áreas de triángulos recortados no son proporcionales a alpha. Elegir Sugeno para el ejemplo programable reduce el código del cálculo de salida.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8, pp.245–255, Nonlinear Simulation Using Fuzzy Systems. Ejemplo lingüístico adaptado del proceso calor/presión de figura 8.6. Los modelos conocidos del libro sirven para ilustrar aproximación, no restringen la utilidad a funciones conocidas.</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8, Fuzzy Associative Memories, pp.255–256. Adaptación docente del formato FAM al caso térmico. El número de combinaciones de una tabla completa es el producto del número de etiquetas por entrada. No todas las bases requieren todas las combinaciones, pero hay que verificar cobertura. Aquí las etiquetas anticipan el mapa de consecuentes Sugeno: Muy baja=0, Baja=20, Media=60, Alta=100.</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Puente entre Ross capítulo 8 y capítulo 13, especialmente ejemplo 13.1 al final de p.445: construir la superficie de control no equivale a simular el proceso. El modelo de la planta puede ser físico, empírico o fuzzy. Un mapa estático entrada-salida no genera por sí solo una trayectoria temporal.</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pp.437–439, figura 13.1 original. r,y,e,u son nuestra notación docente, no nuevos bloques. Ejemplos de control abierto y cerrado dependen de si la salida medida interviene en la acción.</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pp.438–439 y 460–461. Regulación y seguimiento; los ejemplos de depósitos destacan que el seguimiento puede funcionar bien aunque un cambio de pérdidas requiera más reglas o adaptación. Métricas: tiempo de establecimiento, sobreimpulso, error y energía, pp.480–481.</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p.442, figura 13.2 original. La base de conocimiento almacena las particiones y funciones de pertenencia de entradas y salidas. La base de reglas expresa las relaciones lingüísticas. En Mamdani se agrega una salida fuzzy y se desdifusifica; en Sugeno la etapa de salida combina números o funciones.</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pp.439–441 y 455–457. u=Kp e + Ki integral(e) + Kd de/dt como referencia conceptual. El caso térmico docente no tiene un integrador de error; no debe presentarse como PID ni garantizar eliminación de error permanente. Con consigna constante de/dt=-dT/dt.</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Control (Decision) Surface, pp.440–446. Tabla numérica propia tomada del controlador Sugeno del ejemplo, e en °C y de/dt en °C/min. No se infiere ahorro energético del volumen de la superficie: la energía real depende de la trayectoria y la planta.</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Adaptación docente de las seis hipótesis de Ross capítulo 13, p.441. Observabilidad y controlabilidad tienen definiciones formales más fuertes que poder medir y actuar; aquí se presentan como comprobaciones prácticas, no como pruebas matemáticas. Se conserva existencia de solución, conocimiento, precisión aceptable y objetivo suficiente. No se universaliza la afirmación histórica de que la estabilidad es un problema abierto: en esta práctica se evalúa y no se promete por usar fuzzy.</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pp.441–442, nueve pasos del diseño de un controlador fuzzy simple. La agrupación diseño previo/ejecución es docente; no altera el listado. La desdifusificación es el paso 9 de Mamdani; en Sugeno se realiza combinación ponderada. La acción y nueva medida cierran el sistema físico.</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ejemplos 13.3–13.6 y problema 13.10 usan distintas convenciones de variación y referencia de salida. Una Δu referida al equilibrio no equivale necesariamente a un incremento acumulado sobre la acción anterior. Esta diapositiva distingue de forma explícita el diseño absoluto del incremental acumulativo para evitar confundirlos. Ejemplo térmico: 0≤u≤100 %.</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Timothy J. Ross, Fuzzy Logic with Engineering Applications, 3.ª ed., 2010.</a:t>
            </a:r>
          </a:p>
          <a:p xmlns:a="http://schemas.openxmlformats.org/drawingml/2006/main">
            <a:r>
              <a:t>Ross capítulo 13, pp.458–461, dead band del depósito y efecto del movimiento del líquido sobre medidas y derivada. Δt=0.1 min es elección del ejemplo térmico, no receta general. Una zona de pertenencia Cero no garantiza por sí sola acción cero: depende de consecuentes y reglas. El ejemplo programado usa triángulo Cero, sin imponer banda muerta.</a:t>
            </a:r>
          </a:p>
          <a:p xmlns:a="http://schemas.openxmlformats.org/drawingml/2006/main">
            <a:r>
              <a:t>Fuente local: ross3_alt.pdf.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propio inspirado en la arquitectura de Ross13.</a:t>
            </a:r>
          </a:p>
          <a:p xmlns:a="http://schemas.openxmlformats.org/drawingml/2006/main">
            <a:r>
              <a:t>https://uml.iut.nsysu.edu.tw/ycchou/courses/113-1/FLC/Book/Fuzzy_Logic_with_Engineering_Applications_3rd_Edition.pdf</a:t>
            </a:r>
          </a:p>
          <a:p xmlns:a="http://schemas.openxmlformats.org/drawingml/2006/main">
            <a:r>
              <a:t>Ilustración generada con IA para representar el proceso térmico. El sistema, parámetros y resultados del ejemplo son docentes, no una instalación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Ross13, procedimiento de diseño, pp.439-442; ejemplo propio.</a:t>
            </a:r>
          </a:p>
          <a:p xmlns:a="http://schemas.openxmlformats.org/drawingml/2006/main">
            <a:r>
              <a:t>https://uml.iut.nsysu.edu.tw/ycchou/courses/113-1/FLC/Book/Fuzzy_Logic_with_Engineering_Applications_3rd_Edition.pdf</a:t>
            </a:r>
          </a:p>
          <a:p xmlns:a="http://schemas.openxmlformats.org/drawingml/2006/main">
            <a:r>
              <a:t>Se fija el objetivo y las condiciones antes de ajustar. No hay refrigeración activa. La banda±.2se evalúa temporalmente, no basta cumplirla en laúltima muestra. Potenciamáxima2kWpara calcular energíadelmodelo.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propio.</a:t>
            </a:r>
          </a:p>
          <a:p xmlns:a="http://schemas.openxmlformats.org/drawingml/2006/main">
            <a:r>
              <a:t>https://uml.iut.nsysu.edu.tw/ycchou/courses/113-1/FLC/Book/Fuzzy_Logic_with_Engineering_Applications_3rd_Edition.pdf</a:t>
            </a:r>
          </a:p>
          <a:p xmlns:a="http://schemas.openxmlformats.org/drawingml/2006/main">
            <a:r>
              <a:t>Cálculo explícito del instante manual. Consigna constante. La variación del error es opuesta a la variación de temperatura. No confundir0.2°C/mincon0.2°Cpor 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Ross13, normalización, pp.441-444; ejemplo propio.</a:t>
            </a:r>
          </a:p>
          <a:p xmlns:a="http://schemas.openxmlformats.org/drawingml/2006/main">
            <a:r>
              <a:t>https://uml.iut.nsysu.edu.tw/ycchou/courses/113-1/FLC/Book/Fuzzy_Logic_with_Engineering_Applications_3rd_Edition.pdf</a:t>
            </a:r>
          </a:p>
          <a:p xmlns:a="http://schemas.openxmlformats.org/drawingml/2006/main">
            <a:r>
              <a:t>Escalas docentes:4°Cy1°C/min. clip alintervalo[-1,1]. No son pertenencias: son coordenadasnormalizadas que seintroducenen lasfunciones. Ajustar escala cambia sensibilidad; hayque repetir pruebas.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propio.</a:t>
            </a:r>
          </a:p>
          <a:p xmlns:a="http://schemas.openxmlformats.org/drawingml/2006/main">
            <a:r>
              <a:t>https://uml.iut.nsysu.edu.tw/ycchou/courses/113-1/FLC/Book/Fuzzy_Logic_with_Engineering_Applications_3rd_Edition.pdf</a:t>
            </a:r>
          </a:p>
          <a:p xmlns:a="http://schemas.openxmlformats.org/drawingml/2006/main">
            <a:r>
              <a:t>Mismas tres funciones por entrada, con nombres físicos distintos: N/Z/P para error y Disminuye/Estable/Crece para tendencia. En ambos casos la función negativa tiene grado0en esta muestra. Colores de las tres curvas siguen el orden N/Z/P; la línea gris marca la coordenada evaluada.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propio según procedimiento de Ross13.</a:t>
            </a:r>
          </a:p>
          <a:p xmlns:a="http://schemas.openxmlformats.org/drawingml/2006/main">
            <a:r>
              <a:t>https://uml.iut.nsysu.edu.tw/ycchou/courses/113-1/FLC/Book/Fuzzy_Logic_with_Engineering_Applications_3rd_Edition.pdf</a:t>
            </a:r>
          </a:p>
          <a:p xmlns:a="http://schemas.openxmlformats.org/drawingml/2006/main">
            <a:r>
              <a:t>La tablatieneconsecuentes Sugenoorden0. EnT22,Ta18yplantadefinida,lapérdidaes.4°C/min;u20aporta.4°C/min. Esta compensación nominalnoeliminaelerrorantecualquier perturbación. Matriz código[[0,0,20],[0,20,60],[20,60,100]].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Ross5, Sugeno; ejemplo propio.</a:t>
            </a:r>
          </a:p>
          <a:p xmlns:a="http://schemas.openxmlformats.org/drawingml/2006/main">
            <a:r>
              <a:t>https://uml.iut.nsysu.edu.tw/ycchou/courses/113-1/FLC/Book/Fuzzy_Logic_with_Engineering_Applications_3rd_Edition.pdf</a:t>
            </a:r>
          </a:p>
          <a:p xmlns:a="http://schemas.openxmlformats.org/drawingml/2006/main">
            <a:r>
              <a:t>Cálculo propio validado por elcódigodelasimulación. Se eligió productoenantecedentes y media ponderada; no se mezcla con la activaciónmínimo del ejemploMamdani. Las reglasdepesocero noaportan.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propio.</a:t>
            </a:r>
          </a:p>
          <a:p xmlns:a="http://schemas.openxmlformats.org/drawingml/2006/main">
            <a:r>
              <a:t>https://uml.iut.nsysu.edu.tw/ycchou/courses/113-1/FLC/Book/Fuzzy_Logic_with_Engineering_Applications_3rd_Edition.pdf</a:t>
            </a:r>
          </a:p>
          <a:p xmlns:a="http://schemas.openxmlformats.org/drawingml/2006/main">
            <a:r>
              <a:t>Mismos pesos y consecuentes de la tabla anterior. Las barras muestran aportaciones ponderadas, no grados de pertenencia ni cuatro órdenes simultáneas al calefactor. La suma de pesos vale1por la partición elegida, no por una ley general de fuzzy.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Modelo propio; metodología de simulación de Ross8y13.</a:t>
            </a:r>
          </a:p>
          <a:p xmlns:a="http://schemas.openxmlformats.org/drawingml/2006/main">
            <a:r>
              <a:t>https://uml.iut.nsysu.edu.tw/ycchou/courses/113-1/FLC/Book/Fuzzy_Logic_with_Engineering_Applications_3rd_Edition.pdf</a:t>
            </a:r>
          </a:p>
          <a:p xmlns:a="http://schemas.openxmlformats.org/drawingml/2006/main">
            <a:r>
              <a:t>Planta docente propia deprimerorden. Puede derivarse de capacidad térmica60kJ/K,pérdidas.1kW/Ky calefactor2kW. No incorpora retardos deactuación, radiación ni variaciones de capacidad. Las conclusiones del ensayo se limitan a estemodelo.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propio.</a:t>
            </a:r>
          </a:p>
          <a:p xmlns:a="http://schemas.openxmlformats.org/drawingml/2006/main">
            <a:r>
              <a:t>https://uml.iut.nsysu.edu.tw/ycchou/courses/113-1/FLC/Book/Fuzzy_Logic_with_Engineering_Applications_3rd_Edition.pdf</a:t>
            </a:r>
          </a:p>
          <a:p xmlns:a="http://schemas.openxmlformats.org/drawingml/2006/main">
            <a:r>
              <a:t>Un paso Euler explícito del modelo docente. Este instante usaT20yTa18conacción48. Derivada0.76°C/min y aumento0.076°Ctras6s. No interpretar los decimales de la simulación como resolución real de un sensor.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docente propio.</a:t>
            </a:r>
          </a:p>
          <a:p xmlns:a="http://schemas.openxmlformats.org/drawingml/2006/main">
            <a:r>
              <a:t>https://uml.iut.nsysu.edu.tw/ycchou/courses/113-1/FLC/Book/Fuzzy_Logic_with_Engineering_Applications_3rd_Edition.pdf</a:t>
            </a:r>
          </a:p>
          <a:p xmlns:a="http://schemas.openxmlformats.org/drawingml/2006/main">
            <a:r>
              <a:t>Siguiente error1.924 y variación(1.924-2)/.1=-.76. E=.481,D=-.76. Pesos .39444,.12456,.36556,.11544 para consecuentes0,20,20,60. Potencia16.7288. Cálculo verificado. Es un recorrido manual con condiciones ilustrativas; la simulación nominal completa siguiente comienza en18°C.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propia del ejemplo térmico.</a:t>
            </a:r>
          </a:p>
          <a:p xmlns:a="http://schemas.openxmlformats.org/drawingml/2006/main">
            <a:r>
              <a:t>https://uml.iut.nsysu.edu.tw/ycchou/courses/113-1/FLC/Book/Fuzzy_Logic_with_Engineering_Applications_3rd_Edition.pdf</a:t>
            </a:r>
          </a:p>
          <a:p xmlns:a="http://schemas.openxmlformats.org/drawingml/2006/main">
            <a:r>
              <a:t>Fragmento equivalente alcódigo ejecutado. Entradaescalares finitos. Controlar lapresenciadeNaNolecturasinválidas antesde llamar. np.outercombina pesoproducto; aquíla sumadepesoses1por la partición elegida.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Ejemplo propio; Ross8y13.</a:t>
            </a:r>
          </a:p>
          <a:p xmlns:a="http://schemas.openxmlformats.org/drawingml/2006/main">
            <a:r>
              <a:t>https://uml.iut.nsysu.edu.tw/ycchou/courses/113-1/FLC/Book/Fuzzy_Logic_with_Engineering_Applications_3rd_Edition.pdf</a:t>
            </a:r>
          </a:p>
          <a:p xmlns:a="http://schemas.openxmlformats.org/drawingml/2006/main">
            <a:r>
              <a:t>IntegraciónEulerexplícitaconpaso.1min. registro almacena tiempo, temperatura y potencia antes de actualizar. Enelcódigodecálculo se añade la muestra finalt60. ParaunensayoconruidosustituirTmedidaen elerror; para perturbacióncambiarTa. Comprobarconpasomáspequeñoque los resultadosno dependanexcesivamentedelaintegración.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Simulación propia reproducible.</a:t>
            </a:r>
          </a:p>
          <a:p xmlns:a="http://schemas.openxmlformats.org/drawingml/2006/main">
            <a:r>
              <a:t>https://uml.iut.nsysu.edu.tw/ycchou/courses/113-1/FLC/Book/Fuzzy_Logic_with_Engineering_Applications_3rd_Edition.pdf</a:t>
            </a:r>
          </a:p>
          <a:p xmlns:a="http://schemas.openxmlformats.org/drawingml/2006/main">
            <a:r>
              <a:t>Datos simulados:dt.1min,duración60min,Ta18,r22,T018. Los gráficos muestranuna muestra cada.5min; métricas calculadascon todas lasmuestras. uinicial60,no100; uconverge20. Elerrorfinalnominal es≈1.3e-5°C. No se debe interpretar comoprecisión realdeun sensor.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Simulación propia; rechazo deperturbaciones, Ross13.</a:t>
            </a:r>
          </a:p>
          <a:p xmlns:a="http://schemas.openxmlformats.org/drawingml/2006/main">
            <a:r>
              <a:t>https://uml.iut.nsysu.edu.tw/ycchou/courses/113-1/FLC/Book/Fuzzy_Logic_with_Engineering_Applications_3rd_Edition.pdf</a:t>
            </a:r>
          </a:p>
          <a:p xmlns:a="http://schemas.openxmlformats.org/drawingml/2006/main">
            <a:r>
              <a:t>Resultado simulado. La compensación20%depotenciaequilibraba elescenarioTa18; conTa16yde0se necesitau30paraT22, peroelcontroladorconerror0devuelve20. El equilibrioquedaaproximadamente21.333°C. Unaacciónintegral oajustebasadoenplantapodríareducirlo;no seintroducesincomprobación.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Simulación propia; conceptos de medida y control, Ross13.</a:t>
            </a:r>
          </a:p>
          <a:p xmlns:a="http://schemas.openxmlformats.org/drawingml/2006/main">
            <a:r>
              <a:t>https://uml.iut.nsysu.edu.tw/ycchou/courses/113-1/FLC/Book/Fuzzy_Logic_with_Engineering_Applications_3rd_Edition.pdf</a:t>
            </a:r>
          </a:p>
          <a:p xmlns:a="http://schemas.openxmlformats.org/drawingml/2006/main">
            <a:r>
              <a:t>Mismasemilla42yruido gaussianosigma.05°C aplicadoalamedida, no directamenteala planta. Curvas sonTreal simulada. Filtrado deT: Tf=.3Tmed+.7Tfprev; derivadafiltradaDf=.1D+.9Dfprev. Sinfiltroerrorfinal≈-.606°C;con filtro≈-.022°C. No generalizar: esunejemplodel efectoenesta 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propios; conexión con decisionesmultiobjetivo de Ross9.</a:t>
            </a:r>
          </a:p>
          <a:p xmlns:a="http://schemas.openxmlformats.org/drawingml/2006/main">
            <a:r>
              <a:t>https://uml.iut.nsysu.edu.tw/ycchou/courses/113-1/FLC/Book/Fuzzy_Logic_with_Engineering_Applications_3rd_Edition.pdf</a:t>
            </a:r>
          </a:p>
          <a:p xmlns:a="http://schemas.openxmlformats.org/drawingml/2006/main">
            <a:r>
              <a:t>IAE=integral|r-T|dt calculadoconpaso.1min. Energía=integral2kW*(u/100)dt/60. Máximonominalfuzzyde22pordebajo redondeado0. Encriteriopermanenciase exige quedar dentrohastaelfinalymínimo5minrestantes;nofinalizarúnicamenteporúltimamuestra.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Ross6 y13; guía práctica docente.</a:t>
            </a:r>
          </a:p>
          <a:p xmlns:a="http://schemas.openxmlformats.org/drawingml/2006/main">
            <a:r>
              <a:t>https://uml.iut.nsysu.edu.tw/ycchou/courses/113-1/FLC/Book/Fuzzy_Logic_with_Engineering_Applications_3rd_Edition.pdf</a:t>
            </a:r>
          </a:p>
          <a:p xmlns:a="http://schemas.openxmlformats.org/drawingml/2006/main">
            <a:r>
              <a:t>Estas son hipótesisdeajuste,no garantíasciegas. Verificardespuésdela modificaciónestabilidad, límites yotrosescenarios. Mantener unregistro deparámetrosyresultados. Laacciónintegralrequiereun diseñoaparte yprotecciónante saturación.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docente de Ross4,5,6,8,9y13.</a:t>
            </a:r>
          </a:p>
          <a:p xmlns:a="http://schemas.openxmlformats.org/drawingml/2006/main">
            <a:r>
              <a:t>https://uml.iut.nsysu.edu.tw/ycchou/courses/113-1/FLC/Book/Fuzzy_Logic_with_Engineering_Applications_3rd_Edition.pdf</a:t>
            </a:r>
          </a:p>
          <a:p xmlns:a="http://schemas.openxmlformats.org/drawingml/2006/main">
            <a:r>
              <a:t>Guía docente para la práctica. No se exigeelcontroladortérmico concreto: sirve comoestructura de trabajo. Evitarinformesquese limitena enseñarcurvas sinexplicarvariables,escalas,criteriosyfallos.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Ross, 2010, tercera edición.</a:t>
            </a:r>
          </a:p>
          <a:p xmlns:a="http://schemas.openxmlformats.org/drawingml/2006/main">
            <a:r>
              <a:t>https://uml.iut.nsysu.edu.tw/ycchou/courses/113-1/FLC/Book/Fuzzy_Logic_with_Engineering_Applications_3rd_Edition.pdf</a:t>
            </a:r>
          </a:p>
          <a:p xmlns:a="http://schemas.openxmlformats.org/drawingml/2006/main">
            <a:r>
              <a:t>Referencia verificada en la portada y páginas legales del PDF local. Portada original reproducida del PDF, no generada con IA. Referencia: Ross, T. J. (2010). Fuzzy Logic with Engineering Applications (3rd ed.). John Wiley &amp; Sons. ISBN9780470743768. El caso térmico y sus simulaciones son una adaptación docente propia, no un ejercicio literal del libro.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ced74ce50a4e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6a1d75290c4ab8" /><Relationship Type="http://schemas.openxmlformats.org/officeDocument/2006/relationships/slideLayout" Target="/ppt/slideLayouts/slideLayout1.xml" Id="R4788597413f143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88597413f143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983bec868c410c" /><Relationship Type="http://schemas.openxmlformats.org/officeDocument/2006/relationships/notesSlide" Target="/ppt/notesSlides/notesSlide1.xml" Id="Ra00e4169cb8743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472b9de846f4f69" /><Relationship Type="http://schemas.openxmlformats.org/officeDocument/2006/relationships/notesSlide" Target="/ppt/notesSlides/notesSlide2.xml" Id="Rc7192a23fb4745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581eabe963b4e58" /><Relationship Type="http://schemas.openxmlformats.org/officeDocument/2006/relationships/notesSlide" Target="/ppt/notesSlides/notesSlide3.xml" Id="Rbb0f8e1438d146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e2037d099346e7" /><Relationship Type="http://schemas.openxmlformats.org/officeDocument/2006/relationships/chart" Target="/ppt/slides/charts/chart1.xml" Id="R86ca6ddf7c2c4210" /><Relationship Type="http://schemas.openxmlformats.org/officeDocument/2006/relationships/notesSlide" Target="/ppt/notesSlides/notesSlide4.xml" Id="Rdc5932c8b77e43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e278722d534ac2" /><Relationship Type="http://schemas.openxmlformats.org/officeDocument/2006/relationships/chart" Target="/ppt/slides/charts/chart2.xml" Id="Rb58929413e284121" /><Relationship Type="http://schemas.openxmlformats.org/officeDocument/2006/relationships/chart" Target="/ppt/slides/charts/chart3.xml" Id="Rdabef3ba5287408e" /><Relationship Type="http://schemas.openxmlformats.org/officeDocument/2006/relationships/notesSlide" Target="/ppt/notesSlides/notesSlide5.xml" Id="R910e41d5f7b04f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bd4cc66afa41f8" /><Relationship Type="http://schemas.openxmlformats.org/officeDocument/2006/relationships/chart" Target="/ppt/slides/charts/chart4.xml" Id="R69ea592cc4a244d5" /><Relationship Type="http://schemas.openxmlformats.org/officeDocument/2006/relationships/notesSlide" Target="/ppt/notesSlides/notesSlide6.xml" Id="R2811bfaf9c424e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348cb8215c44c3" /><Relationship Type="http://schemas.openxmlformats.org/officeDocument/2006/relationships/chart" Target="/ppt/slides/charts/chart5.xml" Id="Re319229e57d44c2b" /><Relationship Type="http://schemas.openxmlformats.org/officeDocument/2006/relationships/notesSlide" Target="/ppt/notesSlides/notesSlide7.xml" Id="R9a806ec330f74c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27c520381141d0" /><Relationship Type="http://schemas.openxmlformats.org/officeDocument/2006/relationships/chart" Target="/ppt/slides/charts/chart6.xml" Id="Raee3b93d6c894800" /><Relationship Type="http://schemas.openxmlformats.org/officeDocument/2006/relationships/notesSlide" Target="/ppt/notesSlides/notesSlide8.xml" Id="R17545e88cc91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27b9b11ac1441a0" /><Relationship Type="http://schemas.openxmlformats.org/officeDocument/2006/relationships/chart" Target="/ppt/slides/charts/chart7.xml" Id="R021ab395603e4663" /><Relationship Type="http://schemas.openxmlformats.org/officeDocument/2006/relationships/notesSlide" Target="/ppt/notesSlides/notesSlide9.xml" Id="Rd88866a3f2b047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c4402509d5548f3" /><Relationship Type="http://schemas.openxmlformats.org/officeDocument/2006/relationships/image" Target="/ppt/media/image.png" Id="R89b67d197f29426b" /><Relationship Type="http://schemas.openxmlformats.org/officeDocument/2006/relationships/notesSlide" Target="/ppt/notesSlides/notesSlide10.xml" Id="R18dda07558a248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ff7b22f4dd64990" /><Relationship Type="http://schemas.openxmlformats.org/officeDocument/2006/relationships/notesSlide" Target="/ppt/notesSlides/notesSlide11.xml" Id="R37b30b8fd9fb4b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6ffd3848ef4701" /><Relationship Type="http://schemas.openxmlformats.org/officeDocument/2006/relationships/chart" Target="/ppt/slides/charts/chart8.xml" Id="R43555420da534de8" /><Relationship Type="http://schemas.openxmlformats.org/officeDocument/2006/relationships/chart" Target="/ppt/slides/charts/chart9.xml" Id="Rbac9ec9eb96141ed" /><Relationship Type="http://schemas.openxmlformats.org/officeDocument/2006/relationships/chart" Target="/ppt/slides/charts/chart10.xml" Id="R03e322eab2fe4500" /><Relationship Type="http://schemas.openxmlformats.org/officeDocument/2006/relationships/notesSlide" Target="/ppt/notesSlides/notesSlide12.xml" Id="Rc3ff3c8c803d49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6204e361f44ec5" /><Relationship Type="http://schemas.openxmlformats.org/officeDocument/2006/relationships/notesSlide" Target="/ppt/notesSlides/notesSlide13.xml" Id="R0ebc8fe389d14d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13e48f5075d48fe" /><Relationship Type="http://schemas.openxmlformats.org/officeDocument/2006/relationships/chart" Target="/ppt/slides/charts/chart11.xml" Id="R24d05ed5145944ba" /><Relationship Type="http://schemas.openxmlformats.org/officeDocument/2006/relationships/notesSlide" Target="/ppt/notesSlides/notesSlide14.xml" Id="Rc964072186484b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d8db004721f4a1d" /><Relationship Type="http://schemas.openxmlformats.org/officeDocument/2006/relationships/notesSlide" Target="/ppt/notesSlides/notesSlide15.xml" Id="Rf1531a53823547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5ee6013fc194561" /><Relationship Type="http://schemas.openxmlformats.org/officeDocument/2006/relationships/chart" Target="/ppt/slides/charts/chart12.xml" Id="Rd2bd3e9aec7c48c8" /><Relationship Type="http://schemas.openxmlformats.org/officeDocument/2006/relationships/chart" Target="/ppt/slides/charts/chart13.xml" Id="R397b144de4a4437b" /><Relationship Type="http://schemas.openxmlformats.org/officeDocument/2006/relationships/notesSlide" Target="/ppt/notesSlides/notesSlide16.xml" Id="R4292ebef20b84e0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4b3da13622445c1" /><Relationship Type="http://schemas.openxmlformats.org/officeDocument/2006/relationships/notesSlide" Target="/ppt/notesSlides/notesSlide17.xml" Id="R3fc5b4ad72044a0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c34499c26014d87" /><Relationship Type="http://schemas.openxmlformats.org/officeDocument/2006/relationships/chart" Target="/ppt/slides/charts/chart14.xml" Id="R256dd25aab574c91" /><Relationship Type="http://schemas.openxmlformats.org/officeDocument/2006/relationships/notesSlide" Target="/ppt/notesSlides/notesSlide18.xml" Id="R6c1b0c88f8e54c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8966ec5555f42f5" /><Relationship Type="http://schemas.openxmlformats.org/officeDocument/2006/relationships/chart" Target="/ppt/slides/charts/chart15.xml" Id="R1455b12a85fb4f06" /><Relationship Type="http://schemas.openxmlformats.org/officeDocument/2006/relationships/notesSlide" Target="/ppt/notesSlides/notesSlide19.xml" Id="R1e35b88d8d1e48a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48bd5abf8a04b75" /><Relationship Type="http://schemas.openxmlformats.org/officeDocument/2006/relationships/chart" Target="/ppt/slides/charts/chart16.xml" Id="Rf32980df32fc456e" /><Relationship Type="http://schemas.openxmlformats.org/officeDocument/2006/relationships/notesSlide" Target="/ppt/notesSlides/notesSlide20.xml" Id="R2a690d6a380744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d05a085468c46a7" /><Relationship Type="http://schemas.openxmlformats.org/officeDocument/2006/relationships/chart" Target="/ppt/slides/charts/chart17.xml" Id="R3c23bb64deb24d89" /><Relationship Type="http://schemas.openxmlformats.org/officeDocument/2006/relationships/chart" Target="/ppt/slides/charts/chart18.xml" Id="R22ebe9fd81ed4236" /><Relationship Type="http://schemas.openxmlformats.org/officeDocument/2006/relationships/notesSlide" Target="/ppt/notesSlides/notesSlide21.xml" Id="R4d8e3deddf344dc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d27ce0919fe4233" /><Relationship Type="http://schemas.openxmlformats.org/officeDocument/2006/relationships/notesSlide" Target="/ppt/notesSlides/notesSlide22.xml" Id="R374c09eae4a74ce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79aa8cefa6a43a3" /><Relationship Type="http://schemas.openxmlformats.org/officeDocument/2006/relationships/chart" Target="/ppt/slides/charts/chart19.xml" Id="Redc29a73db5f49a8" /><Relationship Type="http://schemas.openxmlformats.org/officeDocument/2006/relationships/notesSlide" Target="/ppt/notesSlides/notesSlide23.xml" Id="Rdcd6692e9f794e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2a17c75c6d04028" /><Relationship Type="http://schemas.openxmlformats.org/officeDocument/2006/relationships/notesSlide" Target="/ppt/notesSlides/notesSlide24.xml" Id="R0b3e5ae10c16468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fa5f86c47fa4e52" /><Relationship Type="http://schemas.openxmlformats.org/officeDocument/2006/relationships/chart" Target="/ppt/slides/charts/chart20.xml" Id="R646e5c5b9b26443c" /><Relationship Type="http://schemas.openxmlformats.org/officeDocument/2006/relationships/notesSlide" Target="/ppt/notesSlides/notesSlide25.xml" Id="R6045caa925dc41d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ceaedd7cec9433d" /><Relationship Type="http://schemas.openxmlformats.org/officeDocument/2006/relationships/chart" Target="/ppt/slides/charts/chart21.xml" Id="R9b25effdd2894d67" /><Relationship Type="http://schemas.openxmlformats.org/officeDocument/2006/relationships/notesSlide" Target="/ppt/notesSlides/notesSlide26.xml" Id="Rb379d6149fed40b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ab4845e55f9496b" /><Relationship Type="http://schemas.openxmlformats.org/officeDocument/2006/relationships/notesSlide" Target="/ppt/notesSlides/notesSlide27.xml" Id="Rcdf6472d6ef741a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135be91ba0b446d" /><Relationship Type="http://schemas.openxmlformats.org/officeDocument/2006/relationships/notesSlide" Target="/ppt/notesSlides/notesSlide28.xml" Id="R7368509030d2444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dccf2205f934aca" /><Relationship Type="http://schemas.openxmlformats.org/officeDocument/2006/relationships/chart" Target="/ppt/slides/charts/chart22.xml" Id="R0199340954ed4c44" /><Relationship Type="http://schemas.openxmlformats.org/officeDocument/2006/relationships/notesSlide" Target="/ppt/notesSlides/notesSlide29.xml" Id="R44a0ec7df5dd42f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30019cef1974769" /><Relationship Type="http://schemas.openxmlformats.org/officeDocument/2006/relationships/chart" Target="/ppt/slides/charts/chart23.xml" Id="Rc0a68af651e04ac8" /><Relationship Type="http://schemas.openxmlformats.org/officeDocument/2006/relationships/notesSlide" Target="/ppt/notesSlides/notesSlide30.xml" Id="Rc54043cb36e74f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0526b4225db4ff1" /><Relationship Type="http://schemas.openxmlformats.org/officeDocument/2006/relationships/chart" Target="/ppt/slides/charts/chart24.xml" Id="R9ea5d55535444340" /><Relationship Type="http://schemas.openxmlformats.org/officeDocument/2006/relationships/notesSlide" Target="/ppt/notesSlides/notesSlide31.xml" Id="Re266c9d3b5fa40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84290a0d0314ef8" /><Relationship Type="http://schemas.openxmlformats.org/officeDocument/2006/relationships/chart" Target="/ppt/slides/charts/chart25.xml" Id="R5aef2a2c434f4f94" /><Relationship Type="http://schemas.openxmlformats.org/officeDocument/2006/relationships/notesSlide" Target="/ppt/notesSlides/notesSlide32.xml" Id="Ra1a8e93450ca4a7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af1cdf04f8149b5" /><Relationship Type="http://schemas.openxmlformats.org/officeDocument/2006/relationships/chart" Target="/ppt/slides/charts/chart26.xml" Id="Rfdf0f2070d4646be" /><Relationship Type="http://schemas.openxmlformats.org/officeDocument/2006/relationships/notesSlide" Target="/ppt/notesSlides/notesSlide33.xml" Id="R60409f4756bf4fa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ac5b4ae78d44e83" /><Relationship Type="http://schemas.openxmlformats.org/officeDocument/2006/relationships/notesSlide" Target="/ppt/notesSlides/notesSlide34.xml" Id="R6d28e5e551b64d3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4f720521e9d4d86" /><Relationship Type="http://schemas.openxmlformats.org/officeDocument/2006/relationships/notesSlide" Target="/ppt/notesSlides/notesSlide35.xml" Id="R0feb39b0721f49e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cb28fe7437342bc" /><Relationship Type="http://schemas.openxmlformats.org/officeDocument/2006/relationships/chart" Target="/ppt/slides/charts/chart27.xml" Id="R77f8394267334aea" /><Relationship Type="http://schemas.openxmlformats.org/officeDocument/2006/relationships/chart" Target="/ppt/slides/charts/chart28.xml" Id="Rd976b9b265554a5f" /><Relationship Type="http://schemas.openxmlformats.org/officeDocument/2006/relationships/notesSlide" Target="/ppt/notesSlides/notesSlide36.xml" Id="R367b8734312a4aa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f50fd37895b43ef" /><Relationship Type="http://schemas.openxmlformats.org/officeDocument/2006/relationships/chart" Target="/ppt/slides/charts/chart29.xml" Id="R67b2a885057a43ac" /><Relationship Type="http://schemas.openxmlformats.org/officeDocument/2006/relationships/notesSlide" Target="/ppt/notesSlides/notesSlide37.xml" Id="R262f65f7b80c46e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a42e6162f264719" /><Relationship Type="http://schemas.openxmlformats.org/officeDocument/2006/relationships/chart" Target="/ppt/slides/charts/chart30.xml" Id="Rb09f5169caf04db2" /><Relationship Type="http://schemas.openxmlformats.org/officeDocument/2006/relationships/notesSlide" Target="/ppt/notesSlides/notesSlide38.xml" Id="Rcb0405dbb62e431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a2e9b63190ed4449" /><Relationship Type="http://schemas.openxmlformats.org/officeDocument/2006/relationships/notesSlide" Target="/ppt/notesSlides/notesSlide39.xml" Id="R2d5bc2d25cce472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6125d6051a44977" /><Relationship Type="http://schemas.openxmlformats.org/officeDocument/2006/relationships/chart" Target="/ppt/slides/charts/chart31.xml" Id="Rc967b84d23824be9" /><Relationship Type="http://schemas.openxmlformats.org/officeDocument/2006/relationships/notesSlide" Target="/ppt/notesSlides/notesSlide40.xml" Id="Reeedbd3767384c4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c79965a603b480f" /><Relationship Type="http://schemas.openxmlformats.org/officeDocument/2006/relationships/notesSlide" Target="/ppt/notesSlides/notesSlide41.xml" Id="R653533a4a2f0408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d39e0d8c7c049c2" /><Relationship Type="http://schemas.openxmlformats.org/officeDocument/2006/relationships/notesSlide" Target="/ppt/notesSlides/notesSlide42.xml" Id="Rb50e6a391ebe4af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1a78609a6cd4fb8" /><Relationship Type="http://schemas.openxmlformats.org/officeDocument/2006/relationships/notesSlide" Target="/ppt/notesSlides/notesSlide43.xml" Id="R7aab7bb7f9a0475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95cfca794304d05" /><Relationship Type="http://schemas.openxmlformats.org/officeDocument/2006/relationships/notesSlide" Target="/ppt/notesSlides/notesSlide44.xml" Id="R3b408cf0ce0b4b0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5aa13a57e5e64399" /><Relationship Type="http://schemas.openxmlformats.org/officeDocument/2006/relationships/notesSlide" Target="/ppt/notesSlides/notesSlide45.xml" Id="R4e1f9683aee8480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3587ce6b6194f49" /><Relationship Type="http://schemas.openxmlformats.org/officeDocument/2006/relationships/notesSlide" Target="/ppt/notesSlides/notesSlide46.xml" Id="R998b31c0ada1431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6fbef0c2e2e468b" /><Relationship Type="http://schemas.openxmlformats.org/officeDocument/2006/relationships/notesSlide" Target="/ppt/notesSlides/notesSlide47.xml" Id="Rc9403b44c5f3456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ce227c62ecf462e" /><Relationship Type="http://schemas.openxmlformats.org/officeDocument/2006/relationships/chart" Target="/ppt/slides/charts/chart32.xml" Id="Rf3fd3374979d4c89" /><Relationship Type="http://schemas.openxmlformats.org/officeDocument/2006/relationships/notesSlide" Target="/ppt/notesSlides/notesSlide48.xml" Id="Rd5f89beabf994b9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4dcafe29120a4bf9" /><Relationship Type="http://schemas.openxmlformats.org/officeDocument/2006/relationships/chart" Target="/ppt/slides/charts/chart33.xml" Id="Ra129dea89d814aab" /><Relationship Type="http://schemas.openxmlformats.org/officeDocument/2006/relationships/notesSlide" Target="/ppt/notesSlides/notesSlide49.xml" Id="Ra86eb2b6d77f43e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0aaca26435e4140" /><Relationship Type="http://schemas.openxmlformats.org/officeDocument/2006/relationships/notesSlide" Target="/ppt/notesSlides/notesSlide50.xml" Id="R627da449c1cb4c6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69041f73ed0f44cf" /><Relationship Type="http://schemas.openxmlformats.org/officeDocument/2006/relationships/notesSlide" Target="/ppt/notesSlides/notesSlide51.xml" Id="R64a666837bbb482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e5466e4e8854be7" /><Relationship Type="http://schemas.openxmlformats.org/officeDocument/2006/relationships/notesSlide" Target="/ppt/notesSlides/notesSlide52.xml" Id="R57e44814971c403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04fd83574a24029" /><Relationship Type="http://schemas.openxmlformats.org/officeDocument/2006/relationships/notesSlide" Target="/ppt/notesSlides/notesSlide53.xml" Id="R49c2f90752ec47d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2314ea09ce54260" /><Relationship Type="http://schemas.openxmlformats.org/officeDocument/2006/relationships/image" Target="/ppt/media/image2.png" Id="R381b8615f32e4352" /><Relationship Type="http://schemas.openxmlformats.org/officeDocument/2006/relationships/notesSlide" Target="/ppt/notesSlides/notesSlide54.xml" Id="Rcf2e99445f274da1"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27c9c8b2dced452d" /><Relationship Type="http://schemas.openxmlformats.org/officeDocument/2006/relationships/notesSlide" Target="/ppt/notesSlides/notesSlide55.xml" Id="R3915bf84a4d7476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5af3ce7db5d451d" /><Relationship Type="http://schemas.openxmlformats.org/officeDocument/2006/relationships/image" Target="/ppt/media/image3.png" Id="R793f8da8e7a94ce0" /><Relationship Type="http://schemas.openxmlformats.org/officeDocument/2006/relationships/notesSlide" Target="/ppt/notesSlides/notesSlide56.xml" Id="Re3f11b57a187447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8e0b7e7e72f477d" /><Relationship Type="http://schemas.openxmlformats.org/officeDocument/2006/relationships/notesSlide" Target="/ppt/notesSlides/notesSlide57.xml" Id="Ra8e1ff5022754db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74a31924f524e8a" /><Relationship Type="http://schemas.openxmlformats.org/officeDocument/2006/relationships/notesSlide" Target="/ppt/notesSlides/notesSlide58.xml" Id="Rcd07a5d94fdf44a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636b3a557534303" /><Relationship Type="http://schemas.openxmlformats.org/officeDocument/2006/relationships/notesSlide" Target="/ppt/notesSlides/notesSlide59.xml" Id="R0be4b3e6d5864368"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e6328900d2049fd" /><Relationship Type="http://schemas.openxmlformats.org/officeDocument/2006/relationships/notesSlide" Target="/ppt/notesSlides/notesSlide60.xml" Id="R3c103e123f4c482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65e7046d1fb4e2f" /><Relationship Type="http://schemas.openxmlformats.org/officeDocument/2006/relationships/notesSlide" Target="/ppt/notesSlides/notesSlide61.xml" Id="R1c940e7bbd3b45f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397c1f191004ce4" /><Relationship Type="http://schemas.openxmlformats.org/officeDocument/2006/relationships/notesSlide" Target="/ppt/notesSlides/notesSlide62.xml" Id="Rbe2e01e26f79491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53c27c123f8c469d" /><Relationship Type="http://schemas.openxmlformats.org/officeDocument/2006/relationships/image" Target="/ppt/media/image4.png" Id="Rc8348857a6fb4c38" /><Relationship Type="http://schemas.openxmlformats.org/officeDocument/2006/relationships/notesSlide" Target="/ppt/notesSlides/notesSlide63.xml" Id="R825f071ddaa34de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9ad23ec4c9e6457f" /><Relationship Type="http://schemas.openxmlformats.org/officeDocument/2006/relationships/notesSlide" Target="/ppt/notesSlides/notesSlide64.xml" Id="Rf67603ee9a024ab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6bae998088dd4c4b" /><Relationship Type="http://schemas.openxmlformats.org/officeDocument/2006/relationships/notesSlide" Target="/ppt/notesSlides/notesSlide65.xml" Id="Rce06926651a04929"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5e3b47dbf4f045ad" /><Relationship Type="http://schemas.openxmlformats.org/officeDocument/2006/relationships/notesSlide" Target="/ppt/notesSlides/notesSlide66.xml" Id="R64c51738c25a475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3be3c79088df4081" /><Relationship Type="http://schemas.openxmlformats.org/officeDocument/2006/relationships/chart" Target="/ppt/slides/charts/chart34.xml" Id="R8a257e0be3c74f6a" /><Relationship Type="http://schemas.openxmlformats.org/officeDocument/2006/relationships/chart" Target="/ppt/slides/charts/chart35.xml" Id="R29fe10e826224e7f" /><Relationship Type="http://schemas.openxmlformats.org/officeDocument/2006/relationships/notesSlide" Target="/ppt/notesSlides/notesSlide67.xml" Id="R1ba47e39678e4918"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5d3d8502011848c5" /><Relationship Type="http://schemas.openxmlformats.org/officeDocument/2006/relationships/notesSlide" Target="/ppt/notesSlides/notesSlide68.xml" Id="R62b8fcf2c6a0474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88e2cb0b71044925" /><Relationship Type="http://schemas.openxmlformats.org/officeDocument/2006/relationships/notesSlide" Target="/ppt/notesSlides/notesSlide69.xml" Id="R9eea04fe41ad43e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9481c1bb7f034b86" /><Relationship Type="http://schemas.openxmlformats.org/officeDocument/2006/relationships/chart" Target="/ppt/slides/charts/chart36.xml" Id="Rf9c49d2fb9054406" /><Relationship Type="http://schemas.openxmlformats.org/officeDocument/2006/relationships/notesSlide" Target="/ppt/notesSlides/notesSlide70.xml" Id="Rc4851c4fca4c470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b2aaf64247994972" /><Relationship Type="http://schemas.openxmlformats.org/officeDocument/2006/relationships/notesSlide" Target="/ppt/notesSlides/notesSlide71.xml" Id="Rdba014dcff99445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769daa371e50426a" /><Relationship Type="http://schemas.openxmlformats.org/officeDocument/2006/relationships/notesSlide" Target="/ppt/notesSlides/notesSlide72.xml" Id="Re80a0587a787433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55f045f1e92a4aca" /><Relationship Type="http://schemas.openxmlformats.org/officeDocument/2006/relationships/notesSlide" Target="/ppt/notesSlides/notesSlide73.xml" Id="R2e79c6f6aef249d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dee1a64183614595" /><Relationship Type="http://schemas.openxmlformats.org/officeDocument/2006/relationships/notesSlide" Target="/ppt/notesSlides/notesSlide74.xml" Id="Rfbfcb19a0c3e4ae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22fa49bcf60343f3" /><Relationship Type="http://schemas.openxmlformats.org/officeDocument/2006/relationships/notesSlide" Target="/ppt/notesSlides/notesSlide75.xml" Id="Rb86509332f58419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c75af5554d394156" /><Relationship Type="http://schemas.openxmlformats.org/officeDocument/2006/relationships/chart" Target="/ppt/slides/charts/chart37.xml" Id="Re5f5306f598a4331" /><Relationship Type="http://schemas.openxmlformats.org/officeDocument/2006/relationships/chart" Target="/ppt/slides/charts/chart38.xml" Id="R62067cbeb9ea47b4" /><Relationship Type="http://schemas.openxmlformats.org/officeDocument/2006/relationships/notesSlide" Target="/ppt/notesSlides/notesSlide76.xml" Id="R59589c0e1dd84a4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8bc89cfe5fe84b53" /><Relationship Type="http://schemas.openxmlformats.org/officeDocument/2006/relationships/chart" Target="/ppt/slides/charts/chart39.xml" Id="R11458d0277504983" /><Relationship Type="http://schemas.openxmlformats.org/officeDocument/2006/relationships/notesSlide" Target="/ppt/notesSlides/notesSlide77.xml" Id="Rd399a22846f844b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34b2bf70ec044d89" /><Relationship Type="http://schemas.openxmlformats.org/officeDocument/2006/relationships/chart" Target="/ppt/slides/charts/chart40.xml" Id="R3d7266fd02544707" /><Relationship Type="http://schemas.openxmlformats.org/officeDocument/2006/relationships/notesSlide" Target="/ppt/notesSlides/notesSlide78.xml" Id="R4a7cc674043542f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4570c81140ad4d83" /><Relationship Type="http://schemas.openxmlformats.org/officeDocument/2006/relationships/notesSlide" Target="/ppt/notesSlides/notesSlide79.xml" Id="Rd24b43c4f97349c6"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1886b230f95d4308" /><Relationship Type="http://schemas.openxmlformats.org/officeDocument/2006/relationships/notesSlide" Target="/ppt/notesSlides/notesSlide80.xml" Id="Rca117b0ea9f1457d"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f43fe8a7db524786" /><Relationship Type="http://schemas.openxmlformats.org/officeDocument/2006/relationships/notesSlide" Target="/ppt/notesSlides/notesSlide81.xml" Id="R5046ad324b864e1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3a3e65cc686b4e34" /><Relationship Type="http://schemas.openxmlformats.org/officeDocument/2006/relationships/image" Target="/ppt/media/image5.png" Id="Rab0b64c9a39141ad" /><Relationship Type="http://schemas.openxmlformats.org/officeDocument/2006/relationships/notesSlide" Target="/ppt/notesSlides/notesSlide82.xml" Id="R32213359cbe74c80" /></Relationships>
</file>

<file path=ppt/slides/charts/chart1.xml><?xml version="1.0" encoding="utf-8"?>
<c:chartSpace xmlns:c="http://schemas.openxmlformats.org/drawingml/2006/chart">
  <c:lang val="en-US"/>
  <c:chart>
    <c:plotArea>
      <c:scatterChart>
        <c:scatterStyle val="line"/>
        <c:ser>
          <c:idx val="0"/>
          <c:order val="0"/>
          <c:tx>
            <c:v>Aproximadamente 2 minutos</c:v>
          </c:tx>
          <c:spPr>
            <a:ln xmlns:a="http://schemas.openxmlformats.org/drawingml/2006/main" w="28575">
              <a:solidFill>
                <a:srgbClr val="D96B18"/>
              </a:solidFill>
            </a:ln>
          </c:spPr>
          <c:marker>
            <c:symbol val="none"/>
          </c:marker>
          <c:xVal>
            <c:numLit>
              <c:formatCode>General</c:formatCode>
              <c:ptCount val="5"/>
              <c:pt idx="0">
                <c:v>0</c:v>
              </c:pt>
              <c:pt idx="1">
                <c:v>1</c:v>
              </c:pt>
              <c:pt idx="2">
                <c:v>2</c:v>
              </c:pt>
              <c:pt idx="3">
                <c:v>3</c:v>
              </c:pt>
              <c:pt idx="4">
                <c:v>4</c:v>
              </c:pt>
            </c:numLit>
          </c:xVal>
          <c:yVal>
            <c:numLit>
              <c:formatCode>0.00</c:formatCode>
              <c:ptCount val="5"/>
              <c:pt idx="0">
                <c:v>0</c:v>
              </c:pt>
              <c:pt idx="1">
                <c:v>0</c:v>
              </c:pt>
              <c:pt idx="2">
                <c:v>1</c:v>
              </c:pt>
              <c:pt idx="3">
                <c:v>0</c:v>
              </c:pt>
              <c:pt idx="4">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4"/>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line"/>
        <c:ser>
          <c:idx val="0"/>
          <c:order val="0"/>
          <c:tx>
            <c:v>Pertenencia</c:v>
          </c:tx>
          <c:spPr>
            <a:ln xmlns:a="http://schemas.openxmlformats.org/drawingml/2006/main" w="28575">
              <a:solidFill>
                <a:srgbClr val="2162A0"/>
              </a:solidFill>
            </a:ln>
          </c:spPr>
          <c:marker>
            <c:symbol val="none"/>
          </c:marker>
          <c:xVal>
            <c:numLit>
              <c:formatCode>General</c:formatCode>
              <c:ptCount val="6"/>
              <c:pt idx="0">
                <c:v>1.5</c:v>
              </c:pt>
              <c:pt idx="1">
                <c:v>1.69999</c:v>
              </c:pt>
              <c:pt idx="2">
                <c:v>1.7</c:v>
              </c:pt>
              <c:pt idx="3">
                <c:v>1.8</c:v>
              </c:pt>
              <c:pt idx="4">
                <c:v>1.80001</c:v>
              </c:pt>
              <c:pt idx="5">
                <c:v>2</c:v>
              </c:pt>
            </c:numLit>
          </c:xVal>
          <c:yVal>
            <c:numLit>
              <c:formatCode>0.0</c:formatCode>
              <c:ptCount val="6"/>
              <c:pt idx="0">
                <c:v>0</c:v>
              </c:pt>
              <c:pt idx="1">
                <c:v>0</c:v>
              </c:pt>
              <c:pt idx="2">
                <c:v>1</c:v>
              </c:pt>
              <c:pt idx="3">
                <c:v>1</c:v>
              </c:pt>
              <c:pt idx="4">
                <c:v>0</c:v>
              </c:pt>
              <c:pt idx="5">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majorUnit val="0.5"/>
      </c:valAx>
      <c:valAx>
        <c:axId val="48650112"/>
        <c:scaling>
          <c:orientation val="minMax"/>
          <c:max val="2"/>
          <c:min val="1.5"/>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Estatura x (m)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majorUnit val="0.1"/>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line"/>
        <c:ser>
          <c:idx val="0"/>
          <c:order val="0"/>
          <c:tx>
            <c:v>Pertenencia</c:v>
          </c:tx>
          <c:spPr>
            <a:ln xmlns:a="http://schemas.openxmlformats.org/drawingml/2006/main" w="28575">
              <a:solidFill>
                <a:srgbClr val="D96B18"/>
              </a:solidFill>
            </a:ln>
          </c:spPr>
          <c:marker>
            <c:symbol val="none"/>
          </c:marker>
          <c:xVal>
            <c:numLit>
              <c:formatCode>General</c:formatCode>
              <c:ptCount val="5"/>
              <c:pt idx="0">
                <c:v>1.5</c:v>
              </c:pt>
              <c:pt idx="1">
                <c:v>1.6</c:v>
              </c:pt>
              <c:pt idx="2">
                <c:v>1.75</c:v>
              </c:pt>
              <c:pt idx="3">
                <c:v>1.9</c:v>
              </c:pt>
              <c:pt idx="4">
                <c:v>2</c:v>
              </c:pt>
            </c:numLit>
          </c:xVal>
          <c:yVal>
            <c:numLit>
              <c:formatCode>0.0</c:formatCode>
              <c:ptCount val="5"/>
              <c:pt idx="0">
                <c:v>0</c:v>
              </c:pt>
              <c:pt idx="1">
                <c:v>0</c:v>
              </c:pt>
              <c:pt idx="2">
                <c:v>1</c:v>
              </c:pt>
              <c:pt idx="3">
                <c:v>0</c:v>
              </c:pt>
              <c:pt idx="4">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1"/>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majorUnit val="0.5"/>
      </c:valAx>
      <c:valAx>
        <c:axId val="48650112"/>
        <c:scaling>
          <c:orientation val="minMax"/>
          <c:max val="2"/>
          <c:min val="1.5"/>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Estatura x (m)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majorUnit val="0.1"/>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line"/>
        <c:ser>
          <c:idx val="0"/>
          <c:order val="0"/>
          <c:tx>
            <c:v>Fría</c:v>
          </c:tx>
          <c:spPr>
            <a:ln xmlns:a="http://schemas.openxmlformats.org/drawingml/2006/main" w="28575">
              <a:solidFill>
                <a:srgbClr val="2162A0"/>
              </a:solidFill>
            </a:ln>
          </c:spPr>
          <c:marker>
            <c:symbol val="none"/>
          </c:marker>
          <c:xVal>
            <c:numLit>
              <c:formatCode>General</c:formatCode>
              <c:ptCount val="5"/>
              <c:pt idx="0">
                <c:v>10</c:v>
              </c:pt>
              <c:pt idx="1">
                <c:v>16</c:v>
              </c:pt>
              <c:pt idx="2">
                <c:v>22</c:v>
              </c:pt>
              <c:pt idx="3">
                <c:v>28</c:v>
              </c:pt>
              <c:pt idx="4">
                <c:v>34</c:v>
              </c:pt>
            </c:numLit>
          </c:xVal>
          <c:yVal>
            <c:numLit>
              <c:formatCode>0.00</c:formatCode>
              <c:ptCount val="5"/>
              <c:pt idx="0">
                <c:v>1</c:v>
              </c:pt>
              <c:pt idx="1">
                <c:v>1</c:v>
              </c:pt>
              <c:pt idx="2">
                <c:v>0</c:v>
              </c:pt>
              <c:pt idx="3">
                <c:v>0</c:v>
              </c:pt>
              <c:pt idx="4">
                <c:v>0</c:v>
              </c:pt>
            </c:numLit>
          </c:yVal>
        </c:ser>
        <c:ser>
          <c:idx val="1"/>
          <c:order val="1"/>
          <c:tx>
            <c:v>Templada</c:v>
          </c:tx>
          <c:spPr>
            <a:ln xmlns:a="http://schemas.openxmlformats.org/drawingml/2006/main" w="28575">
              <a:solidFill>
                <a:srgbClr val="74944D"/>
              </a:solidFill>
            </a:ln>
          </c:spPr>
          <c:marker>
            <c:symbol val="none"/>
          </c:marker>
          <c:xVal>
            <c:numLit>
              <c:formatCode>General</c:formatCode>
              <c:ptCount val="5"/>
              <c:pt idx="0">
                <c:v>10</c:v>
              </c:pt>
              <c:pt idx="1">
                <c:v>16</c:v>
              </c:pt>
              <c:pt idx="2">
                <c:v>22</c:v>
              </c:pt>
              <c:pt idx="3">
                <c:v>28</c:v>
              </c:pt>
              <c:pt idx="4">
                <c:v>34</c:v>
              </c:pt>
            </c:numLit>
          </c:xVal>
          <c:yVal>
            <c:numLit>
              <c:formatCode>0.00</c:formatCode>
              <c:ptCount val="5"/>
              <c:pt idx="0">
                <c:v>0</c:v>
              </c:pt>
              <c:pt idx="1">
                <c:v>0</c:v>
              </c:pt>
              <c:pt idx="2">
                <c:v>1</c:v>
              </c:pt>
              <c:pt idx="3">
                <c:v>0</c:v>
              </c:pt>
              <c:pt idx="4">
                <c:v>0</c:v>
              </c:pt>
            </c:numLit>
          </c:yVal>
        </c:ser>
        <c:ser>
          <c:idx val="2"/>
          <c:order val="2"/>
          <c:tx>
            <c:v>Caliente</c:v>
          </c:tx>
          <c:spPr>
            <a:ln xmlns:a="http://schemas.openxmlformats.org/drawingml/2006/main" w="28575">
              <a:solidFill>
                <a:srgbClr val="D96B18"/>
              </a:solidFill>
            </a:ln>
          </c:spPr>
          <c:marker>
            <c:symbol val="none"/>
          </c:marker>
          <c:xVal>
            <c:numLit>
              <c:formatCode>General</c:formatCode>
              <c:ptCount val="5"/>
              <c:pt idx="0">
                <c:v>10</c:v>
              </c:pt>
              <c:pt idx="1">
                <c:v>16</c:v>
              </c:pt>
              <c:pt idx="2">
                <c:v>22</c:v>
              </c:pt>
              <c:pt idx="3">
                <c:v>28</c:v>
              </c:pt>
              <c:pt idx="4">
                <c:v>34</c:v>
              </c:pt>
            </c:numLit>
          </c:xVal>
          <c:yVal>
            <c:numLit>
              <c:formatCode>0.00</c:formatCode>
              <c:ptCount val="5"/>
              <c:pt idx="0">
                <c:v>0</c:v>
              </c:pt>
              <c:pt idx="1">
                <c:v>0</c:v>
              </c:pt>
              <c:pt idx="2">
                <c:v>0</c:v>
              </c:pt>
              <c:pt idx="3">
                <c:v>1</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34"/>
          <c:min val="1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Temperatura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6"/>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33746"/>
              </a:solidFill>
              <a:latin typeface="Arial"/>
              <a:ea typeface="Arial"/>
              <a:cs typeface="Arial"/>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er>
          <c:idx val="0"/>
          <c:order val="0"/>
          <c:tx>
            <c:v>Templada</c:v>
          </c:tx>
          <c:spPr>
            <a:ln xmlns:a="http://schemas.openxmlformats.org/drawingml/2006/main" w="28575">
              <a:solidFill>
                <a:srgbClr val="2162A0"/>
              </a:solidFill>
            </a:ln>
          </c:spPr>
          <c:marker>
            <c:symbol val="none"/>
            <c:size val="5"/>
          </c:marker>
          <c:xVal>
            <c:numLit>
              <c:formatCode>General</c:formatCode>
              <c:ptCount val="101"/>
              <c:pt idx="0">
                <c:v>16</c:v>
              </c:pt>
              <c:pt idx="1">
                <c:v>16.12</c:v>
              </c:pt>
              <c:pt idx="2">
                <c:v>16.24</c:v>
              </c:pt>
              <c:pt idx="3">
                <c:v>16.36</c:v>
              </c:pt>
              <c:pt idx="4">
                <c:v>16.48</c:v>
              </c:pt>
              <c:pt idx="5">
                <c:v>16.6</c:v>
              </c:pt>
              <c:pt idx="6">
                <c:v>16.72</c:v>
              </c:pt>
              <c:pt idx="7">
                <c:v>16.84</c:v>
              </c:pt>
              <c:pt idx="8">
                <c:v>16.96</c:v>
              </c:pt>
              <c:pt idx="9">
                <c:v>17.08</c:v>
              </c:pt>
              <c:pt idx="10">
                <c:v>17.2</c:v>
              </c:pt>
              <c:pt idx="11">
                <c:v>17.32</c:v>
              </c:pt>
              <c:pt idx="12">
                <c:v>17.44</c:v>
              </c:pt>
              <c:pt idx="13">
                <c:v>17.56</c:v>
              </c:pt>
              <c:pt idx="14">
                <c:v>17.68</c:v>
              </c:pt>
              <c:pt idx="15">
                <c:v>17.8</c:v>
              </c:pt>
              <c:pt idx="16">
                <c:v>17.92</c:v>
              </c:pt>
              <c:pt idx="17">
                <c:v>18.04</c:v>
              </c:pt>
              <c:pt idx="18">
                <c:v>18.16</c:v>
              </c:pt>
              <c:pt idx="19">
                <c:v>18.28</c:v>
              </c:pt>
              <c:pt idx="20">
                <c:v>18.4</c:v>
              </c:pt>
              <c:pt idx="21">
                <c:v>18.52</c:v>
              </c:pt>
              <c:pt idx="22">
                <c:v>18.64</c:v>
              </c:pt>
              <c:pt idx="23">
                <c:v>18.759999999999998</c:v>
              </c:pt>
              <c:pt idx="24">
                <c:v>18.88</c:v>
              </c:pt>
              <c:pt idx="25">
                <c:v>19</c:v>
              </c:pt>
              <c:pt idx="26">
                <c:v>19.12</c:v>
              </c:pt>
              <c:pt idx="27">
                <c:v>19.240000000000002</c:v>
              </c:pt>
              <c:pt idx="28">
                <c:v>19.36</c:v>
              </c:pt>
              <c:pt idx="29">
                <c:v>19.48</c:v>
              </c:pt>
              <c:pt idx="30">
                <c:v>19.6</c:v>
              </c:pt>
              <c:pt idx="31">
                <c:v>19.72</c:v>
              </c:pt>
              <c:pt idx="32">
                <c:v>19.84</c:v>
              </c:pt>
              <c:pt idx="33">
                <c:v>19.96</c:v>
              </c:pt>
              <c:pt idx="34">
                <c:v>20.08</c:v>
              </c:pt>
              <c:pt idx="35">
                <c:v>20.2</c:v>
              </c:pt>
              <c:pt idx="36">
                <c:v>20.32</c:v>
              </c:pt>
              <c:pt idx="37">
                <c:v>20.44</c:v>
              </c:pt>
              <c:pt idx="38">
                <c:v>20.56</c:v>
              </c:pt>
              <c:pt idx="39">
                <c:v>20.68</c:v>
              </c:pt>
              <c:pt idx="40">
                <c:v>20.8</c:v>
              </c:pt>
              <c:pt idx="41">
                <c:v>20.92</c:v>
              </c:pt>
              <c:pt idx="42">
                <c:v>21.04</c:v>
              </c:pt>
              <c:pt idx="43">
                <c:v>21.16</c:v>
              </c:pt>
              <c:pt idx="44">
                <c:v>21.28</c:v>
              </c:pt>
              <c:pt idx="45">
                <c:v>21.4</c:v>
              </c:pt>
              <c:pt idx="46">
                <c:v>21.52</c:v>
              </c:pt>
              <c:pt idx="47">
                <c:v>21.64</c:v>
              </c:pt>
              <c:pt idx="48">
                <c:v>21.759999999999998</c:v>
              </c:pt>
              <c:pt idx="49">
                <c:v>21.88</c:v>
              </c:pt>
              <c:pt idx="50">
                <c:v>22</c:v>
              </c:pt>
              <c:pt idx="51">
                <c:v>22.12</c:v>
              </c:pt>
              <c:pt idx="52">
                <c:v>22.240000000000002</c:v>
              </c:pt>
              <c:pt idx="53">
                <c:v>22.36</c:v>
              </c:pt>
              <c:pt idx="54">
                <c:v>22.48</c:v>
              </c:pt>
              <c:pt idx="55">
                <c:v>22.6</c:v>
              </c:pt>
              <c:pt idx="56">
                <c:v>22.72</c:v>
              </c:pt>
              <c:pt idx="57">
                <c:v>22.84</c:v>
              </c:pt>
              <c:pt idx="58">
                <c:v>22.96</c:v>
              </c:pt>
              <c:pt idx="59">
                <c:v>23.08</c:v>
              </c:pt>
              <c:pt idx="60">
                <c:v>23.2</c:v>
              </c:pt>
              <c:pt idx="61">
                <c:v>23.32</c:v>
              </c:pt>
              <c:pt idx="62">
                <c:v>23.44</c:v>
              </c:pt>
              <c:pt idx="63">
                <c:v>23.56</c:v>
              </c:pt>
              <c:pt idx="64">
                <c:v>23.68</c:v>
              </c:pt>
              <c:pt idx="65">
                <c:v>23.8</c:v>
              </c:pt>
              <c:pt idx="66">
                <c:v>23.92</c:v>
              </c:pt>
              <c:pt idx="67">
                <c:v>24.04</c:v>
              </c:pt>
              <c:pt idx="68">
                <c:v>24.16</c:v>
              </c:pt>
              <c:pt idx="69">
                <c:v>24.28</c:v>
              </c:pt>
              <c:pt idx="70">
                <c:v>24.4</c:v>
              </c:pt>
              <c:pt idx="71">
                <c:v>24.52</c:v>
              </c:pt>
              <c:pt idx="72">
                <c:v>24.64</c:v>
              </c:pt>
              <c:pt idx="73">
                <c:v>24.759999999999998</c:v>
              </c:pt>
              <c:pt idx="74">
                <c:v>24.880000000000003</c:v>
              </c:pt>
              <c:pt idx="75">
                <c:v>25</c:v>
              </c:pt>
              <c:pt idx="76">
                <c:v>25.119999999999997</c:v>
              </c:pt>
              <c:pt idx="77">
                <c:v>25.240000000000002</c:v>
              </c:pt>
              <c:pt idx="78">
                <c:v>25.36</c:v>
              </c:pt>
              <c:pt idx="79">
                <c:v>25.48</c:v>
              </c:pt>
              <c:pt idx="80">
                <c:v>25.6</c:v>
              </c:pt>
              <c:pt idx="81">
                <c:v>25.72</c:v>
              </c:pt>
              <c:pt idx="82">
                <c:v>25.84</c:v>
              </c:pt>
              <c:pt idx="83">
                <c:v>25.96</c:v>
              </c:pt>
              <c:pt idx="84">
                <c:v>26.08</c:v>
              </c:pt>
              <c:pt idx="85">
                <c:v>26.2</c:v>
              </c:pt>
              <c:pt idx="86">
                <c:v>26.32</c:v>
              </c:pt>
              <c:pt idx="87">
                <c:v>26.439999999999998</c:v>
              </c:pt>
              <c:pt idx="88">
                <c:v>26.560000000000002</c:v>
              </c:pt>
              <c:pt idx="89">
                <c:v>26.68</c:v>
              </c:pt>
              <c:pt idx="90">
                <c:v>26.8</c:v>
              </c:pt>
              <c:pt idx="91">
                <c:v>26.92</c:v>
              </c:pt>
              <c:pt idx="92">
                <c:v>27.04</c:v>
              </c:pt>
              <c:pt idx="93">
                <c:v>27.16</c:v>
              </c:pt>
              <c:pt idx="94">
                <c:v>27.28</c:v>
              </c:pt>
              <c:pt idx="95">
                <c:v>27.4</c:v>
              </c:pt>
              <c:pt idx="96">
                <c:v>27.52</c:v>
              </c:pt>
              <c:pt idx="97">
                <c:v>27.64</c:v>
              </c:pt>
              <c:pt idx="98">
                <c:v>27.759999999999998</c:v>
              </c:pt>
              <c:pt idx="99">
                <c:v>27.880000000000003</c:v>
              </c:pt>
              <c:pt idx="100">
                <c:v>28</c:v>
              </c:pt>
            </c:numLit>
          </c:xVal>
          <c:yVal>
            <c:numLit>
              <c:formatCode>General</c:formatCode>
              <c:ptCount val="101"/>
              <c:pt idx="0">
                <c:v>0</c:v>
              </c:pt>
              <c:pt idx="1">
                <c:v>0.020000000000000167</c:v>
              </c:pt>
              <c:pt idx="2">
                <c:v>0.03999999999999974</c:v>
              </c:pt>
              <c:pt idx="3">
                <c:v>0.05999999999999991</c:v>
              </c:pt>
              <c:pt idx="4">
                <c:v>0.08000000000000007</c:v>
              </c:pt>
              <c:pt idx="5">
                <c:v>0.10000000000000024</c:v>
              </c:pt>
              <c:pt idx="6">
                <c:v>0.11999999999999982</c:v>
              </c:pt>
              <c:pt idx="7">
                <c:v>0.13999999999999999</c:v>
              </c:pt>
              <c:pt idx="8">
                <c:v>0.16000000000000014</c:v>
              </c:pt>
              <c:pt idx="9">
                <c:v>0.17999999999999972</c:v>
              </c:pt>
              <c:pt idx="10">
                <c:v>0.19999999999999987</c:v>
              </c:pt>
              <c:pt idx="11">
                <c:v>0.22000000000000006</c:v>
              </c:pt>
              <c:pt idx="12">
                <c:v>0.2400000000000002</c:v>
              </c:pt>
              <c:pt idx="13">
                <c:v>0.2599999999999998</c:v>
              </c:pt>
              <c:pt idx="14">
                <c:v>0.27999999999999997</c:v>
              </c:pt>
              <c:pt idx="15">
                <c:v>0.3000000000000001</c:v>
              </c:pt>
              <c:pt idx="16">
                <c:v>0.3200000000000003</c:v>
              </c:pt>
              <c:pt idx="17">
                <c:v>0.33999999999999986</c:v>
              </c:pt>
              <c:pt idx="18">
                <c:v>0.36000000000000004</c:v>
              </c:pt>
              <c:pt idx="19">
                <c:v>0.38000000000000017</c:v>
              </c:pt>
              <c:pt idx="20">
                <c:v>0.39999999999999974</c:v>
              </c:pt>
              <c:pt idx="21">
                <c:v>0.41999999999999993</c:v>
              </c:pt>
              <c:pt idx="22">
                <c:v>0.4400000000000001</c:v>
              </c:pt>
              <c:pt idx="23">
                <c:v>0.4599999999999997</c:v>
              </c:pt>
              <c:pt idx="24">
                <c:v>0.4799999999999998</c:v>
              </c:pt>
              <c:pt idx="25">
                <c:v>0.5</c:v>
              </c:pt>
              <c:pt idx="26">
                <c:v>0.5200000000000001</c:v>
              </c:pt>
              <c:pt idx="27">
                <c:v>0.5400000000000004</c:v>
              </c:pt>
              <c:pt idx="28">
                <c:v>0.5599999999999999</c:v>
              </c:pt>
              <c:pt idx="29">
                <c:v>0.5800000000000001</c:v>
              </c:pt>
              <c:pt idx="30">
                <c:v>0.6000000000000002</c:v>
              </c:pt>
              <c:pt idx="31">
                <c:v>0.6199999999999998</c:v>
              </c:pt>
              <c:pt idx="32">
                <c:v>0.64</c:v>
              </c:pt>
              <c:pt idx="33">
                <c:v>0.6600000000000001</c:v>
              </c:pt>
              <c:pt idx="34">
                <c:v>0.6799999999999997</c:v>
              </c:pt>
              <c:pt idx="35">
                <c:v>0.6999999999999998</c:v>
              </c:pt>
              <c:pt idx="36">
                <c:v>0.7200000000000001</c:v>
              </c:pt>
              <c:pt idx="37">
                <c:v>0.7400000000000002</c:v>
              </c:pt>
              <c:pt idx="38">
                <c:v>0.7599999999999998</c:v>
              </c:pt>
              <c:pt idx="39">
                <c:v>0.7799999999999999</c:v>
              </c:pt>
              <c:pt idx="40">
                <c:v>0.8000000000000002</c:v>
              </c:pt>
              <c:pt idx="41">
                <c:v>0.8200000000000003</c:v>
              </c:pt>
              <c:pt idx="42">
                <c:v>0.8399999999999999</c:v>
              </c:pt>
              <c:pt idx="43">
                <c:v>0.86</c:v>
              </c:pt>
              <c:pt idx="44">
                <c:v>0.8800000000000002</c:v>
              </c:pt>
              <c:pt idx="45">
                <c:v>0.8999999999999998</c:v>
              </c:pt>
              <c:pt idx="46">
                <c:v>0.9199999999999999</c:v>
              </c:pt>
              <c:pt idx="47">
                <c:v>0.9400000000000001</c:v>
              </c:pt>
              <c:pt idx="48">
                <c:v>0.9599999999999996</c:v>
              </c:pt>
              <c:pt idx="49">
                <c:v>0.9799999999999999</c:v>
              </c:pt>
              <c:pt idx="50">
                <c:v>1</c:v>
              </c:pt>
              <c:pt idx="51">
                <c:v>0.9799999999999999</c:v>
              </c:pt>
              <c:pt idx="52">
                <c:v>0.9599999999999996</c:v>
              </c:pt>
              <c:pt idx="53">
                <c:v>0.9400000000000001</c:v>
              </c:pt>
              <c:pt idx="54">
                <c:v>0.9199999999999999</c:v>
              </c:pt>
              <c:pt idx="55">
                <c:v>0.8999999999999998</c:v>
              </c:pt>
              <c:pt idx="56">
                <c:v>0.8800000000000002</c:v>
              </c:pt>
              <c:pt idx="57">
                <c:v>0.86</c:v>
              </c:pt>
              <c:pt idx="58">
                <c:v>0.8399999999999999</c:v>
              </c:pt>
              <c:pt idx="59">
                <c:v>0.8200000000000003</c:v>
              </c:pt>
              <c:pt idx="60">
                <c:v>0.8000000000000002</c:v>
              </c:pt>
              <c:pt idx="61">
                <c:v>0.7799999999999999</c:v>
              </c:pt>
              <c:pt idx="62">
                <c:v>0.7599999999999998</c:v>
              </c:pt>
              <c:pt idx="63">
                <c:v>0.7400000000000002</c:v>
              </c:pt>
              <c:pt idx="64">
                <c:v>0.7200000000000001</c:v>
              </c:pt>
              <c:pt idx="65">
                <c:v>0.6999999999999998</c:v>
              </c:pt>
              <c:pt idx="66">
                <c:v>0.6799999999999997</c:v>
              </c:pt>
              <c:pt idx="67">
                <c:v>0.6600000000000001</c:v>
              </c:pt>
              <c:pt idx="68">
                <c:v>0.64</c:v>
              </c:pt>
              <c:pt idx="69">
                <c:v>0.6199999999999998</c:v>
              </c:pt>
              <c:pt idx="70">
                <c:v>0.6000000000000002</c:v>
              </c:pt>
              <c:pt idx="71">
                <c:v>0.5800000000000001</c:v>
              </c:pt>
              <c:pt idx="72">
                <c:v>0.5599999999999999</c:v>
              </c:pt>
              <c:pt idx="73">
                <c:v>0.5400000000000004</c:v>
              </c:pt>
              <c:pt idx="74">
                <c:v>0.5199999999999996</c:v>
              </c:pt>
              <c:pt idx="75">
                <c:v>0.5</c:v>
              </c:pt>
              <c:pt idx="76">
                <c:v>0.4800000000000004</c:v>
              </c:pt>
              <c:pt idx="77">
                <c:v>0.4599999999999997</c:v>
              </c:pt>
              <c:pt idx="78">
                <c:v>0.4400000000000001</c:v>
              </c:pt>
              <c:pt idx="79">
                <c:v>0.41999999999999993</c:v>
              </c:pt>
              <c:pt idx="80">
                <c:v>0.39999999999999974</c:v>
              </c:pt>
              <c:pt idx="81">
                <c:v>0.38000000000000017</c:v>
              </c:pt>
              <c:pt idx="82">
                <c:v>0.36000000000000004</c:v>
              </c:pt>
              <c:pt idx="83">
                <c:v>0.33999999999999986</c:v>
              </c:pt>
              <c:pt idx="84">
                <c:v>0.3200000000000003</c:v>
              </c:pt>
              <c:pt idx="85">
                <c:v>0.3000000000000001</c:v>
              </c:pt>
              <c:pt idx="86">
                <c:v>0.27999999999999997</c:v>
              </c:pt>
              <c:pt idx="87">
                <c:v>0.2600000000000004</c:v>
              </c:pt>
              <c:pt idx="88">
                <c:v>0.23999999999999963</c:v>
              </c:pt>
              <c:pt idx="89">
                <c:v>0.22000000000000006</c:v>
              </c:pt>
              <c:pt idx="90">
                <c:v>0.19999999999999987</c:v>
              </c:pt>
              <c:pt idx="91">
                <c:v>0.17999999999999972</c:v>
              </c:pt>
              <c:pt idx="92">
                <c:v>0.16000000000000014</c:v>
              </c:pt>
              <c:pt idx="93">
                <c:v>0.13999999999999999</c:v>
              </c:pt>
              <c:pt idx="94">
                <c:v>0.11999999999999982</c:v>
              </c:pt>
              <c:pt idx="95">
                <c:v>0.10000000000000024</c:v>
              </c:pt>
              <c:pt idx="96">
                <c:v>0.08000000000000007</c:v>
              </c:pt>
              <c:pt idx="97">
                <c:v>0.05999999999999991</c:v>
              </c:pt>
              <c:pt idx="98">
                <c:v>0.040000000000000334</c:v>
              </c:pt>
              <c:pt idx="99">
                <c:v>0.019999999999999574</c:v>
              </c:pt>
              <c:pt idx="100">
                <c:v>0</c:v>
              </c:pt>
            </c:numLit>
          </c:yVal>
        </c:ser>
        <c:ser>
          <c:idx val="1"/>
          <c:order val="1"/>
          <c:tx>
            <c:v>Caliente</c:v>
          </c:tx>
          <c:spPr>
            <a:ln xmlns:a="http://schemas.openxmlformats.org/drawingml/2006/main" w="28575">
              <a:solidFill>
                <a:srgbClr val="D96B18"/>
              </a:solidFill>
            </a:ln>
          </c:spPr>
          <c:marker>
            <c:symbol val="none"/>
            <c:size val="5"/>
          </c:marker>
          <c:xVal>
            <c:numLit>
              <c:formatCode>General</c:formatCode>
              <c:ptCount val="101"/>
              <c:pt idx="0">
                <c:v>16</c:v>
              </c:pt>
              <c:pt idx="1">
                <c:v>16.12</c:v>
              </c:pt>
              <c:pt idx="2">
                <c:v>16.24</c:v>
              </c:pt>
              <c:pt idx="3">
                <c:v>16.36</c:v>
              </c:pt>
              <c:pt idx="4">
                <c:v>16.48</c:v>
              </c:pt>
              <c:pt idx="5">
                <c:v>16.6</c:v>
              </c:pt>
              <c:pt idx="6">
                <c:v>16.72</c:v>
              </c:pt>
              <c:pt idx="7">
                <c:v>16.84</c:v>
              </c:pt>
              <c:pt idx="8">
                <c:v>16.96</c:v>
              </c:pt>
              <c:pt idx="9">
                <c:v>17.08</c:v>
              </c:pt>
              <c:pt idx="10">
                <c:v>17.2</c:v>
              </c:pt>
              <c:pt idx="11">
                <c:v>17.32</c:v>
              </c:pt>
              <c:pt idx="12">
                <c:v>17.44</c:v>
              </c:pt>
              <c:pt idx="13">
                <c:v>17.56</c:v>
              </c:pt>
              <c:pt idx="14">
                <c:v>17.68</c:v>
              </c:pt>
              <c:pt idx="15">
                <c:v>17.8</c:v>
              </c:pt>
              <c:pt idx="16">
                <c:v>17.92</c:v>
              </c:pt>
              <c:pt idx="17">
                <c:v>18.04</c:v>
              </c:pt>
              <c:pt idx="18">
                <c:v>18.16</c:v>
              </c:pt>
              <c:pt idx="19">
                <c:v>18.28</c:v>
              </c:pt>
              <c:pt idx="20">
                <c:v>18.4</c:v>
              </c:pt>
              <c:pt idx="21">
                <c:v>18.52</c:v>
              </c:pt>
              <c:pt idx="22">
                <c:v>18.64</c:v>
              </c:pt>
              <c:pt idx="23">
                <c:v>18.759999999999998</c:v>
              </c:pt>
              <c:pt idx="24">
                <c:v>18.88</c:v>
              </c:pt>
              <c:pt idx="25">
                <c:v>19</c:v>
              </c:pt>
              <c:pt idx="26">
                <c:v>19.12</c:v>
              </c:pt>
              <c:pt idx="27">
                <c:v>19.240000000000002</c:v>
              </c:pt>
              <c:pt idx="28">
                <c:v>19.36</c:v>
              </c:pt>
              <c:pt idx="29">
                <c:v>19.48</c:v>
              </c:pt>
              <c:pt idx="30">
                <c:v>19.6</c:v>
              </c:pt>
              <c:pt idx="31">
                <c:v>19.72</c:v>
              </c:pt>
              <c:pt idx="32">
                <c:v>19.84</c:v>
              </c:pt>
              <c:pt idx="33">
                <c:v>19.96</c:v>
              </c:pt>
              <c:pt idx="34">
                <c:v>20.08</c:v>
              </c:pt>
              <c:pt idx="35">
                <c:v>20.2</c:v>
              </c:pt>
              <c:pt idx="36">
                <c:v>20.32</c:v>
              </c:pt>
              <c:pt idx="37">
                <c:v>20.44</c:v>
              </c:pt>
              <c:pt idx="38">
                <c:v>20.56</c:v>
              </c:pt>
              <c:pt idx="39">
                <c:v>20.68</c:v>
              </c:pt>
              <c:pt idx="40">
                <c:v>20.8</c:v>
              </c:pt>
              <c:pt idx="41">
                <c:v>20.92</c:v>
              </c:pt>
              <c:pt idx="42">
                <c:v>21.04</c:v>
              </c:pt>
              <c:pt idx="43">
                <c:v>21.16</c:v>
              </c:pt>
              <c:pt idx="44">
                <c:v>21.28</c:v>
              </c:pt>
              <c:pt idx="45">
                <c:v>21.4</c:v>
              </c:pt>
              <c:pt idx="46">
                <c:v>21.52</c:v>
              </c:pt>
              <c:pt idx="47">
                <c:v>21.64</c:v>
              </c:pt>
              <c:pt idx="48">
                <c:v>21.759999999999998</c:v>
              </c:pt>
              <c:pt idx="49">
                <c:v>21.88</c:v>
              </c:pt>
              <c:pt idx="50">
                <c:v>22</c:v>
              </c:pt>
              <c:pt idx="51">
                <c:v>22.12</c:v>
              </c:pt>
              <c:pt idx="52">
                <c:v>22.240000000000002</c:v>
              </c:pt>
              <c:pt idx="53">
                <c:v>22.36</c:v>
              </c:pt>
              <c:pt idx="54">
                <c:v>22.48</c:v>
              </c:pt>
              <c:pt idx="55">
                <c:v>22.6</c:v>
              </c:pt>
              <c:pt idx="56">
                <c:v>22.72</c:v>
              </c:pt>
              <c:pt idx="57">
                <c:v>22.84</c:v>
              </c:pt>
              <c:pt idx="58">
                <c:v>22.96</c:v>
              </c:pt>
              <c:pt idx="59">
                <c:v>23.08</c:v>
              </c:pt>
              <c:pt idx="60">
                <c:v>23.2</c:v>
              </c:pt>
              <c:pt idx="61">
                <c:v>23.32</c:v>
              </c:pt>
              <c:pt idx="62">
                <c:v>23.44</c:v>
              </c:pt>
              <c:pt idx="63">
                <c:v>23.56</c:v>
              </c:pt>
              <c:pt idx="64">
                <c:v>23.68</c:v>
              </c:pt>
              <c:pt idx="65">
                <c:v>23.8</c:v>
              </c:pt>
              <c:pt idx="66">
                <c:v>23.92</c:v>
              </c:pt>
              <c:pt idx="67">
                <c:v>24.04</c:v>
              </c:pt>
              <c:pt idx="68">
                <c:v>24.16</c:v>
              </c:pt>
              <c:pt idx="69">
                <c:v>24.28</c:v>
              </c:pt>
              <c:pt idx="70">
                <c:v>24.4</c:v>
              </c:pt>
              <c:pt idx="71">
                <c:v>24.52</c:v>
              </c:pt>
              <c:pt idx="72">
                <c:v>24.64</c:v>
              </c:pt>
              <c:pt idx="73">
                <c:v>24.759999999999998</c:v>
              </c:pt>
              <c:pt idx="74">
                <c:v>24.880000000000003</c:v>
              </c:pt>
              <c:pt idx="75">
                <c:v>25</c:v>
              </c:pt>
              <c:pt idx="76">
                <c:v>25.119999999999997</c:v>
              </c:pt>
              <c:pt idx="77">
                <c:v>25.240000000000002</c:v>
              </c:pt>
              <c:pt idx="78">
                <c:v>25.36</c:v>
              </c:pt>
              <c:pt idx="79">
                <c:v>25.48</c:v>
              </c:pt>
              <c:pt idx="80">
                <c:v>25.6</c:v>
              </c:pt>
              <c:pt idx="81">
                <c:v>25.72</c:v>
              </c:pt>
              <c:pt idx="82">
                <c:v>25.84</c:v>
              </c:pt>
              <c:pt idx="83">
                <c:v>25.96</c:v>
              </c:pt>
              <c:pt idx="84">
                <c:v>26.08</c:v>
              </c:pt>
              <c:pt idx="85">
                <c:v>26.2</c:v>
              </c:pt>
              <c:pt idx="86">
                <c:v>26.32</c:v>
              </c:pt>
              <c:pt idx="87">
                <c:v>26.439999999999998</c:v>
              </c:pt>
              <c:pt idx="88">
                <c:v>26.560000000000002</c:v>
              </c:pt>
              <c:pt idx="89">
                <c:v>26.68</c:v>
              </c:pt>
              <c:pt idx="90">
                <c:v>26.8</c:v>
              </c:pt>
              <c:pt idx="91">
                <c:v>26.92</c:v>
              </c:pt>
              <c:pt idx="92">
                <c:v>27.04</c:v>
              </c:pt>
              <c:pt idx="93">
                <c:v>27.16</c:v>
              </c:pt>
              <c:pt idx="94">
                <c:v>27.28</c:v>
              </c:pt>
              <c:pt idx="95">
                <c:v>27.4</c:v>
              </c:pt>
              <c:pt idx="96">
                <c:v>27.52</c:v>
              </c:pt>
              <c:pt idx="97">
                <c:v>27.64</c:v>
              </c:pt>
              <c:pt idx="98">
                <c:v>27.759999999999998</c:v>
              </c:pt>
              <c:pt idx="99">
                <c:v>27.880000000000003</c:v>
              </c:pt>
              <c:pt idx="100">
                <c:v>28</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0.020000000000000167</c:v>
              </c:pt>
              <c:pt idx="52">
                <c:v>0.040000000000000334</c:v>
              </c:pt>
              <c:pt idx="53">
                <c:v>0.05999999999999991</c:v>
              </c:pt>
              <c:pt idx="54">
                <c:v>0.08000000000000007</c:v>
              </c:pt>
              <c:pt idx="55">
                <c:v>0.10000000000000024</c:v>
              </c:pt>
              <c:pt idx="56">
                <c:v>0.11999999999999982</c:v>
              </c:pt>
              <c:pt idx="57">
                <c:v>0.13999999999999999</c:v>
              </c:pt>
              <c:pt idx="58">
                <c:v>0.16000000000000014</c:v>
              </c:pt>
              <c:pt idx="59">
                <c:v>0.17999999999999972</c:v>
              </c:pt>
              <c:pt idx="60">
                <c:v>0.19999999999999987</c:v>
              </c:pt>
              <c:pt idx="61">
                <c:v>0.22000000000000006</c:v>
              </c:pt>
              <c:pt idx="62">
                <c:v>0.2400000000000002</c:v>
              </c:pt>
              <c:pt idx="63">
                <c:v>0.2599999999999998</c:v>
              </c:pt>
              <c:pt idx="64">
                <c:v>0.27999999999999997</c:v>
              </c:pt>
              <c:pt idx="65">
                <c:v>0.3000000000000001</c:v>
              </c:pt>
              <c:pt idx="66">
                <c:v>0.3200000000000003</c:v>
              </c:pt>
              <c:pt idx="67">
                <c:v>0.33999999999999986</c:v>
              </c:pt>
              <c:pt idx="68">
                <c:v>0.36000000000000004</c:v>
              </c:pt>
              <c:pt idx="69">
                <c:v>0.38000000000000017</c:v>
              </c:pt>
              <c:pt idx="70">
                <c:v>0.39999999999999974</c:v>
              </c:pt>
              <c:pt idx="71">
                <c:v>0.41999999999999993</c:v>
              </c:pt>
              <c:pt idx="72">
                <c:v>0.4400000000000001</c:v>
              </c:pt>
              <c:pt idx="73">
                <c:v>0.4599999999999997</c:v>
              </c:pt>
              <c:pt idx="74">
                <c:v>0.4800000000000004</c:v>
              </c:pt>
              <c:pt idx="75">
                <c:v>0.5</c:v>
              </c:pt>
              <c:pt idx="76">
                <c:v>0.5199999999999996</c:v>
              </c:pt>
              <c:pt idx="77">
                <c:v>0.5400000000000004</c:v>
              </c:pt>
              <c:pt idx="78">
                <c:v>0.5599999999999999</c:v>
              </c:pt>
              <c:pt idx="79">
                <c:v>0.5800000000000001</c:v>
              </c:pt>
              <c:pt idx="80">
                <c:v>0.6000000000000002</c:v>
              </c:pt>
              <c:pt idx="81">
                <c:v>0.6199999999999998</c:v>
              </c:pt>
              <c:pt idx="82">
                <c:v>0.64</c:v>
              </c:pt>
              <c:pt idx="83">
                <c:v>0.6600000000000001</c:v>
              </c:pt>
              <c:pt idx="84">
                <c:v>0.6799999999999997</c:v>
              </c:pt>
              <c:pt idx="85">
                <c:v>0.6999999999999998</c:v>
              </c:pt>
              <c:pt idx="86">
                <c:v>0.7200000000000001</c:v>
              </c:pt>
              <c:pt idx="87">
                <c:v>0.7399999999999997</c:v>
              </c:pt>
              <c:pt idx="88">
                <c:v>0.7600000000000003</c:v>
              </c:pt>
              <c:pt idx="89">
                <c:v>0.7799999999999999</c:v>
              </c:pt>
              <c:pt idx="90">
                <c:v>0.8000000000000002</c:v>
              </c:pt>
              <c:pt idx="91">
                <c:v>0.8200000000000003</c:v>
              </c:pt>
              <c:pt idx="92">
                <c:v>0.8399999999999999</c:v>
              </c:pt>
              <c:pt idx="93">
                <c:v>0.86</c:v>
              </c:pt>
              <c:pt idx="94">
                <c:v>0.8800000000000002</c:v>
              </c:pt>
              <c:pt idx="95">
                <c:v>0.8999999999999998</c:v>
              </c:pt>
              <c:pt idx="96">
                <c:v>0.9199999999999999</c:v>
              </c:pt>
              <c:pt idx="97">
                <c:v>0.9400000000000001</c:v>
              </c:pt>
              <c:pt idx="98">
                <c:v>0.9599999999999996</c:v>
              </c:pt>
              <c:pt idx="99">
                <c:v>0.9800000000000004</c:v>
              </c:pt>
              <c:pt idx="100">
                <c:v>1</c:v>
              </c:pt>
            </c:numLit>
          </c:yVal>
        </c:ser>
        <c:ser>
          <c:idx val="2"/>
          <c:order val="2"/>
          <c:tx>
            <c:v>Lectura</c:v>
          </c:tx>
          <c:spPr>
            <a:ln xmlns:a="http://schemas.openxmlformats.org/drawingml/2006/main" w="28575">
              <a:solidFill>
                <a:srgbClr val="73808A"/>
              </a:solidFill>
            </a:ln>
          </c:spPr>
          <c:marker>
            <c:symbol val="none"/>
            <c:size val="5"/>
          </c:marker>
          <c:xVal>
            <c:numLit>
              <c:formatCode>General</c:formatCode>
              <c:ptCount val="2"/>
              <c:pt idx="0">
                <c:v>25</c:v>
              </c:pt>
              <c:pt idx="1">
                <c:v>25</c:v>
              </c:pt>
            </c:numLit>
          </c:xVal>
          <c:yVal>
            <c:numLit>
              <c:formatCode>General</c:formatCode>
              <c:ptCount val="2"/>
              <c:pt idx="0">
                <c:v>0</c:v>
              </c:pt>
              <c:pt idx="1">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28"/>
          <c:min val="16"/>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Temperatura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scatterChart>
        <c:ser>
          <c:idx val="0"/>
          <c:order val="0"/>
          <c:tx>
            <c:v>Lectura aproximada</c:v>
          </c:tx>
          <c:spPr>
            <a:ln xmlns:a="http://schemas.openxmlformats.org/drawingml/2006/main" w="28575">
              <a:solidFill>
                <a:srgbClr val="2162A0"/>
              </a:solidFill>
            </a:ln>
          </c:spPr>
          <c:marker>
            <c:symbol val="none"/>
            <c:size val="5"/>
          </c:marker>
          <c:xVal>
            <c:numLit>
              <c:formatCode>General</c:formatCode>
              <c:ptCount val="101"/>
              <c:pt idx="0">
                <c:v>9.85</c:v>
              </c:pt>
              <c:pt idx="1">
                <c:v>9.853</c:v>
              </c:pt>
              <c:pt idx="2">
                <c:v>9.856</c:v>
              </c:pt>
              <c:pt idx="3">
                <c:v>9.859</c:v>
              </c:pt>
              <c:pt idx="4">
                <c:v>9.862</c:v>
              </c:pt>
              <c:pt idx="5">
                <c:v>9.865</c:v>
              </c:pt>
              <c:pt idx="6">
                <c:v>9.868</c:v>
              </c:pt>
              <c:pt idx="7">
                <c:v>9.871</c:v>
              </c:pt>
              <c:pt idx="8">
                <c:v>9.874</c:v>
              </c:pt>
              <c:pt idx="9">
                <c:v>9.876999999999999</c:v>
              </c:pt>
              <c:pt idx="10">
                <c:v>9.879999999999999</c:v>
              </c:pt>
              <c:pt idx="11">
                <c:v>9.883</c:v>
              </c:pt>
              <c:pt idx="12">
                <c:v>9.886</c:v>
              </c:pt>
              <c:pt idx="13">
                <c:v>9.889</c:v>
              </c:pt>
              <c:pt idx="14">
                <c:v>9.892</c:v>
              </c:pt>
              <c:pt idx="15">
                <c:v>9.895</c:v>
              </c:pt>
              <c:pt idx="16">
                <c:v>9.898</c:v>
              </c:pt>
              <c:pt idx="17">
                <c:v>9.901</c:v>
              </c:pt>
              <c:pt idx="18">
                <c:v>9.904</c:v>
              </c:pt>
              <c:pt idx="19">
                <c:v>9.907</c:v>
              </c:pt>
              <c:pt idx="20">
                <c:v>9.91</c:v>
              </c:pt>
              <c:pt idx="21">
                <c:v>9.913</c:v>
              </c:pt>
              <c:pt idx="22">
                <c:v>9.916</c:v>
              </c:pt>
              <c:pt idx="23">
                <c:v>9.919</c:v>
              </c:pt>
              <c:pt idx="24">
                <c:v>9.922</c:v>
              </c:pt>
              <c:pt idx="25">
                <c:v>9.925</c:v>
              </c:pt>
              <c:pt idx="26">
                <c:v>9.927999999999999</c:v>
              </c:pt>
              <c:pt idx="27">
                <c:v>9.931</c:v>
              </c:pt>
              <c:pt idx="28">
                <c:v>9.934</c:v>
              </c:pt>
              <c:pt idx="29">
                <c:v>9.937</c:v>
              </c:pt>
              <c:pt idx="30">
                <c:v>9.94</c:v>
              </c:pt>
              <c:pt idx="31">
                <c:v>9.943</c:v>
              </c:pt>
              <c:pt idx="32">
                <c:v>9.946</c:v>
              </c:pt>
              <c:pt idx="33">
                <c:v>9.949</c:v>
              </c:pt>
              <c:pt idx="34">
                <c:v>9.952</c:v>
              </c:pt>
              <c:pt idx="35">
                <c:v>9.955</c:v>
              </c:pt>
              <c:pt idx="36">
                <c:v>9.958</c:v>
              </c:pt>
              <c:pt idx="37">
                <c:v>9.961</c:v>
              </c:pt>
              <c:pt idx="38">
                <c:v>9.964</c:v>
              </c:pt>
              <c:pt idx="39">
                <c:v>9.967</c:v>
              </c:pt>
              <c:pt idx="40">
                <c:v>9.97</c:v>
              </c:pt>
              <c:pt idx="41">
                <c:v>9.973</c:v>
              </c:pt>
              <c:pt idx="42">
                <c:v>9.975999999999999</c:v>
              </c:pt>
              <c:pt idx="43">
                <c:v>9.979</c:v>
              </c:pt>
              <c:pt idx="44">
                <c:v>9.982</c:v>
              </c:pt>
              <c:pt idx="45">
                <c:v>9.985</c:v>
              </c:pt>
              <c:pt idx="46">
                <c:v>9.988</c:v>
              </c:pt>
              <c:pt idx="47">
                <c:v>9.991</c:v>
              </c:pt>
              <c:pt idx="48">
                <c:v>9.994</c:v>
              </c:pt>
              <c:pt idx="49">
                <c:v>9.997</c:v>
              </c:pt>
              <c:pt idx="50">
                <c:v>10</c:v>
              </c:pt>
              <c:pt idx="51">
                <c:v>10.003</c:v>
              </c:pt>
              <c:pt idx="52">
                <c:v>10.006</c:v>
              </c:pt>
              <c:pt idx="53">
                <c:v>10.009</c:v>
              </c:pt>
              <c:pt idx="54">
                <c:v>10.012</c:v>
              </c:pt>
              <c:pt idx="55">
                <c:v>10.015</c:v>
              </c:pt>
              <c:pt idx="56">
                <c:v>10.018</c:v>
              </c:pt>
              <c:pt idx="57">
                <c:v>10.021</c:v>
              </c:pt>
              <c:pt idx="58">
                <c:v>10.024000000000001</c:v>
              </c:pt>
              <c:pt idx="59">
                <c:v>10.027</c:v>
              </c:pt>
              <c:pt idx="60">
                <c:v>10.03</c:v>
              </c:pt>
              <c:pt idx="61">
                <c:v>10.033</c:v>
              </c:pt>
              <c:pt idx="62">
                <c:v>10.036</c:v>
              </c:pt>
              <c:pt idx="63">
                <c:v>10.039</c:v>
              </c:pt>
              <c:pt idx="64">
                <c:v>10.042</c:v>
              </c:pt>
              <c:pt idx="65">
                <c:v>10.045</c:v>
              </c:pt>
              <c:pt idx="66">
                <c:v>10.048</c:v>
              </c:pt>
              <c:pt idx="67">
                <c:v>10.051</c:v>
              </c:pt>
              <c:pt idx="68">
                <c:v>10.054</c:v>
              </c:pt>
              <c:pt idx="69">
                <c:v>10.057</c:v>
              </c:pt>
              <c:pt idx="70">
                <c:v>10.06</c:v>
              </c:pt>
              <c:pt idx="71">
                <c:v>10.063</c:v>
              </c:pt>
              <c:pt idx="72">
                <c:v>10.066</c:v>
              </c:pt>
              <c:pt idx="73">
                <c:v>10.069</c:v>
              </c:pt>
              <c:pt idx="74">
                <c:v>10.072000000000001</c:v>
              </c:pt>
              <c:pt idx="75">
                <c:v>10.075</c:v>
              </c:pt>
              <c:pt idx="76">
                <c:v>10.078</c:v>
              </c:pt>
              <c:pt idx="77">
                <c:v>10.081</c:v>
              </c:pt>
              <c:pt idx="78">
                <c:v>10.084</c:v>
              </c:pt>
              <c:pt idx="79">
                <c:v>10.087</c:v>
              </c:pt>
              <c:pt idx="80">
                <c:v>10.09</c:v>
              </c:pt>
              <c:pt idx="81">
                <c:v>10.093</c:v>
              </c:pt>
              <c:pt idx="82">
                <c:v>10.096</c:v>
              </c:pt>
              <c:pt idx="83">
                <c:v>10.099</c:v>
              </c:pt>
              <c:pt idx="84">
                <c:v>10.102</c:v>
              </c:pt>
              <c:pt idx="85">
                <c:v>10.105</c:v>
              </c:pt>
              <c:pt idx="86">
                <c:v>10.108</c:v>
              </c:pt>
              <c:pt idx="87">
                <c:v>10.111</c:v>
              </c:pt>
              <c:pt idx="88">
                <c:v>10.114</c:v>
              </c:pt>
              <c:pt idx="89">
                <c:v>10.117</c:v>
              </c:pt>
              <c:pt idx="90">
                <c:v>10.120000000000001</c:v>
              </c:pt>
              <c:pt idx="91">
                <c:v>10.123000000000001</c:v>
              </c:pt>
              <c:pt idx="92">
                <c:v>10.126</c:v>
              </c:pt>
              <c:pt idx="93">
                <c:v>10.129</c:v>
              </c:pt>
              <c:pt idx="94">
                <c:v>10.132</c:v>
              </c:pt>
              <c:pt idx="95">
                <c:v>10.135</c:v>
              </c:pt>
              <c:pt idx="96">
                <c:v>10.138</c:v>
              </c:pt>
              <c:pt idx="97">
                <c:v>10.141</c:v>
              </c:pt>
              <c:pt idx="98">
                <c:v>10.144</c:v>
              </c:pt>
              <c:pt idx="99">
                <c:v>10.147</c:v>
              </c:pt>
              <c:pt idx="100">
                <c:v>10.15</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0.009999999999994492</c:v>
              </c:pt>
              <c:pt idx="18">
                <c:v>0.03999999999999573</c:v>
              </c:pt>
              <c:pt idx="19">
                <c:v>0.06999999999999698</c:v>
              </c:pt>
              <c:pt idx="20">
                <c:v>0.09999999999999823</c:v>
              </c:pt>
              <c:pt idx="21">
                <c:v>0.12999999999999948</c:v>
              </c:pt>
              <c:pt idx="22">
                <c:v>0.1600000000000007</c:v>
              </c:pt>
              <c:pt idx="23">
                <c:v>0.19000000000000195</c:v>
              </c:pt>
              <c:pt idx="24">
                <c:v>0.2200000000000032</c:v>
              </c:pt>
              <c:pt idx="25">
                <c:v>0.25000000000000444</c:v>
              </c:pt>
              <c:pt idx="26">
                <c:v>0.2799999999999879</c:v>
              </c:pt>
              <c:pt idx="27">
                <c:v>0.3099999999999892</c:v>
              </c:pt>
              <c:pt idx="28">
                <c:v>0.3399999999999904</c:v>
              </c:pt>
              <c:pt idx="29">
                <c:v>0.36999999999999167</c:v>
              </c:pt>
              <c:pt idx="30">
                <c:v>0.3999999999999929</c:v>
              </c:pt>
              <c:pt idx="31">
                <c:v>0.42999999999999416</c:v>
              </c:pt>
              <c:pt idx="32">
                <c:v>0.45999999999999536</c:v>
              </c:pt>
              <c:pt idx="33">
                <c:v>0.4899999999999966</c:v>
              </c:pt>
              <c:pt idx="34">
                <c:v>0.5199999999999979</c:v>
              </c:pt>
              <c:pt idx="35">
                <c:v>0.5499999999999992</c:v>
              </c:pt>
              <c:pt idx="36">
                <c:v>0.5800000000000004</c:v>
              </c:pt>
              <c:pt idx="37">
                <c:v>0.6100000000000017</c:v>
              </c:pt>
              <c:pt idx="38">
                <c:v>0.6400000000000028</c:v>
              </c:pt>
              <c:pt idx="39">
                <c:v>0.670000000000004</c:v>
              </c:pt>
              <c:pt idx="40">
                <c:v>0.7000000000000053</c:v>
              </c:pt>
              <c:pt idx="41">
                <c:v>0.7300000000000065</c:v>
              </c:pt>
              <c:pt idx="42">
                <c:v>0.75999999999999</c:v>
              </c:pt>
              <c:pt idx="43">
                <c:v>0.7899999999999913</c:v>
              </c:pt>
              <c:pt idx="44">
                <c:v>0.8199999999999925</c:v>
              </c:pt>
              <c:pt idx="45">
                <c:v>0.8499999999999938</c:v>
              </c:pt>
              <c:pt idx="46">
                <c:v>0.879999999999995</c:v>
              </c:pt>
              <c:pt idx="47">
                <c:v>0.9099999999999963</c:v>
              </c:pt>
              <c:pt idx="48">
                <c:v>0.9399999999999975</c:v>
              </c:pt>
              <c:pt idx="49">
                <c:v>0.9699999999999988</c:v>
              </c:pt>
              <c:pt idx="50">
                <c:v>1</c:v>
              </c:pt>
              <c:pt idx="51">
                <c:v>0.9699999999999988</c:v>
              </c:pt>
              <c:pt idx="52">
                <c:v>0.9399999999999975</c:v>
              </c:pt>
              <c:pt idx="53">
                <c:v>0.9099999999999963</c:v>
              </c:pt>
              <c:pt idx="54">
                <c:v>0.879999999999995</c:v>
              </c:pt>
              <c:pt idx="55">
                <c:v>0.8499999999999938</c:v>
              </c:pt>
              <c:pt idx="56">
                <c:v>0.8199999999999925</c:v>
              </c:pt>
              <c:pt idx="57">
                <c:v>0.7899999999999913</c:v>
              </c:pt>
              <c:pt idx="58">
                <c:v>0.75999999999999</c:v>
              </c:pt>
              <c:pt idx="59">
                <c:v>0.7300000000000065</c:v>
              </c:pt>
              <c:pt idx="60">
                <c:v>0.7000000000000053</c:v>
              </c:pt>
              <c:pt idx="61">
                <c:v>0.670000000000004</c:v>
              </c:pt>
              <c:pt idx="62">
                <c:v>0.6400000000000028</c:v>
              </c:pt>
              <c:pt idx="63">
                <c:v>0.6100000000000017</c:v>
              </c:pt>
              <c:pt idx="64">
                <c:v>0.5800000000000004</c:v>
              </c:pt>
              <c:pt idx="65">
                <c:v>0.5499999999999992</c:v>
              </c:pt>
              <c:pt idx="66">
                <c:v>0.5199999999999979</c:v>
              </c:pt>
              <c:pt idx="67">
                <c:v>0.4899999999999966</c:v>
              </c:pt>
              <c:pt idx="68">
                <c:v>0.45999999999999536</c:v>
              </c:pt>
              <c:pt idx="69">
                <c:v>0.42999999999999416</c:v>
              </c:pt>
              <c:pt idx="70">
                <c:v>0.3999999999999929</c:v>
              </c:pt>
              <c:pt idx="71">
                <c:v>0.36999999999999167</c:v>
              </c:pt>
              <c:pt idx="72">
                <c:v>0.3399999999999904</c:v>
              </c:pt>
              <c:pt idx="73">
                <c:v>0.3099999999999892</c:v>
              </c:pt>
              <c:pt idx="74">
                <c:v>0.2799999999999879</c:v>
              </c:pt>
              <c:pt idx="75">
                <c:v>0.25000000000000444</c:v>
              </c:pt>
              <c:pt idx="76">
                <c:v>0.2200000000000032</c:v>
              </c:pt>
              <c:pt idx="77">
                <c:v>0.19000000000000195</c:v>
              </c:pt>
              <c:pt idx="78">
                <c:v>0.1600000000000007</c:v>
              </c:pt>
              <c:pt idx="79">
                <c:v>0.12999999999999948</c:v>
              </c:pt>
              <c:pt idx="80">
                <c:v>0.09999999999999823</c:v>
              </c:pt>
              <c:pt idx="81">
                <c:v>0.06999999999999698</c:v>
              </c:pt>
              <c:pt idx="82">
                <c:v>0.03999999999999573</c:v>
              </c:pt>
              <c:pt idx="83">
                <c:v>0.009999999999994492</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15"/>
          <c:min val="9.85"/>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Voltaje (V)</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0.1"/>
      </c:valAx>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scatterChart>
        <c:ser>
          <c:idx val="0"/>
          <c:order val="0"/>
          <c:tx>
            <c:v>Arista</c:v>
          </c:tx>
          <c:spPr>
            <a:ln xmlns:a="http://schemas.openxmlformats.org/drawingml/2006/main" w="19050">
              <a:solidFill>
                <a:srgbClr val="2162A0"/>
              </a:solidFill>
            </a:ln>
          </c:spPr>
          <c:marker>
            <c:symbol val="none"/>
          </c:marker>
          <c:xVal>
            <c:numLit>
              <c:formatCode>General</c:formatCode>
              <c:ptCount val="2"/>
              <c:pt idx="0">
                <c:v>0</c:v>
              </c:pt>
              <c:pt idx="1">
                <c:v>1</c:v>
              </c:pt>
            </c:numLit>
          </c:xVal>
          <c:yVal>
            <c:numLit>
              <c:formatCode>General</c:formatCode>
              <c:ptCount val="2"/>
              <c:pt idx="0">
                <c:v>0</c:v>
              </c:pt>
              <c:pt idx="1">
                <c:v>0</c:v>
              </c:pt>
            </c:numLit>
          </c:yVal>
        </c:ser>
        <c:ser>
          <c:idx val="1"/>
          <c:order val="1"/>
          <c:tx>
            <c:v>Arista</c:v>
          </c:tx>
          <c:spPr>
            <a:ln xmlns:a="http://schemas.openxmlformats.org/drawingml/2006/main" w="19050">
              <a:solidFill>
                <a:srgbClr val="2162A0"/>
              </a:solidFill>
            </a:ln>
          </c:spPr>
          <c:marker>
            <c:symbol val="none"/>
          </c:marker>
          <c:xVal>
            <c:numLit>
              <c:formatCode>General</c:formatCode>
              <c:ptCount val="2"/>
              <c:pt idx="0">
                <c:v>0</c:v>
              </c:pt>
              <c:pt idx="1">
                <c:v>0.42</c:v>
              </c:pt>
            </c:numLit>
          </c:xVal>
          <c:yVal>
            <c:numLit>
              <c:formatCode>General</c:formatCode>
              <c:ptCount val="2"/>
              <c:pt idx="0">
                <c:v>0</c:v>
              </c:pt>
              <c:pt idx="1">
                <c:v>0.32</c:v>
              </c:pt>
            </c:numLit>
          </c:yVal>
        </c:ser>
        <c:ser>
          <c:idx val="2"/>
          <c:order val="2"/>
          <c:tx>
            <c:v>Arista</c:v>
          </c:tx>
          <c:spPr>
            <a:ln xmlns:a="http://schemas.openxmlformats.org/drawingml/2006/main" w="19050">
              <a:solidFill>
                <a:srgbClr val="2162A0"/>
              </a:solidFill>
            </a:ln>
          </c:spPr>
          <c:marker>
            <c:symbol val="none"/>
          </c:marker>
          <c:xVal>
            <c:numLit>
              <c:formatCode>General</c:formatCode>
              <c:ptCount val="2"/>
              <c:pt idx="0">
                <c:v>0</c:v>
              </c:pt>
              <c:pt idx="1">
                <c:v>0</c:v>
              </c:pt>
            </c:numLit>
          </c:xVal>
          <c:yVal>
            <c:numLit>
              <c:formatCode>General</c:formatCode>
              <c:ptCount val="2"/>
              <c:pt idx="0">
                <c:v>0</c:v>
              </c:pt>
              <c:pt idx="1">
                <c:v>1</c:v>
              </c:pt>
            </c:numLit>
          </c:yVal>
        </c:ser>
        <c:ser>
          <c:idx val="3"/>
          <c:order val="3"/>
          <c:tx>
            <c:v>Arista</c:v>
          </c:tx>
          <c:spPr>
            <a:ln xmlns:a="http://schemas.openxmlformats.org/drawingml/2006/main" w="19050">
              <a:solidFill>
                <a:srgbClr val="2162A0"/>
              </a:solidFill>
            </a:ln>
          </c:spPr>
          <c:marker>
            <c:symbol val="none"/>
          </c:marker>
          <c:xVal>
            <c:numLit>
              <c:formatCode>General</c:formatCode>
              <c:ptCount val="2"/>
              <c:pt idx="0">
                <c:v>0</c:v>
              </c:pt>
              <c:pt idx="1">
                <c:v>1</c:v>
              </c:pt>
            </c:numLit>
          </c:xVal>
          <c:yVal>
            <c:numLit>
              <c:formatCode>General</c:formatCode>
              <c:ptCount val="2"/>
              <c:pt idx="0">
                <c:v>1</c:v>
              </c:pt>
              <c:pt idx="1">
                <c:v>1</c:v>
              </c:pt>
            </c:numLit>
          </c:yVal>
        </c:ser>
        <c:ser>
          <c:idx val="4"/>
          <c:order val="4"/>
          <c:tx>
            <c:v>Arista</c:v>
          </c:tx>
          <c:spPr>
            <a:ln xmlns:a="http://schemas.openxmlformats.org/drawingml/2006/main" w="19050">
              <a:solidFill>
                <a:srgbClr val="2162A0"/>
              </a:solidFill>
            </a:ln>
          </c:spPr>
          <c:marker>
            <c:symbol val="none"/>
          </c:marker>
          <c:xVal>
            <c:numLit>
              <c:formatCode>General</c:formatCode>
              <c:ptCount val="2"/>
              <c:pt idx="0">
                <c:v>0</c:v>
              </c:pt>
              <c:pt idx="1">
                <c:v>0.42</c:v>
              </c:pt>
            </c:numLit>
          </c:xVal>
          <c:yVal>
            <c:numLit>
              <c:formatCode>General</c:formatCode>
              <c:ptCount val="2"/>
              <c:pt idx="0">
                <c:v>1</c:v>
              </c:pt>
              <c:pt idx="1">
                <c:v>1.32</c:v>
              </c:pt>
            </c:numLit>
          </c:yVal>
        </c:ser>
        <c:ser>
          <c:idx val="5"/>
          <c:order val="5"/>
          <c:tx>
            <c:v>Arista</c:v>
          </c:tx>
          <c:spPr>
            <a:ln xmlns:a="http://schemas.openxmlformats.org/drawingml/2006/main" w="19050">
              <a:solidFill>
                <a:srgbClr val="2162A0"/>
              </a:solidFill>
            </a:ln>
          </c:spPr>
          <c:marker>
            <c:symbol val="none"/>
          </c:marker>
          <c:xVal>
            <c:numLit>
              <c:formatCode>General</c:formatCode>
              <c:ptCount val="2"/>
              <c:pt idx="0">
                <c:v>0.42</c:v>
              </c:pt>
              <c:pt idx="1">
                <c:v>1.42</c:v>
              </c:pt>
            </c:numLit>
          </c:xVal>
          <c:yVal>
            <c:numLit>
              <c:formatCode>General</c:formatCode>
              <c:ptCount val="2"/>
              <c:pt idx="0">
                <c:v>0.32</c:v>
              </c:pt>
              <c:pt idx="1">
                <c:v>0.32</c:v>
              </c:pt>
            </c:numLit>
          </c:yVal>
        </c:ser>
        <c:ser>
          <c:idx val="6"/>
          <c:order val="6"/>
          <c:tx>
            <c:v>Arista</c:v>
          </c:tx>
          <c:spPr>
            <a:ln xmlns:a="http://schemas.openxmlformats.org/drawingml/2006/main" w="19050">
              <a:solidFill>
                <a:srgbClr val="2162A0"/>
              </a:solidFill>
            </a:ln>
          </c:spPr>
          <c:marker>
            <c:symbol val="none"/>
          </c:marker>
          <c:xVal>
            <c:numLit>
              <c:formatCode>General</c:formatCode>
              <c:ptCount val="2"/>
              <c:pt idx="0">
                <c:v>0.42</c:v>
              </c:pt>
              <c:pt idx="1">
                <c:v>0.42</c:v>
              </c:pt>
            </c:numLit>
          </c:xVal>
          <c:yVal>
            <c:numLit>
              <c:formatCode>General</c:formatCode>
              <c:ptCount val="2"/>
              <c:pt idx="0">
                <c:v>0.32</c:v>
              </c:pt>
              <c:pt idx="1">
                <c:v>1.32</c:v>
              </c:pt>
            </c:numLit>
          </c:yVal>
        </c:ser>
        <c:ser>
          <c:idx val="7"/>
          <c:order val="7"/>
          <c:tx>
            <c:v>Arista</c:v>
          </c:tx>
          <c:spPr>
            <a:ln xmlns:a="http://schemas.openxmlformats.org/drawingml/2006/main" w="19050">
              <a:solidFill>
                <a:srgbClr val="2162A0"/>
              </a:solidFill>
            </a:ln>
          </c:spPr>
          <c:marker>
            <c:symbol val="none"/>
          </c:marker>
          <c:xVal>
            <c:numLit>
              <c:formatCode>General</c:formatCode>
              <c:ptCount val="2"/>
              <c:pt idx="0">
                <c:v>0.42</c:v>
              </c:pt>
              <c:pt idx="1">
                <c:v>1.42</c:v>
              </c:pt>
            </c:numLit>
          </c:xVal>
          <c:yVal>
            <c:numLit>
              <c:formatCode>General</c:formatCode>
              <c:ptCount val="2"/>
              <c:pt idx="0">
                <c:v>1.32</c:v>
              </c:pt>
              <c:pt idx="1">
                <c:v>1.32</c:v>
              </c:pt>
            </c:numLit>
          </c:yVal>
        </c:ser>
        <c:ser>
          <c:idx val="8"/>
          <c:order val="8"/>
          <c:tx>
            <c:v>Arista</c:v>
          </c:tx>
          <c:spPr>
            <a:ln xmlns:a="http://schemas.openxmlformats.org/drawingml/2006/main" w="19050">
              <a:solidFill>
                <a:srgbClr val="2162A0"/>
              </a:solidFill>
            </a:ln>
          </c:spPr>
          <c:marker>
            <c:symbol val="none"/>
          </c:marker>
          <c:xVal>
            <c:numLit>
              <c:formatCode>General</c:formatCode>
              <c:ptCount val="2"/>
              <c:pt idx="0">
                <c:v>1</c:v>
              </c:pt>
              <c:pt idx="1">
                <c:v>1.42</c:v>
              </c:pt>
            </c:numLit>
          </c:xVal>
          <c:yVal>
            <c:numLit>
              <c:formatCode>General</c:formatCode>
              <c:ptCount val="2"/>
              <c:pt idx="0">
                <c:v>0</c:v>
              </c:pt>
              <c:pt idx="1">
                <c:v>0.32</c:v>
              </c:pt>
            </c:numLit>
          </c:yVal>
        </c:ser>
        <c:ser>
          <c:idx val="9"/>
          <c:order val="9"/>
          <c:tx>
            <c:v>Arista</c:v>
          </c:tx>
          <c:spPr>
            <a:ln xmlns:a="http://schemas.openxmlformats.org/drawingml/2006/main" w="19050">
              <a:solidFill>
                <a:srgbClr val="2162A0"/>
              </a:solidFill>
            </a:ln>
          </c:spPr>
          <c:marker>
            <c:symbol val="none"/>
          </c:marker>
          <c:xVal>
            <c:numLit>
              <c:formatCode>General</c:formatCode>
              <c:ptCount val="2"/>
              <c:pt idx="0">
                <c:v>1</c:v>
              </c:pt>
              <c:pt idx="1">
                <c:v>1</c:v>
              </c:pt>
            </c:numLit>
          </c:xVal>
          <c:yVal>
            <c:numLit>
              <c:formatCode>General</c:formatCode>
              <c:ptCount val="2"/>
              <c:pt idx="0">
                <c:v>0</c:v>
              </c:pt>
              <c:pt idx="1">
                <c:v>1</c:v>
              </c:pt>
            </c:numLit>
          </c:yVal>
        </c:ser>
        <c:ser>
          <c:idx val="10"/>
          <c:order val="10"/>
          <c:tx>
            <c:v>Arista</c:v>
          </c:tx>
          <c:spPr>
            <a:ln xmlns:a="http://schemas.openxmlformats.org/drawingml/2006/main" w="19050">
              <a:solidFill>
                <a:srgbClr val="2162A0"/>
              </a:solidFill>
            </a:ln>
          </c:spPr>
          <c:marker>
            <c:symbol val="none"/>
          </c:marker>
          <c:xVal>
            <c:numLit>
              <c:formatCode>General</c:formatCode>
              <c:ptCount val="2"/>
              <c:pt idx="0">
                <c:v>1</c:v>
              </c:pt>
              <c:pt idx="1">
                <c:v>1.42</c:v>
              </c:pt>
            </c:numLit>
          </c:xVal>
          <c:yVal>
            <c:numLit>
              <c:formatCode>General</c:formatCode>
              <c:ptCount val="2"/>
              <c:pt idx="0">
                <c:v>1</c:v>
              </c:pt>
              <c:pt idx="1">
                <c:v>1.32</c:v>
              </c:pt>
            </c:numLit>
          </c:yVal>
        </c:ser>
        <c:ser>
          <c:idx val="11"/>
          <c:order val="11"/>
          <c:tx>
            <c:v>Arista</c:v>
          </c:tx>
          <c:spPr>
            <a:ln xmlns:a="http://schemas.openxmlformats.org/drawingml/2006/main" w="19050">
              <a:solidFill>
                <a:srgbClr val="2162A0"/>
              </a:solidFill>
            </a:ln>
          </c:spPr>
          <c:marker>
            <c:symbol val="none"/>
          </c:marker>
          <c:xVal>
            <c:numLit>
              <c:formatCode>General</c:formatCode>
              <c:ptCount val="2"/>
              <c:pt idx="0">
                <c:v>1.42</c:v>
              </c:pt>
              <c:pt idx="1">
                <c:v>1.42</c:v>
              </c:pt>
            </c:numLit>
          </c:xVal>
          <c:yVal>
            <c:numLit>
              <c:formatCode>General</c:formatCode>
              <c:ptCount val="2"/>
              <c:pt idx="0">
                <c:v>0.32</c:v>
              </c:pt>
              <c:pt idx="1">
                <c:v>1.32</c:v>
              </c:pt>
            </c:numLit>
          </c:yVal>
        </c:ser>
        <c:ser>
          <c:idx val="12"/>
          <c:order val="12"/>
          <c:tx>
            <c:v>Perfiles crisp</c:v>
          </c:tx>
          <c:spPr>
            <a:solidFill xmlns:a="http://schemas.openxmlformats.org/drawingml/2006/main">
              <a:srgbClr val="2162A0"/>
            </a:solidFill>
            <a:ln xmlns:a="http://schemas.openxmlformats.org/drawingml/2006/main" w="0">
              <a:noFill/>
            </a:ln>
          </c:spPr>
          <c:marker>
            <c:symbol val="circle"/>
            <c:size val="8"/>
            <c:spPr>
              <a:noFill xmlns:a="http://schemas.openxmlformats.org/drawingml/2006/main"/>
            </c:spPr>
          </c:marker>
          <c:xVal>
            <c:numLit>
              <c:formatCode>General</c:formatCode>
              <c:ptCount val="8"/>
              <c:pt idx="0">
                <c:v>0</c:v>
              </c:pt>
              <c:pt idx="1">
                <c:v>0</c:v>
              </c:pt>
              <c:pt idx="2">
                <c:v>0.42</c:v>
              </c:pt>
              <c:pt idx="3">
                <c:v>0.42</c:v>
              </c:pt>
              <c:pt idx="4">
                <c:v>1</c:v>
              </c:pt>
              <c:pt idx="5">
                <c:v>1</c:v>
              </c:pt>
              <c:pt idx="6">
                <c:v>1.42</c:v>
              </c:pt>
              <c:pt idx="7">
                <c:v>1.42</c:v>
              </c:pt>
            </c:numLit>
          </c:xVal>
          <c:yVal>
            <c:numLit>
              <c:formatCode>General</c:formatCode>
              <c:ptCount val="8"/>
              <c:pt idx="0">
                <c:v>0</c:v>
              </c:pt>
              <c:pt idx="1">
                <c:v>1</c:v>
              </c:pt>
              <c:pt idx="2">
                <c:v>0.32</c:v>
              </c:pt>
              <c:pt idx="3">
                <c:v>1.32</c:v>
              </c:pt>
              <c:pt idx="4">
                <c:v>0</c:v>
              </c:pt>
              <c:pt idx="5">
                <c:v>1</c:v>
              </c:pt>
              <c:pt idx="6">
                <c:v>0.32</c:v>
              </c:pt>
              <c:pt idx="7">
                <c:v>1.32</c:v>
              </c:pt>
            </c:numLit>
          </c:yVal>
        </c:ser>
        <c:ser>
          <c:idx val="13"/>
          <c:order val="13"/>
          <c:tx>
            <c:v>Centro</c:v>
          </c:tx>
          <c:spPr>
            <a:solidFill xmlns:a="http://schemas.openxmlformats.org/drawingml/2006/main">
              <a:srgbClr val="D96B18"/>
            </a:solidFill>
            <a:ln xmlns:a="http://schemas.openxmlformats.org/drawingml/2006/main" w="0">
              <a:noFill/>
            </a:ln>
          </c:spPr>
          <c:marker>
            <c:symbol val="circle"/>
            <c:size val="12"/>
            <c:spPr>
              <a:noFill xmlns:a="http://schemas.openxmlformats.org/drawingml/2006/main"/>
            </c:spPr>
          </c:marker>
          <c:xVal>
            <c:numLit>
              <c:formatCode>General</c:formatCode>
              <c:ptCount val="1"/>
              <c:pt idx="0">
                <c:v>0.71</c:v>
              </c:pt>
            </c:numLit>
          </c:xVal>
          <c:yVal>
            <c:numLit>
              <c:formatCode>General</c:formatCode>
              <c:ptCount val="1"/>
              <c:pt idx="0">
                <c:v>0.66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43"/>
          <c:min val="-0.12"/>
        </c:scaling>
        <c:delete val="0"/>
        <c:axPos val="l"/>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1.55"/>
          <c:min val="-0.1"/>
        </c:scaling>
        <c:delete val="0"/>
        <c:axPos val="b"/>
        <c:numFmt formatCode="General"/>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scatterChart>
        <c:scatterStyle val="line"/>
        <c:ser>
          <c:idx val="0"/>
          <c:order val="0"/>
          <c:tx>
            <c:v>Triangular · a &lt; b &lt; c</c:v>
          </c:tx>
          <c:spPr>
            <a:ln xmlns:a="http://schemas.openxmlformats.org/drawingml/2006/main" w="28575">
              <a:solidFill>
                <a:srgbClr val="2162A0"/>
              </a:solidFill>
            </a:ln>
          </c:spPr>
          <c:marker>
            <c:symbol val="none"/>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0.03333333333333336</c:v>
              </c:pt>
              <c:pt idx="22">
                <c:v>0.06666666666666672</c:v>
              </c:pt>
              <c:pt idx="23">
                <c:v>0.09999999999999994</c:v>
              </c:pt>
              <c:pt idx="24">
                <c:v>0.1333333333333333</c:v>
              </c:pt>
              <c:pt idx="25">
                <c:v>0.16666666666666666</c:v>
              </c:pt>
              <c:pt idx="26">
                <c:v>0.20000000000000004</c:v>
              </c:pt>
              <c:pt idx="27">
                <c:v>0.2333333333333334</c:v>
              </c:pt>
              <c:pt idx="28">
                <c:v>0.2666666666666666</c:v>
              </c:pt>
              <c:pt idx="29">
                <c:v>0.3</c:v>
              </c:pt>
              <c:pt idx="30">
                <c:v>0.3333333333333333</c:v>
              </c:pt>
              <c:pt idx="31">
                <c:v>0.3666666666666667</c:v>
              </c:pt>
              <c:pt idx="32">
                <c:v>0.4000000000000001</c:v>
              </c:pt>
              <c:pt idx="33">
                <c:v>0.4333333333333333</c:v>
              </c:pt>
              <c:pt idx="34">
                <c:v>0.4666666666666666</c:v>
              </c:pt>
              <c:pt idx="35">
                <c:v>0.5</c:v>
              </c:pt>
              <c:pt idx="36">
                <c:v>0.5333333333333333</c:v>
              </c:pt>
              <c:pt idx="37">
                <c:v>0.5666666666666668</c:v>
              </c:pt>
              <c:pt idx="38">
                <c:v>0.6</c:v>
              </c:pt>
              <c:pt idx="39">
                <c:v>0.6333333333333333</c:v>
              </c:pt>
              <c:pt idx="40">
                <c:v>0.6666666666666666</c:v>
              </c:pt>
              <c:pt idx="41">
                <c:v>0.6999999999999998</c:v>
              </c:pt>
              <c:pt idx="42">
                <c:v>0.7333333333333334</c:v>
              </c:pt>
              <c:pt idx="43">
                <c:v>0.7666666666666666</c:v>
              </c:pt>
              <c:pt idx="44">
                <c:v>0.8000000000000002</c:v>
              </c:pt>
              <c:pt idx="45">
                <c:v>0.8333333333333334</c:v>
              </c:pt>
              <c:pt idx="46">
                <c:v>0.8666666666666666</c:v>
              </c:pt>
              <c:pt idx="47">
                <c:v>0.9</c:v>
              </c:pt>
              <c:pt idx="48">
                <c:v>0.9333333333333332</c:v>
              </c:pt>
              <c:pt idx="49">
                <c:v>0.9666666666666668</c:v>
              </c:pt>
              <c:pt idx="50">
                <c:v>1</c:v>
              </c:pt>
              <c:pt idx="51">
                <c:v>0.9666666666666668</c:v>
              </c:pt>
              <c:pt idx="52">
                <c:v>0.9333333333333332</c:v>
              </c:pt>
              <c:pt idx="53">
                <c:v>0.9</c:v>
              </c:pt>
              <c:pt idx="54">
                <c:v>0.8666666666666666</c:v>
              </c:pt>
              <c:pt idx="55">
                <c:v>0.8333333333333334</c:v>
              </c:pt>
              <c:pt idx="56">
                <c:v>0.8000000000000002</c:v>
              </c:pt>
              <c:pt idx="57">
                <c:v>0.7666666666666666</c:v>
              </c:pt>
              <c:pt idx="58">
                <c:v>0.7333333333333334</c:v>
              </c:pt>
              <c:pt idx="59">
                <c:v>0.6999999999999998</c:v>
              </c:pt>
              <c:pt idx="60">
                <c:v>0.6666666666666666</c:v>
              </c:pt>
              <c:pt idx="61">
                <c:v>0.6333333333333334</c:v>
              </c:pt>
              <c:pt idx="62">
                <c:v>0.6</c:v>
              </c:pt>
              <c:pt idx="63">
                <c:v>0.5666666666666668</c:v>
              </c:pt>
              <c:pt idx="64">
                <c:v>0.5333333333333332</c:v>
              </c:pt>
              <c:pt idx="65">
                <c:v>0.5</c:v>
              </c:pt>
              <c:pt idx="66">
                <c:v>0.4666666666666668</c:v>
              </c:pt>
              <c:pt idx="67">
                <c:v>0.4333333333333333</c:v>
              </c:pt>
              <c:pt idx="68">
                <c:v>0.4000000000000001</c:v>
              </c:pt>
              <c:pt idx="69">
                <c:v>0.36666666666666653</c:v>
              </c:pt>
              <c:pt idx="70">
                <c:v>0.3333333333333333</c:v>
              </c:pt>
              <c:pt idx="71">
                <c:v>0.3000000000000001</c:v>
              </c:pt>
              <c:pt idx="72">
                <c:v>0.2666666666666666</c:v>
              </c:pt>
              <c:pt idx="73">
                <c:v>0.2333333333333334</c:v>
              </c:pt>
              <c:pt idx="74">
                <c:v>0.19999999999999987</c:v>
              </c:pt>
              <c:pt idx="75">
                <c:v>0.16666666666666666</c:v>
              </c:pt>
              <c:pt idx="76">
                <c:v>0.13333333333333344</c:v>
              </c:pt>
              <c:pt idx="77">
                <c:v>0.09999999999999994</c:v>
              </c:pt>
              <c:pt idx="78">
                <c:v>0.06666666666666672</c:v>
              </c:pt>
              <c:pt idx="79">
                <c:v>0.033333333333333215</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1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1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2"/>
      </c:valAx>
    </c:plotArea>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plotArea>
      <c:scatterChart>
        <c:scatterStyle val="line"/>
        <c:ser>
          <c:idx val="0"/>
          <c:order val="0"/>
          <c:tx>
            <c:v>Trapezoidal · a &lt; b ≤ c &lt; d</c:v>
          </c:tx>
          <c:spPr>
            <a:ln xmlns:a="http://schemas.openxmlformats.org/drawingml/2006/main" w="28575">
              <a:solidFill>
                <a:srgbClr val="2162A0"/>
              </a:solidFill>
            </a:ln>
          </c:spPr>
          <c:marker>
            <c:symbol val="none"/>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0.050000000000000044</c:v>
              </c:pt>
              <c:pt idx="12">
                <c:v>0.09999999999999998</c:v>
              </c:pt>
              <c:pt idx="13">
                <c:v>0.15000000000000002</c:v>
              </c:pt>
              <c:pt idx="14">
                <c:v>0.19999999999999996</c:v>
              </c:pt>
              <c:pt idx="15">
                <c:v>0.25</c:v>
              </c:pt>
              <c:pt idx="16">
                <c:v>0.30000000000000004</c:v>
              </c:pt>
              <c:pt idx="17">
                <c:v>0.35</c:v>
              </c:pt>
              <c:pt idx="18">
                <c:v>0.4</c:v>
              </c:pt>
              <c:pt idx="19">
                <c:v>0.44999999999999996</c:v>
              </c:pt>
              <c:pt idx="20">
                <c:v>0.5</c:v>
              </c:pt>
              <c:pt idx="21">
                <c:v>0.55</c:v>
              </c:pt>
              <c:pt idx="22">
                <c:v>0.6000000000000001</c:v>
              </c:pt>
              <c:pt idx="23">
                <c:v>0.6499999999999999</c:v>
              </c:pt>
              <c:pt idx="24">
                <c:v>0.7</c:v>
              </c:pt>
              <c:pt idx="25">
                <c:v>0.75</c:v>
              </c:pt>
              <c:pt idx="26">
                <c:v>0.8</c:v>
              </c:pt>
              <c:pt idx="27">
                <c:v>0.8500000000000001</c:v>
              </c:pt>
              <c:pt idx="28">
                <c:v>0.8999999999999999</c:v>
              </c:pt>
              <c:pt idx="29">
                <c:v>0.95</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0.9500000000000002</c:v>
              </c:pt>
              <c:pt idx="72">
                <c:v>0.8999999999999999</c:v>
              </c:pt>
              <c:pt idx="73">
                <c:v>0.8500000000000001</c:v>
              </c:pt>
              <c:pt idx="74">
                <c:v>0.7999999999999998</c:v>
              </c:pt>
              <c:pt idx="75">
                <c:v>0.75</c:v>
              </c:pt>
              <c:pt idx="76">
                <c:v>0.7000000000000002</c:v>
              </c:pt>
              <c:pt idx="77">
                <c:v>0.6499999999999999</c:v>
              </c:pt>
              <c:pt idx="78">
                <c:v>0.6000000000000001</c:v>
              </c:pt>
              <c:pt idx="79">
                <c:v>0.5499999999999998</c:v>
              </c:pt>
              <c:pt idx="80">
                <c:v>0.5</c:v>
              </c:pt>
              <c:pt idx="81">
                <c:v>0.4500000000000002</c:v>
              </c:pt>
              <c:pt idx="82">
                <c:v>0.40000000000000036</c:v>
              </c:pt>
              <c:pt idx="83">
                <c:v>0.34999999999999964</c:v>
              </c:pt>
              <c:pt idx="84">
                <c:v>0.2999999999999998</c:v>
              </c:pt>
              <c:pt idx="85">
                <c:v>0.25</c:v>
              </c:pt>
              <c:pt idx="86">
                <c:v>0.20000000000000018</c:v>
              </c:pt>
              <c:pt idx="87">
                <c:v>0.15000000000000036</c:v>
              </c:pt>
              <c:pt idx="88">
                <c:v>0.09999999999999964</c:v>
              </c:pt>
              <c:pt idx="89">
                <c:v>0.04999999999999982</c:v>
              </c:pt>
              <c:pt idx="90">
                <c:v>0</c:v>
              </c:pt>
              <c:pt idx="91">
                <c:v>0</c:v>
              </c:pt>
              <c:pt idx="92">
                <c:v>0</c:v>
              </c:pt>
              <c:pt idx="93">
                <c:v>0</c:v>
              </c:pt>
              <c:pt idx="94">
                <c:v>0</c:v>
              </c:pt>
              <c:pt idx="95">
                <c:v>0</c:v>
              </c:pt>
              <c:pt idx="96">
                <c:v>0</c:v>
              </c:pt>
              <c:pt idx="97">
                <c:v>0</c:v>
              </c:pt>
              <c:pt idx="98">
                <c:v>0</c:v>
              </c:pt>
              <c:pt idx="99">
                <c:v>0</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1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1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2"/>
      </c:valAx>
    </c:plotArea>
    <c:plotVisOnly val="1"/>
  </c:chart>
  <c:spPr>
    <a:solidFill xmlns:a="http://schemas.openxmlformats.org/drawingml/2006/main">
      <a:srgbClr val="FFFFFF"/>
    </a:solidFill>
  </c:spPr>
</c:chartSpace>
</file>

<file path=ppt/slides/charts/chart10.xml><?xml version="1.0" encoding="utf-8"?>
<c:chartSpace xmlns:c="http://schemas.openxmlformats.org/drawingml/2006/chart">
  <c:lang val="en-US"/>
  <c:chart>
    <c:plotArea>
      <c:scatterChart>
        <c:scatterStyle val="line"/>
        <c:ser>
          <c:idx val="0"/>
          <c:order val="0"/>
          <c:tx>
            <c:v>Gaussiana · sigma &gt; 0</c:v>
          </c:tx>
          <c:spPr>
            <a:ln xmlns:a="http://schemas.openxmlformats.org/drawingml/2006/main" w="28575">
              <a:solidFill>
                <a:srgbClr val="2162A0"/>
              </a:solidFill>
            </a:ln>
          </c:spPr>
          <c:marker>
            <c:symbol val="none"/>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0.0006134267461370622</c:v>
              </c:pt>
              <c:pt idx="1">
                <c:v>0.000822180750585008</c:v>
              </c:pt>
              <c:pt idx="2">
                <c:v>0.0010954740934747866</c:v>
              </c:pt>
              <c:pt idx="3">
                <c:v>0.0014509990517721071</c:v>
              </c:pt>
              <c:pt idx="4">
                <c:v>0.0019105673682673003</c:v>
              </c:pt>
              <c:pt idx="5">
                <c:v>0.0025008508616426468</c:v>
              </c:pt>
              <c:pt idx="6">
                <c:v>0.003254194006977994</c:v>
              </c:pt>
              <c:pt idx="7">
                <c:v>0.004209488221848627</c:v>
              </c:pt>
              <c:pt idx="8">
                <c:v>0.00541309148006536</c:v>
              </c:pt>
              <c:pt idx="9">
                <c:v>0.006919769763579508</c:v>
              </c:pt>
              <c:pt idx="10">
                <c:v>0.008793628879684868</c:v>
              </c:pt>
              <c:pt idx="11">
                <c:v>0.011108996538242306</c:v>
              </c:pt>
              <c:pt idx="12">
                <c:v>0.013951205633448241</c:v>
              </c:pt>
              <c:pt idx="13">
                <c:v>0.01741722085321561</c:v>
              </c:pt>
              <c:pt idx="14">
                <c:v>0.02161604260814102</c:v>
              </c:pt>
              <c:pt idx="15">
                <c:v>0.026668815498487194</c:v>
              </c:pt>
              <c:pt idx="16">
                <c:v>0.0327085638740058</c:v>
              </c:pt>
              <c:pt idx="17">
                <c:v>0.039879475292889724</c:v>
              </c:pt>
              <c:pt idx="18">
                <c:v>0.048335654665708876</c:v>
              </c:pt>
              <c:pt idx="19">
                <c:v>0.058239278342236266</c:v>
              </c:pt>
              <c:pt idx="20">
                <c:v>0.06975808901308159</c:v>
              </c:pt>
              <c:pt idx="21">
                <c:v>0.08306218951588741</c:v>
              </c:pt>
              <c:pt idx="22">
                <c:v>0.09832011665728238</c:v>
              </c:pt>
              <c:pt idx="23">
                <c:v>0.1156942048541658</c:v>
              </c:pt>
              <c:pt idx="24">
                <c:v>0.1353352832366127</c:v>
              </c:pt>
              <c:pt idx="25">
                <c:v>0.15737678788176732</c:v>
              </c:pt>
              <c:pt idx="26">
                <c:v>0.18192841165599005</c:v>
              </c:pt>
              <c:pt idx="27">
                <c:v>0.20906945588916526</c:v>
              </c:pt>
              <c:pt idx="28">
                <c:v>0.23884208856496578</c:v>
              </c:pt>
              <c:pt idx="29">
                <c:v>0.2712447503642366</c:v>
              </c:pt>
              <c:pt idx="30">
                <c:v>0.3062259800580424</c:v>
              </c:pt>
              <c:pt idx="31">
                <c:v>0.3436789517169686</c:v>
              </c:pt>
              <c:pt idx="32">
                <c:v>0.38343702546575154</c:v>
              </c:pt>
              <c:pt idx="33">
                <c:v>0.4252706089254702</c:v>
              </c:pt>
              <c:pt idx="34">
                <c:v>0.46888560648317157</c:v>
              </c:pt>
              <c:pt idx="35">
                <c:v>0.5139236973033376</c:v>
              </c:pt>
              <c:pt idx="36">
                <c:v>0.5599646306480001</c:v>
              </c:pt>
              <c:pt idx="37">
                <c:v>0.6065306597126335</c:v>
              </c:pt>
              <c:pt idx="38">
                <c:v>0.653093154969842</c:v>
              </c:pt>
              <c:pt idx="39">
                <c:v>0.699081348109621</c:v>
              </c:pt>
              <c:pt idx="40">
                <c:v>0.7438930621376465</c:v>
              </c:pt>
              <c:pt idx="41">
                <c:v>0.7869071868117634</c:v>
              </c:pt>
              <c:pt idx="42">
                <c:v>0.8274975665783693</c:v>
              </c:pt>
              <c:pt idx="43">
                <c:v>0.8650478858648663</c:v>
              </c:pt>
              <c:pt idx="44">
                <c:v>0.8989670691281667</c:v>
              </c:pt>
              <c:pt idx="45">
                <c:v>0.9287046650192516</c:v>
              </c:pt>
              <c:pt idx="46">
                <c:v>0.953765659060199</c:v>
              </c:pt>
              <c:pt idx="47">
                <c:v>0.9737241598049973</c:v>
              </c:pt>
              <c:pt idx="48">
                <c:v>0.9882354306130865</c:v>
              </c:pt>
              <c:pt idx="49">
                <c:v>0.9970457924028208</c:v>
              </c:pt>
              <c:pt idx="50">
                <c:v>1</c:v>
              </c:pt>
              <c:pt idx="51">
                <c:v>0.9970457924028208</c:v>
              </c:pt>
              <c:pt idx="52">
                <c:v>0.9882354306130865</c:v>
              </c:pt>
              <c:pt idx="53">
                <c:v>0.9737241598049973</c:v>
              </c:pt>
              <c:pt idx="54">
                <c:v>0.953765659060199</c:v>
              </c:pt>
              <c:pt idx="55">
                <c:v>0.9287046650192516</c:v>
              </c:pt>
              <c:pt idx="56">
                <c:v>0.8989670691281667</c:v>
              </c:pt>
              <c:pt idx="57">
                <c:v>0.8650478858648663</c:v>
              </c:pt>
              <c:pt idx="58">
                <c:v>0.8274975665783693</c:v>
              </c:pt>
              <c:pt idx="59">
                <c:v>0.7869071868117634</c:v>
              </c:pt>
              <c:pt idx="60">
                <c:v>0.7438930621376465</c:v>
              </c:pt>
              <c:pt idx="61">
                <c:v>0.6990813481096212</c:v>
              </c:pt>
              <c:pt idx="62">
                <c:v>0.653093154969842</c:v>
              </c:pt>
              <c:pt idx="63">
                <c:v>0.6065306597126335</c:v>
              </c:pt>
              <c:pt idx="64">
                <c:v>0.559964630648</c:v>
              </c:pt>
              <c:pt idx="65">
                <c:v>0.5139236973033376</c:v>
              </c:pt>
              <c:pt idx="66">
                <c:v>0.4688856064831718</c:v>
              </c:pt>
              <c:pt idx="67">
                <c:v>0.4252706089254702</c:v>
              </c:pt>
              <c:pt idx="68">
                <c:v>0.38343702546575154</c:v>
              </c:pt>
              <c:pt idx="69">
                <c:v>0.3436789517169685</c:v>
              </c:pt>
              <c:pt idx="70">
                <c:v>0.3062259800580424</c:v>
              </c:pt>
              <c:pt idx="71">
                <c:v>0.2712447503642368</c:v>
              </c:pt>
              <c:pt idx="72">
                <c:v>0.23884208856496578</c:v>
              </c:pt>
              <c:pt idx="73">
                <c:v>0.20906945588916526</c:v>
              </c:pt>
              <c:pt idx="74">
                <c:v>0.18192841165598994</c:v>
              </c:pt>
              <c:pt idx="75">
                <c:v>0.15737678788176732</c:v>
              </c:pt>
              <c:pt idx="76">
                <c:v>0.1353352832366128</c:v>
              </c:pt>
              <c:pt idx="77">
                <c:v>0.1156942048541658</c:v>
              </c:pt>
              <c:pt idx="78">
                <c:v>0.09832011665728238</c:v>
              </c:pt>
              <c:pt idx="79">
                <c:v>0.08306218951588741</c:v>
              </c:pt>
              <c:pt idx="80">
                <c:v>0.06975808901308159</c:v>
              </c:pt>
              <c:pt idx="81">
                <c:v>0.05823927834223634</c:v>
              </c:pt>
              <c:pt idx="82">
                <c:v>0.04833565466570899</c:v>
              </c:pt>
              <c:pt idx="83">
                <c:v>0.03987947529288969</c:v>
              </c:pt>
              <c:pt idx="84">
                <c:v>0.0327085638740058</c:v>
              </c:pt>
              <c:pt idx="85">
                <c:v>0.026668815498487194</c:v>
              </c:pt>
              <c:pt idx="86">
                <c:v>0.021616042608141036</c:v>
              </c:pt>
              <c:pt idx="87">
                <c:v>0.017417220853215655</c:v>
              </c:pt>
              <c:pt idx="88">
                <c:v>0.013951205633448215</c:v>
              </c:pt>
              <c:pt idx="89">
                <c:v>0.011108996538242306</c:v>
              </c:pt>
              <c:pt idx="90">
                <c:v>0.008793628879684868</c:v>
              </c:pt>
              <c:pt idx="91">
                <c:v>0.006919769763579508</c:v>
              </c:pt>
              <c:pt idx="92">
                <c:v>0.005413091480065375</c:v>
              </c:pt>
              <c:pt idx="93">
                <c:v>0.004209488221848624</c:v>
              </c:pt>
              <c:pt idx="94">
                <c:v>0.003254194006977994</c:v>
              </c:pt>
              <c:pt idx="95">
                <c:v>0.0025008508616426468</c:v>
              </c:pt>
              <c:pt idx="96">
                <c:v>0.0019105673682673003</c:v>
              </c:pt>
              <c:pt idx="97">
                <c:v>0.001450999051772111</c:v>
              </c:pt>
              <c:pt idx="98">
                <c:v>0.0010954740934747847</c:v>
              </c:pt>
              <c:pt idx="99">
                <c:v>0.000822180750585008</c:v>
              </c:pt>
              <c:pt idx="100">
                <c:v>0.0006134267461370622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1E7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10"/>
          <c:min val="0"/>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2"/>
      </c:valAx>
    </c:plotArea>
    <c:plotVisOnly val="1"/>
  </c:chart>
  <c:spPr>
    <a:solidFill xmlns:a="http://schemas.openxmlformats.org/drawingml/2006/main">
      <a:srgbClr val="FFFFFF"/>
    </a:solidFill>
  </c:spPr>
</c:chartSpace>
</file>

<file path=ppt/slides/charts/chart11.xml><?xml version="1.0" encoding="utf-8"?>
<c:chartSpace xmlns:c="http://schemas.openxmlformats.org/drawingml/2006/chart">
  <c:lang val="en-US"/>
  <c:chart>
    <c:plotArea>
      <c:scatterChart>
        <c:scatterStyle val="line"/>
        <c:ser>
          <c:idx val="0"/>
          <c:order val="0"/>
          <c:tx>
            <c:v>Extra rápido</c:v>
          </c:tx>
          <c:spPr>
            <a:ln xmlns:a="http://schemas.openxmlformats.org/drawingml/2006/main" w="28575">
              <a:solidFill>
                <a:srgbClr val="2162A0"/>
              </a:solidFill>
            </a:ln>
          </c:spPr>
          <c:marker>
            <c:symbol val="none"/>
          </c:marker>
          <c:xVal>
            <c:numLit>
              <c:formatCode>General</c:formatCode>
              <c:ptCount val="20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20</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30</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40</c:v>
              </c:pt>
            </c:numLit>
          </c:xVal>
          <c:yVal>
            <c:numLit>
              <c:formatCode>General</c:formatCode>
              <c:ptCount val="201"/>
              <c:pt idx="0">
                <c:v>1</c:v>
              </c:pt>
              <c:pt idx="1">
                <c:v>1</c:v>
              </c:pt>
              <c:pt idx="2">
                <c:v>1</c:v>
              </c:pt>
              <c:pt idx="3">
                <c:v>1</c:v>
              </c:pt>
              <c:pt idx="4">
                <c:v>1</c:v>
              </c:pt>
              <c:pt idx="5">
                <c:v>1</c:v>
              </c:pt>
              <c:pt idx="6">
                <c:v>1</c:v>
              </c:pt>
              <c:pt idx="7">
                <c:v>1</c:v>
              </c:pt>
              <c:pt idx="8">
                <c:v>1</c:v>
              </c:pt>
              <c:pt idx="9">
                <c:v>1</c:v>
              </c:pt>
              <c:pt idx="10">
                <c:v>1</c:v>
              </c:pt>
              <c:pt idx="11">
                <c:v>0.9333333333333332</c:v>
              </c:pt>
              <c:pt idx="12">
                <c:v>0.8666666666666667</c:v>
              </c:pt>
              <c:pt idx="13">
                <c:v>0.7999999999999999</c:v>
              </c:pt>
              <c:pt idx="14">
                <c:v>0.7333333333333334</c:v>
              </c:pt>
              <c:pt idx="15">
                <c:v>0.6666666666666667</c:v>
              </c:pt>
              <c:pt idx="16">
                <c:v>0.5999999999999999</c:v>
              </c:pt>
              <c:pt idx="17">
                <c:v>0.5333333333333334</c:v>
              </c:pt>
              <c:pt idx="18">
                <c:v>0.4666666666666667</c:v>
              </c:pt>
              <c:pt idx="19">
                <c:v>0.4</c:v>
              </c:pt>
              <c:pt idx="20">
                <c:v>0.33333333333333337</c:v>
              </c:pt>
              <c:pt idx="21">
                <c:v>0.2666666666666666</c:v>
              </c:pt>
              <c:pt idx="22">
                <c:v>0.19999999999999984</c:v>
              </c:pt>
              <c:pt idx="23">
                <c:v>0.13333333333333341</c:v>
              </c:pt>
              <c:pt idx="24">
                <c:v>0.06666666666666676</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Lit>
          </c:yVal>
        </c:ser>
        <c:ser>
          <c:idx val="1"/>
          <c:order val="1"/>
          <c:tx>
            <c:v>Rápido</c:v>
          </c:tx>
          <c:spPr>
            <a:ln xmlns:a="http://schemas.openxmlformats.org/drawingml/2006/main" w="28575">
              <a:solidFill>
                <a:srgbClr val="D96B18"/>
              </a:solidFill>
            </a:ln>
          </c:spPr>
          <c:marker>
            <c:symbol val="none"/>
          </c:marker>
          <c:xVal>
            <c:numLit>
              <c:formatCode>General</c:formatCode>
              <c:ptCount val="20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20</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30</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40</c:v>
              </c:pt>
            </c:numLit>
          </c:xVal>
          <c:yVal>
            <c:numLit>
              <c:formatCode>General</c:formatCode>
              <c:ptCount val="201"/>
              <c:pt idx="0">
                <c:v>0</c:v>
              </c:pt>
              <c:pt idx="1">
                <c:v>0</c:v>
              </c:pt>
              <c:pt idx="2">
                <c:v>0</c:v>
              </c:pt>
              <c:pt idx="3">
                <c:v>0</c:v>
              </c:pt>
              <c:pt idx="4">
                <c:v>0</c:v>
              </c:pt>
              <c:pt idx="5">
                <c:v>0</c:v>
              </c:pt>
              <c:pt idx="6">
                <c:v>0</c:v>
              </c:pt>
              <c:pt idx="7">
                <c:v>0</c:v>
              </c:pt>
              <c:pt idx="8">
                <c:v>0</c:v>
              </c:pt>
              <c:pt idx="9">
                <c:v>0</c:v>
              </c:pt>
              <c:pt idx="10">
                <c:v>0</c:v>
              </c:pt>
              <c:pt idx="11">
                <c:v>0.03333333333333336</c:v>
              </c:pt>
              <c:pt idx="12">
                <c:v>0.06666666666666665</c:v>
              </c:pt>
              <c:pt idx="13">
                <c:v>0.10000000000000002</c:v>
              </c:pt>
              <c:pt idx="14">
                <c:v>0.1333333333333333</c:v>
              </c:pt>
              <c:pt idx="15">
                <c:v>0.16666666666666666</c:v>
              </c:pt>
              <c:pt idx="16">
                <c:v>0.20000000000000004</c:v>
              </c:pt>
              <c:pt idx="17">
                <c:v>0.2333333333333333</c:v>
              </c:pt>
              <c:pt idx="18">
                <c:v>0.26666666666666666</c:v>
              </c:pt>
              <c:pt idx="19">
                <c:v>0.3</c:v>
              </c:pt>
              <c:pt idx="20">
                <c:v>0.3333333333333333</c:v>
              </c:pt>
              <c:pt idx="21">
                <c:v>0.3666666666666667</c:v>
              </c:pt>
              <c:pt idx="22">
                <c:v>0.4000000000000001</c:v>
              </c:pt>
              <c:pt idx="23">
                <c:v>0.4333333333333333</c:v>
              </c:pt>
              <c:pt idx="24">
                <c:v>0.4666666666666666</c:v>
              </c:pt>
              <c:pt idx="25">
                <c:v>0.5</c:v>
              </c:pt>
              <c:pt idx="26">
                <c:v>0.5333333333333333</c:v>
              </c:pt>
              <c:pt idx="27">
                <c:v>0.5666666666666668</c:v>
              </c:pt>
              <c:pt idx="28">
                <c:v>0.6</c:v>
              </c:pt>
              <c:pt idx="29">
                <c:v>0.6333333333333333</c:v>
              </c:pt>
              <c:pt idx="30">
                <c:v>0.6666666666666666</c:v>
              </c:pt>
              <c:pt idx="31">
                <c:v>0.7000000000000001</c:v>
              </c:pt>
              <c:pt idx="32">
                <c:v>0.7333333333333334</c:v>
              </c:pt>
              <c:pt idx="33">
                <c:v>0.7666666666666666</c:v>
              </c:pt>
              <c:pt idx="34">
                <c:v>0.7999999999999999</c:v>
              </c:pt>
              <c:pt idx="35">
                <c:v>0.8333333333333334</c:v>
              </c:pt>
              <c:pt idx="36">
                <c:v>0.8666666666666667</c:v>
              </c:pt>
              <c:pt idx="37">
                <c:v>0.9</c:v>
              </c:pt>
              <c:pt idx="38">
                <c:v>0.9333333333333332</c:v>
              </c:pt>
              <c:pt idx="39">
                <c:v>0.9666666666666667</c:v>
              </c:pt>
              <c:pt idx="40">
                <c:v>1</c:v>
              </c:pt>
              <c:pt idx="41">
                <c:v>0.9833333333333334</c:v>
              </c:pt>
              <c:pt idx="42">
                <c:v>0.9666666666666667</c:v>
              </c:pt>
              <c:pt idx="43">
                <c:v>0.9500000000000001</c:v>
              </c:pt>
              <c:pt idx="44">
                <c:v>0.9333333333333332</c:v>
              </c:pt>
              <c:pt idx="45">
                <c:v>0.9166666666666666</c:v>
              </c:pt>
              <c:pt idx="46">
                <c:v>0.9</c:v>
              </c:pt>
              <c:pt idx="47">
                <c:v>0.8833333333333333</c:v>
              </c:pt>
              <c:pt idx="48">
                <c:v>0.8666666666666667</c:v>
              </c:pt>
              <c:pt idx="49">
                <c:v>0.85</c:v>
              </c:pt>
              <c:pt idx="50">
                <c:v>0.8333333333333334</c:v>
              </c:pt>
              <c:pt idx="51">
                <c:v>0.8166666666666668</c:v>
              </c:pt>
              <c:pt idx="52">
                <c:v>0.7999999999999999</c:v>
              </c:pt>
              <c:pt idx="53">
                <c:v>0.7833333333333333</c:v>
              </c:pt>
              <c:pt idx="54">
                <c:v>0.7666666666666666</c:v>
              </c:pt>
              <c:pt idx="55">
                <c:v>0.75</c:v>
              </c:pt>
              <c:pt idx="56">
                <c:v>0.7333333333333334</c:v>
              </c:pt>
              <c:pt idx="57">
                <c:v>0.7166666666666667</c:v>
              </c:pt>
              <c:pt idx="58">
                <c:v>0.7000000000000001</c:v>
              </c:pt>
              <c:pt idx="59">
                <c:v>0.6833333333333332</c:v>
              </c:pt>
              <c:pt idx="60">
                <c:v>0.6666666666666666</c:v>
              </c:pt>
              <c:pt idx="61">
                <c:v>0.65</c:v>
              </c:pt>
              <c:pt idx="62">
                <c:v>0.6333333333333333</c:v>
              </c:pt>
              <c:pt idx="63">
                <c:v>0.6166666666666667</c:v>
              </c:pt>
              <c:pt idx="64">
                <c:v>0.6</c:v>
              </c:pt>
              <c:pt idx="65">
                <c:v>0.5833333333333334</c:v>
              </c:pt>
              <c:pt idx="66">
                <c:v>0.5666666666666668</c:v>
              </c:pt>
              <c:pt idx="67">
                <c:v>0.5499999999999999</c:v>
              </c:pt>
              <c:pt idx="68">
                <c:v>0.5333333333333333</c:v>
              </c:pt>
              <c:pt idx="69">
                <c:v>0.5166666666666666</c:v>
              </c:pt>
              <c:pt idx="70">
                <c:v>0.5</c:v>
              </c:pt>
              <c:pt idx="71">
                <c:v>0.4833333333333334</c:v>
              </c:pt>
              <c:pt idx="72">
                <c:v>0.4666666666666666</c:v>
              </c:pt>
              <c:pt idx="73">
                <c:v>0.45</c:v>
              </c:pt>
              <c:pt idx="74">
                <c:v>0.4333333333333333</c:v>
              </c:pt>
              <c:pt idx="75">
                <c:v>0.4166666666666667</c:v>
              </c:pt>
              <c:pt idx="76">
                <c:v>0.4000000000000001</c:v>
              </c:pt>
              <c:pt idx="77">
                <c:v>0.3833333333333333</c:v>
              </c:pt>
              <c:pt idx="78">
                <c:v>0.3666666666666667</c:v>
              </c:pt>
              <c:pt idx="79">
                <c:v>0.3499999999999999</c:v>
              </c:pt>
              <c:pt idx="80">
                <c:v>0.3333333333333333</c:v>
              </c:pt>
              <c:pt idx="81">
                <c:v>0.3166666666666667</c:v>
              </c:pt>
              <c:pt idx="82">
                <c:v>0.3000000000000001</c:v>
              </c:pt>
              <c:pt idx="83">
                <c:v>0.2833333333333332</c:v>
              </c:pt>
              <c:pt idx="84">
                <c:v>0.2666666666666666</c:v>
              </c:pt>
              <c:pt idx="85">
                <c:v>0.25</c:v>
              </c:pt>
              <c:pt idx="86">
                <c:v>0.2333333333333334</c:v>
              </c:pt>
              <c:pt idx="87">
                <c:v>0.21666666666666679</c:v>
              </c:pt>
              <c:pt idx="88">
                <c:v>0.19999999999999987</c:v>
              </c:pt>
              <c:pt idx="89">
                <c:v>0.18333333333333326</c:v>
              </c:pt>
              <c:pt idx="90">
                <c:v>0.16666666666666666</c:v>
              </c:pt>
              <c:pt idx="91">
                <c:v>0.15000000000000005</c:v>
              </c:pt>
              <c:pt idx="92">
                <c:v>0.13333333333333344</c:v>
              </c:pt>
              <c:pt idx="93">
                <c:v>0.11666666666666654</c:v>
              </c:pt>
              <c:pt idx="94">
                <c:v>0.09999999999999994</c:v>
              </c:pt>
              <c:pt idx="95">
                <c:v>0.08333333333333333</c:v>
              </c:pt>
              <c:pt idx="96">
                <c:v>0.06666666666666672</c:v>
              </c:pt>
              <c:pt idx="97">
                <c:v>0.05000000000000012</c:v>
              </c:pt>
              <c:pt idx="98">
                <c:v>0.033333333333333215</c:v>
              </c:pt>
              <c:pt idx="99">
                <c:v>0.016666666666666607</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Lit>
          </c:yVal>
        </c:ser>
        <c:ser>
          <c:idx val="2"/>
          <c:order val="2"/>
          <c:tx>
            <c:v>Lento</c:v>
          </c:tx>
          <c:spPr>
            <a:ln xmlns:a="http://schemas.openxmlformats.org/drawingml/2006/main" w="28575">
              <a:solidFill>
                <a:srgbClr val="60863D"/>
              </a:solidFill>
            </a:ln>
          </c:spPr>
          <c:marker>
            <c:symbol val="none"/>
          </c:marker>
          <c:xVal>
            <c:numLit>
              <c:formatCode>General</c:formatCode>
              <c:ptCount val="20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20</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30</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40</c:v>
              </c:pt>
            </c:numLit>
          </c:xVal>
          <c:yVal>
            <c:numLit>
              <c:formatCode>General</c:formatCode>
              <c:ptCount val="2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0.009999999999999964</c:v>
              </c:pt>
              <c:pt idx="52">
                <c:v>0.020000000000000018</c:v>
              </c:pt>
              <c:pt idx="53">
                <c:v>0.02999999999999998</c:v>
              </c:pt>
              <c:pt idx="54">
                <c:v>0.040000000000000036</c:v>
              </c:pt>
              <c:pt idx="55">
                <c:v>0.05</c:v>
              </c:pt>
              <c:pt idx="56">
                <c:v>0.05999999999999996</c:v>
              </c:pt>
              <c:pt idx="57">
                <c:v>0.07000000000000002</c:v>
              </c:pt>
              <c:pt idx="58">
                <c:v>0.07999999999999999</c:v>
              </c:pt>
              <c:pt idx="59">
                <c:v>0.09000000000000004</c:v>
              </c:pt>
              <c:pt idx="60">
                <c:v>0.1</c:v>
              </c:pt>
              <c:pt idx="61">
                <c:v>0.10999999999999996</c:v>
              </c:pt>
              <c:pt idx="62">
                <c:v>0.12000000000000002</c:v>
              </c:pt>
              <c:pt idx="63">
                <c:v>0.12999999999999998</c:v>
              </c:pt>
              <c:pt idx="64">
                <c:v>0.14000000000000004</c:v>
              </c:pt>
              <c:pt idx="65">
                <c:v>0.15</c:v>
              </c:pt>
              <c:pt idx="66">
                <c:v>0.15999999999999998</c:v>
              </c:pt>
              <c:pt idx="67">
                <c:v>0.17</c:v>
              </c:pt>
              <c:pt idx="68">
                <c:v>0.18</c:v>
              </c:pt>
              <c:pt idx="69">
                <c:v>0.19000000000000003</c:v>
              </c:pt>
              <c:pt idx="70">
                <c:v>0.2</c:v>
              </c:pt>
              <c:pt idx="71">
                <c:v>0.20999999999999996</c:v>
              </c:pt>
              <c:pt idx="72">
                <c:v>0.22000000000000003</c:v>
              </c:pt>
              <c:pt idx="73">
                <c:v>0.22999999999999998</c:v>
              </c:pt>
              <c:pt idx="74">
                <c:v>0.24000000000000005</c:v>
              </c:pt>
              <c:pt idx="75">
                <c:v>0.25</c:v>
              </c:pt>
              <c:pt idx="76">
                <c:v>0.25999999999999995</c:v>
              </c:pt>
              <c:pt idx="77">
                <c:v>0.27</c:v>
              </c:pt>
              <c:pt idx="78">
                <c:v>0.27999999999999997</c:v>
              </c:pt>
              <c:pt idx="79">
                <c:v>0.29000000000000004</c:v>
              </c:pt>
              <c:pt idx="80">
                <c:v>0.3</c:v>
              </c:pt>
              <c:pt idx="81">
                <c:v>0.30999999999999994</c:v>
              </c:pt>
              <c:pt idx="82">
                <c:v>0.31999999999999995</c:v>
              </c:pt>
              <c:pt idx="83">
                <c:v>0.33000000000000007</c:v>
              </c:pt>
              <c:pt idx="84">
                <c:v>0.34</c:v>
              </c:pt>
              <c:pt idx="85">
                <c:v>0.35</c:v>
              </c:pt>
              <c:pt idx="86">
                <c:v>0.36</c:v>
              </c:pt>
              <c:pt idx="87">
                <c:v>0.36999999999999994</c:v>
              </c:pt>
              <c:pt idx="88">
                <c:v>0.38000000000000006</c:v>
              </c:pt>
              <c:pt idx="89">
                <c:v>0.39</c:v>
              </c:pt>
              <c:pt idx="90">
                <c:v>0.4</c:v>
              </c:pt>
              <c:pt idx="91">
                <c:v>0.41</c:v>
              </c:pt>
              <c:pt idx="92">
                <c:v>0.41999999999999993</c:v>
              </c:pt>
              <c:pt idx="93">
                <c:v>0.43000000000000005</c:v>
              </c:pt>
              <c:pt idx="94">
                <c:v>0.44000000000000006</c:v>
              </c:pt>
              <c:pt idx="95">
                <c:v>0.45</c:v>
              </c:pt>
              <c:pt idx="96">
                <c:v>0.45999999999999996</c:v>
              </c:pt>
              <c:pt idx="97">
                <c:v>0.4699999999999999</c:v>
              </c:pt>
              <c:pt idx="98">
                <c:v>0.4800000000000001</c:v>
              </c:pt>
              <c:pt idx="99">
                <c:v>0.49000000000000005</c:v>
              </c:pt>
              <c:pt idx="100">
                <c:v>0.5</c:v>
              </c:pt>
              <c:pt idx="101">
                <c:v>0.51</c:v>
              </c:pt>
              <c:pt idx="102">
                <c:v>0.5199999999999999</c:v>
              </c:pt>
              <c:pt idx="103">
                <c:v>0.53</c:v>
              </c:pt>
              <c:pt idx="104">
                <c:v>0.54</c:v>
              </c:pt>
              <c:pt idx="105">
                <c:v>0.55</c:v>
              </c:pt>
              <c:pt idx="106">
                <c:v>0.5599999999999999</c:v>
              </c:pt>
              <c:pt idx="107">
                <c:v>0.57</c:v>
              </c:pt>
              <c:pt idx="108">
                <c:v>0.5800000000000001</c:v>
              </c:pt>
              <c:pt idx="109">
                <c:v>0.5900000000000001</c:v>
              </c:pt>
              <c:pt idx="110">
                <c:v>0.6</c:v>
              </c:pt>
              <c:pt idx="111">
                <c:v>0.61</c:v>
              </c:pt>
              <c:pt idx="112">
                <c:v>0.6199999999999999</c:v>
              </c:pt>
              <c:pt idx="113">
                <c:v>0.6300000000000001</c:v>
              </c:pt>
              <c:pt idx="114">
                <c:v>0.64</c:v>
              </c:pt>
              <c:pt idx="115">
                <c:v>0.65</c:v>
              </c:pt>
              <c:pt idx="116">
                <c:v>0.6599999999999999</c:v>
              </c:pt>
              <c:pt idx="117">
                <c:v>0.6699999999999999</c:v>
              </c:pt>
              <c:pt idx="118">
                <c:v>0.68</c:v>
              </c:pt>
              <c:pt idx="119">
                <c:v>0.6900000000000001</c:v>
              </c:pt>
              <c:pt idx="120">
                <c:v>0.7</c:v>
              </c:pt>
              <c:pt idx="121">
                <c:v>0.71</c:v>
              </c:pt>
              <c:pt idx="122">
                <c:v>0.72</c:v>
              </c:pt>
              <c:pt idx="123">
                <c:v>0.7300000000000001</c:v>
              </c:pt>
              <c:pt idx="124">
                <c:v>0.74</c:v>
              </c:pt>
              <c:pt idx="125">
                <c:v>0.75</c:v>
              </c:pt>
              <c:pt idx="126">
                <c:v>0.76</c:v>
              </c:pt>
              <c:pt idx="127">
                <c:v>0.7699999999999999</c:v>
              </c:pt>
              <c:pt idx="128">
                <c:v>0.78</c:v>
              </c:pt>
              <c:pt idx="129">
                <c:v>0.79</c:v>
              </c:pt>
              <c:pt idx="130">
                <c:v>0.8</c:v>
              </c:pt>
              <c:pt idx="131">
                <c:v>0.8099999999999999</c:v>
              </c:pt>
              <c:pt idx="132">
                <c:v>0.82</c:v>
              </c:pt>
              <c:pt idx="133">
                <c:v>0.8300000000000001</c:v>
              </c:pt>
              <c:pt idx="134">
                <c:v>0.8400000000000001</c:v>
              </c:pt>
              <c:pt idx="135">
                <c:v>0.85</c:v>
              </c:pt>
              <c:pt idx="136">
                <c:v>0.86</c:v>
              </c:pt>
              <c:pt idx="137">
                <c:v>0.8699999999999999</c:v>
              </c:pt>
              <c:pt idx="138">
                <c:v>0.8800000000000001</c:v>
              </c:pt>
              <c:pt idx="139">
                <c:v>0.89</c:v>
              </c:pt>
              <c:pt idx="140">
                <c:v>0.9</c:v>
              </c:pt>
              <c:pt idx="141">
                <c:v>0.9099999999999999</c:v>
              </c:pt>
              <c:pt idx="142">
                <c:v>0.9199999999999999</c:v>
              </c:pt>
              <c:pt idx="143">
                <c:v>0.93</c:v>
              </c:pt>
              <c:pt idx="144">
                <c:v>0.9400000000000001</c:v>
              </c:pt>
              <c:pt idx="145">
                <c:v>0.95</c:v>
              </c:pt>
              <c:pt idx="146">
                <c:v>0.96</c:v>
              </c:pt>
              <c:pt idx="147">
                <c:v>0.97</c:v>
              </c:pt>
              <c:pt idx="148">
                <c:v>0.9800000000000001</c:v>
              </c:pt>
              <c:pt idx="149">
                <c:v>0.99</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FE5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5"/>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t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10"/>
      </c:valAx>
    </c:plotArea>
    <c:plotVisOnly val="1"/>
  </c:chart>
  <c:spPr>
    <a:solidFill xmlns:a="http://schemas.openxmlformats.org/drawingml/2006/main">
      <a:srgbClr val="FFFFFF"/>
    </a:solidFill>
  </c:spPr>
</c:chartSpace>
</file>

<file path=ppt/slides/charts/chart12.xml><?xml version="1.0" encoding="utf-8"?>
<c:chartSpace xmlns:c="http://schemas.openxmlformats.org/drawingml/2006/chart">
  <c:lang val="en-US"/>
  <c:chart>
    <c:plotArea>
      <c:scatterChart>
        <c:scatterStyle val="line"/>
        <c:ser>
          <c:idx val="0"/>
          <c:order val="0"/>
          <c:tx>
            <c:v>Bajo</c:v>
          </c:tx>
          <c:spPr>
            <a:ln xmlns:a="http://schemas.openxmlformats.org/drawingml/2006/main" w="28575">
              <a:solidFill>
                <a:srgbClr val="2162A0"/>
              </a:solidFill>
            </a:ln>
          </c:spPr>
          <c:marker>
            <c:symbol val="none"/>
          </c:marker>
          <c:xVal>
            <c:numLit>
              <c:formatCode>General</c:formatCode>
              <c:ptCount val="3"/>
              <c:pt idx="0">
                <c:v>0</c:v>
              </c:pt>
              <c:pt idx="1">
                <c:v>0.5</c:v>
              </c:pt>
              <c:pt idx="2">
                <c:v>1</c:v>
              </c:pt>
            </c:numLit>
          </c:xVal>
          <c:yVal>
            <c:numLit>
              <c:formatCode>0.00</c:formatCode>
              <c:ptCount val="3"/>
              <c:pt idx="0">
                <c:v>1</c:v>
              </c:pt>
              <c:pt idx="1">
                <c:v>0</c:v>
              </c:pt>
              <c:pt idx="2">
                <c:v>0</c:v>
              </c:pt>
            </c:numLit>
          </c:yVal>
        </c:ser>
        <c:ser>
          <c:idx val="1"/>
          <c:order val="1"/>
          <c:tx>
            <c:v>Medio</c:v>
          </c:tx>
          <c:spPr>
            <a:ln xmlns:a="http://schemas.openxmlformats.org/drawingml/2006/main" w="28575">
              <a:solidFill>
                <a:srgbClr val="74944D"/>
              </a:solidFill>
            </a:ln>
          </c:spPr>
          <c:marker>
            <c:symbol val="none"/>
          </c:marker>
          <c:xVal>
            <c:numLit>
              <c:formatCode>General</c:formatCode>
              <c:ptCount val="3"/>
              <c:pt idx="0">
                <c:v>0</c:v>
              </c:pt>
              <c:pt idx="1">
                <c:v>0.5</c:v>
              </c:pt>
              <c:pt idx="2">
                <c:v>1</c:v>
              </c:pt>
            </c:numLit>
          </c:xVal>
          <c:yVal>
            <c:numLit>
              <c:formatCode>0.00</c:formatCode>
              <c:ptCount val="3"/>
              <c:pt idx="0">
                <c:v>0</c:v>
              </c:pt>
              <c:pt idx="1">
                <c:v>1</c:v>
              </c:pt>
              <c:pt idx="2">
                <c:v>0</c:v>
              </c:pt>
            </c:numLit>
          </c:yVal>
        </c:ser>
        <c:ser>
          <c:idx val="2"/>
          <c:order val="2"/>
          <c:tx>
            <c:v>Alto</c:v>
          </c:tx>
          <c:spPr>
            <a:ln xmlns:a="http://schemas.openxmlformats.org/drawingml/2006/main" w="28575">
              <a:solidFill>
                <a:srgbClr val="D96B18"/>
              </a:solidFill>
            </a:ln>
          </c:spPr>
          <c:marker>
            <c:symbol val="none"/>
          </c:marker>
          <c:xVal>
            <c:numLit>
              <c:formatCode>General</c:formatCode>
              <c:ptCount val="3"/>
              <c:pt idx="0">
                <c:v>0</c:v>
              </c:pt>
              <c:pt idx="1">
                <c:v>0.5</c:v>
              </c:pt>
              <c:pt idx="2">
                <c:v>1</c:v>
              </c:pt>
            </c:numLit>
          </c:xVal>
          <c:yVal>
            <c:numLit>
              <c:formatCode>0.00</c:formatCode>
              <c:ptCount val="3"/>
              <c:pt idx="0">
                <c:v>0</c:v>
              </c:pt>
              <c:pt idx="1">
                <c:v>0</c:v>
              </c:pt>
              <c:pt idx="2">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Entrada 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33746"/>
              </a:solidFill>
              <a:latin typeface="Arial"/>
              <a:ea typeface="Arial"/>
              <a:cs typeface="Arial"/>
            </a:defRPr>
          </a:pPr>
        </a:p>
      </c:txPr>
    </c:legend>
    <c:plotVisOnly val="1"/>
  </c:chart>
  <c:spPr>
    <a:solidFill xmlns:a="http://schemas.openxmlformats.org/drawingml/2006/main">
      <a:srgbClr val="FFFFFF"/>
    </a:solidFill>
  </c:spPr>
</c:chartSpace>
</file>

<file path=ppt/slides/charts/chart13.xml><?xml version="1.0" encoding="utf-8"?>
<c:chartSpace xmlns:c="http://schemas.openxmlformats.org/drawingml/2006/chart">
  <c:lang val="en-US"/>
  <c:chart>
    <c:plotArea>
      <c:scatterChart>
        <c:scatterStyle val="line"/>
        <c:ser>
          <c:idx val="0"/>
          <c:order val="0"/>
          <c:tx>
            <c:v>f(x) = x²</c:v>
          </c:tx>
          <c:spPr>
            <a:ln xmlns:a="http://schemas.openxmlformats.org/drawingml/2006/main" w="28575">
              <a:solidFill>
                <a:srgbClr val="2162A0"/>
              </a:solidFill>
            </a:ln>
          </c:spPr>
          <c:marker>
            <c:symbol val="none"/>
          </c:marker>
          <c:xVal>
            <c:numLit>
              <c:formatCode>General</c:formatCode>
              <c:ptCount val="2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numLit>
          </c:xVal>
          <c:yVal>
            <c:numLit>
              <c:formatCode>0.00</c:formatCode>
              <c:ptCount val="21"/>
              <c:pt idx="0">
                <c:v>0</c:v>
              </c:pt>
              <c:pt idx="1">
                <c:v>0.0025000000000000005</c:v>
              </c:pt>
              <c:pt idx="2">
                <c:v>0.010000000000000002</c:v>
              </c:pt>
              <c:pt idx="3">
                <c:v>0.0225</c:v>
              </c:pt>
              <c:pt idx="4">
                <c:v>0.04000000000000001</c:v>
              </c:pt>
              <c:pt idx="5">
                <c:v>0.0625</c:v>
              </c:pt>
              <c:pt idx="6">
                <c:v>0.09</c:v>
              </c:pt>
              <c:pt idx="7">
                <c:v>0.12249999999999998</c:v>
              </c:pt>
              <c:pt idx="8">
                <c:v>0.16000000000000003</c:v>
              </c:pt>
              <c:pt idx="9">
                <c:v>0.2025</c:v>
              </c:pt>
              <c:pt idx="10">
                <c:v>0.25</c:v>
              </c:pt>
              <c:pt idx="11">
                <c:v>0.30250000000000005</c:v>
              </c:pt>
              <c:pt idx="12">
                <c:v>0.36</c:v>
              </c:pt>
              <c:pt idx="13">
                <c:v>0.42250000000000004</c:v>
              </c:pt>
              <c:pt idx="14">
                <c:v>0.48999999999999994</c:v>
              </c:pt>
              <c:pt idx="15">
                <c:v>0.5625</c:v>
              </c:pt>
              <c:pt idx="16">
                <c:v>0.6400000000000001</c:v>
              </c:pt>
              <c:pt idx="17">
                <c:v>0.7224999999999999</c:v>
              </c:pt>
              <c:pt idx="18">
                <c:v>0.81</c:v>
              </c:pt>
              <c:pt idx="19">
                <c:v>0.9025</c:v>
              </c:pt>
              <c:pt idx="20">
                <c:v>1</c:v>
              </c:pt>
            </c:numLit>
          </c:yVal>
        </c:ser>
        <c:ser>
          <c:idx val="1"/>
          <c:order val="1"/>
          <c:tx>
            <c:v>Aproximación fuzzy</c:v>
          </c:tx>
          <c:spPr>
            <a:ln xmlns:a="http://schemas.openxmlformats.org/drawingml/2006/main" w="28575">
              <a:solidFill>
                <a:srgbClr val="D96B18"/>
              </a:solidFill>
            </a:ln>
          </c:spPr>
          <c:marker>
            <c:symbol val="none"/>
          </c:marker>
          <c:xVal>
            <c:numLit>
              <c:formatCode>General</c:formatCode>
              <c:ptCount val="3"/>
              <c:pt idx="0">
                <c:v>0</c:v>
              </c:pt>
              <c:pt idx="1">
                <c:v>0.5</c:v>
              </c:pt>
              <c:pt idx="2">
                <c:v>1</c:v>
              </c:pt>
            </c:numLit>
          </c:xVal>
          <c:yVal>
            <c:numLit>
              <c:formatCode>0.00</c:formatCode>
              <c:ptCount val="3"/>
              <c:pt idx="0">
                <c:v>0</c:v>
              </c:pt>
              <c:pt idx="1">
                <c:v>0.25</c:v>
              </c:pt>
              <c:pt idx="2">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Salida 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0.5"/>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Entrada 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33746"/>
              </a:solidFill>
              <a:latin typeface="Arial"/>
              <a:ea typeface="Arial"/>
              <a:cs typeface="Arial"/>
            </a:defRPr>
          </a:pPr>
        </a:p>
      </c:txPr>
    </c:legend>
    <c:plotVisOnly val="1"/>
  </c:chart>
  <c:spPr>
    <a:solidFill xmlns:a="http://schemas.openxmlformats.org/drawingml/2006/main">
      <a:srgbClr val="FFFFFF"/>
    </a:solidFill>
  </c:spPr>
</c:chartSpace>
</file>

<file path=ppt/slides/charts/chart14.xml><?xml version="1.0" encoding="utf-8"?>
<c:chartSpace xmlns:c="http://schemas.openxmlformats.org/drawingml/2006/chart">
  <c:lang val="en-US"/>
  <c:chart>
    <c:plotArea>
      <c:scatterChart>
        <c:scatterStyle val="line"/>
        <c:ser>
          <c:idx val="0"/>
          <c:order val="0"/>
          <c:tx>
            <c:v>Potencia interpolada</c:v>
          </c:tx>
          <c:spPr>
            <a:ln xmlns:a="http://schemas.openxmlformats.org/drawingml/2006/main" w="28575">
              <a:solidFill>
                <a:srgbClr val="D96B18"/>
              </a:solidFill>
            </a:ln>
          </c:spPr>
          <c:marker>
            <c:symbol val="none"/>
          </c:marker>
          <c:xVal>
            <c:numLit>
              <c:formatCode>General</c:formatCode>
              <c:ptCount val="4"/>
              <c:pt idx="0">
                <c:v>0</c:v>
              </c:pt>
              <c:pt idx="1">
                <c:v>0.49</c:v>
              </c:pt>
              <c:pt idx="2">
                <c:v>0.51</c:v>
              </c:pt>
              <c:pt idx="3">
                <c:v>1</c:v>
              </c:pt>
            </c:numLit>
          </c:xVal>
          <c:yVal>
            <c:numLit>
              <c:formatCode>0</c:formatCode>
              <c:ptCount val="4"/>
              <c:pt idx="0">
                <c:v>20</c:v>
              </c:pt>
              <c:pt idx="1">
                <c:v>49.4</c:v>
              </c:pt>
              <c:pt idx="2">
                <c:v>50.6</c:v>
              </c:pt>
              <c:pt idx="3">
                <c:v>80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E4E8EB"/>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50112"/>
        <c:majorUnit val="20"/>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Error de temperatura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Arial"/>
                <a:ea typeface="Arial"/>
                <a:cs typeface="Arial"/>
              </a:defRPr>
            </a:pPr>
          </a:p>
        </c:txPr>
        <c:crossAx val="48672768"/>
        <c:majorUnit val="0.25"/>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15.xml><?xml version="1.0" encoding="utf-8"?>
<c:chartSpace xmlns:c="http://schemas.openxmlformats.org/drawingml/2006/chart">
  <c:lang val="en-US"/>
  <c:chart>
    <c:plotArea>
      <c:scatterChart>
        <c:ser>
          <c:idx val="0"/>
          <c:order val="0"/>
          <c:tx>
            <c:v>A</c:v>
          </c:tx>
          <c:spPr>
            <a:ln xmlns:a="http://schemas.openxmlformats.org/drawingml/2006/main" w="28575">
              <a:solidFill>
                <a:srgbClr val="2162A0"/>
              </a:solidFill>
            </a:ln>
          </c:spPr>
          <c:marker>
            <c:symbol val="none"/>
            <c:size val="5"/>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0.050000000000000044</c:v>
              </c:pt>
              <c:pt idx="22">
                <c:v>0.10000000000000009</c:v>
              </c:pt>
              <c:pt idx="23">
                <c:v>0.1499999999999999</c:v>
              </c:pt>
              <c:pt idx="24">
                <c:v>0.19999999999999996</c:v>
              </c:pt>
              <c:pt idx="25">
                <c:v>0.25</c:v>
              </c:pt>
              <c:pt idx="26">
                <c:v>0.30000000000000004</c:v>
              </c:pt>
              <c:pt idx="27">
                <c:v>0.3500000000000001</c:v>
              </c:pt>
              <c:pt idx="28">
                <c:v>0.3999999999999999</c:v>
              </c:pt>
              <c:pt idx="29">
                <c:v>0.44999999999999996</c:v>
              </c:pt>
              <c:pt idx="30">
                <c:v>0.5</c:v>
              </c:pt>
              <c:pt idx="31">
                <c:v>0.55</c:v>
              </c:pt>
              <c:pt idx="32">
                <c:v>0.6000000000000001</c:v>
              </c:pt>
              <c:pt idx="33">
                <c:v>0.6499999999999999</c:v>
              </c:pt>
              <c:pt idx="34">
                <c:v>0.7</c:v>
              </c:pt>
              <c:pt idx="35">
                <c:v>0.75</c:v>
              </c:pt>
              <c:pt idx="36">
                <c:v>0.8</c:v>
              </c:pt>
              <c:pt idx="37">
                <c:v>0.8500000000000001</c:v>
              </c:pt>
              <c:pt idx="38">
                <c:v>0.8999999999999999</c:v>
              </c:pt>
              <c:pt idx="39">
                <c:v>0.95</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0.9500000000000002</c:v>
              </c:pt>
              <c:pt idx="62">
                <c:v>0.8999999999999999</c:v>
              </c:pt>
              <c:pt idx="63">
                <c:v>0.8500000000000001</c:v>
              </c:pt>
              <c:pt idx="64">
                <c:v>0.7999999999999998</c:v>
              </c:pt>
              <c:pt idx="65">
                <c:v>0.75</c:v>
              </c:pt>
              <c:pt idx="66">
                <c:v>0.7000000000000002</c:v>
              </c:pt>
              <c:pt idx="67">
                <c:v>0.6499999999999999</c:v>
              </c:pt>
              <c:pt idx="68">
                <c:v>0.6000000000000001</c:v>
              </c:pt>
              <c:pt idx="69">
                <c:v>0.5499999999999998</c:v>
              </c:pt>
              <c:pt idx="70">
                <c:v>0.5</c:v>
              </c:pt>
              <c:pt idx="71">
                <c:v>0.4500000000000002</c:v>
              </c:pt>
              <c:pt idx="72">
                <c:v>0.3999999999999999</c:v>
              </c:pt>
              <c:pt idx="73">
                <c:v>0.3500000000000001</c:v>
              </c:pt>
              <c:pt idx="74">
                <c:v>0.2999999999999998</c:v>
              </c:pt>
              <c:pt idx="75">
                <c:v>0.25</c:v>
              </c:pt>
              <c:pt idx="76">
                <c:v>0.20000000000000018</c:v>
              </c:pt>
              <c:pt idx="77">
                <c:v>0.1499999999999999</c:v>
              </c:pt>
              <c:pt idx="78">
                <c:v>0.10000000000000009</c:v>
              </c:pt>
              <c:pt idx="79">
                <c:v>0.04999999999999982</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x (unidades del ejemplo)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16.xml><?xml version="1.0" encoding="utf-8"?>
<c:chartSpace xmlns:c="http://schemas.openxmlformats.org/drawingml/2006/chart">
  <c:lang val="en-US"/>
  <c:chart>
    <c:plotArea>
      <c:scatterChart>
        <c:ser>
          <c:idx val="0"/>
          <c:order val="0"/>
          <c:tx>
            <c:v>Normal</c:v>
          </c:tx>
          <c:spPr>
            <a:ln xmlns:a="http://schemas.openxmlformats.org/drawingml/2006/main" w="28575">
              <a:solidFill>
                <a:srgbClr val="2162A0"/>
              </a:solidFill>
            </a:ln>
          </c:spPr>
          <c:marker>
            <c:symbol val="none"/>
            <c:size val="5"/>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0.03333333333333336</c:v>
              </c:pt>
              <c:pt idx="22">
                <c:v>0.06666666666666672</c:v>
              </c:pt>
              <c:pt idx="23">
                <c:v>0.09999999999999994</c:v>
              </c:pt>
              <c:pt idx="24">
                <c:v>0.1333333333333333</c:v>
              </c:pt>
              <c:pt idx="25">
                <c:v>0.16666666666666666</c:v>
              </c:pt>
              <c:pt idx="26">
                <c:v>0.20000000000000004</c:v>
              </c:pt>
              <c:pt idx="27">
                <c:v>0.2333333333333334</c:v>
              </c:pt>
              <c:pt idx="28">
                <c:v>0.2666666666666666</c:v>
              </c:pt>
              <c:pt idx="29">
                <c:v>0.3</c:v>
              </c:pt>
              <c:pt idx="30">
                <c:v>0.3333333333333333</c:v>
              </c:pt>
              <c:pt idx="31">
                <c:v>0.3666666666666667</c:v>
              </c:pt>
              <c:pt idx="32">
                <c:v>0.4000000000000001</c:v>
              </c:pt>
              <c:pt idx="33">
                <c:v>0.4333333333333333</c:v>
              </c:pt>
              <c:pt idx="34">
                <c:v>0.4666666666666666</c:v>
              </c:pt>
              <c:pt idx="35">
                <c:v>0.5</c:v>
              </c:pt>
              <c:pt idx="36">
                <c:v>0.5333333333333333</c:v>
              </c:pt>
              <c:pt idx="37">
                <c:v>0.5666666666666668</c:v>
              </c:pt>
              <c:pt idx="38">
                <c:v>0.6</c:v>
              </c:pt>
              <c:pt idx="39">
                <c:v>0.6333333333333333</c:v>
              </c:pt>
              <c:pt idx="40">
                <c:v>0.6666666666666666</c:v>
              </c:pt>
              <c:pt idx="41">
                <c:v>0.6999999999999998</c:v>
              </c:pt>
              <c:pt idx="42">
                <c:v>0.7333333333333334</c:v>
              </c:pt>
              <c:pt idx="43">
                <c:v>0.7666666666666666</c:v>
              </c:pt>
              <c:pt idx="44">
                <c:v>0.8000000000000002</c:v>
              </c:pt>
              <c:pt idx="45">
                <c:v>0.8333333333333334</c:v>
              </c:pt>
              <c:pt idx="46">
                <c:v>0.8666666666666666</c:v>
              </c:pt>
              <c:pt idx="47">
                <c:v>0.9</c:v>
              </c:pt>
              <c:pt idx="48">
                <c:v>0.9333333333333332</c:v>
              </c:pt>
              <c:pt idx="49">
                <c:v>0.9666666666666668</c:v>
              </c:pt>
              <c:pt idx="50">
                <c:v>1</c:v>
              </c:pt>
              <c:pt idx="51">
                <c:v>0.9666666666666668</c:v>
              </c:pt>
              <c:pt idx="52">
                <c:v>0.9333333333333332</c:v>
              </c:pt>
              <c:pt idx="53">
                <c:v>0.9</c:v>
              </c:pt>
              <c:pt idx="54">
                <c:v>0.8666666666666666</c:v>
              </c:pt>
              <c:pt idx="55">
                <c:v>0.8333333333333334</c:v>
              </c:pt>
              <c:pt idx="56">
                <c:v>0.8000000000000002</c:v>
              </c:pt>
              <c:pt idx="57">
                <c:v>0.7666666666666666</c:v>
              </c:pt>
              <c:pt idx="58">
                <c:v>0.7333333333333334</c:v>
              </c:pt>
              <c:pt idx="59">
                <c:v>0.6999999999999998</c:v>
              </c:pt>
              <c:pt idx="60">
                <c:v>0.6666666666666666</c:v>
              </c:pt>
              <c:pt idx="61">
                <c:v>0.6333333333333334</c:v>
              </c:pt>
              <c:pt idx="62">
                <c:v>0.6</c:v>
              </c:pt>
              <c:pt idx="63">
                <c:v>0.5666666666666668</c:v>
              </c:pt>
              <c:pt idx="64">
                <c:v>0.5333333333333332</c:v>
              </c:pt>
              <c:pt idx="65">
                <c:v>0.5</c:v>
              </c:pt>
              <c:pt idx="66">
                <c:v>0.4666666666666668</c:v>
              </c:pt>
              <c:pt idx="67">
                <c:v>0.4333333333333333</c:v>
              </c:pt>
              <c:pt idx="68">
                <c:v>0.4000000000000001</c:v>
              </c:pt>
              <c:pt idx="69">
                <c:v>0.36666666666666653</c:v>
              </c:pt>
              <c:pt idx="70">
                <c:v>0.3333333333333333</c:v>
              </c:pt>
              <c:pt idx="71">
                <c:v>0.3000000000000001</c:v>
              </c:pt>
              <c:pt idx="72">
                <c:v>0.2666666666666666</c:v>
              </c:pt>
              <c:pt idx="73">
                <c:v>0.2333333333333334</c:v>
              </c:pt>
              <c:pt idx="74">
                <c:v>0.19999999999999987</c:v>
              </c:pt>
              <c:pt idx="75">
                <c:v>0.16666666666666666</c:v>
              </c:pt>
              <c:pt idx="76">
                <c:v>0.13333333333333344</c:v>
              </c:pt>
              <c:pt idx="77">
                <c:v>0.09999999999999994</c:v>
              </c:pt>
              <c:pt idx="78">
                <c:v>0.06666666666666672</c:v>
              </c:pt>
              <c:pt idx="79">
                <c:v>0.033333333333333215</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ser>
          <c:idx val="1"/>
          <c:order val="1"/>
          <c:tx>
            <c:v>Subnormal</c:v>
          </c:tx>
          <c:spPr>
            <a:ln xmlns:a="http://schemas.openxmlformats.org/drawingml/2006/main" w="28575">
              <a:solidFill>
                <a:srgbClr val="D96B18"/>
              </a:solidFill>
            </a:ln>
          </c:spPr>
          <c:marker>
            <c:symbol val="none"/>
            <c:size val="5"/>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0.020000000000000014</c:v>
              </c:pt>
              <c:pt idx="22">
                <c:v>0.04000000000000003</c:v>
              </c:pt>
              <c:pt idx="23">
                <c:v>0.059999999999999956</c:v>
              </c:pt>
              <c:pt idx="24">
                <c:v>0.07999999999999997</c:v>
              </c:pt>
              <c:pt idx="25">
                <c:v>0.09999999999999999</c:v>
              </c:pt>
              <c:pt idx="26">
                <c:v>0.12000000000000002</c:v>
              </c:pt>
              <c:pt idx="27">
                <c:v>0.14000000000000004</c:v>
              </c:pt>
              <c:pt idx="28">
                <c:v>0.15999999999999995</c:v>
              </c:pt>
              <c:pt idx="29">
                <c:v>0.18</c:v>
              </c:pt>
              <c:pt idx="30">
                <c:v>0.19999999999999998</c:v>
              </c:pt>
              <c:pt idx="31">
                <c:v>0.22</c:v>
              </c:pt>
              <c:pt idx="32">
                <c:v>0.24000000000000005</c:v>
              </c:pt>
              <c:pt idx="33">
                <c:v>0.25999999999999995</c:v>
              </c:pt>
              <c:pt idx="34">
                <c:v>0.27999999999999997</c:v>
              </c:pt>
              <c:pt idx="35">
                <c:v>0.3</c:v>
              </c:pt>
              <c:pt idx="36">
                <c:v>0.32</c:v>
              </c:pt>
              <c:pt idx="37">
                <c:v>0.34</c:v>
              </c:pt>
              <c:pt idx="38">
                <c:v>0.36</c:v>
              </c:pt>
              <c:pt idx="39">
                <c:v>0.37999999999999995</c:v>
              </c:pt>
              <c:pt idx="40">
                <c:v>0.39999999999999997</c:v>
              </c:pt>
              <c:pt idx="41">
                <c:v>0.4199999999999999</c:v>
              </c:pt>
              <c:pt idx="42">
                <c:v>0.44</c:v>
              </c:pt>
              <c:pt idx="43">
                <c:v>0.45999999999999996</c:v>
              </c:pt>
              <c:pt idx="44">
                <c:v>0.4800000000000001</c:v>
              </c:pt>
              <c:pt idx="45">
                <c:v>0.5</c:v>
              </c:pt>
              <c:pt idx="46">
                <c:v>0.5199999999999999</c:v>
              </c:pt>
              <c:pt idx="47">
                <c:v>0.54</c:v>
              </c:pt>
              <c:pt idx="48">
                <c:v>0.5599999999999999</c:v>
              </c:pt>
              <c:pt idx="49">
                <c:v>0.5800000000000001</c:v>
              </c:pt>
              <c:pt idx="50">
                <c:v>0.6</c:v>
              </c:pt>
              <c:pt idx="51">
                <c:v>0.5800000000000001</c:v>
              </c:pt>
              <c:pt idx="52">
                <c:v>0.5599999999999999</c:v>
              </c:pt>
              <c:pt idx="53">
                <c:v>0.54</c:v>
              </c:pt>
              <c:pt idx="54">
                <c:v>0.5199999999999999</c:v>
              </c:pt>
              <c:pt idx="55">
                <c:v>0.5</c:v>
              </c:pt>
              <c:pt idx="56">
                <c:v>0.4800000000000001</c:v>
              </c:pt>
              <c:pt idx="57">
                <c:v>0.45999999999999996</c:v>
              </c:pt>
              <c:pt idx="58">
                <c:v>0.44</c:v>
              </c:pt>
              <c:pt idx="59">
                <c:v>0.4199999999999999</c:v>
              </c:pt>
              <c:pt idx="60">
                <c:v>0.39999999999999997</c:v>
              </c:pt>
              <c:pt idx="61">
                <c:v>0.38000000000000006</c:v>
              </c:pt>
              <c:pt idx="62">
                <c:v>0.36</c:v>
              </c:pt>
              <c:pt idx="63">
                <c:v>0.34</c:v>
              </c:pt>
              <c:pt idx="64">
                <c:v>0.3199999999999999</c:v>
              </c:pt>
              <c:pt idx="65">
                <c:v>0.3</c:v>
              </c:pt>
              <c:pt idx="66">
                <c:v>0.2800000000000001</c:v>
              </c:pt>
              <c:pt idx="67">
                <c:v>0.25999999999999995</c:v>
              </c:pt>
              <c:pt idx="68">
                <c:v>0.24000000000000005</c:v>
              </c:pt>
              <c:pt idx="69">
                <c:v>0.21999999999999992</c:v>
              </c:pt>
              <c:pt idx="70">
                <c:v>0.19999999999999998</c:v>
              </c:pt>
              <c:pt idx="71">
                <c:v>0.18000000000000005</c:v>
              </c:pt>
              <c:pt idx="72">
                <c:v>0.15999999999999995</c:v>
              </c:pt>
              <c:pt idx="73">
                <c:v>0.14000000000000004</c:v>
              </c:pt>
              <c:pt idx="74">
                <c:v>0.11999999999999991</c:v>
              </c:pt>
              <c:pt idx="75">
                <c:v>0.09999999999999999</c:v>
              </c:pt>
              <c:pt idx="76">
                <c:v>0.08000000000000006</c:v>
              </c:pt>
              <c:pt idx="77">
                <c:v>0.059999999999999956</c:v>
              </c:pt>
              <c:pt idx="78">
                <c:v>0.04000000000000003</c:v>
              </c:pt>
              <c:pt idx="79">
                <c:v>0.019999999999999928</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17.xml><?xml version="1.0" encoding="utf-8"?>
<c:chartSpace xmlns:c="http://schemas.openxmlformats.org/drawingml/2006/chart">
  <c:lang val="en-US"/>
  <c:chart>
    <c:plotArea>
      <c:scatterChart>
        <c:ser>
          <c:idx val="0"/>
          <c:order val="0"/>
          <c:tx>
            <c:v>Convexo</c:v>
          </c:tx>
          <c:spPr>
            <a:ln xmlns:a="http://schemas.openxmlformats.org/drawingml/2006/main" w="28575">
              <a:solidFill>
                <a:srgbClr val="2162A0"/>
              </a:solidFill>
            </a:ln>
          </c:spPr>
          <c:marker>
            <c:symbol val="none"/>
            <c:size val="5"/>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0.025000000000000022</c:v>
              </c:pt>
              <c:pt idx="12">
                <c:v>0.04999999999999999</c:v>
              </c:pt>
              <c:pt idx="13">
                <c:v>0.07500000000000001</c:v>
              </c:pt>
              <c:pt idx="14">
                <c:v>0.09999999999999998</c:v>
              </c:pt>
              <c:pt idx="15">
                <c:v>0.125</c:v>
              </c:pt>
              <c:pt idx="16">
                <c:v>0.15000000000000002</c:v>
              </c:pt>
              <c:pt idx="17">
                <c:v>0.175</c:v>
              </c:pt>
              <c:pt idx="18">
                <c:v>0.2</c:v>
              </c:pt>
              <c:pt idx="19">
                <c:v>0.22499999999999998</c:v>
              </c:pt>
              <c:pt idx="20">
                <c:v>0.25</c:v>
              </c:pt>
              <c:pt idx="21">
                <c:v>0.275</c:v>
              </c:pt>
              <c:pt idx="22">
                <c:v>0.30000000000000004</c:v>
              </c:pt>
              <c:pt idx="23">
                <c:v>0.32499999999999996</c:v>
              </c:pt>
              <c:pt idx="24">
                <c:v>0.35</c:v>
              </c:pt>
              <c:pt idx="25">
                <c:v>0.375</c:v>
              </c:pt>
              <c:pt idx="26">
                <c:v>0.4</c:v>
              </c:pt>
              <c:pt idx="27">
                <c:v>0.42500000000000004</c:v>
              </c:pt>
              <c:pt idx="28">
                <c:v>0.44999999999999996</c:v>
              </c:pt>
              <c:pt idx="29">
                <c:v>0.475</c:v>
              </c:pt>
              <c:pt idx="30">
                <c:v>0.5</c:v>
              </c:pt>
              <c:pt idx="31">
                <c:v>0.525</c:v>
              </c:pt>
              <c:pt idx="32">
                <c:v>0.55</c:v>
              </c:pt>
              <c:pt idx="33">
                <c:v>0.575</c:v>
              </c:pt>
              <c:pt idx="34">
                <c:v>0.6</c:v>
              </c:pt>
              <c:pt idx="35">
                <c:v>0.625</c:v>
              </c:pt>
              <c:pt idx="36">
                <c:v>0.65</c:v>
              </c:pt>
              <c:pt idx="37">
                <c:v>0.675</c:v>
              </c:pt>
              <c:pt idx="38">
                <c:v>0.7</c:v>
              </c:pt>
              <c:pt idx="39">
                <c:v>0.725</c:v>
              </c:pt>
              <c:pt idx="40">
                <c:v>0.75</c:v>
              </c:pt>
              <c:pt idx="41">
                <c:v>0.7749999999999999</c:v>
              </c:pt>
              <c:pt idx="42">
                <c:v>0.8</c:v>
              </c:pt>
              <c:pt idx="43">
                <c:v>0.825</c:v>
              </c:pt>
              <c:pt idx="44">
                <c:v>0.8500000000000001</c:v>
              </c:pt>
              <c:pt idx="45">
                <c:v>0.875</c:v>
              </c:pt>
              <c:pt idx="46">
                <c:v>0.8999999999999999</c:v>
              </c:pt>
              <c:pt idx="47">
                <c:v>0.925</c:v>
              </c:pt>
              <c:pt idx="48">
                <c:v>0.95</c:v>
              </c:pt>
              <c:pt idx="49">
                <c:v>0.9750000000000001</c:v>
              </c:pt>
              <c:pt idx="50">
                <c:v>1</c:v>
              </c:pt>
              <c:pt idx="51">
                <c:v>0.9750000000000001</c:v>
              </c:pt>
              <c:pt idx="52">
                <c:v>0.95</c:v>
              </c:pt>
              <c:pt idx="53">
                <c:v>0.925</c:v>
              </c:pt>
              <c:pt idx="54">
                <c:v>0.8999999999999999</c:v>
              </c:pt>
              <c:pt idx="55">
                <c:v>0.875</c:v>
              </c:pt>
              <c:pt idx="56">
                <c:v>0.8500000000000001</c:v>
              </c:pt>
              <c:pt idx="57">
                <c:v>0.825</c:v>
              </c:pt>
              <c:pt idx="58">
                <c:v>0.8</c:v>
              </c:pt>
              <c:pt idx="59">
                <c:v>0.7749999999999999</c:v>
              </c:pt>
              <c:pt idx="60">
                <c:v>0.75</c:v>
              </c:pt>
              <c:pt idx="61">
                <c:v>0.7250000000000001</c:v>
              </c:pt>
              <c:pt idx="62">
                <c:v>0.7</c:v>
              </c:pt>
              <c:pt idx="63">
                <c:v>0.675</c:v>
              </c:pt>
              <c:pt idx="64">
                <c:v>0.6499999999999999</c:v>
              </c:pt>
              <c:pt idx="65">
                <c:v>0.625</c:v>
              </c:pt>
              <c:pt idx="66">
                <c:v>0.6000000000000001</c:v>
              </c:pt>
              <c:pt idx="67">
                <c:v>0.575</c:v>
              </c:pt>
              <c:pt idx="68">
                <c:v>0.55</c:v>
              </c:pt>
              <c:pt idx="69">
                <c:v>0.5249999999999999</c:v>
              </c:pt>
              <c:pt idx="70">
                <c:v>0.5</c:v>
              </c:pt>
              <c:pt idx="71">
                <c:v>0.4750000000000001</c:v>
              </c:pt>
              <c:pt idx="72">
                <c:v>0.44999999999999996</c:v>
              </c:pt>
              <c:pt idx="73">
                <c:v>0.42500000000000004</c:v>
              </c:pt>
              <c:pt idx="74">
                <c:v>0.3999999999999999</c:v>
              </c:pt>
              <c:pt idx="75">
                <c:v>0.375</c:v>
              </c:pt>
              <c:pt idx="76">
                <c:v>0.3500000000000001</c:v>
              </c:pt>
              <c:pt idx="77">
                <c:v>0.32499999999999996</c:v>
              </c:pt>
              <c:pt idx="78">
                <c:v>0.30000000000000004</c:v>
              </c:pt>
              <c:pt idx="79">
                <c:v>0.2749999999999999</c:v>
              </c:pt>
              <c:pt idx="80">
                <c:v>0.25</c:v>
              </c:pt>
              <c:pt idx="81">
                <c:v>0.2250000000000001</c:v>
              </c:pt>
              <c:pt idx="82">
                <c:v>0.20000000000000018</c:v>
              </c:pt>
              <c:pt idx="83">
                <c:v>0.17499999999999982</c:v>
              </c:pt>
              <c:pt idx="84">
                <c:v>0.1499999999999999</c:v>
              </c:pt>
              <c:pt idx="85">
                <c:v>0.125</c:v>
              </c:pt>
              <c:pt idx="86">
                <c:v>0.10000000000000009</c:v>
              </c:pt>
              <c:pt idx="87">
                <c:v>0.07500000000000018</c:v>
              </c:pt>
              <c:pt idx="88">
                <c:v>0.04999999999999982</c:v>
              </c:pt>
              <c:pt idx="89">
                <c:v>0.02499999999999991</c:v>
              </c:pt>
              <c:pt idx="90">
                <c:v>0</c:v>
              </c:pt>
              <c:pt idx="91">
                <c:v>0</c:v>
              </c:pt>
              <c:pt idx="92">
                <c:v>0</c:v>
              </c:pt>
              <c:pt idx="93">
                <c:v>0</c:v>
              </c:pt>
              <c:pt idx="94">
                <c:v>0</c:v>
              </c:pt>
              <c:pt idx="95">
                <c:v>0</c:v>
              </c:pt>
              <c:pt idx="96">
                <c:v>0</c:v>
              </c:pt>
              <c:pt idx="97">
                <c:v>0</c:v>
              </c:pt>
              <c:pt idx="98">
                <c:v>0</c:v>
              </c:pt>
              <c:pt idx="99">
                <c:v>0</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18.xml><?xml version="1.0" encoding="utf-8"?>
<c:chartSpace xmlns:c="http://schemas.openxmlformats.org/drawingml/2006/chart">
  <c:lang val="en-US"/>
  <c:chart>
    <c:plotArea>
      <c:scatterChart>
        <c:ser>
          <c:idx val="0"/>
          <c:order val="0"/>
          <c:tx>
            <c:v>Unión</c:v>
          </c:tx>
          <c:spPr>
            <a:ln xmlns:a="http://schemas.openxmlformats.org/drawingml/2006/main" w="28575">
              <a:solidFill>
                <a:srgbClr val="D96B18"/>
              </a:solidFill>
            </a:ln>
          </c:spPr>
          <c:marker>
            <c:symbol val="none"/>
            <c:size val="5"/>
          </c:marker>
          <c:xVal>
            <c:numLit>
              <c:formatCode>General</c:formatCode>
              <c:ptCount val="101"/>
              <c:pt idx="0">
                <c:v>0</c:v>
              </c:pt>
              <c:pt idx="1">
                <c:v>0.1</c:v>
              </c:pt>
              <c:pt idx="2">
                <c:v>0.2</c:v>
              </c:pt>
              <c:pt idx="3">
                <c:v>0.3</c:v>
              </c:pt>
              <c:pt idx="4">
                <c:v>0.4</c:v>
              </c:pt>
              <c:pt idx="5">
                <c:v>0.5</c:v>
              </c:pt>
              <c:pt idx="6">
                <c:v>0.6</c:v>
              </c:pt>
              <c:pt idx="7">
                <c:v>0.7</c:v>
              </c:pt>
              <c:pt idx="8">
                <c:v>0.8</c:v>
              </c:pt>
              <c:pt idx="9">
                <c:v>0.9</c:v>
              </c:pt>
              <c:pt idx="10">
                <c:v>1</c:v>
              </c:pt>
              <c:pt idx="11">
                <c:v>1.1</c:v>
              </c:pt>
              <c:pt idx="12">
                <c:v>1.2</c:v>
              </c:pt>
              <c:pt idx="13">
                <c:v>1.3</c:v>
              </c:pt>
              <c:pt idx="14">
                <c:v>1.4</c:v>
              </c:pt>
              <c:pt idx="15">
                <c:v>1.5</c:v>
              </c:pt>
              <c:pt idx="16">
                <c:v>1.6</c:v>
              </c:pt>
              <c:pt idx="17">
                <c:v>1.7</c:v>
              </c:pt>
              <c:pt idx="18">
                <c:v>1.8</c:v>
              </c:pt>
              <c:pt idx="19">
                <c:v>1.9</c:v>
              </c:pt>
              <c:pt idx="20">
                <c:v>2</c:v>
              </c:pt>
              <c:pt idx="21">
                <c:v>2.1</c:v>
              </c:pt>
              <c:pt idx="22">
                <c:v>2.2</c:v>
              </c:pt>
              <c:pt idx="23">
                <c:v>2.3</c:v>
              </c:pt>
              <c:pt idx="24">
                <c:v>2.4</c:v>
              </c:pt>
              <c:pt idx="25">
                <c:v>2.5</c:v>
              </c:pt>
              <c:pt idx="26">
                <c:v>2.6</c:v>
              </c:pt>
              <c:pt idx="27">
                <c:v>2.7</c:v>
              </c:pt>
              <c:pt idx="28">
                <c:v>2.8</c:v>
              </c:pt>
              <c:pt idx="29">
                <c:v>2.9</c:v>
              </c:pt>
              <c:pt idx="30">
                <c:v>3</c:v>
              </c:pt>
              <c:pt idx="31">
                <c:v>3.1</c:v>
              </c:pt>
              <c:pt idx="32">
                <c:v>3.2</c:v>
              </c:pt>
              <c:pt idx="33">
                <c:v>3.3</c:v>
              </c:pt>
              <c:pt idx="34">
                <c:v>3.4</c:v>
              </c:pt>
              <c:pt idx="35">
                <c:v>3.5</c:v>
              </c:pt>
              <c:pt idx="36">
                <c:v>3.6</c:v>
              </c:pt>
              <c:pt idx="37">
                <c:v>3.7</c:v>
              </c:pt>
              <c:pt idx="38">
                <c:v>3.8</c:v>
              </c:pt>
              <c:pt idx="39">
                <c:v>3.9</c:v>
              </c:pt>
              <c:pt idx="40">
                <c:v>4</c:v>
              </c:pt>
              <c:pt idx="41">
                <c:v>4.1</c:v>
              </c:pt>
              <c:pt idx="42">
                <c:v>4.2</c:v>
              </c:pt>
              <c:pt idx="43">
                <c:v>4.3</c:v>
              </c:pt>
              <c:pt idx="44">
                <c:v>4.4</c:v>
              </c:pt>
              <c:pt idx="45">
                <c:v>4.5</c:v>
              </c:pt>
              <c:pt idx="46">
                <c:v>4.6</c:v>
              </c:pt>
              <c:pt idx="47">
                <c:v>4.7</c:v>
              </c:pt>
              <c:pt idx="48">
                <c:v>4.8</c:v>
              </c:pt>
              <c:pt idx="49">
                <c:v>4.9</c:v>
              </c:pt>
              <c:pt idx="50">
                <c:v>5</c:v>
              </c:pt>
              <c:pt idx="51">
                <c:v>5.1</c:v>
              </c:pt>
              <c:pt idx="52">
                <c:v>5.2</c:v>
              </c:pt>
              <c:pt idx="53">
                <c:v>5.3</c:v>
              </c:pt>
              <c:pt idx="54">
                <c:v>5.4</c:v>
              </c:pt>
              <c:pt idx="55">
                <c:v>5.5</c:v>
              </c:pt>
              <c:pt idx="56">
                <c:v>5.6</c:v>
              </c:pt>
              <c:pt idx="57">
                <c:v>5.7</c:v>
              </c:pt>
              <c:pt idx="58">
                <c:v>5.8</c:v>
              </c:pt>
              <c:pt idx="59">
                <c:v>5.9</c:v>
              </c:pt>
              <c:pt idx="60">
                <c:v>6</c:v>
              </c:pt>
              <c:pt idx="61">
                <c:v>6.1</c:v>
              </c:pt>
              <c:pt idx="62">
                <c:v>6.2</c:v>
              </c:pt>
              <c:pt idx="63">
                <c:v>6.3</c:v>
              </c:pt>
              <c:pt idx="64">
                <c:v>6.4</c:v>
              </c:pt>
              <c:pt idx="65">
                <c:v>6.5</c:v>
              </c:pt>
              <c:pt idx="66">
                <c:v>6.6</c:v>
              </c:pt>
              <c:pt idx="67">
                <c:v>6.7</c:v>
              </c:pt>
              <c:pt idx="68">
                <c:v>6.8</c:v>
              </c:pt>
              <c:pt idx="69">
                <c:v>6.9</c:v>
              </c:pt>
              <c:pt idx="70">
                <c:v>7</c:v>
              </c:pt>
              <c:pt idx="71">
                <c:v>7.1</c:v>
              </c:pt>
              <c:pt idx="72">
                <c:v>7.2</c:v>
              </c:pt>
              <c:pt idx="73">
                <c:v>7.3</c:v>
              </c:pt>
              <c:pt idx="74">
                <c:v>7.4</c:v>
              </c:pt>
              <c:pt idx="75">
                <c:v>7.5</c:v>
              </c:pt>
              <c:pt idx="76">
                <c:v>7.6</c:v>
              </c:pt>
              <c:pt idx="77">
                <c:v>7.7</c:v>
              </c:pt>
              <c:pt idx="78">
                <c:v>7.8</c:v>
              </c:pt>
              <c:pt idx="79">
                <c:v>7.9</c:v>
              </c:pt>
              <c:pt idx="80">
                <c:v>8</c:v>
              </c:pt>
              <c:pt idx="81">
                <c:v>8.1</c:v>
              </c:pt>
              <c:pt idx="82">
                <c:v>8.2</c:v>
              </c:pt>
              <c:pt idx="83">
                <c:v>8.3</c:v>
              </c:pt>
              <c:pt idx="84">
                <c:v>8.4</c:v>
              </c:pt>
              <c:pt idx="85">
                <c:v>8.5</c:v>
              </c:pt>
              <c:pt idx="86">
                <c:v>8.6</c:v>
              </c:pt>
              <c:pt idx="87">
                <c:v>8.7</c:v>
              </c:pt>
              <c:pt idx="88">
                <c:v>8.8</c:v>
              </c:pt>
              <c:pt idx="89">
                <c:v>8.9</c:v>
              </c:pt>
              <c:pt idx="90">
                <c:v>9</c:v>
              </c:pt>
              <c:pt idx="91">
                <c:v>9.1</c:v>
              </c:pt>
              <c:pt idx="92">
                <c:v>9.2</c:v>
              </c:pt>
              <c:pt idx="93">
                <c:v>9.3</c:v>
              </c:pt>
              <c:pt idx="94">
                <c:v>9.4</c:v>
              </c:pt>
              <c:pt idx="95">
                <c:v>9.5</c:v>
              </c:pt>
              <c:pt idx="96">
                <c:v>9.6</c:v>
              </c:pt>
              <c:pt idx="97">
                <c:v>9.7</c:v>
              </c:pt>
              <c:pt idx="98">
                <c:v>9.8</c:v>
              </c:pt>
              <c:pt idx="99">
                <c:v>9.9</c:v>
              </c:pt>
              <c:pt idx="100">
                <c:v>10</c:v>
              </c:pt>
            </c:numLit>
          </c:xVal>
          <c:yVal>
            <c:numLit>
              <c:formatCode>General</c:formatCode>
              <c:ptCount val="101"/>
              <c:pt idx="0">
                <c:v>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c:v>
              </c:pt>
              <c:pt idx="21">
                <c:v>0.95</c:v>
              </c:pt>
              <c:pt idx="22">
                <c:v>0.8999999999999999</c:v>
              </c:pt>
              <c:pt idx="23">
                <c:v>0.8500000000000001</c:v>
              </c:pt>
              <c:pt idx="24">
                <c:v>0.8</c:v>
              </c:pt>
              <c:pt idx="25">
                <c:v>0.75</c:v>
              </c:pt>
              <c:pt idx="26">
                <c:v>0.7</c:v>
              </c:pt>
              <c:pt idx="27">
                <c:v>0.6499999999999999</c:v>
              </c:pt>
              <c:pt idx="28">
                <c:v>0.6000000000000001</c:v>
              </c:pt>
              <c:pt idx="29">
                <c:v>0.55</c:v>
              </c:pt>
              <c:pt idx="30">
                <c:v>0.5</c:v>
              </c:pt>
              <c:pt idx="31">
                <c:v>0.44999999999999996</c:v>
              </c:pt>
              <c:pt idx="32">
                <c:v>0.3999999999999999</c:v>
              </c:pt>
              <c:pt idx="33">
                <c:v>0.3500000000000001</c:v>
              </c:pt>
              <c:pt idx="34">
                <c:v>0.30000000000000004</c:v>
              </c:pt>
              <c:pt idx="35">
                <c:v>0.25</c:v>
              </c:pt>
              <c:pt idx="36">
                <c:v>0.19999999999999996</c:v>
              </c:pt>
              <c:pt idx="37">
                <c:v>0.1499999999999999</c:v>
              </c:pt>
              <c:pt idx="38">
                <c:v>0.10000000000000009</c:v>
              </c:pt>
              <c:pt idx="39">
                <c:v>0.050000000000000044</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0.04999999999999982</c:v>
              </c:pt>
              <c:pt idx="62">
                <c:v>0.10000000000000009</c:v>
              </c:pt>
              <c:pt idx="63">
                <c:v>0.1499999999999999</c:v>
              </c:pt>
              <c:pt idx="64">
                <c:v>0.20000000000000018</c:v>
              </c:pt>
              <c:pt idx="65">
                <c:v>0.25</c:v>
              </c:pt>
              <c:pt idx="66">
                <c:v>0.2999999999999998</c:v>
              </c:pt>
              <c:pt idx="67">
                <c:v>0.3500000000000001</c:v>
              </c:pt>
              <c:pt idx="68">
                <c:v>0.3999999999999999</c:v>
              </c:pt>
              <c:pt idx="69">
                <c:v>0.4500000000000002</c:v>
              </c:pt>
              <c:pt idx="70">
                <c:v>0.5</c:v>
              </c:pt>
              <c:pt idx="71">
                <c:v>0.5499999999999998</c:v>
              </c:pt>
              <c:pt idx="72">
                <c:v>0.6000000000000001</c:v>
              </c:pt>
              <c:pt idx="73">
                <c:v>0.6499999999999999</c:v>
              </c:pt>
              <c:pt idx="74">
                <c:v>0.7000000000000002</c:v>
              </c:pt>
              <c:pt idx="75">
                <c:v>0.75</c:v>
              </c:pt>
              <c:pt idx="76">
                <c:v>0.7999999999999998</c:v>
              </c:pt>
              <c:pt idx="77">
                <c:v>0.8500000000000001</c:v>
              </c:pt>
              <c:pt idx="78">
                <c:v>0.8999999999999999</c:v>
              </c:pt>
              <c:pt idx="79">
                <c:v>0.9500000000000002</c:v>
              </c:pt>
              <c:pt idx="80">
                <c:v>1</c:v>
              </c:pt>
              <c:pt idx="81">
                <c:v>0.9500000000000002</c:v>
              </c:pt>
              <c:pt idx="82">
                <c:v>0.9000000000000004</c:v>
              </c:pt>
              <c:pt idx="83">
                <c:v>0.8499999999999996</c:v>
              </c:pt>
              <c:pt idx="84">
                <c:v>0.7999999999999998</c:v>
              </c:pt>
              <c:pt idx="85">
                <c:v>0.75</c:v>
              </c:pt>
              <c:pt idx="86">
                <c:v>0.7000000000000002</c:v>
              </c:pt>
              <c:pt idx="87">
                <c:v>0.6500000000000004</c:v>
              </c:pt>
              <c:pt idx="88">
                <c:v>0.5999999999999996</c:v>
              </c:pt>
              <c:pt idx="89">
                <c:v>0.5499999999999998</c:v>
              </c:pt>
              <c:pt idx="90">
                <c:v>0.5</c:v>
              </c:pt>
              <c:pt idx="91">
                <c:v>0.4500000000000002</c:v>
              </c:pt>
              <c:pt idx="92">
                <c:v>0.40000000000000036</c:v>
              </c:pt>
              <c:pt idx="93">
                <c:v>0.34999999999999964</c:v>
              </c:pt>
              <c:pt idx="94">
                <c:v>0.2999999999999998</c:v>
              </c:pt>
              <c:pt idx="95">
                <c:v>0.25</c:v>
              </c:pt>
              <c:pt idx="96">
                <c:v>0.20000000000000018</c:v>
              </c:pt>
              <c:pt idx="97">
                <c:v>0.15000000000000036</c:v>
              </c:pt>
              <c:pt idx="98">
                <c:v>0.09999999999999964</c:v>
              </c:pt>
              <c:pt idx="99">
                <c:v>0.04999999999999982</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x</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19.xml><?xml version="1.0" encoding="utf-8"?>
<c:chartSpace xmlns:c="http://schemas.openxmlformats.org/drawingml/2006/chart">
  <c:lang val="en-US"/>
  <c:chart>
    <c:plotArea>
      <c:scatterChart>
        <c:ser>
          <c:idx val="0"/>
          <c:order val="0"/>
          <c:tx>
            <c:v>Salida fuzzy</c:v>
          </c:tx>
          <c:spPr>
            <a:ln xmlns:a="http://schemas.openxmlformats.org/drawingml/2006/main" w="28575">
              <a:solidFill>
                <a:srgbClr val="2162A0"/>
              </a:solidFill>
            </a:ln>
          </c:spPr>
          <c:marker>
            <c:symbol val="none"/>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0.0</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t>Pertenencia μ</a:t>
                </a:r>
              </a:p>
            </c:rich>
          </c:tx>
          <c:overlay val="0"/>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t>Potencia (%)</a:t>
                </a:r>
              </a:p>
            </c:rich>
          </c:tx>
          <c:overlay val="0"/>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20.xml><?xml version="1.0" encoding="utf-8"?>
<c:chartSpace xmlns:c="http://schemas.openxmlformats.org/drawingml/2006/chart">
  <c:lang val="en-US"/>
  <c:chart>
    <c:plotArea>
      <c:scatterChart>
        <c:ser>
          <c:idx val="0"/>
          <c:order val="0"/>
          <c:tx>
            <c:v>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Máximos</c:v>
          </c:tx>
          <c:spPr>
            <a:ln xmlns:a="http://schemas.openxmlformats.org/drawingml/2006/main" w="76200">
              <a:solidFill>
                <a:srgbClr val="D96B18"/>
              </a:solidFill>
            </a:ln>
          </c:spPr>
          <c:marker>
            <c:symbol val="none"/>
            <c:size val="5"/>
          </c:marker>
          <c:xVal>
            <c:numLit>
              <c:formatCode>General</c:formatCode>
              <c:ptCount val="2"/>
              <c:pt idx="0">
                <c:v>15</c:v>
              </c:pt>
              <c:pt idx="1">
                <c:v>35</c:v>
              </c:pt>
            </c:numLit>
          </c:xVal>
          <c:yVal>
            <c:numLit>
              <c:formatCode>General</c:formatCode>
              <c:ptCount val="2"/>
              <c:pt idx="0">
                <c:v>0.6</c:v>
              </c:pt>
              <c:pt idx="1">
                <c:v>0.6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1.xml><?xml version="1.0" encoding="utf-8"?>
<c:chartSpace xmlns:c="http://schemas.openxmlformats.org/drawingml/2006/chart">
  <c:lang val="en-US"/>
  <c:chart>
    <c:plotArea>
      <c:scatterChart>
        <c:ser>
          <c:idx val="0"/>
          <c:order val="0"/>
          <c:tx>
            <c:v>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Centroide</c:v>
          </c:tx>
          <c:spPr>
            <a:ln xmlns:a="http://schemas.openxmlformats.org/drawingml/2006/main" w="28575">
              <a:solidFill>
                <a:srgbClr val="D96B18"/>
              </a:solidFill>
            </a:ln>
          </c:spPr>
          <c:marker>
            <c:symbol val="none"/>
            <c:size val="5"/>
          </c:marker>
          <c:xVal>
            <c:numLit>
              <c:formatCode>General</c:formatCode>
              <c:ptCount val="2"/>
              <c:pt idx="0">
                <c:v>43.888888888888886</c:v>
              </c:pt>
              <c:pt idx="1">
                <c:v>43.888888888888886</c:v>
              </c:pt>
            </c:numLit>
          </c:xVal>
          <c:yVal>
            <c:numLit>
              <c:formatCode>General</c:formatCode>
              <c:ptCount val="2"/>
              <c:pt idx="0">
                <c:v>0</c:v>
              </c:pt>
              <c:pt idx="1">
                <c:v>0.8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22.xml><?xml version="1.0" encoding="utf-8"?>
<c:chartSpace xmlns:c="http://schemas.openxmlformats.org/drawingml/2006/chart">
  <c:lang val="en-US"/>
  <c:chart>
    <c:plotArea>
      <c:scatterChart>
        <c:ser>
          <c:idx val="0"/>
          <c:order val="0"/>
          <c:tx>
            <c:v>Salida 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u = 41.6666667</c:v>
          </c:tx>
          <c:spPr>
            <a:ln xmlns:a="http://schemas.openxmlformats.org/drawingml/2006/main" w="28575">
              <a:solidFill>
                <a:srgbClr val="087F79"/>
              </a:solidFill>
            </a:ln>
          </c:spPr>
          <c:marker>
            <c:symbol val="none"/>
            <c:size val="5"/>
          </c:marker>
          <c:xVal>
            <c:numLit>
              <c:formatCode>General</c:formatCode>
              <c:ptCount val="2"/>
              <c:pt idx="0">
                <c:v>41.6666667</c:v>
              </c:pt>
              <c:pt idx="1">
                <c:v>41.6666667</c:v>
              </c:pt>
            </c:numLit>
          </c:xVal>
          <c:yVal>
            <c:numLit>
              <c:formatCode>General</c:formatCode>
              <c:ptCount val="2"/>
              <c:pt idx="0">
                <c:v>0</c:v>
              </c:pt>
              <c:pt idx="1">
                <c:v>0.85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3.xml><?xml version="1.0" encoding="utf-8"?>
<c:chartSpace xmlns:c="http://schemas.openxmlformats.org/drawingml/2006/chart">
  <c:lang val="en-US"/>
  <c:chart>
    <c:plotArea>
      <c:scatterChart>
        <c:ser>
          <c:idx val="0"/>
          <c:order val="0"/>
          <c:tx>
            <c:v>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Meseta</c:v>
          </c:tx>
          <c:spPr>
            <a:ln xmlns:a="http://schemas.openxmlformats.org/drawingml/2006/main" w="66675">
              <a:solidFill>
                <a:srgbClr val="D96B18"/>
              </a:solidFill>
            </a:ln>
          </c:spPr>
          <c:marker>
            <c:symbol val="none"/>
            <c:size val="5"/>
          </c:marker>
          <c:xVal>
            <c:numLit>
              <c:formatCode>General</c:formatCode>
              <c:ptCount val="2"/>
              <c:pt idx="0">
                <c:v>15</c:v>
              </c:pt>
              <c:pt idx="1">
                <c:v>35</c:v>
              </c:pt>
            </c:numLit>
          </c:xVal>
          <c:yVal>
            <c:numLit>
              <c:formatCode>General</c:formatCode>
              <c:ptCount val="2"/>
              <c:pt idx="0">
                <c:v>0.6</c:v>
              </c:pt>
              <c:pt idx="1">
                <c:v>0.6</c:v>
              </c:pt>
            </c:numLit>
          </c:yVal>
        </c:ser>
        <c:ser>
          <c:idx val="2"/>
          <c:order val="2"/>
          <c:tx>
            <c:v>u = 25</c:v>
          </c:tx>
          <c:spPr>
            <a:ln xmlns:a="http://schemas.openxmlformats.org/drawingml/2006/main" w="28575">
              <a:solidFill>
                <a:srgbClr val="087F79"/>
              </a:solidFill>
            </a:ln>
          </c:spPr>
          <c:marker>
            <c:symbol val="none"/>
            <c:size val="5"/>
          </c:marker>
          <c:xVal>
            <c:numLit>
              <c:formatCode>General</c:formatCode>
              <c:ptCount val="2"/>
              <c:pt idx="0">
                <c:v>25</c:v>
              </c:pt>
              <c:pt idx="1">
                <c:v>25</c:v>
              </c:pt>
            </c:numLit>
          </c:xVal>
          <c:yVal>
            <c:numLit>
              <c:formatCode>General</c:formatCode>
              <c:ptCount val="2"/>
              <c:pt idx="0">
                <c:v>0</c:v>
              </c:pt>
              <c:pt idx="1">
                <c:v>0.85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4.xml><?xml version="1.0" encoding="utf-8"?>
<c:chartSpace xmlns:c="http://schemas.openxmlformats.org/drawingml/2006/chart">
  <c:lang val="en-US"/>
  <c:chart>
    <c:plotArea>
      <c:scatterChart>
        <c:ser>
          <c:idx val="0"/>
          <c:order val="0"/>
          <c:tx>
            <c:v>Unión max</c:v>
          </c:tx>
          <c:spPr>
            <a:ln xmlns:a="http://schemas.openxmlformats.org/drawingml/2006/main" w="28575">
              <a:solidFill>
                <a:srgbClr val="2162A0"/>
              </a:solidFill>
            </a:ln>
          </c:spPr>
          <c:marker>
            <c:symbol val="none"/>
            <c:size val="5"/>
          </c:marker>
          <c:xVal>
            <c:numLit>
              <c:formatCode>General</c:formatCode>
              <c:ptCount val="50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20</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30</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40</c:v>
              </c:pt>
              <c:pt idx="201">
                <c:v>40.2</c:v>
              </c:pt>
              <c:pt idx="202">
                <c:v>40.4</c:v>
              </c:pt>
              <c:pt idx="203">
                <c:v>40.6</c:v>
              </c:pt>
              <c:pt idx="204">
                <c:v>40.8</c:v>
              </c:pt>
              <c:pt idx="205">
                <c:v>41</c:v>
              </c:pt>
              <c:pt idx="206">
                <c:v>41.2</c:v>
              </c:pt>
              <c:pt idx="207">
                <c:v>41.4</c:v>
              </c:pt>
              <c:pt idx="208">
                <c:v>41.6</c:v>
              </c:pt>
              <c:pt idx="209">
                <c:v>41.8</c:v>
              </c:pt>
              <c:pt idx="210">
                <c:v>42</c:v>
              </c:pt>
              <c:pt idx="211">
                <c:v>42.2</c:v>
              </c:pt>
              <c:pt idx="212">
                <c:v>42.4</c:v>
              </c:pt>
              <c:pt idx="213">
                <c:v>42.6</c:v>
              </c:pt>
              <c:pt idx="214">
                <c:v>42.8</c:v>
              </c:pt>
              <c:pt idx="215">
                <c:v>43</c:v>
              </c:pt>
              <c:pt idx="216">
                <c:v>43.2</c:v>
              </c:pt>
              <c:pt idx="217">
                <c:v>43.4</c:v>
              </c:pt>
              <c:pt idx="218">
                <c:v>43.6</c:v>
              </c:pt>
              <c:pt idx="219">
                <c:v>43.8</c:v>
              </c:pt>
              <c:pt idx="220">
                <c:v>44</c:v>
              </c:pt>
              <c:pt idx="221">
                <c:v>44.2</c:v>
              </c:pt>
              <c:pt idx="222">
                <c:v>44.4</c:v>
              </c:pt>
              <c:pt idx="223">
                <c:v>44.6</c:v>
              </c:pt>
              <c:pt idx="224">
                <c:v>44.8</c:v>
              </c:pt>
              <c:pt idx="225">
                <c:v>45</c:v>
              </c:pt>
              <c:pt idx="226">
                <c:v>45.2</c:v>
              </c:pt>
              <c:pt idx="227">
                <c:v>45.4</c:v>
              </c:pt>
              <c:pt idx="228">
                <c:v>45.6</c:v>
              </c:pt>
              <c:pt idx="229">
                <c:v>45.8</c:v>
              </c:pt>
              <c:pt idx="230">
                <c:v>46</c:v>
              </c:pt>
              <c:pt idx="231">
                <c:v>46.2</c:v>
              </c:pt>
              <c:pt idx="232">
                <c:v>46.4</c:v>
              </c:pt>
              <c:pt idx="233">
                <c:v>46.6</c:v>
              </c:pt>
              <c:pt idx="234">
                <c:v>46.8</c:v>
              </c:pt>
              <c:pt idx="235">
                <c:v>47</c:v>
              </c:pt>
              <c:pt idx="236">
                <c:v>47.2</c:v>
              </c:pt>
              <c:pt idx="237">
                <c:v>47.4</c:v>
              </c:pt>
              <c:pt idx="238">
                <c:v>47.6</c:v>
              </c:pt>
              <c:pt idx="239">
                <c:v>47.8</c:v>
              </c:pt>
              <c:pt idx="240">
                <c:v>48</c:v>
              </c:pt>
              <c:pt idx="241">
                <c:v>48.2</c:v>
              </c:pt>
              <c:pt idx="242">
                <c:v>48.4</c:v>
              </c:pt>
              <c:pt idx="243">
                <c:v>48.6</c:v>
              </c:pt>
              <c:pt idx="244">
                <c:v>48.8</c:v>
              </c:pt>
              <c:pt idx="245">
                <c:v>49</c:v>
              </c:pt>
              <c:pt idx="246">
                <c:v>49.2</c:v>
              </c:pt>
              <c:pt idx="247">
                <c:v>49.4</c:v>
              </c:pt>
              <c:pt idx="248">
                <c:v>49.6</c:v>
              </c:pt>
              <c:pt idx="249">
                <c:v>49.8</c:v>
              </c:pt>
              <c:pt idx="250">
                <c:v>50</c:v>
              </c:pt>
              <c:pt idx="251">
                <c:v>50.2</c:v>
              </c:pt>
              <c:pt idx="252">
                <c:v>50.4</c:v>
              </c:pt>
              <c:pt idx="253">
                <c:v>50.6</c:v>
              </c:pt>
              <c:pt idx="254">
                <c:v>50.8</c:v>
              </c:pt>
              <c:pt idx="255">
                <c:v>51</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60</c:v>
              </c:pt>
              <c:pt idx="301">
                <c:v>60.2</c:v>
              </c:pt>
              <c:pt idx="302">
                <c:v>60.4</c:v>
              </c:pt>
              <c:pt idx="303">
                <c:v>60.6</c:v>
              </c:pt>
              <c:pt idx="304">
                <c:v>60.8</c:v>
              </c:pt>
              <c:pt idx="305">
                <c:v>61</c:v>
              </c:pt>
              <c:pt idx="306">
                <c:v>61.2</c:v>
              </c:pt>
              <c:pt idx="307">
                <c:v>61.4</c:v>
              </c:pt>
              <c:pt idx="308">
                <c:v>61.6</c:v>
              </c:pt>
              <c:pt idx="309">
                <c:v>61.8</c:v>
              </c:pt>
              <c:pt idx="310">
                <c:v>62</c:v>
              </c:pt>
              <c:pt idx="311">
                <c:v>62.2</c:v>
              </c:pt>
              <c:pt idx="312">
                <c:v>62.4</c:v>
              </c:pt>
              <c:pt idx="313">
                <c:v>62.6</c:v>
              </c:pt>
              <c:pt idx="314">
                <c:v>62.8</c:v>
              </c:pt>
              <c:pt idx="315">
                <c:v>63</c:v>
              </c:pt>
              <c:pt idx="316">
                <c:v>63.2</c:v>
              </c:pt>
              <c:pt idx="317">
                <c:v>63.4</c:v>
              </c:pt>
              <c:pt idx="318">
                <c:v>63.6</c:v>
              </c:pt>
              <c:pt idx="319">
                <c:v>63.8</c:v>
              </c:pt>
              <c:pt idx="320">
                <c:v>64</c:v>
              </c:pt>
              <c:pt idx="321">
                <c:v>64.2</c:v>
              </c:pt>
              <c:pt idx="322">
                <c:v>64.4</c:v>
              </c:pt>
              <c:pt idx="323">
                <c:v>64.6</c:v>
              </c:pt>
              <c:pt idx="324">
                <c:v>64.8</c:v>
              </c:pt>
              <c:pt idx="325">
                <c:v>65</c:v>
              </c:pt>
              <c:pt idx="326">
                <c:v>65.2</c:v>
              </c:pt>
              <c:pt idx="327">
                <c:v>65.4</c:v>
              </c:pt>
              <c:pt idx="328">
                <c:v>65.6</c:v>
              </c:pt>
              <c:pt idx="329">
                <c:v>65.8</c:v>
              </c:pt>
              <c:pt idx="330">
                <c:v>66</c:v>
              </c:pt>
              <c:pt idx="331">
                <c:v>66.2</c:v>
              </c:pt>
              <c:pt idx="332">
                <c:v>66.4</c:v>
              </c:pt>
              <c:pt idx="333">
                <c:v>66.6</c:v>
              </c:pt>
              <c:pt idx="334">
                <c:v>66.8</c:v>
              </c:pt>
              <c:pt idx="335">
                <c:v>67</c:v>
              </c:pt>
              <c:pt idx="336">
                <c:v>67.2</c:v>
              </c:pt>
              <c:pt idx="337">
                <c:v>67.4</c:v>
              </c:pt>
              <c:pt idx="338">
                <c:v>67.6</c:v>
              </c:pt>
              <c:pt idx="339">
                <c:v>67.8</c:v>
              </c:pt>
              <c:pt idx="340">
                <c:v>68</c:v>
              </c:pt>
              <c:pt idx="341">
                <c:v>68.2</c:v>
              </c:pt>
              <c:pt idx="342">
                <c:v>68.4</c:v>
              </c:pt>
              <c:pt idx="343">
                <c:v>68.6</c:v>
              </c:pt>
              <c:pt idx="344">
                <c:v>68.8</c:v>
              </c:pt>
              <c:pt idx="345">
                <c:v>69</c:v>
              </c:pt>
              <c:pt idx="346">
                <c:v>69.2</c:v>
              </c:pt>
              <c:pt idx="347">
                <c:v>69.4</c:v>
              </c:pt>
              <c:pt idx="348">
                <c:v>69.6</c:v>
              </c:pt>
              <c:pt idx="349">
                <c:v>69.8</c:v>
              </c:pt>
              <c:pt idx="350">
                <c:v>70</c:v>
              </c:pt>
              <c:pt idx="351">
                <c:v>70.2</c:v>
              </c:pt>
              <c:pt idx="352">
                <c:v>70.4</c:v>
              </c:pt>
              <c:pt idx="353">
                <c:v>70.6</c:v>
              </c:pt>
              <c:pt idx="354">
                <c:v>70.8</c:v>
              </c:pt>
              <c:pt idx="355">
                <c:v>71</c:v>
              </c:pt>
              <c:pt idx="356">
                <c:v>71.2</c:v>
              </c:pt>
              <c:pt idx="357">
                <c:v>71.4</c:v>
              </c:pt>
              <c:pt idx="358">
                <c:v>71.6</c:v>
              </c:pt>
              <c:pt idx="359">
                <c:v>71.8</c:v>
              </c:pt>
              <c:pt idx="360">
                <c:v>72</c:v>
              </c:pt>
              <c:pt idx="361">
                <c:v>72.2</c:v>
              </c:pt>
              <c:pt idx="362">
                <c:v>72.4</c:v>
              </c:pt>
              <c:pt idx="363">
                <c:v>72.6</c:v>
              </c:pt>
              <c:pt idx="364">
                <c:v>72.8</c:v>
              </c:pt>
              <c:pt idx="365">
                <c:v>73</c:v>
              </c:pt>
              <c:pt idx="366">
                <c:v>73.2</c:v>
              </c:pt>
              <c:pt idx="367">
                <c:v>73.4</c:v>
              </c:pt>
              <c:pt idx="368">
                <c:v>73.6</c:v>
              </c:pt>
              <c:pt idx="369">
                <c:v>73.8</c:v>
              </c:pt>
              <c:pt idx="370">
                <c:v>74</c:v>
              </c:pt>
              <c:pt idx="371">
                <c:v>74.2</c:v>
              </c:pt>
              <c:pt idx="372">
                <c:v>74.4</c:v>
              </c:pt>
              <c:pt idx="373">
                <c:v>74.6</c:v>
              </c:pt>
              <c:pt idx="374">
                <c:v>74.8</c:v>
              </c:pt>
              <c:pt idx="375">
                <c:v>75</c:v>
              </c:pt>
              <c:pt idx="376">
                <c:v>75.2</c:v>
              </c:pt>
              <c:pt idx="377">
                <c:v>75.4</c:v>
              </c:pt>
              <c:pt idx="378">
                <c:v>75.6</c:v>
              </c:pt>
              <c:pt idx="379">
                <c:v>75.8</c:v>
              </c:pt>
              <c:pt idx="380">
                <c:v>76</c:v>
              </c:pt>
              <c:pt idx="381">
                <c:v>76.2</c:v>
              </c:pt>
              <c:pt idx="382">
                <c:v>76.4</c:v>
              </c:pt>
              <c:pt idx="383">
                <c:v>76.6</c:v>
              </c:pt>
              <c:pt idx="384">
                <c:v>76.8</c:v>
              </c:pt>
              <c:pt idx="385">
                <c:v>77</c:v>
              </c:pt>
              <c:pt idx="386">
                <c:v>77.2</c:v>
              </c:pt>
              <c:pt idx="387">
                <c:v>77.4</c:v>
              </c:pt>
              <c:pt idx="388">
                <c:v>77.6</c:v>
              </c:pt>
              <c:pt idx="389">
                <c:v>77.8</c:v>
              </c:pt>
              <c:pt idx="390">
                <c:v>78</c:v>
              </c:pt>
              <c:pt idx="391">
                <c:v>78.2</c:v>
              </c:pt>
              <c:pt idx="392">
                <c:v>78.4</c:v>
              </c:pt>
              <c:pt idx="393">
                <c:v>78.6</c:v>
              </c:pt>
              <c:pt idx="394">
                <c:v>78.8</c:v>
              </c:pt>
              <c:pt idx="395">
                <c:v>79</c:v>
              </c:pt>
              <c:pt idx="396">
                <c:v>79.2</c:v>
              </c:pt>
              <c:pt idx="397">
                <c:v>79.4</c:v>
              </c:pt>
              <c:pt idx="398">
                <c:v>79.6</c:v>
              </c:pt>
              <c:pt idx="399">
                <c:v>79.8</c:v>
              </c:pt>
              <c:pt idx="400">
                <c:v>80</c:v>
              </c:pt>
              <c:pt idx="401">
                <c:v>80.2</c:v>
              </c:pt>
              <c:pt idx="402">
                <c:v>80.4</c:v>
              </c:pt>
              <c:pt idx="403">
                <c:v>80.6</c:v>
              </c:pt>
              <c:pt idx="404">
                <c:v>80.8</c:v>
              </c:pt>
              <c:pt idx="405">
                <c:v>81</c:v>
              </c:pt>
              <c:pt idx="406">
                <c:v>81.2</c:v>
              </c:pt>
              <c:pt idx="407">
                <c:v>81.4</c:v>
              </c:pt>
              <c:pt idx="408">
                <c:v>81.6</c:v>
              </c:pt>
              <c:pt idx="409">
                <c:v>81.8</c:v>
              </c:pt>
              <c:pt idx="410">
                <c:v>82</c:v>
              </c:pt>
              <c:pt idx="411">
                <c:v>82.2</c:v>
              </c:pt>
              <c:pt idx="412">
                <c:v>82.4</c:v>
              </c:pt>
              <c:pt idx="413">
                <c:v>82.6</c:v>
              </c:pt>
              <c:pt idx="414">
                <c:v>82.8</c:v>
              </c:pt>
              <c:pt idx="415">
                <c:v>83</c:v>
              </c:pt>
              <c:pt idx="416">
                <c:v>83.2</c:v>
              </c:pt>
              <c:pt idx="417">
                <c:v>83.4</c:v>
              </c:pt>
              <c:pt idx="418">
                <c:v>83.6</c:v>
              </c:pt>
              <c:pt idx="419">
                <c:v>83.8</c:v>
              </c:pt>
              <c:pt idx="420">
                <c:v>84</c:v>
              </c:pt>
              <c:pt idx="421">
                <c:v>84.2</c:v>
              </c:pt>
              <c:pt idx="422">
                <c:v>84.4</c:v>
              </c:pt>
              <c:pt idx="423">
                <c:v>84.6</c:v>
              </c:pt>
              <c:pt idx="424">
                <c:v>84.8</c:v>
              </c:pt>
              <c:pt idx="425">
                <c:v>85</c:v>
              </c:pt>
              <c:pt idx="426">
                <c:v>85.2</c:v>
              </c:pt>
              <c:pt idx="427">
                <c:v>85.4</c:v>
              </c:pt>
              <c:pt idx="428">
                <c:v>85.6</c:v>
              </c:pt>
              <c:pt idx="429">
                <c:v>85.8</c:v>
              </c:pt>
              <c:pt idx="430">
                <c:v>86</c:v>
              </c:pt>
              <c:pt idx="431">
                <c:v>86.2</c:v>
              </c:pt>
              <c:pt idx="432">
                <c:v>86.4</c:v>
              </c:pt>
              <c:pt idx="433">
                <c:v>86.6</c:v>
              </c:pt>
              <c:pt idx="434">
                <c:v>86.8</c:v>
              </c:pt>
              <c:pt idx="435">
                <c:v>87</c:v>
              </c:pt>
              <c:pt idx="436">
                <c:v>87.2</c:v>
              </c:pt>
              <c:pt idx="437">
                <c:v>87.4</c:v>
              </c:pt>
              <c:pt idx="438">
                <c:v>87.6</c:v>
              </c:pt>
              <c:pt idx="439">
                <c:v>87.8</c:v>
              </c:pt>
              <c:pt idx="440">
                <c:v>88</c:v>
              </c:pt>
              <c:pt idx="441">
                <c:v>88.2</c:v>
              </c:pt>
              <c:pt idx="442">
                <c:v>88.4</c:v>
              </c:pt>
              <c:pt idx="443">
                <c:v>88.6</c:v>
              </c:pt>
              <c:pt idx="444">
                <c:v>88.8</c:v>
              </c:pt>
              <c:pt idx="445">
                <c:v>89</c:v>
              </c:pt>
              <c:pt idx="446">
                <c:v>89.2</c:v>
              </c:pt>
              <c:pt idx="447">
                <c:v>89.4</c:v>
              </c:pt>
              <c:pt idx="448">
                <c:v>89.6</c:v>
              </c:pt>
              <c:pt idx="449">
                <c:v>89.8</c:v>
              </c:pt>
              <c:pt idx="450">
                <c:v>90</c:v>
              </c:pt>
              <c:pt idx="451">
                <c:v>90.2</c:v>
              </c:pt>
              <c:pt idx="452">
                <c:v>90.4</c:v>
              </c:pt>
              <c:pt idx="453">
                <c:v>90.6</c:v>
              </c:pt>
              <c:pt idx="454">
                <c:v>90.8</c:v>
              </c:pt>
              <c:pt idx="455">
                <c:v>91</c:v>
              </c:pt>
              <c:pt idx="456">
                <c:v>91.2</c:v>
              </c:pt>
              <c:pt idx="457">
                <c:v>91.4</c:v>
              </c:pt>
              <c:pt idx="458">
                <c:v>91.6</c:v>
              </c:pt>
              <c:pt idx="459">
                <c:v>91.8</c:v>
              </c:pt>
              <c:pt idx="460">
                <c:v>92</c:v>
              </c:pt>
              <c:pt idx="461">
                <c:v>92.2</c:v>
              </c:pt>
              <c:pt idx="462">
                <c:v>92.4</c:v>
              </c:pt>
              <c:pt idx="463">
                <c:v>92.6</c:v>
              </c:pt>
              <c:pt idx="464">
                <c:v>92.8</c:v>
              </c:pt>
              <c:pt idx="465">
                <c:v>93</c:v>
              </c:pt>
              <c:pt idx="466">
                <c:v>93.2</c:v>
              </c:pt>
              <c:pt idx="467">
                <c:v>93.4</c:v>
              </c:pt>
              <c:pt idx="468">
                <c:v>93.6</c:v>
              </c:pt>
              <c:pt idx="469">
                <c:v>93.8</c:v>
              </c:pt>
              <c:pt idx="470">
                <c:v>94</c:v>
              </c:pt>
              <c:pt idx="471">
                <c:v>94.2</c:v>
              </c:pt>
              <c:pt idx="472">
                <c:v>94.4</c:v>
              </c:pt>
              <c:pt idx="473">
                <c:v>94.6</c:v>
              </c:pt>
              <c:pt idx="474">
                <c:v>94.8</c:v>
              </c:pt>
              <c:pt idx="475">
                <c:v>95</c:v>
              </c:pt>
              <c:pt idx="476">
                <c:v>95.2</c:v>
              </c:pt>
              <c:pt idx="477">
                <c:v>95.4</c:v>
              </c:pt>
              <c:pt idx="478">
                <c:v>95.6</c:v>
              </c:pt>
              <c:pt idx="479">
                <c:v>95.8</c:v>
              </c:pt>
              <c:pt idx="480">
                <c:v>96</c:v>
              </c:pt>
              <c:pt idx="481">
                <c:v>96.2</c:v>
              </c:pt>
              <c:pt idx="482">
                <c:v>96.4</c:v>
              </c:pt>
              <c:pt idx="483">
                <c:v>96.6</c:v>
              </c:pt>
              <c:pt idx="484">
                <c:v>96.8</c:v>
              </c:pt>
              <c:pt idx="485">
                <c:v>97</c:v>
              </c:pt>
              <c:pt idx="486">
                <c:v>97.2</c:v>
              </c:pt>
              <c:pt idx="487">
                <c:v>97.4</c:v>
              </c:pt>
              <c:pt idx="488">
                <c:v>97.6</c:v>
              </c:pt>
              <c:pt idx="489">
                <c:v>97.8</c:v>
              </c:pt>
              <c:pt idx="490">
                <c:v>98</c:v>
              </c:pt>
              <c:pt idx="491">
                <c:v>98.2</c:v>
              </c:pt>
              <c:pt idx="492">
                <c:v>98.4</c:v>
              </c:pt>
              <c:pt idx="493">
                <c:v>98.6</c:v>
              </c:pt>
              <c:pt idx="494">
                <c:v>98.8</c:v>
              </c:pt>
              <c:pt idx="495">
                <c:v>99</c:v>
              </c:pt>
              <c:pt idx="496">
                <c:v>99.2</c:v>
              </c:pt>
              <c:pt idx="497">
                <c:v>99.4</c:v>
              </c:pt>
              <c:pt idx="498">
                <c:v>99.6</c:v>
              </c:pt>
              <c:pt idx="499">
                <c:v>99.8</c:v>
              </c:pt>
              <c:pt idx="500">
                <c:v>100</c:v>
              </c:pt>
            </c:numLit>
          </c:xVal>
          <c:yVal>
            <c:numLit>
              <c:formatCode>General</c:formatCode>
              <c:ptCount val="501"/>
              <c:pt idx="0">
                <c:v>0</c:v>
              </c:pt>
              <c:pt idx="1">
                <c:v>0.006666666666666667</c:v>
              </c:pt>
              <c:pt idx="2">
                <c:v>0.013333333333333334</c:v>
              </c:pt>
              <c:pt idx="3">
                <c:v>0.02</c:v>
              </c:pt>
              <c:pt idx="4">
                <c:v>0.02666666666666667</c:v>
              </c:pt>
              <c:pt idx="5">
                <c:v>0.03333333333333333</c:v>
              </c:pt>
              <c:pt idx="6">
                <c:v>0.04</c:v>
              </c:pt>
              <c:pt idx="7">
                <c:v>0.04666666666666666</c:v>
              </c:pt>
              <c:pt idx="8">
                <c:v>0.05333333333333334</c:v>
              </c:pt>
              <c:pt idx="9">
                <c:v>0.060000000000000005</c:v>
              </c:pt>
              <c:pt idx="10">
                <c:v>0.06666666666666667</c:v>
              </c:pt>
              <c:pt idx="11">
                <c:v>0.07333333333333333</c:v>
              </c:pt>
              <c:pt idx="12">
                <c:v>0.08</c:v>
              </c:pt>
              <c:pt idx="13">
                <c:v>0.08666666666666667</c:v>
              </c:pt>
              <c:pt idx="14">
                <c:v>0.09333333333333332</c:v>
              </c:pt>
              <c:pt idx="15">
                <c:v>0.1</c:v>
              </c:pt>
              <c:pt idx="16">
                <c:v>0.10666666666666667</c:v>
              </c:pt>
              <c:pt idx="17">
                <c:v>0.11333333333333333</c:v>
              </c:pt>
              <c:pt idx="18">
                <c:v>0.12000000000000001</c:v>
              </c:pt>
              <c:pt idx="19">
                <c:v>0.12666666666666665</c:v>
              </c:pt>
              <c:pt idx="20">
                <c:v>0.13333333333333333</c:v>
              </c:pt>
              <c:pt idx="21">
                <c:v>0.14</c:v>
              </c:pt>
              <c:pt idx="22">
                <c:v>0.14666666666666667</c:v>
              </c:pt>
              <c:pt idx="23">
                <c:v>0.15333333333333332</c:v>
              </c:pt>
              <c:pt idx="24">
                <c:v>0.16</c:v>
              </c:pt>
              <c:pt idx="25">
                <c:v>0.16666666666666666</c:v>
              </c:pt>
              <c:pt idx="26">
                <c:v>0.17333333333333334</c:v>
              </c:pt>
              <c:pt idx="27">
                <c:v>0.18000000000000002</c:v>
              </c:pt>
              <c:pt idx="28">
                <c:v>0.18666666666666665</c:v>
              </c:pt>
              <c:pt idx="29">
                <c:v>0.19333333333333333</c:v>
              </c:pt>
              <c:pt idx="30">
                <c:v>0.2</c:v>
              </c:pt>
              <c:pt idx="31">
                <c:v>0.20666666666666667</c:v>
              </c:pt>
              <c:pt idx="32">
                <c:v>0.21333333333333335</c:v>
              </c:pt>
              <c:pt idx="33">
                <c:v>0.22</c:v>
              </c:pt>
              <c:pt idx="34">
                <c:v>0.22666666666666666</c:v>
              </c:pt>
              <c:pt idx="35">
                <c:v>0.23333333333333334</c:v>
              </c:pt>
              <c:pt idx="36">
                <c:v>0.24000000000000002</c:v>
              </c:pt>
              <c:pt idx="37">
                <c:v>0.24666666666666667</c:v>
              </c:pt>
              <c:pt idx="38">
                <c:v>0.2533333333333333</c:v>
              </c:pt>
              <c:pt idx="39">
                <c:v>0.26</c:v>
              </c:pt>
              <c:pt idx="40">
                <c:v>0.26666666666666666</c:v>
              </c:pt>
              <c:pt idx="41">
                <c:v>0.2733333333333333</c:v>
              </c:pt>
              <c:pt idx="42">
                <c:v>0.28</c:v>
              </c:pt>
              <c:pt idx="43">
                <c:v>0.2866666666666667</c:v>
              </c:pt>
              <c:pt idx="44">
                <c:v>0.29333333333333333</c:v>
              </c:pt>
              <c:pt idx="45">
                <c:v>0.3</c:v>
              </c:pt>
              <c:pt idx="46">
                <c:v>0.30666666666666664</c:v>
              </c:pt>
              <c:pt idx="47">
                <c:v>0.31333333333333335</c:v>
              </c:pt>
              <c:pt idx="48">
                <c:v>0.32</c:v>
              </c:pt>
              <c:pt idx="49">
                <c:v>0.3266666666666667</c:v>
              </c:pt>
              <c:pt idx="50">
                <c:v>0.3333333333333333</c:v>
              </c:pt>
              <c:pt idx="51">
                <c:v>0.33999999999999997</c:v>
              </c:pt>
              <c:pt idx="52">
                <c:v>0.3466666666666667</c:v>
              </c:pt>
              <c:pt idx="53">
                <c:v>0.35333333333333333</c:v>
              </c:pt>
              <c:pt idx="54">
                <c:v>0.36000000000000004</c:v>
              </c:pt>
              <c:pt idx="55">
                <c:v>0.36666666666666664</c:v>
              </c:pt>
              <c:pt idx="56">
                <c:v>0.3733333333333333</c:v>
              </c:pt>
              <c:pt idx="57">
                <c:v>0.38</c:v>
              </c:pt>
              <c:pt idx="58">
                <c:v>0.38666666666666666</c:v>
              </c:pt>
              <c:pt idx="59">
                <c:v>0.39333333333333337</c:v>
              </c:pt>
              <c:pt idx="60">
                <c:v>0.4</c:v>
              </c:pt>
              <c:pt idx="61">
                <c:v>0.4066666666666666</c:v>
              </c:pt>
              <c:pt idx="62">
                <c:v>0.41333333333333333</c:v>
              </c:pt>
              <c:pt idx="63">
                <c:v>0.42</c:v>
              </c:pt>
              <c:pt idx="64">
                <c:v>0.4266666666666667</c:v>
              </c:pt>
              <c:pt idx="65">
                <c:v>0.43333333333333335</c:v>
              </c:pt>
              <c:pt idx="66">
                <c:v>0.44</c:v>
              </c:pt>
              <c:pt idx="67">
                <c:v>0.44666666666666666</c:v>
              </c:pt>
              <c:pt idx="68">
                <c:v>0.4533333333333333</c:v>
              </c:pt>
              <c:pt idx="69">
                <c:v>0.46</c:v>
              </c:pt>
              <c:pt idx="70">
                <c:v>0.4666666666666667</c:v>
              </c:pt>
              <c:pt idx="71">
                <c:v>0.47333333333333333</c:v>
              </c:pt>
              <c:pt idx="72">
                <c:v>0.48000000000000004</c:v>
              </c:pt>
              <c:pt idx="73">
                <c:v>0.48666666666666664</c:v>
              </c:pt>
              <c:pt idx="74">
                <c:v>0.49333333333333335</c:v>
              </c:pt>
              <c:pt idx="75">
                <c:v>0.5</c:v>
              </c:pt>
              <c:pt idx="76">
                <c:v>0.5066666666666666</c:v>
              </c:pt>
              <c:pt idx="77">
                <c:v>0.5133333333333333</c:v>
              </c:pt>
              <c:pt idx="78">
                <c:v>0.52</c:v>
              </c:pt>
              <c:pt idx="79">
                <c:v>0.5266666666666667</c:v>
              </c:pt>
              <c:pt idx="80">
                <c:v>0.5333333333333333</c:v>
              </c:pt>
              <c:pt idx="81">
                <c:v>0.5399999999999999</c:v>
              </c:pt>
              <c:pt idx="82">
                <c:v>0.5466666666666666</c:v>
              </c:pt>
              <c:pt idx="83">
                <c:v>0.5533333333333333</c:v>
              </c:pt>
              <c:pt idx="84">
                <c:v>0.56</c:v>
              </c:pt>
              <c:pt idx="85">
                <c:v>0.5666666666666667</c:v>
              </c:pt>
              <c:pt idx="86">
                <c:v>0.5733333333333334</c:v>
              </c:pt>
              <c:pt idx="87">
                <c:v>0.58</c:v>
              </c:pt>
              <c:pt idx="88">
                <c:v>0.5866666666666667</c:v>
              </c:pt>
              <c:pt idx="89">
                <c:v>0.5933333333333334</c:v>
              </c:pt>
              <c:pt idx="90">
                <c:v>0.6</c:v>
              </c:pt>
              <c:pt idx="91">
                <c:v>0.6</c:v>
              </c:pt>
              <c:pt idx="92">
                <c:v>0.6</c:v>
              </c:pt>
              <c:pt idx="93">
                <c:v>0.6</c:v>
              </c:pt>
              <c:pt idx="94">
                <c:v>0.6</c:v>
              </c:pt>
              <c:pt idx="95">
                <c:v>0.6</c:v>
              </c:pt>
              <c:pt idx="96">
                <c:v>0.6</c:v>
              </c:pt>
              <c:pt idx="97">
                <c:v>0.6</c:v>
              </c:pt>
              <c:pt idx="98">
                <c:v>0.6</c:v>
              </c:pt>
              <c:pt idx="99">
                <c:v>0.6</c:v>
              </c:pt>
              <c:pt idx="100">
                <c:v>0.6</c:v>
              </c:pt>
              <c:pt idx="101">
                <c:v>0.6</c:v>
              </c:pt>
              <c:pt idx="102">
                <c:v>0.6</c:v>
              </c:pt>
              <c:pt idx="103">
                <c:v>0.6</c:v>
              </c:pt>
              <c:pt idx="104">
                <c:v>0.6</c:v>
              </c:pt>
              <c:pt idx="105">
                <c:v>0.6</c:v>
              </c:pt>
              <c:pt idx="106">
                <c:v>0.6</c:v>
              </c:pt>
              <c:pt idx="107">
                <c:v>0.6</c:v>
              </c:pt>
              <c:pt idx="108">
                <c:v>0.6</c:v>
              </c:pt>
              <c:pt idx="109">
                <c:v>0.6</c:v>
              </c:pt>
              <c:pt idx="110">
                <c:v>0.6</c:v>
              </c:pt>
              <c:pt idx="111">
                <c:v>0.6</c:v>
              </c:pt>
              <c:pt idx="112">
                <c:v>0.6</c:v>
              </c:pt>
              <c:pt idx="113">
                <c:v>0.6</c:v>
              </c:pt>
              <c:pt idx="114">
                <c:v>0.6</c:v>
              </c:pt>
              <c:pt idx="115">
                <c:v>0.6</c:v>
              </c:pt>
              <c:pt idx="116">
                <c:v>0.6</c:v>
              </c:pt>
              <c:pt idx="117">
                <c:v>0.6</c:v>
              </c:pt>
              <c:pt idx="118">
                <c:v>0.6</c:v>
              </c:pt>
              <c:pt idx="119">
                <c:v>0.6</c:v>
              </c:pt>
              <c:pt idx="120">
                <c:v>0.6</c:v>
              </c:pt>
              <c:pt idx="121">
                <c:v>0.6</c:v>
              </c:pt>
              <c:pt idx="122">
                <c:v>0.6</c:v>
              </c:pt>
              <c:pt idx="123">
                <c:v>0.6</c:v>
              </c:pt>
              <c:pt idx="124">
                <c:v>0.6</c:v>
              </c:pt>
              <c:pt idx="125">
                <c:v>0.6</c:v>
              </c:pt>
              <c:pt idx="126">
                <c:v>0.6</c:v>
              </c:pt>
              <c:pt idx="127">
                <c:v>0.6</c:v>
              </c:pt>
              <c:pt idx="128">
                <c:v>0.6</c:v>
              </c:pt>
              <c:pt idx="129">
                <c:v>0.6</c:v>
              </c:pt>
              <c:pt idx="130">
                <c:v>0.6</c:v>
              </c:pt>
              <c:pt idx="131">
                <c:v>0.6</c:v>
              </c:pt>
              <c:pt idx="132">
                <c:v>0.6</c:v>
              </c:pt>
              <c:pt idx="133">
                <c:v>0.6</c:v>
              </c:pt>
              <c:pt idx="134">
                <c:v>0.6</c:v>
              </c:pt>
              <c:pt idx="135">
                <c:v>0.6</c:v>
              </c:pt>
              <c:pt idx="136">
                <c:v>0.6</c:v>
              </c:pt>
              <c:pt idx="137">
                <c:v>0.6</c:v>
              </c:pt>
              <c:pt idx="138">
                <c:v>0.6</c:v>
              </c:pt>
              <c:pt idx="139">
                <c:v>0.6</c:v>
              </c:pt>
              <c:pt idx="140">
                <c:v>0.6</c:v>
              </c:pt>
              <c:pt idx="141">
                <c:v>0.6</c:v>
              </c:pt>
              <c:pt idx="142">
                <c:v>0.6</c:v>
              </c:pt>
              <c:pt idx="143">
                <c:v>0.6</c:v>
              </c:pt>
              <c:pt idx="144">
                <c:v>0.6</c:v>
              </c:pt>
              <c:pt idx="145">
                <c:v>0.6</c:v>
              </c:pt>
              <c:pt idx="146">
                <c:v>0.6</c:v>
              </c:pt>
              <c:pt idx="147">
                <c:v>0.6</c:v>
              </c:pt>
              <c:pt idx="148">
                <c:v>0.6</c:v>
              </c:pt>
              <c:pt idx="149">
                <c:v>0.6</c:v>
              </c:pt>
              <c:pt idx="150">
                <c:v>0.6</c:v>
              </c:pt>
              <c:pt idx="151">
                <c:v>0.6</c:v>
              </c:pt>
              <c:pt idx="152">
                <c:v>0.6</c:v>
              </c:pt>
              <c:pt idx="153">
                <c:v>0.6</c:v>
              </c:pt>
              <c:pt idx="154">
                <c:v>0.6</c:v>
              </c:pt>
              <c:pt idx="155">
                <c:v>0.6</c:v>
              </c:pt>
              <c:pt idx="156">
                <c:v>0.6</c:v>
              </c:pt>
              <c:pt idx="157">
                <c:v>0.6</c:v>
              </c:pt>
              <c:pt idx="158">
                <c:v>0.6</c:v>
              </c:pt>
              <c:pt idx="159">
                <c:v>0.6</c:v>
              </c:pt>
              <c:pt idx="160">
                <c:v>0.6</c:v>
              </c:pt>
              <c:pt idx="161">
                <c:v>0.6</c:v>
              </c:pt>
              <c:pt idx="162">
                <c:v>0.6</c:v>
              </c:pt>
              <c:pt idx="163">
                <c:v>0.6</c:v>
              </c:pt>
              <c:pt idx="164">
                <c:v>0.6</c:v>
              </c:pt>
              <c:pt idx="165">
                <c:v>0.6</c:v>
              </c:pt>
              <c:pt idx="166">
                <c:v>0.6</c:v>
              </c:pt>
              <c:pt idx="167">
                <c:v>0.6</c:v>
              </c:pt>
              <c:pt idx="168">
                <c:v>0.6</c:v>
              </c:pt>
              <c:pt idx="169">
                <c:v>0.6</c:v>
              </c:pt>
              <c:pt idx="170">
                <c:v>0.6</c:v>
              </c:pt>
              <c:pt idx="171">
                <c:v>0.6</c:v>
              </c:pt>
              <c:pt idx="172">
                <c:v>0.6</c:v>
              </c:pt>
              <c:pt idx="173">
                <c:v>0.6</c:v>
              </c:pt>
              <c:pt idx="174">
                <c:v>0.6</c:v>
              </c:pt>
              <c:pt idx="175">
                <c:v>0.6</c:v>
              </c:pt>
              <c:pt idx="176">
                <c:v>0.6</c:v>
              </c:pt>
              <c:pt idx="177">
                <c:v>0.6</c:v>
              </c:pt>
              <c:pt idx="178">
                <c:v>0.6</c:v>
              </c:pt>
              <c:pt idx="179">
                <c:v>0.6</c:v>
              </c:pt>
              <c:pt idx="180">
                <c:v>0.6</c:v>
              </c:pt>
              <c:pt idx="181">
                <c:v>0.6</c:v>
              </c:pt>
              <c:pt idx="182">
                <c:v>0.6</c:v>
              </c:pt>
              <c:pt idx="183">
                <c:v>0.6</c:v>
              </c:pt>
              <c:pt idx="184">
                <c:v>0.6</c:v>
              </c:pt>
              <c:pt idx="185">
                <c:v>0.6</c:v>
              </c:pt>
              <c:pt idx="186">
                <c:v>0.6</c:v>
              </c:pt>
              <c:pt idx="187">
                <c:v>0.6</c:v>
              </c:pt>
              <c:pt idx="188">
                <c:v>0.6</c:v>
              </c:pt>
              <c:pt idx="189">
                <c:v>0.6</c:v>
              </c:pt>
              <c:pt idx="190">
                <c:v>0.6</c:v>
              </c:pt>
              <c:pt idx="191">
                <c:v>0.6</c:v>
              </c:pt>
              <c:pt idx="192">
                <c:v>0.6</c:v>
              </c:pt>
              <c:pt idx="193">
                <c:v>0.6</c:v>
              </c:pt>
              <c:pt idx="194">
                <c:v>0.6</c:v>
              </c:pt>
              <c:pt idx="195">
                <c:v>0.6</c:v>
              </c:pt>
              <c:pt idx="196">
                <c:v>0.6</c:v>
              </c:pt>
              <c:pt idx="197">
                <c:v>0.6</c:v>
              </c:pt>
              <c:pt idx="198">
                <c:v>0.6</c:v>
              </c:pt>
              <c:pt idx="199">
                <c:v>0.6</c:v>
              </c:pt>
              <c:pt idx="200">
                <c:v>0.6</c:v>
              </c:pt>
              <c:pt idx="201">
                <c:v>0.6</c:v>
              </c:pt>
              <c:pt idx="202">
                <c:v>0.6</c:v>
              </c:pt>
              <c:pt idx="203">
                <c:v>0.6</c:v>
              </c:pt>
              <c:pt idx="204">
                <c:v>0.6</c:v>
              </c:pt>
              <c:pt idx="205">
                <c:v>0.6</c:v>
              </c:pt>
              <c:pt idx="206">
                <c:v>0.6</c:v>
              </c:pt>
              <c:pt idx="207">
                <c:v>0.6</c:v>
              </c:pt>
              <c:pt idx="208">
                <c:v>0.6</c:v>
              </c:pt>
              <c:pt idx="209">
                <c:v>0.6</c:v>
              </c:pt>
              <c:pt idx="210">
                <c:v>0.6</c:v>
              </c:pt>
              <c:pt idx="211">
                <c:v>0.5933333333333333</c:v>
              </c:pt>
              <c:pt idx="212">
                <c:v>0.5866666666666667</c:v>
              </c:pt>
              <c:pt idx="213">
                <c:v>0.58</c:v>
              </c:pt>
              <c:pt idx="214">
                <c:v>0.5733333333333335</c:v>
              </c:pt>
              <c:pt idx="215">
                <c:v>0.5666666666666667</c:v>
              </c:pt>
              <c:pt idx="216">
                <c:v>0.5599999999999999</c:v>
              </c:pt>
              <c:pt idx="217">
                <c:v>0.5533333333333333</c:v>
              </c:pt>
              <c:pt idx="218">
                <c:v>0.5466666666666666</c:v>
              </c:pt>
              <c:pt idx="219">
                <c:v>0.5400000000000001</c:v>
              </c:pt>
              <c:pt idx="220">
                <c:v>0.5333333333333333</c:v>
              </c:pt>
              <c:pt idx="221">
                <c:v>0.5266666666666666</c:v>
              </c:pt>
              <c:pt idx="222">
                <c:v>0.52</c:v>
              </c:pt>
              <c:pt idx="223">
                <c:v>0.5133333333333333</c:v>
              </c:pt>
              <c:pt idx="224">
                <c:v>0.5066666666666667</c:v>
              </c:pt>
              <c:pt idx="225">
                <c:v>0.5</c:v>
              </c:pt>
              <c:pt idx="226">
                <c:v>0.49333333333333323</c:v>
              </c:pt>
              <c:pt idx="227">
                <c:v>0.4866666666666667</c:v>
              </c:pt>
              <c:pt idx="228">
                <c:v>0.4799999999999999</c:v>
              </c:pt>
              <c:pt idx="229">
                <c:v>0.47333333333333344</c:v>
              </c:pt>
              <c:pt idx="230">
                <c:v>0.4666666666666667</c:v>
              </c:pt>
              <c:pt idx="231">
                <c:v>0.4599999999999999</c:v>
              </c:pt>
              <c:pt idx="232">
                <c:v>0.45333333333333337</c:v>
              </c:pt>
              <c:pt idx="233">
                <c:v>0.4466666666666666</c:v>
              </c:pt>
              <c:pt idx="234">
                <c:v>0.4400000000000001</c:v>
              </c:pt>
              <c:pt idx="235">
                <c:v>0.43333333333333335</c:v>
              </c:pt>
              <c:pt idx="236">
                <c:v>0.4266666666666666</c:v>
              </c:pt>
              <c:pt idx="237">
                <c:v>0.42000000000000004</c:v>
              </c:pt>
              <c:pt idx="238">
                <c:v>0.4133333333333333</c:v>
              </c:pt>
              <c:pt idx="239">
                <c:v>0.4066666666666668</c:v>
              </c:pt>
              <c:pt idx="240">
                <c:v>0.4</c:v>
              </c:pt>
              <c:pt idx="241">
                <c:v>0.39333333333333326</c:v>
              </c:pt>
              <c:pt idx="242">
                <c:v>0.3866666666666667</c:v>
              </c:pt>
              <c:pt idx="243">
                <c:v>0.37999999999999995</c:v>
              </c:pt>
              <c:pt idx="244">
                <c:v>0.3733333333333334</c:v>
              </c:pt>
              <c:pt idx="245">
                <c:v>0.36666666666666664</c:v>
              </c:pt>
              <c:pt idx="246">
                <c:v>0.35999999999999993</c:v>
              </c:pt>
              <c:pt idx="247">
                <c:v>0.3533333333333334</c:v>
              </c:pt>
              <c:pt idx="248">
                <c:v>0.3466666666666666</c:v>
              </c:pt>
              <c:pt idx="249">
                <c:v>0.3400000000000001</c:v>
              </c:pt>
              <c:pt idx="250">
                <c:v>0.3333333333333333</c:v>
              </c:pt>
              <c:pt idx="251">
                <c:v>0.32666666666666655</c:v>
              </c:pt>
              <c:pt idx="252">
                <c:v>0.32000000000000006</c:v>
              </c:pt>
              <c:pt idx="253">
                <c:v>0.3133333333333333</c:v>
              </c:pt>
              <c:pt idx="254">
                <c:v>0.30666666666666675</c:v>
              </c:pt>
              <c:pt idx="255">
                <c:v>0.3</c:v>
              </c:pt>
              <c:pt idx="256">
                <c:v>0.3</c:v>
              </c:pt>
              <c:pt idx="257">
                <c:v>0.3</c:v>
              </c:pt>
              <c:pt idx="258">
                <c:v>0.3</c:v>
              </c:pt>
              <c:pt idx="259">
                <c:v>0.3</c:v>
              </c:pt>
              <c:pt idx="260">
                <c:v>0.3</c:v>
              </c:pt>
              <c:pt idx="261">
                <c:v>0.3</c:v>
              </c:pt>
              <c:pt idx="262">
                <c:v>0.3</c:v>
              </c:pt>
              <c:pt idx="263">
                <c:v>0.3</c:v>
              </c:pt>
              <c:pt idx="264">
                <c:v>0.3</c:v>
              </c:pt>
              <c:pt idx="265">
                <c:v>0.3</c:v>
              </c:pt>
              <c:pt idx="266">
                <c:v>0.3</c:v>
              </c:pt>
              <c:pt idx="267">
                <c:v>0.3</c:v>
              </c:pt>
              <c:pt idx="268">
                <c:v>0.3</c:v>
              </c:pt>
              <c:pt idx="269">
                <c:v>0.3</c:v>
              </c:pt>
              <c:pt idx="270">
                <c:v>0.3</c:v>
              </c:pt>
              <c:pt idx="271">
                <c:v>0.3</c:v>
              </c:pt>
              <c:pt idx="272">
                <c:v>0.3</c:v>
              </c:pt>
              <c:pt idx="273">
                <c:v>0.3</c:v>
              </c:pt>
              <c:pt idx="274">
                <c:v>0.3</c:v>
              </c:pt>
              <c:pt idx="275">
                <c:v>0.3</c:v>
              </c:pt>
              <c:pt idx="276">
                <c:v>0.3</c:v>
              </c:pt>
              <c:pt idx="277">
                <c:v>0.3</c:v>
              </c:pt>
              <c:pt idx="278">
                <c:v>0.3</c:v>
              </c:pt>
              <c:pt idx="279">
                <c:v>0.3</c:v>
              </c:pt>
              <c:pt idx="280">
                <c:v>0.3</c:v>
              </c:pt>
              <c:pt idx="281">
                <c:v>0.3</c:v>
              </c:pt>
              <c:pt idx="282">
                <c:v>0.3</c:v>
              </c:pt>
              <c:pt idx="283">
                <c:v>0.3</c:v>
              </c:pt>
              <c:pt idx="284">
                <c:v>0.3</c:v>
              </c:pt>
              <c:pt idx="285">
                <c:v>0.3</c:v>
              </c:pt>
              <c:pt idx="286">
                <c:v>0.3</c:v>
              </c:pt>
              <c:pt idx="287">
                <c:v>0.3</c:v>
              </c:pt>
              <c:pt idx="288">
                <c:v>0.3</c:v>
              </c:pt>
              <c:pt idx="289">
                <c:v>0.3</c:v>
              </c:pt>
              <c:pt idx="290">
                <c:v>0.3</c:v>
              </c:pt>
              <c:pt idx="291">
                <c:v>0.3</c:v>
              </c:pt>
              <c:pt idx="292">
                <c:v>0.3</c:v>
              </c:pt>
              <c:pt idx="293">
                <c:v>0.3</c:v>
              </c:pt>
              <c:pt idx="294">
                <c:v>0.3</c:v>
              </c:pt>
              <c:pt idx="295">
                <c:v>0.3</c:v>
              </c:pt>
              <c:pt idx="296">
                <c:v>0.3</c:v>
              </c:pt>
              <c:pt idx="297">
                <c:v>0.3</c:v>
              </c:pt>
              <c:pt idx="298">
                <c:v>0.3</c:v>
              </c:pt>
              <c:pt idx="299">
                <c:v>0.3</c:v>
              </c:pt>
              <c:pt idx="300">
                <c:v>0.3</c:v>
              </c:pt>
              <c:pt idx="301">
                <c:v>0.3</c:v>
              </c:pt>
              <c:pt idx="302">
                <c:v>0.3</c:v>
              </c:pt>
              <c:pt idx="303">
                <c:v>0.3</c:v>
              </c:pt>
              <c:pt idx="304">
                <c:v>0.3</c:v>
              </c:pt>
              <c:pt idx="305">
                <c:v>0.3</c:v>
              </c:pt>
              <c:pt idx="306">
                <c:v>0.3</c:v>
              </c:pt>
              <c:pt idx="307">
                <c:v>0.3</c:v>
              </c:pt>
              <c:pt idx="308">
                <c:v>0.3</c:v>
              </c:pt>
              <c:pt idx="309">
                <c:v>0.3</c:v>
              </c:pt>
              <c:pt idx="310">
                <c:v>0.3</c:v>
              </c:pt>
              <c:pt idx="311">
                <c:v>0.3</c:v>
              </c:pt>
              <c:pt idx="312">
                <c:v>0.3</c:v>
              </c:pt>
              <c:pt idx="313">
                <c:v>0.3</c:v>
              </c:pt>
              <c:pt idx="314">
                <c:v>0.3</c:v>
              </c:pt>
              <c:pt idx="315">
                <c:v>0.3</c:v>
              </c:pt>
              <c:pt idx="316">
                <c:v>0.3</c:v>
              </c:pt>
              <c:pt idx="317">
                <c:v>0.3</c:v>
              </c:pt>
              <c:pt idx="318">
                <c:v>0.3</c:v>
              </c:pt>
              <c:pt idx="319">
                <c:v>0.3</c:v>
              </c:pt>
              <c:pt idx="320">
                <c:v>0.3</c:v>
              </c:pt>
              <c:pt idx="321">
                <c:v>0.3</c:v>
              </c:pt>
              <c:pt idx="322">
                <c:v>0.3</c:v>
              </c:pt>
              <c:pt idx="323">
                <c:v>0.3</c:v>
              </c:pt>
              <c:pt idx="324">
                <c:v>0.3</c:v>
              </c:pt>
              <c:pt idx="325">
                <c:v>0.3</c:v>
              </c:pt>
              <c:pt idx="326">
                <c:v>0.3</c:v>
              </c:pt>
              <c:pt idx="327">
                <c:v>0.3</c:v>
              </c:pt>
              <c:pt idx="328">
                <c:v>0.3</c:v>
              </c:pt>
              <c:pt idx="329">
                <c:v>0.3</c:v>
              </c:pt>
              <c:pt idx="330">
                <c:v>0.3</c:v>
              </c:pt>
              <c:pt idx="331">
                <c:v>0.3</c:v>
              </c:pt>
              <c:pt idx="332">
                <c:v>0.3</c:v>
              </c:pt>
              <c:pt idx="333">
                <c:v>0.3</c:v>
              </c:pt>
              <c:pt idx="334">
                <c:v>0.3</c:v>
              </c:pt>
              <c:pt idx="335">
                <c:v>0.3</c:v>
              </c:pt>
              <c:pt idx="336">
                <c:v>0.3</c:v>
              </c:pt>
              <c:pt idx="337">
                <c:v>0.3</c:v>
              </c:pt>
              <c:pt idx="338">
                <c:v>0.3</c:v>
              </c:pt>
              <c:pt idx="339">
                <c:v>0.3</c:v>
              </c:pt>
              <c:pt idx="340">
                <c:v>0.3</c:v>
              </c:pt>
              <c:pt idx="341">
                <c:v>0.3</c:v>
              </c:pt>
              <c:pt idx="342">
                <c:v>0.3</c:v>
              </c:pt>
              <c:pt idx="343">
                <c:v>0.3</c:v>
              </c:pt>
              <c:pt idx="344">
                <c:v>0.3</c:v>
              </c:pt>
              <c:pt idx="345">
                <c:v>0.3</c:v>
              </c:pt>
              <c:pt idx="346">
                <c:v>0.3</c:v>
              </c:pt>
              <c:pt idx="347">
                <c:v>0.3</c:v>
              </c:pt>
              <c:pt idx="348">
                <c:v>0.3</c:v>
              </c:pt>
              <c:pt idx="349">
                <c:v>0.3</c:v>
              </c:pt>
              <c:pt idx="350">
                <c:v>0.3</c:v>
              </c:pt>
              <c:pt idx="351">
                <c:v>0.3</c:v>
              </c:pt>
              <c:pt idx="352">
                <c:v>0.3</c:v>
              </c:pt>
              <c:pt idx="353">
                <c:v>0.3</c:v>
              </c:pt>
              <c:pt idx="354">
                <c:v>0.3</c:v>
              </c:pt>
              <c:pt idx="355">
                <c:v>0.3</c:v>
              </c:pt>
              <c:pt idx="356">
                <c:v>0.3</c:v>
              </c:pt>
              <c:pt idx="357">
                <c:v>0.3</c:v>
              </c:pt>
              <c:pt idx="358">
                <c:v>0.3</c:v>
              </c:pt>
              <c:pt idx="359">
                <c:v>0.3</c:v>
              </c:pt>
              <c:pt idx="360">
                <c:v>0.3</c:v>
              </c:pt>
              <c:pt idx="361">
                <c:v>0.3</c:v>
              </c:pt>
              <c:pt idx="362">
                <c:v>0.3</c:v>
              </c:pt>
              <c:pt idx="363">
                <c:v>0.3</c:v>
              </c:pt>
              <c:pt idx="364">
                <c:v>0.3</c:v>
              </c:pt>
              <c:pt idx="365">
                <c:v>0.3</c:v>
              </c:pt>
              <c:pt idx="366">
                <c:v>0.3</c:v>
              </c:pt>
              <c:pt idx="367">
                <c:v>0.3</c:v>
              </c:pt>
              <c:pt idx="368">
                <c:v>0.3</c:v>
              </c:pt>
              <c:pt idx="369">
                <c:v>0.3</c:v>
              </c:pt>
              <c:pt idx="370">
                <c:v>0.3</c:v>
              </c:pt>
              <c:pt idx="371">
                <c:v>0.3</c:v>
              </c:pt>
              <c:pt idx="372">
                <c:v>0.3</c:v>
              </c:pt>
              <c:pt idx="373">
                <c:v>0.3</c:v>
              </c:pt>
              <c:pt idx="374">
                <c:v>0.3</c:v>
              </c:pt>
              <c:pt idx="375">
                <c:v>0.3</c:v>
              </c:pt>
              <c:pt idx="376">
                <c:v>0.3</c:v>
              </c:pt>
              <c:pt idx="377">
                <c:v>0.3</c:v>
              </c:pt>
              <c:pt idx="378">
                <c:v>0.3</c:v>
              </c:pt>
              <c:pt idx="379">
                <c:v>0.3</c:v>
              </c:pt>
              <c:pt idx="380">
                <c:v>0.3</c:v>
              </c:pt>
              <c:pt idx="381">
                <c:v>0.3</c:v>
              </c:pt>
              <c:pt idx="382">
                <c:v>0.3</c:v>
              </c:pt>
              <c:pt idx="383">
                <c:v>0.3</c:v>
              </c:pt>
              <c:pt idx="384">
                <c:v>0.3</c:v>
              </c:pt>
              <c:pt idx="385">
                <c:v>0.3</c:v>
              </c:pt>
              <c:pt idx="386">
                <c:v>0.3</c:v>
              </c:pt>
              <c:pt idx="387">
                <c:v>0.3</c:v>
              </c:pt>
              <c:pt idx="388">
                <c:v>0.3</c:v>
              </c:pt>
              <c:pt idx="389">
                <c:v>0.3</c:v>
              </c:pt>
              <c:pt idx="390">
                <c:v>0.3</c:v>
              </c:pt>
              <c:pt idx="391">
                <c:v>0.3</c:v>
              </c:pt>
              <c:pt idx="392">
                <c:v>0.3</c:v>
              </c:pt>
              <c:pt idx="393">
                <c:v>0.3</c:v>
              </c:pt>
              <c:pt idx="394">
                <c:v>0.3</c:v>
              </c:pt>
              <c:pt idx="395">
                <c:v>0.3</c:v>
              </c:pt>
              <c:pt idx="396">
                <c:v>0.3</c:v>
              </c:pt>
              <c:pt idx="397">
                <c:v>0.3</c:v>
              </c:pt>
              <c:pt idx="398">
                <c:v>0.3</c:v>
              </c:pt>
              <c:pt idx="399">
                <c:v>0.3</c:v>
              </c:pt>
              <c:pt idx="400">
                <c:v>0.3</c:v>
              </c:pt>
              <c:pt idx="401">
                <c:v>0.3</c:v>
              </c:pt>
              <c:pt idx="402">
                <c:v>0.3</c:v>
              </c:pt>
              <c:pt idx="403">
                <c:v>0.3</c:v>
              </c:pt>
              <c:pt idx="404">
                <c:v>0.3</c:v>
              </c:pt>
              <c:pt idx="405">
                <c:v>0.3</c:v>
              </c:pt>
              <c:pt idx="406">
                <c:v>0.2933333333333332</c:v>
              </c:pt>
              <c:pt idx="407">
                <c:v>0.28666666666666646</c:v>
              </c:pt>
              <c:pt idx="408">
                <c:v>0.2800000000000002</c:v>
              </c:pt>
              <c:pt idx="409">
                <c:v>0.27333333333333343</c:v>
              </c:pt>
              <c:pt idx="410">
                <c:v>0.26666666666666666</c:v>
              </c:pt>
              <c:pt idx="411">
                <c:v>0.2599999999999999</c:v>
              </c:pt>
              <c:pt idx="412">
                <c:v>0.25333333333333313</c:v>
              </c:pt>
              <c:pt idx="413">
                <c:v>0.24666666666666687</c:v>
              </c:pt>
              <c:pt idx="414">
                <c:v>0.2400000000000001</c:v>
              </c:pt>
              <c:pt idx="415">
                <c:v>0.23333333333333334</c:v>
              </c:pt>
              <c:pt idx="416">
                <c:v>0.22666666666666657</c:v>
              </c:pt>
              <c:pt idx="417">
                <c:v>0.2199999999999998</c:v>
              </c:pt>
              <c:pt idx="418">
                <c:v>0.2133333333333335</c:v>
              </c:pt>
              <c:pt idx="419">
                <c:v>0.20666666666666675</c:v>
              </c:pt>
              <c:pt idx="420">
                <c:v>0.2</c:v>
              </c:pt>
              <c:pt idx="421">
                <c:v>0.19333333333333325</c:v>
              </c:pt>
              <c:pt idx="422">
                <c:v>0.18666666666666648</c:v>
              </c:pt>
              <c:pt idx="423">
                <c:v>0.1800000000000002</c:v>
              </c:pt>
              <c:pt idx="424">
                <c:v>0.17333333333333342</c:v>
              </c:pt>
              <c:pt idx="425">
                <c:v>0.16666666666666666</c:v>
              </c:pt>
              <c:pt idx="426">
                <c:v>0.1599999999999999</c:v>
              </c:pt>
              <c:pt idx="427">
                <c:v>0.15333333333333315</c:v>
              </c:pt>
              <c:pt idx="428">
                <c:v>0.14666666666666686</c:v>
              </c:pt>
              <c:pt idx="429">
                <c:v>0.1400000000000001</c:v>
              </c:pt>
              <c:pt idx="430">
                <c:v>0.13333333333333333</c:v>
              </c:pt>
              <c:pt idx="431">
                <c:v>0.12666666666666657</c:v>
              </c:pt>
              <c:pt idx="432">
                <c:v>0.11999999999999982</c:v>
              </c:pt>
              <c:pt idx="433">
                <c:v>0.11333333333333352</c:v>
              </c:pt>
              <c:pt idx="434">
                <c:v>0.10666666666666676</c:v>
              </c:pt>
              <c:pt idx="435">
                <c:v>0.1</c:v>
              </c:pt>
              <c:pt idx="436">
                <c:v>0.09333333333333324</c:v>
              </c:pt>
              <c:pt idx="437">
                <c:v>0.08666666666666648</c:v>
              </c:pt>
              <c:pt idx="438">
                <c:v>0.0800000000000002</c:v>
              </c:pt>
              <c:pt idx="439">
                <c:v>0.07333333333333343</c:v>
              </c:pt>
              <c:pt idx="440">
                <c:v>0.06666666666666667</c:v>
              </c:pt>
              <c:pt idx="441">
                <c:v>0.05999999999999991</c:v>
              </c:pt>
              <c:pt idx="442">
                <c:v>0.05333333333333314</c:v>
              </c:pt>
              <c:pt idx="443">
                <c:v>0.046666666666666856</c:v>
              </c:pt>
              <c:pt idx="444">
                <c:v>0.0400000000000001</c:v>
              </c:pt>
              <c:pt idx="445">
                <c:v>0.03333333333333333</c:v>
              </c:pt>
              <c:pt idx="446">
                <c:v>0.02666666666666657</c:v>
              </c:pt>
              <c:pt idx="447">
                <c:v>0.01999999999999981</c:v>
              </c:pt>
              <c:pt idx="448">
                <c:v>0.013333333333333523</c:v>
              </c:pt>
              <c:pt idx="449">
                <c:v>0.006666666666666762</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numLit>
          </c:yVal>
        </c:ser>
        <c:ser>
          <c:idx val="1"/>
          <c:order val="1"/>
          <c:tx>
            <c:v>Suma</c:v>
          </c:tx>
          <c:spPr>
            <a:ln xmlns:a="http://schemas.openxmlformats.org/drawingml/2006/main" w="28575">
              <a:solidFill>
                <a:srgbClr val="D96B18"/>
              </a:solidFill>
            </a:ln>
          </c:spPr>
          <c:marker>
            <c:symbol val="none"/>
            <c:size val="5"/>
          </c:marker>
          <c:xVal>
            <c:numLit>
              <c:formatCode>General</c:formatCode>
              <c:ptCount val="501"/>
              <c:pt idx="0">
                <c:v>0</c:v>
              </c:pt>
              <c:pt idx="1">
                <c:v>0.2</c:v>
              </c:pt>
              <c:pt idx="2">
                <c:v>0.4</c:v>
              </c:pt>
              <c:pt idx="3">
                <c:v>0.6</c:v>
              </c:pt>
              <c:pt idx="4">
                <c:v>0.8</c:v>
              </c:pt>
              <c:pt idx="5">
                <c:v>1</c:v>
              </c:pt>
              <c:pt idx="6">
                <c:v>1.2</c:v>
              </c:pt>
              <c:pt idx="7">
                <c:v>1.4</c:v>
              </c:pt>
              <c:pt idx="8">
                <c:v>1.6</c:v>
              </c:pt>
              <c:pt idx="9">
                <c:v>1.8</c:v>
              </c:pt>
              <c:pt idx="10">
                <c:v>2</c:v>
              </c:pt>
              <c:pt idx="11">
                <c:v>2.2</c:v>
              </c:pt>
              <c:pt idx="12">
                <c:v>2.4</c:v>
              </c:pt>
              <c:pt idx="13">
                <c:v>2.6</c:v>
              </c:pt>
              <c:pt idx="14">
                <c:v>2.8</c:v>
              </c:pt>
              <c:pt idx="15">
                <c:v>3</c:v>
              </c:pt>
              <c:pt idx="16">
                <c:v>3.2</c:v>
              </c:pt>
              <c:pt idx="17">
                <c:v>3.4</c:v>
              </c:pt>
              <c:pt idx="18">
                <c:v>3.6</c:v>
              </c:pt>
              <c:pt idx="19">
                <c:v>3.8</c:v>
              </c:pt>
              <c:pt idx="20">
                <c:v>4</c:v>
              </c:pt>
              <c:pt idx="21">
                <c:v>4.2</c:v>
              </c:pt>
              <c:pt idx="22">
                <c:v>4.4</c:v>
              </c:pt>
              <c:pt idx="23">
                <c:v>4.6</c:v>
              </c:pt>
              <c:pt idx="24">
                <c:v>4.8</c:v>
              </c:pt>
              <c:pt idx="25">
                <c:v>5</c:v>
              </c:pt>
              <c:pt idx="26">
                <c:v>5.2</c:v>
              </c:pt>
              <c:pt idx="27">
                <c:v>5.4</c:v>
              </c:pt>
              <c:pt idx="28">
                <c:v>5.6</c:v>
              </c:pt>
              <c:pt idx="29">
                <c:v>5.8</c:v>
              </c:pt>
              <c:pt idx="30">
                <c:v>6</c:v>
              </c:pt>
              <c:pt idx="31">
                <c:v>6.2</c:v>
              </c:pt>
              <c:pt idx="32">
                <c:v>6.4</c:v>
              </c:pt>
              <c:pt idx="33">
                <c:v>6.6</c:v>
              </c:pt>
              <c:pt idx="34">
                <c:v>6.8</c:v>
              </c:pt>
              <c:pt idx="35">
                <c:v>7</c:v>
              </c:pt>
              <c:pt idx="36">
                <c:v>7.2</c:v>
              </c:pt>
              <c:pt idx="37">
                <c:v>7.4</c:v>
              </c:pt>
              <c:pt idx="38">
                <c:v>7.6</c:v>
              </c:pt>
              <c:pt idx="39">
                <c:v>7.8</c:v>
              </c:pt>
              <c:pt idx="40">
                <c:v>8</c:v>
              </c:pt>
              <c:pt idx="41">
                <c:v>8.2</c:v>
              </c:pt>
              <c:pt idx="42">
                <c:v>8.4</c:v>
              </c:pt>
              <c:pt idx="43">
                <c:v>8.6</c:v>
              </c:pt>
              <c:pt idx="44">
                <c:v>8.8</c:v>
              </c:pt>
              <c:pt idx="45">
                <c:v>9</c:v>
              </c:pt>
              <c:pt idx="46">
                <c:v>9.2</c:v>
              </c:pt>
              <c:pt idx="47">
                <c:v>9.4</c:v>
              </c:pt>
              <c:pt idx="48">
                <c:v>9.6</c:v>
              </c:pt>
              <c:pt idx="49">
                <c:v>9.8</c:v>
              </c:pt>
              <c:pt idx="50">
                <c:v>10</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20</c:v>
              </c:pt>
              <c:pt idx="101">
                <c:v>20.2</c:v>
              </c:pt>
              <c:pt idx="102">
                <c:v>20.4</c:v>
              </c:pt>
              <c:pt idx="103">
                <c:v>20.6</c:v>
              </c:pt>
              <c:pt idx="104">
                <c:v>20.8</c:v>
              </c:pt>
              <c:pt idx="105">
                <c:v>21</c:v>
              </c:pt>
              <c:pt idx="106">
                <c:v>21.2</c:v>
              </c:pt>
              <c:pt idx="107">
                <c:v>21.4</c:v>
              </c:pt>
              <c:pt idx="108">
                <c:v>21.6</c:v>
              </c:pt>
              <c:pt idx="109">
                <c:v>21.8</c:v>
              </c:pt>
              <c:pt idx="110">
                <c:v>22</c:v>
              </c:pt>
              <c:pt idx="111">
                <c:v>22.2</c:v>
              </c:pt>
              <c:pt idx="112">
                <c:v>22.4</c:v>
              </c:pt>
              <c:pt idx="113">
                <c:v>22.6</c:v>
              </c:pt>
              <c:pt idx="114">
                <c:v>22.8</c:v>
              </c:pt>
              <c:pt idx="115">
                <c:v>23</c:v>
              </c:pt>
              <c:pt idx="116">
                <c:v>23.2</c:v>
              </c:pt>
              <c:pt idx="117">
                <c:v>23.4</c:v>
              </c:pt>
              <c:pt idx="118">
                <c:v>23.6</c:v>
              </c:pt>
              <c:pt idx="119">
                <c:v>23.8</c:v>
              </c:pt>
              <c:pt idx="120">
                <c:v>24</c:v>
              </c:pt>
              <c:pt idx="121">
                <c:v>24.2</c:v>
              </c:pt>
              <c:pt idx="122">
                <c:v>24.4</c:v>
              </c:pt>
              <c:pt idx="123">
                <c:v>24.6</c:v>
              </c:pt>
              <c:pt idx="124">
                <c:v>24.8</c:v>
              </c:pt>
              <c:pt idx="125">
                <c:v>25</c:v>
              </c:pt>
              <c:pt idx="126">
                <c:v>25.2</c:v>
              </c:pt>
              <c:pt idx="127">
                <c:v>25.4</c:v>
              </c:pt>
              <c:pt idx="128">
                <c:v>25.6</c:v>
              </c:pt>
              <c:pt idx="129">
                <c:v>25.8</c:v>
              </c:pt>
              <c:pt idx="130">
                <c:v>26</c:v>
              </c:pt>
              <c:pt idx="131">
                <c:v>26.2</c:v>
              </c:pt>
              <c:pt idx="132">
                <c:v>26.4</c:v>
              </c:pt>
              <c:pt idx="133">
                <c:v>26.6</c:v>
              </c:pt>
              <c:pt idx="134">
                <c:v>26.8</c:v>
              </c:pt>
              <c:pt idx="135">
                <c:v>27</c:v>
              </c:pt>
              <c:pt idx="136">
                <c:v>27.2</c:v>
              </c:pt>
              <c:pt idx="137">
                <c:v>27.4</c:v>
              </c:pt>
              <c:pt idx="138">
                <c:v>27.6</c:v>
              </c:pt>
              <c:pt idx="139">
                <c:v>27.8</c:v>
              </c:pt>
              <c:pt idx="140">
                <c:v>28</c:v>
              </c:pt>
              <c:pt idx="141">
                <c:v>28.2</c:v>
              </c:pt>
              <c:pt idx="142">
                <c:v>28.4</c:v>
              </c:pt>
              <c:pt idx="143">
                <c:v>28.6</c:v>
              </c:pt>
              <c:pt idx="144">
                <c:v>28.8</c:v>
              </c:pt>
              <c:pt idx="145">
                <c:v>29</c:v>
              </c:pt>
              <c:pt idx="146">
                <c:v>29.2</c:v>
              </c:pt>
              <c:pt idx="147">
                <c:v>29.4</c:v>
              </c:pt>
              <c:pt idx="148">
                <c:v>29.6</c:v>
              </c:pt>
              <c:pt idx="149">
                <c:v>29.8</c:v>
              </c:pt>
              <c:pt idx="150">
                <c:v>30</c:v>
              </c:pt>
              <c:pt idx="151">
                <c:v>30.2</c:v>
              </c:pt>
              <c:pt idx="152">
                <c:v>30.4</c:v>
              </c:pt>
              <c:pt idx="153">
                <c:v>30.6</c:v>
              </c:pt>
              <c:pt idx="154">
                <c:v>30.8</c:v>
              </c:pt>
              <c:pt idx="155">
                <c:v>31</c:v>
              </c:pt>
              <c:pt idx="156">
                <c:v>31.2</c:v>
              </c:pt>
              <c:pt idx="157">
                <c:v>31.4</c:v>
              </c:pt>
              <c:pt idx="158">
                <c:v>31.6</c:v>
              </c:pt>
              <c:pt idx="159">
                <c:v>31.8</c:v>
              </c:pt>
              <c:pt idx="160">
                <c:v>32</c:v>
              </c:pt>
              <c:pt idx="161">
                <c:v>32.2</c:v>
              </c:pt>
              <c:pt idx="162">
                <c:v>32.4</c:v>
              </c:pt>
              <c:pt idx="163">
                <c:v>32.6</c:v>
              </c:pt>
              <c:pt idx="164">
                <c:v>32.8</c:v>
              </c:pt>
              <c:pt idx="165">
                <c:v>33</c:v>
              </c:pt>
              <c:pt idx="166">
                <c:v>33.2</c:v>
              </c:pt>
              <c:pt idx="167">
                <c:v>33.4</c:v>
              </c:pt>
              <c:pt idx="168">
                <c:v>33.6</c:v>
              </c:pt>
              <c:pt idx="169">
                <c:v>33.8</c:v>
              </c:pt>
              <c:pt idx="170">
                <c:v>34</c:v>
              </c:pt>
              <c:pt idx="171">
                <c:v>34.2</c:v>
              </c:pt>
              <c:pt idx="172">
                <c:v>34.4</c:v>
              </c:pt>
              <c:pt idx="173">
                <c:v>34.6</c:v>
              </c:pt>
              <c:pt idx="174">
                <c:v>34.8</c:v>
              </c:pt>
              <c:pt idx="175">
                <c:v>35</c:v>
              </c:pt>
              <c:pt idx="176">
                <c:v>35.2</c:v>
              </c:pt>
              <c:pt idx="177">
                <c:v>35.4</c:v>
              </c:pt>
              <c:pt idx="178">
                <c:v>35.6</c:v>
              </c:pt>
              <c:pt idx="179">
                <c:v>35.8</c:v>
              </c:pt>
              <c:pt idx="180">
                <c:v>36</c:v>
              </c:pt>
              <c:pt idx="181">
                <c:v>36.2</c:v>
              </c:pt>
              <c:pt idx="182">
                <c:v>36.4</c:v>
              </c:pt>
              <c:pt idx="183">
                <c:v>36.6</c:v>
              </c:pt>
              <c:pt idx="184">
                <c:v>36.8</c:v>
              </c:pt>
              <c:pt idx="185">
                <c:v>37</c:v>
              </c:pt>
              <c:pt idx="186">
                <c:v>37.2</c:v>
              </c:pt>
              <c:pt idx="187">
                <c:v>37.4</c:v>
              </c:pt>
              <c:pt idx="188">
                <c:v>37.6</c:v>
              </c:pt>
              <c:pt idx="189">
                <c:v>37.8</c:v>
              </c:pt>
              <c:pt idx="190">
                <c:v>38</c:v>
              </c:pt>
              <c:pt idx="191">
                <c:v>38.2</c:v>
              </c:pt>
              <c:pt idx="192">
                <c:v>38.4</c:v>
              </c:pt>
              <c:pt idx="193">
                <c:v>38.6</c:v>
              </c:pt>
              <c:pt idx="194">
                <c:v>38.8</c:v>
              </c:pt>
              <c:pt idx="195">
                <c:v>39</c:v>
              </c:pt>
              <c:pt idx="196">
                <c:v>39.2</c:v>
              </c:pt>
              <c:pt idx="197">
                <c:v>39.4</c:v>
              </c:pt>
              <c:pt idx="198">
                <c:v>39.6</c:v>
              </c:pt>
              <c:pt idx="199">
                <c:v>39.8</c:v>
              </c:pt>
              <c:pt idx="200">
                <c:v>40</c:v>
              </c:pt>
              <c:pt idx="201">
                <c:v>40.2</c:v>
              </c:pt>
              <c:pt idx="202">
                <c:v>40.4</c:v>
              </c:pt>
              <c:pt idx="203">
                <c:v>40.6</c:v>
              </c:pt>
              <c:pt idx="204">
                <c:v>40.8</c:v>
              </c:pt>
              <c:pt idx="205">
                <c:v>41</c:v>
              </c:pt>
              <c:pt idx="206">
                <c:v>41.2</c:v>
              </c:pt>
              <c:pt idx="207">
                <c:v>41.4</c:v>
              </c:pt>
              <c:pt idx="208">
                <c:v>41.6</c:v>
              </c:pt>
              <c:pt idx="209">
                <c:v>41.8</c:v>
              </c:pt>
              <c:pt idx="210">
                <c:v>42</c:v>
              </c:pt>
              <c:pt idx="211">
                <c:v>42.2</c:v>
              </c:pt>
              <c:pt idx="212">
                <c:v>42.4</c:v>
              </c:pt>
              <c:pt idx="213">
                <c:v>42.6</c:v>
              </c:pt>
              <c:pt idx="214">
                <c:v>42.8</c:v>
              </c:pt>
              <c:pt idx="215">
                <c:v>43</c:v>
              </c:pt>
              <c:pt idx="216">
                <c:v>43.2</c:v>
              </c:pt>
              <c:pt idx="217">
                <c:v>43.4</c:v>
              </c:pt>
              <c:pt idx="218">
                <c:v>43.6</c:v>
              </c:pt>
              <c:pt idx="219">
                <c:v>43.8</c:v>
              </c:pt>
              <c:pt idx="220">
                <c:v>44</c:v>
              </c:pt>
              <c:pt idx="221">
                <c:v>44.2</c:v>
              </c:pt>
              <c:pt idx="222">
                <c:v>44.4</c:v>
              </c:pt>
              <c:pt idx="223">
                <c:v>44.6</c:v>
              </c:pt>
              <c:pt idx="224">
                <c:v>44.8</c:v>
              </c:pt>
              <c:pt idx="225">
                <c:v>45</c:v>
              </c:pt>
              <c:pt idx="226">
                <c:v>45.2</c:v>
              </c:pt>
              <c:pt idx="227">
                <c:v>45.4</c:v>
              </c:pt>
              <c:pt idx="228">
                <c:v>45.6</c:v>
              </c:pt>
              <c:pt idx="229">
                <c:v>45.8</c:v>
              </c:pt>
              <c:pt idx="230">
                <c:v>46</c:v>
              </c:pt>
              <c:pt idx="231">
                <c:v>46.2</c:v>
              </c:pt>
              <c:pt idx="232">
                <c:v>46.4</c:v>
              </c:pt>
              <c:pt idx="233">
                <c:v>46.6</c:v>
              </c:pt>
              <c:pt idx="234">
                <c:v>46.8</c:v>
              </c:pt>
              <c:pt idx="235">
                <c:v>47</c:v>
              </c:pt>
              <c:pt idx="236">
                <c:v>47.2</c:v>
              </c:pt>
              <c:pt idx="237">
                <c:v>47.4</c:v>
              </c:pt>
              <c:pt idx="238">
                <c:v>47.6</c:v>
              </c:pt>
              <c:pt idx="239">
                <c:v>47.8</c:v>
              </c:pt>
              <c:pt idx="240">
                <c:v>48</c:v>
              </c:pt>
              <c:pt idx="241">
                <c:v>48.2</c:v>
              </c:pt>
              <c:pt idx="242">
                <c:v>48.4</c:v>
              </c:pt>
              <c:pt idx="243">
                <c:v>48.6</c:v>
              </c:pt>
              <c:pt idx="244">
                <c:v>48.8</c:v>
              </c:pt>
              <c:pt idx="245">
                <c:v>49</c:v>
              </c:pt>
              <c:pt idx="246">
                <c:v>49.2</c:v>
              </c:pt>
              <c:pt idx="247">
                <c:v>49.4</c:v>
              </c:pt>
              <c:pt idx="248">
                <c:v>49.6</c:v>
              </c:pt>
              <c:pt idx="249">
                <c:v>49.8</c:v>
              </c:pt>
              <c:pt idx="250">
                <c:v>50</c:v>
              </c:pt>
              <c:pt idx="251">
                <c:v>50.2</c:v>
              </c:pt>
              <c:pt idx="252">
                <c:v>50.4</c:v>
              </c:pt>
              <c:pt idx="253">
                <c:v>50.6</c:v>
              </c:pt>
              <c:pt idx="254">
                <c:v>50.8</c:v>
              </c:pt>
              <c:pt idx="255">
                <c:v>51</c:v>
              </c:pt>
              <c:pt idx="256">
                <c:v>51.2</c:v>
              </c:pt>
              <c:pt idx="257">
                <c:v>51.4</c:v>
              </c:pt>
              <c:pt idx="258">
                <c:v>51.6</c:v>
              </c:pt>
              <c:pt idx="259">
                <c:v>51.8</c:v>
              </c:pt>
              <c:pt idx="260">
                <c:v>52</c:v>
              </c:pt>
              <c:pt idx="261">
                <c:v>52.2</c:v>
              </c:pt>
              <c:pt idx="262">
                <c:v>52.4</c:v>
              </c:pt>
              <c:pt idx="263">
                <c:v>52.6</c:v>
              </c:pt>
              <c:pt idx="264">
                <c:v>52.8</c:v>
              </c:pt>
              <c:pt idx="265">
                <c:v>53</c:v>
              </c:pt>
              <c:pt idx="266">
                <c:v>53.2</c:v>
              </c:pt>
              <c:pt idx="267">
                <c:v>53.4</c:v>
              </c:pt>
              <c:pt idx="268">
                <c:v>53.6</c:v>
              </c:pt>
              <c:pt idx="269">
                <c:v>53.8</c:v>
              </c:pt>
              <c:pt idx="270">
                <c:v>54</c:v>
              </c:pt>
              <c:pt idx="271">
                <c:v>54.2</c:v>
              </c:pt>
              <c:pt idx="272">
                <c:v>54.4</c:v>
              </c:pt>
              <c:pt idx="273">
                <c:v>54.6</c:v>
              </c:pt>
              <c:pt idx="274">
                <c:v>54.8</c:v>
              </c:pt>
              <c:pt idx="275">
                <c:v>55</c:v>
              </c:pt>
              <c:pt idx="276">
                <c:v>55.2</c:v>
              </c:pt>
              <c:pt idx="277">
                <c:v>55.4</c:v>
              </c:pt>
              <c:pt idx="278">
                <c:v>55.6</c:v>
              </c:pt>
              <c:pt idx="279">
                <c:v>55.8</c:v>
              </c:pt>
              <c:pt idx="280">
                <c:v>56</c:v>
              </c:pt>
              <c:pt idx="281">
                <c:v>56.2</c:v>
              </c:pt>
              <c:pt idx="282">
                <c:v>56.4</c:v>
              </c:pt>
              <c:pt idx="283">
                <c:v>56.6</c:v>
              </c:pt>
              <c:pt idx="284">
                <c:v>56.8</c:v>
              </c:pt>
              <c:pt idx="285">
                <c:v>57</c:v>
              </c:pt>
              <c:pt idx="286">
                <c:v>57.2</c:v>
              </c:pt>
              <c:pt idx="287">
                <c:v>57.4</c:v>
              </c:pt>
              <c:pt idx="288">
                <c:v>57.6</c:v>
              </c:pt>
              <c:pt idx="289">
                <c:v>57.8</c:v>
              </c:pt>
              <c:pt idx="290">
                <c:v>58</c:v>
              </c:pt>
              <c:pt idx="291">
                <c:v>58.2</c:v>
              </c:pt>
              <c:pt idx="292">
                <c:v>58.4</c:v>
              </c:pt>
              <c:pt idx="293">
                <c:v>58.6</c:v>
              </c:pt>
              <c:pt idx="294">
                <c:v>58.8</c:v>
              </c:pt>
              <c:pt idx="295">
                <c:v>59</c:v>
              </c:pt>
              <c:pt idx="296">
                <c:v>59.2</c:v>
              </c:pt>
              <c:pt idx="297">
                <c:v>59.4</c:v>
              </c:pt>
              <c:pt idx="298">
                <c:v>59.6</c:v>
              </c:pt>
              <c:pt idx="299">
                <c:v>59.8</c:v>
              </c:pt>
              <c:pt idx="300">
                <c:v>60</c:v>
              </c:pt>
              <c:pt idx="301">
                <c:v>60.2</c:v>
              </c:pt>
              <c:pt idx="302">
                <c:v>60.4</c:v>
              </c:pt>
              <c:pt idx="303">
                <c:v>60.6</c:v>
              </c:pt>
              <c:pt idx="304">
                <c:v>60.8</c:v>
              </c:pt>
              <c:pt idx="305">
                <c:v>61</c:v>
              </c:pt>
              <c:pt idx="306">
                <c:v>61.2</c:v>
              </c:pt>
              <c:pt idx="307">
                <c:v>61.4</c:v>
              </c:pt>
              <c:pt idx="308">
                <c:v>61.6</c:v>
              </c:pt>
              <c:pt idx="309">
                <c:v>61.8</c:v>
              </c:pt>
              <c:pt idx="310">
                <c:v>62</c:v>
              </c:pt>
              <c:pt idx="311">
                <c:v>62.2</c:v>
              </c:pt>
              <c:pt idx="312">
                <c:v>62.4</c:v>
              </c:pt>
              <c:pt idx="313">
                <c:v>62.6</c:v>
              </c:pt>
              <c:pt idx="314">
                <c:v>62.8</c:v>
              </c:pt>
              <c:pt idx="315">
                <c:v>63</c:v>
              </c:pt>
              <c:pt idx="316">
                <c:v>63.2</c:v>
              </c:pt>
              <c:pt idx="317">
                <c:v>63.4</c:v>
              </c:pt>
              <c:pt idx="318">
                <c:v>63.6</c:v>
              </c:pt>
              <c:pt idx="319">
                <c:v>63.8</c:v>
              </c:pt>
              <c:pt idx="320">
                <c:v>64</c:v>
              </c:pt>
              <c:pt idx="321">
                <c:v>64.2</c:v>
              </c:pt>
              <c:pt idx="322">
                <c:v>64.4</c:v>
              </c:pt>
              <c:pt idx="323">
                <c:v>64.6</c:v>
              </c:pt>
              <c:pt idx="324">
                <c:v>64.8</c:v>
              </c:pt>
              <c:pt idx="325">
                <c:v>65</c:v>
              </c:pt>
              <c:pt idx="326">
                <c:v>65.2</c:v>
              </c:pt>
              <c:pt idx="327">
                <c:v>65.4</c:v>
              </c:pt>
              <c:pt idx="328">
                <c:v>65.6</c:v>
              </c:pt>
              <c:pt idx="329">
                <c:v>65.8</c:v>
              </c:pt>
              <c:pt idx="330">
                <c:v>66</c:v>
              </c:pt>
              <c:pt idx="331">
                <c:v>66.2</c:v>
              </c:pt>
              <c:pt idx="332">
                <c:v>66.4</c:v>
              </c:pt>
              <c:pt idx="333">
                <c:v>66.6</c:v>
              </c:pt>
              <c:pt idx="334">
                <c:v>66.8</c:v>
              </c:pt>
              <c:pt idx="335">
                <c:v>67</c:v>
              </c:pt>
              <c:pt idx="336">
                <c:v>67.2</c:v>
              </c:pt>
              <c:pt idx="337">
                <c:v>67.4</c:v>
              </c:pt>
              <c:pt idx="338">
                <c:v>67.6</c:v>
              </c:pt>
              <c:pt idx="339">
                <c:v>67.8</c:v>
              </c:pt>
              <c:pt idx="340">
                <c:v>68</c:v>
              </c:pt>
              <c:pt idx="341">
                <c:v>68.2</c:v>
              </c:pt>
              <c:pt idx="342">
                <c:v>68.4</c:v>
              </c:pt>
              <c:pt idx="343">
                <c:v>68.6</c:v>
              </c:pt>
              <c:pt idx="344">
                <c:v>68.8</c:v>
              </c:pt>
              <c:pt idx="345">
                <c:v>69</c:v>
              </c:pt>
              <c:pt idx="346">
                <c:v>69.2</c:v>
              </c:pt>
              <c:pt idx="347">
                <c:v>69.4</c:v>
              </c:pt>
              <c:pt idx="348">
                <c:v>69.6</c:v>
              </c:pt>
              <c:pt idx="349">
                <c:v>69.8</c:v>
              </c:pt>
              <c:pt idx="350">
                <c:v>70</c:v>
              </c:pt>
              <c:pt idx="351">
                <c:v>70.2</c:v>
              </c:pt>
              <c:pt idx="352">
                <c:v>70.4</c:v>
              </c:pt>
              <c:pt idx="353">
                <c:v>70.6</c:v>
              </c:pt>
              <c:pt idx="354">
                <c:v>70.8</c:v>
              </c:pt>
              <c:pt idx="355">
                <c:v>71</c:v>
              </c:pt>
              <c:pt idx="356">
                <c:v>71.2</c:v>
              </c:pt>
              <c:pt idx="357">
                <c:v>71.4</c:v>
              </c:pt>
              <c:pt idx="358">
                <c:v>71.6</c:v>
              </c:pt>
              <c:pt idx="359">
                <c:v>71.8</c:v>
              </c:pt>
              <c:pt idx="360">
                <c:v>72</c:v>
              </c:pt>
              <c:pt idx="361">
                <c:v>72.2</c:v>
              </c:pt>
              <c:pt idx="362">
                <c:v>72.4</c:v>
              </c:pt>
              <c:pt idx="363">
                <c:v>72.6</c:v>
              </c:pt>
              <c:pt idx="364">
                <c:v>72.8</c:v>
              </c:pt>
              <c:pt idx="365">
                <c:v>73</c:v>
              </c:pt>
              <c:pt idx="366">
                <c:v>73.2</c:v>
              </c:pt>
              <c:pt idx="367">
                <c:v>73.4</c:v>
              </c:pt>
              <c:pt idx="368">
                <c:v>73.6</c:v>
              </c:pt>
              <c:pt idx="369">
                <c:v>73.8</c:v>
              </c:pt>
              <c:pt idx="370">
                <c:v>74</c:v>
              </c:pt>
              <c:pt idx="371">
                <c:v>74.2</c:v>
              </c:pt>
              <c:pt idx="372">
                <c:v>74.4</c:v>
              </c:pt>
              <c:pt idx="373">
                <c:v>74.6</c:v>
              </c:pt>
              <c:pt idx="374">
                <c:v>74.8</c:v>
              </c:pt>
              <c:pt idx="375">
                <c:v>75</c:v>
              </c:pt>
              <c:pt idx="376">
                <c:v>75.2</c:v>
              </c:pt>
              <c:pt idx="377">
                <c:v>75.4</c:v>
              </c:pt>
              <c:pt idx="378">
                <c:v>75.6</c:v>
              </c:pt>
              <c:pt idx="379">
                <c:v>75.8</c:v>
              </c:pt>
              <c:pt idx="380">
                <c:v>76</c:v>
              </c:pt>
              <c:pt idx="381">
                <c:v>76.2</c:v>
              </c:pt>
              <c:pt idx="382">
                <c:v>76.4</c:v>
              </c:pt>
              <c:pt idx="383">
                <c:v>76.6</c:v>
              </c:pt>
              <c:pt idx="384">
                <c:v>76.8</c:v>
              </c:pt>
              <c:pt idx="385">
                <c:v>77</c:v>
              </c:pt>
              <c:pt idx="386">
                <c:v>77.2</c:v>
              </c:pt>
              <c:pt idx="387">
                <c:v>77.4</c:v>
              </c:pt>
              <c:pt idx="388">
                <c:v>77.6</c:v>
              </c:pt>
              <c:pt idx="389">
                <c:v>77.8</c:v>
              </c:pt>
              <c:pt idx="390">
                <c:v>78</c:v>
              </c:pt>
              <c:pt idx="391">
                <c:v>78.2</c:v>
              </c:pt>
              <c:pt idx="392">
                <c:v>78.4</c:v>
              </c:pt>
              <c:pt idx="393">
                <c:v>78.6</c:v>
              </c:pt>
              <c:pt idx="394">
                <c:v>78.8</c:v>
              </c:pt>
              <c:pt idx="395">
                <c:v>79</c:v>
              </c:pt>
              <c:pt idx="396">
                <c:v>79.2</c:v>
              </c:pt>
              <c:pt idx="397">
                <c:v>79.4</c:v>
              </c:pt>
              <c:pt idx="398">
                <c:v>79.6</c:v>
              </c:pt>
              <c:pt idx="399">
                <c:v>79.8</c:v>
              </c:pt>
              <c:pt idx="400">
                <c:v>80</c:v>
              </c:pt>
              <c:pt idx="401">
                <c:v>80.2</c:v>
              </c:pt>
              <c:pt idx="402">
                <c:v>80.4</c:v>
              </c:pt>
              <c:pt idx="403">
                <c:v>80.6</c:v>
              </c:pt>
              <c:pt idx="404">
                <c:v>80.8</c:v>
              </c:pt>
              <c:pt idx="405">
                <c:v>81</c:v>
              </c:pt>
              <c:pt idx="406">
                <c:v>81.2</c:v>
              </c:pt>
              <c:pt idx="407">
                <c:v>81.4</c:v>
              </c:pt>
              <c:pt idx="408">
                <c:v>81.6</c:v>
              </c:pt>
              <c:pt idx="409">
                <c:v>81.8</c:v>
              </c:pt>
              <c:pt idx="410">
                <c:v>82</c:v>
              </c:pt>
              <c:pt idx="411">
                <c:v>82.2</c:v>
              </c:pt>
              <c:pt idx="412">
                <c:v>82.4</c:v>
              </c:pt>
              <c:pt idx="413">
                <c:v>82.6</c:v>
              </c:pt>
              <c:pt idx="414">
                <c:v>82.8</c:v>
              </c:pt>
              <c:pt idx="415">
                <c:v>83</c:v>
              </c:pt>
              <c:pt idx="416">
                <c:v>83.2</c:v>
              </c:pt>
              <c:pt idx="417">
                <c:v>83.4</c:v>
              </c:pt>
              <c:pt idx="418">
                <c:v>83.6</c:v>
              </c:pt>
              <c:pt idx="419">
                <c:v>83.8</c:v>
              </c:pt>
              <c:pt idx="420">
                <c:v>84</c:v>
              </c:pt>
              <c:pt idx="421">
                <c:v>84.2</c:v>
              </c:pt>
              <c:pt idx="422">
                <c:v>84.4</c:v>
              </c:pt>
              <c:pt idx="423">
                <c:v>84.6</c:v>
              </c:pt>
              <c:pt idx="424">
                <c:v>84.8</c:v>
              </c:pt>
              <c:pt idx="425">
                <c:v>85</c:v>
              </c:pt>
              <c:pt idx="426">
                <c:v>85.2</c:v>
              </c:pt>
              <c:pt idx="427">
                <c:v>85.4</c:v>
              </c:pt>
              <c:pt idx="428">
                <c:v>85.6</c:v>
              </c:pt>
              <c:pt idx="429">
                <c:v>85.8</c:v>
              </c:pt>
              <c:pt idx="430">
                <c:v>86</c:v>
              </c:pt>
              <c:pt idx="431">
                <c:v>86.2</c:v>
              </c:pt>
              <c:pt idx="432">
                <c:v>86.4</c:v>
              </c:pt>
              <c:pt idx="433">
                <c:v>86.6</c:v>
              </c:pt>
              <c:pt idx="434">
                <c:v>86.8</c:v>
              </c:pt>
              <c:pt idx="435">
                <c:v>87</c:v>
              </c:pt>
              <c:pt idx="436">
                <c:v>87.2</c:v>
              </c:pt>
              <c:pt idx="437">
                <c:v>87.4</c:v>
              </c:pt>
              <c:pt idx="438">
                <c:v>87.6</c:v>
              </c:pt>
              <c:pt idx="439">
                <c:v>87.8</c:v>
              </c:pt>
              <c:pt idx="440">
                <c:v>88</c:v>
              </c:pt>
              <c:pt idx="441">
                <c:v>88.2</c:v>
              </c:pt>
              <c:pt idx="442">
                <c:v>88.4</c:v>
              </c:pt>
              <c:pt idx="443">
                <c:v>88.6</c:v>
              </c:pt>
              <c:pt idx="444">
                <c:v>88.8</c:v>
              </c:pt>
              <c:pt idx="445">
                <c:v>89</c:v>
              </c:pt>
              <c:pt idx="446">
                <c:v>89.2</c:v>
              </c:pt>
              <c:pt idx="447">
                <c:v>89.4</c:v>
              </c:pt>
              <c:pt idx="448">
                <c:v>89.6</c:v>
              </c:pt>
              <c:pt idx="449">
                <c:v>89.8</c:v>
              </c:pt>
              <c:pt idx="450">
                <c:v>90</c:v>
              </c:pt>
              <c:pt idx="451">
                <c:v>90.2</c:v>
              </c:pt>
              <c:pt idx="452">
                <c:v>90.4</c:v>
              </c:pt>
              <c:pt idx="453">
                <c:v>90.6</c:v>
              </c:pt>
              <c:pt idx="454">
                <c:v>90.8</c:v>
              </c:pt>
              <c:pt idx="455">
                <c:v>91</c:v>
              </c:pt>
              <c:pt idx="456">
                <c:v>91.2</c:v>
              </c:pt>
              <c:pt idx="457">
                <c:v>91.4</c:v>
              </c:pt>
              <c:pt idx="458">
                <c:v>91.6</c:v>
              </c:pt>
              <c:pt idx="459">
                <c:v>91.8</c:v>
              </c:pt>
              <c:pt idx="460">
                <c:v>92</c:v>
              </c:pt>
              <c:pt idx="461">
                <c:v>92.2</c:v>
              </c:pt>
              <c:pt idx="462">
                <c:v>92.4</c:v>
              </c:pt>
              <c:pt idx="463">
                <c:v>92.6</c:v>
              </c:pt>
              <c:pt idx="464">
                <c:v>92.8</c:v>
              </c:pt>
              <c:pt idx="465">
                <c:v>93</c:v>
              </c:pt>
              <c:pt idx="466">
                <c:v>93.2</c:v>
              </c:pt>
              <c:pt idx="467">
                <c:v>93.4</c:v>
              </c:pt>
              <c:pt idx="468">
                <c:v>93.6</c:v>
              </c:pt>
              <c:pt idx="469">
                <c:v>93.8</c:v>
              </c:pt>
              <c:pt idx="470">
                <c:v>94</c:v>
              </c:pt>
              <c:pt idx="471">
                <c:v>94.2</c:v>
              </c:pt>
              <c:pt idx="472">
                <c:v>94.4</c:v>
              </c:pt>
              <c:pt idx="473">
                <c:v>94.6</c:v>
              </c:pt>
              <c:pt idx="474">
                <c:v>94.8</c:v>
              </c:pt>
              <c:pt idx="475">
                <c:v>95</c:v>
              </c:pt>
              <c:pt idx="476">
                <c:v>95.2</c:v>
              </c:pt>
              <c:pt idx="477">
                <c:v>95.4</c:v>
              </c:pt>
              <c:pt idx="478">
                <c:v>95.6</c:v>
              </c:pt>
              <c:pt idx="479">
                <c:v>95.8</c:v>
              </c:pt>
              <c:pt idx="480">
                <c:v>96</c:v>
              </c:pt>
              <c:pt idx="481">
                <c:v>96.2</c:v>
              </c:pt>
              <c:pt idx="482">
                <c:v>96.4</c:v>
              </c:pt>
              <c:pt idx="483">
                <c:v>96.6</c:v>
              </c:pt>
              <c:pt idx="484">
                <c:v>96.8</c:v>
              </c:pt>
              <c:pt idx="485">
                <c:v>97</c:v>
              </c:pt>
              <c:pt idx="486">
                <c:v>97.2</c:v>
              </c:pt>
              <c:pt idx="487">
                <c:v>97.4</c:v>
              </c:pt>
              <c:pt idx="488">
                <c:v>97.6</c:v>
              </c:pt>
              <c:pt idx="489">
                <c:v>97.8</c:v>
              </c:pt>
              <c:pt idx="490">
                <c:v>98</c:v>
              </c:pt>
              <c:pt idx="491">
                <c:v>98.2</c:v>
              </c:pt>
              <c:pt idx="492">
                <c:v>98.4</c:v>
              </c:pt>
              <c:pt idx="493">
                <c:v>98.6</c:v>
              </c:pt>
              <c:pt idx="494">
                <c:v>98.8</c:v>
              </c:pt>
              <c:pt idx="495">
                <c:v>99</c:v>
              </c:pt>
              <c:pt idx="496">
                <c:v>99.2</c:v>
              </c:pt>
              <c:pt idx="497">
                <c:v>99.4</c:v>
              </c:pt>
              <c:pt idx="498">
                <c:v>99.6</c:v>
              </c:pt>
              <c:pt idx="499">
                <c:v>99.8</c:v>
              </c:pt>
              <c:pt idx="500">
                <c:v>100</c:v>
              </c:pt>
            </c:numLit>
          </c:xVal>
          <c:yVal>
            <c:numLit>
              <c:formatCode>General</c:formatCode>
              <c:ptCount val="501"/>
              <c:pt idx="0">
                <c:v>0</c:v>
              </c:pt>
              <c:pt idx="1">
                <c:v>0.006666666666666667</c:v>
              </c:pt>
              <c:pt idx="2">
                <c:v>0.013333333333333334</c:v>
              </c:pt>
              <c:pt idx="3">
                <c:v>0.02</c:v>
              </c:pt>
              <c:pt idx="4">
                <c:v>0.02666666666666667</c:v>
              </c:pt>
              <c:pt idx="5">
                <c:v>0.03333333333333333</c:v>
              </c:pt>
              <c:pt idx="6">
                <c:v>0.04</c:v>
              </c:pt>
              <c:pt idx="7">
                <c:v>0.04666666666666666</c:v>
              </c:pt>
              <c:pt idx="8">
                <c:v>0.05333333333333334</c:v>
              </c:pt>
              <c:pt idx="9">
                <c:v>0.060000000000000005</c:v>
              </c:pt>
              <c:pt idx="10">
                <c:v>0.06666666666666667</c:v>
              </c:pt>
              <c:pt idx="11">
                <c:v>0.07333333333333333</c:v>
              </c:pt>
              <c:pt idx="12">
                <c:v>0.08</c:v>
              </c:pt>
              <c:pt idx="13">
                <c:v>0.08666666666666667</c:v>
              </c:pt>
              <c:pt idx="14">
                <c:v>0.09333333333333332</c:v>
              </c:pt>
              <c:pt idx="15">
                <c:v>0.1</c:v>
              </c:pt>
              <c:pt idx="16">
                <c:v>0.10666666666666667</c:v>
              </c:pt>
              <c:pt idx="17">
                <c:v>0.11333333333333333</c:v>
              </c:pt>
              <c:pt idx="18">
                <c:v>0.12000000000000001</c:v>
              </c:pt>
              <c:pt idx="19">
                <c:v>0.12666666666666665</c:v>
              </c:pt>
              <c:pt idx="20">
                <c:v>0.13333333333333333</c:v>
              </c:pt>
              <c:pt idx="21">
                <c:v>0.14</c:v>
              </c:pt>
              <c:pt idx="22">
                <c:v>0.14666666666666667</c:v>
              </c:pt>
              <c:pt idx="23">
                <c:v>0.15333333333333332</c:v>
              </c:pt>
              <c:pt idx="24">
                <c:v>0.16</c:v>
              </c:pt>
              <c:pt idx="25">
                <c:v>0.16666666666666666</c:v>
              </c:pt>
              <c:pt idx="26">
                <c:v>0.17333333333333334</c:v>
              </c:pt>
              <c:pt idx="27">
                <c:v>0.18000000000000002</c:v>
              </c:pt>
              <c:pt idx="28">
                <c:v>0.18666666666666665</c:v>
              </c:pt>
              <c:pt idx="29">
                <c:v>0.19333333333333333</c:v>
              </c:pt>
              <c:pt idx="30">
                <c:v>0.2</c:v>
              </c:pt>
              <c:pt idx="31">
                <c:v>0.20666666666666667</c:v>
              </c:pt>
              <c:pt idx="32">
                <c:v>0.21333333333333335</c:v>
              </c:pt>
              <c:pt idx="33">
                <c:v>0.22</c:v>
              </c:pt>
              <c:pt idx="34">
                <c:v>0.22666666666666666</c:v>
              </c:pt>
              <c:pt idx="35">
                <c:v>0.23333333333333334</c:v>
              </c:pt>
              <c:pt idx="36">
                <c:v>0.24000000000000002</c:v>
              </c:pt>
              <c:pt idx="37">
                <c:v>0.24666666666666667</c:v>
              </c:pt>
              <c:pt idx="38">
                <c:v>0.2533333333333333</c:v>
              </c:pt>
              <c:pt idx="39">
                <c:v>0.26</c:v>
              </c:pt>
              <c:pt idx="40">
                <c:v>0.26666666666666666</c:v>
              </c:pt>
              <c:pt idx="41">
                <c:v>0.2733333333333333</c:v>
              </c:pt>
              <c:pt idx="42">
                <c:v>0.28</c:v>
              </c:pt>
              <c:pt idx="43">
                <c:v>0.2866666666666667</c:v>
              </c:pt>
              <c:pt idx="44">
                <c:v>0.29333333333333333</c:v>
              </c:pt>
              <c:pt idx="45">
                <c:v>0.3</c:v>
              </c:pt>
              <c:pt idx="46">
                <c:v>0.30666666666666664</c:v>
              </c:pt>
              <c:pt idx="47">
                <c:v>0.31333333333333335</c:v>
              </c:pt>
              <c:pt idx="48">
                <c:v>0.32</c:v>
              </c:pt>
              <c:pt idx="49">
                <c:v>0.3266666666666667</c:v>
              </c:pt>
              <c:pt idx="50">
                <c:v>0.3333333333333333</c:v>
              </c:pt>
              <c:pt idx="51">
                <c:v>0.33999999999999997</c:v>
              </c:pt>
              <c:pt idx="52">
                <c:v>0.3466666666666667</c:v>
              </c:pt>
              <c:pt idx="53">
                <c:v>0.35333333333333333</c:v>
              </c:pt>
              <c:pt idx="54">
                <c:v>0.36000000000000004</c:v>
              </c:pt>
              <c:pt idx="55">
                <c:v>0.36666666666666664</c:v>
              </c:pt>
              <c:pt idx="56">
                <c:v>0.3733333333333333</c:v>
              </c:pt>
              <c:pt idx="57">
                <c:v>0.38</c:v>
              </c:pt>
              <c:pt idx="58">
                <c:v>0.38666666666666666</c:v>
              </c:pt>
              <c:pt idx="59">
                <c:v>0.39333333333333337</c:v>
              </c:pt>
              <c:pt idx="60">
                <c:v>0.4</c:v>
              </c:pt>
              <c:pt idx="61">
                <c:v>0.4066666666666666</c:v>
              </c:pt>
              <c:pt idx="62">
                <c:v>0.41333333333333333</c:v>
              </c:pt>
              <c:pt idx="63">
                <c:v>0.42</c:v>
              </c:pt>
              <c:pt idx="64">
                <c:v>0.4266666666666667</c:v>
              </c:pt>
              <c:pt idx="65">
                <c:v>0.43333333333333335</c:v>
              </c:pt>
              <c:pt idx="66">
                <c:v>0.44</c:v>
              </c:pt>
              <c:pt idx="67">
                <c:v>0.44666666666666666</c:v>
              </c:pt>
              <c:pt idx="68">
                <c:v>0.4533333333333333</c:v>
              </c:pt>
              <c:pt idx="69">
                <c:v>0.46</c:v>
              </c:pt>
              <c:pt idx="70">
                <c:v>0.4666666666666667</c:v>
              </c:pt>
              <c:pt idx="71">
                <c:v>0.47333333333333333</c:v>
              </c:pt>
              <c:pt idx="72">
                <c:v>0.48000000000000004</c:v>
              </c:pt>
              <c:pt idx="73">
                <c:v>0.48666666666666664</c:v>
              </c:pt>
              <c:pt idx="74">
                <c:v>0.49333333333333335</c:v>
              </c:pt>
              <c:pt idx="75">
                <c:v>0.5</c:v>
              </c:pt>
              <c:pt idx="76">
                <c:v>0.5066666666666666</c:v>
              </c:pt>
              <c:pt idx="77">
                <c:v>0.5133333333333333</c:v>
              </c:pt>
              <c:pt idx="78">
                <c:v>0.52</c:v>
              </c:pt>
              <c:pt idx="79">
                <c:v>0.5266666666666667</c:v>
              </c:pt>
              <c:pt idx="80">
                <c:v>0.5333333333333333</c:v>
              </c:pt>
              <c:pt idx="81">
                <c:v>0.5399999999999999</c:v>
              </c:pt>
              <c:pt idx="82">
                <c:v>0.5466666666666666</c:v>
              </c:pt>
              <c:pt idx="83">
                <c:v>0.5533333333333333</c:v>
              </c:pt>
              <c:pt idx="84">
                <c:v>0.56</c:v>
              </c:pt>
              <c:pt idx="85">
                <c:v>0.5666666666666667</c:v>
              </c:pt>
              <c:pt idx="86">
                <c:v>0.5733333333333334</c:v>
              </c:pt>
              <c:pt idx="87">
                <c:v>0.58</c:v>
              </c:pt>
              <c:pt idx="88">
                <c:v>0.5866666666666667</c:v>
              </c:pt>
              <c:pt idx="89">
                <c:v>0.5933333333333334</c:v>
              </c:pt>
              <c:pt idx="90">
                <c:v>0.6</c:v>
              </c:pt>
              <c:pt idx="91">
                <c:v>0.6</c:v>
              </c:pt>
              <c:pt idx="92">
                <c:v>0.6</c:v>
              </c:pt>
              <c:pt idx="93">
                <c:v>0.6</c:v>
              </c:pt>
              <c:pt idx="94">
                <c:v>0.6</c:v>
              </c:pt>
              <c:pt idx="95">
                <c:v>0.6</c:v>
              </c:pt>
              <c:pt idx="96">
                <c:v>0.6</c:v>
              </c:pt>
              <c:pt idx="97">
                <c:v>0.6</c:v>
              </c:pt>
              <c:pt idx="98">
                <c:v>0.6</c:v>
              </c:pt>
              <c:pt idx="99">
                <c:v>0.6</c:v>
              </c:pt>
              <c:pt idx="100">
                <c:v>0.6</c:v>
              </c:pt>
              <c:pt idx="101">
                <c:v>0.6</c:v>
              </c:pt>
              <c:pt idx="102">
                <c:v>0.6</c:v>
              </c:pt>
              <c:pt idx="103">
                <c:v>0.6</c:v>
              </c:pt>
              <c:pt idx="104">
                <c:v>0.6</c:v>
              </c:pt>
              <c:pt idx="105">
                <c:v>0.6</c:v>
              </c:pt>
              <c:pt idx="106">
                <c:v>0.6</c:v>
              </c:pt>
              <c:pt idx="107">
                <c:v>0.6</c:v>
              </c:pt>
              <c:pt idx="108">
                <c:v>0.6</c:v>
              </c:pt>
              <c:pt idx="109">
                <c:v>0.6</c:v>
              </c:pt>
              <c:pt idx="110">
                <c:v>0.6</c:v>
              </c:pt>
              <c:pt idx="111">
                <c:v>0.6</c:v>
              </c:pt>
              <c:pt idx="112">
                <c:v>0.6</c:v>
              </c:pt>
              <c:pt idx="113">
                <c:v>0.6</c:v>
              </c:pt>
              <c:pt idx="114">
                <c:v>0.6</c:v>
              </c:pt>
              <c:pt idx="115">
                <c:v>0.6</c:v>
              </c:pt>
              <c:pt idx="116">
                <c:v>0.6</c:v>
              </c:pt>
              <c:pt idx="117">
                <c:v>0.6</c:v>
              </c:pt>
              <c:pt idx="118">
                <c:v>0.6</c:v>
              </c:pt>
              <c:pt idx="119">
                <c:v>0.6</c:v>
              </c:pt>
              <c:pt idx="120">
                <c:v>0.6</c:v>
              </c:pt>
              <c:pt idx="121">
                <c:v>0.6</c:v>
              </c:pt>
              <c:pt idx="122">
                <c:v>0.6</c:v>
              </c:pt>
              <c:pt idx="123">
                <c:v>0.6</c:v>
              </c:pt>
              <c:pt idx="124">
                <c:v>0.6</c:v>
              </c:pt>
              <c:pt idx="125">
                <c:v>0.6</c:v>
              </c:pt>
              <c:pt idx="126">
                <c:v>0.6</c:v>
              </c:pt>
              <c:pt idx="127">
                <c:v>0.6</c:v>
              </c:pt>
              <c:pt idx="128">
                <c:v>0.6</c:v>
              </c:pt>
              <c:pt idx="129">
                <c:v>0.6</c:v>
              </c:pt>
              <c:pt idx="130">
                <c:v>0.6</c:v>
              </c:pt>
              <c:pt idx="131">
                <c:v>0.6</c:v>
              </c:pt>
              <c:pt idx="132">
                <c:v>0.6</c:v>
              </c:pt>
              <c:pt idx="133">
                <c:v>0.6</c:v>
              </c:pt>
              <c:pt idx="134">
                <c:v>0.6</c:v>
              </c:pt>
              <c:pt idx="135">
                <c:v>0.6</c:v>
              </c:pt>
              <c:pt idx="136">
                <c:v>0.6</c:v>
              </c:pt>
              <c:pt idx="137">
                <c:v>0.6</c:v>
              </c:pt>
              <c:pt idx="138">
                <c:v>0.6</c:v>
              </c:pt>
              <c:pt idx="139">
                <c:v>0.6</c:v>
              </c:pt>
              <c:pt idx="140">
                <c:v>0.6</c:v>
              </c:pt>
              <c:pt idx="141">
                <c:v>0.6</c:v>
              </c:pt>
              <c:pt idx="142">
                <c:v>0.6</c:v>
              </c:pt>
              <c:pt idx="143">
                <c:v>0.6</c:v>
              </c:pt>
              <c:pt idx="144">
                <c:v>0.6</c:v>
              </c:pt>
              <c:pt idx="145">
                <c:v>0.6</c:v>
              </c:pt>
              <c:pt idx="146">
                <c:v>0.6</c:v>
              </c:pt>
              <c:pt idx="147">
                <c:v>0.6</c:v>
              </c:pt>
              <c:pt idx="148">
                <c:v>0.6</c:v>
              </c:pt>
              <c:pt idx="149">
                <c:v>0.6</c:v>
              </c:pt>
              <c:pt idx="150">
                <c:v>0.6</c:v>
              </c:pt>
              <c:pt idx="151">
                <c:v>0.6066666666666666</c:v>
              </c:pt>
              <c:pt idx="152">
                <c:v>0.6133333333333333</c:v>
              </c:pt>
              <c:pt idx="153">
                <c:v>0.62</c:v>
              </c:pt>
              <c:pt idx="154">
                <c:v>0.6266666666666667</c:v>
              </c:pt>
              <c:pt idx="155">
                <c:v>0.6333333333333333</c:v>
              </c:pt>
              <c:pt idx="156">
                <c:v>0.6399999999999999</c:v>
              </c:pt>
              <c:pt idx="157">
                <c:v>0.6466666666666666</c:v>
              </c:pt>
              <c:pt idx="158">
                <c:v>0.6533333333333333</c:v>
              </c:pt>
              <c:pt idx="159">
                <c:v>0.66</c:v>
              </c:pt>
              <c:pt idx="160">
                <c:v>0.6666666666666666</c:v>
              </c:pt>
              <c:pt idx="161">
                <c:v>0.6733333333333335</c:v>
              </c:pt>
              <c:pt idx="162">
                <c:v>0.6799999999999999</c:v>
              </c:pt>
              <c:pt idx="163">
                <c:v>0.6866666666666666</c:v>
              </c:pt>
              <c:pt idx="164">
                <c:v>0.6933333333333332</c:v>
              </c:pt>
              <c:pt idx="165">
                <c:v>0.7</c:v>
              </c:pt>
              <c:pt idx="166">
                <c:v>0.7066666666666668</c:v>
              </c:pt>
              <c:pt idx="167">
                <c:v>0.7133333333333333</c:v>
              </c:pt>
              <c:pt idx="168">
                <c:v>0.72</c:v>
              </c:pt>
              <c:pt idx="169">
                <c:v>0.7266666666666666</c:v>
              </c:pt>
              <c:pt idx="170">
                <c:v>0.7333333333333333</c:v>
              </c:pt>
              <c:pt idx="171">
                <c:v>0.7400000000000001</c:v>
              </c:pt>
              <c:pt idx="172">
                <c:v>0.7466666666666666</c:v>
              </c:pt>
              <c:pt idx="173">
                <c:v>0.7533333333333334</c:v>
              </c:pt>
              <c:pt idx="174">
                <c:v>0.7599999999999999</c:v>
              </c:pt>
              <c:pt idx="175">
                <c:v>0.7666666666666666</c:v>
              </c:pt>
              <c:pt idx="176">
                <c:v>0.7733333333333334</c:v>
              </c:pt>
              <c:pt idx="177">
                <c:v>0.7799999999999999</c:v>
              </c:pt>
              <c:pt idx="178">
                <c:v>0.7866666666666666</c:v>
              </c:pt>
              <c:pt idx="179">
                <c:v>0.7933333333333332</c:v>
              </c:pt>
              <c:pt idx="180">
                <c:v>0.8</c:v>
              </c:pt>
              <c:pt idx="181">
                <c:v>0.8066666666666668</c:v>
              </c:pt>
              <c:pt idx="182">
                <c:v>0.8133333333333332</c:v>
              </c:pt>
              <c:pt idx="183">
                <c:v>0.8200000000000001</c:v>
              </c:pt>
              <c:pt idx="184">
                <c:v>0.8266666666666665</c:v>
              </c:pt>
              <c:pt idx="185">
                <c:v>0.8333333333333333</c:v>
              </c:pt>
              <c:pt idx="186">
                <c:v>0.8400000000000001</c:v>
              </c:pt>
              <c:pt idx="187">
                <c:v>0.8466666666666666</c:v>
              </c:pt>
              <c:pt idx="188">
                <c:v>0.8533333333333333</c:v>
              </c:pt>
              <c:pt idx="189">
                <c:v>0.8599999999999999</c:v>
              </c:pt>
              <c:pt idx="190">
                <c:v>0.8666666666666667</c:v>
              </c:pt>
              <c:pt idx="191">
                <c:v>0.8733333333333334</c:v>
              </c:pt>
              <c:pt idx="192">
                <c:v>0.8799999999999999</c:v>
              </c:pt>
              <c:pt idx="193">
                <c:v>0.8866666666666667</c:v>
              </c:pt>
              <c:pt idx="194">
                <c:v>0.8933333333333332</c:v>
              </c:pt>
              <c:pt idx="195">
                <c:v>0.8999999999999999</c:v>
              </c:pt>
              <c:pt idx="196">
                <c:v>0.8999999999999999</c:v>
              </c:pt>
              <c:pt idx="197">
                <c:v>0.8999999999999999</c:v>
              </c:pt>
              <c:pt idx="198">
                <c:v>0.8999999999999999</c:v>
              </c:pt>
              <c:pt idx="199">
                <c:v>0.8999999999999999</c:v>
              </c:pt>
              <c:pt idx="200">
                <c:v>0.8999999999999999</c:v>
              </c:pt>
              <c:pt idx="201">
                <c:v>0.8999999999999999</c:v>
              </c:pt>
              <c:pt idx="202">
                <c:v>0.8999999999999999</c:v>
              </c:pt>
              <c:pt idx="203">
                <c:v>0.8999999999999999</c:v>
              </c:pt>
              <c:pt idx="204">
                <c:v>0.8999999999999999</c:v>
              </c:pt>
              <c:pt idx="205">
                <c:v>0.8999999999999999</c:v>
              </c:pt>
              <c:pt idx="206">
                <c:v>0.8999999999999999</c:v>
              </c:pt>
              <c:pt idx="207">
                <c:v>0.8999999999999999</c:v>
              </c:pt>
              <c:pt idx="208">
                <c:v>0.8999999999999999</c:v>
              </c:pt>
              <c:pt idx="209">
                <c:v>0.8999999999999999</c:v>
              </c:pt>
              <c:pt idx="210">
                <c:v>0.8999999999999999</c:v>
              </c:pt>
              <c:pt idx="211">
                <c:v>0.8933333333333333</c:v>
              </c:pt>
              <c:pt idx="212">
                <c:v>0.8866666666666667</c:v>
              </c:pt>
              <c:pt idx="213">
                <c:v>0.8799999999999999</c:v>
              </c:pt>
              <c:pt idx="214">
                <c:v>0.8733333333333335</c:v>
              </c:pt>
              <c:pt idx="215">
                <c:v>0.8666666666666667</c:v>
              </c:pt>
              <c:pt idx="216">
                <c:v>0.8599999999999999</c:v>
              </c:pt>
              <c:pt idx="217">
                <c:v>0.8533333333333333</c:v>
              </c:pt>
              <c:pt idx="218">
                <c:v>0.8466666666666667</c:v>
              </c:pt>
              <c:pt idx="219">
                <c:v>0.8400000000000001</c:v>
              </c:pt>
              <c:pt idx="220">
                <c:v>0.8333333333333333</c:v>
              </c:pt>
              <c:pt idx="221">
                <c:v>0.8266666666666667</c:v>
              </c:pt>
              <c:pt idx="222">
                <c:v>0.8200000000000001</c:v>
              </c:pt>
              <c:pt idx="223">
                <c:v>0.8133333333333332</c:v>
              </c:pt>
              <c:pt idx="224">
                <c:v>0.8066666666666666</c:v>
              </c:pt>
              <c:pt idx="225">
                <c:v>0.8</c:v>
              </c:pt>
              <c:pt idx="226">
                <c:v>0.7933333333333332</c:v>
              </c:pt>
              <c:pt idx="227">
                <c:v>0.7866666666666666</c:v>
              </c:pt>
              <c:pt idx="228">
                <c:v>0.7799999999999999</c:v>
              </c:pt>
              <c:pt idx="229">
                <c:v>0.7733333333333334</c:v>
              </c:pt>
              <c:pt idx="230">
                <c:v>0.7666666666666666</c:v>
              </c:pt>
              <c:pt idx="231">
                <c:v>0.7599999999999999</c:v>
              </c:pt>
              <c:pt idx="232">
                <c:v>0.7533333333333334</c:v>
              </c:pt>
              <c:pt idx="233">
                <c:v>0.7466666666666666</c:v>
              </c:pt>
              <c:pt idx="234">
                <c:v>0.7400000000000001</c:v>
              </c:pt>
              <c:pt idx="235">
                <c:v>0.7333333333333334</c:v>
              </c:pt>
              <c:pt idx="236">
                <c:v>0.7266666666666666</c:v>
              </c:pt>
              <c:pt idx="237">
                <c:v>0.72</c:v>
              </c:pt>
              <c:pt idx="238">
                <c:v>0.7133333333333333</c:v>
              </c:pt>
              <c:pt idx="239">
                <c:v>0.7066666666666668</c:v>
              </c:pt>
              <c:pt idx="240">
                <c:v>0.7</c:v>
              </c:pt>
              <c:pt idx="241">
                <c:v>0.6933333333333332</c:v>
              </c:pt>
              <c:pt idx="242">
                <c:v>0.6866666666666668</c:v>
              </c:pt>
              <c:pt idx="243">
                <c:v>0.6799999999999999</c:v>
              </c:pt>
              <c:pt idx="244">
                <c:v>0.6733333333333333</c:v>
              </c:pt>
              <c:pt idx="245">
                <c:v>0.6666666666666666</c:v>
              </c:pt>
              <c:pt idx="246">
                <c:v>0.6599999999999999</c:v>
              </c:pt>
              <c:pt idx="247">
                <c:v>0.6533333333333333</c:v>
              </c:pt>
              <c:pt idx="248">
                <c:v>0.6466666666666666</c:v>
              </c:pt>
              <c:pt idx="249">
                <c:v>0.6400000000000001</c:v>
              </c:pt>
              <c:pt idx="250">
                <c:v>0.6333333333333333</c:v>
              </c:pt>
              <c:pt idx="251">
                <c:v>0.6266666666666665</c:v>
              </c:pt>
              <c:pt idx="252">
                <c:v>0.6200000000000001</c:v>
              </c:pt>
              <c:pt idx="253">
                <c:v>0.6133333333333333</c:v>
              </c:pt>
              <c:pt idx="254">
                <c:v>0.6066666666666667</c:v>
              </c:pt>
              <c:pt idx="255">
                <c:v>0.6</c:v>
              </c:pt>
              <c:pt idx="256">
                <c:v>0.5933333333333333</c:v>
              </c:pt>
              <c:pt idx="257">
                <c:v>0.5866666666666667</c:v>
              </c:pt>
              <c:pt idx="258">
                <c:v>0.58</c:v>
              </c:pt>
              <c:pt idx="259">
                <c:v>0.5733333333333335</c:v>
              </c:pt>
              <c:pt idx="260">
                <c:v>0.5666666666666667</c:v>
              </c:pt>
              <c:pt idx="261">
                <c:v>0.5599999999999998</c:v>
              </c:pt>
              <c:pt idx="262">
                <c:v>0.5533333333333333</c:v>
              </c:pt>
              <c:pt idx="263">
                <c:v>0.5466666666666666</c:v>
              </c:pt>
              <c:pt idx="264">
                <c:v>0.54</c:v>
              </c:pt>
              <c:pt idx="265">
                <c:v>0.5333333333333333</c:v>
              </c:pt>
              <c:pt idx="266">
                <c:v>0.5266666666666666</c:v>
              </c:pt>
              <c:pt idx="267">
                <c:v>0.52</c:v>
              </c:pt>
              <c:pt idx="268">
                <c:v>0.5133333333333333</c:v>
              </c:pt>
              <c:pt idx="269">
                <c:v>0.5066666666666667</c:v>
              </c:pt>
              <c:pt idx="270">
                <c:v>0.5</c:v>
              </c:pt>
              <c:pt idx="271">
                <c:v>0.49333333333333323</c:v>
              </c:pt>
              <c:pt idx="272">
                <c:v>0.4866666666666667</c:v>
              </c:pt>
              <c:pt idx="273">
                <c:v>0.48</c:v>
              </c:pt>
              <c:pt idx="274">
                <c:v>0.4733333333333334</c:v>
              </c:pt>
              <c:pt idx="275">
                <c:v>0.4666666666666667</c:v>
              </c:pt>
              <c:pt idx="276">
                <c:v>0.45999999999999985</c:v>
              </c:pt>
              <c:pt idx="277">
                <c:v>0.45333333333333337</c:v>
              </c:pt>
              <c:pt idx="278">
                <c:v>0.4466666666666666</c:v>
              </c:pt>
              <c:pt idx="279">
                <c:v>0.44000000000000006</c:v>
              </c:pt>
              <c:pt idx="280">
                <c:v>0.43333333333333335</c:v>
              </c:pt>
              <c:pt idx="281">
                <c:v>0.4266666666666665</c:v>
              </c:pt>
              <c:pt idx="282">
                <c:v>0.42000000000000004</c:v>
              </c:pt>
              <c:pt idx="283">
                <c:v>0.4133333333333333</c:v>
              </c:pt>
              <c:pt idx="284">
                <c:v>0.40666666666666673</c:v>
              </c:pt>
              <c:pt idx="285">
                <c:v>0.4</c:v>
              </c:pt>
              <c:pt idx="286">
                <c:v>0.3933333333333332</c:v>
              </c:pt>
              <c:pt idx="287">
                <c:v>0.3866666666666667</c:v>
              </c:pt>
              <c:pt idx="288">
                <c:v>0.37999999999999995</c:v>
              </c:pt>
              <c:pt idx="289">
                <c:v>0.3733333333333334</c:v>
              </c:pt>
              <c:pt idx="290">
                <c:v>0.36666666666666664</c:v>
              </c:pt>
              <c:pt idx="291">
                <c:v>0.3599999999999999</c:v>
              </c:pt>
              <c:pt idx="292">
                <c:v>0.3533333333333334</c:v>
              </c:pt>
              <c:pt idx="293">
                <c:v>0.3466666666666666</c:v>
              </c:pt>
              <c:pt idx="294">
                <c:v>0.3400000000000001</c:v>
              </c:pt>
              <c:pt idx="295">
                <c:v>0.3333333333333333</c:v>
              </c:pt>
              <c:pt idx="296">
                <c:v>0.32666666666666655</c:v>
              </c:pt>
              <c:pt idx="297">
                <c:v>0.32000000000000006</c:v>
              </c:pt>
              <c:pt idx="298">
                <c:v>0.3133333333333333</c:v>
              </c:pt>
              <c:pt idx="299">
                <c:v>0.30666666666666675</c:v>
              </c:pt>
              <c:pt idx="300">
                <c:v>0.3</c:v>
              </c:pt>
              <c:pt idx="301">
                <c:v>0.3</c:v>
              </c:pt>
              <c:pt idx="302">
                <c:v>0.3</c:v>
              </c:pt>
              <c:pt idx="303">
                <c:v>0.3</c:v>
              </c:pt>
              <c:pt idx="304">
                <c:v>0.3</c:v>
              </c:pt>
              <c:pt idx="305">
                <c:v>0.3</c:v>
              </c:pt>
              <c:pt idx="306">
                <c:v>0.3</c:v>
              </c:pt>
              <c:pt idx="307">
                <c:v>0.3</c:v>
              </c:pt>
              <c:pt idx="308">
                <c:v>0.3</c:v>
              </c:pt>
              <c:pt idx="309">
                <c:v>0.3</c:v>
              </c:pt>
              <c:pt idx="310">
                <c:v>0.3</c:v>
              </c:pt>
              <c:pt idx="311">
                <c:v>0.3</c:v>
              </c:pt>
              <c:pt idx="312">
                <c:v>0.3</c:v>
              </c:pt>
              <c:pt idx="313">
                <c:v>0.3</c:v>
              </c:pt>
              <c:pt idx="314">
                <c:v>0.3</c:v>
              </c:pt>
              <c:pt idx="315">
                <c:v>0.3</c:v>
              </c:pt>
              <c:pt idx="316">
                <c:v>0.3</c:v>
              </c:pt>
              <c:pt idx="317">
                <c:v>0.3</c:v>
              </c:pt>
              <c:pt idx="318">
                <c:v>0.3</c:v>
              </c:pt>
              <c:pt idx="319">
                <c:v>0.3</c:v>
              </c:pt>
              <c:pt idx="320">
                <c:v>0.3</c:v>
              </c:pt>
              <c:pt idx="321">
                <c:v>0.3</c:v>
              </c:pt>
              <c:pt idx="322">
                <c:v>0.3</c:v>
              </c:pt>
              <c:pt idx="323">
                <c:v>0.3</c:v>
              </c:pt>
              <c:pt idx="324">
                <c:v>0.3</c:v>
              </c:pt>
              <c:pt idx="325">
                <c:v>0.3</c:v>
              </c:pt>
              <c:pt idx="326">
                <c:v>0.3</c:v>
              </c:pt>
              <c:pt idx="327">
                <c:v>0.3</c:v>
              </c:pt>
              <c:pt idx="328">
                <c:v>0.3</c:v>
              </c:pt>
              <c:pt idx="329">
                <c:v>0.3</c:v>
              </c:pt>
              <c:pt idx="330">
                <c:v>0.3</c:v>
              </c:pt>
              <c:pt idx="331">
                <c:v>0.3</c:v>
              </c:pt>
              <c:pt idx="332">
                <c:v>0.3</c:v>
              </c:pt>
              <c:pt idx="333">
                <c:v>0.3</c:v>
              </c:pt>
              <c:pt idx="334">
                <c:v>0.3</c:v>
              </c:pt>
              <c:pt idx="335">
                <c:v>0.3</c:v>
              </c:pt>
              <c:pt idx="336">
                <c:v>0.3</c:v>
              </c:pt>
              <c:pt idx="337">
                <c:v>0.3</c:v>
              </c:pt>
              <c:pt idx="338">
                <c:v>0.3</c:v>
              </c:pt>
              <c:pt idx="339">
                <c:v>0.3</c:v>
              </c:pt>
              <c:pt idx="340">
                <c:v>0.3</c:v>
              </c:pt>
              <c:pt idx="341">
                <c:v>0.3</c:v>
              </c:pt>
              <c:pt idx="342">
                <c:v>0.3</c:v>
              </c:pt>
              <c:pt idx="343">
                <c:v>0.3</c:v>
              </c:pt>
              <c:pt idx="344">
                <c:v>0.3</c:v>
              </c:pt>
              <c:pt idx="345">
                <c:v>0.3</c:v>
              </c:pt>
              <c:pt idx="346">
                <c:v>0.3</c:v>
              </c:pt>
              <c:pt idx="347">
                <c:v>0.3</c:v>
              </c:pt>
              <c:pt idx="348">
                <c:v>0.3</c:v>
              </c:pt>
              <c:pt idx="349">
                <c:v>0.3</c:v>
              </c:pt>
              <c:pt idx="350">
                <c:v>0.3</c:v>
              </c:pt>
              <c:pt idx="351">
                <c:v>0.3</c:v>
              </c:pt>
              <c:pt idx="352">
                <c:v>0.3</c:v>
              </c:pt>
              <c:pt idx="353">
                <c:v>0.3</c:v>
              </c:pt>
              <c:pt idx="354">
                <c:v>0.3</c:v>
              </c:pt>
              <c:pt idx="355">
                <c:v>0.3</c:v>
              </c:pt>
              <c:pt idx="356">
                <c:v>0.3</c:v>
              </c:pt>
              <c:pt idx="357">
                <c:v>0.3</c:v>
              </c:pt>
              <c:pt idx="358">
                <c:v>0.3</c:v>
              </c:pt>
              <c:pt idx="359">
                <c:v>0.3</c:v>
              </c:pt>
              <c:pt idx="360">
                <c:v>0.3</c:v>
              </c:pt>
              <c:pt idx="361">
                <c:v>0.3</c:v>
              </c:pt>
              <c:pt idx="362">
                <c:v>0.3</c:v>
              </c:pt>
              <c:pt idx="363">
                <c:v>0.3</c:v>
              </c:pt>
              <c:pt idx="364">
                <c:v>0.3</c:v>
              </c:pt>
              <c:pt idx="365">
                <c:v>0.3</c:v>
              </c:pt>
              <c:pt idx="366">
                <c:v>0.3</c:v>
              </c:pt>
              <c:pt idx="367">
                <c:v>0.3</c:v>
              </c:pt>
              <c:pt idx="368">
                <c:v>0.3</c:v>
              </c:pt>
              <c:pt idx="369">
                <c:v>0.3</c:v>
              </c:pt>
              <c:pt idx="370">
                <c:v>0.3</c:v>
              </c:pt>
              <c:pt idx="371">
                <c:v>0.3</c:v>
              </c:pt>
              <c:pt idx="372">
                <c:v>0.3</c:v>
              </c:pt>
              <c:pt idx="373">
                <c:v>0.3</c:v>
              </c:pt>
              <c:pt idx="374">
                <c:v>0.3</c:v>
              </c:pt>
              <c:pt idx="375">
                <c:v>0.3</c:v>
              </c:pt>
              <c:pt idx="376">
                <c:v>0.3</c:v>
              </c:pt>
              <c:pt idx="377">
                <c:v>0.3</c:v>
              </c:pt>
              <c:pt idx="378">
                <c:v>0.3</c:v>
              </c:pt>
              <c:pt idx="379">
                <c:v>0.3</c:v>
              </c:pt>
              <c:pt idx="380">
                <c:v>0.3</c:v>
              </c:pt>
              <c:pt idx="381">
                <c:v>0.3</c:v>
              </c:pt>
              <c:pt idx="382">
                <c:v>0.3</c:v>
              </c:pt>
              <c:pt idx="383">
                <c:v>0.3</c:v>
              </c:pt>
              <c:pt idx="384">
                <c:v>0.3</c:v>
              </c:pt>
              <c:pt idx="385">
                <c:v>0.3</c:v>
              </c:pt>
              <c:pt idx="386">
                <c:v>0.3</c:v>
              </c:pt>
              <c:pt idx="387">
                <c:v>0.3</c:v>
              </c:pt>
              <c:pt idx="388">
                <c:v>0.3</c:v>
              </c:pt>
              <c:pt idx="389">
                <c:v>0.3</c:v>
              </c:pt>
              <c:pt idx="390">
                <c:v>0.3</c:v>
              </c:pt>
              <c:pt idx="391">
                <c:v>0.3</c:v>
              </c:pt>
              <c:pt idx="392">
                <c:v>0.3</c:v>
              </c:pt>
              <c:pt idx="393">
                <c:v>0.3</c:v>
              </c:pt>
              <c:pt idx="394">
                <c:v>0.3</c:v>
              </c:pt>
              <c:pt idx="395">
                <c:v>0.3</c:v>
              </c:pt>
              <c:pt idx="396">
                <c:v>0.3</c:v>
              </c:pt>
              <c:pt idx="397">
                <c:v>0.3</c:v>
              </c:pt>
              <c:pt idx="398">
                <c:v>0.3</c:v>
              </c:pt>
              <c:pt idx="399">
                <c:v>0.3</c:v>
              </c:pt>
              <c:pt idx="400">
                <c:v>0.3</c:v>
              </c:pt>
              <c:pt idx="401">
                <c:v>0.3</c:v>
              </c:pt>
              <c:pt idx="402">
                <c:v>0.3</c:v>
              </c:pt>
              <c:pt idx="403">
                <c:v>0.3</c:v>
              </c:pt>
              <c:pt idx="404">
                <c:v>0.3</c:v>
              </c:pt>
              <c:pt idx="405">
                <c:v>0.3</c:v>
              </c:pt>
              <c:pt idx="406">
                <c:v>0.2933333333333332</c:v>
              </c:pt>
              <c:pt idx="407">
                <c:v>0.28666666666666646</c:v>
              </c:pt>
              <c:pt idx="408">
                <c:v>0.2800000000000002</c:v>
              </c:pt>
              <c:pt idx="409">
                <c:v>0.27333333333333343</c:v>
              </c:pt>
              <c:pt idx="410">
                <c:v>0.26666666666666666</c:v>
              </c:pt>
              <c:pt idx="411">
                <c:v>0.2599999999999999</c:v>
              </c:pt>
              <c:pt idx="412">
                <c:v>0.25333333333333313</c:v>
              </c:pt>
              <c:pt idx="413">
                <c:v>0.24666666666666687</c:v>
              </c:pt>
              <c:pt idx="414">
                <c:v>0.2400000000000001</c:v>
              </c:pt>
              <c:pt idx="415">
                <c:v>0.23333333333333334</c:v>
              </c:pt>
              <c:pt idx="416">
                <c:v>0.22666666666666657</c:v>
              </c:pt>
              <c:pt idx="417">
                <c:v>0.2199999999999998</c:v>
              </c:pt>
              <c:pt idx="418">
                <c:v>0.2133333333333335</c:v>
              </c:pt>
              <c:pt idx="419">
                <c:v>0.20666666666666675</c:v>
              </c:pt>
              <c:pt idx="420">
                <c:v>0.2</c:v>
              </c:pt>
              <c:pt idx="421">
                <c:v>0.19333333333333325</c:v>
              </c:pt>
              <c:pt idx="422">
                <c:v>0.18666666666666648</c:v>
              </c:pt>
              <c:pt idx="423">
                <c:v>0.1800000000000002</c:v>
              </c:pt>
              <c:pt idx="424">
                <c:v>0.17333333333333342</c:v>
              </c:pt>
              <c:pt idx="425">
                <c:v>0.16666666666666666</c:v>
              </c:pt>
              <c:pt idx="426">
                <c:v>0.1599999999999999</c:v>
              </c:pt>
              <c:pt idx="427">
                <c:v>0.15333333333333315</c:v>
              </c:pt>
              <c:pt idx="428">
                <c:v>0.14666666666666686</c:v>
              </c:pt>
              <c:pt idx="429">
                <c:v>0.1400000000000001</c:v>
              </c:pt>
              <c:pt idx="430">
                <c:v>0.13333333333333333</c:v>
              </c:pt>
              <c:pt idx="431">
                <c:v>0.12666666666666657</c:v>
              </c:pt>
              <c:pt idx="432">
                <c:v>0.11999999999999982</c:v>
              </c:pt>
              <c:pt idx="433">
                <c:v>0.11333333333333352</c:v>
              </c:pt>
              <c:pt idx="434">
                <c:v>0.10666666666666676</c:v>
              </c:pt>
              <c:pt idx="435">
                <c:v>0.1</c:v>
              </c:pt>
              <c:pt idx="436">
                <c:v>0.09333333333333324</c:v>
              </c:pt>
              <c:pt idx="437">
                <c:v>0.08666666666666648</c:v>
              </c:pt>
              <c:pt idx="438">
                <c:v>0.0800000000000002</c:v>
              </c:pt>
              <c:pt idx="439">
                <c:v>0.07333333333333343</c:v>
              </c:pt>
              <c:pt idx="440">
                <c:v>0.06666666666666667</c:v>
              </c:pt>
              <c:pt idx="441">
                <c:v>0.05999999999999991</c:v>
              </c:pt>
              <c:pt idx="442">
                <c:v>0.05333333333333314</c:v>
              </c:pt>
              <c:pt idx="443">
                <c:v>0.046666666666666856</c:v>
              </c:pt>
              <c:pt idx="444">
                <c:v>0.0400000000000001</c:v>
              </c:pt>
              <c:pt idx="445">
                <c:v>0.03333333333333333</c:v>
              </c:pt>
              <c:pt idx="446">
                <c:v>0.02666666666666657</c:v>
              </c:pt>
              <c:pt idx="447">
                <c:v>0.01999999999999981</c:v>
              </c:pt>
              <c:pt idx="448">
                <c:v>0.013333333333333523</c:v>
              </c:pt>
              <c:pt idx="449">
                <c:v>0.006666666666666762</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25.xml><?xml version="1.0" encoding="utf-8"?>
<c:chartSpace xmlns:c="http://schemas.openxmlformats.org/drawingml/2006/chart">
  <c:lang val="en-US"/>
  <c:chart>
    <c:plotArea>
      <c:scatterChart>
        <c:ser>
          <c:idx val="0"/>
          <c:order val="0"/>
          <c:tx>
            <c:v>Agregada</c:v>
          </c:tx>
          <c:spPr>
            <a:ln xmlns:a="http://schemas.openxmlformats.org/drawingml/2006/main" w="28575">
              <a:solidFill>
                <a:srgbClr val="73808A"/>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Región elegida</c:v>
          </c:tx>
          <c:spPr>
            <a:ln xmlns:a="http://schemas.openxmlformats.org/drawingml/2006/main" w="4762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ser>
          <c:idx val="2"/>
          <c:order val="2"/>
          <c:tx>
            <c:v>u = 25</c:v>
          </c:tx>
          <c:spPr>
            <a:ln xmlns:a="http://schemas.openxmlformats.org/drawingml/2006/main" w="28575">
              <a:solidFill>
                <a:srgbClr val="087F79"/>
              </a:solidFill>
            </a:ln>
          </c:spPr>
          <c:marker>
            <c:symbol val="none"/>
            <c:size val="5"/>
          </c:marker>
          <c:xVal>
            <c:numLit>
              <c:formatCode>General</c:formatCode>
              <c:ptCount val="2"/>
              <c:pt idx="0">
                <c:v>25</c:v>
              </c:pt>
              <c:pt idx="1">
                <c:v>25</c:v>
              </c:pt>
            </c:numLit>
          </c:xVal>
          <c:yVal>
            <c:numLit>
              <c:formatCode>General</c:formatCode>
              <c:ptCount val="2"/>
              <c:pt idx="0">
                <c:v>0</c:v>
              </c:pt>
              <c:pt idx="1">
                <c:v>0.85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6.xml><?xml version="1.0" encoding="utf-8"?>
<c:chartSpace xmlns:c="http://schemas.openxmlformats.org/drawingml/2006/chart">
  <c:lang val="en-US"/>
  <c:chart>
    <c:plotArea>
      <c:scatterChart>
        <c:ser>
          <c:idx val="0"/>
          <c:order val="0"/>
          <c:tx>
            <c:v>Salida 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u = 15</c:v>
          </c:tx>
          <c:spPr>
            <a:ln xmlns:a="http://schemas.openxmlformats.org/drawingml/2006/main" w="28575">
              <a:solidFill>
                <a:srgbClr val="D96B18"/>
              </a:solidFill>
            </a:ln>
          </c:spPr>
          <c:marker>
            <c:symbol val="none"/>
            <c:size val="5"/>
          </c:marker>
          <c:xVal>
            <c:numLit>
              <c:formatCode>General</c:formatCode>
              <c:ptCount val="2"/>
              <c:pt idx="0">
                <c:v>15</c:v>
              </c:pt>
              <c:pt idx="1">
                <c:v>15</c:v>
              </c:pt>
            </c:numLit>
          </c:xVal>
          <c:yVal>
            <c:numLit>
              <c:formatCode>General</c:formatCode>
              <c:ptCount val="2"/>
              <c:pt idx="0">
                <c:v>0</c:v>
              </c:pt>
              <c:pt idx="1">
                <c:v>0.85</c:v>
              </c:pt>
            </c:numLit>
          </c:yVal>
        </c:ser>
        <c:ser>
          <c:idx val="2"/>
          <c:order val="2"/>
          <c:tx>
            <c:v>u = 35</c:v>
          </c:tx>
          <c:spPr>
            <a:ln xmlns:a="http://schemas.openxmlformats.org/drawingml/2006/main" w="28575">
              <a:solidFill>
                <a:srgbClr val="087F79"/>
              </a:solidFill>
            </a:ln>
          </c:spPr>
          <c:marker>
            <c:symbol val="none"/>
            <c:size val="5"/>
          </c:marker>
          <c:xVal>
            <c:numLit>
              <c:formatCode>General</c:formatCode>
              <c:ptCount val="2"/>
              <c:pt idx="0">
                <c:v>35</c:v>
              </c:pt>
              <c:pt idx="1">
                <c:v>35</c:v>
              </c:pt>
            </c:numLit>
          </c:xVal>
          <c:yVal>
            <c:numLit>
              <c:formatCode>General</c:formatCode>
              <c:ptCount val="2"/>
              <c:pt idx="0">
                <c:v>0</c:v>
              </c:pt>
              <c:pt idx="1">
                <c:v>0.85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7.xml><?xml version="1.0" encoding="utf-8"?>
<c:chartSpace xmlns:c="http://schemas.openxmlformats.org/drawingml/2006/chart">
  <c:lang val="en-US"/>
  <c:chart>
    <c:plotArea>
      <c:scatterChart>
        <c:ser>
          <c:idx val="0"/>
          <c:order val="0"/>
          <c:tx>
            <c:v>Antes</c:v>
          </c:tx>
          <c:spPr>
            <a:ln xmlns:a="http://schemas.openxmlformats.org/drawingml/2006/main" w="28575">
              <a:solidFill>
                <a:srgbClr val="2162A0"/>
              </a:solidFill>
            </a:ln>
          </c:spPr>
          <c:marker>
            <c:symbol val="none"/>
            <c:size val="5"/>
          </c:marker>
          <c:xVal>
            <c:numLit>
              <c:formatCode>General</c:formatCode>
              <c:ptCount val="20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numLit>
          </c:xVal>
          <c:yVal>
            <c:numLit>
              <c:formatCode>General</c:formatCode>
              <c:ptCount val="201"/>
              <c:pt idx="0">
                <c:v>0</c:v>
              </c:pt>
              <c:pt idx="1">
                <c:v>0.012750000000000001</c:v>
              </c:pt>
              <c:pt idx="2">
                <c:v>0.025500000000000002</c:v>
              </c:pt>
              <c:pt idx="3">
                <c:v>0.03825</c:v>
              </c:pt>
              <c:pt idx="4">
                <c:v>0.051000000000000004</c:v>
              </c:pt>
              <c:pt idx="5">
                <c:v>0.06375</c:v>
              </c:pt>
              <c:pt idx="6">
                <c:v>0.0765</c:v>
              </c:pt>
              <c:pt idx="7">
                <c:v>0.08925</c:v>
              </c:pt>
              <c:pt idx="8">
                <c:v>0.10200000000000001</c:v>
              </c:pt>
              <c:pt idx="9">
                <c:v>0.11475</c:v>
              </c:pt>
              <c:pt idx="10">
                <c:v>0.1275</c:v>
              </c:pt>
              <c:pt idx="11">
                <c:v>0.14025</c:v>
              </c:pt>
              <c:pt idx="12">
                <c:v>0.153</c:v>
              </c:pt>
              <c:pt idx="13">
                <c:v>0.16575</c:v>
              </c:pt>
              <c:pt idx="14">
                <c:v>0.1785</c:v>
              </c:pt>
              <c:pt idx="15">
                <c:v>0.19125</c:v>
              </c:pt>
              <c:pt idx="16">
                <c:v>0.20400000000000001</c:v>
              </c:pt>
              <c:pt idx="17">
                <c:v>0.21675</c:v>
              </c:pt>
              <c:pt idx="18">
                <c:v>0.2295</c:v>
              </c:pt>
              <c:pt idx="19">
                <c:v>0.24225</c:v>
              </c:pt>
              <c:pt idx="20">
                <c:v>0.255</c:v>
              </c:pt>
              <c:pt idx="21">
                <c:v>0.26775000000000004</c:v>
              </c:pt>
              <c:pt idx="22">
                <c:v>0.2805</c:v>
              </c:pt>
              <c:pt idx="23">
                <c:v>0.29324999999999996</c:v>
              </c:pt>
              <c:pt idx="24">
                <c:v>0.306</c:v>
              </c:pt>
              <c:pt idx="25">
                <c:v>0.31875</c:v>
              </c:pt>
              <c:pt idx="26">
                <c:v>0.3315</c:v>
              </c:pt>
              <c:pt idx="27">
                <c:v>0.34425000000000006</c:v>
              </c:pt>
              <c:pt idx="28">
                <c:v>0.357</c:v>
              </c:pt>
              <c:pt idx="29">
                <c:v>0.36974999999999997</c:v>
              </c:pt>
              <c:pt idx="30">
                <c:v>0.3825</c:v>
              </c:pt>
              <c:pt idx="31">
                <c:v>0.39525000000000005</c:v>
              </c:pt>
              <c:pt idx="32">
                <c:v>0.40800000000000003</c:v>
              </c:pt>
              <c:pt idx="33">
                <c:v>0.42074999999999996</c:v>
              </c:pt>
              <c:pt idx="34">
                <c:v>0.4335</c:v>
              </c:pt>
              <c:pt idx="35">
                <c:v>0.44625000000000004</c:v>
              </c:pt>
              <c:pt idx="36">
                <c:v>0.459</c:v>
              </c:pt>
              <c:pt idx="37">
                <c:v>0.47175000000000006</c:v>
              </c:pt>
              <c:pt idx="38">
                <c:v>0.4845</c:v>
              </c:pt>
              <c:pt idx="39">
                <c:v>0.49724999999999997</c:v>
              </c:pt>
              <c:pt idx="40">
                <c:v>0.51</c:v>
              </c:pt>
              <c:pt idx="41">
                <c:v>0.49724999999999997</c:v>
              </c:pt>
              <c:pt idx="42">
                <c:v>0.4845</c:v>
              </c:pt>
              <c:pt idx="43">
                <c:v>0.47175000000000006</c:v>
              </c:pt>
              <c:pt idx="44">
                <c:v>0.459</c:v>
              </c:pt>
              <c:pt idx="45">
                <c:v>0.44625000000000004</c:v>
              </c:pt>
              <c:pt idx="46">
                <c:v>0.4335</c:v>
              </c:pt>
              <c:pt idx="47">
                <c:v>0.42074999999999996</c:v>
              </c:pt>
              <c:pt idx="48">
                <c:v>0.40800000000000003</c:v>
              </c:pt>
              <c:pt idx="49">
                <c:v>0.39525000000000005</c:v>
              </c:pt>
              <c:pt idx="50">
                <c:v>0.3825</c:v>
              </c:pt>
              <c:pt idx="51">
                <c:v>0.36974999999999997</c:v>
              </c:pt>
              <c:pt idx="52">
                <c:v>0.357</c:v>
              </c:pt>
              <c:pt idx="53">
                <c:v>0.34425000000000006</c:v>
              </c:pt>
              <c:pt idx="54">
                <c:v>0.3315</c:v>
              </c:pt>
              <c:pt idx="55">
                <c:v>0.31875</c:v>
              </c:pt>
              <c:pt idx="56">
                <c:v>0.306</c:v>
              </c:pt>
              <c:pt idx="57">
                <c:v>0.29324999999999996</c:v>
              </c:pt>
              <c:pt idx="58">
                <c:v>0.2805</c:v>
              </c:pt>
              <c:pt idx="59">
                <c:v>0.26775000000000004</c:v>
              </c:pt>
              <c:pt idx="60">
                <c:v>0.255</c:v>
              </c:pt>
              <c:pt idx="61">
                <c:v>0.24225</c:v>
              </c:pt>
              <c:pt idx="62">
                <c:v>0.2295</c:v>
              </c:pt>
              <c:pt idx="63">
                <c:v>0.21675</c:v>
              </c:pt>
              <c:pt idx="64">
                <c:v>0.20400000000000001</c:v>
              </c:pt>
              <c:pt idx="65">
                <c:v>0.19125</c:v>
              </c:pt>
              <c:pt idx="66">
                <c:v>0.1785</c:v>
              </c:pt>
              <c:pt idx="67">
                <c:v>0.16575</c:v>
              </c:pt>
              <c:pt idx="68">
                <c:v>0.153</c:v>
              </c:pt>
              <c:pt idx="69">
                <c:v>0.14025</c:v>
              </c:pt>
              <c:pt idx="70">
                <c:v>0.1275</c:v>
              </c:pt>
              <c:pt idx="71">
                <c:v>0.11475</c:v>
              </c:pt>
              <c:pt idx="72">
                <c:v>0.10200000000000001</c:v>
              </c:pt>
              <c:pt idx="73">
                <c:v>0.08925</c:v>
              </c:pt>
              <c:pt idx="74">
                <c:v>0.0765</c:v>
              </c:pt>
              <c:pt idx="75">
                <c:v>0.06375</c:v>
              </c:pt>
              <c:pt idx="76">
                <c:v>0.051000000000000004</c:v>
              </c:pt>
              <c:pt idx="77">
                <c:v>0.03825</c:v>
              </c:pt>
              <c:pt idx="78">
                <c:v>0.025500000000000002</c:v>
              </c:pt>
              <c:pt idx="79">
                <c:v>0.012750000000000001</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0.01225</c:v>
              </c:pt>
              <c:pt idx="122">
                <c:v>0.0245</c:v>
              </c:pt>
              <c:pt idx="123">
                <c:v>0.03675</c:v>
              </c:pt>
              <c:pt idx="124">
                <c:v>0.049</c:v>
              </c:pt>
              <c:pt idx="125">
                <c:v>0.06125</c:v>
              </c:pt>
              <c:pt idx="126">
                <c:v>0.0735</c:v>
              </c:pt>
              <c:pt idx="127">
                <c:v>0.08574999999999999</c:v>
              </c:pt>
              <c:pt idx="128">
                <c:v>0.098</c:v>
              </c:pt>
              <c:pt idx="129">
                <c:v>0.11025</c:v>
              </c:pt>
              <c:pt idx="130">
                <c:v>0.1225</c:v>
              </c:pt>
              <c:pt idx="131">
                <c:v>0.13475</c:v>
              </c:pt>
              <c:pt idx="132">
                <c:v>0.147</c:v>
              </c:pt>
              <c:pt idx="133">
                <c:v>0.15925</c:v>
              </c:pt>
              <c:pt idx="134">
                <c:v>0.17149999999999999</c:v>
              </c:pt>
              <c:pt idx="135">
                <c:v>0.18375</c:v>
              </c:pt>
              <c:pt idx="136">
                <c:v>0.196</c:v>
              </c:pt>
              <c:pt idx="137">
                <c:v>0.20825</c:v>
              </c:pt>
              <c:pt idx="138">
                <c:v>0.2205</c:v>
              </c:pt>
              <c:pt idx="139">
                <c:v>0.23274999999999998</c:v>
              </c:pt>
              <c:pt idx="140">
                <c:v>0.245</c:v>
              </c:pt>
              <c:pt idx="141">
                <c:v>0.25725</c:v>
              </c:pt>
              <c:pt idx="142">
                <c:v>0.2695</c:v>
              </c:pt>
              <c:pt idx="143">
                <c:v>0.28175</c:v>
              </c:pt>
              <c:pt idx="144">
                <c:v>0.294</c:v>
              </c:pt>
              <c:pt idx="145">
                <c:v>0.30625</c:v>
              </c:pt>
              <c:pt idx="146">
                <c:v>0.3185</c:v>
              </c:pt>
              <c:pt idx="147">
                <c:v>0.33075</c:v>
              </c:pt>
              <c:pt idx="148">
                <c:v>0.34299999999999997</c:v>
              </c:pt>
              <c:pt idx="149">
                <c:v>0.35525</c:v>
              </c:pt>
              <c:pt idx="150">
                <c:v>0.3675</c:v>
              </c:pt>
              <c:pt idx="151">
                <c:v>0.37975</c:v>
              </c:pt>
              <c:pt idx="152">
                <c:v>0.392</c:v>
              </c:pt>
              <c:pt idx="153">
                <c:v>0.40425</c:v>
              </c:pt>
              <c:pt idx="154">
                <c:v>0.4165</c:v>
              </c:pt>
              <c:pt idx="155">
                <c:v>0.42874999999999996</c:v>
              </c:pt>
              <c:pt idx="156">
                <c:v>0.441</c:v>
              </c:pt>
              <c:pt idx="157">
                <c:v>0.45325</c:v>
              </c:pt>
              <c:pt idx="158">
                <c:v>0.46549999999999997</c:v>
              </c:pt>
              <c:pt idx="159">
                <c:v>0.47775</c:v>
              </c:pt>
              <c:pt idx="160">
                <c:v>0.49</c:v>
              </c:pt>
              <c:pt idx="161">
                <c:v>0.47775</c:v>
              </c:pt>
              <c:pt idx="162">
                <c:v>0.46549999999999997</c:v>
              </c:pt>
              <c:pt idx="163">
                <c:v>0.45325</c:v>
              </c:pt>
              <c:pt idx="164">
                <c:v>0.441</c:v>
              </c:pt>
              <c:pt idx="165">
                <c:v>0.42874999999999996</c:v>
              </c:pt>
              <c:pt idx="166">
                <c:v>0.4165</c:v>
              </c:pt>
              <c:pt idx="167">
                <c:v>0.40425</c:v>
              </c:pt>
              <c:pt idx="168">
                <c:v>0.392</c:v>
              </c:pt>
              <c:pt idx="169">
                <c:v>0.37975</c:v>
              </c:pt>
              <c:pt idx="170">
                <c:v>0.3675</c:v>
              </c:pt>
              <c:pt idx="171">
                <c:v>0.35525</c:v>
              </c:pt>
              <c:pt idx="172">
                <c:v>0.34299999999999997</c:v>
              </c:pt>
              <c:pt idx="173">
                <c:v>0.33075</c:v>
              </c:pt>
              <c:pt idx="174">
                <c:v>0.3185</c:v>
              </c:pt>
              <c:pt idx="175">
                <c:v>0.30625</c:v>
              </c:pt>
              <c:pt idx="176">
                <c:v>0.294</c:v>
              </c:pt>
              <c:pt idx="177">
                <c:v>0.28175</c:v>
              </c:pt>
              <c:pt idx="178">
                <c:v>0.2695</c:v>
              </c:pt>
              <c:pt idx="179">
                <c:v>0.25725</c:v>
              </c:pt>
              <c:pt idx="180">
                <c:v>0.245</c:v>
              </c:pt>
              <c:pt idx="181">
                <c:v>0.23274999999999998</c:v>
              </c:pt>
              <c:pt idx="182">
                <c:v>0.2205</c:v>
              </c:pt>
              <c:pt idx="183">
                <c:v>0.20825</c:v>
              </c:pt>
              <c:pt idx="184">
                <c:v>0.196</c:v>
              </c:pt>
              <c:pt idx="185">
                <c:v>0.18375</c:v>
              </c:pt>
              <c:pt idx="186">
                <c:v>0.17149999999999999</c:v>
              </c:pt>
              <c:pt idx="187">
                <c:v>0.15925</c:v>
              </c:pt>
              <c:pt idx="188">
                <c:v>0.147</c:v>
              </c:pt>
              <c:pt idx="189">
                <c:v>0.13475</c:v>
              </c:pt>
              <c:pt idx="190">
                <c:v>0.1225</c:v>
              </c:pt>
              <c:pt idx="191">
                <c:v>0.11025</c:v>
              </c:pt>
              <c:pt idx="192">
                <c:v>0.098</c:v>
              </c:pt>
              <c:pt idx="193">
                <c:v>0.08574999999999999</c:v>
              </c:pt>
              <c:pt idx="194">
                <c:v>0.0735</c:v>
              </c:pt>
              <c:pt idx="195">
                <c:v>0.06125</c:v>
              </c:pt>
              <c:pt idx="196">
                <c:v>0.049</c:v>
              </c:pt>
              <c:pt idx="197">
                <c:v>0.03675</c:v>
              </c:pt>
              <c:pt idx="198">
                <c:v>0.0245</c:v>
              </c:pt>
              <c:pt idx="199">
                <c:v>0.01225</c:v>
              </c:pt>
              <c:pt idx="2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8.xml><?xml version="1.0" encoding="utf-8"?>
<c:chartSpace xmlns:c="http://schemas.openxmlformats.org/drawingml/2006/chart">
  <c:lang val="en-US"/>
  <c:chart>
    <c:plotArea>
      <c:scatterChart>
        <c:ser>
          <c:idx val="0"/>
          <c:order val="0"/>
          <c:tx>
            <c:v>Después</c:v>
          </c:tx>
          <c:spPr>
            <a:ln xmlns:a="http://schemas.openxmlformats.org/drawingml/2006/main" w="28575">
              <a:solidFill>
                <a:srgbClr val="D96B18"/>
              </a:solidFill>
            </a:ln>
          </c:spPr>
          <c:marker>
            <c:symbol val="none"/>
            <c:size val="5"/>
          </c:marker>
          <c:xVal>
            <c:numLit>
              <c:formatCode>General</c:formatCode>
              <c:ptCount val="20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numLit>
          </c:xVal>
          <c:yVal>
            <c:numLit>
              <c:formatCode>General</c:formatCode>
              <c:ptCount val="201"/>
              <c:pt idx="0">
                <c:v>0</c:v>
              </c:pt>
              <c:pt idx="1">
                <c:v>0.01225</c:v>
              </c:pt>
              <c:pt idx="2">
                <c:v>0.0245</c:v>
              </c:pt>
              <c:pt idx="3">
                <c:v>0.03675</c:v>
              </c:pt>
              <c:pt idx="4">
                <c:v>0.049</c:v>
              </c:pt>
              <c:pt idx="5">
                <c:v>0.06125</c:v>
              </c:pt>
              <c:pt idx="6">
                <c:v>0.0735</c:v>
              </c:pt>
              <c:pt idx="7">
                <c:v>0.08574999999999999</c:v>
              </c:pt>
              <c:pt idx="8">
                <c:v>0.098</c:v>
              </c:pt>
              <c:pt idx="9">
                <c:v>0.11025</c:v>
              </c:pt>
              <c:pt idx="10">
                <c:v>0.1225</c:v>
              </c:pt>
              <c:pt idx="11">
                <c:v>0.13475</c:v>
              </c:pt>
              <c:pt idx="12">
                <c:v>0.147</c:v>
              </c:pt>
              <c:pt idx="13">
                <c:v>0.15925</c:v>
              </c:pt>
              <c:pt idx="14">
                <c:v>0.17149999999999999</c:v>
              </c:pt>
              <c:pt idx="15">
                <c:v>0.18375</c:v>
              </c:pt>
              <c:pt idx="16">
                <c:v>0.196</c:v>
              </c:pt>
              <c:pt idx="17">
                <c:v>0.20825</c:v>
              </c:pt>
              <c:pt idx="18">
                <c:v>0.2205</c:v>
              </c:pt>
              <c:pt idx="19">
                <c:v>0.23274999999999998</c:v>
              </c:pt>
              <c:pt idx="20">
                <c:v>0.245</c:v>
              </c:pt>
              <c:pt idx="21">
                <c:v>0.25725</c:v>
              </c:pt>
              <c:pt idx="22">
                <c:v>0.2695</c:v>
              </c:pt>
              <c:pt idx="23">
                <c:v>0.28175</c:v>
              </c:pt>
              <c:pt idx="24">
                <c:v>0.294</c:v>
              </c:pt>
              <c:pt idx="25">
                <c:v>0.30625</c:v>
              </c:pt>
              <c:pt idx="26">
                <c:v>0.3185</c:v>
              </c:pt>
              <c:pt idx="27">
                <c:v>0.33075</c:v>
              </c:pt>
              <c:pt idx="28">
                <c:v>0.34299999999999997</c:v>
              </c:pt>
              <c:pt idx="29">
                <c:v>0.35525</c:v>
              </c:pt>
              <c:pt idx="30">
                <c:v>0.3675</c:v>
              </c:pt>
              <c:pt idx="31">
                <c:v>0.37975</c:v>
              </c:pt>
              <c:pt idx="32">
                <c:v>0.392</c:v>
              </c:pt>
              <c:pt idx="33">
                <c:v>0.40425</c:v>
              </c:pt>
              <c:pt idx="34">
                <c:v>0.4165</c:v>
              </c:pt>
              <c:pt idx="35">
                <c:v>0.42874999999999996</c:v>
              </c:pt>
              <c:pt idx="36">
                <c:v>0.441</c:v>
              </c:pt>
              <c:pt idx="37">
                <c:v>0.45325</c:v>
              </c:pt>
              <c:pt idx="38">
                <c:v>0.46549999999999997</c:v>
              </c:pt>
              <c:pt idx="39">
                <c:v>0.47775</c:v>
              </c:pt>
              <c:pt idx="40">
                <c:v>0.49</c:v>
              </c:pt>
              <c:pt idx="41">
                <c:v>0.47775</c:v>
              </c:pt>
              <c:pt idx="42">
                <c:v>0.46549999999999997</c:v>
              </c:pt>
              <c:pt idx="43">
                <c:v>0.45325</c:v>
              </c:pt>
              <c:pt idx="44">
                <c:v>0.441</c:v>
              </c:pt>
              <c:pt idx="45">
                <c:v>0.42874999999999996</c:v>
              </c:pt>
              <c:pt idx="46">
                <c:v>0.4165</c:v>
              </c:pt>
              <c:pt idx="47">
                <c:v>0.40425</c:v>
              </c:pt>
              <c:pt idx="48">
                <c:v>0.392</c:v>
              </c:pt>
              <c:pt idx="49">
                <c:v>0.37975</c:v>
              </c:pt>
              <c:pt idx="50">
                <c:v>0.3675</c:v>
              </c:pt>
              <c:pt idx="51">
                <c:v>0.35525</c:v>
              </c:pt>
              <c:pt idx="52">
                <c:v>0.34299999999999997</c:v>
              </c:pt>
              <c:pt idx="53">
                <c:v>0.33075</c:v>
              </c:pt>
              <c:pt idx="54">
                <c:v>0.3185</c:v>
              </c:pt>
              <c:pt idx="55">
                <c:v>0.30625</c:v>
              </c:pt>
              <c:pt idx="56">
                <c:v>0.294</c:v>
              </c:pt>
              <c:pt idx="57">
                <c:v>0.28175</c:v>
              </c:pt>
              <c:pt idx="58">
                <c:v>0.2695</c:v>
              </c:pt>
              <c:pt idx="59">
                <c:v>0.25725</c:v>
              </c:pt>
              <c:pt idx="60">
                <c:v>0.245</c:v>
              </c:pt>
              <c:pt idx="61">
                <c:v>0.23274999999999998</c:v>
              </c:pt>
              <c:pt idx="62">
                <c:v>0.2205</c:v>
              </c:pt>
              <c:pt idx="63">
                <c:v>0.20825</c:v>
              </c:pt>
              <c:pt idx="64">
                <c:v>0.196</c:v>
              </c:pt>
              <c:pt idx="65">
                <c:v>0.18375</c:v>
              </c:pt>
              <c:pt idx="66">
                <c:v>0.17149999999999999</c:v>
              </c:pt>
              <c:pt idx="67">
                <c:v>0.15925</c:v>
              </c:pt>
              <c:pt idx="68">
                <c:v>0.147</c:v>
              </c:pt>
              <c:pt idx="69">
                <c:v>0.13475</c:v>
              </c:pt>
              <c:pt idx="70">
                <c:v>0.1225</c:v>
              </c:pt>
              <c:pt idx="71">
                <c:v>0.11025</c:v>
              </c:pt>
              <c:pt idx="72">
                <c:v>0.098</c:v>
              </c:pt>
              <c:pt idx="73">
                <c:v>0.08574999999999999</c:v>
              </c:pt>
              <c:pt idx="74">
                <c:v>0.0735</c:v>
              </c:pt>
              <c:pt idx="75">
                <c:v>0.06125</c:v>
              </c:pt>
              <c:pt idx="76">
                <c:v>0.049</c:v>
              </c:pt>
              <c:pt idx="77">
                <c:v>0.03675</c:v>
              </c:pt>
              <c:pt idx="78">
                <c:v>0.0245</c:v>
              </c:pt>
              <c:pt idx="79">
                <c:v>0.01225</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0.012750000000000001</c:v>
              </c:pt>
              <c:pt idx="122">
                <c:v>0.025500000000000002</c:v>
              </c:pt>
              <c:pt idx="123">
                <c:v>0.03825</c:v>
              </c:pt>
              <c:pt idx="124">
                <c:v>0.051000000000000004</c:v>
              </c:pt>
              <c:pt idx="125">
                <c:v>0.06375</c:v>
              </c:pt>
              <c:pt idx="126">
                <c:v>0.0765</c:v>
              </c:pt>
              <c:pt idx="127">
                <c:v>0.08925</c:v>
              </c:pt>
              <c:pt idx="128">
                <c:v>0.10200000000000001</c:v>
              </c:pt>
              <c:pt idx="129">
                <c:v>0.11475</c:v>
              </c:pt>
              <c:pt idx="130">
                <c:v>0.1275</c:v>
              </c:pt>
              <c:pt idx="131">
                <c:v>0.14025</c:v>
              </c:pt>
              <c:pt idx="132">
                <c:v>0.153</c:v>
              </c:pt>
              <c:pt idx="133">
                <c:v>0.16575</c:v>
              </c:pt>
              <c:pt idx="134">
                <c:v>0.1785</c:v>
              </c:pt>
              <c:pt idx="135">
                <c:v>0.19125</c:v>
              </c:pt>
              <c:pt idx="136">
                <c:v>0.20400000000000001</c:v>
              </c:pt>
              <c:pt idx="137">
                <c:v>0.21675</c:v>
              </c:pt>
              <c:pt idx="138">
                <c:v>0.2295</c:v>
              </c:pt>
              <c:pt idx="139">
                <c:v>0.24225</c:v>
              </c:pt>
              <c:pt idx="140">
                <c:v>0.255</c:v>
              </c:pt>
              <c:pt idx="141">
                <c:v>0.26775000000000004</c:v>
              </c:pt>
              <c:pt idx="142">
                <c:v>0.2805</c:v>
              </c:pt>
              <c:pt idx="143">
                <c:v>0.29324999999999996</c:v>
              </c:pt>
              <c:pt idx="144">
                <c:v>0.306</c:v>
              </c:pt>
              <c:pt idx="145">
                <c:v>0.31875</c:v>
              </c:pt>
              <c:pt idx="146">
                <c:v>0.3315</c:v>
              </c:pt>
              <c:pt idx="147">
                <c:v>0.34425000000000006</c:v>
              </c:pt>
              <c:pt idx="148">
                <c:v>0.357</c:v>
              </c:pt>
              <c:pt idx="149">
                <c:v>0.36974999999999997</c:v>
              </c:pt>
              <c:pt idx="150">
                <c:v>0.3825</c:v>
              </c:pt>
              <c:pt idx="151">
                <c:v>0.39525000000000005</c:v>
              </c:pt>
              <c:pt idx="152">
                <c:v>0.40800000000000003</c:v>
              </c:pt>
              <c:pt idx="153">
                <c:v>0.42074999999999996</c:v>
              </c:pt>
              <c:pt idx="154">
                <c:v>0.4335</c:v>
              </c:pt>
              <c:pt idx="155">
                <c:v>0.44625000000000004</c:v>
              </c:pt>
              <c:pt idx="156">
                <c:v>0.459</c:v>
              </c:pt>
              <c:pt idx="157">
                <c:v>0.47175000000000006</c:v>
              </c:pt>
              <c:pt idx="158">
                <c:v>0.4845</c:v>
              </c:pt>
              <c:pt idx="159">
                <c:v>0.49724999999999997</c:v>
              </c:pt>
              <c:pt idx="160">
                <c:v>0.51</c:v>
              </c:pt>
              <c:pt idx="161">
                <c:v>0.49724999999999997</c:v>
              </c:pt>
              <c:pt idx="162">
                <c:v>0.4845</c:v>
              </c:pt>
              <c:pt idx="163">
                <c:v>0.47175000000000006</c:v>
              </c:pt>
              <c:pt idx="164">
                <c:v>0.459</c:v>
              </c:pt>
              <c:pt idx="165">
                <c:v>0.44625000000000004</c:v>
              </c:pt>
              <c:pt idx="166">
                <c:v>0.4335</c:v>
              </c:pt>
              <c:pt idx="167">
                <c:v>0.42074999999999996</c:v>
              </c:pt>
              <c:pt idx="168">
                <c:v>0.40800000000000003</c:v>
              </c:pt>
              <c:pt idx="169">
                <c:v>0.39525000000000005</c:v>
              </c:pt>
              <c:pt idx="170">
                <c:v>0.3825</c:v>
              </c:pt>
              <c:pt idx="171">
                <c:v>0.36974999999999997</c:v>
              </c:pt>
              <c:pt idx="172">
                <c:v>0.357</c:v>
              </c:pt>
              <c:pt idx="173">
                <c:v>0.34425000000000006</c:v>
              </c:pt>
              <c:pt idx="174">
                <c:v>0.3315</c:v>
              </c:pt>
              <c:pt idx="175">
                <c:v>0.31875</c:v>
              </c:pt>
              <c:pt idx="176">
                <c:v>0.306</c:v>
              </c:pt>
              <c:pt idx="177">
                <c:v>0.29324999999999996</c:v>
              </c:pt>
              <c:pt idx="178">
                <c:v>0.2805</c:v>
              </c:pt>
              <c:pt idx="179">
                <c:v>0.26775000000000004</c:v>
              </c:pt>
              <c:pt idx="180">
                <c:v>0.255</c:v>
              </c:pt>
              <c:pt idx="181">
                <c:v>0.24225</c:v>
              </c:pt>
              <c:pt idx="182">
                <c:v>0.2295</c:v>
              </c:pt>
              <c:pt idx="183">
                <c:v>0.21675</c:v>
              </c:pt>
              <c:pt idx="184">
                <c:v>0.20400000000000001</c:v>
              </c:pt>
              <c:pt idx="185">
                <c:v>0.19125</c:v>
              </c:pt>
              <c:pt idx="186">
                <c:v>0.1785</c:v>
              </c:pt>
              <c:pt idx="187">
                <c:v>0.16575</c:v>
              </c:pt>
              <c:pt idx="188">
                <c:v>0.153</c:v>
              </c:pt>
              <c:pt idx="189">
                <c:v>0.14025</c:v>
              </c:pt>
              <c:pt idx="190">
                <c:v>0.1275</c:v>
              </c:pt>
              <c:pt idx="191">
                <c:v>0.11475</c:v>
              </c:pt>
              <c:pt idx="192">
                <c:v>0.10200000000000001</c:v>
              </c:pt>
              <c:pt idx="193">
                <c:v>0.08925</c:v>
              </c:pt>
              <c:pt idx="194">
                <c:v>0.0765</c:v>
              </c:pt>
              <c:pt idx="195">
                <c:v>0.06375</c:v>
              </c:pt>
              <c:pt idx="196">
                <c:v>0.051000000000000004</c:v>
              </c:pt>
              <c:pt idx="197">
                <c:v>0.03825</c:v>
              </c:pt>
              <c:pt idx="198">
                <c:v>0.025500000000000002</c:v>
              </c:pt>
              <c:pt idx="199">
                <c:v>0.012750000000000001</c:v>
              </c:pt>
              <c:pt idx="2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29.xml><?xml version="1.0" encoding="utf-8"?>
<c:chartSpace xmlns:c="http://schemas.openxmlformats.org/drawingml/2006/chart">
  <c:lang val="en-US"/>
  <c:chart>
    <c:plotArea>
      <c:scatterChart>
        <c:ser>
          <c:idx val="0"/>
          <c:order val="0"/>
          <c:tx>
            <c:v>Agregada</c:v>
          </c:tx>
          <c:spPr>
            <a:ln xmlns:a="http://schemas.openxmlformats.org/drawingml/2006/main" w="28575">
              <a:solidFill>
                <a:srgbClr val="2162A0"/>
              </a:solidFill>
            </a:ln>
          </c:spPr>
          <c:marker>
            <c:symbol val="none"/>
            <c:size val="5"/>
          </c:marker>
          <c:xVal>
            <c:numLit>
              <c:formatCode>General</c:formatCode>
              <c:ptCount val="20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numLit>
          </c:xVal>
          <c:yVal>
            <c:numLit>
              <c:formatCode>General</c:formatCode>
              <c:ptCount val="201"/>
              <c:pt idx="0">
                <c:v>0</c:v>
              </c:pt>
              <c:pt idx="1">
                <c:v>0.025</c:v>
              </c:pt>
              <c:pt idx="2">
                <c:v>0.05</c:v>
              </c:pt>
              <c:pt idx="3">
                <c:v>0.075</c:v>
              </c:pt>
              <c:pt idx="4">
                <c:v>0.1</c:v>
              </c:pt>
              <c:pt idx="5">
                <c:v>0.125</c:v>
              </c:pt>
              <c:pt idx="6">
                <c:v>0.15</c:v>
              </c:pt>
              <c:pt idx="7">
                <c:v>0.175</c:v>
              </c:pt>
              <c:pt idx="8">
                <c:v>0.2</c:v>
              </c:pt>
              <c:pt idx="9">
                <c:v>0.225</c:v>
              </c:pt>
              <c:pt idx="10">
                <c:v>0.25</c:v>
              </c:pt>
              <c:pt idx="11">
                <c:v>0.275</c:v>
              </c:pt>
              <c:pt idx="12">
                <c:v>0.3</c:v>
              </c:pt>
              <c:pt idx="13">
                <c:v>0.325</c:v>
              </c:pt>
              <c:pt idx="14">
                <c:v>0.35</c:v>
              </c:pt>
              <c:pt idx="15">
                <c:v>0.375</c:v>
              </c:pt>
              <c:pt idx="16">
                <c:v>0.4</c:v>
              </c:pt>
              <c:pt idx="17">
                <c:v>0.425</c:v>
              </c:pt>
              <c:pt idx="18">
                <c:v>0.45</c:v>
              </c:pt>
              <c:pt idx="19">
                <c:v>0.475</c:v>
              </c:pt>
              <c:pt idx="20">
                <c:v>0.5</c:v>
              </c:pt>
              <c:pt idx="21">
                <c:v>0.525</c:v>
              </c:pt>
              <c:pt idx="22">
                <c:v>0.55</c:v>
              </c:pt>
              <c:pt idx="23">
                <c:v>0.575</c:v>
              </c:pt>
              <c:pt idx="24">
                <c:v>0.6</c:v>
              </c:pt>
              <c:pt idx="25">
                <c:v>0.625</c:v>
              </c:pt>
              <c:pt idx="26">
                <c:v>0.65</c:v>
              </c:pt>
              <c:pt idx="27">
                <c:v>0.675</c:v>
              </c:pt>
              <c:pt idx="28">
                <c:v>0.7</c:v>
              </c:pt>
              <c:pt idx="29">
                <c:v>0.725</c:v>
              </c:pt>
              <c:pt idx="30">
                <c:v>0.75</c:v>
              </c:pt>
              <c:pt idx="31">
                <c:v>0.775</c:v>
              </c:pt>
              <c:pt idx="32">
                <c:v>0.8</c:v>
              </c:pt>
              <c:pt idx="33">
                <c:v>0.825</c:v>
              </c:pt>
              <c:pt idx="34">
                <c:v>0.85</c:v>
              </c:pt>
              <c:pt idx="35">
                <c:v>0.875</c:v>
              </c:pt>
              <c:pt idx="36">
                <c:v>0.9</c:v>
              </c:pt>
              <c:pt idx="37">
                <c:v>0.925</c:v>
              </c:pt>
              <c:pt idx="38">
                <c:v>0.95</c:v>
              </c:pt>
              <c:pt idx="39">
                <c:v>0.975</c:v>
              </c:pt>
              <c:pt idx="40">
                <c:v>1</c:v>
              </c:pt>
              <c:pt idx="41">
                <c:v>0.975</c:v>
              </c:pt>
              <c:pt idx="42">
                <c:v>0.95</c:v>
              </c:pt>
              <c:pt idx="43">
                <c:v>0.925</c:v>
              </c:pt>
              <c:pt idx="44">
                <c:v>0.9</c:v>
              </c:pt>
              <c:pt idx="45">
                <c:v>0.875</c:v>
              </c:pt>
              <c:pt idx="46">
                <c:v>0.85</c:v>
              </c:pt>
              <c:pt idx="47">
                <c:v>0.825</c:v>
              </c:pt>
              <c:pt idx="48">
                <c:v>0.8</c:v>
              </c:pt>
              <c:pt idx="49">
                <c:v>0.775</c:v>
              </c:pt>
              <c:pt idx="50">
                <c:v>0.75</c:v>
              </c:pt>
              <c:pt idx="51">
                <c:v>0.725</c:v>
              </c:pt>
              <c:pt idx="52">
                <c:v>0.7</c:v>
              </c:pt>
              <c:pt idx="53">
                <c:v>0.675</c:v>
              </c:pt>
              <c:pt idx="54">
                <c:v>0.65</c:v>
              </c:pt>
              <c:pt idx="55">
                <c:v>0.625</c:v>
              </c:pt>
              <c:pt idx="56">
                <c:v>0.6</c:v>
              </c:pt>
              <c:pt idx="57">
                <c:v>0.575</c:v>
              </c:pt>
              <c:pt idx="58">
                <c:v>0.55</c:v>
              </c:pt>
              <c:pt idx="59">
                <c:v>0.525</c:v>
              </c:pt>
              <c:pt idx="60">
                <c:v>0.5</c:v>
              </c:pt>
              <c:pt idx="61">
                <c:v>0.475</c:v>
              </c:pt>
              <c:pt idx="62">
                <c:v>0.45</c:v>
              </c:pt>
              <c:pt idx="63">
                <c:v>0.425</c:v>
              </c:pt>
              <c:pt idx="64">
                <c:v>0.4</c:v>
              </c:pt>
              <c:pt idx="65">
                <c:v>0.375</c:v>
              </c:pt>
              <c:pt idx="66">
                <c:v>0.35</c:v>
              </c:pt>
              <c:pt idx="67">
                <c:v>0.325</c:v>
              </c:pt>
              <c:pt idx="68">
                <c:v>0.3</c:v>
              </c:pt>
              <c:pt idx="69">
                <c:v>0.275</c:v>
              </c:pt>
              <c:pt idx="70">
                <c:v>0.25</c:v>
              </c:pt>
              <c:pt idx="71">
                <c:v>0.225</c:v>
              </c:pt>
              <c:pt idx="72">
                <c:v>0.2</c:v>
              </c:pt>
              <c:pt idx="73">
                <c:v>0.175</c:v>
              </c:pt>
              <c:pt idx="74">
                <c:v>0.15</c:v>
              </c:pt>
              <c:pt idx="75">
                <c:v>0.125</c:v>
              </c:pt>
              <c:pt idx="76">
                <c:v>0.1</c:v>
              </c:pt>
              <c:pt idx="77">
                <c:v>0.075</c:v>
              </c:pt>
              <c:pt idx="78">
                <c:v>0.05</c:v>
              </c:pt>
              <c:pt idx="79">
                <c:v>0.025</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0.025</c:v>
              </c:pt>
              <c:pt idx="122">
                <c:v>0.05</c:v>
              </c:pt>
              <c:pt idx="123">
                <c:v>0.075</c:v>
              </c:pt>
              <c:pt idx="124">
                <c:v>0.1</c:v>
              </c:pt>
              <c:pt idx="125">
                <c:v>0.125</c:v>
              </c:pt>
              <c:pt idx="126">
                <c:v>0.15</c:v>
              </c:pt>
              <c:pt idx="127">
                <c:v>0.175</c:v>
              </c:pt>
              <c:pt idx="128">
                <c:v>0.2</c:v>
              </c:pt>
              <c:pt idx="129">
                <c:v>0.225</c:v>
              </c:pt>
              <c:pt idx="130">
                <c:v>0.25</c:v>
              </c:pt>
              <c:pt idx="131">
                <c:v>0.275</c:v>
              </c:pt>
              <c:pt idx="132">
                <c:v>0.3</c:v>
              </c:pt>
              <c:pt idx="133">
                <c:v>0.325</c:v>
              </c:pt>
              <c:pt idx="134">
                <c:v>0.35</c:v>
              </c:pt>
              <c:pt idx="135">
                <c:v>0.375</c:v>
              </c:pt>
              <c:pt idx="136">
                <c:v>0.4</c:v>
              </c:pt>
              <c:pt idx="137">
                <c:v>0.425</c:v>
              </c:pt>
              <c:pt idx="138">
                <c:v>0.45</c:v>
              </c:pt>
              <c:pt idx="139">
                <c:v>0.475</c:v>
              </c:pt>
              <c:pt idx="140">
                <c:v>0.5</c:v>
              </c:pt>
              <c:pt idx="141">
                <c:v>0.525</c:v>
              </c:pt>
              <c:pt idx="142">
                <c:v>0.55</c:v>
              </c:pt>
              <c:pt idx="143">
                <c:v>0.575</c:v>
              </c:pt>
              <c:pt idx="144">
                <c:v>0.6</c:v>
              </c:pt>
              <c:pt idx="145">
                <c:v>0.625</c:v>
              </c:pt>
              <c:pt idx="146">
                <c:v>0.65</c:v>
              </c:pt>
              <c:pt idx="147">
                <c:v>0.675</c:v>
              </c:pt>
              <c:pt idx="148">
                <c:v>0.7</c:v>
              </c:pt>
              <c:pt idx="149">
                <c:v>0.725</c:v>
              </c:pt>
              <c:pt idx="150">
                <c:v>0.75</c:v>
              </c:pt>
              <c:pt idx="151">
                <c:v>0.775</c:v>
              </c:pt>
              <c:pt idx="152">
                <c:v>0.8</c:v>
              </c:pt>
              <c:pt idx="153">
                <c:v>0.825</c:v>
              </c:pt>
              <c:pt idx="154">
                <c:v>0.85</c:v>
              </c:pt>
              <c:pt idx="155">
                <c:v>0.875</c:v>
              </c:pt>
              <c:pt idx="156">
                <c:v>0.9</c:v>
              </c:pt>
              <c:pt idx="157">
                <c:v>0.925</c:v>
              </c:pt>
              <c:pt idx="158">
                <c:v>0.95</c:v>
              </c:pt>
              <c:pt idx="159">
                <c:v>0.975</c:v>
              </c:pt>
              <c:pt idx="160">
                <c:v>1</c:v>
              </c:pt>
              <c:pt idx="161">
                <c:v>0.975</c:v>
              </c:pt>
              <c:pt idx="162">
                <c:v>0.95</c:v>
              </c:pt>
              <c:pt idx="163">
                <c:v>0.925</c:v>
              </c:pt>
              <c:pt idx="164">
                <c:v>0.9</c:v>
              </c:pt>
              <c:pt idx="165">
                <c:v>0.875</c:v>
              </c:pt>
              <c:pt idx="166">
                <c:v>0.85</c:v>
              </c:pt>
              <c:pt idx="167">
                <c:v>0.825</c:v>
              </c:pt>
              <c:pt idx="168">
                <c:v>0.8</c:v>
              </c:pt>
              <c:pt idx="169">
                <c:v>0.775</c:v>
              </c:pt>
              <c:pt idx="170">
                <c:v>0.75</c:v>
              </c:pt>
              <c:pt idx="171">
                <c:v>0.725</c:v>
              </c:pt>
              <c:pt idx="172">
                <c:v>0.7</c:v>
              </c:pt>
              <c:pt idx="173">
                <c:v>0.675</c:v>
              </c:pt>
              <c:pt idx="174">
                <c:v>0.65</c:v>
              </c:pt>
              <c:pt idx="175">
                <c:v>0.625</c:v>
              </c:pt>
              <c:pt idx="176">
                <c:v>0.6</c:v>
              </c:pt>
              <c:pt idx="177">
                <c:v>0.575</c:v>
              </c:pt>
              <c:pt idx="178">
                <c:v>0.55</c:v>
              </c:pt>
              <c:pt idx="179">
                <c:v>0.525</c:v>
              </c:pt>
              <c:pt idx="180">
                <c:v>0.5</c:v>
              </c:pt>
              <c:pt idx="181">
                <c:v>0.475</c:v>
              </c:pt>
              <c:pt idx="182">
                <c:v>0.45</c:v>
              </c:pt>
              <c:pt idx="183">
                <c:v>0.425</c:v>
              </c:pt>
              <c:pt idx="184">
                <c:v>0.4</c:v>
              </c:pt>
              <c:pt idx="185">
                <c:v>0.375</c:v>
              </c:pt>
              <c:pt idx="186">
                <c:v>0.35</c:v>
              </c:pt>
              <c:pt idx="187">
                <c:v>0.325</c:v>
              </c:pt>
              <c:pt idx="188">
                <c:v>0.3</c:v>
              </c:pt>
              <c:pt idx="189">
                <c:v>0.275</c:v>
              </c:pt>
              <c:pt idx="190">
                <c:v>0.25</c:v>
              </c:pt>
              <c:pt idx="191">
                <c:v>0.225</c:v>
              </c:pt>
              <c:pt idx="192">
                <c:v>0.2</c:v>
              </c:pt>
              <c:pt idx="193">
                <c:v>0.175</c:v>
              </c:pt>
              <c:pt idx="194">
                <c:v>0.15</c:v>
              </c:pt>
              <c:pt idx="195">
                <c:v>0.125</c:v>
              </c:pt>
              <c:pt idx="196">
                <c:v>0.1</c:v>
              </c:pt>
              <c:pt idx="197">
                <c:v>0.075</c:v>
              </c:pt>
              <c:pt idx="198">
                <c:v>0.05</c:v>
              </c:pt>
              <c:pt idx="199">
                <c:v>0.025</c:v>
              </c:pt>
              <c:pt idx="200">
                <c:v>0</c:v>
              </c:pt>
            </c:numLit>
          </c:yVal>
        </c:ser>
        <c:ser>
          <c:idx val="1"/>
          <c:order val="1"/>
          <c:tx>
            <c:v>Centroide</c:v>
          </c:tx>
          <c:spPr>
            <a:ln xmlns:a="http://schemas.openxmlformats.org/drawingml/2006/main" w="28575">
              <a:solidFill>
                <a:srgbClr val="D96B18"/>
              </a:solidFill>
            </a:ln>
          </c:spPr>
          <c:marker>
            <c:symbol val="none"/>
            <c:size val="5"/>
          </c:marker>
          <c:xVal>
            <c:numLit>
              <c:formatCode>General</c:formatCode>
              <c:ptCount val="2"/>
              <c:pt idx="0">
                <c:v>50</c:v>
              </c:pt>
              <c:pt idx="1">
                <c:v>50</c:v>
              </c:pt>
            </c:numLit>
          </c:xVal>
          <c:yVal>
            <c:numLit>
              <c:formatCode>General</c:formatCode>
              <c:ptCount val="2"/>
              <c:pt idx="0">
                <c:v>0</c:v>
              </c:pt>
              <c:pt idx="1">
                <c:v>0.85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30.xml><?xml version="1.0" encoding="utf-8"?>
<c:chartSpace xmlns:c="http://schemas.openxmlformats.org/drawingml/2006/chart">
  <c:lang val="en-US"/>
  <c:chart>
    <c:plotArea>
      <c:scatterChart>
        <c:ser>
          <c:idx val="0"/>
          <c:order val="0"/>
          <c:tx>
            <c:v>Estrecha</c:v>
          </c:tx>
          <c:spPr>
            <a:ln xmlns:a="http://schemas.openxmlformats.org/drawingml/2006/main" w="28575">
              <a:solidFill>
                <a:srgbClr val="2162A0"/>
              </a:solidFill>
            </a:ln>
          </c:spPr>
          <c:marker>
            <c:symbol val="none"/>
            <c:size val="5"/>
          </c:marker>
          <c:xVal>
            <c:numLit>
              <c:formatCode>General</c:formatCode>
              <c:ptCount val="20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numLit>
          </c:xVal>
          <c:yVal>
            <c:numLit>
              <c:formatCode>General</c:formatCode>
              <c:ptCount val="2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0.04000000000000001</c:v>
              </c:pt>
              <c:pt idx="22">
                <c:v>0.08000000000000002</c:v>
              </c:pt>
              <c:pt idx="23">
                <c:v>0.12</c:v>
              </c:pt>
              <c:pt idx="24">
                <c:v>0.16000000000000003</c:v>
              </c:pt>
              <c:pt idx="25">
                <c:v>0.2</c:v>
              </c:pt>
              <c:pt idx="26">
                <c:v>0.24</c:v>
              </c:pt>
              <c:pt idx="27">
                <c:v>0.27999999999999997</c:v>
              </c:pt>
              <c:pt idx="28">
                <c:v>0.32000000000000006</c:v>
              </c:pt>
              <c:pt idx="29">
                <c:v>0.36000000000000004</c:v>
              </c:pt>
              <c:pt idx="30">
                <c:v>0.4</c:v>
              </c:pt>
              <c:pt idx="31">
                <c:v>0.44000000000000006</c:v>
              </c:pt>
              <c:pt idx="32">
                <c:v>0.48</c:v>
              </c:pt>
              <c:pt idx="33">
                <c:v>0.52</c:v>
              </c:pt>
              <c:pt idx="34">
                <c:v>0.5599999999999999</c:v>
              </c:pt>
              <c:pt idx="35">
                <c:v>0.6000000000000001</c:v>
              </c:pt>
              <c:pt idx="36">
                <c:v>0.6400000000000001</c:v>
              </c:pt>
              <c:pt idx="37">
                <c:v>0.68</c:v>
              </c:pt>
              <c:pt idx="38">
                <c:v>0.7200000000000001</c:v>
              </c:pt>
              <c:pt idx="39">
                <c:v>0.76</c:v>
              </c:pt>
              <c:pt idx="40">
                <c:v>0.8</c:v>
              </c:pt>
              <c:pt idx="41">
                <c:v>0.76</c:v>
              </c:pt>
              <c:pt idx="42">
                <c:v>0.7200000000000001</c:v>
              </c:pt>
              <c:pt idx="43">
                <c:v>0.68</c:v>
              </c:pt>
              <c:pt idx="44">
                <c:v>0.6400000000000001</c:v>
              </c:pt>
              <c:pt idx="45">
                <c:v>0.6000000000000001</c:v>
              </c:pt>
              <c:pt idx="46">
                <c:v>0.5599999999999999</c:v>
              </c:pt>
              <c:pt idx="47">
                <c:v>0.52</c:v>
              </c:pt>
              <c:pt idx="48">
                <c:v>0.48</c:v>
              </c:pt>
              <c:pt idx="49">
                <c:v>0.44000000000000006</c:v>
              </c:pt>
              <c:pt idx="50">
                <c:v>0.4</c:v>
              </c:pt>
              <c:pt idx="51">
                <c:v>0.36000000000000004</c:v>
              </c:pt>
              <c:pt idx="52">
                <c:v>0.32000000000000006</c:v>
              </c:pt>
              <c:pt idx="53">
                <c:v>0.27999999999999997</c:v>
              </c:pt>
              <c:pt idx="54">
                <c:v>0.24</c:v>
              </c:pt>
              <c:pt idx="55">
                <c:v>0.2</c:v>
              </c:pt>
              <c:pt idx="56">
                <c:v>0.16000000000000003</c:v>
              </c:pt>
              <c:pt idx="57">
                <c:v>0.12</c:v>
              </c:pt>
              <c:pt idx="58">
                <c:v>0.08000000000000002</c:v>
              </c:pt>
              <c:pt idx="59">
                <c:v>0.04000000000000001</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numLit>
          </c:yVal>
        </c:ser>
        <c:ser>
          <c:idx val="1"/>
          <c:order val="1"/>
          <c:tx>
            <c:v>Ancha</c:v>
          </c:tx>
          <c:spPr>
            <a:ln xmlns:a="http://schemas.openxmlformats.org/drawingml/2006/main" w="28575">
              <a:solidFill>
                <a:srgbClr val="D96B18"/>
              </a:solidFill>
            </a:ln>
          </c:spPr>
          <c:marker>
            <c:symbol val="none"/>
            <c:size val="5"/>
          </c:marker>
          <c:xVal>
            <c:numLit>
              <c:formatCode>General</c:formatCode>
              <c:ptCount val="20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pt idx="121">
                <c:v>60.5</c:v>
              </c:pt>
              <c:pt idx="122">
                <c:v>61</c:v>
              </c:pt>
              <c:pt idx="123">
                <c:v>61.5</c:v>
              </c:pt>
              <c:pt idx="124">
                <c:v>62</c:v>
              </c:pt>
              <c:pt idx="125">
                <c:v>62.5</c:v>
              </c:pt>
              <c:pt idx="126">
                <c:v>63</c:v>
              </c:pt>
              <c:pt idx="127">
                <c:v>63.5</c:v>
              </c:pt>
              <c:pt idx="128">
                <c:v>64</c:v>
              </c:pt>
              <c:pt idx="129">
                <c:v>64.5</c:v>
              </c:pt>
              <c:pt idx="130">
                <c:v>65</c:v>
              </c:pt>
              <c:pt idx="131">
                <c:v>65.5</c:v>
              </c:pt>
              <c:pt idx="132">
                <c:v>66</c:v>
              </c:pt>
              <c:pt idx="133">
                <c:v>66.5</c:v>
              </c:pt>
              <c:pt idx="134">
                <c:v>67</c:v>
              </c:pt>
              <c:pt idx="135">
                <c:v>67.5</c:v>
              </c:pt>
              <c:pt idx="136">
                <c:v>68</c:v>
              </c:pt>
              <c:pt idx="137">
                <c:v>68.5</c:v>
              </c:pt>
              <c:pt idx="138">
                <c:v>69</c:v>
              </c:pt>
              <c:pt idx="139">
                <c:v>69.5</c:v>
              </c:pt>
              <c:pt idx="140">
                <c:v>70</c:v>
              </c:pt>
              <c:pt idx="141">
                <c:v>70.5</c:v>
              </c:pt>
              <c:pt idx="142">
                <c:v>71</c:v>
              </c:pt>
              <c:pt idx="143">
                <c:v>71.5</c:v>
              </c:pt>
              <c:pt idx="144">
                <c:v>72</c:v>
              </c:pt>
              <c:pt idx="145">
                <c:v>72.5</c:v>
              </c:pt>
              <c:pt idx="146">
                <c:v>73</c:v>
              </c:pt>
              <c:pt idx="147">
                <c:v>73.5</c:v>
              </c:pt>
              <c:pt idx="148">
                <c:v>74</c:v>
              </c:pt>
              <c:pt idx="149">
                <c:v>74.5</c:v>
              </c:pt>
              <c:pt idx="150">
                <c:v>75</c:v>
              </c:pt>
              <c:pt idx="151">
                <c:v>75.5</c:v>
              </c:pt>
              <c:pt idx="152">
                <c:v>76</c:v>
              </c:pt>
              <c:pt idx="153">
                <c:v>76.5</c:v>
              </c:pt>
              <c:pt idx="154">
                <c:v>77</c:v>
              </c:pt>
              <c:pt idx="155">
                <c:v>77.5</c:v>
              </c:pt>
              <c:pt idx="156">
                <c:v>78</c:v>
              </c:pt>
              <c:pt idx="157">
                <c:v>78.5</c:v>
              </c:pt>
              <c:pt idx="158">
                <c:v>79</c:v>
              </c:pt>
              <c:pt idx="159">
                <c:v>79.5</c:v>
              </c:pt>
              <c:pt idx="160">
                <c:v>80</c:v>
              </c:pt>
              <c:pt idx="161">
                <c:v>80.5</c:v>
              </c:pt>
              <c:pt idx="162">
                <c:v>81</c:v>
              </c:pt>
              <c:pt idx="163">
                <c:v>81.5</c:v>
              </c:pt>
              <c:pt idx="164">
                <c:v>82</c:v>
              </c:pt>
              <c:pt idx="165">
                <c:v>82.5</c:v>
              </c:pt>
              <c:pt idx="166">
                <c:v>83</c:v>
              </c:pt>
              <c:pt idx="167">
                <c:v>83.5</c:v>
              </c:pt>
              <c:pt idx="168">
                <c:v>84</c:v>
              </c:pt>
              <c:pt idx="169">
                <c:v>84.5</c:v>
              </c:pt>
              <c:pt idx="170">
                <c:v>85</c:v>
              </c:pt>
              <c:pt idx="171">
                <c:v>85.5</c:v>
              </c:pt>
              <c:pt idx="172">
                <c:v>86</c:v>
              </c:pt>
              <c:pt idx="173">
                <c:v>86.5</c:v>
              </c:pt>
              <c:pt idx="174">
                <c:v>87</c:v>
              </c:pt>
              <c:pt idx="175">
                <c:v>87.5</c:v>
              </c:pt>
              <c:pt idx="176">
                <c:v>88</c:v>
              </c:pt>
              <c:pt idx="177">
                <c:v>88.5</c:v>
              </c:pt>
              <c:pt idx="178">
                <c:v>89</c:v>
              </c:pt>
              <c:pt idx="179">
                <c:v>89.5</c:v>
              </c:pt>
              <c:pt idx="180">
                <c:v>90</c:v>
              </c:pt>
              <c:pt idx="181">
                <c:v>90.5</c:v>
              </c:pt>
              <c:pt idx="182">
                <c:v>91</c:v>
              </c:pt>
              <c:pt idx="183">
                <c:v>91.5</c:v>
              </c:pt>
              <c:pt idx="184">
                <c:v>92</c:v>
              </c:pt>
              <c:pt idx="185">
                <c:v>92.5</c:v>
              </c:pt>
              <c:pt idx="186">
                <c:v>93</c:v>
              </c:pt>
              <c:pt idx="187">
                <c:v>93.5</c:v>
              </c:pt>
              <c:pt idx="188">
                <c:v>94</c:v>
              </c:pt>
              <c:pt idx="189">
                <c:v>94.5</c:v>
              </c:pt>
              <c:pt idx="190">
                <c:v>95</c:v>
              </c:pt>
              <c:pt idx="191">
                <c:v>95.5</c:v>
              </c:pt>
              <c:pt idx="192">
                <c:v>96</c:v>
              </c:pt>
              <c:pt idx="193">
                <c:v>96.5</c:v>
              </c:pt>
              <c:pt idx="194">
                <c:v>97</c:v>
              </c:pt>
              <c:pt idx="195">
                <c:v>97.5</c:v>
              </c:pt>
              <c:pt idx="196">
                <c:v>98</c:v>
              </c:pt>
              <c:pt idx="197">
                <c:v>98.5</c:v>
              </c:pt>
              <c:pt idx="198">
                <c:v>99</c:v>
              </c:pt>
              <c:pt idx="199">
                <c:v>99.5</c:v>
              </c:pt>
              <c:pt idx="200">
                <c:v>100</c:v>
              </c:pt>
            </c:numLit>
          </c:xVal>
          <c:yVal>
            <c:numLit>
              <c:formatCode>General</c:formatCode>
              <c:ptCount val="2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0.013333333333333334</c:v>
              </c:pt>
              <c:pt idx="82">
                <c:v>0.02666666666666667</c:v>
              </c:pt>
              <c:pt idx="83">
                <c:v>0.04000000000000001</c:v>
              </c:pt>
              <c:pt idx="84">
                <c:v>0.05333333333333334</c:v>
              </c:pt>
              <c:pt idx="85">
                <c:v>0.06666666666666667</c:v>
              </c:pt>
              <c:pt idx="86">
                <c:v>0.08000000000000002</c:v>
              </c:pt>
              <c:pt idx="87">
                <c:v>0.09333333333333334</c:v>
              </c:pt>
              <c:pt idx="88">
                <c:v>0.10666666666666667</c:v>
              </c:pt>
              <c:pt idx="89">
                <c:v>0.12</c:v>
              </c:pt>
              <c:pt idx="90">
                <c:v>0.13333333333333333</c:v>
              </c:pt>
              <c:pt idx="91">
                <c:v>0.14666666666666667</c:v>
              </c:pt>
              <c:pt idx="92">
                <c:v>0.16000000000000003</c:v>
              </c:pt>
              <c:pt idx="93">
                <c:v>0.17333333333333334</c:v>
              </c:pt>
              <c:pt idx="94">
                <c:v>0.18666666666666668</c:v>
              </c:pt>
              <c:pt idx="95">
                <c:v>0.2</c:v>
              </c:pt>
              <c:pt idx="96">
                <c:v>0.21333333333333335</c:v>
              </c:pt>
              <c:pt idx="97">
                <c:v>0.22666666666666668</c:v>
              </c:pt>
              <c:pt idx="98">
                <c:v>0.24</c:v>
              </c:pt>
              <c:pt idx="99">
                <c:v>0.25333333333333335</c:v>
              </c:pt>
              <c:pt idx="100">
                <c:v>0.26666666666666666</c:v>
              </c:pt>
              <c:pt idx="101">
                <c:v>0.27999999999999997</c:v>
              </c:pt>
              <c:pt idx="102">
                <c:v>0.29333333333333333</c:v>
              </c:pt>
              <c:pt idx="103">
                <c:v>0.3066666666666667</c:v>
              </c:pt>
              <c:pt idx="104">
                <c:v>0.32000000000000006</c:v>
              </c:pt>
              <c:pt idx="105">
                <c:v>0.33333333333333337</c:v>
              </c:pt>
              <c:pt idx="106">
                <c:v>0.3466666666666667</c:v>
              </c:pt>
              <c:pt idx="107">
                <c:v>0.36000000000000004</c:v>
              </c:pt>
              <c:pt idx="108">
                <c:v>0.37333333333333335</c:v>
              </c:pt>
              <c:pt idx="109">
                <c:v>0.3866666666666667</c:v>
              </c:pt>
              <c:pt idx="110">
                <c:v>0.4</c:v>
              </c:pt>
              <c:pt idx="111">
                <c:v>0.4133333333333334</c:v>
              </c:pt>
              <c:pt idx="112">
                <c:v>0.4266666666666667</c:v>
              </c:pt>
              <c:pt idx="113">
                <c:v>0.44000000000000006</c:v>
              </c:pt>
              <c:pt idx="114">
                <c:v>0.45333333333333337</c:v>
              </c:pt>
              <c:pt idx="115">
                <c:v>0.46666666666666673</c:v>
              </c:pt>
              <c:pt idx="116">
                <c:v>0.48</c:v>
              </c:pt>
              <c:pt idx="117">
                <c:v>0.4933333333333334</c:v>
              </c:pt>
              <c:pt idx="118">
                <c:v>0.5066666666666667</c:v>
              </c:pt>
              <c:pt idx="119">
                <c:v>0.52</c:v>
              </c:pt>
              <c:pt idx="120">
                <c:v>0.5333333333333333</c:v>
              </c:pt>
              <c:pt idx="121">
                <c:v>0.5466666666666667</c:v>
              </c:pt>
              <c:pt idx="122">
                <c:v>0.5599999999999999</c:v>
              </c:pt>
              <c:pt idx="123">
                <c:v>0.5733333333333334</c:v>
              </c:pt>
              <c:pt idx="124">
                <c:v>0.5866666666666667</c:v>
              </c:pt>
              <c:pt idx="125">
                <c:v>0.6000000000000001</c:v>
              </c:pt>
              <c:pt idx="126">
                <c:v>0.6133333333333334</c:v>
              </c:pt>
              <c:pt idx="127">
                <c:v>0.6266666666666667</c:v>
              </c:pt>
              <c:pt idx="128">
                <c:v>0.6400000000000001</c:v>
              </c:pt>
              <c:pt idx="129">
                <c:v>0.6533333333333333</c:v>
              </c:pt>
              <c:pt idx="130">
                <c:v>0.6666666666666667</c:v>
              </c:pt>
              <c:pt idx="131">
                <c:v>0.68</c:v>
              </c:pt>
              <c:pt idx="132">
                <c:v>0.6933333333333334</c:v>
              </c:pt>
              <c:pt idx="133">
                <c:v>0.7066666666666667</c:v>
              </c:pt>
              <c:pt idx="134">
                <c:v>0.7200000000000001</c:v>
              </c:pt>
              <c:pt idx="135">
                <c:v>0.7333333333333334</c:v>
              </c:pt>
              <c:pt idx="136">
                <c:v>0.7466666666666667</c:v>
              </c:pt>
              <c:pt idx="137">
                <c:v>0.76</c:v>
              </c:pt>
              <c:pt idx="138">
                <c:v>0.7733333333333334</c:v>
              </c:pt>
              <c:pt idx="139">
                <c:v>0.7866666666666666</c:v>
              </c:pt>
              <c:pt idx="140">
                <c:v>0.8</c:v>
              </c:pt>
              <c:pt idx="141">
                <c:v>0.7866666666666666</c:v>
              </c:pt>
              <c:pt idx="142">
                <c:v>0.7733333333333334</c:v>
              </c:pt>
              <c:pt idx="143">
                <c:v>0.76</c:v>
              </c:pt>
              <c:pt idx="144">
                <c:v>0.7466666666666667</c:v>
              </c:pt>
              <c:pt idx="145">
                <c:v>0.7333333333333334</c:v>
              </c:pt>
              <c:pt idx="146">
                <c:v>0.7200000000000001</c:v>
              </c:pt>
              <c:pt idx="147">
                <c:v>0.7066666666666667</c:v>
              </c:pt>
              <c:pt idx="148">
                <c:v>0.6933333333333334</c:v>
              </c:pt>
              <c:pt idx="149">
                <c:v>0.68</c:v>
              </c:pt>
              <c:pt idx="150">
                <c:v>0.6666666666666667</c:v>
              </c:pt>
              <c:pt idx="151">
                <c:v>0.6533333333333333</c:v>
              </c:pt>
              <c:pt idx="152">
                <c:v>0.6400000000000001</c:v>
              </c:pt>
              <c:pt idx="153">
                <c:v>0.6266666666666667</c:v>
              </c:pt>
              <c:pt idx="154">
                <c:v>0.6133333333333334</c:v>
              </c:pt>
              <c:pt idx="155">
                <c:v>0.6000000000000001</c:v>
              </c:pt>
              <c:pt idx="156">
                <c:v>0.5866666666666667</c:v>
              </c:pt>
              <c:pt idx="157">
                <c:v>0.5733333333333334</c:v>
              </c:pt>
              <c:pt idx="158">
                <c:v>0.5599999999999999</c:v>
              </c:pt>
              <c:pt idx="159">
                <c:v>0.5466666666666667</c:v>
              </c:pt>
              <c:pt idx="160">
                <c:v>0.5333333333333333</c:v>
              </c:pt>
              <c:pt idx="161">
                <c:v>0.52</c:v>
              </c:pt>
              <c:pt idx="162">
                <c:v>0.5066666666666667</c:v>
              </c:pt>
              <c:pt idx="163">
                <c:v>0.4933333333333334</c:v>
              </c:pt>
              <c:pt idx="164">
                <c:v>0.48</c:v>
              </c:pt>
              <c:pt idx="165">
                <c:v>0.46666666666666673</c:v>
              </c:pt>
              <c:pt idx="166">
                <c:v>0.45333333333333337</c:v>
              </c:pt>
              <c:pt idx="167">
                <c:v>0.44000000000000006</c:v>
              </c:pt>
              <c:pt idx="168">
                <c:v>0.4266666666666667</c:v>
              </c:pt>
              <c:pt idx="169">
                <c:v>0.4133333333333334</c:v>
              </c:pt>
              <c:pt idx="170">
                <c:v>0.4</c:v>
              </c:pt>
              <c:pt idx="171">
                <c:v>0.3866666666666667</c:v>
              </c:pt>
              <c:pt idx="172">
                <c:v>0.37333333333333335</c:v>
              </c:pt>
              <c:pt idx="173">
                <c:v>0.36000000000000004</c:v>
              </c:pt>
              <c:pt idx="174">
                <c:v>0.3466666666666667</c:v>
              </c:pt>
              <c:pt idx="175">
                <c:v>0.33333333333333337</c:v>
              </c:pt>
              <c:pt idx="176">
                <c:v>0.32000000000000006</c:v>
              </c:pt>
              <c:pt idx="177">
                <c:v>0.3066666666666667</c:v>
              </c:pt>
              <c:pt idx="178">
                <c:v>0.29333333333333333</c:v>
              </c:pt>
              <c:pt idx="179">
                <c:v>0.27999999999999997</c:v>
              </c:pt>
              <c:pt idx="180">
                <c:v>0.26666666666666666</c:v>
              </c:pt>
              <c:pt idx="181">
                <c:v>0.25333333333333335</c:v>
              </c:pt>
              <c:pt idx="182">
                <c:v>0.24</c:v>
              </c:pt>
              <c:pt idx="183">
                <c:v>0.22666666666666668</c:v>
              </c:pt>
              <c:pt idx="184">
                <c:v>0.21333333333333335</c:v>
              </c:pt>
              <c:pt idx="185">
                <c:v>0.2</c:v>
              </c:pt>
              <c:pt idx="186">
                <c:v>0.18666666666666668</c:v>
              </c:pt>
              <c:pt idx="187">
                <c:v>0.17333333333333334</c:v>
              </c:pt>
              <c:pt idx="188">
                <c:v>0.16000000000000003</c:v>
              </c:pt>
              <c:pt idx="189">
                <c:v>0.14666666666666667</c:v>
              </c:pt>
              <c:pt idx="190">
                <c:v>0.13333333333333333</c:v>
              </c:pt>
              <c:pt idx="191">
                <c:v>0.12</c:v>
              </c:pt>
              <c:pt idx="192">
                <c:v>0.10666666666666667</c:v>
              </c:pt>
              <c:pt idx="193">
                <c:v>0.09333333333333334</c:v>
              </c:pt>
              <c:pt idx="194">
                <c:v>0.08000000000000002</c:v>
              </c:pt>
              <c:pt idx="195">
                <c:v>0.06666666666666667</c:v>
              </c:pt>
              <c:pt idx="196">
                <c:v>0.05333333333333334</c:v>
              </c:pt>
              <c:pt idx="197">
                <c:v>0.04000000000000001</c:v>
              </c:pt>
              <c:pt idx="198">
                <c:v>0.02666666666666667</c:v>
              </c:pt>
              <c:pt idx="199">
                <c:v>0.013333333333333334</c:v>
              </c:pt>
              <c:pt idx="2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31.xml><?xml version="1.0" encoding="utf-8"?>
<c:chartSpace xmlns:c="http://schemas.openxmlformats.org/drawingml/2006/chart">
  <c:lang val="en-US"/>
  <c:chart>
    <c:plotArea>
      <c:scatterChart>
        <c:ser>
          <c:idx val="0"/>
          <c:order val="0"/>
          <c:tx>
            <c:v>Salida 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ser>
          <c:idx val="1"/>
          <c:order val="1"/>
          <c:tx>
            <c:v>u = 35.63859338365493</c:v>
          </c:tx>
          <c:spPr>
            <a:ln xmlns:a="http://schemas.openxmlformats.org/drawingml/2006/main" w="28575">
              <a:solidFill>
                <a:srgbClr val="087F79"/>
              </a:solidFill>
            </a:ln>
          </c:spPr>
          <c:marker>
            <c:symbol val="none"/>
            <c:size val="5"/>
          </c:marker>
          <c:xVal>
            <c:numLit>
              <c:formatCode>General</c:formatCode>
              <c:ptCount val="2"/>
              <c:pt idx="0">
                <c:v>35.63859338365493</c:v>
              </c:pt>
              <c:pt idx="1">
                <c:v>35.63859338365493</c:v>
              </c:pt>
            </c:numLit>
          </c:xVal>
          <c:yVal>
            <c:numLit>
              <c:formatCode>General</c:formatCode>
              <c:ptCount val="2"/>
              <c:pt idx="0">
                <c:v>0</c:v>
              </c:pt>
              <c:pt idx="1">
                <c:v>0.85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majorUnit val="0.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20"/>
      </c:valAx>
    </c:plotArea>
    <c:plotVisOnly val="1"/>
  </c:chart>
  <c:spPr>
    <a:solidFill xmlns:a="http://schemas.openxmlformats.org/drawingml/2006/main">
      <a:srgbClr val="FFFFFF"/>
    </a:solidFill>
  </c:spPr>
</c:chartSpace>
</file>

<file path=ppt/slides/charts/chart32.xml><?xml version="1.0" encoding="utf-8"?>
<c:chartSpace xmlns:c="http://schemas.openxmlformats.org/drawingml/2006/chart">
  <c:lang val="en-US"/>
  <c:chart>
    <c:plotArea>
      <c:scatterChart>
        <c:ser>
          <c:idx val="0"/>
          <c:order val="0"/>
          <c:tx>
            <c:v>Baja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ser>
          <c:idx val="1"/>
          <c:order val="1"/>
          <c:tx>
            <c:v>Alta</c:v>
          </c:tx>
          <c:spPr>
            <a:ln xmlns:a="http://schemas.openxmlformats.org/drawingml/2006/main" w="28575">
              <a:solidFill>
                <a:srgbClr val="D96B18"/>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33.xml><?xml version="1.0" encoding="utf-8"?>
<c:chartSpace xmlns:c="http://schemas.openxmlformats.org/drawingml/2006/chart">
  <c:lang val="en-US"/>
  <c:chart>
    <c:plotArea>
      <c:scatterChart>
        <c:ser>
          <c:idx val="0"/>
          <c:order val="0"/>
          <c:tx>
            <c:v>Agregada</c:v>
          </c:tx>
          <c:spPr>
            <a:ln xmlns:a="http://schemas.openxmlformats.org/drawingml/2006/main" w="28575">
              <a:solidFill>
                <a:srgbClr val="2162A0"/>
              </a:solidFill>
            </a:ln>
          </c:spPr>
          <c:marker>
            <c:symbol val="none"/>
            <c:size val="5"/>
          </c:marker>
          <c:xVal>
            <c:numLit>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Lit>
          </c:xVal>
          <c:yVal>
            <c:numLit>
              <c:formatCode>General</c:formatCode>
              <c:ptCount val="101"/>
              <c:pt idx="0">
                <c:v>0</c:v>
              </c:pt>
              <c:pt idx="1">
                <c:v>0.04</c:v>
              </c:pt>
              <c:pt idx="2">
                <c:v>0.08</c:v>
              </c:pt>
              <c:pt idx="3">
                <c:v>0.12</c:v>
              </c:pt>
              <c:pt idx="4">
                <c:v>0.16</c:v>
              </c:pt>
              <c:pt idx="5">
                <c:v>0.2</c:v>
              </c:pt>
              <c:pt idx="6">
                <c:v>0.24</c:v>
              </c:pt>
              <c:pt idx="7">
                <c:v>0.28</c:v>
              </c:pt>
              <c:pt idx="8">
                <c:v>0.32</c:v>
              </c:pt>
              <c:pt idx="9">
                <c:v>0.36</c:v>
              </c:pt>
              <c:pt idx="10">
                <c:v>0.4</c:v>
              </c:pt>
              <c:pt idx="11">
                <c:v>0.44</c:v>
              </c:pt>
              <c:pt idx="12">
                <c:v>0.48</c:v>
              </c:pt>
              <c:pt idx="13">
                <c:v>0.52</c:v>
              </c:pt>
              <c:pt idx="14">
                <c:v>0.56</c:v>
              </c:pt>
              <c:pt idx="15">
                <c:v>0.6</c:v>
              </c:pt>
              <c:pt idx="16">
                <c:v>0.6</c:v>
              </c:pt>
              <c:pt idx="17">
                <c:v>0.6</c:v>
              </c:pt>
              <c:pt idx="18">
                <c:v>0.6</c:v>
              </c:pt>
              <c:pt idx="19">
                <c:v>0.6</c:v>
              </c:pt>
              <c:pt idx="20">
                <c:v>0.6</c:v>
              </c:pt>
              <c:pt idx="21">
                <c:v>0.6</c:v>
              </c:pt>
              <c:pt idx="22">
                <c:v>0.6</c:v>
              </c:pt>
              <c:pt idx="23">
                <c:v>0.6</c:v>
              </c:pt>
              <c:pt idx="24">
                <c:v>0.6</c:v>
              </c:pt>
              <c:pt idx="25">
                <c:v>0.6</c:v>
              </c:pt>
              <c:pt idx="26">
                <c:v>0.6</c:v>
              </c:pt>
              <c:pt idx="27">
                <c:v>0.6</c:v>
              </c:pt>
              <c:pt idx="28">
                <c:v>0.6</c:v>
              </c:pt>
              <c:pt idx="29">
                <c:v>0.6</c:v>
              </c:pt>
              <c:pt idx="30">
                <c:v>0.6</c:v>
              </c:pt>
              <c:pt idx="31">
                <c:v>0.6</c:v>
              </c:pt>
              <c:pt idx="32">
                <c:v>0.6</c:v>
              </c:pt>
              <c:pt idx="33">
                <c:v>0.6</c:v>
              </c:pt>
              <c:pt idx="34">
                <c:v>0.6</c:v>
              </c:pt>
              <c:pt idx="35">
                <c:v>0.6</c:v>
              </c:pt>
              <c:pt idx="36">
                <c:v>0.56</c:v>
              </c:pt>
              <c:pt idx="37">
                <c:v>0.52</c:v>
              </c:pt>
              <c:pt idx="38">
                <c:v>0.48</c:v>
              </c:pt>
              <c:pt idx="39">
                <c:v>0.44</c:v>
              </c:pt>
              <c:pt idx="40">
                <c:v>0.4</c:v>
              </c:pt>
              <c:pt idx="41">
                <c:v>0.36</c:v>
              </c:pt>
              <c:pt idx="42">
                <c:v>0.32</c:v>
              </c:pt>
              <c:pt idx="43">
                <c:v>0.28</c:v>
              </c:pt>
              <c:pt idx="44">
                <c:v>0.24</c:v>
              </c:pt>
              <c:pt idx="45">
                <c:v>0.2</c:v>
              </c:pt>
              <c:pt idx="46">
                <c:v>0.16</c:v>
              </c:pt>
              <c:pt idx="47">
                <c:v>0.12</c:v>
              </c:pt>
              <c:pt idx="48">
                <c:v>0.08</c:v>
              </c:pt>
              <c:pt idx="49">
                <c:v>0.04</c:v>
              </c:pt>
              <c:pt idx="50">
                <c:v>0</c:v>
              </c:pt>
              <c:pt idx="51">
                <c:v>0.04</c:v>
              </c:pt>
              <c:pt idx="52">
                <c:v>0.08</c:v>
              </c:pt>
              <c:pt idx="53">
                <c:v>0.12</c:v>
              </c:pt>
              <c:pt idx="54">
                <c:v>0.16</c:v>
              </c:pt>
              <c:pt idx="55">
                <c:v>0.2</c:v>
              </c:pt>
              <c:pt idx="56">
                <c:v>0.24</c:v>
              </c:pt>
              <c:pt idx="57">
                <c:v>0.28</c:v>
              </c:pt>
              <c:pt idx="58">
                <c:v>0.3</c:v>
              </c:pt>
              <c:pt idx="59">
                <c:v>0.3</c:v>
              </c:pt>
              <c:pt idx="60">
                <c:v>0.3</c:v>
              </c:pt>
              <c:pt idx="61">
                <c:v>0.3</c:v>
              </c:pt>
              <c:pt idx="62">
                <c:v>0.3</c:v>
              </c:pt>
              <c:pt idx="63">
                <c:v>0.3</c:v>
              </c:pt>
              <c:pt idx="64">
                <c:v>0.3</c:v>
              </c:pt>
              <c:pt idx="65">
                <c:v>0.3</c:v>
              </c:pt>
              <c:pt idx="66">
                <c:v>0.3</c:v>
              </c:pt>
              <c:pt idx="67">
                <c:v>0.3</c:v>
              </c:pt>
              <c:pt idx="68">
                <c:v>0.3</c:v>
              </c:pt>
              <c:pt idx="69">
                <c:v>0.3</c:v>
              </c:pt>
              <c:pt idx="70">
                <c:v>0.3</c:v>
              </c:pt>
              <c:pt idx="71">
                <c:v>0.3</c:v>
              </c:pt>
              <c:pt idx="72">
                <c:v>0.3</c:v>
              </c:pt>
              <c:pt idx="73">
                <c:v>0.3</c:v>
              </c:pt>
              <c:pt idx="74">
                <c:v>0.3</c:v>
              </c:pt>
              <c:pt idx="75">
                <c:v>0.3</c:v>
              </c:pt>
              <c:pt idx="76">
                <c:v>0.3</c:v>
              </c:pt>
              <c:pt idx="77">
                <c:v>0.3</c:v>
              </c:pt>
              <c:pt idx="78">
                <c:v>0.3</c:v>
              </c:pt>
              <c:pt idx="79">
                <c:v>0.3</c:v>
              </c:pt>
              <c:pt idx="80">
                <c:v>0.3</c:v>
              </c:pt>
              <c:pt idx="81">
                <c:v>0.3</c:v>
              </c:pt>
              <c:pt idx="82">
                <c:v>0.3</c:v>
              </c:pt>
              <c:pt idx="83">
                <c:v>0.3</c:v>
              </c:pt>
              <c:pt idx="84">
                <c:v>0.3</c:v>
              </c:pt>
              <c:pt idx="85">
                <c:v>0.3</c:v>
              </c:pt>
              <c:pt idx="86">
                <c:v>0.3</c:v>
              </c:pt>
              <c:pt idx="87">
                <c:v>0.3</c:v>
              </c:pt>
              <c:pt idx="88">
                <c:v>0.3</c:v>
              </c:pt>
              <c:pt idx="89">
                <c:v>0.3</c:v>
              </c:pt>
              <c:pt idx="90">
                <c:v>0.3</c:v>
              </c:pt>
              <c:pt idx="91">
                <c:v>0.3</c:v>
              </c:pt>
              <c:pt idx="92">
                <c:v>0.3</c:v>
              </c:pt>
              <c:pt idx="93">
                <c:v>0.28</c:v>
              </c:pt>
              <c:pt idx="94">
                <c:v>0.24</c:v>
              </c:pt>
              <c:pt idx="95">
                <c:v>0.2</c:v>
              </c:pt>
              <c:pt idx="96">
                <c:v>0.16</c:v>
              </c:pt>
              <c:pt idx="97">
                <c:v>0.12</c:v>
              </c:pt>
              <c:pt idx="98">
                <c:v>0.08</c:v>
              </c:pt>
              <c:pt idx="99">
                <c:v>0.04</c:v>
              </c:pt>
              <c:pt idx="100">
                <c:v>0</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Potencia u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34.xml><?xml version="1.0" encoding="utf-8"?>
<c:chartSpace xmlns:c="http://schemas.openxmlformats.org/drawingml/2006/chart">
  <c:lang val="en-US"/>
  <c:chart>
    <c:plotArea>
      <c:scatterChart>
        <c:ser>
          <c:idx val="0"/>
          <c:order val="0"/>
          <c:tx>
            <c:v>Negativo</c:v>
          </c:tx>
          <c:spPr>
            <a:ln xmlns:a="http://schemas.openxmlformats.org/drawingml/2006/main" w="28575">
              <a:solidFill>
                <a:srgbClr val="2162A0"/>
              </a:solidFill>
            </a:ln>
          </c:spPr>
          <c:marker>
            <c:symbol val="none"/>
            <c:size val="5"/>
          </c:marker>
          <c:x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xVal>
          <c:y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ser>
          <c:idx val="1"/>
          <c:order val="1"/>
          <c:tx>
            <c:v>Cero</c:v>
          </c:tx>
          <c:spPr>
            <a:ln xmlns:a="http://schemas.openxmlformats.org/drawingml/2006/main" w="28575">
              <a:solidFill>
                <a:srgbClr val="D96B18"/>
              </a:solidFill>
            </a:ln>
          </c:spPr>
          <c:marker>
            <c:symbol val="none"/>
            <c:size val="5"/>
          </c:marker>
          <c:x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xVal>
          <c:yVal>
            <c:numLit>
              <c:formatCode>General</c:formatCode>
              <c:ptCount val="101"/>
              <c:pt idx="0">
                <c:v>0</c:v>
              </c:pt>
              <c:pt idx="1">
                <c:v>0.020000000000000018</c:v>
              </c:pt>
              <c:pt idx="2">
                <c:v>0.040000000000000036</c:v>
              </c:pt>
              <c:pt idx="3">
                <c:v>0.06000000000000005</c:v>
              </c:pt>
              <c:pt idx="4">
                <c:v>0.07999999999999996</c:v>
              </c:pt>
              <c:pt idx="5">
                <c:v>0.09999999999999998</c:v>
              </c:pt>
              <c:pt idx="6">
                <c:v>0.12</c:v>
              </c:pt>
              <c:pt idx="7">
                <c:v>0.14</c:v>
              </c:pt>
              <c:pt idx="8">
                <c:v>0.16000000000000003</c:v>
              </c:pt>
              <c:pt idx="9">
                <c:v>0.17999999999999994</c:v>
              </c:pt>
              <c:pt idx="10">
                <c:v>0.19999999999999996</c:v>
              </c:pt>
              <c:pt idx="11">
                <c:v>0.21999999999999997</c:v>
              </c:pt>
              <c:pt idx="12">
                <c:v>0.24</c:v>
              </c:pt>
              <c:pt idx="13">
                <c:v>0.26</c:v>
              </c:pt>
              <c:pt idx="14">
                <c:v>0.28</c:v>
              </c:pt>
              <c:pt idx="15">
                <c:v>0.30000000000000004</c:v>
              </c:pt>
              <c:pt idx="16">
                <c:v>0.32000000000000006</c:v>
              </c:pt>
              <c:pt idx="17">
                <c:v>0.3400000000000001</c:v>
              </c:pt>
              <c:pt idx="18">
                <c:v>0.36</c:v>
              </c:pt>
              <c:pt idx="19">
                <c:v>0.38</c:v>
              </c:pt>
              <c:pt idx="20">
                <c:v>0.4</c:v>
              </c:pt>
              <c:pt idx="21">
                <c:v>0.41999999999999993</c:v>
              </c:pt>
              <c:pt idx="22">
                <c:v>0.43999999999999995</c:v>
              </c:pt>
              <c:pt idx="23">
                <c:v>0.45999999999999996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0.98</c:v>
              </c:pt>
              <c:pt idx="52">
                <c:v>0.96</c:v>
              </c:pt>
              <c:pt idx="53">
                <c:v>0.94</c:v>
              </c:pt>
              <c:pt idx="54">
                <c:v>0.9199999999999999</c:v>
              </c:pt>
              <c:pt idx="55">
                <c:v>0.8999999999999999</c:v>
              </c:pt>
              <c:pt idx="56">
                <c:v>0.8799999999999999</c:v>
              </c:pt>
              <c:pt idx="57">
                <c:v>0.8600000000000001</c:v>
              </c:pt>
              <c:pt idx="58">
                <c:v>0.8400000000000001</c:v>
              </c:pt>
              <c:pt idx="59">
                <c:v>0.8200000000000001</c:v>
              </c:pt>
              <c:pt idx="60">
                <c:v>0.8</c:v>
              </c:pt>
              <c:pt idx="61">
                <c:v>0.78</c:v>
              </c:pt>
              <c:pt idx="62">
                <c:v>0.76</c:v>
              </c:pt>
              <c:pt idx="63">
                <c:v>0.74</c:v>
              </c:pt>
              <c:pt idx="64">
                <c:v>0.72</c:v>
              </c:pt>
              <c:pt idx="65">
                <c:v>0.7</c:v>
              </c:pt>
              <c:pt idx="66">
                <c:v>0.6799999999999999</c:v>
              </c:pt>
              <c:pt idx="67">
                <c:v>0.6599999999999999</c:v>
              </c:pt>
              <c:pt idx="68">
                <c:v>0.6399999999999999</c:v>
              </c:pt>
              <c:pt idx="69">
                <c:v>0.6200000000000001</c:v>
              </c:pt>
              <c:pt idx="70">
                <c:v>0.6000000000000001</c:v>
              </c:pt>
              <c:pt idx="71">
                <c:v>0.5800000000000001</c:v>
              </c:pt>
              <c:pt idx="72">
                <c:v>0.56</c:v>
              </c:pt>
              <c:pt idx="73">
                <c:v>0.54</c:v>
              </c:pt>
              <c:pt idx="74">
                <c:v>0.52</c:v>
              </c:pt>
              <c:pt idx="75">
                <c:v>0.5</c:v>
              </c:pt>
              <c:pt idx="76">
                <c:v>0.48</c:v>
              </c:pt>
              <c:pt idx="77">
                <c:v>0.45999999999999996</c:v>
              </c:pt>
              <c:pt idx="78">
                <c:v>0.43999999999999995</c:v>
              </c:pt>
              <c:pt idx="79">
                <c:v>0.41999999999999993</c:v>
              </c:pt>
              <c:pt idx="80">
                <c:v>0.3999999999999999</c:v>
              </c:pt>
              <c:pt idx="81">
                <c:v>0.3799999999999999</c:v>
              </c:pt>
              <c:pt idx="82">
                <c:v>0.3600000000000001</c:v>
              </c:pt>
              <c:pt idx="83">
                <c:v>0.3400000000000001</c:v>
              </c:pt>
              <c:pt idx="84">
                <c:v>0.32000000000000006</c:v>
              </c:pt>
              <c:pt idx="85">
                <c:v>0.30000000000000004</c:v>
              </c:pt>
              <c:pt idx="86">
                <c:v>0.28</c:v>
              </c:pt>
              <c:pt idx="87">
                <c:v>0.26</c:v>
              </c:pt>
              <c:pt idx="88">
                <c:v>0.24</c:v>
              </c:pt>
              <c:pt idx="89">
                <c:v>0.21999999999999997</c:v>
              </c:pt>
              <c:pt idx="90">
                <c:v>0.19999999999999996</c:v>
              </c:pt>
              <c:pt idx="91">
                <c:v>0.17999999999999994</c:v>
              </c:pt>
              <c:pt idx="92">
                <c:v>0.15999999999999992</c:v>
              </c:pt>
              <c:pt idx="93">
                <c:v>0.1399999999999999</c:v>
              </c:pt>
              <c:pt idx="94">
                <c:v>0.1200000000000001</c:v>
              </c:pt>
              <c:pt idx="95">
                <c:v>0.10000000000000009</c:v>
              </c:pt>
              <c:pt idx="96">
                <c:v>0.08000000000000007</c:v>
              </c:pt>
              <c:pt idx="97">
                <c:v>0.06000000000000005</c:v>
              </c:pt>
              <c:pt idx="98">
                <c:v>0.040000000000000036</c:v>
              </c:pt>
              <c:pt idx="99">
                <c:v>0.020000000000000018</c:v>
              </c:pt>
              <c:pt idx="100">
                <c:v>0</c:v>
              </c:pt>
            </c:numLit>
          </c:yVal>
        </c:ser>
        <c:ser>
          <c:idx val="2"/>
          <c:order val="2"/>
          <c:tx>
            <c:v>Positivo</c:v>
          </c:tx>
          <c:spPr>
            <a:ln xmlns:a="http://schemas.openxmlformats.org/drawingml/2006/main" w="28575">
              <a:solidFill>
                <a:srgbClr val="60863D"/>
              </a:solidFill>
            </a:ln>
          </c:spPr>
          <c:marker>
            <c:symbol val="none"/>
            <c:size val="5"/>
          </c:marker>
          <c:x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yVal>
        </c:ser>
        <c:ser>
          <c:idx val="3"/>
          <c:order val="3"/>
          <c:tx>
            <c:v>E</c:v>
          </c:tx>
          <c:spPr>
            <a:ln xmlns:a="http://schemas.openxmlformats.org/drawingml/2006/main" w="28575">
              <a:solidFill>
                <a:srgbClr val="73808A"/>
              </a:solidFill>
            </a:ln>
          </c:spPr>
          <c:marker>
            <c:symbol val="none"/>
            <c:size val="5"/>
          </c:marker>
          <c:xVal>
            <c:numLit>
              <c:formatCode>General</c:formatCode>
              <c:ptCount val="2"/>
              <c:pt idx="0">
                <c:v>0.5</c:v>
              </c:pt>
              <c:pt idx="1">
                <c:v>0.5</c:v>
              </c:pt>
            </c:numLit>
          </c:xVal>
          <c:yVal>
            <c:numLit>
              <c:formatCode>General</c:formatCode>
              <c:ptCount val="2"/>
              <c:pt idx="0">
                <c:v>0</c:v>
              </c:pt>
              <c:pt idx="1">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
          <c:min val="-1"/>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Error normalizado 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0.5"/>
      </c:valAx>
    </c:plotArea>
    <c:plotVisOnly val="1"/>
  </c:chart>
  <c:spPr>
    <a:solidFill xmlns:a="http://schemas.openxmlformats.org/drawingml/2006/main">
      <a:srgbClr val="FFFFFF"/>
    </a:solidFill>
  </c:spPr>
</c:chartSpace>
</file>

<file path=ppt/slides/charts/chart35.xml><?xml version="1.0" encoding="utf-8"?>
<c:chartSpace xmlns:c="http://schemas.openxmlformats.org/drawingml/2006/chart">
  <c:lang val="en-US"/>
  <c:chart>
    <c:plotArea>
      <c:scatterChart>
        <c:ser>
          <c:idx val="0"/>
          <c:order val="0"/>
          <c:tx>
            <c:v>Negativo</c:v>
          </c:tx>
          <c:spPr>
            <a:ln xmlns:a="http://schemas.openxmlformats.org/drawingml/2006/main" w="28575">
              <a:solidFill>
                <a:srgbClr val="2162A0"/>
              </a:solidFill>
            </a:ln>
          </c:spPr>
          <c:marker>
            <c:symbol val="none"/>
            <c:size val="5"/>
          </c:marker>
          <c:x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xVal>
          <c:y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numLit>
          </c:yVal>
        </c:ser>
        <c:ser>
          <c:idx val="1"/>
          <c:order val="1"/>
          <c:tx>
            <c:v>Cero</c:v>
          </c:tx>
          <c:spPr>
            <a:ln xmlns:a="http://schemas.openxmlformats.org/drawingml/2006/main" w="28575">
              <a:solidFill>
                <a:srgbClr val="D96B18"/>
              </a:solidFill>
            </a:ln>
          </c:spPr>
          <c:marker>
            <c:symbol val="none"/>
            <c:size val="5"/>
          </c:marker>
          <c:x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xVal>
          <c:yVal>
            <c:numLit>
              <c:formatCode>General</c:formatCode>
              <c:ptCount val="101"/>
              <c:pt idx="0">
                <c:v>0</c:v>
              </c:pt>
              <c:pt idx="1">
                <c:v>0.020000000000000018</c:v>
              </c:pt>
              <c:pt idx="2">
                <c:v>0.040000000000000036</c:v>
              </c:pt>
              <c:pt idx="3">
                <c:v>0.06000000000000005</c:v>
              </c:pt>
              <c:pt idx="4">
                <c:v>0.07999999999999996</c:v>
              </c:pt>
              <c:pt idx="5">
                <c:v>0.09999999999999998</c:v>
              </c:pt>
              <c:pt idx="6">
                <c:v>0.12</c:v>
              </c:pt>
              <c:pt idx="7">
                <c:v>0.14</c:v>
              </c:pt>
              <c:pt idx="8">
                <c:v>0.16000000000000003</c:v>
              </c:pt>
              <c:pt idx="9">
                <c:v>0.17999999999999994</c:v>
              </c:pt>
              <c:pt idx="10">
                <c:v>0.19999999999999996</c:v>
              </c:pt>
              <c:pt idx="11">
                <c:v>0.21999999999999997</c:v>
              </c:pt>
              <c:pt idx="12">
                <c:v>0.24</c:v>
              </c:pt>
              <c:pt idx="13">
                <c:v>0.26</c:v>
              </c:pt>
              <c:pt idx="14">
                <c:v>0.28</c:v>
              </c:pt>
              <c:pt idx="15">
                <c:v>0.30000000000000004</c:v>
              </c:pt>
              <c:pt idx="16">
                <c:v>0.32000000000000006</c:v>
              </c:pt>
              <c:pt idx="17">
                <c:v>0.3400000000000001</c:v>
              </c:pt>
              <c:pt idx="18">
                <c:v>0.36</c:v>
              </c:pt>
              <c:pt idx="19">
                <c:v>0.38</c:v>
              </c:pt>
              <c:pt idx="20">
                <c:v>0.4</c:v>
              </c:pt>
              <c:pt idx="21">
                <c:v>0.41999999999999993</c:v>
              </c:pt>
              <c:pt idx="22">
                <c:v>0.43999999999999995</c:v>
              </c:pt>
              <c:pt idx="23">
                <c:v>0.45999999999999996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0.98</c:v>
              </c:pt>
              <c:pt idx="52">
                <c:v>0.96</c:v>
              </c:pt>
              <c:pt idx="53">
                <c:v>0.94</c:v>
              </c:pt>
              <c:pt idx="54">
                <c:v>0.9199999999999999</c:v>
              </c:pt>
              <c:pt idx="55">
                <c:v>0.8999999999999999</c:v>
              </c:pt>
              <c:pt idx="56">
                <c:v>0.8799999999999999</c:v>
              </c:pt>
              <c:pt idx="57">
                <c:v>0.8600000000000001</c:v>
              </c:pt>
              <c:pt idx="58">
                <c:v>0.8400000000000001</c:v>
              </c:pt>
              <c:pt idx="59">
                <c:v>0.8200000000000001</c:v>
              </c:pt>
              <c:pt idx="60">
                <c:v>0.8</c:v>
              </c:pt>
              <c:pt idx="61">
                <c:v>0.78</c:v>
              </c:pt>
              <c:pt idx="62">
                <c:v>0.76</c:v>
              </c:pt>
              <c:pt idx="63">
                <c:v>0.74</c:v>
              </c:pt>
              <c:pt idx="64">
                <c:v>0.72</c:v>
              </c:pt>
              <c:pt idx="65">
                <c:v>0.7</c:v>
              </c:pt>
              <c:pt idx="66">
                <c:v>0.6799999999999999</c:v>
              </c:pt>
              <c:pt idx="67">
                <c:v>0.6599999999999999</c:v>
              </c:pt>
              <c:pt idx="68">
                <c:v>0.6399999999999999</c:v>
              </c:pt>
              <c:pt idx="69">
                <c:v>0.6200000000000001</c:v>
              </c:pt>
              <c:pt idx="70">
                <c:v>0.6000000000000001</c:v>
              </c:pt>
              <c:pt idx="71">
                <c:v>0.5800000000000001</c:v>
              </c:pt>
              <c:pt idx="72">
                <c:v>0.56</c:v>
              </c:pt>
              <c:pt idx="73">
                <c:v>0.54</c:v>
              </c:pt>
              <c:pt idx="74">
                <c:v>0.52</c:v>
              </c:pt>
              <c:pt idx="75">
                <c:v>0.5</c:v>
              </c:pt>
              <c:pt idx="76">
                <c:v>0.48</c:v>
              </c:pt>
              <c:pt idx="77">
                <c:v>0.45999999999999996</c:v>
              </c:pt>
              <c:pt idx="78">
                <c:v>0.43999999999999995</c:v>
              </c:pt>
              <c:pt idx="79">
                <c:v>0.41999999999999993</c:v>
              </c:pt>
              <c:pt idx="80">
                <c:v>0.3999999999999999</c:v>
              </c:pt>
              <c:pt idx="81">
                <c:v>0.3799999999999999</c:v>
              </c:pt>
              <c:pt idx="82">
                <c:v>0.3600000000000001</c:v>
              </c:pt>
              <c:pt idx="83">
                <c:v>0.3400000000000001</c:v>
              </c:pt>
              <c:pt idx="84">
                <c:v>0.32000000000000006</c:v>
              </c:pt>
              <c:pt idx="85">
                <c:v>0.30000000000000004</c:v>
              </c:pt>
              <c:pt idx="86">
                <c:v>0.28</c:v>
              </c:pt>
              <c:pt idx="87">
                <c:v>0.26</c:v>
              </c:pt>
              <c:pt idx="88">
                <c:v>0.24</c:v>
              </c:pt>
              <c:pt idx="89">
                <c:v>0.21999999999999997</c:v>
              </c:pt>
              <c:pt idx="90">
                <c:v>0.19999999999999996</c:v>
              </c:pt>
              <c:pt idx="91">
                <c:v>0.17999999999999994</c:v>
              </c:pt>
              <c:pt idx="92">
                <c:v>0.15999999999999992</c:v>
              </c:pt>
              <c:pt idx="93">
                <c:v>0.1399999999999999</c:v>
              </c:pt>
              <c:pt idx="94">
                <c:v>0.1200000000000001</c:v>
              </c:pt>
              <c:pt idx="95">
                <c:v>0.10000000000000009</c:v>
              </c:pt>
              <c:pt idx="96">
                <c:v>0.08000000000000007</c:v>
              </c:pt>
              <c:pt idx="97">
                <c:v>0.06000000000000005</c:v>
              </c:pt>
              <c:pt idx="98">
                <c:v>0.040000000000000036</c:v>
              </c:pt>
              <c:pt idx="99">
                <c:v>0.020000000000000018</c:v>
              </c:pt>
              <c:pt idx="100">
                <c:v>0</c:v>
              </c:pt>
            </c:numLit>
          </c:yVal>
        </c:ser>
        <c:ser>
          <c:idx val="2"/>
          <c:order val="2"/>
          <c:tx>
            <c:v>Positivo</c:v>
          </c:tx>
          <c:spPr>
            <a:ln xmlns:a="http://schemas.openxmlformats.org/drawingml/2006/main" w="28575">
              <a:solidFill>
                <a:srgbClr val="60863D"/>
              </a:solidFill>
            </a:ln>
          </c:spPr>
          <c:marker>
            <c:symbol val="none"/>
            <c:size val="5"/>
          </c:marker>
          <c:xVal>
            <c:numLit>
              <c:formatCode>General</c:formatCode>
              <c:ptCount val="101"/>
              <c:pt idx="0">
                <c:v>-1</c:v>
              </c:pt>
              <c:pt idx="1">
                <c:v>-0.98</c:v>
              </c:pt>
              <c:pt idx="2">
                <c:v>-0.96</c:v>
              </c:pt>
              <c:pt idx="3">
                <c:v>-0.94</c:v>
              </c:pt>
              <c:pt idx="4">
                <c:v>-0.92</c:v>
              </c:pt>
              <c:pt idx="5">
                <c:v>-0.9</c:v>
              </c:pt>
              <c:pt idx="6">
                <c:v>-0.88</c:v>
              </c:pt>
              <c:pt idx="7">
                <c:v>-0.86</c:v>
              </c:pt>
              <c:pt idx="8">
                <c:v>-0.84</c:v>
              </c:pt>
              <c:pt idx="9">
                <c:v>-0.8200000000000001</c:v>
              </c:pt>
              <c:pt idx="10">
                <c:v>-0.8</c:v>
              </c:pt>
              <c:pt idx="11">
                <c:v>-0.78</c:v>
              </c:pt>
              <c:pt idx="12">
                <c:v>-0.76</c:v>
              </c:pt>
              <c:pt idx="13">
                <c:v>-0.74</c:v>
              </c:pt>
              <c:pt idx="14">
                <c:v>-0.72</c:v>
              </c:pt>
              <c:pt idx="15">
                <c:v>-0.7</c:v>
              </c:pt>
              <c:pt idx="16">
                <c:v>-0.6799999999999999</c:v>
              </c:pt>
              <c:pt idx="17">
                <c:v>-0.6599999999999999</c:v>
              </c:pt>
              <c:pt idx="18">
                <c:v>-0.64</c:v>
              </c:pt>
              <c:pt idx="19">
                <c:v>-0.62</c:v>
              </c:pt>
              <c:pt idx="20">
                <c:v>-0.6</c:v>
              </c:pt>
              <c:pt idx="21">
                <c:v>-0.5800000000000001</c:v>
              </c:pt>
              <c:pt idx="22">
                <c:v>-0.56</c:v>
              </c:pt>
              <c:pt idx="23">
                <c:v>-0.54</c:v>
              </c:pt>
              <c:pt idx="24">
                <c:v>-0.52</c:v>
              </c:pt>
              <c:pt idx="25">
                <c:v>-0.5</c:v>
              </c:pt>
              <c:pt idx="26">
                <c:v>-0.48</c:v>
              </c:pt>
              <c:pt idx="27">
                <c:v>-0.45999999999999996</c:v>
              </c:pt>
              <c:pt idx="28">
                <c:v>-0.43999999999999995</c:v>
              </c:pt>
              <c:pt idx="29">
                <c:v>-0.42000000000000004</c:v>
              </c:pt>
              <c:pt idx="30">
                <c:v>-0.4</c:v>
              </c:pt>
              <c:pt idx="31">
                <c:v>-0.38</c:v>
              </c:pt>
              <c:pt idx="32">
                <c:v>-0.36</c:v>
              </c:pt>
              <c:pt idx="33">
                <c:v>-0.33999999999999997</c:v>
              </c:pt>
              <c:pt idx="34">
                <c:v>-0.31999999999999995</c:v>
              </c:pt>
              <c:pt idx="35">
                <c:v>-0.30000000000000004</c:v>
              </c:pt>
              <c:pt idx="36">
                <c:v>-0.28</c:v>
              </c:pt>
              <c:pt idx="37">
                <c:v>-0.26</c:v>
              </c:pt>
              <c:pt idx="38">
                <c:v>-0.24</c:v>
              </c:pt>
              <c:pt idx="39">
                <c:v>-0.21999999999999997</c:v>
              </c:pt>
              <c:pt idx="40">
                <c:v>-0.19999999999999996</c:v>
              </c:pt>
              <c:pt idx="41">
                <c:v>-0.18000000000000005</c:v>
              </c:pt>
              <c:pt idx="42">
                <c:v>-0.16000000000000003</c:v>
              </c:pt>
              <c:pt idx="43">
                <c:v>-0.14</c:v>
              </c:pt>
              <c:pt idx="44">
                <c:v>-0.12</c:v>
              </c:pt>
              <c:pt idx="45">
                <c:v>-0.09999999999999998</c:v>
              </c:pt>
              <c:pt idx="46">
                <c:v>-0.07999999999999996</c:v>
              </c:pt>
              <c:pt idx="47">
                <c:v>-0.06000000000000005</c:v>
              </c:pt>
              <c:pt idx="48">
                <c:v>-0.040000000000000036</c:v>
              </c:pt>
              <c:pt idx="49">
                <c:v>-0.020000000000000018</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xVal>
          <c:yVal>
            <c:numLit>
              <c:formatCode>General</c:formatCode>
              <c:ptCount val="1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0.020000000000000018</c:v>
              </c:pt>
              <c:pt idx="52">
                <c:v>0.040000000000000036</c:v>
              </c:pt>
              <c:pt idx="53">
                <c:v>0.06000000000000005</c:v>
              </c:pt>
              <c:pt idx="54">
                <c:v>0.08000000000000007</c:v>
              </c:pt>
              <c:pt idx="55">
                <c:v>0.10000000000000009</c:v>
              </c:pt>
              <c:pt idx="56">
                <c:v>0.1200000000000001</c:v>
              </c:pt>
              <c:pt idx="57">
                <c:v>0.1399999999999999</c:v>
              </c:pt>
              <c:pt idx="58">
                <c:v>0.15999999999999992</c:v>
              </c:pt>
              <c:pt idx="59">
                <c:v>0.17999999999999994</c:v>
              </c:pt>
              <c:pt idx="60">
                <c:v>0.19999999999999996</c:v>
              </c:pt>
              <c:pt idx="61">
                <c:v>0.21999999999999997</c:v>
              </c:pt>
              <c:pt idx="62">
                <c:v>0.24</c:v>
              </c:pt>
              <c:pt idx="63">
                <c:v>0.26</c:v>
              </c:pt>
              <c:pt idx="64">
                <c:v>0.28</c:v>
              </c:pt>
              <c:pt idx="65">
                <c:v>0.30000000000000004</c:v>
              </c:pt>
              <c:pt idx="66">
                <c:v>0.32000000000000006</c:v>
              </c:pt>
              <c:pt idx="67">
                <c:v>0.3400000000000001</c:v>
              </c:pt>
              <c:pt idx="68">
                <c:v>0.3600000000000001</c:v>
              </c:pt>
              <c:pt idx="69">
                <c:v>0.3799999999999999</c:v>
              </c:pt>
              <c:pt idx="70">
                <c:v>0.3999999999999999</c:v>
              </c:pt>
              <c:pt idx="71">
                <c:v>0.41999999999999993</c:v>
              </c:pt>
              <c:pt idx="72">
                <c:v>0.43999999999999995</c:v>
              </c:pt>
              <c:pt idx="73">
                <c:v>0.45999999999999996</c:v>
              </c:pt>
              <c:pt idx="74">
                <c:v>0.48</c:v>
              </c:pt>
              <c:pt idx="75">
                <c:v>0.5</c:v>
              </c:pt>
              <c:pt idx="76">
                <c:v>0.52</c:v>
              </c:pt>
              <c:pt idx="77">
                <c:v>0.54</c:v>
              </c:pt>
              <c:pt idx="78">
                <c:v>0.56</c:v>
              </c:pt>
              <c:pt idx="79">
                <c:v>0.5800000000000001</c:v>
              </c:pt>
              <c:pt idx="80">
                <c:v>0.6000000000000001</c:v>
              </c:pt>
              <c:pt idx="81">
                <c:v>0.6200000000000001</c:v>
              </c:pt>
              <c:pt idx="82">
                <c:v>0.6399999999999999</c:v>
              </c:pt>
              <c:pt idx="83">
                <c:v>0.6599999999999999</c:v>
              </c:pt>
              <c:pt idx="84">
                <c:v>0.6799999999999999</c:v>
              </c:pt>
              <c:pt idx="85">
                <c:v>0.7</c:v>
              </c:pt>
              <c:pt idx="86">
                <c:v>0.72</c:v>
              </c:pt>
              <c:pt idx="87">
                <c:v>0.74</c:v>
              </c:pt>
              <c:pt idx="88">
                <c:v>0.76</c:v>
              </c:pt>
              <c:pt idx="89">
                <c:v>0.78</c:v>
              </c:pt>
              <c:pt idx="90">
                <c:v>0.8</c:v>
              </c:pt>
              <c:pt idx="91">
                <c:v>0.8200000000000001</c:v>
              </c:pt>
              <c:pt idx="92">
                <c:v>0.8400000000000001</c:v>
              </c:pt>
              <c:pt idx="93">
                <c:v>0.8600000000000001</c:v>
              </c:pt>
              <c:pt idx="94">
                <c:v>0.8799999999999999</c:v>
              </c:pt>
              <c:pt idx="95">
                <c:v>0.8999999999999999</c:v>
              </c:pt>
              <c:pt idx="96">
                <c:v>0.9199999999999999</c:v>
              </c:pt>
              <c:pt idx="97">
                <c:v>0.94</c:v>
              </c:pt>
              <c:pt idx="98">
                <c:v>0.96</c:v>
              </c:pt>
              <c:pt idx="99">
                <c:v>0.98</c:v>
              </c:pt>
              <c:pt idx="100">
                <c:v>1</c:v>
              </c:pt>
            </c:numLit>
          </c:yVal>
        </c:ser>
        <c:ser>
          <c:idx val="3"/>
          <c:order val="3"/>
          <c:tx>
            <c:v>D</c:v>
          </c:tx>
          <c:spPr>
            <a:ln xmlns:a="http://schemas.openxmlformats.org/drawingml/2006/main" w="28575">
              <a:solidFill>
                <a:srgbClr val="73808A"/>
              </a:solidFill>
            </a:ln>
          </c:spPr>
          <c:marker>
            <c:symbol val="none"/>
            <c:size val="5"/>
          </c:marker>
          <c:xVal>
            <c:numLit>
              <c:formatCode>General</c:formatCode>
              <c:ptCount val="2"/>
              <c:pt idx="0">
                <c:v>0.2</c:v>
              </c:pt>
              <c:pt idx="1">
                <c:v>0.2</c:v>
              </c:pt>
            </c:numLit>
          </c:xVal>
          <c:yVal>
            <c:numLit>
              <c:formatCode>General</c:formatCode>
              <c:ptCount val="2"/>
              <c:pt idx="0">
                <c:v>0</c:v>
              </c:pt>
              <c:pt idx="1">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Pertenencia μ</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1"/>
          <c:min val="-1"/>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Variación normalizada 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0.5"/>
      </c:valAx>
    </c:plotArea>
    <c:plotVisOnly val="1"/>
  </c:chart>
  <c:spPr>
    <a:solidFill xmlns:a="http://schemas.openxmlformats.org/drawingml/2006/main">
      <a:srgbClr val="FFFFFF"/>
    </a:solidFill>
  </c:spPr>
</c:chartSpace>
</file>

<file path=ppt/slides/charts/chart36.xml><?xml version="1.0" encoding="utf-8"?>
<c:chartSpace xmlns:c="http://schemas.openxmlformats.org/drawingml/2006/chart">
  <c:lang val="en-US"/>
  <c:chart>
    <c:plotArea>
      <c:barChart>
        <c:barDir val="col"/>
        <c:grouping val="clustered"/>
        <c:varyColors val="0"/>
        <c:ser>
          <c:idx val="0"/>
          <c:order val="0"/>
          <c:tx>
            <c:v>Aportación w · z</c:v>
          </c:tx>
          <c:spPr>
            <a:solidFill xmlns:a="http://schemas.openxmlformats.org/drawingml/2006/main">
              <a:srgbClr val="D96B18"/>
            </a:solidFill>
          </c:spPr>
          <c:cat>
            <c:strLit>
              <c:ptCount val="4"/>
              <c:pt idx="0">
                <c:v>R1</c:v>
              </c:pt>
              <c:pt idx="1">
                <c:v>R2</c:v>
              </c:pt>
              <c:pt idx="2">
                <c:v>R3</c:v>
              </c:pt>
              <c:pt idx="3">
                <c:v>R4</c:v>
              </c:pt>
            </c:strLit>
          </c:cat>
          <c:val>
            <c:numLit>
              <c:formatCode>General</c:formatCode>
              <c:ptCount val="4"/>
              <c:pt idx="0">
                <c:v>8</c:v>
              </c:pt>
              <c:pt idx="1">
                <c:v>6</c:v>
              </c:pt>
              <c:pt idx="2">
                <c:v>24</c:v>
              </c:pt>
              <c:pt idx="3">
                <c:v>10</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Regla activa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3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Aportación w · 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c:spPr>
</c:chartSpace>
</file>

<file path=ppt/slides/charts/chart37.xml><?xml version="1.0" encoding="utf-8"?>
<c:chartSpace xmlns:c="http://schemas.openxmlformats.org/drawingml/2006/chart">
  <c:lang val="en-US"/>
  <c:chart>
    <c:plotArea>
      <c:scatterChart>
        <c:ser>
          <c:idx val="0"/>
          <c:order val="0"/>
          <c:tx>
            <c:v>T</c:v>
          </c:tx>
          <c:spPr>
            <a:ln xmlns:a="http://schemas.openxmlformats.org/drawingml/2006/main" w="28575">
              <a:solidFill>
                <a:srgbClr val="2162A0"/>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18</c:v>
              </c:pt>
              <c:pt idx="1">
                <c:v>18.365267</c:v>
              </c:pt>
              <c:pt idx="2">
                <c:v>18.65749</c:v>
              </c:pt>
              <c:pt idx="3">
                <c:v>18.938601</c:v>
              </c:pt>
              <c:pt idx="4">
                <c:v>19.19817</c:v>
              </c:pt>
              <c:pt idx="5">
                <c:v>19.439542</c:v>
              </c:pt>
              <c:pt idx="6">
                <c:v>19.663073</c:v>
              </c:pt>
              <c:pt idx="7">
                <c:v>19.869711</c:v>
              </c:pt>
              <c:pt idx="8">
                <c:v>20.060332</c:v>
              </c:pt>
              <c:pt idx="9">
                <c:v>20.235833</c:v>
              </c:pt>
              <c:pt idx="10">
                <c:v>20.397112</c:v>
              </c:pt>
              <c:pt idx="11">
                <c:v>20.545058</c:v>
              </c:pt>
              <c:pt idx="12">
                <c:v>20.680544</c:v>
              </c:pt>
              <c:pt idx="13">
                <c:v>20.804424</c:v>
              </c:pt>
              <c:pt idx="14">
                <c:v>20.917523</c:v>
              </c:pt>
              <c:pt idx="15">
                <c:v>21.020635</c:v>
              </c:pt>
              <c:pt idx="16">
                <c:v>21.114521</c:v>
              </c:pt>
              <c:pt idx="17">
                <c:v>21.199903</c:v>
              </c:pt>
              <c:pt idx="18">
                <c:v>21.277464</c:v>
              </c:pt>
              <c:pt idx="19">
                <c:v>21.347847</c:v>
              </c:pt>
              <c:pt idx="20">
                <c:v>21.411657</c:v>
              </c:pt>
              <c:pt idx="21">
                <c:v>21.469456</c:v>
              </c:pt>
              <c:pt idx="22">
                <c:v>21.521768</c:v>
              </c:pt>
              <c:pt idx="23">
                <c:v>21.56908</c:v>
              </c:pt>
              <c:pt idx="24">
                <c:v>21.61184</c:v>
              </c:pt>
              <c:pt idx="25">
                <c:v>21.650463</c:v>
              </c:pt>
              <c:pt idx="26">
                <c:v>21.685329</c:v>
              </c:pt>
              <c:pt idx="27">
                <c:v>21.716787</c:v>
              </c:pt>
              <c:pt idx="28">
                <c:v>21.745159</c:v>
              </c:pt>
              <c:pt idx="29">
                <c:v>21.770734</c:v>
              </c:pt>
              <c:pt idx="30">
                <c:v>21.793782</c:v>
              </c:pt>
              <c:pt idx="31">
                <c:v>21.814543</c:v>
              </c:pt>
              <c:pt idx="32">
                <c:v>21.833239</c:v>
              </c:pt>
              <c:pt idx="33">
                <c:v>21.850071</c:v>
              </c:pt>
              <c:pt idx="34">
                <c:v>21.865221</c:v>
              </c:pt>
              <c:pt idx="35">
                <c:v>21.878853</c:v>
              </c:pt>
              <c:pt idx="36">
                <c:v>21.891118</c:v>
              </c:pt>
              <c:pt idx="37">
                <c:v>21.902149</c:v>
              </c:pt>
              <c:pt idx="38">
                <c:v>21.91207</c:v>
              </c:pt>
              <c:pt idx="39">
                <c:v>21.920991</c:v>
              </c:pt>
              <c:pt idx="40">
                <c:v>21.929012</c:v>
              </c:pt>
              <c:pt idx="41">
                <c:v>21.936222</c:v>
              </c:pt>
              <c:pt idx="42">
                <c:v>21.942703</c:v>
              </c:pt>
              <c:pt idx="43">
                <c:v>21.948527</c:v>
              </c:pt>
              <c:pt idx="44">
                <c:v>21.953762</c:v>
              </c:pt>
              <c:pt idx="45">
                <c:v>21.958466</c:v>
              </c:pt>
              <c:pt idx="46">
                <c:v>21.962692</c:v>
              </c:pt>
              <c:pt idx="47">
                <c:v>21.96649</c:v>
              </c:pt>
              <c:pt idx="48">
                <c:v>21.969902</c:v>
              </c:pt>
              <c:pt idx="49">
                <c:v>21.972967</c:v>
              </c:pt>
              <c:pt idx="50">
                <c:v>21.975721</c:v>
              </c:pt>
              <c:pt idx="51">
                <c:v>21.978194</c:v>
              </c:pt>
              <c:pt idx="52">
                <c:v>21.980416</c:v>
              </c:pt>
              <c:pt idx="53">
                <c:v>21.982412</c:v>
              </c:pt>
              <c:pt idx="54">
                <c:v>21.984205</c:v>
              </c:pt>
              <c:pt idx="55">
                <c:v>21.985815</c:v>
              </c:pt>
              <c:pt idx="56">
                <c:v>21.987261</c:v>
              </c:pt>
              <c:pt idx="57">
                <c:v>21.98856</c:v>
              </c:pt>
              <c:pt idx="58">
                <c:v>21.989726</c:v>
              </c:pt>
              <c:pt idx="59">
                <c:v>21.990774</c:v>
              </c:pt>
              <c:pt idx="60">
                <c:v>21.991715</c:v>
              </c:pt>
              <c:pt idx="61">
                <c:v>21.99256</c:v>
              </c:pt>
              <c:pt idx="62">
                <c:v>21.993319</c:v>
              </c:pt>
              <c:pt idx="63">
                <c:v>21.994</c:v>
              </c:pt>
              <c:pt idx="64">
                <c:v>21.994612</c:v>
              </c:pt>
              <c:pt idx="65">
                <c:v>21.995162</c:v>
              </c:pt>
              <c:pt idx="66">
                <c:v>21.995655</c:v>
              </c:pt>
              <c:pt idx="67">
                <c:v>21.996098</c:v>
              </c:pt>
              <c:pt idx="68">
                <c:v>21.996496</c:v>
              </c:pt>
              <c:pt idx="69">
                <c:v>21.996854</c:v>
              </c:pt>
              <c:pt idx="70">
                <c:v>21.997175</c:v>
              </c:pt>
              <c:pt idx="71">
                <c:v>21.997463</c:v>
              </c:pt>
              <c:pt idx="72">
                <c:v>21.997722</c:v>
              </c:pt>
              <c:pt idx="73">
                <c:v>21.997954</c:v>
              </c:pt>
              <c:pt idx="74">
                <c:v>21.998163</c:v>
              </c:pt>
              <c:pt idx="75">
                <c:v>21.99835</c:v>
              </c:pt>
              <c:pt idx="76">
                <c:v>21.998519</c:v>
              </c:pt>
              <c:pt idx="77">
                <c:v>21.99867</c:v>
              </c:pt>
              <c:pt idx="78">
                <c:v>21.998806</c:v>
              </c:pt>
              <c:pt idx="79">
                <c:v>21.998927</c:v>
              </c:pt>
              <c:pt idx="80">
                <c:v>21.999037</c:v>
              </c:pt>
              <c:pt idx="81">
                <c:v>21.999135</c:v>
              </c:pt>
              <c:pt idx="82">
                <c:v>21.999223</c:v>
              </c:pt>
              <c:pt idx="83">
                <c:v>21.999303</c:v>
              </c:pt>
              <c:pt idx="84">
                <c:v>21.999374</c:v>
              </c:pt>
              <c:pt idx="85">
                <c:v>21.999438</c:v>
              </c:pt>
              <c:pt idx="86">
                <c:v>21.999495</c:v>
              </c:pt>
              <c:pt idx="87">
                <c:v>21.999547</c:v>
              </c:pt>
              <c:pt idx="88">
                <c:v>21.999593</c:v>
              </c:pt>
              <c:pt idx="89">
                <c:v>21.999634</c:v>
              </c:pt>
              <c:pt idx="90">
                <c:v>21.999672</c:v>
              </c:pt>
              <c:pt idx="91">
                <c:v>21.999705</c:v>
              </c:pt>
              <c:pt idx="92">
                <c:v>21.999735</c:v>
              </c:pt>
              <c:pt idx="93">
                <c:v>21.999762</c:v>
              </c:pt>
              <c:pt idx="94">
                <c:v>21.999787</c:v>
              </c:pt>
              <c:pt idx="95">
                <c:v>21.999808</c:v>
              </c:pt>
              <c:pt idx="96">
                <c:v>21.999828</c:v>
              </c:pt>
              <c:pt idx="97">
                <c:v>21.999845</c:v>
              </c:pt>
              <c:pt idx="98">
                <c:v>21.999861</c:v>
              </c:pt>
              <c:pt idx="99">
                <c:v>21.999875</c:v>
              </c:pt>
              <c:pt idx="100">
                <c:v>21.999888</c:v>
              </c:pt>
              <c:pt idx="101">
                <c:v>21.9999</c:v>
              </c:pt>
              <c:pt idx="102">
                <c:v>21.99991</c:v>
              </c:pt>
              <c:pt idx="103">
                <c:v>21.999919</c:v>
              </c:pt>
              <c:pt idx="104">
                <c:v>21.999927</c:v>
              </c:pt>
              <c:pt idx="105">
                <c:v>21.999935</c:v>
              </c:pt>
              <c:pt idx="106">
                <c:v>21.999941</c:v>
              </c:pt>
              <c:pt idx="107">
                <c:v>21.999947</c:v>
              </c:pt>
              <c:pt idx="108">
                <c:v>21.999953</c:v>
              </c:pt>
              <c:pt idx="109">
                <c:v>21.999958</c:v>
              </c:pt>
              <c:pt idx="110">
                <c:v>21.999962</c:v>
              </c:pt>
              <c:pt idx="111">
                <c:v>21.999966</c:v>
              </c:pt>
              <c:pt idx="112">
                <c:v>21.999969</c:v>
              </c:pt>
              <c:pt idx="113">
                <c:v>21.999972</c:v>
              </c:pt>
              <c:pt idx="114">
                <c:v>21.999975</c:v>
              </c:pt>
              <c:pt idx="115">
                <c:v>21.999978</c:v>
              </c:pt>
              <c:pt idx="116">
                <c:v>21.99998</c:v>
              </c:pt>
              <c:pt idx="117">
                <c:v>21.999982</c:v>
              </c:pt>
              <c:pt idx="118">
                <c:v>21.999984</c:v>
              </c:pt>
              <c:pt idx="119">
                <c:v>21.999986</c:v>
              </c:pt>
              <c:pt idx="120">
                <c:v>21.999987</c:v>
              </c:pt>
            </c:numLit>
          </c:yVal>
        </c:ser>
        <c:ser>
          <c:idx val="1"/>
          <c:order val="1"/>
          <c:tx>
            <c:v>r</c:v>
          </c:tx>
          <c:spPr>
            <a:ln xmlns:a="http://schemas.openxmlformats.org/drawingml/2006/main" w="28575">
              <a:solidFill>
                <a:srgbClr val="73808A"/>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22</c:v>
              </c:pt>
              <c:pt idx="1">
                <c:v>22</c:v>
              </c:pt>
              <c:pt idx="2">
                <c:v>22</c:v>
              </c:pt>
              <c:pt idx="3">
                <c:v>22</c:v>
              </c:pt>
              <c:pt idx="4">
                <c:v>22</c:v>
              </c:pt>
              <c:pt idx="5">
                <c:v>22</c:v>
              </c:pt>
              <c:pt idx="6">
                <c:v>22</c:v>
              </c:pt>
              <c:pt idx="7">
                <c:v>22</c:v>
              </c:pt>
              <c:pt idx="8">
                <c:v>22</c:v>
              </c:pt>
              <c:pt idx="9">
                <c:v>22</c:v>
              </c:pt>
              <c:pt idx="10">
                <c:v>22</c:v>
              </c:pt>
              <c:pt idx="11">
                <c:v>22</c:v>
              </c:pt>
              <c:pt idx="12">
                <c:v>22</c:v>
              </c:pt>
              <c:pt idx="13">
                <c:v>22</c:v>
              </c:pt>
              <c:pt idx="14">
                <c:v>22</c:v>
              </c:pt>
              <c:pt idx="15">
                <c:v>22</c:v>
              </c:pt>
              <c:pt idx="16">
                <c:v>22</c:v>
              </c:pt>
              <c:pt idx="17">
                <c:v>22</c:v>
              </c:pt>
              <c:pt idx="18">
                <c:v>22</c:v>
              </c:pt>
              <c:pt idx="19">
                <c:v>22</c:v>
              </c:pt>
              <c:pt idx="20">
                <c:v>22</c:v>
              </c:pt>
              <c:pt idx="21">
                <c:v>22</c:v>
              </c:pt>
              <c:pt idx="22">
                <c:v>22</c:v>
              </c:pt>
              <c:pt idx="23">
                <c:v>22</c:v>
              </c:pt>
              <c:pt idx="24">
                <c:v>22</c:v>
              </c:pt>
              <c:pt idx="25">
                <c:v>22</c:v>
              </c:pt>
              <c:pt idx="26">
                <c:v>22</c:v>
              </c:pt>
              <c:pt idx="27">
                <c:v>22</c:v>
              </c:pt>
              <c:pt idx="28">
                <c:v>22</c:v>
              </c:pt>
              <c:pt idx="29">
                <c:v>22</c:v>
              </c:pt>
              <c:pt idx="30">
                <c:v>22</c:v>
              </c:pt>
              <c:pt idx="31">
                <c:v>22</c:v>
              </c:pt>
              <c:pt idx="32">
                <c:v>22</c:v>
              </c:pt>
              <c:pt idx="33">
                <c:v>22</c:v>
              </c:pt>
              <c:pt idx="34">
                <c:v>22</c:v>
              </c:pt>
              <c:pt idx="35">
                <c:v>22</c:v>
              </c:pt>
              <c:pt idx="36">
                <c:v>22</c:v>
              </c:pt>
              <c:pt idx="37">
                <c:v>22</c:v>
              </c:pt>
              <c:pt idx="38">
                <c:v>22</c:v>
              </c:pt>
              <c:pt idx="39">
                <c:v>22</c:v>
              </c:pt>
              <c:pt idx="40">
                <c:v>22</c:v>
              </c:pt>
              <c:pt idx="41">
                <c:v>22</c:v>
              </c:pt>
              <c:pt idx="42">
                <c:v>22</c:v>
              </c:pt>
              <c:pt idx="43">
                <c:v>22</c:v>
              </c:pt>
              <c:pt idx="44">
                <c:v>22</c:v>
              </c:pt>
              <c:pt idx="45">
                <c:v>22</c:v>
              </c:pt>
              <c:pt idx="46">
                <c:v>22</c:v>
              </c:pt>
              <c:pt idx="47">
                <c:v>22</c:v>
              </c:pt>
              <c:pt idx="48">
                <c:v>22</c:v>
              </c:pt>
              <c:pt idx="49">
                <c:v>22</c:v>
              </c:pt>
              <c:pt idx="50">
                <c:v>22</c:v>
              </c:pt>
              <c:pt idx="51">
                <c:v>22</c:v>
              </c:pt>
              <c:pt idx="52">
                <c:v>22</c:v>
              </c:pt>
              <c:pt idx="53">
                <c:v>22</c:v>
              </c:pt>
              <c:pt idx="54">
                <c:v>22</c:v>
              </c:pt>
              <c:pt idx="55">
                <c:v>22</c:v>
              </c:pt>
              <c:pt idx="56">
                <c:v>22</c:v>
              </c:pt>
              <c:pt idx="57">
                <c:v>22</c:v>
              </c:pt>
              <c:pt idx="58">
                <c:v>22</c:v>
              </c:pt>
              <c:pt idx="59">
                <c:v>22</c:v>
              </c:pt>
              <c:pt idx="60">
                <c:v>22</c:v>
              </c:pt>
              <c:pt idx="61">
                <c:v>22</c:v>
              </c:pt>
              <c:pt idx="62">
                <c:v>22</c:v>
              </c:pt>
              <c:pt idx="63">
                <c:v>22</c:v>
              </c:pt>
              <c:pt idx="64">
                <c:v>22</c:v>
              </c:pt>
              <c:pt idx="65">
                <c:v>22</c:v>
              </c:pt>
              <c:pt idx="66">
                <c:v>22</c:v>
              </c:pt>
              <c:pt idx="67">
                <c:v>22</c:v>
              </c:pt>
              <c:pt idx="68">
                <c:v>22</c:v>
              </c:pt>
              <c:pt idx="69">
                <c:v>22</c:v>
              </c:pt>
              <c:pt idx="70">
                <c:v>22</c:v>
              </c:pt>
              <c:pt idx="71">
                <c:v>22</c:v>
              </c:pt>
              <c:pt idx="72">
                <c:v>22</c:v>
              </c:pt>
              <c:pt idx="73">
                <c:v>22</c:v>
              </c:pt>
              <c:pt idx="74">
                <c:v>22</c:v>
              </c:pt>
              <c:pt idx="75">
                <c:v>22</c:v>
              </c:pt>
              <c:pt idx="76">
                <c:v>22</c:v>
              </c:pt>
              <c:pt idx="77">
                <c:v>22</c:v>
              </c:pt>
              <c:pt idx="78">
                <c:v>22</c:v>
              </c:pt>
              <c:pt idx="79">
                <c:v>22</c:v>
              </c:pt>
              <c:pt idx="80">
                <c:v>22</c:v>
              </c:pt>
              <c:pt idx="81">
                <c:v>22</c:v>
              </c:pt>
              <c:pt idx="82">
                <c:v>22</c:v>
              </c:pt>
              <c:pt idx="83">
                <c:v>22</c:v>
              </c:pt>
              <c:pt idx="84">
                <c:v>22</c:v>
              </c:pt>
              <c:pt idx="85">
                <c:v>22</c:v>
              </c:pt>
              <c:pt idx="86">
                <c:v>22</c:v>
              </c:pt>
              <c:pt idx="87">
                <c:v>22</c:v>
              </c:pt>
              <c:pt idx="88">
                <c:v>22</c:v>
              </c:pt>
              <c:pt idx="89">
                <c:v>22</c:v>
              </c:pt>
              <c:pt idx="90">
                <c:v>22</c:v>
              </c:pt>
              <c:pt idx="91">
                <c:v>22</c:v>
              </c:pt>
              <c:pt idx="92">
                <c:v>22</c:v>
              </c:pt>
              <c:pt idx="93">
                <c:v>22</c:v>
              </c:pt>
              <c:pt idx="94">
                <c:v>22</c:v>
              </c:pt>
              <c:pt idx="95">
                <c:v>22</c:v>
              </c:pt>
              <c:pt idx="96">
                <c:v>22</c:v>
              </c:pt>
              <c:pt idx="97">
                <c:v>22</c:v>
              </c:pt>
              <c:pt idx="98">
                <c:v>22</c:v>
              </c:pt>
              <c:pt idx="99">
                <c:v>22</c:v>
              </c:pt>
              <c:pt idx="100">
                <c:v>22</c:v>
              </c:pt>
              <c:pt idx="101">
                <c:v>22</c:v>
              </c:pt>
              <c:pt idx="102">
                <c:v>22</c:v>
              </c:pt>
              <c:pt idx="103">
                <c:v>22</c:v>
              </c:pt>
              <c:pt idx="104">
                <c:v>22</c:v>
              </c:pt>
              <c:pt idx="105">
                <c:v>22</c:v>
              </c:pt>
              <c:pt idx="106">
                <c:v>22</c:v>
              </c:pt>
              <c:pt idx="107">
                <c:v>22</c:v>
              </c:pt>
              <c:pt idx="108">
                <c:v>22</c:v>
              </c:pt>
              <c:pt idx="109">
                <c:v>22</c:v>
              </c:pt>
              <c:pt idx="110">
                <c:v>22</c:v>
              </c:pt>
              <c:pt idx="111">
                <c:v>22</c:v>
              </c:pt>
              <c:pt idx="112">
                <c:v>22</c:v>
              </c:pt>
              <c:pt idx="113">
                <c:v>22</c:v>
              </c:pt>
              <c:pt idx="114">
                <c:v>22</c:v>
              </c:pt>
              <c:pt idx="115">
                <c:v>22</c:v>
              </c:pt>
              <c:pt idx="116">
                <c:v>22</c:v>
              </c:pt>
              <c:pt idx="117">
                <c:v>22</c:v>
              </c:pt>
              <c:pt idx="118">
                <c:v>22</c:v>
              </c:pt>
              <c:pt idx="119">
                <c:v>22</c:v>
              </c:pt>
              <c:pt idx="120">
                <c:v>22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3"/>
          <c:min val="18"/>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Temperatura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38.xml><?xml version="1.0" encoding="utf-8"?>
<c:chartSpace xmlns:c="http://schemas.openxmlformats.org/drawingml/2006/chart">
  <c:lang val="en-US"/>
  <c:chart>
    <c:plotArea>
      <c:scatterChart>
        <c:ser>
          <c:idx val="0"/>
          <c:order val="0"/>
          <c:tx>
            <c:v>u</c:v>
          </c:tx>
          <c:spPr>
            <a:ln xmlns:a="http://schemas.openxmlformats.org/drawingml/2006/main" w="28575">
              <a:solidFill>
                <a:srgbClr val="D96B18"/>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60</c:v>
              </c:pt>
              <c:pt idx="1">
                <c:v>27.440988</c:v>
              </c:pt>
              <c:pt idx="2">
                <c:v>33.293565</c:v>
              </c:pt>
              <c:pt idx="3">
                <c:v>31.189495</c:v>
              </c:pt>
              <c:pt idx="4">
                <c:v>30.897261</c:v>
              </c:pt>
              <c:pt idx="5">
                <c:v>30.24267</c:v>
              </c:pt>
              <c:pt idx="6">
                <c:v>29.641799</c:v>
              </c:pt>
              <c:pt idx="7">
                <c:v>29.036885</c:v>
              </c:pt>
              <c:pt idx="8">
                <c:v>28.442204</c:v>
              </c:pt>
              <c:pt idx="9">
                <c:v>27.861652</c:v>
              </c:pt>
              <c:pt idx="10">
                <c:v>27.299343</c:v>
              </c:pt>
              <c:pt idx="11">
                <c:v>26.758486</c:v>
              </c:pt>
              <c:pt idx="12">
                <c:v>26.241545</c:v>
              </c:pt>
              <c:pt idx="13">
                <c:v>25.750298</c:v>
              </c:pt>
              <c:pt idx="14">
                <c:v>25.285907</c:v>
              </c:pt>
              <c:pt idx="15">
                <c:v>24.848994</c:v>
              </c:pt>
              <c:pt idx="16">
                <c:v>24.439717</c:v>
              </c:pt>
              <c:pt idx="17">
                <c:v>24.057845</c:v>
              </c:pt>
              <c:pt idx="18">
                <c:v>23.702829</c:v>
              </c:pt>
              <c:pt idx="19">
                <c:v>23.373862</c:v>
              </c:pt>
              <c:pt idx="20">
                <c:v>23.069946</c:v>
              </c:pt>
              <c:pt idx="21">
                <c:v>22.789935</c:v>
              </c:pt>
              <c:pt idx="22">
                <c:v>22.532588</c:v>
              </c:pt>
              <c:pt idx="23">
                <c:v>22.2966</c:v>
              </c:pt>
              <c:pt idx="24">
                <c:v>22.08064</c:v>
              </c:pt>
              <c:pt idx="25">
                <c:v>21.883373</c:v>
              </c:pt>
              <c:pt idx="26">
                <c:v>21.703482</c:v>
              </c:pt>
              <c:pt idx="27">
                <c:v>21.539686</c:v>
              </c:pt>
              <c:pt idx="28">
                <c:v>21.390749</c:v>
              </c:pt>
              <c:pt idx="29">
                <c:v>21.25549</c:v>
              </c:pt>
              <c:pt idx="30">
                <c:v>21.132792</c:v>
              </c:pt>
              <c:pt idx="31">
                <c:v>21.0216</c:v>
              </c:pt>
              <c:pt idx="32">
                <c:v>20.920928</c:v>
              </c:pt>
              <c:pt idx="33">
                <c:v>20.829854</c:v>
              </c:pt>
              <c:pt idx="34">
                <c:v>20.747526</c:v>
              </c:pt>
              <c:pt idx="35">
                <c:v>20.673154</c:v>
              </c:pt>
              <c:pt idx="36">
                <c:v>20.606008</c:v>
              </c:pt>
              <c:pt idx="37">
                <c:v>20.545421</c:v>
              </c:pt>
              <c:pt idx="38">
                <c:v>20.490777</c:v>
              </c:pt>
              <c:pt idx="39">
                <c:v>20.441517</c:v>
              </c:pt>
              <c:pt idx="40">
                <c:v>20.397126</c:v>
              </c:pt>
              <c:pt idx="41">
                <c:v>20.357138</c:v>
              </c:pt>
              <c:pt idx="42">
                <c:v>20.321128</c:v>
              </c:pt>
              <c:pt idx="43">
                <c:v>20.28871</c:v>
              </c:pt>
              <c:pt idx="44">
                <c:v>20.259532</c:v>
              </c:pt>
              <c:pt idx="45">
                <c:v>20.233277</c:v>
              </c:pt>
              <c:pt idx="46">
                <c:v>20.209658</c:v>
              </c:pt>
              <c:pt idx="47">
                <c:v>20.188413</c:v>
              </c:pt>
              <c:pt idx="48">
                <c:v>20.169307</c:v>
              </c:pt>
              <c:pt idx="49">
                <c:v>20.152128</c:v>
              </c:pt>
              <c:pt idx="50">
                <c:v>20.136683</c:v>
              </c:pt>
              <c:pt idx="51">
                <c:v>20.122799</c:v>
              </c:pt>
              <c:pt idx="52">
                <c:v>20.110319</c:v>
              </c:pt>
              <c:pt idx="53">
                <c:v>20.099103</c:v>
              </c:pt>
              <c:pt idx="54">
                <c:v>20.089024</c:v>
              </c:pt>
              <c:pt idx="55">
                <c:v>20.079967</c:v>
              </c:pt>
              <c:pt idx="56">
                <c:v>20.071828</c:v>
              </c:pt>
              <c:pt idx="57">
                <c:v>20.064516</c:v>
              </c:pt>
              <c:pt idx="58">
                <c:v>20.057947</c:v>
              </c:pt>
              <c:pt idx="59">
                <c:v>20.052045</c:v>
              </c:pt>
              <c:pt idx="60">
                <c:v>20.046744</c:v>
              </c:pt>
              <c:pt idx="61">
                <c:v>20.041981</c:v>
              </c:pt>
              <c:pt idx="62">
                <c:v>20.037704</c:v>
              </c:pt>
              <c:pt idx="63">
                <c:v>20.033861</c:v>
              </c:pt>
              <c:pt idx="64">
                <c:v>20.03041</c:v>
              </c:pt>
              <c:pt idx="65">
                <c:v>20.02731</c:v>
              </c:pt>
              <c:pt idx="66">
                <c:v>20.024526</c:v>
              </c:pt>
              <c:pt idx="67">
                <c:v>20.022025</c:v>
              </c:pt>
              <c:pt idx="68">
                <c:v>20.019779</c:v>
              </c:pt>
              <c:pt idx="69">
                <c:v>20.017762</c:v>
              </c:pt>
              <c:pt idx="70">
                <c:v>20.015951</c:v>
              </c:pt>
              <c:pt idx="71">
                <c:v>20.014324</c:v>
              </c:pt>
              <c:pt idx="72">
                <c:v>20.012863</c:v>
              </c:pt>
              <c:pt idx="73">
                <c:v>20.011551</c:v>
              </c:pt>
              <c:pt idx="74">
                <c:v>20.010373</c:v>
              </c:pt>
              <c:pt idx="75">
                <c:v>20.009315</c:v>
              </c:pt>
              <c:pt idx="76">
                <c:v>20.008365</c:v>
              </c:pt>
              <c:pt idx="77">
                <c:v>20.007511</c:v>
              </c:pt>
              <c:pt idx="78">
                <c:v>20.006745</c:v>
              </c:pt>
              <c:pt idx="79">
                <c:v>20.006057</c:v>
              </c:pt>
              <c:pt idx="80">
                <c:v>20.005439</c:v>
              </c:pt>
              <c:pt idx="81">
                <c:v>20.004884</c:v>
              </c:pt>
              <c:pt idx="82">
                <c:v>20.004386</c:v>
              </c:pt>
              <c:pt idx="83">
                <c:v>20.003938</c:v>
              </c:pt>
              <c:pt idx="84">
                <c:v>20.003536</c:v>
              </c:pt>
              <c:pt idx="85">
                <c:v>20.003176</c:v>
              </c:pt>
              <c:pt idx="86">
                <c:v>20.002852</c:v>
              </c:pt>
              <c:pt idx="87">
                <c:v>20.002561</c:v>
              </c:pt>
              <c:pt idx="88">
                <c:v>20.002299</c:v>
              </c:pt>
              <c:pt idx="89">
                <c:v>20.002065</c:v>
              </c:pt>
              <c:pt idx="90">
                <c:v>20.001854</c:v>
              </c:pt>
              <c:pt idx="91">
                <c:v>20.001665</c:v>
              </c:pt>
              <c:pt idx="92">
                <c:v>20.001495</c:v>
              </c:pt>
              <c:pt idx="93">
                <c:v>20.001343</c:v>
              </c:pt>
              <c:pt idx="94">
                <c:v>20.001206</c:v>
              </c:pt>
              <c:pt idx="95">
                <c:v>20.001083</c:v>
              </c:pt>
              <c:pt idx="96">
                <c:v>20.000972</c:v>
              </c:pt>
              <c:pt idx="97">
                <c:v>20.000873</c:v>
              </c:pt>
              <c:pt idx="98">
                <c:v>20.000784</c:v>
              </c:pt>
              <c:pt idx="99">
                <c:v>20.000704</c:v>
              </c:pt>
              <c:pt idx="100">
                <c:v>20.000632</c:v>
              </c:pt>
              <c:pt idx="101">
                <c:v>20.000568</c:v>
              </c:pt>
              <c:pt idx="102">
                <c:v>20.00051</c:v>
              </c:pt>
              <c:pt idx="103">
                <c:v>20.000458</c:v>
              </c:pt>
              <c:pt idx="104">
                <c:v>20.000411</c:v>
              </c:pt>
              <c:pt idx="105">
                <c:v>20.000369</c:v>
              </c:pt>
              <c:pt idx="106">
                <c:v>20.000331</c:v>
              </c:pt>
              <c:pt idx="107">
                <c:v>20.000298</c:v>
              </c:pt>
              <c:pt idx="108">
                <c:v>20.000267</c:v>
              </c:pt>
              <c:pt idx="109">
                <c:v>20.00024</c:v>
              </c:pt>
              <c:pt idx="110">
                <c:v>20.000215</c:v>
              </c:pt>
              <c:pt idx="111">
                <c:v>20.000193</c:v>
              </c:pt>
              <c:pt idx="112">
                <c:v>20.000174</c:v>
              </c:pt>
              <c:pt idx="113">
                <c:v>20.000156</c:v>
              </c:pt>
              <c:pt idx="114">
                <c:v>20.00014</c:v>
              </c:pt>
              <c:pt idx="115">
                <c:v>20.000126</c:v>
              </c:pt>
              <c:pt idx="116">
                <c:v>20.000113</c:v>
              </c:pt>
              <c:pt idx="117">
                <c:v>20.000101</c:v>
              </c:pt>
              <c:pt idx="118">
                <c:v>20.000091</c:v>
              </c:pt>
              <c:pt idx="119">
                <c:v>20.000082</c:v>
              </c:pt>
              <c:pt idx="120">
                <c:v>20.000073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Potencia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39.xml><?xml version="1.0" encoding="utf-8"?>
<c:chartSpace xmlns:c="http://schemas.openxmlformats.org/drawingml/2006/chart">
  <c:lang val="en-US"/>
  <c:chart>
    <c:plotArea>
      <c:scatterChart>
        <c:ser>
          <c:idx val="0"/>
          <c:order val="0"/>
          <c:tx>
            <c:v>T</c:v>
          </c:tx>
          <c:spPr>
            <a:ln xmlns:a="http://schemas.openxmlformats.org/drawingml/2006/main" w="28575">
              <a:solidFill>
                <a:srgbClr val="2162A0"/>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18</c:v>
              </c:pt>
              <c:pt idx="1">
                <c:v>18.365267</c:v>
              </c:pt>
              <c:pt idx="2">
                <c:v>18.65749</c:v>
              </c:pt>
              <c:pt idx="3">
                <c:v>18.938601</c:v>
              </c:pt>
              <c:pt idx="4">
                <c:v>19.19817</c:v>
              </c:pt>
              <c:pt idx="5">
                <c:v>19.439542</c:v>
              </c:pt>
              <c:pt idx="6">
                <c:v>19.663073</c:v>
              </c:pt>
              <c:pt idx="7">
                <c:v>19.869711</c:v>
              </c:pt>
              <c:pt idx="8">
                <c:v>20.060332</c:v>
              </c:pt>
              <c:pt idx="9">
                <c:v>20.235833</c:v>
              </c:pt>
              <c:pt idx="10">
                <c:v>20.397112</c:v>
              </c:pt>
              <c:pt idx="11">
                <c:v>20.545058</c:v>
              </c:pt>
              <c:pt idx="12">
                <c:v>20.680544</c:v>
              </c:pt>
              <c:pt idx="13">
                <c:v>20.804424</c:v>
              </c:pt>
              <c:pt idx="14">
                <c:v>20.917523</c:v>
              </c:pt>
              <c:pt idx="15">
                <c:v>21.020635</c:v>
              </c:pt>
              <c:pt idx="16">
                <c:v>21.114521</c:v>
              </c:pt>
              <c:pt idx="17">
                <c:v>21.199903</c:v>
              </c:pt>
              <c:pt idx="18">
                <c:v>21.277464</c:v>
              </c:pt>
              <c:pt idx="19">
                <c:v>21.347847</c:v>
              </c:pt>
              <c:pt idx="20">
                <c:v>21.411657</c:v>
              </c:pt>
              <c:pt idx="21">
                <c:v>21.469456</c:v>
              </c:pt>
              <c:pt idx="22">
                <c:v>21.521768</c:v>
              </c:pt>
              <c:pt idx="23">
                <c:v>21.56908</c:v>
              </c:pt>
              <c:pt idx="24">
                <c:v>21.61184</c:v>
              </c:pt>
              <c:pt idx="25">
                <c:v>21.650463</c:v>
              </c:pt>
              <c:pt idx="26">
                <c:v>21.685329</c:v>
              </c:pt>
              <c:pt idx="27">
                <c:v>21.716787</c:v>
              </c:pt>
              <c:pt idx="28">
                <c:v>21.745159</c:v>
              </c:pt>
              <c:pt idx="29">
                <c:v>21.770734</c:v>
              </c:pt>
              <c:pt idx="30">
                <c:v>21.793782</c:v>
              </c:pt>
              <c:pt idx="31">
                <c:v>21.814543</c:v>
              </c:pt>
              <c:pt idx="32">
                <c:v>21.833239</c:v>
              </c:pt>
              <c:pt idx="33">
                <c:v>21.850071</c:v>
              </c:pt>
              <c:pt idx="34">
                <c:v>21.865221</c:v>
              </c:pt>
              <c:pt idx="35">
                <c:v>21.878853</c:v>
              </c:pt>
              <c:pt idx="36">
                <c:v>21.891118</c:v>
              </c:pt>
              <c:pt idx="37">
                <c:v>21.902149</c:v>
              </c:pt>
              <c:pt idx="38">
                <c:v>21.91207</c:v>
              </c:pt>
              <c:pt idx="39">
                <c:v>21.920991</c:v>
              </c:pt>
              <c:pt idx="40">
                <c:v>21.929012</c:v>
              </c:pt>
              <c:pt idx="41">
                <c:v>21.875206</c:v>
              </c:pt>
              <c:pt idx="42">
                <c:v>21.83403</c:v>
              </c:pt>
              <c:pt idx="43">
                <c:v>21.793184</c:v>
              </c:pt>
              <c:pt idx="44">
                <c:v>21.756663</c:v>
              </c:pt>
              <c:pt idx="45">
                <c:v>21.722688</c:v>
              </c:pt>
              <c:pt idx="46">
                <c:v>21.691566</c:v>
              </c:pt>
              <c:pt idx="47">
                <c:v>21.662886</c:v>
              </c:pt>
              <c:pt idx="48">
                <c:v>21.636519</c:v>
              </c:pt>
              <c:pt idx="49">
                <c:v>21.612255</c:v>
              </c:pt>
              <c:pt idx="50">
                <c:v>21.589936</c:v>
              </c:pt>
              <c:pt idx="51">
                <c:v>21.569401</c:v>
              </c:pt>
              <c:pt idx="52">
                <c:v>21.55051</c:v>
              </c:pt>
              <c:pt idx="53">
                <c:v>21.533131</c:v>
              </c:pt>
              <c:pt idx="54">
                <c:v>21.517143</c:v>
              </c:pt>
              <c:pt idx="55">
                <c:v>21.502434</c:v>
              </c:pt>
              <c:pt idx="56">
                <c:v>21.488902</c:v>
              </c:pt>
              <c:pt idx="57">
                <c:v>21.476453</c:v>
              </c:pt>
              <c:pt idx="58">
                <c:v>21.465</c:v>
              </c:pt>
              <c:pt idx="59">
                <c:v>21.454464</c:v>
              </c:pt>
              <c:pt idx="60">
                <c:v>21.44477</c:v>
              </c:pt>
              <c:pt idx="61">
                <c:v>21.435853</c:v>
              </c:pt>
              <c:pt idx="62">
                <c:v>21.427649</c:v>
              </c:pt>
              <c:pt idx="63">
                <c:v>21.420101</c:v>
              </c:pt>
              <c:pt idx="64">
                <c:v>21.413158</c:v>
              </c:pt>
              <c:pt idx="65">
                <c:v>21.40677</c:v>
              </c:pt>
              <c:pt idx="66">
                <c:v>21.400894</c:v>
              </c:pt>
              <c:pt idx="67">
                <c:v>21.395487</c:v>
              </c:pt>
              <c:pt idx="68">
                <c:v>21.390513</c:v>
              </c:pt>
              <c:pt idx="69">
                <c:v>21.385938</c:v>
              </c:pt>
              <c:pt idx="70">
                <c:v>21.381728</c:v>
              </c:pt>
              <c:pt idx="71">
                <c:v>21.377855</c:v>
              </c:pt>
              <c:pt idx="72">
                <c:v>21.374293</c:v>
              </c:pt>
              <c:pt idx="73">
                <c:v>21.371015</c:v>
              </c:pt>
              <c:pt idx="74">
                <c:v>21.368</c:v>
              </c:pt>
              <c:pt idx="75">
                <c:v>21.365225</c:v>
              </c:pt>
              <c:pt idx="76">
                <c:v>21.362673</c:v>
              </c:pt>
              <c:pt idx="77">
                <c:v>21.360325</c:v>
              </c:pt>
              <c:pt idx="78">
                <c:v>21.358165</c:v>
              </c:pt>
              <c:pt idx="79">
                <c:v>21.356178</c:v>
              </c:pt>
              <c:pt idx="80">
                <c:v>21.35435</c:v>
              </c:pt>
              <c:pt idx="81">
                <c:v>21.352668</c:v>
              </c:pt>
              <c:pt idx="82">
                <c:v>21.351121</c:v>
              </c:pt>
              <c:pt idx="83">
                <c:v>21.349698</c:v>
              </c:pt>
              <c:pt idx="84">
                <c:v>21.348388</c:v>
              </c:pt>
              <c:pt idx="85">
                <c:v>21.347183</c:v>
              </c:pt>
              <c:pt idx="86">
                <c:v>21.346075</c:v>
              </c:pt>
              <c:pt idx="87">
                <c:v>21.345055</c:v>
              </c:pt>
              <c:pt idx="88">
                <c:v>21.344117</c:v>
              </c:pt>
              <c:pt idx="89">
                <c:v>21.343254</c:v>
              </c:pt>
              <c:pt idx="90">
                <c:v>21.342461</c:v>
              </c:pt>
              <c:pt idx="91">
                <c:v>21.34173</c:v>
              </c:pt>
              <c:pt idx="92">
                <c:v>21.341058</c:v>
              </c:pt>
              <c:pt idx="93">
                <c:v>21.34044</c:v>
              </c:pt>
              <c:pt idx="94">
                <c:v>21.339871</c:v>
              </c:pt>
              <c:pt idx="95">
                <c:v>21.339348</c:v>
              </c:pt>
              <c:pt idx="96">
                <c:v>21.338867</c:v>
              </c:pt>
              <c:pt idx="97">
                <c:v>21.338424</c:v>
              </c:pt>
              <c:pt idx="98">
                <c:v>21.338017</c:v>
              </c:pt>
              <c:pt idx="99">
                <c:v>21.337642</c:v>
              </c:pt>
              <c:pt idx="100">
                <c:v>21.337297</c:v>
              </c:pt>
              <c:pt idx="101">
                <c:v>21.33698</c:v>
              </c:pt>
              <c:pt idx="102">
                <c:v>21.336688</c:v>
              </c:pt>
              <c:pt idx="103">
                <c:v>21.33642</c:v>
              </c:pt>
              <c:pt idx="104">
                <c:v>21.336173</c:v>
              </c:pt>
              <c:pt idx="105">
                <c:v>21.335945</c:v>
              </c:pt>
              <c:pt idx="106">
                <c:v>21.335736</c:v>
              </c:pt>
              <c:pt idx="107">
                <c:v>21.335544</c:v>
              </c:pt>
              <c:pt idx="108">
                <c:v>21.335367</c:v>
              </c:pt>
              <c:pt idx="109">
                <c:v>21.335204</c:v>
              </c:pt>
              <c:pt idx="110">
                <c:v>21.335055</c:v>
              </c:pt>
              <c:pt idx="111">
                <c:v>21.334917</c:v>
              </c:pt>
              <c:pt idx="112">
                <c:v>21.33479</c:v>
              </c:pt>
              <c:pt idx="113">
                <c:v>21.334674</c:v>
              </c:pt>
              <c:pt idx="114">
                <c:v>21.334566</c:v>
              </c:pt>
              <c:pt idx="115">
                <c:v>21.334468</c:v>
              </c:pt>
              <c:pt idx="116">
                <c:v>21.334377</c:v>
              </c:pt>
              <c:pt idx="117">
                <c:v>21.334293</c:v>
              </c:pt>
              <c:pt idx="118">
                <c:v>21.334217</c:v>
              </c:pt>
              <c:pt idx="119">
                <c:v>21.334146</c:v>
              </c:pt>
              <c:pt idx="120">
                <c:v>21.334081</c:v>
              </c:pt>
            </c:numLit>
          </c:yVal>
        </c:ser>
        <c:ser>
          <c:idx val="1"/>
          <c:order val="1"/>
          <c:tx>
            <c:v>r</c:v>
          </c:tx>
          <c:spPr>
            <a:ln xmlns:a="http://schemas.openxmlformats.org/drawingml/2006/main" w="28575">
              <a:solidFill>
                <a:srgbClr val="D96B18"/>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22</c:v>
              </c:pt>
              <c:pt idx="1">
                <c:v>22</c:v>
              </c:pt>
              <c:pt idx="2">
                <c:v>22</c:v>
              </c:pt>
              <c:pt idx="3">
                <c:v>22</c:v>
              </c:pt>
              <c:pt idx="4">
                <c:v>22</c:v>
              </c:pt>
              <c:pt idx="5">
                <c:v>22</c:v>
              </c:pt>
              <c:pt idx="6">
                <c:v>22</c:v>
              </c:pt>
              <c:pt idx="7">
                <c:v>22</c:v>
              </c:pt>
              <c:pt idx="8">
                <c:v>22</c:v>
              </c:pt>
              <c:pt idx="9">
                <c:v>22</c:v>
              </c:pt>
              <c:pt idx="10">
                <c:v>22</c:v>
              </c:pt>
              <c:pt idx="11">
                <c:v>22</c:v>
              </c:pt>
              <c:pt idx="12">
                <c:v>22</c:v>
              </c:pt>
              <c:pt idx="13">
                <c:v>22</c:v>
              </c:pt>
              <c:pt idx="14">
                <c:v>22</c:v>
              </c:pt>
              <c:pt idx="15">
                <c:v>22</c:v>
              </c:pt>
              <c:pt idx="16">
                <c:v>22</c:v>
              </c:pt>
              <c:pt idx="17">
                <c:v>22</c:v>
              </c:pt>
              <c:pt idx="18">
                <c:v>22</c:v>
              </c:pt>
              <c:pt idx="19">
                <c:v>22</c:v>
              </c:pt>
              <c:pt idx="20">
                <c:v>22</c:v>
              </c:pt>
              <c:pt idx="21">
                <c:v>22</c:v>
              </c:pt>
              <c:pt idx="22">
                <c:v>22</c:v>
              </c:pt>
              <c:pt idx="23">
                <c:v>22</c:v>
              </c:pt>
              <c:pt idx="24">
                <c:v>22</c:v>
              </c:pt>
              <c:pt idx="25">
                <c:v>22</c:v>
              </c:pt>
              <c:pt idx="26">
                <c:v>22</c:v>
              </c:pt>
              <c:pt idx="27">
                <c:v>22</c:v>
              </c:pt>
              <c:pt idx="28">
                <c:v>22</c:v>
              </c:pt>
              <c:pt idx="29">
                <c:v>22</c:v>
              </c:pt>
              <c:pt idx="30">
                <c:v>22</c:v>
              </c:pt>
              <c:pt idx="31">
                <c:v>22</c:v>
              </c:pt>
              <c:pt idx="32">
                <c:v>22</c:v>
              </c:pt>
              <c:pt idx="33">
                <c:v>22</c:v>
              </c:pt>
              <c:pt idx="34">
                <c:v>22</c:v>
              </c:pt>
              <c:pt idx="35">
                <c:v>22</c:v>
              </c:pt>
              <c:pt idx="36">
                <c:v>22</c:v>
              </c:pt>
              <c:pt idx="37">
                <c:v>22</c:v>
              </c:pt>
              <c:pt idx="38">
                <c:v>22</c:v>
              </c:pt>
              <c:pt idx="39">
                <c:v>22</c:v>
              </c:pt>
              <c:pt idx="40">
                <c:v>22</c:v>
              </c:pt>
              <c:pt idx="41">
                <c:v>22</c:v>
              </c:pt>
              <c:pt idx="42">
                <c:v>22</c:v>
              </c:pt>
              <c:pt idx="43">
                <c:v>22</c:v>
              </c:pt>
              <c:pt idx="44">
                <c:v>22</c:v>
              </c:pt>
              <c:pt idx="45">
                <c:v>22</c:v>
              </c:pt>
              <c:pt idx="46">
                <c:v>22</c:v>
              </c:pt>
              <c:pt idx="47">
                <c:v>22</c:v>
              </c:pt>
              <c:pt idx="48">
                <c:v>22</c:v>
              </c:pt>
              <c:pt idx="49">
                <c:v>22</c:v>
              </c:pt>
              <c:pt idx="50">
                <c:v>22</c:v>
              </c:pt>
              <c:pt idx="51">
                <c:v>22</c:v>
              </c:pt>
              <c:pt idx="52">
                <c:v>22</c:v>
              </c:pt>
              <c:pt idx="53">
                <c:v>22</c:v>
              </c:pt>
              <c:pt idx="54">
                <c:v>22</c:v>
              </c:pt>
              <c:pt idx="55">
                <c:v>22</c:v>
              </c:pt>
              <c:pt idx="56">
                <c:v>22</c:v>
              </c:pt>
              <c:pt idx="57">
                <c:v>22</c:v>
              </c:pt>
              <c:pt idx="58">
                <c:v>22</c:v>
              </c:pt>
              <c:pt idx="59">
                <c:v>22</c:v>
              </c:pt>
              <c:pt idx="60">
                <c:v>22</c:v>
              </c:pt>
              <c:pt idx="61">
                <c:v>22</c:v>
              </c:pt>
              <c:pt idx="62">
                <c:v>22</c:v>
              </c:pt>
              <c:pt idx="63">
                <c:v>22</c:v>
              </c:pt>
              <c:pt idx="64">
                <c:v>22</c:v>
              </c:pt>
              <c:pt idx="65">
                <c:v>22</c:v>
              </c:pt>
              <c:pt idx="66">
                <c:v>22</c:v>
              </c:pt>
              <c:pt idx="67">
                <c:v>22</c:v>
              </c:pt>
              <c:pt idx="68">
                <c:v>22</c:v>
              </c:pt>
              <c:pt idx="69">
                <c:v>22</c:v>
              </c:pt>
              <c:pt idx="70">
                <c:v>22</c:v>
              </c:pt>
              <c:pt idx="71">
                <c:v>22</c:v>
              </c:pt>
              <c:pt idx="72">
                <c:v>22</c:v>
              </c:pt>
              <c:pt idx="73">
                <c:v>22</c:v>
              </c:pt>
              <c:pt idx="74">
                <c:v>22</c:v>
              </c:pt>
              <c:pt idx="75">
                <c:v>22</c:v>
              </c:pt>
              <c:pt idx="76">
                <c:v>22</c:v>
              </c:pt>
              <c:pt idx="77">
                <c:v>22</c:v>
              </c:pt>
              <c:pt idx="78">
                <c:v>22</c:v>
              </c:pt>
              <c:pt idx="79">
                <c:v>22</c:v>
              </c:pt>
              <c:pt idx="80">
                <c:v>22</c:v>
              </c:pt>
              <c:pt idx="81">
                <c:v>22</c:v>
              </c:pt>
              <c:pt idx="82">
                <c:v>22</c:v>
              </c:pt>
              <c:pt idx="83">
                <c:v>22</c:v>
              </c:pt>
              <c:pt idx="84">
                <c:v>22</c:v>
              </c:pt>
              <c:pt idx="85">
                <c:v>22</c:v>
              </c:pt>
              <c:pt idx="86">
                <c:v>22</c:v>
              </c:pt>
              <c:pt idx="87">
                <c:v>22</c:v>
              </c:pt>
              <c:pt idx="88">
                <c:v>22</c:v>
              </c:pt>
              <c:pt idx="89">
                <c:v>22</c:v>
              </c:pt>
              <c:pt idx="90">
                <c:v>22</c:v>
              </c:pt>
              <c:pt idx="91">
                <c:v>22</c:v>
              </c:pt>
              <c:pt idx="92">
                <c:v>22</c:v>
              </c:pt>
              <c:pt idx="93">
                <c:v>22</c:v>
              </c:pt>
              <c:pt idx="94">
                <c:v>22</c:v>
              </c:pt>
              <c:pt idx="95">
                <c:v>22</c:v>
              </c:pt>
              <c:pt idx="96">
                <c:v>22</c:v>
              </c:pt>
              <c:pt idx="97">
                <c:v>22</c:v>
              </c:pt>
              <c:pt idx="98">
                <c:v>22</c:v>
              </c:pt>
              <c:pt idx="99">
                <c:v>22</c:v>
              </c:pt>
              <c:pt idx="100">
                <c:v>22</c:v>
              </c:pt>
              <c:pt idx="101">
                <c:v>22</c:v>
              </c:pt>
              <c:pt idx="102">
                <c:v>22</c:v>
              </c:pt>
              <c:pt idx="103">
                <c:v>22</c:v>
              </c:pt>
              <c:pt idx="104">
                <c:v>22</c:v>
              </c:pt>
              <c:pt idx="105">
                <c:v>22</c:v>
              </c:pt>
              <c:pt idx="106">
                <c:v>22</c:v>
              </c:pt>
              <c:pt idx="107">
                <c:v>22</c:v>
              </c:pt>
              <c:pt idx="108">
                <c:v>22</c:v>
              </c:pt>
              <c:pt idx="109">
                <c:v>22</c:v>
              </c:pt>
              <c:pt idx="110">
                <c:v>22</c:v>
              </c:pt>
              <c:pt idx="111">
                <c:v>22</c:v>
              </c:pt>
              <c:pt idx="112">
                <c:v>22</c:v>
              </c:pt>
              <c:pt idx="113">
                <c:v>22</c:v>
              </c:pt>
              <c:pt idx="114">
                <c:v>22</c:v>
              </c:pt>
              <c:pt idx="115">
                <c:v>22</c:v>
              </c:pt>
              <c:pt idx="116">
                <c:v>22</c:v>
              </c:pt>
              <c:pt idx="117">
                <c:v>22</c:v>
              </c:pt>
              <c:pt idx="118">
                <c:v>22</c:v>
              </c:pt>
              <c:pt idx="119">
                <c:v>22</c:v>
              </c:pt>
              <c:pt idx="120">
                <c:v>22</c:v>
              </c:pt>
            </c:numLit>
          </c:yVal>
        </c:ser>
        <c:ser>
          <c:idx val="2"/>
          <c:order val="2"/>
          <c:tx>
            <c:v>Ta</c:v>
          </c:tx>
          <c:spPr>
            <a:ln xmlns:a="http://schemas.openxmlformats.org/drawingml/2006/main" w="28575">
              <a:solidFill>
                <a:srgbClr val="60863D"/>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18</c:v>
              </c:pt>
              <c:pt idx="1">
                <c:v>18</c:v>
              </c:pt>
              <c:pt idx="2">
                <c:v>18</c:v>
              </c:pt>
              <c:pt idx="3">
                <c:v>18</c:v>
              </c:pt>
              <c:pt idx="4">
                <c:v>18</c:v>
              </c:pt>
              <c:pt idx="5">
                <c:v>18</c:v>
              </c:pt>
              <c:pt idx="6">
                <c:v>18</c:v>
              </c:pt>
              <c:pt idx="7">
                <c:v>18</c:v>
              </c:pt>
              <c:pt idx="8">
                <c:v>18</c:v>
              </c:pt>
              <c:pt idx="9">
                <c:v>18</c:v>
              </c:pt>
              <c:pt idx="10">
                <c:v>18</c:v>
              </c:pt>
              <c:pt idx="11">
                <c:v>18</c:v>
              </c:pt>
              <c:pt idx="12">
                <c:v>18</c:v>
              </c:pt>
              <c:pt idx="13">
                <c:v>18</c:v>
              </c:pt>
              <c:pt idx="14">
                <c:v>18</c:v>
              </c:pt>
              <c:pt idx="15">
                <c:v>18</c:v>
              </c:pt>
              <c:pt idx="16">
                <c:v>18</c:v>
              </c:pt>
              <c:pt idx="17">
                <c:v>18</c:v>
              </c:pt>
              <c:pt idx="18">
                <c:v>18</c:v>
              </c:pt>
              <c:pt idx="19">
                <c:v>18</c:v>
              </c:pt>
              <c:pt idx="20">
                <c:v>18</c:v>
              </c:pt>
              <c:pt idx="21">
                <c:v>18</c:v>
              </c:pt>
              <c:pt idx="22">
                <c:v>18</c:v>
              </c:pt>
              <c:pt idx="23">
                <c:v>18</c:v>
              </c:pt>
              <c:pt idx="24">
                <c:v>18</c:v>
              </c:pt>
              <c:pt idx="25">
                <c:v>18</c:v>
              </c:pt>
              <c:pt idx="26">
                <c:v>18</c:v>
              </c:pt>
              <c:pt idx="27">
                <c:v>18</c:v>
              </c:pt>
              <c:pt idx="28">
                <c:v>18</c:v>
              </c:pt>
              <c:pt idx="29">
                <c:v>18</c:v>
              </c:pt>
              <c:pt idx="30">
                <c:v>18</c:v>
              </c:pt>
              <c:pt idx="31">
                <c:v>18</c:v>
              </c:pt>
              <c:pt idx="32">
                <c:v>18</c:v>
              </c:pt>
              <c:pt idx="33">
                <c:v>18</c:v>
              </c:pt>
              <c:pt idx="34">
                <c:v>18</c:v>
              </c:pt>
              <c:pt idx="35">
                <c:v>18</c:v>
              </c:pt>
              <c:pt idx="36">
                <c:v>18</c:v>
              </c:pt>
              <c:pt idx="37">
                <c:v>18</c:v>
              </c:pt>
              <c:pt idx="38">
                <c:v>18</c:v>
              </c:pt>
              <c:pt idx="39">
                <c:v>18</c:v>
              </c:pt>
              <c:pt idx="40">
                <c:v>16</c:v>
              </c:pt>
              <c:pt idx="41">
                <c:v>16</c:v>
              </c:pt>
              <c:pt idx="42">
                <c:v>16</c:v>
              </c:pt>
              <c:pt idx="43">
                <c:v>16</c:v>
              </c:pt>
              <c:pt idx="44">
                <c:v>16</c:v>
              </c:pt>
              <c:pt idx="45">
                <c:v>16</c:v>
              </c:pt>
              <c:pt idx="46">
                <c:v>16</c:v>
              </c:pt>
              <c:pt idx="47">
                <c:v>16</c:v>
              </c:pt>
              <c:pt idx="48">
                <c:v>16</c:v>
              </c:pt>
              <c:pt idx="49">
                <c:v>16</c:v>
              </c:pt>
              <c:pt idx="50">
                <c:v>16</c:v>
              </c:pt>
              <c:pt idx="51">
                <c:v>16</c:v>
              </c:pt>
              <c:pt idx="52">
                <c:v>16</c:v>
              </c:pt>
              <c:pt idx="53">
                <c:v>16</c:v>
              </c:pt>
              <c:pt idx="54">
                <c:v>16</c:v>
              </c:pt>
              <c:pt idx="55">
                <c:v>16</c:v>
              </c:pt>
              <c:pt idx="56">
                <c:v>16</c:v>
              </c:pt>
              <c:pt idx="57">
                <c:v>16</c:v>
              </c:pt>
              <c:pt idx="58">
                <c:v>16</c:v>
              </c:pt>
              <c:pt idx="59">
                <c:v>16</c:v>
              </c:pt>
              <c:pt idx="60">
                <c:v>16</c:v>
              </c:pt>
              <c:pt idx="61">
                <c:v>16</c:v>
              </c:pt>
              <c:pt idx="62">
                <c:v>16</c:v>
              </c:pt>
              <c:pt idx="63">
                <c:v>16</c:v>
              </c:pt>
              <c:pt idx="64">
                <c:v>16</c:v>
              </c:pt>
              <c:pt idx="65">
                <c:v>16</c:v>
              </c:pt>
              <c:pt idx="66">
                <c:v>16</c:v>
              </c:pt>
              <c:pt idx="67">
                <c:v>16</c:v>
              </c:pt>
              <c:pt idx="68">
                <c:v>16</c:v>
              </c:pt>
              <c:pt idx="69">
                <c:v>16</c:v>
              </c:pt>
              <c:pt idx="70">
                <c:v>16</c:v>
              </c:pt>
              <c:pt idx="71">
                <c:v>16</c:v>
              </c:pt>
              <c:pt idx="72">
                <c:v>16</c:v>
              </c:pt>
              <c:pt idx="73">
                <c:v>16</c:v>
              </c:pt>
              <c:pt idx="74">
                <c:v>16</c:v>
              </c:pt>
              <c:pt idx="75">
                <c:v>16</c:v>
              </c:pt>
              <c:pt idx="76">
                <c:v>16</c:v>
              </c:pt>
              <c:pt idx="77">
                <c:v>16</c:v>
              </c:pt>
              <c:pt idx="78">
                <c:v>16</c:v>
              </c:pt>
              <c:pt idx="79">
                <c:v>16</c:v>
              </c:pt>
              <c:pt idx="80">
                <c:v>16</c:v>
              </c:pt>
              <c:pt idx="81">
                <c:v>16</c:v>
              </c:pt>
              <c:pt idx="82">
                <c:v>16</c:v>
              </c:pt>
              <c:pt idx="83">
                <c:v>16</c:v>
              </c:pt>
              <c:pt idx="84">
                <c:v>16</c:v>
              </c:pt>
              <c:pt idx="85">
                <c:v>16</c:v>
              </c:pt>
              <c:pt idx="86">
                <c:v>16</c:v>
              </c:pt>
              <c:pt idx="87">
                <c:v>16</c:v>
              </c:pt>
              <c:pt idx="88">
                <c:v>16</c:v>
              </c:pt>
              <c:pt idx="89">
                <c:v>16</c:v>
              </c:pt>
              <c:pt idx="90">
                <c:v>16</c:v>
              </c:pt>
              <c:pt idx="91">
                <c:v>16</c:v>
              </c:pt>
              <c:pt idx="92">
                <c:v>16</c:v>
              </c:pt>
              <c:pt idx="93">
                <c:v>16</c:v>
              </c:pt>
              <c:pt idx="94">
                <c:v>16</c:v>
              </c:pt>
              <c:pt idx="95">
                <c:v>16</c:v>
              </c:pt>
              <c:pt idx="96">
                <c:v>16</c:v>
              </c:pt>
              <c:pt idx="97">
                <c:v>16</c:v>
              </c:pt>
              <c:pt idx="98">
                <c:v>16</c:v>
              </c:pt>
              <c:pt idx="99">
                <c:v>16</c:v>
              </c:pt>
              <c:pt idx="100">
                <c:v>16</c:v>
              </c:pt>
              <c:pt idx="101">
                <c:v>16</c:v>
              </c:pt>
              <c:pt idx="102">
                <c:v>16</c:v>
              </c:pt>
              <c:pt idx="103">
                <c:v>16</c:v>
              </c:pt>
              <c:pt idx="104">
                <c:v>16</c:v>
              </c:pt>
              <c:pt idx="105">
                <c:v>16</c:v>
              </c:pt>
              <c:pt idx="106">
                <c:v>16</c:v>
              </c:pt>
              <c:pt idx="107">
                <c:v>16</c:v>
              </c:pt>
              <c:pt idx="108">
                <c:v>16</c:v>
              </c:pt>
              <c:pt idx="109">
                <c:v>16</c:v>
              </c:pt>
              <c:pt idx="110">
                <c:v>16</c:v>
              </c:pt>
              <c:pt idx="111">
                <c:v>16</c:v>
              </c:pt>
              <c:pt idx="112">
                <c:v>16</c:v>
              </c:pt>
              <c:pt idx="113">
                <c:v>16</c:v>
              </c:pt>
              <c:pt idx="114">
                <c:v>16</c:v>
              </c:pt>
              <c:pt idx="115">
                <c:v>16</c:v>
              </c:pt>
              <c:pt idx="116">
                <c:v>16</c:v>
              </c:pt>
              <c:pt idx="117">
                <c:v>16</c:v>
              </c:pt>
              <c:pt idx="118">
                <c:v>16</c:v>
              </c:pt>
              <c:pt idx="119">
                <c:v>16</c:v>
              </c:pt>
              <c:pt idx="120">
                <c:v>16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3"/>
          <c:min val="15"/>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Temperatura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charts/chart40.xml><?xml version="1.0" encoding="utf-8"?>
<c:chartSpace xmlns:c="http://schemas.openxmlformats.org/drawingml/2006/chart">
  <c:lang val="en-US"/>
  <c:chart>
    <c:plotArea>
      <c:scatterChart>
        <c:ser>
          <c:idx val="0"/>
          <c:order val="0"/>
          <c:tx>
            <c:v>Sin filtro</c:v>
          </c:tx>
          <c:spPr>
            <a:ln xmlns:a="http://schemas.openxmlformats.org/drawingml/2006/main" w="28575">
              <a:solidFill>
                <a:srgbClr val="2162A0"/>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18</c:v>
              </c:pt>
              <c:pt idx="1">
                <c:v>18.475048</c:v>
              </c:pt>
              <c:pt idx="2">
                <c:v>18.774466</c:v>
              </c:pt>
              <c:pt idx="3">
                <c:v>19.062137</c:v>
              </c:pt>
              <c:pt idx="4">
                <c:v>19.391891</c:v>
              </c:pt>
              <c:pt idx="5">
                <c:v>19.632535</c:v>
              </c:pt>
              <c:pt idx="6">
                <c:v>19.846195</c:v>
              </c:pt>
              <c:pt idx="7">
                <c:v>20.064673</c:v>
              </c:pt>
              <c:pt idx="8">
                <c:v>20.242817</c:v>
              </c:pt>
              <c:pt idx="9">
                <c:v>20.451089</c:v>
              </c:pt>
              <c:pt idx="10">
                <c:v>20.605734</c:v>
              </c:pt>
              <c:pt idx="11">
                <c:v>20.779487</c:v>
              </c:pt>
              <c:pt idx="12">
                <c:v>20.893544</c:v>
              </c:pt>
              <c:pt idx="13">
                <c:v>21.044109</c:v>
              </c:pt>
              <c:pt idx="14">
                <c:v>21.187696</c:v>
              </c:pt>
              <c:pt idx="15">
                <c:v>21.264522</c:v>
              </c:pt>
              <c:pt idx="16">
                <c:v>21.364945</c:v>
              </c:pt>
              <c:pt idx="17">
                <c:v>21.45941</c:v>
              </c:pt>
              <c:pt idx="18">
                <c:v>21.505841</c:v>
              </c:pt>
              <c:pt idx="19">
                <c:v>21.635707</c:v>
              </c:pt>
              <c:pt idx="20">
                <c:v>21.691677</c:v>
              </c:pt>
              <c:pt idx="21">
                <c:v>21.787718</c:v>
              </c:pt>
              <c:pt idx="22">
                <c:v>21.867721</c:v>
              </c:pt>
              <c:pt idx="23">
                <c:v>21.874637</c:v>
              </c:pt>
              <c:pt idx="24">
                <c:v>21.981551</c:v>
              </c:pt>
              <c:pt idx="25">
                <c:v>21.978102</c:v>
              </c:pt>
              <c:pt idx="26">
                <c:v>22.038497</c:v>
              </c:pt>
              <c:pt idx="27">
                <c:v>22.095952</c:v>
              </c:pt>
              <c:pt idx="28">
                <c:v>22.025768</c:v>
              </c:pt>
              <c:pt idx="29">
                <c:v>22.18099</c:v>
              </c:pt>
              <c:pt idx="30">
                <c:v>22.18086</c:v>
              </c:pt>
              <c:pt idx="31">
                <c:v>22.176015</c:v>
              </c:pt>
              <c:pt idx="32">
                <c:v>22.227275</c:v>
              </c:pt>
              <c:pt idx="33">
                <c:v>22.211056</c:v>
              </c:pt>
              <c:pt idx="34">
                <c:v>22.278831</c:v>
              </c:pt>
              <c:pt idx="35">
                <c:v>22.313078</c:v>
              </c:pt>
              <c:pt idx="36">
                <c:v>22.295714</c:v>
              </c:pt>
              <c:pt idx="37">
                <c:v>22.325083</c:v>
              </c:pt>
              <c:pt idx="38">
                <c:v>22.308186</c:v>
              </c:pt>
              <c:pt idx="39">
                <c:v>22.396879</c:v>
              </c:pt>
              <c:pt idx="40">
                <c:v>22.379086</c:v>
              </c:pt>
              <c:pt idx="41">
                <c:v>22.425956</c:v>
              </c:pt>
              <c:pt idx="42">
                <c:v>22.396274</c:v>
              </c:pt>
              <c:pt idx="43">
                <c:v>22.415206</c:v>
              </c:pt>
              <c:pt idx="44">
                <c:v>22.431783</c:v>
              </c:pt>
              <c:pt idx="45">
                <c:v>22.408011</c:v>
              </c:pt>
              <c:pt idx="46">
                <c:v>22.449881</c:v>
              </c:pt>
              <c:pt idx="47">
                <c:v>22.507861</c:v>
              </c:pt>
              <c:pt idx="48">
                <c:v>22.513862</c:v>
              </c:pt>
              <c:pt idx="49">
                <c:v>22.493428</c:v>
              </c:pt>
              <c:pt idx="50">
                <c:v>22.530964</c:v>
              </c:pt>
              <c:pt idx="51">
                <c:v>22.472003</c:v>
              </c:pt>
              <c:pt idx="52">
                <c:v>22.51867</c:v>
              </c:pt>
              <c:pt idx="53">
                <c:v>22.470398</c:v>
              </c:pt>
              <c:pt idx="54">
                <c:v>22.475111</c:v>
              </c:pt>
              <c:pt idx="55">
                <c:v>22.499511</c:v>
              </c:pt>
              <c:pt idx="56">
                <c:v>22.532423</c:v>
              </c:pt>
              <c:pt idx="57">
                <c:v>22.576884</c:v>
              </c:pt>
              <c:pt idx="58">
                <c:v>22.525943</c:v>
              </c:pt>
              <c:pt idx="59">
                <c:v>22.506966</c:v>
              </c:pt>
              <c:pt idx="60">
                <c:v>22.503672</c:v>
              </c:pt>
              <c:pt idx="61">
                <c:v>22.532694</c:v>
              </c:pt>
              <c:pt idx="62">
                <c:v>22.512474</c:v>
              </c:pt>
              <c:pt idx="63">
                <c:v>22.533164</c:v>
              </c:pt>
              <c:pt idx="64">
                <c:v>22.620309</c:v>
              </c:pt>
              <c:pt idx="65">
                <c:v>22.581171</c:v>
              </c:pt>
              <c:pt idx="66">
                <c:v>22.640717</c:v>
              </c:pt>
              <c:pt idx="67">
                <c:v>22.62309</c:v>
              </c:pt>
              <c:pt idx="68">
                <c:v>22.624568</c:v>
              </c:pt>
              <c:pt idx="69">
                <c:v>22.618379</c:v>
              </c:pt>
              <c:pt idx="70">
                <c:v>22.63421</c:v>
              </c:pt>
              <c:pt idx="71">
                <c:v>22.67794</c:v>
              </c:pt>
              <c:pt idx="72">
                <c:v>22.662177</c:v>
              </c:pt>
              <c:pt idx="73">
                <c:v>22.64894</c:v>
              </c:pt>
              <c:pt idx="74">
                <c:v>22.616827</c:v>
              </c:pt>
              <c:pt idx="75">
                <c:v>22.632092</c:v>
              </c:pt>
              <c:pt idx="76">
                <c:v>22.672354</c:v>
              </c:pt>
              <c:pt idx="77">
                <c:v>22.664293</c:v>
              </c:pt>
              <c:pt idx="78">
                <c:v>22.65716</c:v>
              </c:pt>
              <c:pt idx="79">
                <c:v>22.605509</c:v>
              </c:pt>
              <c:pt idx="80">
                <c:v>22.636511</c:v>
              </c:pt>
              <c:pt idx="81">
                <c:v>22.582484</c:v>
              </c:pt>
              <c:pt idx="82">
                <c:v>22.602281</c:v>
              </c:pt>
              <c:pt idx="83">
                <c:v>22.612029</c:v>
              </c:pt>
              <c:pt idx="84">
                <c:v>22.554031</c:v>
              </c:pt>
              <c:pt idx="85">
                <c:v>22.588184</c:v>
              </c:pt>
              <c:pt idx="86">
                <c:v>22.553196</c:v>
              </c:pt>
              <c:pt idx="87">
                <c:v>22.588705</c:v>
              </c:pt>
              <c:pt idx="88">
                <c:v>22.59918</c:v>
              </c:pt>
              <c:pt idx="89">
                <c:v>22.635494</c:v>
              </c:pt>
              <c:pt idx="90">
                <c:v>22.641042</c:v>
              </c:pt>
              <c:pt idx="91">
                <c:v>22.636685</c:v>
              </c:pt>
              <c:pt idx="92">
                <c:v>22.638981</c:v>
              </c:pt>
              <c:pt idx="93">
                <c:v>22.628149</c:v>
              </c:pt>
              <c:pt idx="94">
                <c:v>22.639694</c:v>
              </c:pt>
              <c:pt idx="95">
                <c:v>22.589434</c:v>
              </c:pt>
              <c:pt idx="96">
                <c:v>22.556984</c:v>
              </c:pt>
              <c:pt idx="97">
                <c:v>22.637393</c:v>
              </c:pt>
              <c:pt idx="98">
                <c:v>22.614872</c:v>
              </c:pt>
              <c:pt idx="99">
                <c:v>22.644215</c:v>
              </c:pt>
              <c:pt idx="100">
                <c:v>22.636284</c:v>
              </c:pt>
              <c:pt idx="101">
                <c:v>22.6917</c:v>
              </c:pt>
              <c:pt idx="102">
                <c:v>22.618495</c:v>
              </c:pt>
              <c:pt idx="103">
                <c:v>22.606722</c:v>
              </c:pt>
              <c:pt idx="104">
                <c:v>22.608253</c:v>
              </c:pt>
              <c:pt idx="105">
                <c:v>22.612809</c:v>
              </c:pt>
              <c:pt idx="106">
                <c:v>22.62963</c:v>
              </c:pt>
              <c:pt idx="107">
                <c:v>22.69241</c:v>
              </c:pt>
              <c:pt idx="108">
                <c:v>22.674978</c:v>
              </c:pt>
              <c:pt idx="109">
                <c:v>22.664911</c:v>
              </c:pt>
              <c:pt idx="110">
                <c:v>22.664513</c:v>
              </c:pt>
              <c:pt idx="111">
                <c:v>22.66192</c:v>
              </c:pt>
              <c:pt idx="112">
                <c:v>22.628259</c:v>
              </c:pt>
              <c:pt idx="113">
                <c:v>22.572254</c:v>
              </c:pt>
              <c:pt idx="114">
                <c:v>22.599389</c:v>
              </c:pt>
              <c:pt idx="115">
                <c:v>22.578289</c:v>
              </c:pt>
              <c:pt idx="116">
                <c:v>22.613942</c:v>
              </c:pt>
              <c:pt idx="117">
                <c:v>22.599219</c:v>
              </c:pt>
              <c:pt idx="118">
                <c:v>22.557557</c:v>
              </c:pt>
              <c:pt idx="119">
                <c:v>22.577154</c:v>
              </c:pt>
              <c:pt idx="120">
                <c:v>22.606156</c:v>
              </c:pt>
            </c:numLit>
          </c:yVal>
        </c:ser>
        <c:ser>
          <c:idx val="1"/>
          <c:order val="1"/>
          <c:tx>
            <c:v>Con filtro</c:v>
          </c:tx>
          <c:spPr>
            <a:ln xmlns:a="http://schemas.openxmlformats.org/drawingml/2006/main" w="28575">
              <a:solidFill>
                <a:srgbClr val="D96B18"/>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18</c:v>
              </c:pt>
              <c:pt idx="1">
                <c:v>18.539704</c:v>
              </c:pt>
              <c:pt idx="2">
                <c:v>18.917553</c:v>
              </c:pt>
              <c:pt idx="3">
                <c:v>19.183715</c:v>
              </c:pt>
              <c:pt idx="4">
                <c:v>19.418336</c:v>
              </c:pt>
              <c:pt idx="5">
                <c:v>19.633248</c:v>
              </c:pt>
              <c:pt idx="6">
                <c:v>19.830316</c:v>
              </c:pt>
              <c:pt idx="7">
                <c:v>20.012595</c:v>
              </c:pt>
              <c:pt idx="8">
                <c:v>20.185836</c:v>
              </c:pt>
              <c:pt idx="9">
                <c:v>20.342826</c:v>
              </c:pt>
              <c:pt idx="10">
                <c:v>20.484949</c:v>
              </c:pt>
              <c:pt idx="11">
                <c:v>20.622151</c:v>
              </c:pt>
              <c:pt idx="12">
                <c:v>20.746996</c:v>
              </c:pt>
              <c:pt idx="13">
                <c:v>20.860721</c:v>
              </c:pt>
              <c:pt idx="14">
                <c:v>20.960829</c:v>
              </c:pt>
              <c:pt idx="15">
                <c:v>21.061615</c:v>
              </c:pt>
              <c:pt idx="16">
                <c:v>21.145095</c:v>
              </c:pt>
              <c:pt idx="17">
                <c:v>21.225973</c:v>
              </c:pt>
              <c:pt idx="18">
                <c:v>21.297566</c:v>
              </c:pt>
              <c:pt idx="19">
                <c:v>21.36253</c:v>
              </c:pt>
              <c:pt idx="20">
                <c:v>21.431434</c:v>
              </c:pt>
              <c:pt idx="21">
                <c:v>21.481824</c:v>
              </c:pt>
              <c:pt idx="22">
                <c:v>21.531682</c:v>
              </c:pt>
              <c:pt idx="23">
                <c:v>21.577365</c:v>
              </c:pt>
              <c:pt idx="24">
                <c:v>21.614513</c:v>
              </c:pt>
              <c:pt idx="25">
                <c:v>21.647128</c:v>
              </c:pt>
              <c:pt idx="26">
                <c:v>21.679151</c:v>
              </c:pt>
              <c:pt idx="27">
                <c:v>21.716498</c:v>
              </c:pt>
              <c:pt idx="28">
                <c:v>21.739012</c:v>
              </c:pt>
              <c:pt idx="29">
                <c:v>21.763725</c:v>
              </c:pt>
              <c:pt idx="30">
                <c:v>21.789109</c:v>
              </c:pt>
              <c:pt idx="31">
                <c:v>21.814327</c:v>
              </c:pt>
              <c:pt idx="32">
                <c:v>21.828225</c:v>
              </c:pt>
              <c:pt idx="33">
                <c:v>21.845051</c:v>
              </c:pt>
              <c:pt idx="34">
                <c:v>21.857906</c:v>
              </c:pt>
              <c:pt idx="35">
                <c:v>21.875747</c:v>
              </c:pt>
              <c:pt idx="36">
                <c:v>21.88593</c:v>
              </c:pt>
              <c:pt idx="37">
                <c:v>21.891648</c:v>
              </c:pt>
              <c:pt idx="38">
                <c:v>21.901636</c:v>
              </c:pt>
              <c:pt idx="39">
                <c:v>21.908757</c:v>
              </c:pt>
              <c:pt idx="40">
                <c:v>21.921415</c:v>
              </c:pt>
              <c:pt idx="41">
                <c:v>21.928</c:v>
              </c:pt>
              <c:pt idx="42">
                <c:v>21.944427</c:v>
              </c:pt>
              <c:pt idx="43">
                <c:v>21.951836</c:v>
              </c:pt>
              <c:pt idx="44">
                <c:v>21.950635</c:v>
              </c:pt>
              <c:pt idx="45">
                <c:v>21.956024</c:v>
              </c:pt>
              <c:pt idx="46">
                <c:v>21.953775</c:v>
              </c:pt>
              <c:pt idx="47">
                <c:v>21.962783</c:v>
              </c:pt>
              <c:pt idx="48">
                <c:v>21.977902</c:v>
              </c:pt>
              <c:pt idx="49">
                <c:v>21.986506</c:v>
              </c:pt>
              <c:pt idx="50">
                <c:v>21.981508</c:v>
              </c:pt>
              <c:pt idx="51">
                <c:v>21.978561</c:v>
              </c:pt>
              <c:pt idx="52">
                <c:v>21.9814</c:v>
              </c:pt>
              <c:pt idx="53">
                <c:v>21.98736</c:v>
              </c:pt>
              <c:pt idx="54">
                <c:v>21.984859</c:v>
              </c:pt>
              <c:pt idx="55">
                <c:v>21.983249</c:v>
              </c:pt>
              <c:pt idx="56">
                <c:v>21.984203</c:v>
              </c:pt>
              <c:pt idx="57">
                <c:v>21.989473</c:v>
              </c:pt>
              <c:pt idx="58">
                <c:v>21.994163</c:v>
              </c:pt>
              <c:pt idx="59">
                <c:v>21.997871</c:v>
              </c:pt>
              <c:pt idx="60">
                <c:v>22.001644</c:v>
              </c:pt>
              <c:pt idx="61">
                <c:v>21.999456</c:v>
              </c:pt>
              <c:pt idx="62">
                <c:v>21.997398</c:v>
              </c:pt>
              <c:pt idx="63">
                <c:v>21.988888</c:v>
              </c:pt>
              <c:pt idx="64">
                <c:v>21.994034</c:v>
              </c:pt>
              <c:pt idx="65">
                <c:v>21.993565</c:v>
              </c:pt>
              <c:pt idx="66">
                <c:v>22.000986</c:v>
              </c:pt>
              <c:pt idx="67">
                <c:v>22.003889</c:v>
              </c:pt>
              <c:pt idx="68">
                <c:v>22.007294</c:v>
              </c:pt>
              <c:pt idx="69">
                <c:v>22.006737</c:v>
              </c:pt>
              <c:pt idx="70">
                <c:v>22.009438</c:v>
              </c:pt>
              <c:pt idx="71">
                <c:v>22.004197</c:v>
              </c:pt>
              <c:pt idx="72">
                <c:v>22.003534</c:v>
              </c:pt>
              <c:pt idx="73">
                <c:v>22.005626</c:v>
              </c:pt>
              <c:pt idx="74">
                <c:v>22.006305</c:v>
              </c:pt>
              <c:pt idx="75">
                <c:v>22.000745</c:v>
              </c:pt>
              <c:pt idx="76">
                <c:v>22.000508</c:v>
              </c:pt>
              <c:pt idx="77">
                <c:v>22.011267</c:v>
              </c:pt>
              <c:pt idx="78">
                <c:v>22.016679</c:v>
              </c:pt>
              <c:pt idx="79">
                <c:v>22.020479</c:v>
              </c:pt>
              <c:pt idx="80">
                <c:v>22.013515</c:v>
              </c:pt>
              <c:pt idx="81">
                <c:v>22.010379</c:v>
              </c:pt>
              <c:pt idx="82">
                <c:v>22.01476</c:v>
              </c:pt>
              <c:pt idx="83">
                <c:v>22.027748</c:v>
              </c:pt>
              <c:pt idx="84">
                <c:v>22.017545</c:v>
              </c:pt>
              <c:pt idx="85">
                <c:v>22.019616</c:v>
              </c:pt>
              <c:pt idx="86">
                <c:v>22.017932</c:v>
              </c:pt>
              <c:pt idx="87">
                <c:v>22.019285</c:v>
              </c:pt>
              <c:pt idx="88">
                <c:v>22.022469</c:v>
              </c:pt>
              <c:pt idx="89">
                <c:v>22.016899</c:v>
              </c:pt>
              <c:pt idx="90">
                <c:v>22.013746</c:v>
              </c:pt>
              <c:pt idx="91">
                <c:v>22.006097</c:v>
              </c:pt>
              <c:pt idx="92">
                <c:v>22.006251</c:v>
              </c:pt>
              <c:pt idx="93">
                <c:v>22.023441</c:v>
              </c:pt>
              <c:pt idx="94">
                <c:v>22.023793</c:v>
              </c:pt>
              <c:pt idx="95">
                <c:v>22.01945</c:v>
              </c:pt>
              <c:pt idx="96">
                <c:v>22.015252</c:v>
              </c:pt>
              <c:pt idx="97">
                <c:v>22.008725</c:v>
              </c:pt>
              <c:pt idx="98">
                <c:v>22.013909</c:v>
              </c:pt>
              <c:pt idx="99">
                <c:v>22.012253</c:v>
              </c:pt>
              <c:pt idx="100">
                <c:v>22.024263</c:v>
              </c:pt>
              <c:pt idx="101">
                <c:v>22.028984</c:v>
              </c:pt>
              <c:pt idx="102">
                <c:v>22.025645</c:v>
              </c:pt>
              <c:pt idx="103">
                <c:v>22.022817</c:v>
              </c:pt>
              <c:pt idx="104">
                <c:v>22.015766</c:v>
              </c:pt>
              <c:pt idx="105">
                <c:v>22.013196</c:v>
              </c:pt>
              <c:pt idx="106">
                <c:v>22.008555</c:v>
              </c:pt>
              <c:pt idx="107">
                <c:v>22.015295</c:v>
              </c:pt>
              <c:pt idx="108">
                <c:v>22.022338</c:v>
              </c:pt>
              <c:pt idx="109">
                <c:v>22.028893</c:v>
              </c:pt>
              <c:pt idx="110">
                <c:v>22.023989</c:v>
              </c:pt>
              <c:pt idx="111">
                <c:v>22.014816</c:v>
              </c:pt>
              <c:pt idx="112">
                <c:v>22.022328</c:v>
              </c:pt>
              <c:pt idx="113">
                <c:v>22.023034</c:v>
              </c:pt>
              <c:pt idx="114">
                <c:v>22.018583</c:v>
              </c:pt>
              <c:pt idx="115">
                <c:v>22.020726</c:v>
              </c:pt>
              <c:pt idx="116">
                <c:v>22.017732</c:v>
              </c:pt>
              <c:pt idx="117">
                <c:v>22.026177</c:v>
              </c:pt>
              <c:pt idx="118">
                <c:v>22.020863</c:v>
              </c:pt>
              <c:pt idx="119">
                <c:v>22.019477</c:v>
              </c:pt>
              <c:pt idx="120">
                <c:v>22.02241</c:v>
              </c:pt>
            </c:numLit>
          </c:yVal>
        </c:ser>
        <c:ser>
          <c:idx val="2"/>
          <c:order val="2"/>
          <c:tx>
            <c:v>r</c:v>
          </c:tx>
          <c:spPr>
            <a:ln xmlns:a="http://schemas.openxmlformats.org/drawingml/2006/main" w="28575">
              <a:solidFill>
                <a:srgbClr val="60863D"/>
              </a:solidFill>
            </a:ln>
          </c:spPr>
          <c:marker>
            <c:symbol val="none"/>
            <c:size val="5"/>
          </c:marker>
          <c:xVal>
            <c:numLit>
              <c:formatCode>General</c:formatCode>
              <c:ptCount val="121"/>
              <c:pt idx="0">
                <c:v>0</c:v>
              </c:pt>
              <c:pt idx="1">
                <c:v>0.5</c:v>
              </c:pt>
              <c:pt idx="2">
                <c:v>1</c:v>
              </c:pt>
              <c:pt idx="3">
                <c:v>1.5</c:v>
              </c:pt>
              <c:pt idx="4">
                <c:v>2</c:v>
              </c:pt>
              <c:pt idx="5">
                <c:v>2.5</c:v>
              </c:pt>
              <c:pt idx="6">
                <c:v>3</c:v>
              </c:pt>
              <c:pt idx="7">
                <c:v>3.5</c:v>
              </c:pt>
              <c:pt idx="8">
                <c:v>4</c:v>
              </c:pt>
              <c:pt idx="9">
                <c:v>4.5</c:v>
              </c:pt>
              <c:pt idx="10">
                <c:v>5</c:v>
              </c:pt>
              <c:pt idx="11">
                <c:v>5.5</c:v>
              </c:pt>
              <c:pt idx="12">
                <c:v>6</c:v>
              </c:pt>
              <c:pt idx="13">
                <c:v>6.5</c:v>
              </c:pt>
              <c:pt idx="14">
                <c:v>7</c:v>
              </c:pt>
              <c:pt idx="15">
                <c:v>7.5</c:v>
              </c:pt>
              <c:pt idx="16">
                <c:v>8</c:v>
              </c:pt>
              <c:pt idx="17">
                <c:v>8.5</c:v>
              </c:pt>
              <c:pt idx="18">
                <c:v>9</c:v>
              </c:pt>
              <c:pt idx="19">
                <c:v>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pt idx="81">
                <c:v>40.5</c:v>
              </c:pt>
              <c:pt idx="82">
                <c:v>41</c:v>
              </c:pt>
              <c:pt idx="83">
                <c:v>41.5</c:v>
              </c:pt>
              <c:pt idx="84">
                <c:v>42</c:v>
              </c:pt>
              <c:pt idx="85">
                <c:v>42.5</c:v>
              </c:pt>
              <c:pt idx="86">
                <c:v>43</c:v>
              </c:pt>
              <c:pt idx="87">
                <c:v>43.5</c:v>
              </c:pt>
              <c:pt idx="88">
                <c:v>44</c:v>
              </c:pt>
              <c:pt idx="89">
                <c:v>44.5</c:v>
              </c:pt>
              <c:pt idx="90">
                <c:v>45</c:v>
              </c:pt>
              <c:pt idx="91">
                <c:v>45.5</c:v>
              </c:pt>
              <c:pt idx="92">
                <c:v>46</c:v>
              </c:pt>
              <c:pt idx="93">
                <c:v>46.5</c:v>
              </c:pt>
              <c:pt idx="94">
                <c:v>47</c:v>
              </c:pt>
              <c:pt idx="95">
                <c:v>47.5</c:v>
              </c:pt>
              <c:pt idx="96">
                <c:v>48</c:v>
              </c:pt>
              <c:pt idx="97">
                <c:v>48.5</c:v>
              </c:pt>
              <c:pt idx="98">
                <c:v>49</c:v>
              </c:pt>
              <c:pt idx="99">
                <c:v>49.5</c:v>
              </c:pt>
              <c:pt idx="100">
                <c:v>50</c:v>
              </c:pt>
              <c:pt idx="101">
                <c:v>50.5</c:v>
              </c:pt>
              <c:pt idx="102">
                <c:v>51</c:v>
              </c:pt>
              <c:pt idx="103">
                <c:v>51.5</c:v>
              </c:pt>
              <c:pt idx="104">
                <c:v>52</c:v>
              </c:pt>
              <c:pt idx="105">
                <c:v>52.5</c:v>
              </c:pt>
              <c:pt idx="106">
                <c:v>53</c:v>
              </c:pt>
              <c:pt idx="107">
                <c:v>53.5</c:v>
              </c:pt>
              <c:pt idx="108">
                <c:v>54</c:v>
              </c:pt>
              <c:pt idx="109">
                <c:v>54.5</c:v>
              </c:pt>
              <c:pt idx="110">
                <c:v>55</c:v>
              </c:pt>
              <c:pt idx="111">
                <c:v>55.5</c:v>
              </c:pt>
              <c:pt idx="112">
                <c:v>56</c:v>
              </c:pt>
              <c:pt idx="113">
                <c:v>56.5</c:v>
              </c:pt>
              <c:pt idx="114">
                <c:v>57</c:v>
              </c:pt>
              <c:pt idx="115">
                <c:v>57.5</c:v>
              </c:pt>
              <c:pt idx="116">
                <c:v>58</c:v>
              </c:pt>
              <c:pt idx="117">
                <c:v>58.5</c:v>
              </c:pt>
              <c:pt idx="118">
                <c:v>59</c:v>
              </c:pt>
              <c:pt idx="119">
                <c:v>59.5</c:v>
              </c:pt>
              <c:pt idx="120">
                <c:v>60</c:v>
              </c:pt>
            </c:numLit>
          </c:xVal>
          <c:yVal>
            <c:numLit>
              <c:formatCode>General</c:formatCode>
              <c:ptCount val="121"/>
              <c:pt idx="0">
                <c:v>22</c:v>
              </c:pt>
              <c:pt idx="1">
                <c:v>22</c:v>
              </c:pt>
              <c:pt idx="2">
                <c:v>22</c:v>
              </c:pt>
              <c:pt idx="3">
                <c:v>22</c:v>
              </c:pt>
              <c:pt idx="4">
                <c:v>22</c:v>
              </c:pt>
              <c:pt idx="5">
                <c:v>22</c:v>
              </c:pt>
              <c:pt idx="6">
                <c:v>22</c:v>
              </c:pt>
              <c:pt idx="7">
                <c:v>22</c:v>
              </c:pt>
              <c:pt idx="8">
                <c:v>22</c:v>
              </c:pt>
              <c:pt idx="9">
                <c:v>22</c:v>
              </c:pt>
              <c:pt idx="10">
                <c:v>22</c:v>
              </c:pt>
              <c:pt idx="11">
                <c:v>22</c:v>
              </c:pt>
              <c:pt idx="12">
                <c:v>22</c:v>
              </c:pt>
              <c:pt idx="13">
                <c:v>22</c:v>
              </c:pt>
              <c:pt idx="14">
                <c:v>22</c:v>
              </c:pt>
              <c:pt idx="15">
                <c:v>22</c:v>
              </c:pt>
              <c:pt idx="16">
                <c:v>22</c:v>
              </c:pt>
              <c:pt idx="17">
                <c:v>22</c:v>
              </c:pt>
              <c:pt idx="18">
                <c:v>22</c:v>
              </c:pt>
              <c:pt idx="19">
                <c:v>22</c:v>
              </c:pt>
              <c:pt idx="20">
                <c:v>22</c:v>
              </c:pt>
              <c:pt idx="21">
                <c:v>22</c:v>
              </c:pt>
              <c:pt idx="22">
                <c:v>22</c:v>
              </c:pt>
              <c:pt idx="23">
                <c:v>22</c:v>
              </c:pt>
              <c:pt idx="24">
                <c:v>22</c:v>
              </c:pt>
              <c:pt idx="25">
                <c:v>22</c:v>
              </c:pt>
              <c:pt idx="26">
                <c:v>22</c:v>
              </c:pt>
              <c:pt idx="27">
                <c:v>22</c:v>
              </c:pt>
              <c:pt idx="28">
                <c:v>22</c:v>
              </c:pt>
              <c:pt idx="29">
                <c:v>22</c:v>
              </c:pt>
              <c:pt idx="30">
                <c:v>22</c:v>
              </c:pt>
              <c:pt idx="31">
                <c:v>22</c:v>
              </c:pt>
              <c:pt idx="32">
                <c:v>22</c:v>
              </c:pt>
              <c:pt idx="33">
                <c:v>22</c:v>
              </c:pt>
              <c:pt idx="34">
                <c:v>22</c:v>
              </c:pt>
              <c:pt idx="35">
                <c:v>22</c:v>
              </c:pt>
              <c:pt idx="36">
                <c:v>22</c:v>
              </c:pt>
              <c:pt idx="37">
                <c:v>22</c:v>
              </c:pt>
              <c:pt idx="38">
                <c:v>22</c:v>
              </c:pt>
              <c:pt idx="39">
                <c:v>22</c:v>
              </c:pt>
              <c:pt idx="40">
                <c:v>22</c:v>
              </c:pt>
              <c:pt idx="41">
                <c:v>22</c:v>
              </c:pt>
              <c:pt idx="42">
                <c:v>22</c:v>
              </c:pt>
              <c:pt idx="43">
                <c:v>22</c:v>
              </c:pt>
              <c:pt idx="44">
                <c:v>22</c:v>
              </c:pt>
              <c:pt idx="45">
                <c:v>22</c:v>
              </c:pt>
              <c:pt idx="46">
                <c:v>22</c:v>
              </c:pt>
              <c:pt idx="47">
                <c:v>22</c:v>
              </c:pt>
              <c:pt idx="48">
                <c:v>22</c:v>
              </c:pt>
              <c:pt idx="49">
                <c:v>22</c:v>
              </c:pt>
              <c:pt idx="50">
                <c:v>22</c:v>
              </c:pt>
              <c:pt idx="51">
                <c:v>22</c:v>
              </c:pt>
              <c:pt idx="52">
                <c:v>22</c:v>
              </c:pt>
              <c:pt idx="53">
                <c:v>22</c:v>
              </c:pt>
              <c:pt idx="54">
                <c:v>22</c:v>
              </c:pt>
              <c:pt idx="55">
                <c:v>22</c:v>
              </c:pt>
              <c:pt idx="56">
                <c:v>22</c:v>
              </c:pt>
              <c:pt idx="57">
                <c:v>22</c:v>
              </c:pt>
              <c:pt idx="58">
                <c:v>22</c:v>
              </c:pt>
              <c:pt idx="59">
                <c:v>22</c:v>
              </c:pt>
              <c:pt idx="60">
                <c:v>22</c:v>
              </c:pt>
              <c:pt idx="61">
                <c:v>22</c:v>
              </c:pt>
              <c:pt idx="62">
                <c:v>22</c:v>
              </c:pt>
              <c:pt idx="63">
                <c:v>22</c:v>
              </c:pt>
              <c:pt idx="64">
                <c:v>22</c:v>
              </c:pt>
              <c:pt idx="65">
                <c:v>22</c:v>
              </c:pt>
              <c:pt idx="66">
                <c:v>22</c:v>
              </c:pt>
              <c:pt idx="67">
                <c:v>22</c:v>
              </c:pt>
              <c:pt idx="68">
                <c:v>22</c:v>
              </c:pt>
              <c:pt idx="69">
                <c:v>22</c:v>
              </c:pt>
              <c:pt idx="70">
                <c:v>22</c:v>
              </c:pt>
              <c:pt idx="71">
                <c:v>22</c:v>
              </c:pt>
              <c:pt idx="72">
                <c:v>22</c:v>
              </c:pt>
              <c:pt idx="73">
                <c:v>22</c:v>
              </c:pt>
              <c:pt idx="74">
                <c:v>22</c:v>
              </c:pt>
              <c:pt idx="75">
                <c:v>22</c:v>
              </c:pt>
              <c:pt idx="76">
                <c:v>22</c:v>
              </c:pt>
              <c:pt idx="77">
                <c:v>22</c:v>
              </c:pt>
              <c:pt idx="78">
                <c:v>22</c:v>
              </c:pt>
              <c:pt idx="79">
                <c:v>22</c:v>
              </c:pt>
              <c:pt idx="80">
                <c:v>22</c:v>
              </c:pt>
              <c:pt idx="81">
                <c:v>22</c:v>
              </c:pt>
              <c:pt idx="82">
                <c:v>22</c:v>
              </c:pt>
              <c:pt idx="83">
                <c:v>22</c:v>
              </c:pt>
              <c:pt idx="84">
                <c:v>22</c:v>
              </c:pt>
              <c:pt idx="85">
                <c:v>22</c:v>
              </c:pt>
              <c:pt idx="86">
                <c:v>22</c:v>
              </c:pt>
              <c:pt idx="87">
                <c:v>22</c:v>
              </c:pt>
              <c:pt idx="88">
                <c:v>22</c:v>
              </c:pt>
              <c:pt idx="89">
                <c:v>22</c:v>
              </c:pt>
              <c:pt idx="90">
                <c:v>22</c:v>
              </c:pt>
              <c:pt idx="91">
                <c:v>22</c:v>
              </c:pt>
              <c:pt idx="92">
                <c:v>22</c:v>
              </c:pt>
              <c:pt idx="93">
                <c:v>22</c:v>
              </c:pt>
              <c:pt idx="94">
                <c:v>22</c:v>
              </c:pt>
              <c:pt idx="95">
                <c:v>22</c:v>
              </c:pt>
              <c:pt idx="96">
                <c:v>22</c:v>
              </c:pt>
              <c:pt idx="97">
                <c:v>22</c:v>
              </c:pt>
              <c:pt idx="98">
                <c:v>22</c:v>
              </c:pt>
              <c:pt idx="99">
                <c:v>22</c:v>
              </c:pt>
              <c:pt idx="100">
                <c:v>22</c:v>
              </c:pt>
              <c:pt idx="101">
                <c:v>22</c:v>
              </c:pt>
              <c:pt idx="102">
                <c:v>22</c:v>
              </c:pt>
              <c:pt idx="103">
                <c:v>22</c:v>
              </c:pt>
              <c:pt idx="104">
                <c:v>22</c:v>
              </c:pt>
              <c:pt idx="105">
                <c:v>22</c:v>
              </c:pt>
              <c:pt idx="106">
                <c:v>22</c:v>
              </c:pt>
              <c:pt idx="107">
                <c:v>22</c:v>
              </c:pt>
              <c:pt idx="108">
                <c:v>22</c:v>
              </c:pt>
              <c:pt idx="109">
                <c:v>22</c:v>
              </c:pt>
              <c:pt idx="110">
                <c:v>22</c:v>
              </c:pt>
              <c:pt idx="111">
                <c:v>22</c:v>
              </c:pt>
              <c:pt idx="112">
                <c:v>22</c:v>
              </c:pt>
              <c:pt idx="113">
                <c:v>22</c:v>
              </c:pt>
              <c:pt idx="114">
                <c:v>22</c:v>
              </c:pt>
              <c:pt idx="115">
                <c:v>22</c:v>
              </c:pt>
              <c:pt idx="116">
                <c:v>22</c:v>
              </c:pt>
              <c:pt idx="117">
                <c:v>22</c:v>
              </c:pt>
              <c:pt idx="118">
                <c:v>22</c:v>
              </c:pt>
              <c:pt idx="119">
                <c:v>22</c:v>
              </c:pt>
              <c:pt idx="120">
                <c:v>22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3"/>
          <c:min val="18"/>
        </c:scaling>
        <c:delete val="0"/>
        <c:axPos val="l"/>
        <c:majorGridlines>
          <c:spPr>
            <a:ln xmlns:a="http://schemas.openxmlformats.org/drawingml/2006/main" w="9525">
              <a:solidFill>
                <a:srgbClr val="E0E7EC"/>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Temperatura real (°C)</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6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Tiempo (min)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valAx>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925" b="0">
                <a:solidFill>
                  <a:srgbClr val="D96B18"/>
                </a:solidFill>
                <a:latin typeface="Arial"/>
                <a:ea typeface="Arial"/>
                <a:cs typeface="Arial"/>
              </a:defRPr>
            </a:pPr>
            <a:r>
              <a:rPr sz="2925" b="0">
                <a:solidFill>
                  <a:srgbClr val="D96B18"/>
                </a:solidFill>
                <a:latin typeface="Arial"/>
                <a:ea typeface="Arial"/>
                <a:cs typeface="Arial"/>
              </a:rPr>
              <a:t>Razonamiento con Incertidumbre (RAIN)</a:t>
            </a:r>
          </a:p>
        </p:txBody>
      </p:sp>
      <p:sp>
        <p:nvSpPr>
          <p:cNvPr id="9" name="">
            <a:extLst xmlns:a="http://schemas.openxmlformats.org/drawingml/2006/main">
              <a:ext uri="{FF2B5EF4-FFF2-40B4-BE49-F238E27FC236}">
                <a16:creationId xmlns:a16="http://schemas.microsoft.com/office/drawing/2014/main" id="{F47782F4-1D30-4800-91ED-F8B8F9B994B6}"/>
              </a:ext>
            </a:extLst>
          </p:cNvPr>
          <p:cNvSpPr>
            <a:spLocks xmlns:a="http://schemas.openxmlformats.org/drawingml/2006/main" noGrp="1"/>
          </p:cNvSpPr>
          <p:nvPr/>
        </p:nvSpPr>
        <p:spPr>
          <a:xfrm xmlns:a="http://schemas.openxmlformats.org/drawingml/2006/main">
            <a:off x="838200" y="25717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675" b="1">
                <a:solidFill>
                  <a:srgbClr val="233746"/>
                </a:solidFill>
                <a:latin typeface="Arial"/>
                <a:ea typeface="Arial"/>
                <a:cs typeface="Arial"/>
              </a:defRPr>
            </a:pPr>
            <a:r>
              <a:rPr sz="3675" b="1">
                <a:solidFill>
                  <a:srgbClr val="233746"/>
                </a:solidFill>
                <a:latin typeface="Arial"/>
                <a:ea typeface="Arial"/>
                <a:cs typeface="Arial"/>
              </a:rPr>
              <a:t>Sistemas de control Fuzzy</a:t>
            </a:r>
          </a:p>
        </p:txBody>
      </p:sp>
      <p:sp>
        <p:nvSpPr>
          <p:cNvPr id="10" name="">
            <a:extLst xmlns:a="http://schemas.openxmlformats.org/drawingml/2006/main">
              <a:ext uri="{FF2B5EF4-FFF2-40B4-BE49-F238E27FC236}">
                <a16:creationId xmlns:a16="http://schemas.microsoft.com/office/drawing/2014/main" id="{A381DDA9-9F3D-45BD-A014-4D7B635B2363}"/>
              </a:ext>
            </a:extLst>
          </p:cNvPr>
          <p:cNvSpPr>
            <a:spLocks xmlns:a="http://schemas.openxmlformats.org/drawingml/2006/main" noGrp="1"/>
          </p:cNvSpPr>
          <p:nvPr/>
        </p:nvSpPr>
        <p:spPr>
          <a:xfrm xmlns:a="http://schemas.openxmlformats.org/drawingml/2006/main">
            <a:off x="838200" y="35623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D96B18"/>
                </a:solidFill>
                <a:latin typeface="Arial"/>
                <a:ea typeface="Arial"/>
                <a:cs typeface="Arial"/>
              </a:defRPr>
            </a:pPr>
            <a:r>
              <a:rPr sz="2100" b="0">
                <a:solidFill>
                  <a:srgbClr val="D96B18"/>
                </a:solidFill>
                <a:latin typeface="Arial"/>
                <a:ea typeface="Arial"/>
                <a:cs typeface="Arial"/>
              </a:rPr>
              <a:t>Conceptos, inferencia, diseño y simulación</a:t>
            </a:r>
          </a:p>
        </p:txBody>
      </p:sp>
      <p:sp>
        <p:nvSpPr>
          <p:cNvPr id="11" name="">
            <a:extLst xmlns:a="http://schemas.openxmlformats.org/drawingml/2006/main">
              <a:ext uri="{FF2B5EF4-FFF2-40B4-BE49-F238E27FC236}">
                <a16:creationId xmlns:a16="http://schemas.microsoft.com/office/drawing/2014/main" id="{CD182264-99C3-43BC-BBA5-47F6269DA0AA}"/>
              </a:ext>
            </a:extLst>
          </p:cNvPr>
          <p:cNvSpPr>
            <a:spLocks xmlns:a="http://schemas.openxmlformats.org/drawingml/2006/main" noGrp="1"/>
          </p:cNvSpPr>
          <p:nvPr/>
        </p:nvSpPr>
        <p:spPr>
          <a:xfrm xmlns:a="http://schemas.openxmlformats.org/drawingml/2006/main">
            <a:off x="838200" y="44386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233746"/>
                </a:solidFill>
                <a:latin typeface="Arial"/>
                <a:ea typeface="Arial"/>
                <a:cs typeface="Arial"/>
              </a:defRPr>
            </a:pPr>
            <a:r>
              <a:rPr sz="2250" b="1">
                <a:solidFill>
                  <a:srgbClr val="233746"/>
                </a:solidFill>
                <a:latin typeface="Arial"/>
                <a:ea typeface="Arial"/>
                <a:cs typeface="Arial"/>
              </a:rPr>
              <a:t>Erik Figueiral Alonso</a:t>
            </a:r>
          </a:p>
        </p:txBody>
      </p:sp>
      <p:sp>
        <p:nvSpPr>
          <p:cNvPr id="12" name="">
            <a:extLst xmlns:a="http://schemas.openxmlformats.org/drawingml/2006/main">
              <a:ext uri="{FF2B5EF4-FFF2-40B4-BE49-F238E27FC236}">
                <a16:creationId xmlns:a16="http://schemas.microsoft.com/office/drawing/2014/main" id="{0A6AE5E6-CDC7-46BF-8C8A-DE3740A34118}"/>
              </a:ext>
            </a:extLst>
          </p:cNvPr>
          <p:cNvSpPr>
            <a:spLocks xmlns:a="http://schemas.openxmlformats.org/drawingml/2006/main" noGrp="1"/>
          </p:cNvSpPr>
          <p:nvPr/>
        </p:nvSpPr>
        <p:spPr>
          <a:xfrm xmlns:a="http://schemas.openxmlformats.org/drawingml/2006/main">
            <a:off x="838200" y="49053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162A0"/>
                </a:solidFill>
                <a:latin typeface="Arial"/>
                <a:ea typeface="Arial"/>
                <a:cs typeface="Arial"/>
              </a:defRPr>
            </a:pPr>
            <a:r>
              <a:rPr sz="1875" b="0">
                <a:solidFill>
                  <a:srgbClr val="2162A0"/>
                </a:solidFill>
                <a:latin typeface="Arial"/>
                <a:ea typeface="Arial"/>
                <a:cs typeface="Arial"/>
              </a:rPr>
              <a:t>erik.figueiral.alonso@uvigo.gal</a:t>
            </a:r>
          </a:p>
        </p:txBody>
      </p:sp>
      <p:sp>
        <p:nvSpPr>
          <p:cNvPr id="13" name="">
            <a:extLst xmlns:a="http://schemas.openxmlformats.org/drawingml/2006/main">
              <a:ext uri="{FF2B5EF4-FFF2-40B4-BE49-F238E27FC236}">
                <a16:creationId xmlns:a16="http://schemas.microsoft.com/office/drawing/2014/main" id="{52981A01-C798-4F2C-9EE0-D9D23C737415}"/>
              </a:ext>
            </a:extLst>
          </p:cNvPr>
          <p:cNvSpPr>
            <a:spLocks xmlns:a="http://schemas.openxmlformats.org/drawingml/2006/main" noGrp="1"/>
          </p:cNvSpPr>
          <p:nvPr/>
        </p:nvSpPr>
        <p:spPr>
          <a:xfrm xmlns:a="http://schemas.openxmlformats.org/drawingml/2006/main">
            <a:off x="838200" y="58007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0">
                <a:solidFill>
                  <a:srgbClr val="233746"/>
                </a:solidFill>
                <a:latin typeface="Arial"/>
                <a:ea typeface="Arial"/>
                <a:cs typeface="Arial"/>
              </a:defRPr>
            </a:pPr>
            <a:r>
              <a:rPr sz="1425" b="0">
                <a:solidFill>
                  <a:srgbClr val="233746"/>
                </a:solidFill>
                <a:latin typeface="Arial"/>
                <a:ea typeface="Arial"/>
                <a:cs typeface="Arial"/>
              </a:rPr>
              <a:t>Referencia: Timothy J. Ross · 3.ª edición</a:t>
            </a:r>
          </a:p>
        </p:txBody>
      </p:sp>
    </p:spTree>
    <p:extLst>
      <p:ext uri="{BB962C8B-B14F-4D97-AF65-F5344CB8AC3E}">
        <p14:creationId xmlns:p14="http://schemas.microsoft.com/office/powerpoint/2010/main" val="17218965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Guion: de los conceptos al sistema de control</a:t>
            </a:r>
          </a:p>
        </p:txBody>
      </p:sp>
      <p:sp>
        <p:nvSpPr>
          <p:cNvPr id="9" name="">
            <a:extLst xmlns:a="http://schemas.openxmlformats.org/drawingml/2006/main">
              <a:ext uri="{FF2B5EF4-FFF2-40B4-BE49-F238E27FC236}">
                <a16:creationId xmlns:a16="http://schemas.microsoft.com/office/drawing/2014/main" id="{F9A5E7D1-1EB8-4EC2-82C8-D2A0D52B04C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D16FACE-E305-4558-8FE3-CBA6402D2A1E}"/>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
        <p:nvSpPr>
          <p:cNvPr id="11" name="">
            <a:extLst xmlns:a="http://schemas.openxmlformats.org/drawingml/2006/main">
              <a:ext uri="{FF2B5EF4-FFF2-40B4-BE49-F238E27FC236}">
                <a16:creationId xmlns:a16="http://schemas.microsoft.com/office/drawing/2014/main" id="{35B7E4EC-D3C3-425B-85D1-DA36C5DFEC58}"/>
              </a:ext>
            </a:extLst>
          </p:cNvPr>
          <p:cNvSpPr>
            <a:spLocks xmlns:a="http://schemas.openxmlformats.org/drawingml/2006/main" noGrp="1"/>
          </p:cNvSpPr>
          <p:nvPr/>
        </p:nvSpPr>
        <p:spPr>
          <a:xfrm xmlns:a="http://schemas.openxmlformats.org/drawingml/2006/main">
            <a:off x="762000" y="16192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BD5810"/>
                </a:solidFill>
                <a:latin typeface="Arial"/>
                <a:ea typeface="Arial"/>
                <a:cs typeface="Arial"/>
              </a:defRPr>
            </a:pPr>
            <a:r>
              <a:rPr sz="2400" b="1">
                <a:solidFill>
                  <a:srgbClr val="BD5810"/>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12C70CC6-56DE-4C9C-8BD5-0150D91F6F85}"/>
              </a:ext>
            </a:extLst>
          </p:cNvPr>
          <p:cNvSpPr>
            <a:spLocks xmlns:a="http://schemas.openxmlformats.org/drawingml/2006/main" noGrp="1"/>
          </p:cNvSpPr>
          <p:nvPr/>
        </p:nvSpPr>
        <p:spPr>
          <a:xfrm xmlns:a="http://schemas.openxmlformats.org/drawingml/2006/main">
            <a:off x="1619250" y="1619250"/>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BD5810"/>
                </a:solidFill>
                <a:latin typeface="Arial"/>
                <a:ea typeface="Arial"/>
                <a:cs typeface="Arial"/>
              </a:defRPr>
            </a:pPr>
            <a:r>
              <a:rPr sz="2100" b="1">
                <a:solidFill>
                  <a:srgbClr val="BD5810"/>
                </a:solidFill>
                <a:latin typeface="Arial"/>
                <a:ea typeface="Arial"/>
                <a:cs typeface="Arial"/>
              </a:rPr>
              <a:t>Contexto fuzzy</a:t>
            </a:r>
          </a:p>
        </p:txBody>
      </p:sp>
      <p:sp>
        <p:nvSpPr>
          <p:cNvPr id="13" name="">
            <a:extLst xmlns:a="http://schemas.openxmlformats.org/drawingml/2006/main">
              <a:ext uri="{FF2B5EF4-FFF2-40B4-BE49-F238E27FC236}">
                <a16:creationId xmlns:a16="http://schemas.microsoft.com/office/drawing/2014/main" id="{B7BD64DB-C8B2-46E1-81A5-399595BAD0DA}"/>
              </a:ext>
            </a:extLst>
          </p:cNvPr>
          <p:cNvSpPr>
            <a:spLocks xmlns:a="http://schemas.openxmlformats.org/drawingml/2006/main" noGrp="1"/>
          </p:cNvSpPr>
          <p:nvPr/>
        </p:nvSpPr>
        <p:spPr>
          <a:xfrm xmlns:a="http://schemas.openxmlformats.org/drawingml/2006/main">
            <a:off x="5905500" y="161925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Capítulos 1–3 · conceptos y pertenencia</a:t>
            </a:r>
          </a:p>
        </p:txBody>
      </p:sp>
      <p:sp>
        <p:nvSpPr>
          <p:cNvPr id="14" name="">
            <a:extLst xmlns:a="http://schemas.openxmlformats.org/drawingml/2006/main">
              <a:ext uri="{FF2B5EF4-FFF2-40B4-BE49-F238E27FC236}">
                <a16:creationId xmlns:a16="http://schemas.microsoft.com/office/drawing/2014/main" id="{01928CF0-0162-47DD-8AE7-EFA850759770}"/>
              </a:ext>
            </a:extLst>
          </p:cNvPr>
          <p:cNvSpPr>
            <a:spLocks xmlns:a="http://schemas.openxmlformats.org/drawingml/2006/main" noGrp="1"/>
          </p:cNvSpPr>
          <p:nvPr/>
        </p:nvSpPr>
        <p:spPr>
          <a:xfrm xmlns:a="http://schemas.openxmlformats.org/drawingml/2006/main">
            <a:off x="762000" y="23336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087F79"/>
                </a:solidFill>
                <a:latin typeface="Arial"/>
                <a:ea typeface="Arial"/>
                <a:cs typeface="Arial"/>
              </a:defRPr>
            </a:pPr>
            <a:r>
              <a:rPr sz="2400" b="1">
                <a:solidFill>
                  <a:srgbClr val="087F79"/>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E6B9712C-87C5-40F4-9662-DB69FDC4ECC3}"/>
              </a:ext>
            </a:extLst>
          </p:cNvPr>
          <p:cNvSpPr>
            <a:spLocks xmlns:a="http://schemas.openxmlformats.org/drawingml/2006/main" noGrp="1"/>
          </p:cNvSpPr>
          <p:nvPr/>
        </p:nvSpPr>
        <p:spPr>
          <a:xfrm xmlns:a="http://schemas.openxmlformats.org/drawingml/2006/main">
            <a:off x="1619250" y="23336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087F79"/>
                </a:solidFill>
                <a:latin typeface="Arial"/>
                <a:ea typeface="Arial"/>
                <a:cs typeface="Arial"/>
              </a:defRPr>
            </a:pPr>
            <a:r>
              <a:rPr sz="2100" b="1">
                <a:solidFill>
                  <a:srgbClr val="087F79"/>
                </a:solidFill>
                <a:latin typeface="Arial"/>
                <a:ea typeface="Arial"/>
                <a:cs typeface="Arial"/>
              </a:rPr>
              <a:t>Fuzzificar y desdifusificar</a:t>
            </a:r>
          </a:p>
        </p:txBody>
      </p:sp>
      <p:sp>
        <p:nvSpPr>
          <p:cNvPr id="16" name="">
            <a:extLst xmlns:a="http://schemas.openxmlformats.org/drawingml/2006/main">
              <a:ext uri="{FF2B5EF4-FFF2-40B4-BE49-F238E27FC236}">
                <a16:creationId xmlns:a16="http://schemas.microsoft.com/office/drawing/2014/main" id="{01B3E74D-6278-4920-AC5B-60A8ED34928D}"/>
              </a:ext>
            </a:extLst>
          </p:cNvPr>
          <p:cNvSpPr>
            <a:spLocks xmlns:a="http://schemas.openxmlformats.org/drawingml/2006/main" noGrp="1"/>
          </p:cNvSpPr>
          <p:nvPr/>
        </p:nvSpPr>
        <p:spPr>
          <a:xfrm xmlns:a="http://schemas.openxmlformats.org/drawingml/2006/main">
            <a:off x="5905500" y="23336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Capítulo 4 · representar y obtener un escalar</a:t>
            </a:r>
          </a:p>
        </p:txBody>
      </p:sp>
      <p:sp>
        <p:nvSpPr>
          <p:cNvPr id="17" name="">
            <a:extLst xmlns:a="http://schemas.openxmlformats.org/drawingml/2006/main">
              <a:ext uri="{FF2B5EF4-FFF2-40B4-BE49-F238E27FC236}">
                <a16:creationId xmlns:a16="http://schemas.microsoft.com/office/drawing/2014/main" id="{937DA927-CD89-4300-AC05-CB3EA2578CD8}"/>
              </a:ext>
            </a:extLst>
          </p:cNvPr>
          <p:cNvSpPr>
            <a:spLocks xmlns:a="http://schemas.openxmlformats.org/drawingml/2006/main" noGrp="1"/>
          </p:cNvSpPr>
          <p:nvPr/>
        </p:nvSpPr>
        <p:spPr>
          <a:xfrm xmlns:a="http://schemas.openxmlformats.org/drawingml/2006/main">
            <a:off x="762000" y="30480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7950A0"/>
                </a:solidFill>
                <a:latin typeface="Arial"/>
                <a:ea typeface="Arial"/>
                <a:cs typeface="Arial"/>
              </a:defRPr>
            </a:pPr>
            <a:r>
              <a:rPr sz="2400" b="1">
                <a:solidFill>
                  <a:srgbClr val="7950A0"/>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4A97BF12-B023-4F1D-A009-12849CB520E4}"/>
              </a:ext>
            </a:extLst>
          </p:cNvPr>
          <p:cNvSpPr>
            <a:spLocks xmlns:a="http://schemas.openxmlformats.org/drawingml/2006/main" noGrp="1"/>
          </p:cNvSpPr>
          <p:nvPr/>
        </p:nvSpPr>
        <p:spPr>
          <a:xfrm xmlns:a="http://schemas.openxmlformats.org/drawingml/2006/main">
            <a:off x="1619250" y="3048000"/>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7950A0"/>
                </a:solidFill>
                <a:latin typeface="Arial"/>
                <a:ea typeface="Arial"/>
                <a:cs typeface="Arial"/>
              </a:defRPr>
            </a:pPr>
            <a:r>
              <a:rPr sz="2100" b="1">
                <a:solidFill>
                  <a:srgbClr val="7950A0"/>
                </a:solidFill>
                <a:latin typeface="Arial"/>
                <a:ea typeface="Arial"/>
                <a:cs typeface="Arial"/>
              </a:rPr>
              <a:t>Reglas e inferencia</a:t>
            </a:r>
          </a:p>
        </p:txBody>
      </p:sp>
      <p:sp>
        <p:nvSpPr>
          <p:cNvPr id="19" name="">
            <a:extLst xmlns:a="http://schemas.openxmlformats.org/drawingml/2006/main">
              <a:ext uri="{FF2B5EF4-FFF2-40B4-BE49-F238E27FC236}">
                <a16:creationId xmlns:a16="http://schemas.microsoft.com/office/drawing/2014/main" id="{F54C3046-2FA1-4C2E-A8B9-7B9B21AA1382}"/>
              </a:ext>
            </a:extLst>
          </p:cNvPr>
          <p:cNvSpPr>
            <a:spLocks xmlns:a="http://schemas.openxmlformats.org/drawingml/2006/main" noGrp="1"/>
          </p:cNvSpPr>
          <p:nvPr/>
        </p:nvSpPr>
        <p:spPr>
          <a:xfrm xmlns:a="http://schemas.openxmlformats.org/drawingml/2006/main">
            <a:off x="5905500" y="304800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Capítulo 5 · condiciones y consecuencias</a:t>
            </a:r>
          </a:p>
        </p:txBody>
      </p:sp>
      <p:sp>
        <p:nvSpPr>
          <p:cNvPr id="20" name="">
            <a:extLst xmlns:a="http://schemas.openxmlformats.org/drawingml/2006/main">
              <a:ext uri="{FF2B5EF4-FFF2-40B4-BE49-F238E27FC236}">
                <a16:creationId xmlns:a16="http://schemas.microsoft.com/office/drawing/2014/main" id="{428B6203-B1A2-44CC-B797-94907B24E02E}"/>
              </a:ext>
            </a:extLst>
          </p:cNvPr>
          <p:cNvSpPr>
            <a:spLocks xmlns:a="http://schemas.openxmlformats.org/drawingml/2006/main" noGrp="1"/>
          </p:cNvSpPr>
          <p:nvPr/>
        </p:nvSpPr>
        <p:spPr>
          <a:xfrm xmlns:a="http://schemas.openxmlformats.org/drawingml/2006/main">
            <a:off x="762000" y="376237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2162A0"/>
                </a:solidFill>
                <a:latin typeface="Arial"/>
                <a:ea typeface="Arial"/>
                <a:cs typeface="Arial"/>
              </a:defRPr>
            </a:pPr>
            <a:r>
              <a:rPr sz="2400" b="1">
                <a:solidFill>
                  <a:srgbClr val="2162A0"/>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264C9806-0B5C-4A65-A053-EF3B14144256}"/>
              </a:ext>
            </a:extLst>
          </p:cNvPr>
          <p:cNvSpPr>
            <a:spLocks xmlns:a="http://schemas.openxmlformats.org/drawingml/2006/main" noGrp="1"/>
          </p:cNvSpPr>
          <p:nvPr/>
        </p:nvSpPr>
        <p:spPr>
          <a:xfrm xmlns:a="http://schemas.openxmlformats.org/drawingml/2006/main">
            <a:off x="1619250" y="376237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2162A0"/>
                </a:solidFill>
                <a:latin typeface="Arial"/>
                <a:ea typeface="Arial"/>
                <a:cs typeface="Arial"/>
              </a:defRPr>
            </a:pPr>
            <a:r>
              <a:rPr sz="2100" b="1">
                <a:solidFill>
                  <a:srgbClr val="2162A0"/>
                </a:solidFill>
                <a:latin typeface="Arial"/>
                <a:ea typeface="Arial"/>
                <a:cs typeface="Arial"/>
              </a:rPr>
              <a:t>Modelado y simulación</a:t>
            </a:r>
          </a:p>
        </p:txBody>
      </p:sp>
      <p:sp>
        <p:nvSpPr>
          <p:cNvPr id="22" name="">
            <a:extLst xmlns:a="http://schemas.openxmlformats.org/drawingml/2006/main">
              <a:ext uri="{FF2B5EF4-FFF2-40B4-BE49-F238E27FC236}">
                <a16:creationId xmlns:a16="http://schemas.microsoft.com/office/drawing/2014/main" id="{E4FF14F5-CD25-4DC8-9413-C0D1EFFA6928}"/>
              </a:ext>
            </a:extLst>
          </p:cNvPr>
          <p:cNvSpPr>
            <a:spLocks xmlns:a="http://schemas.openxmlformats.org/drawingml/2006/main" noGrp="1"/>
          </p:cNvSpPr>
          <p:nvPr/>
        </p:nvSpPr>
        <p:spPr>
          <a:xfrm xmlns:a="http://schemas.openxmlformats.org/drawingml/2006/main">
            <a:off x="5905500" y="376237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Capítulo 8 · aproximar comportamientos</a:t>
            </a:r>
          </a:p>
        </p:txBody>
      </p:sp>
      <p:sp>
        <p:nvSpPr>
          <p:cNvPr id="23" name="">
            <a:extLst xmlns:a="http://schemas.openxmlformats.org/drawingml/2006/main">
              <a:ext uri="{FF2B5EF4-FFF2-40B4-BE49-F238E27FC236}">
                <a16:creationId xmlns:a16="http://schemas.microsoft.com/office/drawing/2014/main" id="{46E835E7-46B8-4B77-800B-E12AB73BE575}"/>
              </a:ext>
            </a:extLst>
          </p:cNvPr>
          <p:cNvSpPr>
            <a:spLocks xmlns:a="http://schemas.openxmlformats.org/drawingml/2006/main" noGrp="1"/>
          </p:cNvSpPr>
          <p:nvPr/>
        </p:nvSpPr>
        <p:spPr>
          <a:xfrm xmlns:a="http://schemas.openxmlformats.org/drawingml/2006/main">
            <a:off x="762000" y="447675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AD414C"/>
                </a:solidFill>
                <a:latin typeface="Arial"/>
                <a:ea typeface="Arial"/>
                <a:cs typeface="Arial"/>
              </a:defRPr>
            </a:pPr>
            <a:r>
              <a:rPr sz="2400" b="1">
                <a:solidFill>
                  <a:srgbClr val="AD414C"/>
                </a:solidFill>
                <a:latin typeface="Arial"/>
                <a:ea typeface="Arial"/>
                <a:cs typeface="Arial"/>
              </a:rPr>
              <a:t>05</a:t>
            </a:r>
          </a:p>
        </p:txBody>
      </p:sp>
      <p:sp>
        <p:nvSpPr>
          <p:cNvPr id="24" name="">
            <a:extLst xmlns:a="http://schemas.openxmlformats.org/drawingml/2006/main">
              <a:ext uri="{FF2B5EF4-FFF2-40B4-BE49-F238E27FC236}">
                <a16:creationId xmlns:a16="http://schemas.microsoft.com/office/drawing/2014/main" id="{D4217FCF-C116-4ACE-8DE3-6A4AA479A13E}"/>
              </a:ext>
            </a:extLst>
          </p:cNvPr>
          <p:cNvSpPr>
            <a:spLocks xmlns:a="http://schemas.openxmlformats.org/drawingml/2006/main" noGrp="1"/>
          </p:cNvSpPr>
          <p:nvPr/>
        </p:nvSpPr>
        <p:spPr>
          <a:xfrm xmlns:a="http://schemas.openxmlformats.org/drawingml/2006/main">
            <a:off x="1619250" y="4476750"/>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AD414C"/>
                </a:solidFill>
                <a:latin typeface="Arial"/>
                <a:ea typeface="Arial"/>
                <a:cs typeface="Arial"/>
              </a:defRPr>
            </a:pPr>
            <a:r>
              <a:rPr sz="2100" b="1">
                <a:solidFill>
                  <a:srgbClr val="AD414C"/>
                </a:solidFill>
                <a:latin typeface="Arial"/>
                <a:ea typeface="Arial"/>
                <a:cs typeface="Arial"/>
              </a:rPr>
              <a:t>Sistemas de control</a:t>
            </a:r>
          </a:p>
        </p:txBody>
      </p:sp>
      <p:sp>
        <p:nvSpPr>
          <p:cNvPr id="25" name="">
            <a:extLst xmlns:a="http://schemas.openxmlformats.org/drawingml/2006/main">
              <a:ext uri="{FF2B5EF4-FFF2-40B4-BE49-F238E27FC236}">
                <a16:creationId xmlns:a16="http://schemas.microsoft.com/office/drawing/2014/main" id="{7CF8AEB8-4F6B-49C0-84D0-D9697897B1AB}"/>
              </a:ext>
            </a:extLst>
          </p:cNvPr>
          <p:cNvSpPr>
            <a:spLocks xmlns:a="http://schemas.openxmlformats.org/drawingml/2006/main" noGrp="1"/>
          </p:cNvSpPr>
          <p:nvPr/>
        </p:nvSpPr>
        <p:spPr>
          <a:xfrm xmlns:a="http://schemas.openxmlformats.org/drawingml/2006/main">
            <a:off x="5905500" y="447675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Capítulo 13 · diseñar y comprobar</a:t>
            </a:r>
          </a:p>
        </p:txBody>
      </p:sp>
      <p:sp>
        <p:nvSpPr>
          <p:cNvPr id="26" name="">
            <a:extLst xmlns:a="http://schemas.openxmlformats.org/drawingml/2006/main">
              <a:ext uri="{FF2B5EF4-FFF2-40B4-BE49-F238E27FC236}">
                <a16:creationId xmlns:a16="http://schemas.microsoft.com/office/drawing/2014/main" id="{A0C6EA80-405A-4BDF-B4FE-9D910A3F24A4}"/>
              </a:ext>
            </a:extLst>
          </p:cNvPr>
          <p:cNvSpPr>
            <a:spLocks xmlns:a="http://schemas.openxmlformats.org/drawingml/2006/main" noGrp="1"/>
          </p:cNvSpPr>
          <p:nvPr/>
        </p:nvSpPr>
        <p:spPr>
          <a:xfrm xmlns:a="http://schemas.openxmlformats.org/drawingml/2006/main">
            <a:off x="762000" y="5191125"/>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400" b="1">
                <a:solidFill>
                  <a:srgbClr val="4C6375"/>
                </a:solidFill>
                <a:latin typeface="Arial"/>
                <a:ea typeface="Arial"/>
                <a:cs typeface="Arial"/>
              </a:defRPr>
            </a:pPr>
            <a:r>
              <a:rPr sz="2400" b="1">
                <a:solidFill>
                  <a:srgbClr val="4C6375"/>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AD73BD29-D81D-4D08-ADCA-9DDE92BBD329}"/>
              </a:ext>
            </a:extLst>
          </p:cNvPr>
          <p:cNvSpPr>
            <a:spLocks xmlns:a="http://schemas.openxmlformats.org/drawingml/2006/main" noGrp="1"/>
          </p:cNvSpPr>
          <p:nvPr/>
        </p:nvSpPr>
        <p:spPr>
          <a:xfrm xmlns:a="http://schemas.openxmlformats.org/drawingml/2006/main">
            <a:off x="1619250" y="5191125"/>
            <a:ext cx="404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4C6375"/>
                </a:solidFill>
                <a:latin typeface="Arial"/>
                <a:ea typeface="Arial"/>
                <a:cs typeface="Arial"/>
              </a:defRPr>
            </a:pPr>
            <a:r>
              <a:rPr sz="2100" b="1">
                <a:solidFill>
                  <a:srgbClr val="4C6375"/>
                </a:solidFill>
                <a:latin typeface="Arial"/>
                <a:ea typeface="Arial"/>
                <a:cs typeface="Arial"/>
              </a:rPr>
              <a:t>Ejemplo guiado</a:t>
            </a:r>
          </a:p>
        </p:txBody>
      </p:sp>
      <p:sp>
        <p:nvSpPr>
          <p:cNvPr id="28" name="">
            <a:extLst xmlns:a="http://schemas.openxmlformats.org/drawingml/2006/main">
              <a:ext uri="{FF2B5EF4-FFF2-40B4-BE49-F238E27FC236}">
                <a16:creationId xmlns:a16="http://schemas.microsoft.com/office/drawing/2014/main" id="{66B22209-E310-401F-9BAF-516DC2037EE6}"/>
              </a:ext>
            </a:extLst>
          </p:cNvPr>
          <p:cNvSpPr>
            <a:spLocks xmlns:a="http://schemas.openxmlformats.org/drawingml/2006/main" noGrp="1"/>
          </p:cNvSpPr>
          <p:nvPr/>
        </p:nvSpPr>
        <p:spPr>
          <a:xfrm xmlns:a="http://schemas.openxmlformats.org/drawingml/2006/main">
            <a:off x="5905500" y="5191125"/>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233746"/>
                </a:solidFill>
                <a:latin typeface="Arial"/>
                <a:ea typeface="Arial"/>
                <a:cs typeface="Arial"/>
              </a:defRPr>
            </a:pPr>
            <a:r>
              <a:rPr sz="1875" b="0">
                <a:solidFill>
                  <a:srgbClr val="233746"/>
                </a:solidFill>
                <a:latin typeface="Arial"/>
                <a:ea typeface="Arial"/>
                <a:cs typeface="Arial"/>
              </a:rPr>
              <a:t>Control térmico · del diseño a la simulación</a:t>
            </a:r>
          </a:p>
        </p:txBody>
      </p:sp>
    </p:spTree>
    <p:extLst>
      <p:ext uri="{BB962C8B-B14F-4D97-AF65-F5344CB8AC3E}">
        <p14:creationId xmlns:p14="http://schemas.microsoft.com/office/powerpoint/2010/main" val="17218965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La lógica clásica y los límites de la precisión</a:t>
            </a:r>
          </a:p>
        </p:txBody>
      </p:sp>
      <p:sp>
        <p:nvSpPr>
          <p:cNvPr id="9" name="">
            <a:extLst xmlns:a="http://schemas.openxmlformats.org/drawingml/2006/main">
              <a:ext uri="{FF2B5EF4-FFF2-40B4-BE49-F238E27FC236}">
                <a16:creationId xmlns:a16="http://schemas.microsoft.com/office/drawing/2014/main" id="{4E578BE4-3CDD-4CA3-AEE0-9BC6E80B2CC7}"/>
              </a:ext>
            </a:extLst>
          </p:cNvPr>
          <p:cNvSpPr>
            <a:spLocks xmlns:a="http://schemas.openxmlformats.org/drawingml/2006/main" noGrp="1"/>
          </p:cNvSpPr>
          <p:nvPr/>
        </p:nvSpPr>
        <p:spPr>
          <a:xfrm xmlns:a="http://schemas.openxmlformats.org/drawingml/2006/main">
            <a:off x="762000" y="15240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Lógica clásica bivalente</a:t>
            </a:r>
          </a:p>
        </p:txBody>
      </p:sp>
      <p:sp>
        <p:nvSpPr>
          <p:cNvPr id="10" name="">
            <a:extLst xmlns:a="http://schemas.openxmlformats.org/drawingml/2006/main">
              <a:ext uri="{FF2B5EF4-FFF2-40B4-BE49-F238E27FC236}">
                <a16:creationId xmlns:a16="http://schemas.microsoft.com/office/drawing/2014/main" id="{FA168F0E-35CD-4692-BFEA-98B1218A3269}"/>
              </a:ext>
            </a:extLst>
          </p:cNvPr>
          <p:cNvSpPr>
            <a:spLocks xmlns:a="http://schemas.openxmlformats.org/drawingml/2006/main" noGrp="1"/>
          </p:cNvSpPr>
          <p:nvPr/>
        </p:nvSpPr>
        <p:spPr>
          <a:xfrm xmlns:a="http://schemas.openxmlformats.org/drawingml/2006/main">
            <a:off x="762000" y="21145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850" b="1">
                <a:solidFill>
                  <a:srgbClr val="233746"/>
                </a:solidFill>
                <a:latin typeface="Arial"/>
                <a:ea typeface="Arial"/>
                <a:cs typeface="Arial"/>
              </a:defRPr>
            </a:pPr>
            <a:r>
              <a:rPr sz="2850" b="1">
                <a:solidFill>
                  <a:srgbClr val="233746"/>
                </a:solidFill>
                <a:latin typeface="Arial"/>
                <a:ea typeface="Arial"/>
                <a:cs typeface="Arial"/>
              </a:rPr>
              <a:t>FALSO = 0                         VERDADERO = 1</a:t>
            </a:r>
          </a:p>
        </p:txBody>
      </p:sp>
      <p:sp>
        <p:nvSpPr>
          <p:cNvPr id="11" name="">
            <a:extLst xmlns:a="http://schemas.openxmlformats.org/drawingml/2006/main">
              <a:ext uri="{FF2B5EF4-FFF2-40B4-BE49-F238E27FC236}">
                <a16:creationId xmlns:a16="http://schemas.microsoft.com/office/drawing/2014/main" id="{6DFFEE11-8269-4C15-A833-82F4CA0FB3FE}"/>
              </a:ext>
            </a:extLst>
          </p:cNvPr>
          <p:cNvSpPr>
            <a:spLocks xmlns:a="http://schemas.openxmlformats.org/drawingml/2006/main" noGrp="1"/>
          </p:cNvSpPr>
          <p:nvPr/>
        </p:nvSpPr>
        <p:spPr>
          <a:xfrm xmlns:a="http://schemas.openxmlformats.org/drawingml/2006/main">
            <a:off x="762000" y="28860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No admite grados de verdad entre ambos extremos.</a:t>
            </a:r>
          </a:p>
        </p:txBody>
      </p:sp>
      <p:sp>
        <p:nvSpPr>
          <p:cNvPr id="12" name="">
            <a:extLst xmlns:a="http://schemas.openxmlformats.org/drawingml/2006/main">
              <a:ext uri="{FF2B5EF4-FFF2-40B4-BE49-F238E27FC236}">
                <a16:creationId xmlns:a16="http://schemas.microsoft.com/office/drawing/2014/main" id="{C7525F7B-5314-4018-96EB-591A6B040323}"/>
              </a:ext>
            </a:extLst>
          </p:cNvPr>
          <p:cNvSpPr>
            <a:spLocks xmlns:a="http://schemas.openxmlformats.org/drawingml/2006/main" noGrp="1"/>
          </p:cNvSpPr>
          <p:nvPr/>
        </p:nvSpPr>
        <p:spPr>
          <a:xfrm xmlns:a="http://schemas.openxmlformats.org/drawingml/2006/main">
            <a:off x="762000" y="37623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1">
                <a:solidFill>
                  <a:srgbClr val="D96B18"/>
                </a:solidFill>
                <a:latin typeface="Arial"/>
                <a:ea typeface="Arial"/>
                <a:cs typeface="Arial"/>
              </a:defRPr>
            </a:pPr>
            <a:r>
              <a:rPr sz="2475" b="1">
                <a:solidFill>
                  <a:srgbClr val="D96B18"/>
                </a:solidFill>
                <a:latin typeface="Arial"/>
                <a:ea typeface="Arial"/>
                <a:cs typeface="Arial"/>
              </a:rPr>
              <a:t>La precisión debe ajustarse a lo que la naturaleza del problema permite.</a:t>
            </a:r>
          </a:p>
        </p:txBody>
      </p:sp>
      <p:sp>
        <p:nvSpPr>
          <p:cNvPr id="13" name="">
            <a:extLst xmlns:a="http://schemas.openxmlformats.org/drawingml/2006/main">
              <a:ext uri="{FF2B5EF4-FFF2-40B4-BE49-F238E27FC236}">
                <a16:creationId xmlns:a16="http://schemas.microsoft.com/office/drawing/2014/main" id="{1F3735C2-8BDD-4CEE-AF60-2DF454ABD0B8}"/>
              </a:ext>
            </a:extLst>
          </p:cNvPr>
          <p:cNvSpPr>
            <a:spLocks xmlns:a="http://schemas.openxmlformats.org/drawingml/2006/main" noGrp="1"/>
          </p:cNvSpPr>
          <p:nvPr/>
        </p:nvSpPr>
        <p:spPr>
          <a:xfrm xmlns:a="http://schemas.openxmlformats.org/drawingml/2006/main">
            <a:off x="762000" y="46863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233746"/>
                </a:solidFill>
                <a:latin typeface="Arial"/>
                <a:ea typeface="Arial"/>
                <a:cs typeface="Arial"/>
              </a:defRPr>
            </a:pPr>
            <a:r>
              <a:rPr sz="1350" b="0">
                <a:solidFill>
                  <a:srgbClr val="233746"/>
                </a:solidFill>
                <a:latin typeface="Arial"/>
                <a:ea typeface="Arial"/>
                <a:cs typeface="Arial"/>
              </a:rPr>
              <a:t>Aristóteles, idea recogida por Ross (paráfrasis).</a:t>
            </a:r>
          </a:p>
        </p:txBody>
      </p:sp>
      <p:sp>
        <p:nvSpPr>
          <p:cNvPr id="14" name="">
            <a:extLst xmlns:a="http://schemas.openxmlformats.org/drawingml/2006/main">
              <a:ext uri="{FF2B5EF4-FFF2-40B4-BE49-F238E27FC236}">
                <a16:creationId xmlns:a16="http://schemas.microsoft.com/office/drawing/2014/main" id="{0D4C8C69-43E6-40B2-BF48-B7E105878B4B}"/>
              </a:ext>
            </a:extLst>
          </p:cNvPr>
          <p:cNvSpPr>
            <a:spLocks xmlns:a="http://schemas.openxmlformats.org/drawingml/2006/main" noGrp="1"/>
          </p:cNvSpPr>
          <p:nvPr/>
        </p:nvSpPr>
        <p:spPr>
          <a:xfrm xmlns:a="http://schemas.openxmlformats.org/drawingml/2006/main">
            <a:off x="762000" y="52863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En sistemas complejos, aceptar imprecisión permite aprovechar información que sí tenemos.</a:t>
            </a:r>
          </a:p>
        </p:txBody>
      </p:sp>
      <p:sp>
        <p:nvSpPr>
          <p:cNvPr id="15" name="">
            <a:extLst xmlns:a="http://schemas.openxmlformats.org/drawingml/2006/main">
              <a:ext uri="{FF2B5EF4-FFF2-40B4-BE49-F238E27FC236}">
                <a16:creationId xmlns:a16="http://schemas.microsoft.com/office/drawing/2014/main" id="{F2D48C48-F874-450F-99D0-0822604951EF}"/>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B8EC06D-4EF0-4218-A8CE-0FE1B28D6D3E}"/>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Concepto vago y concepto fuzzy</a:t>
            </a:r>
          </a:p>
        </p:txBody>
      </p:sp>
      <p:sp>
        <p:nvSpPr>
          <p:cNvPr id="9" name="">
            <a:extLst xmlns:a="http://schemas.openxmlformats.org/drawingml/2006/main">
              <a:ext uri="{FF2B5EF4-FFF2-40B4-BE49-F238E27FC236}">
                <a16:creationId xmlns:a16="http://schemas.microsoft.com/office/drawing/2014/main" id="{37BD5151-CDD7-4B1A-9671-896E1B6E4414}"/>
              </a:ext>
            </a:extLst>
          </p:cNvPr>
          <p:cNvSpPr>
            <a:spLocks xmlns:a="http://schemas.openxmlformats.org/drawingml/2006/main" noGrp="1"/>
          </p:cNvSpPr>
          <p:nvPr/>
        </p:nvSpPr>
        <p:spPr>
          <a:xfrm xmlns:a="http://schemas.openxmlformats.org/drawingml/2006/main">
            <a:off x="762000" y="15049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VAGO</a:t>
            </a:r>
          </a:p>
        </p:txBody>
      </p:sp>
      <p:sp>
        <p:nvSpPr>
          <p:cNvPr id="10" name="">
            <a:extLst xmlns:a="http://schemas.openxmlformats.org/drawingml/2006/main">
              <a:ext uri="{FF2B5EF4-FFF2-40B4-BE49-F238E27FC236}">
                <a16:creationId xmlns:a16="http://schemas.microsoft.com/office/drawing/2014/main" id="{D2B176C9-317B-47AF-8E7D-E0ACDDCE7C55}"/>
              </a:ext>
            </a:extLst>
          </p:cNvPr>
          <p:cNvSpPr>
            <a:spLocks xmlns:a="http://schemas.openxmlformats.org/drawingml/2006/main" noGrp="1"/>
          </p:cNvSpPr>
          <p:nvPr/>
        </p:nvSpPr>
        <p:spPr>
          <a:xfrm xmlns:a="http://schemas.openxmlformats.org/drawingml/2006/main">
            <a:off x="762000" y="2133600"/>
            <a:ext cx="457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625" b="1">
                <a:solidFill>
                  <a:srgbClr val="233746"/>
                </a:solidFill>
                <a:latin typeface="Arial"/>
                <a:ea typeface="Arial"/>
                <a:cs typeface="Arial"/>
              </a:defRPr>
            </a:pPr>
            <a:r>
              <a:rPr sz="2625" b="1">
                <a:solidFill>
                  <a:srgbClr val="233746"/>
                </a:solidFill>
                <a:latin typeface="Arial"/>
                <a:ea typeface="Arial"/>
                <a:cs typeface="Arial"/>
              </a:rPr>
              <a:t>«Volveré pronto»</a:t>
            </a:r>
          </a:p>
        </p:txBody>
      </p:sp>
      <p:sp>
        <p:nvSpPr>
          <p:cNvPr id="11" name="">
            <a:extLst xmlns:a="http://schemas.openxmlformats.org/drawingml/2006/main">
              <a:ext uri="{FF2B5EF4-FFF2-40B4-BE49-F238E27FC236}">
                <a16:creationId xmlns:a16="http://schemas.microsoft.com/office/drawing/2014/main" id="{65506CC9-0D0D-47C4-ADCD-A85842CDF8A0}"/>
              </a:ext>
            </a:extLst>
          </p:cNvPr>
          <p:cNvSpPr>
            <a:spLocks xmlns:a="http://schemas.openxmlformats.org/drawingml/2006/main" noGrp="1"/>
          </p:cNvSpPr>
          <p:nvPr/>
        </p:nvSpPr>
        <p:spPr>
          <a:xfrm xmlns:a="http://schemas.openxmlformats.org/drawingml/2006/main">
            <a:off x="762000" y="313372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Falta concreción: ¿segundos, minutos u horas?</a:t>
            </a:r>
          </a:p>
        </p:txBody>
      </p:sp>
      <p:sp>
        <p:nvSpPr>
          <p:cNvPr id="12" name="">
            <a:extLst xmlns:a="http://schemas.openxmlformats.org/drawingml/2006/main">
              <a:ext uri="{FF2B5EF4-FFF2-40B4-BE49-F238E27FC236}">
                <a16:creationId xmlns:a16="http://schemas.microsoft.com/office/drawing/2014/main" id="{AA2DBBEE-A6A4-4892-82D1-2169A17920A8}"/>
              </a:ext>
            </a:extLst>
          </p:cNvPr>
          <p:cNvSpPr>
            <a:spLocks xmlns:a="http://schemas.openxmlformats.org/drawingml/2006/main" noGrp="1"/>
          </p:cNvSpPr>
          <p:nvPr/>
        </p:nvSpPr>
        <p:spPr>
          <a:xfrm xmlns:a="http://schemas.openxmlformats.org/drawingml/2006/main">
            <a:off x="6334125" y="15049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FUZZY</a:t>
            </a:r>
          </a:p>
        </p:txBody>
      </p:sp>
      <p:sp>
        <p:nvSpPr>
          <p:cNvPr id="13" name="">
            <a:extLst xmlns:a="http://schemas.openxmlformats.org/drawingml/2006/main">
              <a:ext uri="{FF2B5EF4-FFF2-40B4-BE49-F238E27FC236}">
                <a16:creationId xmlns:a16="http://schemas.microsoft.com/office/drawing/2014/main" id="{2C80D8A4-DF03-412A-99BB-5BDE647CD4AF}"/>
              </a:ext>
            </a:extLst>
          </p:cNvPr>
          <p:cNvSpPr>
            <a:spLocks xmlns:a="http://schemas.openxmlformats.org/drawingml/2006/main" noGrp="1"/>
          </p:cNvSpPr>
          <p:nvPr/>
        </p:nvSpPr>
        <p:spPr>
          <a:xfrm xmlns:a="http://schemas.openxmlformats.org/drawingml/2006/main">
            <a:off x="6334125" y="209550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233746"/>
                </a:solidFill>
                <a:latin typeface="Arial"/>
                <a:ea typeface="Arial"/>
                <a:cs typeface="Arial"/>
              </a:defRPr>
            </a:pPr>
            <a:r>
              <a:rPr sz="2325" b="1">
                <a:solidFill>
                  <a:srgbClr val="233746"/>
                </a:solidFill>
                <a:latin typeface="Arial"/>
                <a:ea typeface="Arial"/>
                <a:cs typeface="Arial"/>
              </a:rPr>
              <a:t>«Volveré en aproximadamente</a:t>
            </a:r>
          </a:p>
          <a:p xmlns:a="http://schemas.openxmlformats.org/drawingml/2006/main">
            <a:pPr>
              <a:buNone/>
              <a:defRPr sz="2325" b="1">
                <a:solidFill>
                  <a:srgbClr val="233746"/>
                </a:solidFill>
                <a:latin typeface="Arial"/>
                <a:ea typeface="Arial"/>
                <a:cs typeface="Arial"/>
              </a:defRPr>
            </a:pPr>
            <a:r>
              <a:rPr sz="2325" b="1">
                <a:solidFill>
                  <a:srgbClr val="233746"/>
                </a:solidFill>
                <a:latin typeface="Arial"/>
                <a:ea typeface="Arial"/>
                <a:cs typeface="Arial"/>
              </a:rPr>
              <a:t>2 minutos»</a:t>
            </a:r>
          </a:p>
        </p:txBody>
      </p:sp>
      <p:graphicFrame>
        <p:nvGraphicFramePr>
          <p:cNvPr id="33" name="Chart"/>
          <p:cNvGraphicFramePr/>
          <p:nvPr/>
        </p:nvGraphicFramePr>
        <p:xfrm>
          <a:off xmlns:a="http://schemas.openxmlformats.org/drawingml/2006/main" x="6286500" y="3286125"/>
          <a:ext xmlns:a="http://schemas.openxmlformats.org/drawingml/2006/main" cx="5143500" cy="2286000"/>
        </p:xfrm>
        <a:graphic xmlns:a="http://schemas.openxmlformats.org/drawingml/2006/main">
          <a:graphicData uri="http://schemas.openxmlformats.org/drawingml/2006/chart">
            <c:chart xmlns:r="http://schemas.openxmlformats.org/officeDocument/2006/relationships" xmlns:c="http://schemas.openxmlformats.org/drawingml/2006/chart" r:id="R86ca6ddf7c2c4210"/>
          </a:graphicData>
        </a:graphic>
      </p:graphicFrame>
      <p:sp>
        <p:nvSpPr>
          <p:cNvPr id="15" name="">
            <a:extLst xmlns:a="http://schemas.openxmlformats.org/drawingml/2006/main">
              <a:ext uri="{FF2B5EF4-FFF2-40B4-BE49-F238E27FC236}">
                <a16:creationId xmlns:a16="http://schemas.microsoft.com/office/drawing/2014/main" id="{BAE7CD32-F497-495D-ADB0-FE09C428B0E8}"/>
              </a:ext>
            </a:extLst>
          </p:cNvPr>
          <p:cNvSpPr>
            <a:spLocks xmlns:a="http://schemas.openxmlformats.org/drawingml/2006/main" noGrp="1"/>
          </p:cNvSpPr>
          <p:nvPr/>
        </p:nvSpPr>
        <p:spPr>
          <a:xfrm xmlns:a="http://schemas.openxmlformats.org/drawingml/2006/main">
            <a:off x="762000" y="58007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Hay una referencia concreta, con límites graduales alrededor de 2 minutos.</a:t>
            </a:r>
          </a:p>
        </p:txBody>
      </p:sp>
      <p:sp>
        <p:nvSpPr>
          <p:cNvPr id="20" name="">
            <a:extLst xmlns:a="http://schemas.openxmlformats.org/drawingml/2006/main">
              <a:ext uri="{FF2B5EF4-FFF2-40B4-BE49-F238E27FC236}">
                <a16:creationId xmlns:a16="http://schemas.microsoft.com/office/drawing/2014/main" id="{18C7CFE1-3944-46DD-8B06-0D2D2B370D30}"/>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D5A34C3-B513-4C23-94CE-C030901CA03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Crisp y fuzzy: el concepto «estatura media»</a:t>
            </a:r>
          </a:p>
        </p:txBody>
      </p:sp>
      <p:sp>
        <p:nvSpPr>
          <p:cNvPr id="9" name="">
            <a:extLst xmlns:a="http://schemas.openxmlformats.org/drawingml/2006/main">
              <a:ext uri="{FF2B5EF4-FFF2-40B4-BE49-F238E27FC236}">
                <a16:creationId xmlns:a16="http://schemas.microsoft.com/office/drawing/2014/main" id="{F7171C38-E5E3-4E82-A44F-71ADB1BFA891}"/>
              </a:ext>
            </a:extLst>
          </p:cNvPr>
          <p:cNvSpPr>
            <a:spLocks xmlns:a="http://schemas.openxmlformats.org/drawingml/2006/main" noGrp="1"/>
          </p:cNvSpPr>
          <p:nvPr/>
        </p:nvSpPr>
        <p:spPr>
          <a:xfrm xmlns:a="http://schemas.openxmlformats.org/drawingml/2006/main">
            <a:off x="762000" y="15049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Conjunto crisp: pertenece o no</a:t>
            </a:r>
          </a:p>
        </p:txBody>
      </p:sp>
      <p:sp>
        <p:nvSpPr>
          <p:cNvPr id="10" name="">
            <a:extLst xmlns:a="http://schemas.openxmlformats.org/drawingml/2006/main">
              <a:ext uri="{FF2B5EF4-FFF2-40B4-BE49-F238E27FC236}">
                <a16:creationId xmlns:a16="http://schemas.microsoft.com/office/drawing/2014/main" id="{BB394D59-05BF-4E43-9C41-2C4A5B832EA9}"/>
              </a:ext>
            </a:extLst>
          </p:cNvPr>
          <p:cNvSpPr>
            <a:spLocks xmlns:a="http://schemas.openxmlformats.org/drawingml/2006/main" noGrp="1"/>
          </p:cNvSpPr>
          <p:nvPr/>
        </p:nvSpPr>
        <p:spPr>
          <a:xfrm xmlns:a="http://schemas.openxmlformats.org/drawingml/2006/main">
            <a:off x="6381750" y="15049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Conjunto fuzzy: pertenencia gradual</a:t>
            </a:r>
          </a:p>
        </p:txBody>
      </p:sp>
      <p:graphicFrame>
        <p:nvGraphicFramePr>
          <p:cNvPr id="33" name="Chart"/>
          <p:cNvGraphicFramePr/>
          <p:nvPr/>
        </p:nvGraphicFramePr>
        <p:xfrm>
          <a:off xmlns:a="http://schemas.openxmlformats.org/drawingml/2006/main" x="619125" y="2143125"/>
          <a:ext xmlns:a="http://schemas.openxmlformats.org/drawingml/2006/main" cx="5143500" cy="2857500"/>
        </p:xfrm>
        <a:graphic xmlns:a="http://schemas.openxmlformats.org/drawingml/2006/main">
          <a:graphicData uri="http://schemas.openxmlformats.org/drawingml/2006/chart">
            <c:chart xmlns:r="http://schemas.openxmlformats.org/officeDocument/2006/relationships" xmlns:c="http://schemas.openxmlformats.org/drawingml/2006/chart" r:id="Rb58929413e284121"/>
          </a:graphicData>
        </a:graphic>
      </p:graphicFrame>
      <p:graphicFrame>
        <p:nvGraphicFramePr>
          <p:cNvPr id="34" name="Chart"/>
          <p:cNvGraphicFramePr/>
          <p:nvPr/>
        </p:nvGraphicFramePr>
        <p:xfrm>
          <a:off xmlns:a="http://schemas.openxmlformats.org/drawingml/2006/main" x="6238875" y="2143125"/>
          <a:ext xmlns:a="http://schemas.openxmlformats.org/drawingml/2006/main" cx="5143500" cy="2857500"/>
        </p:xfrm>
        <a:graphic xmlns:a="http://schemas.openxmlformats.org/drawingml/2006/main">
          <a:graphicData uri="http://schemas.openxmlformats.org/drawingml/2006/chart">
            <c:chart xmlns:r="http://schemas.openxmlformats.org/officeDocument/2006/relationships" xmlns:c="http://schemas.openxmlformats.org/drawingml/2006/chart" r:id="Rdabef3ba5287408e"/>
          </a:graphicData>
        </a:graphic>
      </p:graphicFrame>
      <p:sp>
        <p:nvSpPr>
          <p:cNvPr id="13" name="">
            <a:extLst xmlns:a="http://schemas.openxmlformats.org/drawingml/2006/main">
              <a:ext uri="{FF2B5EF4-FFF2-40B4-BE49-F238E27FC236}">
                <a16:creationId xmlns:a16="http://schemas.microsoft.com/office/drawing/2014/main" id="{59F125FF-C075-4B2B-BD0E-F82631F67967}"/>
              </a:ext>
            </a:extLst>
          </p:cNvPr>
          <p:cNvSpPr>
            <a:spLocks xmlns:a="http://schemas.openxmlformats.org/drawingml/2006/main" noGrp="1"/>
          </p:cNvSpPr>
          <p:nvPr/>
        </p:nvSpPr>
        <p:spPr>
          <a:xfrm xmlns:a="http://schemas.openxmlformats.org/drawingml/2006/main">
            <a:off x="762000" y="51339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2162A0"/>
                </a:solidFill>
                <a:latin typeface="Arial"/>
                <a:ea typeface="Arial"/>
                <a:cs typeface="Arial"/>
              </a:defRPr>
            </a:pPr>
            <a:r>
              <a:rPr sz="1950" b="1">
                <a:solidFill>
                  <a:srgbClr val="2162A0"/>
                </a:solidFill>
                <a:latin typeface="Arial"/>
                <a:ea typeface="Arial"/>
                <a:cs typeface="Arial"/>
              </a:rPr>
              <a:t>1 si 1,70 ≤ x ≤ 1,80 m; 0 fuera.</a:t>
            </a:r>
          </a:p>
        </p:txBody>
      </p:sp>
      <p:sp>
        <p:nvSpPr>
          <p:cNvPr id="14" name="">
            <a:extLst xmlns:a="http://schemas.openxmlformats.org/drawingml/2006/main">
              <a:ext uri="{FF2B5EF4-FFF2-40B4-BE49-F238E27FC236}">
                <a16:creationId xmlns:a16="http://schemas.microsoft.com/office/drawing/2014/main" id="{DF8D8160-2C61-4346-AD9A-285C5BD263B1}"/>
              </a:ext>
            </a:extLst>
          </p:cNvPr>
          <p:cNvSpPr>
            <a:spLocks xmlns:a="http://schemas.openxmlformats.org/drawingml/2006/main" noGrp="1"/>
          </p:cNvSpPr>
          <p:nvPr/>
        </p:nvSpPr>
        <p:spPr>
          <a:xfrm xmlns:a="http://schemas.openxmlformats.org/drawingml/2006/main">
            <a:off x="6381750" y="51339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D96B18"/>
                </a:solidFill>
                <a:latin typeface="Arial"/>
                <a:ea typeface="Arial"/>
                <a:cs typeface="Arial"/>
              </a:defRPr>
            </a:pPr>
            <a:r>
              <a:rPr sz="1950" b="1">
                <a:solidFill>
                  <a:srgbClr val="D96B18"/>
                </a:solidFill>
                <a:latin typeface="Arial"/>
                <a:ea typeface="Arial"/>
                <a:cs typeface="Arial"/>
              </a:rPr>
              <a:t>Máximo en 1,75 m; disminuye</a:t>
            </a:r>
          </a:p>
          <a:p xmlns:a="http://schemas.openxmlformats.org/drawingml/2006/main">
            <a:pPr>
              <a:buNone/>
              <a:defRPr sz="1950" b="1">
                <a:solidFill>
                  <a:srgbClr val="D96B18"/>
                </a:solidFill>
                <a:latin typeface="Arial"/>
                <a:ea typeface="Arial"/>
                <a:cs typeface="Arial"/>
              </a:defRPr>
            </a:pPr>
            <a:r>
              <a:rPr sz="1950" b="1">
                <a:solidFill>
                  <a:srgbClr val="D96B18"/>
                </a:solidFill>
                <a:latin typeface="Arial"/>
                <a:ea typeface="Arial"/>
                <a:cs typeface="Arial"/>
              </a:rPr>
              <a:t>hasta 0 en 1,60 y 1,90 m.</a:t>
            </a:r>
          </a:p>
        </p:txBody>
      </p:sp>
      <p:sp>
        <p:nvSpPr>
          <p:cNvPr id="15" name="">
            <a:extLst xmlns:a="http://schemas.openxmlformats.org/drawingml/2006/main">
              <a:ext uri="{FF2B5EF4-FFF2-40B4-BE49-F238E27FC236}">
                <a16:creationId xmlns:a16="http://schemas.microsoft.com/office/drawing/2014/main" id="{9E426139-31A1-49B0-A8B9-A968174F4E6D}"/>
              </a:ext>
            </a:extLst>
          </p:cNvPr>
          <p:cNvSpPr>
            <a:spLocks xmlns:a="http://schemas.openxmlformats.org/drawingml/2006/main" noGrp="1"/>
          </p:cNvSpPr>
          <p:nvPr/>
        </p:nvSpPr>
        <p:spPr>
          <a:xfrm xmlns:a="http://schemas.openxmlformats.org/drawingml/2006/main">
            <a:off x="762000" y="594360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233746"/>
                </a:solidFill>
                <a:latin typeface="Arial"/>
                <a:ea typeface="Arial"/>
                <a:cs typeface="Arial"/>
              </a:defRPr>
            </a:pPr>
            <a:r>
              <a:rPr sz="2025" b="1">
                <a:solidFill>
                  <a:srgbClr val="233746"/>
                </a:solidFill>
                <a:latin typeface="Arial"/>
                <a:ea typeface="Arial"/>
                <a:cs typeface="Arial"/>
              </a:rPr>
              <a:t>Crisp: solo 0 o 1. Fuzzy: infinitos grados posibles entre 0 y 1.</a:t>
            </a:r>
          </a:p>
        </p:txBody>
      </p:sp>
      <p:sp>
        <p:nvSpPr>
          <p:cNvPr id="16" name="">
            <a:extLst xmlns:a="http://schemas.openxmlformats.org/drawingml/2006/main">
              <a:ext uri="{FF2B5EF4-FFF2-40B4-BE49-F238E27FC236}">
                <a16:creationId xmlns:a16="http://schemas.microsoft.com/office/drawing/2014/main" id="{0F52D795-0B7C-4DE9-8A7A-F438EB3AB8C2}"/>
              </a:ext>
            </a:extLst>
          </p:cNvPr>
          <p:cNvSpPr>
            <a:spLocks xmlns:a="http://schemas.openxmlformats.org/drawingml/2006/main" noGrp="1"/>
          </p:cNvSpPr>
          <p:nvPr/>
        </p:nvSpPr>
        <p:spPr>
          <a:xfrm xmlns:a="http://schemas.openxmlformats.org/drawingml/2006/main">
            <a:off x="762000" y="633412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00" b="0">
                <a:solidFill>
                  <a:srgbClr val="233746"/>
                </a:solidFill>
                <a:latin typeface="Arial"/>
                <a:ea typeface="Arial"/>
                <a:cs typeface="Arial"/>
              </a:defRPr>
            </a:pPr>
            <a:r>
              <a:rPr sz="1200" b="0">
                <a:solidFill>
                  <a:srgbClr val="233746"/>
                </a:solidFill>
                <a:latin typeface="Arial"/>
                <a:ea typeface="Arial"/>
                <a:cs typeface="Arial"/>
              </a:rPr>
              <a:t>Cada conjunto tiene una función de pertenencia. Límites de altura ilustrativos.</a:t>
            </a:r>
          </a:p>
        </p:txBody>
      </p:sp>
      <p:sp>
        <p:nvSpPr>
          <p:cNvPr id="23" name="">
            <a:extLst xmlns:a="http://schemas.openxmlformats.org/drawingml/2006/main">
              <a:ext uri="{FF2B5EF4-FFF2-40B4-BE49-F238E27FC236}">
                <a16:creationId xmlns:a16="http://schemas.microsoft.com/office/drawing/2014/main" id="{F29CDB99-7B7E-40E4-A8D8-5173B2EA3A47}"/>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586610C-DB4F-4B3D-BCB2-01359377350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Conjuntos difusos: grados de pertenencia</a:t>
            </a:r>
          </a:p>
        </p:txBody>
      </p:sp>
      <p:sp>
        <p:nvSpPr>
          <p:cNvPr id="9" name="">
            <a:extLst xmlns:a="http://schemas.openxmlformats.org/drawingml/2006/main">
              <a:ext uri="{FF2B5EF4-FFF2-40B4-BE49-F238E27FC236}">
                <a16:creationId xmlns:a16="http://schemas.microsoft.com/office/drawing/2014/main" id="{BA4806F5-03D4-4C0B-BAFF-C1662266D97E}"/>
              </a:ext>
            </a:extLst>
          </p:cNvPr>
          <p:cNvSpPr>
            <a:spLocks xmlns:a="http://schemas.openxmlformats.org/drawingml/2006/main" noGrp="1"/>
          </p:cNvSpPr>
          <p:nvPr/>
        </p:nvSpPr>
        <p:spPr>
          <a:xfrm xmlns:a="http://schemas.openxmlformats.org/drawingml/2006/main">
            <a:off x="762000" y="15240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Pertenencia clásica: χA(x) ∈ {0, 1}     Pertenencia difusa: μA(x) ∈ [0, 1]</a:t>
            </a:r>
          </a:p>
        </p:txBody>
      </p:sp>
      <p:graphicFrame>
        <p:nvGraphicFramePr>
          <p:cNvPr id="28" name="Chart"/>
          <p:cNvGraphicFramePr/>
          <p:nvPr/>
        </p:nvGraphicFramePr>
        <p:xfrm>
          <a:off xmlns:a="http://schemas.openxmlformats.org/drawingml/2006/main" x="619125" y="2238375"/>
          <a:ext xmlns:a="http://schemas.openxmlformats.org/drawingml/2006/main" cx="6667500" cy="3429000"/>
        </p:xfrm>
        <a:graphic xmlns:a="http://schemas.openxmlformats.org/drawingml/2006/main">
          <a:graphicData uri="http://schemas.openxmlformats.org/drawingml/2006/chart">
            <c:chart xmlns:r="http://schemas.openxmlformats.org/officeDocument/2006/relationships" xmlns:c="http://schemas.openxmlformats.org/drawingml/2006/chart" r:id="R69ea592cc4a244d5"/>
          </a:graphicData>
        </a:graphic>
      </p:graphicFrame>
      <p:sp>
        <p:nvSpPr>
          <p:cNvPr id="11" name="">
            <a:extLst xmlns:a="http://schemas.openxmlformats.org/drawingml/2006/main">
              <a:ext uri="{FF2B5EF4-FFF2-40B4-BE49-F238E27FC236}">
                <a16:creationId xmlns:a16="http://schemas.microsoft.com/office/drawing/2014/main" id="{C4F4B82A-065C-446D-94BC-106FBB1C0D95}"/>
              </a:ext>
            </a:extLst>
          </p:cNvPr>
          <p:cNvSpPr>
            <a:spLocks xmlns:a="http://schemas.openxmlformats.org/drawingml/2006/main" noGrp="1"/>
          </p:cNvSpPr>
          <p:nvPr/>
        </p:nvSpPr>
        <p:spPr>
          <a:xfrm xmlns:a="http://schemas.openxmlformats.org/drawingml/2006/main">
            <a:off x="7715250" y="24193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A 25 °C</a:t>
            </a:r>
          </a:p>
        </p:txBody>
      </p:sp>
      <p:sp>
        <p:nvSpPr>
          <p:cNvPr id="12" name="">
            <a:extLst xmlns:a="http://schemas.openxmlformats.org/drawingml/2006/main">
              <a:ext uri="{FF2B5EF4-FFF2-40B4-BE49-F238E27FC236}">
                <a16:creationId xmlns:a16="http://schemas.microsoft.com/office/drawing/2014/main" id="{5E211193-2FB4-4F50-B17A-86D488B5AAF2}"/>
              </a:ext>
            </a:extLst>
          </p:cNvPr>
          <p:cNvSpPr>
            <a:spLocks xmlns:a="http://schemas.openxmlformats.org/drawingml/2006/main" noGrp="1"/>
          </p:cNvSpPr>
          <p:nvPr/>
        </p:nvSpPr>
        <p:spPr>
          <a:xfrm xmlns:a="http://schemas.openxmlformats.org/drawingml/2006/main">
            <a:off x="7715250" y="30765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33746"/>
                </a:solidFill>
                <a:latin typeface="Arial"/>
                <a:ea typeface="Arial"/>
                <a:cs typeface="Arial"/>
              </a:defRPr>
            </a:pPr>
            <a:r>
              <a:rPr sz="2100" b="1">
                <a:solidFill>
                  <a:srgbClr val="233746"/>
                </a:solidFill>
                <a:latin typeface="Arial"/>
                <a:ea typeface="Arial"/>
                <a:cs typeface="Arial"/>
              </a:rPr>
              <a:t>Templada: 0,5</a:t>
            </a:r>
          </a:p>
          <a:p xmlns:a="http://schemas.openxmlformats.org/drawingml/2006/main">
            <a:pPr>
              <a:buNone/>
              <a:defRPr sz="2100" b="1">
                <a:solidFill>
                  <a:srgbClr val="233746"/>
                </a:solidFill>
                <a:latin typeface="Arial"/>
                <a:ea typeface="Arial"/>
                <a:cs typeface="Arial"/>
              </a:defRPr>
            </a:pPr>
            <a:r>
              <a:rPr sz="2100" b="1">
                <a:solidFill>
                  <a:srgbClr val="233746"/>
                </a:solidFill>
                <a:latin typeface="Arial"/>
                <a:ea typeface="Arial"/>
                <a:cs typeface="Arial"/>
              </a:rPr>
              <a:t>Caliente: 0,5</a:t>
            </a:r>
          </a:p>
        </p:txBody>
      </p:sp>
      <p:sp>
        <p:nvSpPr>
          <p:cNvPr id="13" name="">
            <a:extLst xmlns:a="http://schemas.openxmlformats.org/drawingml/2006/main">
              <a:ext uri="{FF2B5EF4-FFF2-40B4-BE49-F238E27FC236}">
                <a16:creationId xmlns:a16="http://schemas.microsoft.com/office/drawing/2014/main" id="{D79194AE-33CC-4DF1-A361-42C94611528F}"/>
              </a:ext>
            </a:extLst>
          </p:cNvPr>
          <p:cNvSpPr>
            <a:spLocks xmlns:a="http://schemas.openxmlformats.org/drawingml/2006/main" noGrp="1"/>
          </p:cNvSpPr>
          <p:nvPr/>
        </p:nvSpPr>
        <p:spPr>
          <a:xfrm xmlns:a="http://schemas.openxmlformats.org/drawingml/2006/main">
            <a:off x="7715250" y="4276725"/>
            <a:ext cx="3476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El valor expresa cuánto encaja la temperatura en cada concepto.</a:t>
            </a:r>
          </a:p>
        </p:txBody>
      </p:sp>
      <p:sp>
        <p:nvSpPr>
          <p:cNvPr id="14" name="">
            <a:extLst xmlns:a="http://schemas.openxmlformats.org/drawingml/2006/main">
              <a:ext uri="{FF2B5EF4-FFF2-40B4-BE49-F238E27FC236}">
                <a16:creationId xmlns:a16="http://schemas.microsoft.com/office/drawing/2014/main" id="{374EE721-C819-4960-9141-394FAF73E508}"/>
              </a:ext>
            </a:extLst>
          </p:cNvPr>
          <p:cNvSpPr>
            <a:spLocks xmlns:a="http://schemas.openxmlformats.org/drawingml/2006/main" noGrp="1"/>
          </p:cNvSpPr>
          <p:nvPr/>
        </p:nvSpPr>
        <p:spPr>
          <a:xfrm xmlns:a="http://schemas.openxmlformats.org/drawingml/2006/main">
            <a:off x="762000" y="587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D96B18"/>
                </a:solidFill>
                <a:latin typeface="Arial"/>
                <a:ea typeface="Arial"/>
                <a:cs typeface="Arial"/>
              </a:defRPr>
            </a:pPr>
            <a:r>
              <a:rPr sz="1950" b="1">
                <a:solidFill>
                  <a:srgbClr val="D96B18"/>
                </a:solidFill>
                <a:latin typeface="Arial"/>
                <a:ea typeface="Arial"/>
                <a:cs typeface="Arial"/>
              </a:rPr>
              <a:t>Una pertenencia de 0,5 no significa una probabilidad del 50 %.</a:t>
            </a:r>
          </a:p>
        </p:txBody>
      </p:sp>
      <p:sp>
        <p:nvSpPr>
          <p:cNvPr id="19" name="">
            <a:extLst xmlns:a="http://schemas.openxmlformats.org/drawingml/2006/main">
              <a:ext uri="{FF2B5EF4-FFF2-40B4-BE49-F238E27FC236}">
                <a16:creationId xmlns:a16="http://schemas.microsoft.com/office/drawing/2014/main" id="{6820D595-7576-4EB2-A173-93B25D18ACBF}"/>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219617C-63E0-45B3-9B84-FC46C24CEEA7}"/>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Fuzzificar una lectura concreta</a:t>
            </a:r>
          </a:p>
        </p:txBody>
      </p:sp>
      <p:sp>
        <p:nvSpPr>
          <p:cNvPr id="9" name="">
            <a:extLst xmlns:a="http://schemas.openxmlformats.org/drawingml/2006/main">
              <a:ext uri="{FF2B5EF4-FFF2-40B4-BE49-F238E27FC236}">
                <a16:creationId xmlns:a16="http://schemas.microsoft.com/office/drawing/2014/main" id="{483BAA5E-F034-460D-BA1E-A60A07F707EB}"/>
              </a:ext>
            </a:extLst>
          </p:cNvPr>
          <p:cNvSpPr>
            <a:spLocks xmlns:a="http://schemas.openxmlformats.org/drawingml/2006/main" noGrp="1"/>
          </p:cNvSpPr>
          <p:nvPr/>
        </p:nvSpPr>
        <p:spPr>
          <a:xfrm xmlns:a="http://schemas.openxmlformats.org/drawingml/2006/main">
            <a:off x="762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Templada</a:t>
            </a:r>
          </a:p>
        </p:txBody>
      </p:sp>
      <p:sp>
        <p:nvSpPr>
          <p:cNvPr id="10" name="">
            <a:extLst xmlns:a="http://schemas.openxmlformats.org/drawingml/2006/main">
              <a:ext uri="{FF2B5EF4-FFF2-40B4-BE49-F238E27FC236}">
                <a16:creationId xmlns:a16="http://schemas.microsoft.com/office/drawing/2014/main" id="{5D1A57A5-4DFB-405A-ACD7-02C8AE98BA3E}"/>
              </a:ext>
            </a:extLst>
          </p:cNvPr>
          <p:cNvSpPr>
            <a:spLocks xmlns:a="http://schemas.openxmlformats.org/drawingml/2006/main" noGrp="1"/>
          </p:cNvSpPr>
          <p:nvPr/>
        </p:nvSpPr>
        <p:spPr>
          <a:xfrm xmlns:a="http://schemas.openxmlformats.org/drawingml/2006/main">
            <a:off x="6096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Caliente</a:t>
            </a:r>
          </a:p>
        </p:txBody>
      </p:sp>
      <p:graphicFrame>
        <p:nvGraphicFramePr>
          <p:cNvPr id="30" name="Chart"/>
          <p:cNvGraphicFramePr/>
          <p:nvPr/>
        </p:nvGraphicFramePr>
        <p:xfrm>
          <a:off xmlns:a="http://schemas.openxmlformats.org/drawingml/2006/main" x="762000" y="2209800"/>
          <a:ext xmlns:a="http://schemas.openxmlformats.org/drawingml/2006/main" cx="6191250" cy="3409950"/>
        </p:xfrm>
        <a:graphic xmlns:a="http://schemas.openxmlformats.org/drawingml/2006/main">
          <a:graphicData uri="http://schemas.openxmlformats.org/drawingml/2006/chart">
            <c:chart xmlns:r="http://schemas.openxmlformats.org/officeDocument/2006/relationships" xmlns:c="http://schemas.openxmlformats.org/drawingml/2006/chart" r:id="Re319229e57d44c2b"/>
          </a:graphicData>
        </a:graphic>
      </p:graphicFrame>
      <p:sp>
        <p:nvSpPr>
          <p:cNvPr id="12" name="">
            <a:extLst xmlns:a="http://schemas.openxmlformats.org/drawingml/2006/main">
              <a:ext uri="{FF2B5EF4-FFF2-40B4-BE49-F238E27FC236}">
                <a16:creationId xmlns:a16="http://schemas.microsoft.com/office/drawing/2014/main" id="{1083F98B-7A9E-4BED-A1CC-6602AF1D8E25}"/>
              </a:ext>
            </a:extLst>
          </p:cNvPr>
          <p:cNvSpPr>
            <a:spLocks xmlns:a="http://schemas.openxmlformats.org/drawingml/2006/main" noGrp="1"/>
          </p:cNvSpPr>
          <p:nvPr/>
        </p:nvSpPr>
        <p:spPr>
          <a:xfrm xmlns:a="http://schemas.openxmlformats.org/drawingml/2006/main">
            <a:off x="7524750" y="2371725"/>
            <a:ext cx="3905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D96B18"/>
                </a:solidFill>
                <a:latin typeface="Arial"/>
                <a:ea typeface="Arial"/>
                <a:cs typeface="Arial"/>
              </a:defRPr>
            </a:pPr>
            <a:r>
              <a:rPr sz="2325" b="1">
                <a:solidFill>
                  <a:srgbClr val="D96B18"/>
                </a:solidFill>
                <a:latin typeface="Arial"/>
                <a:ea typeface="Arial"/>
                <a:cs typeface="Arial"/>
              </a:rPr>
              <a:t>Sensor: T = 25 °C</a:t>
            </a:r>
          </a:p>
        </p:txBody>
      </p:sp>
      <p:sp>
        <p:nvSpPr>
          <p:cNvPr id="13" name="">
            <a:extLst xmlns:a="http://schemas.openxmlformats.org/drawingml/2006/main">
              <a:ext uri="{FF2B5EF4-FFF2-40B4-BE49-F238E27FC236}">
                <a16:creationId xmlns:a16="http://schemas.microsoft.com/office/drawing/2014/main" id="{DCC22814-D86A-45CE-85EE-BF26C37F52AA}"/>
              </a:ext>
            </a:extLst>
          </p:cNvPr>
          <p:cNvSpPr>
            <a:spLocks xmlns:a="http://schemas.openxmlformats.org/drawingml/2006/main" noGrp="1"/>
          </p:cNvSpPr>
          <p:nvPr/>
        </p:nvSpPr>
        <p:spPr>
          <a:xfrm xmlns:a="http://schemas.openxmlformats.org/drawingml/2006/main">
            <a:off x="7524750" y="3267075"/>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μTemplada(25) = 0,5</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μCaliente(25) = 0,5</a:t>
            </a:r>
          </a:p>
        </p:txBody>
      </p:sp>
      <p:sp>
        <p:nvSpPr>
          <p:cNvPr id="14" name="">
            <a:extLst xmlns:a="http://schemas.openxmlformats.org/drawingml/2006/main">
              <a:ext uri="{FF2B5EF4-FFF2-40B4-BE49-F238E27FC236}">
                <a16:creationId xmlns:a16="http://schemas.microsoft.com/office/drawing/2014/main" id="{F1C43331-A86D-4CC0-B16C-F21AC9AE9274}"/>
              </a:ext>
            </a:extLst>
          </p:cNvPr>
          <p:cNvSpPr>
            <a:spLocks xmlns:a="http://schemas.openxmlformats.org/drawingml/2006/main" noGrp="1"/>
          </p:cNvSpPr>
          <p:nvPr/>
        </p:nvSpPr>
        <p:spPr>
          <a:xfrm xmlns:a="http://schemas.openxmlformats.org/drawingml/2006/main">
            <a:off x="7524750" y="46672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Evaluamos las funciones</a:t>
            </a:r>
          </a:p>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en la medida recibida.</a:t>
            </a:r>
          </a:p>
        </p:txBody>
      </p:sp>
      <p:sp>
        <p:nvSpPr>
          <p:cNvPr id="15" name="">
            <a:extLst xmlns:a="http://schemas.openxmlformats.org/drawingml/2006/main">
              <a:ext uri="{FF2B5EF4-FFF2-40B4-BE49-F238E27FC236}">
                <a16:creationId xmlns:a16="http://schemas.microsoft.com/office/drawing/2014/main" id="{AC780BBB-4A5C-4A24-A790-1EC30CCE9063}"/>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Fuzzificación: medida numérica → grados que activarán las reglas.</a:t>
            </a:r>
          </a:p>
        </p:txBody>
      </p:sp>
      <p:sp>
        <p:nvSpPr>
          <p:cNvPr id="20" name="">
            <a:extLst xmlns:a="http://schemas.openxmlformats.org/drawingml/2006/main">
              <a:ext uri="{FF2B5EF4-FFF2-40B4-BE49-F238E27FC236}">
                <a16:creationId xmlns:a16="http://schemas.microsoft.com/office/drawing/2014/main" id="{40861AEC-5FCB-4069-9516-6D3E0D25D02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AD82E24-E841-41A5-9825-65CD32545502}"/>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Si queremos modelar la imprecisión del sensor</a:t>
            </a:r>
          </a:p>
        </p:txBody>
      </p:sp>
      <p:graphicFrame>
        <p:nvGraphicFramePr>
          <p:cNvPr id="27" name="Chart"/>
          <p:cNvGraphicFramePr/>
          <p:nvPr/>
        </p:nvGraphicFramePr>
        <p:xfrm>
          <a:off xmlns:a="http://schemas.openxmlformats.org/drawingml/2006/main" x="762000" y="2333625"/>
          <a:ext xmlns:a="http://schemas.openxmlformats.org/drawingml/2006/main" cx="5334000" cy="2905125"/>
        </p:xfrm>
        <a:graphic xmlns:a="http://schemas.openxmlformats.org/drawingml/2006/main">
          <a:graphicData uri="http://schemas.openxmlformats.org/drawingml/2006/chart">
            <c:chart xmlns:r="http://schemas.openxmlformats.org/officeDocument/2006/relationships" xmlns:c="http://schemas.openxmlformats.org/drawingml/2006/chart" r:id="Raee3b93d6c894800"/>
          </a:graphicData>
        </a:graphic>
      </p:graphicFrame>
      <p:sp>
        <p:nvSpPr>
          <p:cNvPr id="10" name="">
            <a:extLst xmlns:a="http://schemas.openxmlformats.org/drawingml/2006/main">
              <a:ext uri="{FF2B5EF4-FFF2-40B4-BE49-F238E27FC236}">
                <a16:creationId xmlns:a16="http://schemas.microsoft.com/office/drawing/2014/main" id="{34041026-8A2D-4A0B-95BE-4E20942580E3}"/>
              </a:ext>
            </a:extLst>
          </p:cNvPr>
          <p:cNvSpPr>
            <a:spLocks xmlns:a="http://schemas.openxmlformats.org/drawingml/2006/main" noGrp="1"/>
          </p:cNvSpPr>
          <p:nvPr/>
        </p:nvSpPr>
        <p:spPr>
          <a:xfrm xmlns:a="http://schemas.openxmlformats.org/drawingml/2006/main">
            <a:off x="6572250" y="1800225"/>
            <a:ext cx="4905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El aparato muestra 10,00 V.</a:t>
            </a:r>
          </a:p>
        </p:txBody>
      </p:sp>
      <p:sp>
        <p:nvSpPr>
          <p:cNvPr id="11" name="">
            <a:extLst xmlns:a="http://schemas.openxmlformats.org/drawingml/2006/main">
              <a:ext uri="{FF2B5EF4-FFF2-40B4-BE49-F238E27FC236}">
                <a16:creationId xmlns:a16="http://schemas.microsoft.com/office/drawing/2014/main" id="{27651794-6E9B-4448-894E-19D8F0A18F16}"/>
              </a:ext>
            </a:extLst>
          </p:cNvPr>
          <p:cNvSpPr>
            <a:spLocks xmlns:a="http://schemas.openxmlformats.org/drawingml/2006/main" noGrp="1"/>
          </p:cNvSpPr>
          <p:nvPr/>
        </p:nvSpPr>
        <p:spPr>
          <a:xfrm xmlns:a="http://schemas.openxmlformats.org/drawingml/2006/main">
            <a:off x="6572250" y="246697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Un ±1 % alrededor de la lectura</a:t>
            </a:r>
          </a:p>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corresponde a 9,9–10,1 V.</a:t>
            </a:r>
          </a:p>
        </p:txBody>
      </p:sp>
      <p:sp>
        <p:nvSpPr>
          <p:cNvPr id="12" name="">
            <a:extLst xmlns:a="http://schemas.openxmlformats.org/drawingml/2006/main">
              <a:ext uri="{FF2B5EF4-FFF2-40B4-BE49-F238E27FC236}">
                <a16:creationId xmlns:a16="http://schemas.microsoft.com/office/drawing/2014/main" id="{FDBEE015-1CE3-4F90-814E-5A394D4962F5}"/>
              </a:ext>
            </a:extLst>
          </p:cNvPr>
          <p:cNvSpPr>
            <a:spLocks xmlns:a="http://schemas.openxmlformats.org/drawingml/2006/main" noGrp="1"/>
          </p:cNvSpPr>
          <p:nvPr/>
        </p:nvSpPr>
        <p:spPr>
          <a:xfrm xmlns:a="http://schemas.openxmlformats.org/drawingml/2006/main">
            <a:off x="6572250" y="36195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D96B18"/>
                </a:solidFill>
                <a:latin typeface="Arial"/>
                <a:ea typeface="Arial"/>
                <a:cs typeface="Arial"/>
              </a:defRPr>
            </a:pPr>
            <a:r>
              <a:rPr sz="2025" b="1">
                <a:solidFill>
                  <a:srgbClr val="D96B18"/>
                </a:solidFill>
                <a:latin typeface="Arial"/>
                <a:ea typeface="Arial"/>
                <a:cs typeface="Arial"/>
              </a:rPr>
              <a:t>Comparación con una etiqueta A:</a:t>
            </a:r>
          </a:p>
        </p:txBody>
      </p:sp>
      <p:sp>
        <p:nvSpPr>
          <p:cNvPr id="13" name="">
            <a:extLst xmlns:a="http://schemas.openxmlformats.org/drawingml/2006/main">
              <a:ext uri="{FF2B5EF4-FFF2-40B4-BE49-F238E27FC236}">
                <a16:creationId xmlns:a16="http://schemas.microsoft.com/office/drawing/2014/main" id="{1081B399-82F8-45DB-BEFC-C5614D8027D5}"/>
              </a:ext>
            </a:extLst>
          </p:cNvPr>
          <p:cNvSpPr>
            <a:spLocks xmlns:a="http://schemas.openxmlformats.org/drawingml/2006/main" noGrp="1"/>
          </p:cNvSpPr>
          <p:nvPr/>
        </p:nvSpPr>
        <p:spPr>
          <a:xfrm xmlns:a="http://schemas.openxmlformats.org/drawingml/2006/main">
            <a:off x="6572250" y="4191000"/>
            <a:ext cx="4857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Compatibilidad =</a:t>
            </a:r>
          </a:p>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max sobre v de min(μLectura(v), μA(v)).</a:t>
            </a:r>
          </a:p>
        </p:txBody>
      </p:sp>
      <p:sp>
        <p:nvSpPr>
          <p:cNvPr id="14" name="">
            <a:extLst xmlns:a="http://schemas.openxmlformats.org/drawingml/2006/main">
              <a:ext uri="{FF2B5EF4-FFF2-40B4-BE49-F238E27FC236}">
                <a16:creationId xmlns:a16="http://schemas.microsoft.com/office/drawing/2014/main" id="{D06FA7BF-5AC9-4978-A339-8765F1AC1740}"/>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Es opcional. Para empezar usaremos lecturas crisp, como en la diapositiva anterior.</a:t>
            </a:r>
          </a:p>
        </p:txBody>
      </p:sp>
      <p:sp>
        <p:nvSpPr>
          <p:cNvPr id="19" name="">
            <a:extLst xmlns:a="http://schemas.openxmlformats.org/drawingml/2006/main">
              <a:ext uri="{FF2B5EF4-FFF2-40B4-BE49-F238E27FC236}">
                <a16:creationId xmlns:a16="http://schemas.microsoft.com/office/drawing/2014/main" id="{EFAC3D31-F0B0-41EC-A964-876DCB4D597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5C0DA9C-C121-411B-A4C7-1A8C57D089B3}"/>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El cubo: tres conceptos, tres grados</a:t>
            </a:r>
          </a:p>
        </p:txBody>
      </p:sp>
      <p:sp>
        <p:nvSpPr>
          <p:cNvPr id="9" name="">
            <a:extLst xmlns:a="http://schemas.openxmlformats.org/drawingml/2006/main">
              <a:ext uri="{FF2B5EF4-FFF2-40B4-BE49-F238E27FC236}">
                <a16:creationId xmlns:a16="http://schemas.microsoft.com/office/drawing/2014/main" id="{D291EB66-9C44-4369-B774-A038DE7656CA}"/>
              </a:ext>
            </a:extLst>
          </p:cNvPr>
          <p:cNvSpPr>
            <a:spLocks xmlns:a="http://schemas.openxmlformats.org/drawingml/2006/main" noGrp="1"/>
          </p:cNvSpPr>
          <p:nvPr/>
        </p:nvSpPr>
        <p:spPr>
          <a:xfrm xmlns:a="http://schemas.openxmlformats.org/drawingml/2006/main">
            <a:off x="762000" y="14668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33746"/>
                </a:solidFill>
                <a:latin typeface="Arial"/>
                <a:ea typeface="Arial"/>
                <a:cs typeface="Arial"/>
              </a:defRPr>
            </a:pPr>
            <a:r>
              <a:rPr sz="2100" b="1">
                <a:solidFill>
                  <a:srgbClr val="233746"/>
                </a:solidFill>
                <a:latin typeface="Arial"/>
                <a:ea typeface="Arial"/>
                <a:cs typeface="Arial"/>
              </a:rPr>
              <a:t>Evaluamos a Ana en tres conjuntos: «altos», «guapos» y «jóvenes».</a:t>
            </a:r>
          </a:p>
        </p:txBody>
      </p:sp>
      <p:graphicFrame>
        <p:nvGraphicFramePr>
          <p:cNvPr id="36" name="Chart"/>
          <p:cNvGraphicFramePr/>
          <p:nvPr/>
        </p:nvGraphicFramePr>
        <p:xfrm>
          <a:off xmlns:a="http://schemas.openxmlformats.org/drawingml/2006/main" x="1019175" y="2266950"/>
          <a:ext xmlns:a="http://schemas.openxmlformats.org/drawingml/2006/main" cx="4476750" cy="3133725"/>
        </p:xfrm>
        <a:graphic xmlns:a="http://schemas.openxmlformats.org/drawingml/2006/main">
          <a:graphicData uri="http://schemas.openxmlformats.org/drawingml/2006/chart">
            <c:chart xmlns:r="http://schemas.openxmlformats.org/officeDocument/2006/relationships" xmlns:c="http://schemas.openxmlformats.org/drawingml/2006/chart" r:id="R021ab395603e4663"/>
          </a:graphicData>
        </a:graphic>
      </p:graphicFrame>
      <p:sp>
        <p:nvSpPr>
          <p:cNvPr id="11" name="">
            <a:extLst xmlns:a="http://schemas.openxmlformats.org/drawingml/2006/main">
              <a:ext uri="{FF2B5EF4-FFF2-40B4-BE49-F238E27FC236}">
                <a16:creationId xmlns:a16="http://schemas.microsoft.com/office/drawing/2014/main" id="{4E812066-8039-4B76-9213-0031E29416F2}"/>
              </a:ext>
            </a:extLst>
          </p:cNvPr>
          <p:cNvSpPr>
            <a:spLocks xmlns:a="http://schemas.openxmlformats.org/drawingml/2006/main" noGrp="1"/>
          </p:cNvSpPr>
          <p:nvPr/>
        </p:nvSpPr>
        <p:spPr>
          <a:xfrm xmlns:a="http://schemas.openxmlformats.org/drawingml/2006/main">
            <a:off x="3238500" y="54292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2162A0"/>
                </a:solidFill>
                <a:latin typeface="Arial"/>
                <a:ea typeface="Arial"/>
                <a:cs typeface="Arial"/>
              </a:defRPr>
            </a:pPr>
            <a:r>
              <a:rPr sz="1725" b="1">
                <a:solidFill>
                  <a:srgbClr val="2162A0"/>
                </a:solidFill>
                <a:latin typeface="Arial"/>
                <a:ea typeface="Arial"/>
                <a:cs typeface="Arial"/>
              </a:rPr>
              <a:t>μAlto</a:t>
            </a:r>
          </a:p>
        </p:txBody>
      </p:sp>
      <p:sp>
        <p:nvSpPr>
          <p:cNvPr id="12" name="">
            <a:extLst xmlns:a="http://schemas.openxmlformats.org/drawingml/2006/main">
              <a:ext uri="{FF2B5EF4-FFF2-40B4-BE49-F238E27FC236}">
                <a16:creationId xmlns:a16="http://schemas.microsoft.com/office/drawing/2014/main" id="{9967D7B8-DEC5-4290-9822-9FBE51AC5C3A}"/>
              </a:ext>
            </a:extLst>
          </p:cNvPr>
          <p:cNvSpPr>
            <a:spLocks xmlns:a="http://schemas.openxmlformats.org/drawingml/2006/main" noGrp="1"/>
          </p:cNvSpPr>
          <p:nvPr/>
        </p:nvSpPr>
        <p:spPr>
          <a:xfrm xmlns:a="http://schemas.openxmlformats.org/drawingml/2006/main">
            <a:off x="4124325" y="47625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2162A0"/>
                </a:solidFill>
                <a:latin typeface="Arial"/>
                <a:ea typeface="Arial"/>
                <a:cs typeface="Arial"/>
              </a:defRPr>
            </a:pPr>
            <a:r>
              <a:rPr sz="1725" b="1">
                <a:solidFill>
                  <a:srgbClr val="2162A0"/>
                </a:solidFill>
                <a:latin typeface="Arial"/>
                <a:ea typeface="Arial"/>
                <a:cs typeface="Arial"/>
              </a:rPr>
              <a:t>μGuapo</a:t>
            </a:r>
          </a:p>
        </p:txBody>
      </p:sp>
      <p:sp>
        <p:nvSpPr>
          <p:cNvPr id="13" name="">
            <a:extLst xmlns:a="http://schemas.openxmlformats.org/drawingml/2006/main">
              <a:ext uri="{FF2B5EF4-FFF2-40B4-BE49-F238E27FC236}">
                <a16:creationId xmlns:a16="http://schemas.microsoft.com/office/drawing/2014/main" id="{8FA439FE-7F76-4E19-8317-FD0B452B9AC8}"/>
              </a:ext>
            </a:extLst>
          </p:cNvPr>
          <p:cNvSpPr>
            <a:spLocks xmlns:a="http://schemas.openxmlformats.org/drawingml/2006/main" noGrp="1"/>
          </p:cNvSpPr>
          <p:nvPr/>
        </p:nvSpPr>
        <p:spPr>
          <a:xfrm xmlns:a="http://schemas.openxmlformats.org/drawingml/2006/main">
            <a:off x="762000" y="22098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2162A0"/>
                </a:solidFill>
                <a:latin typeface="Arial"/>
                <a:ea typeface="Arial"/>
                <a:cs typeface="Arial"/>
              </a:defRPr>
            </a:pPr>
            <a:r>
              <a:rPr sz="1725" b="1">
                <a:solidFill>
                  <a:srgbClr val="2162A0"/>
                </a:solidFill>
                <a:latin typeface="Arial"/>
                <a:ea typeface="Arial"/>
                <a:cs typeface="Arial"/>
              </a:rPr>
              <a:t>μJoven</a:t>
            </a:r>
          </a:p>
        </p:txBody>
      </p:sp>
      <p:sp>
        <p:nvSpPr>
          <p:cNvPr id="14" name="">
            <a:extLst xmlns:a="http://schemas.openxmlformats.org/drawingml/2006/main">
              <a:ext uri="{FF2B5EF4-FFF2-40B4-BE49-F238E27FC236}">
                <a16:creationId xmlns:a16="http://schemas.microsoft.com/office/drawing/2014/main" id="{A7CD3E60-71DA-4DFB-BF6C-57ECAC9B10D4}"/>
              </a:ext>
            </a:extLst>
          </p:cNvPr>
          <p:cNvSpPr>
            <a:spLocks xmlns:a="http://schemas.openxmlformats.org/drawingml/2006/main" noGrp="1"/>
          </p:cNvSpPr>
          <p:nvPr/>
        </p:nvSpPr>
        <p:spPr>
          <a:xfrm xmlns:a="http://schemas.openxmlformats.org/drawingml/2006/main">
            <a:off x="904875" y="52863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233746"/>
                </a:solidFill>
                <a:latin typeface="Arial"/>
                <a:ea typeface="Arial"/>
                <a:cs typeface="Arial"/>
              </a:defRPr>
            </a:pPr>
            <a:r>
              <a:rPr sz="1575" b="0">
                <a:solidFill>
                  <a:srgbClr val="233746"/>
                </a:solidFill>
                <a:latin typeface="Arial"/>
                <a:ea typeface="Arial"/>
                <a:cs typeface="Arial"/>
              </a:rPr>
              <a:t>(0, 0, 0)</a:t>
            </a:r>
          </a:p>
        </p:txBody>
      </p:sp>
      <p:sp>
        <p:nvSpPr>
          <p:cNvPr id="15" name="">
            <a:extLst xmlns:a="http://schemas.openxmlformats.org/drawingml/2006/main">
              <a:ext uri="{FF2B5EF4-FFF2-40B4-BE49-F238E27FC236}">
                <a16:creationId xmlns:a16="http://schemas.microsoft.com/office/drawing/2014/main" id="{067B3750-48A5-40A6-BD04-EA32082F3404}"/>
              </a:ext>
            </a:extLst>
          </p:cNvPr>
          <p:cNvSpPr>
            <a:spLocks xmlns:a="http://schemas.openxmlformats.org/drawingml/2006/main" noGrp="1"/>
          </p:cNvSpPr>
          <p:nvPr/>
        </p:nvSpPr>
        <p:spPr>
          <a:xfrm xmlns:a="http://schemas.openxmlformats.org/drawingml/2006/main">
            <a:off x="6477000" y="2266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Un punto = el perfil de Ana</a:t>
            </a:r>
          </a:p>
        </p:txBody>
      </p:sp>
      <p:sp>
        <p:nvSpPr>
          <p:cNvPr id="16" name="">
            <a:extLst xmlns:a="http://schemas.openxmlformats.org/drawingml/2006/main">
              <a:ext uri="{FF2B5EF4-FFF2-40B4-BE49-F238E27FC236}">
                <a16:creationId xmlns:a16="http://schemas.microsoft.com/office/drawing/2014/main" id="{546C8436-F11D-4905-8230-6696C72A2C8A}"/>
              </a:ext>
            </a:extLst>
          </p:cNvPr>
          <p:cNvSpPr>
            <a:spLocks xmlns:a="http://schemas.openxmlformats.org/drawingml/2006/main" noGrp="1"/>
          </p:cNvSpPr>
          <p:nvPr/>
        </p:nvSpPr>
        <p:spPr>
          <a:xfrm xmlns:a="http://schemas.openxmlformats.org/drawingml/2006/main">
            <a:off x="6477000" y="2781300"/>
            <a:ext cx="4953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(μAlto(Ana), μGuapo(Ana),</a:t>
            </a:r>
          </a:p>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μJoven(Ana))</a:t>
            </a:r>
          </a:p>
        </p:txBody>
      </p:sp>
      <p:sp>
        <p:nvSpPr>
          <p:cNvPr id="17" name="">
            <a:extLst xmlns:a="http://schemas.openxmlformats.org/drawingml/2006/main">
              <a:ext uri="{FF2B5EF4-FFF2-40B4-BE49-F238E27FC236}">
                <a16:creationId xmlns:a16="http://schemas.microsoft.com/office/drawing/2014/main" id="{72AE05CB-C659-4805-9A2E-3D3DEA85F741}"/>
              </a:ext>
            </a:extLst>
          </p:cNvPr>
          <p:cNvSpPr>
            <a:spLocks xmlns:a="http://schemas.openxmlformats.org/drawingml/2006/main" noGrp="1"/>
          </p:cNvSpPr>
          <p:nvPr/>
        </p:nvSpPr>
        <p:spPr>
          <a:xfrm xmlns:a="http://schemas.openxmlformats.org/drawingml/2006/main">
            <a:off x="6477000" y="375285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Crisp: 0 o 1 en cada concepto</a:t>
            </a:r>
          </a:p>
        </p:txBody>
      </p:sp>
      <p:sp>
        <p:nvSpPr>
          <p:cNvPr id="18" name="">
            <a:extLst xmlns:a="http://schemas.openxmlformats.org/drawingml/2006/main">
              <a:ext uri="{FF2B5EF4-FFF2-40B4-BE49-F238E27FC236}">
                <a16:creationId xmlns:a16="http://schemas.microsoft.com/office/drawing/2014/main" id="{EB7AB1E9-2F3E-4BE4-92C4-6A5E5C0B1351}"/>
              </a:ext>
            </a:extLst>
          </p:cNvPr>
          <p:cNvSpPr>
            <a:spLocks xmlns:a="http://schemas.openxmlformats.org/drawingml/2006/main" noGrp="1"/>
          </p:cNvSpPr>
          <p:nvPr/>
        </p:nvSpPr>
        <p:spPr>
          <a:xfrm xmlns:a="http://schemas.openxmlformats.org/drawingml/2006/main">
            <a:off x="6477000" y="42195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Los 8 vértices son perfiles de sí/no.</a:t>
            </a:r>
          </a:p>
        </p:txBody>
      </p:sp>
      <p:sp>
        <p:nvSpPr>
          <p:cNvPr id="19" name="">
            <a:extLst xmlns:a="http://schemas.openxmlformats.org/drawingml/2006/main">
              <a:ext uri="{FF2B5EF4-FFF2-40B4-BE49-F238E27FC236}">
                <a16:creationId xmlns:a16="http://schemas.microsoft.com/office/drawing/2014/main" id="{A49AC018-579B-4891-95BA-D3A02C1E0BA6}"/>
              </a:ext>
            </a:extLst>
          </p:cNvPr>
          <p:cNvSpPr>
            <a:spLocks xmlns:a="http://schemas.openxmlformats.org/drawingml/2006/main" noGrp="1"/>
          </p:cNvSpPr>
          <p:nvPr/>
        </p:nvSpPr>
        <p:spPr>
          <a:xfrm xmlns:a="http://schemas.openxmlformats.org/drawingml/2006/main">
            <a:off x="6477000" y="4838700"/>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Fuzzy: también grados intermedios</a:t>
            </a:r>
          </a:p>
        </p:txBody>
      </p:sp>
      <p:sp>
        <p:nvSpPr>
          <p:cNvPr id="20" name="">
            <a:extLst xmlns:a="http://schemas.openxmlformats.org/drawingml/2006/main">
              <a:ext uri="{FF2B5EF4-FFF2-40B4-BE49-F238E27FC236}">
                <a16:creationId xmlns:a16="http://schemas.microsoft.com/office/drawing/2014/main" id="{160C9702-0FF0-40B0-B894-4D5CEC63C28F}"/>
              </a:ext>
            </a:extLst>
          </p:cNvPr>
          <p:cNvSpPr>
            <a:spLocks xmlns:a="http://schemas.openxmlformats.org/drawingml/2006/main" noGrp="1"/>
          </p:cNvSpPr>
          <p:nvPr/>
        </p:nvSpPr>
        <p:spPr>
          <a:xfrm xmlns:a="http://schemas.openxmlformats.org/drawingml/2006/main">
            <a:off x="6477000" y="530542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Ejemplo de perfil: (0,8; 0,3; 0,6).</a:t>
            </a:r>
          </a:p>
        </p:txBody>
      </p:sp>
      <p:sp>
        <p:nvSpPr>
          <p:cNvPr id="21" name="">
            <a:extLst xmlns:a="http://schemas.openxmlformats.org/drawingml/2006/main">
              <a:ext uri="{FF2B5EF4-FFF2-40B4-BE49-F238E27FC236}">
                <a16:creationId xmlns:a16="http://schemas.microsoft.com/office/drawing/2014/main" id="{7779A50E-9F3B-419A-8145-0F648C81608D}"/>
              </a:ext>
            </a:extLst>
          </p:cNvPr>
          <p:cNvSpPr>
            <a:spLocks xmlns:a="http://schemas.openxmlformats.org/drawingml/2006/main" noGrp="1"/>
          </p:cNvSpPr>
          <p:nvPr/>
        </p:nvSpPr>
        <p:spPr>
          <a:xfrm xmlns:a="http://schemas.openxmlformats.org/drawingml/2006/main">
            <a:off x="762000" y="594360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Centro (0,5; 0,5; 0,5): máxima difusidad en los tres conceptos.</a:t>
            </a:r>
          </a:p>
        </p:txBody>
      </p:sp>
      <p:sp>
        <p:nvSpPr>
          <p:cNvPr id="22" name="">
            <a:extLst xmlns:a="http://schemas.openxmlformats.org/drawingml/2006/main">
              <a:ext uri="{FF2B5EF4-FFF2-40B4-BE49-F238E27FC236}">
                <a16:creationId xmlns:a16="http://schemas.microsoft.com/office/drawing/2014/main" id="{E4A9B223-F4E0-47AF-9A25-789FA160AE6E}"/>
              </a:ext>
            </a:extLst>
          </p:cNvPr>
          <p:cNvSpPr>
            <a:spLocks xmlns:a="http://schemas.openxmlformats.org/drawingml/2006/main" noGrp="1"/>
          </p:cNvSpPr>
          <p:nvPr/>
        </p:nvSpPr>
        <p:spPr>
          <a:xfrm xmlns:a="http://schemas.openxmlformats.org/drawingml/2006/main">
            <a:off x="762000" y="63722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233746"/>
                </a:solidFill>
                <a:latin typeface="Arial"/>
                <a:ea typeface="Arial"/>
                <a:cs typeface="Arial"/>
              </a:defRPr>
            </a:pPr>
            <a:r>
              <a:rPr sz="1575" b="0">
                <a:solidFill>
                  <a:srgbClr val="233746"/>
                </a:solidFill>
                <a:latin typeface="Arial"/>
                <a:ea typeface="Arial"/>
                <a:cs typeface="Arial"/>
              </a:rPr>
              <a:t>Son grados de pertenencia: no tienen que sumar 1.</a:t>
            </a:r>
          </a:p>
        </p:txBody>
      </p:sp>
      <p:sp>
        <p:nvSpPr>
          <p:cNvPr id="27" name="">
            <a:extLst xmlns:a="http://schemas.openxmlformats.org/drawingml/2006/main">
              <a:ext uri="{FF2B5EF4-FFF2-40B4-BE49-F238E27FC236}">
                <a16:creationId xmlns:a16="http://schemas.microsoft.com/office/drawing/2014/main" id="{D480D6B7-E16E-4344-BB04-8E5053661262}"/>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778EE2F-8AE8-45E2-8E47-D8BEBD846AF5}"/>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Dos vasos: probabilidad y pertenencia fuzzy</a:t>
            </a:r>
          </a:p>
        </p:txBody>
      </p:sp>
      <p:sp>
        <p:nvSpPr>
          <p:cNvPr id="9" name="">
            <a:extLst xmlns:a="http://schemas.openxmlformats.org/drawingml/2006/main">
              <a:ext uri="{FF2B5EF4-FFF2-40B4-BE49-F238E27FC236}">
                <a16:creationId xmlns:a16="http://schemas.microsoft.com/office/drawing/2014/main" id="{FA1F9CC6-D118-45CD-82C3-BCE88A141E8E}"/>
              </a:ext>
            </a:extLst>
          </p:cNvPr>
          <p:cNvSpPr>
            <a:spLocks xmlns:a="http://schemas.openxmlformats.org/drawingml/2006/main" noGrp="1"/>
          </p:cNvSpPr>
          <p:nvPr/>
        </p:nvSpPr>
        <p:spPr>
          <a:xfrm xmlns:a="http://schemas.openxmlformats.org/drawingml/2006/main">
            <a:off x="762000" y="14763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2162A0"/>
                </a:solidFill>
                <a:latin typeface="Arial"/>
                <a:ea typeface="Arial"/>
                <a:cs typeface="Arial"/>
              </a:defRPr>
            </a:pPr>
            <a:r>
              <a:rPr sz="2250" b="1">
                <a:solidFill>
                  <a:srgbClr val="2162A0"/>
                </a:solidFill>
                <a:latin typeface="Arial"/>
                <a:ea typeface="Arial"/>
                <a:cs typeface="Arial"/>
              </a:rPr>
              <a:t>Vaso A: probabilidad</a:t>
            </a:r>
          </a:p>
        </p:txBody>
      </p:sp>
      <p:sp>
        <p:nvSpPr>
          <p:cNvPr id="10" name="">
            <a:extLst xmlns:a="http://schemas.openxmlformats.org/drawingml/2006/main">
              <a:ext uri="{FF2B5EF4-FFF2-40B4-BE49-F238E27FC236}">
                <a16:creationId xmlns:a16="http://schemas.microsoft.com/office/drawing/2014/main" id="{60B7937A-B70F-49C7-9127-3715E8AE8093}"/>
              </a:ext>
            </a:extLst>
          </p:cNvPr>
          <p:cNvSpPr>
            <a:spLocks xmlns:a="http://schemas.openxmlformats.org/drawingml/2006/main" noGrp="1"/>
          </p:cNvSpPr>
          <p:nvPr/>
        </p:nvSpPr>
        <p:spPr>
          <a:xfrm xmlns:a="http://schemas.openxmlformats.org/drawingml/2006/main">
            <a:off x="6381750" y="14763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Vaso B: pertenencia fuzzy</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89b67d197f29426b"/>
          <a:srcRect xmlns:a="http://schemas.openxmlformats.org/drawingml/2006/main" l="0" t="12289" r="0" b="12289"/>
          <a:stretch xmlns:a="http://schemas.openxmlformats.org/drawingml/2006/main">
            <a:fillRect l="0" t="0" r="0" b="0"/>
          </a:stretch>
        </p:blipFill>
        <p:spPr>
          <a:xfrm xmlns:a="http://schemas.openxmlformats.org/drawingml/2006/main">
            <a:off x="1333500" y="1828800"/>
            <a:ext cx="9525000" cy="2476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781B77C-8C0B-47FD-9F48-408B9075221E}"/>
              </a:ext>
            </a:extLst>
          </p:cNvPr>
          <p:cNvSpPr>
            <a:spLocks xmlns:a="http://schemas.openxmlformats.org/drawingml/2006/main" noGrp="1"/>
          </p:cNvSpPr>
          <p:nvPr/>
        </p:nvSpPr>
        <p:spPr>
          <a:xfrm xmlns:a="http://schemas.openxmlformats.org/drawingml/2006/main">
            <a:off x="762000" y="433387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95 % de probabilidad de estar sano</a:t>
            </a:r>
          </a:p>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5 % de estar envenenado</a:t>
            </a:r>
          </a:p>
        </p:txBody>
      </p:sp>
      <p:sp>
        <p:nvSpPr>
          <p:cNvPr id="13" name="">
            <a:extLst xmlns:a="http://schemas.openxmlformats.org/drawingml/2006/main">
              <a:ext uri="{FF2B5EF4-FFF2-40B4-BE49-F238E27FC236}">
                <a16:creationId xmlns:a16="http://schemas.microsoft.com/office/drawing/2014/main" id="{1FC15B68-C7DB-4B35-A97E-5C93B443D6BE}"/>
              </a:ext>
            </a:extLst>
          </p:cNvPr>
          <p:cNvSpPr>
            <a:spLocks xmlns:a="http://schemas.openxmlformats.org/drawingml/2006/main" noGrp="1"/>
          </p:cNvSpPr>
          <p:nvPr/>
        </p:nvSpPr>
        <p:spPr>
          <a:xfrm xmlns:a="http://schemas.openxmlformats.org/drawingml/2006/main">
            <a:off x="6381750" y="433387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Pertenencia a «bueno»: 0,95</a:t>
            </a:r>
          </a:p>
        </p:txBody>
      </p:sp>
      <p:sp>
        <p:nvSpPr>
          <p:cNvPr id="14" name="">
            <a:extLst xmlns:a="http://schemas.openxmlformats.org/drawingml/2006/main">
              <a:ext uri="{FF2B5EF4-FFF2-40B4-BE49-F238E27FC236}">
                <a16:creationId xmlns:a16="http://schemas.microsoft.com/office/drawing/2014/main" id="{991B3A71-5AAD-4F9D-B420-CFE39B7681BA}"/>
              </a:ext>
            </a:extLst>
          </p:cNvPr>
          <p:cNvSpPr>
            <a:spLocks xmlns:a="http://schemas.openxmlformats.org/drawingml/2006/main" noGrp="1"/>
          </p:cNvSpPr>
          <p:nvPr/>
        </p:nvSpPr>
        <p:spPr>
          <a:xfrm xmlns:a="http://schemas.openxmlformats.org/drawingml/2006/main">
            <a:off x="762000" y="51149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233746"/>
                </a:solidFill>
                <a:latin typeface="Arial"/>
                <a:ea typeface="Arial"/>
                <a:cs typeface="Arial"/>
              </a:defRPr>
            </a:pPr>
            <a:r>
              <a:rPr sz="1800" b="0">
                <a:solidFill>
                  <a:srgbClr val="233746"/>
                </a:solidFill>
                <a:latin typeface="Arial"/>
                <a:ea typeface="Arial"/>
                <a:cs typeface="Arial"/>
              </a:rPr>
              <a:t>No sabemos si está sano o envenenado.</a:t>
            </a:r>
          </a:p>
        </p:txBody>
      </p:sp>
      <p:sp>
        <p:nvSpPr>
          <p:cNvPr id="15" name="">
            <a:extLst xmlns:a="http://schemas.openxmlformats.org/drawingml/2006/main">
              <a:ext uri="{FF2B5EF4-FFF2-40B4-BE49-F238E27FC236}">
                <a16:creationId xmlns:a16="http://schemas.microsoft.com/office/drawing/2014/main" id="{94250CDD-6629-40C8-AD1B-3C9300B022FB}"/>
              </a:ext>
            </a:extLst>
          </p:cNvPr>
          <p:cNvSpPr>
            <a:spLocks xmlns:a="http://schemas.openxmlformats.org/drawingml/2006/main" noGrp="1"/>
          </p:cNvSpPr>
          <p:nvPr/>
        </p:nvSpPr>
        <p:spPr>
          <a:xfrm xmlns:a="http://schemas.openxmlformats.org/drawingml/2006/main">
            <a:off x="6381750" y="511492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233746"/>
                </a:solidFill>
                <a:latin typeface="Arial"/>
                <a:ea typeface="Arial"/>
                <a:cs typeface="Arial"/>
              </a:defRPr>
            </a:pPr>
            <a:r>
              <a:rPr sz="1800" b="0">
                <a:solidFill>
                  <a:srgbClr val="233746"/>
                </a:solidFill>
                <a:latin typeface="Arial"/>
                <a:ea typeface="Arial"/>
                <a:cs typeface="Arial"/>
              </a:rPr>
              <a:t>Grado de «bueno», no probabilidad.</a:t>
            </a:r>
          </a:p>
        </p:txBody>
      </p:sp>
      <p:sp>
        <p:nvSpPr>
          <p:cNvPr id="16" name="">
            <a:extLst xmlns:a="http://schemas.openxmlformats.org/drawingml/2006/main">
              <a:ext uri="{FF2B5EF4-FFF2-40B4-BE49-F238E27FC236}">
                <a16:creationId xmlns:a16="http://schemas.microsoft.com/office/drawing/2014/main" id="{685EBD34-4928-4C9B-B00C-99A1BAE2A9AD}"/>
              </a:ext>
            </a:extLst>
          </p:cNvPr>
          <p:cNvSpPr>
            <a:spLocks xmlns:a="http://schemas.openxmlformats.org/drawingml/2006/main" noGrp="1"/>
          </p:cNvSpPr>
          <p:nvPr/>
        </p:nvSpPr>
        <p:spPr>
          <a:xfrm xmlns:a="http://schemas.openxmlformats.org/drawingml/2006/main">
            <a:off x="762000" y="5505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233746"/>
                </a:solidFill>
                <a:latin typeface="Arial"/>
                <a:ea typeface="Arial"/>
                <a:cs typeface="Arial"/>
              </a:defRPr>
            </a:pPr>
            <a:r>
              <a:rPr sz="1725" b="1">
                <a:solidFill>
                  <a:srgbClr val="233746"/>
                </a:solidFill>
                <a:latin typeface="Arial"/>
                <a:ea typeface="Arial"/>
                <a:cs typeface="Arial"/>
              </a:rPr>
              <a:t>Al analizarlo, resolvemos la duda:</a:t>
            </a:r>
          </a:p>
          <a:p xmlns:a="http://schemas.openxmlformats.org/drawingml/2006/main">
            <a:pPr>
              <a:buNone/>
              <a:defRPr sz="1725" b="1">
                <a:solidFill>
                  <a:srgbClr val="233746"/>
                </a:solidFill>
                <a:latin typeface="Arial"/>
                <a:ea typeface="Arial"/>
                <a:cs typeface="Arial"/>
              </a:defRPr>
            </a:pPr>
            <a:r>
              <a:rPr sz="1725" b="1">
                <a:solidFill>
                  <a:srgbClr val="233746"/>
                </a:solidFill>
                <a:latin typeface="Arial"/>
                <a:ea typeface="Arial"/>
                <a:cs typeface="Arial"/>
              </a:rPr>
              <a:t>está sano o está envenenado.</a:t>
            </a:r>
          </a:p>
        </p:txBody>
      </p:sp>
      <p:sp>
        <p:nvSpPr>
          <p:cNvPr id="17" name="">
            <a:extLst xmlns:a="http://schemas.openxmlformats.org/drawingml/2006/main">
              <a:ext uri="{FF2B5EF4-FFF2-40B4-BE49-F238E27FC236}">
                <a16:creationId xmlns:a16="http://schemas.microsoft.com/office/drawing/2014/main" id="{42040B7B-DDE5-472A-B999-DE8157BE7226}"/>
              </a:ext>
            </a:extLst>
          </p:cNvPr>
          <p:cNvSpPr>
            <a:spLocks xmlns:a="http://schemas.openxmlformats.org/drawingml/2006/main" noGrp="1"/>
          </p:cNvSpPr>
          <p:nvPr/>
        </p:nvSpPr>
        <p:spPr>
          <a:xfrm xmlns:a="http://schemas.openxmlformats.org/drawingml/2006/main">
            <a:off x="6381750" y="5505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233746"/>
                </a:solidFill>
                <a:latin typeface="Arial"/>
                <a:ea typeface="Arial"/>
                <a:cs typeface="Arial"/>
              </a:defRPr>
            </a:pPr>
            <a:r>
              <a:rPr sz="1725" b="1">
                <a:solidFill>
                  <a:srgbClr val="233746"/>
                </a:solidFill>
                <a:latin typeface="Arial"/>
                <a:ea typeface="Arial"/>
                <a:cs typeface="Arial"/>
              </a:rPr>
              <a:t>Al conocerlo, la pertenencia puede</a:t>
            </a:r>
          </a:p>
          <a:p xmlns:a="http://schemas.openxmlformats.org/drawingml/2006/main">
            <a:pPr>
              <a:buNone/>
              <a:defRPr sz="1725" b="1">
                <a:solidFill>
                  <a:srgbClr val="233746"/>
                </a:solidFill>
                <a:latin typeface="Arial"/>
                <a:ea typeface="Arial"/>
                <a:cs typeface="Arial"/>
              </a:defRPr>
            </a:pPr>
            <a:r>
              <a:rPr sz="1725" b="1">
                <a:solidFill>
                  <a:srgbClr val="233746"/>
                </a:solidFill>
                <a:latin typeface="Arial"/>
                <a:ea typeface="Arial"/>
                <a:cs typeface="Arial"/>
              </a:rPr>
              <a:t>seguir siendo 0,95: el criterio es gradual.</a:t>
            </a:r>
          </a:p>
        </p:txBody>
      </p:sp>
      <p:sp>
        <p:nvSpPr>
          <p:cNvPr id="18" name="">
            <a:extLst xmlns:a="http://schemas.openxmlformats.org/drawingml/2006/main">
              <a:ext uri="{FF2B5EF4-FFF2-40B4-BE49-F238E27FC236}">
                <a16:creationId xmlns:a16="http://schemas.microsoft.com/office/drawing/2014/main" id="{D4ABE310-DD53-4304-93AA-D52FFEA1E45C}"/>
              </a:ext>
            </a:extLst>
          </p:cNvPr>
          <p:cNvSpPr>
            <a:spLocks xmlns:a="http://schemas.openxmlformats.org/drawingml/2006/main" noGrp="1"/>
          </p:cNvSpPr>
          <p:nvPr/>
        </p:nvSpPr>
        <p:spPr>
          <a:xfrm xmlns:a="http://schemas.openxmlformats.org/drawingml/2006/main">
            <a:off x="762000" y="6257925"/>
            <a:ext cx="1076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425" b="0">
                <a:solidFill>
                  <a:srgbClr val="233746"/>
                </a:solidFill>
                <a:latin typeface="Arial"/>
                <a:ea typeface="Arial"/>
                <a:cs typeface="Arial"/>
              </a:defRPr>
            </a:pPr>
            <a:r>
              <a:rPr sz="1425" b="0">
                <a:solidFill>
                  <a:srgbClr val="233746"/>
                </a:solidFill>
                <a:latin typeface="Arial"/>
                <a:ea typeface="Arial"/>
                <a:cs typeface="Arial"/>
              </a:rPr>
              <a:t>0,95 fuzzy no significa «95 % agua y 5 % veneno» ni garantiza que sea seguro beberlo.</a:t>
            </a:r>
          </a:p>
        </p:txBody>
      </p:sp>
      <p:sp>
        <p:nvSpPr>
          <p:cNvPr id="23" name="">
            <a:extLst xmlns:a="http://schemas.openxmlformats.org/drawingml/2006/main">
              <a:ext uri="{FF2B5EF4-FFF2-40B4-BE49-F238E27FC236}">
                <a16:creationId xmlns:a16="http://schemas.microsoft.com/office/drawing/2014/main" id="{A8D26717-D331-48EC-99B8-1DB6510E282A}"/>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7035400-DEEE-4152-85B1-B296C166458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¿Qué fuentes de incertidumbre aborda fuzzy?</a:t>
            </a:r>
          </a:p>
        </p:txBody>
      </p:sp>
      <p:graphicFrame>
        <p:nvGraphicFramePr>
          <p:cNvPr id="23" name=""/>
          <p:cNvGraphicFramePr/>
          <p:nvPr/>
        </p:nvGraphicFramePr>
        <p:xfrm>
          <a:off xmlns:a="http://schemas.openxmlformats.org/drawingml/2006/main" x="762000" y="1638300"/>
          <a:ext xmlns:a="http://schemas.openxmlformats.org/drawingml/2006/main" cx="10668000" cy="3943350"/>
        </p:xfrm>
        <a:graphic xmlns:a="http://schemas.openxmlformats.org/drawingml/2006/main">
          <a:graphicData uri="http://schemas.openxmlformats.org/drawingml/2006/table">
            <a:tbl>
              <a:tblPr/>
              <a:tblGrid>
                <a:gridCol w="3476625"/>
                <a:gridCol w="7191375"/>
              </a:tblGrid>
              <a:tr h="552450">
                <a:tc>
                  <a:txBody>
                    <a:bodyPr lIns="133350" tIns="95250" rIns="133350" bIns="95250"/>
                    <a:lstStyle/>
                    <a:p>
                      <a:r>
                        <a:rPr sz="2025" b="1">
                          <a:solidFill>
                            <a:srgbClr val="FFFFFF"/>
                          </a:solidFill>
                          <a:latin typeface="Arial"/>
                          <a:ea typeface="Arial"/>
                          <a:cs typeface="Arial"/>
                        </a:rPr>
                        <a:t>Fuente de incertidumbre</a:t>
                      </a:r>
                    </a:p>
                  </a:txBody>
                  <a:tcPr marL="91440" marR="91440" marT="45720" marB="45720" anchor="ctr">
                    <a:solidFill>
                      <a:srgbClr val="D96B18"/>
                    </a:solidFill>
                  </a:tcPr>
                </a:tc>
                <a:tc>
                  <a:txBody>
                    <a:bodyPr lIns="133350" tIns="95250" rIns="133350" bIns="95250"/>
                    <a:lstStyle/>
                    <a:p>
                      <a:r>
                        <a:rPr sz="2025" b="1">
                          <a:solidFill>
                            <a:srgbClr val="FFFFFF"/>
                          </a:solidFill>
                          <a:latin typeface="Arial"/>
                          <a:ea typeface="Arial"/>
                          <a:cs typeface="Arial"/>
                        </a:rPr>
                        <a:t>¿Qué aporta fuzzy?</a:t>
                      </a:r>
                    </a:p>
                  </a:txBody>
                  <a:tcPr marL="91440" marR="91440" marT="45720" marB="45720" anchor="ctr">
                    <a:solidFill>
                      <a:srgbClr val="D96B18"/>
                    </a:solidFill>
                  </a:tcPr>
                </a:tc>
              </a:tr>
              <a:tr h="847725">
                <a:tc>
                  <a:txBody>
                    <a:bodyPr lIns="133350" tIns="95250" rIns="133350" bIns="95250"/>
                    <a:lstStyle/>
                    <a:p>
                      <a:r>
                        <a:rPr sz="1875" b="1">
                          <a:solidFill>
                            <a:srgbClr val="233746"/>
                          </a:solidFill>
                          <a:latin typeface="Arial"/>
                          <a:ea typeface="Arial"/>
                          <a:cs typeface="Arial"/>
                        </a:rPr>
                        <a:t>Vaguedad del lenguaje</a:t>
                      </a:r>
                    </a:p>
                    <a:p>
                      <a:r>
                        <a:rPr sz="1875" b="1">
                          <a:solidFill>
                            <a:srgbClr val="233746"/>
                          </a:solidFill>
                          <a:latin typeface="Arial"/>
                          <a:ea typeface="Arial"/>
                          <a:cs typeface="Arial"/>
                        </a:rPr>
                        <a:t>(no aleatoria)</a:t>
                      </a:r>
                    </a:p>
                  </a:txBody>
                  <a:tcPr marL="91440" marR="91440" marT="45720" marB="45720" anchor="ctr">
                    <a:solidFill>
                      <a:srgbClr val="FFF3E8"/>
                    </a:solidFill>
                  </a:tcPr>
                </a:tc>
                <a:tc>
                  <a:txBody>
                    <a:bodyPr lIns="133350" tIns="95250" rIns="133350" bIns="95250"/>
                    <a:lstStyle/>
                    <a:p>
                      <a:r>
                        <a:rPr sz="1875" b="0">
                          <a:solidFill>
                            <a:srgbClr val="233746"/>
                          </a:solidFill>
                          <a:latin typeface="Arial"/>
                          <a:ea typeface="Arial"/>
                          <a:cs typeface="Arial"/>
                        </a:rPr>
                        <a:t>«Temperatura agradable»: representamos</a:t>
                      </a:r>
                    </a:p>
                    <a:p>
                      <a:r>
                        <a:rPr sz="1875" b="0">
                          <a:solidFill>
                            <a:srgbClr val="233746"/>
                          </a:solidFill>
                          <a:latin typeface="Arial"/>
                          <a:ea typeface="Arial"/>
                          <a:cs typeface="Arial"/>
                        </a:rPr>
                        <a:t>su vaguedad con grados de pertenencia.</a:t>
                      </a:r>
                    </a:p>
                  </a:txBody>
                  <a:tcPr marL="91440" marR="91440" marT="45720" marB="45720" anchor="ctr">
                    <a:solidFill>
                      <a:srgbClr val="FFF3E8"/>
                    </a:solidFill>
                  </a:tcPr>
                </a:tc>
              </a:tr>
              <a:tr h="847725">
                <a:tc>
                  <a:txBody>
                    <a:bodyPr lIns="133350" tIns="95250" rIns="133350" bIns="95250"/>
                    <a:lstStyle/>
                    <a:p>
                      <a:r>
                        <a:rPr sz="1875" b="1">
                          <a:solidFill>
                            <a:srgbClr val="233746"/>
                          </a:solidFill>
                          <a:latin typeface="Arial"/>
                          <a:ea typeface="Arial"/>
                          <a:cs typeface="Arial"/>
                        </a:rPr>
                        <a:t>Aleatoriedad</a:t>
                      </a:r>
                    </a:p>
                    <a:p>
                      <a:r>
                        <a:rPr sz="1875" b="1">
                          <a:solidFill>
                            <a:srgbClr val="233746"/>
                          </a:solidFill>
                          <a:latin typeface="Arial"/>
                          <a:ea typeface="Arial"/>
                          <a:cs typeface="Arial"/>
                        </a:rPr>
                        <a:t>Ruido en un sensor</a:t>
                      </a:r>
                    </a:p>
                  </a:txBody>
                  <a:tcPr marL="91440" marR="91440" marT="45720" marB="45720" anchor="ctr">
                    <a:solidFill>
                      <a:srgbClr val="FFFFFF"/>
                    </a:solidFill>
                  </a:tcPr>
                </a:tc>
                <a:tc>
                  <a:txBody>
                    <a:bodyPr lIns="133350" tIns="95250" rIns="133350" bIns="95250"/>
                    <a:lstStyle/>
                    <a:p>
                      <a:r>
                        <a:rPr sz="1875" b="0">
                          <a:solidFill>
                            <a:srgbClr val="233746"/>
                          </a:solidFill>
                          <a:latin typeface="Arial"/>
                          <a:ea typeface="Arial"/>
                          <a:cs typeface="Arial"/>
                        </a:rPr>
                        <a:t>La probabilidad modela el ruido aleatorio.</a:t>
                      </a:r>
                    </a:p>
                    <a:p>
                      <a:r>
                        <a:rPr sz="1875" b="0">
                          <a:solidFill>
                            <a:srgbClr val="233746"/>
                          </a:solidFill>
                          <a:latin typeface="Arial"/>
                          <a:ea typeface="Arial"/>
                          <a:cs typeface="Arial"/>
                        </a:rPr>
                        <a:t>Puede combinarse con un sistema fuzzy.</a:t>
                      </a:r>
                    </a:p>
                  </a:txBody>
                  <a:tcPr marL="91440" marR="91440" marT="45720" marB="45720" anchor="ctr">
                    <a:solidFill>
                      <a:srgbClr val="FFFFFF"/>
                    </a:solidFill>
                  </a:tcPr>
                </a:tc>
              </a:tr>
              <a:tr h="847725">
                <a:tc>
                  <a:txBody>
                    <a:bodyPr lIns="133350" tIns="95250" rIns="133350" bIns="95250"/>
                    <a:lstStyle/>
                    <a:p>
                      <a:r>
                        <a:rPr sz="1875" b="1">
                          <a:solidFill>
                            <a:srgbClr val="233746"/>
                          </a:solidFill>
                          <a:latin typeface="Arial"/>
                          <a:ea typeface="Arial"/>
                          <a:cs typeface="Arial"/>
                        </a:rPr>
                        <a:t>Complejidad</a:t>
                      </a:r>
                    </a:p>
                    <a:p>
                      <a:r>
                        <a:rPr sz="1875" b="1">
                          <a:solidFill>
                            <a:srgbClr val="233746"/>
                          </a:solidFill>
                          <a:latin typeface="Arial"/>
                          <a:ea typeface="Arial"/>
                          <a:cs typeface="Arial"/>
                        </a:rPr>
                        <a:t>Sin una ecuación manejable</a:t>
                      </a:r>
                    </a:p>
                  </a:txBody>
                  <a:tcPr marL="91440" marR="91440" marT="45720" marB="45720" anchor="ctr">
                    <a:solidFill>
                      <a:srgbClr val="FFF3E8"/>
                    </a:solidFill>
                  </a:tcPr>
                </a:tc>
                <a:tc>
                  <a:txBody>
                    <a:bodyPr lIns="133350" tIns="95250" rIns="133350" bIns="95250"/>
                    <a:lstStyle/>
                    <a:p>
                      <a:r>
                        <a:rPr sz="1875" b="0">
                          <a:solidFill>
                            <a:srgbClr val="233746"/>
                          </a:solidFill>
                          <a:latin typeface="Arial"/>
                          <a:ea typeface="Arial"/>
                          <a:cs typeface="Arial"/>
                        </a:rPr>
                        <a:t>Aproxima el comportamiento usando</a:t>
                      </a:r>
                    </a:p>
                    <a:p>
                      <a:r>
                        <a:rPr sz="1875" b="0">
                          <a:solidFill>
                            <a:srgbClr val="233746"/>
                          </a:solidFill>
                          <a:latin typeface="Arial"/>
                          <a:ea typeface="Arial"/>
                          <a:cs typeface="Arial"/>
                        </a:rPr>
                        <a:t>reglas de expertos o datos disponibles.</a:t>
                      </a:r>
                    </a:p>
                  </a:txBody>
                  <a:tcPr marL="91440" marR="91440" marT="45720" marB="45720" anchor="ctr">
                    <a:solidFill>
                      <a:srgbClr val="FFF3E8"/>
                    </a:solidFill>
                  </a:tcPr>
                </a:tc>
              </a:tr>
              <a:tr h="847725">
                <a:tc>
                  <a:txBody>
                    <a:bodyPr lIns="133350" tIns="95250" rIns="133350" bIns="95250"/>
                    <a:lstStyle/>
                    <a:p>
                      <a:r>
                        <a:rPr sz="1875" b="1">
                          <a:solidFill>
                            <a:srgbClr val="233746"/>
                          </a:solidFill>
                          <a:latin typeface="Arial"/>
                          <a:ea typeface="Arial"/>
                          <a:cs typeface="Arial"/>
                        </a:rPr>
                        <a:t>Ignorancia o falta de conocimiento</a:t>
                      </a:r>
                    </a:p>
                  </a:txBody>
                  <a:tcPr marL="91440" marR="91440" marT="45720" marB="45720" anchor="ctr">
                    <a:solidFill>
                      <a:srgbClr val="FFFFFF"/>
                    </a:solidFill>
                  </a:tcPr>
                </a:tc>
                <a:tc>
                  <a:txBody>
                    <a:bodyPr lIns="133350" tIns="95250" rIns="133350" bIns="95250"/>
                    <a:lstStyle/>
                    <a:p>
                      <a:r>
                        <a:rPr sz="1875" b="0">
                          <a:solidFill>
                            <a:srgbClr val="233746"/>
                          </a:solidFill>
                          <a:latin typeface="Arial"/>
                          <a:ea typeface="Arial"/>
                          <a:cs typeface="Arial"/>
                        </a:rPr>
                        <a:t>Aprovecha lo que sí sabemos, pero necesita</a:t>
                      </a:r>
                    </a:p>
                    <a:p>
                      <a:r>
                        <a:rPr sz="1875" b="0">
                          <a:solidFill>
                            <a:srgbClr val="233746"/>
                          </a:solidFill>
                          <a:latin typeface="Arial"/>
                          <a:ea typeface="Arial"/>
                          <a:cs typeface="Arial"/>
                        </a:rPr>
                        <a:t>información para construir las reglas.</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9CA84916-0712-4F03-8F31-B414E13FF8C8}"/>
              </a:ext>
            </a:extLst>
          </p:cNvPr>
          <p:cNvSpPr>
            <a:spLocks xmlns:a="http://schemas.openxmlformats.org/drawingml/2006/main" noGrp="1"/>
          </p:cNvSpPr>
          <p:nvPr/>
        </p:nvSpPr>
        <p:spPr>
          <a:xfrm xmlns:a="http://schemas.openxmlformats.org/drawingml/2006/main">
            <a:off x="762000" y="58007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D96B18"/>
                </a:solidFill>
                <a:latin typeface="Arial"/>
                <a:ea typeface="Arial"/>
                <a:cs typeface="Arial"/>
              </a:defRPr>
            </a:pPr>
            <a:r>
              <a:rPr sz="1950" b="1">
                <a:solidFill>
                  <a:srgbClr val="D96B18"/>
                </a:solidFill>
                <a:latin typeface="Arial"/>
                <a:ea typeface="Arial"/>
                <a:cs typeface="Arial"/>
              </a:rPr>
              <a:t>Bellman y Zadeh (1970): los grados de pertenencia permiten</a:t>
            </a:r>
          </a:p>
          <a:p xmlns:a="http://schemas.openxmlformats.org/drawingml/2006/main">
            <a:pPr>
              <a:buNone/>
              <a:defRPr sz="1950" b="1">
                <a:solidFill>
                  <a:srgbClr val="D96B18"/>
                </a:solidFill>
                <a:latin typeface="Arial"/>
                <a:ea typeface="Arial"/>
                <a:cs typeface="Arial"/>
              </a:defRPr>
            </a:pPr>
            <a:r>
              <a:rPr sz="1950" b="1">
                <a:solidFill>
                  <a:srgbClr val="D96B18"/>
                </a:solidFill>
                <a:latin typeface="Arial"/>
                <a:ea typeface="Arial"/>
                <a:cs typeface="Arial"/>
              </a:rPr>
              <a:t>valorar objetivos y restricciones para tomar decisiones.</a:t>
            </a:r>
          </a:p>
        </p:txBody>
      </p:sp>
      <p:sp>
        <p:nvSpPr>
          <p:cNvPr id="15" name="">
            <a:extLst xmlns:a="http://schemas.openxmlformats.org/drawingml/2006/main">
              <a:ext uri="{FF2B5EF4-FFF2-40B4-BE49-F238E27FC236}">
                <a16:creationId xmlns:a16="http://schemas.microsoft.com/office/drawing/2014/main" id="{EA7FCAFB-C485-4545-8252-26C302D1043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A75851-FFC3-4CFD-9FED-5EFA6FE49F8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Tres funciones de pertenencia en Python</a:t>
            </a:r>
          </a:p>
        </p:txBody>
      </p:sp>
      <p:sp>
        <p:nvSpPr>
          <p:cNvPr id="9" name="">
            <a:extLst xmlns:a="http://schemas.openxmlformats.org/drawingml/2006/main">
              <a:ext uri="{FF2B5EF4-FFF2-40B4-BE49-F238E27FC236}">
                <a16:creationId xmlns:a16="http://schemas.microsoft.com/office/drawing/2014/main" id="{D51073BB-481C-42A1-9791-F0B2E9ABAFA2}"/>
              </a:ext>
            </a:extLst>
          </p:cNvPr>
          <p:cNvSpPr>
            <a:spLocks xmlns:a="http://schemas.openxmlformats.org/drawingml/2006/main" noGrp="1"/>
          </p:cNvSpPr>
          <p:nvPr/>
        </p:nvSpPr>
        <p:spPr>
          <a:xfrm xmlns:a="http://schemas.openxmlformats.org/drawingml/2006/main">
            <a:off x="762000" y="14287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233746"/>
                </a:solidFill>
                <a:latin typeface="Consolas"/>
                <a:ea typeface="Consolas"/>
                <a:cs typeface="Consolas"/>
              </a:defRPr>
            </a:pPr>
            <a:r>
              <a:rPr sz="1800" b="0">
                <a:solidFill>
                  <a:srgbClr val="233746"/>
                </a:solidFill>
                <a:latin typeface="Consolas"/>
                <a:ea typeface="Consolas"/>
                <a:cs typeface="Consolas"/>
              </a:rPr>
              <a:t>import numpy as np</a:t>
            </a:r>
          </a:p>
          <a:p xmlns:a="http://schemas.openxmlformats.org/drawingml/2006/main">
            <a:pPr>
              <a:buNone/>
              <a:defRPr sz="1800" b="0">
                <a:solidFill>
                  <a:srgbClr val="233746"/>
                </a:solidFill>
                <a:latin typeface="Consolas"/>
                <a:ea typeface="Consolas"/>
                <a:cs typeface="Consolas"/>
              </a:defRPr>
            </a:pPr>
            <a:r>
              <a:rPr sz="1800" b="0">
                <a:solidFill>
                  <a:srgbClr val="233746"/>
                </a:solidFill>
                <a:latin typeface="Consolas"/>
                <a:ea typeface="Consolas"/>
                <a:cs typeface="Consolas"/>
              </a:rPr>
              <a:t>x = np.linspace(0, 10, 201)</a:t>
            </a:r>
          </a:p>
        </p:txBody>
      </p:sp>
      <p:sp>
        <p:nvSpPr>
          <p:cNvPr id="10" name="">
            <a:extLst xmlns:a="http://schemas.openxmlformats.org/drawingml/2006/main">
              <a:ext uri="{FF2B5EF4-FFF2-40B4-BE49-F238E27FC236}">
                <a16:creationId xmlns:a16="http://schemas.microsoft.com/office/drawing/2014/main" id="{5C41C8AE-FDFB-47DE-AB25-5E9A840AE826}"/>
              </a:ext>
            </a:extLst>
          </p:cNvPr>
          <p:cNvSpPr>
            <a:spLocks xmlns:a="http://schemas.openxmlformats.org/drawingml/2006/main" noGrp="1"/>
          </p:cNvSpPr>
          <p:nvPr/>
        </p:nvSpPr>
        <p:spPr>
          <a:xfrm xmlns:a="http://schemas.openxmlformats.org/drawingml/2006/main">
            <a:off x="762000" y="214312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D96B18"/>
                </a:solidFill>
                <a:latin typeface="Arial"/>
                <a:ea typeface="Arial"/>
                <a:cs typeface="Arial"/>
              </a:defRPr>
            </a:pPr>
            <a:r>
              <a:rPr sz="1650" b="1">
                <a:solidFill>
                  <a:srgbClr val="D96B18"/>
                </a:solidFill>
                <a:latin typeface="Arial"/>
                <a:ea typeface="Arial"/>
                <a:cs typeface="Arial"/>
              </a:rPr>
              <a:t>Triangular · a &lt; b &lt; c</a:t>
            </a:r>
          </a:p>
        </p:txBody>
      </p:sp>
      <p:graphicFrame>
        <p:nvGraphicFramePr>
          <p:cNvPr id="38" name="Chart"/>
          <p:cNvGraphicFramePr/>
          <p:nvPr/>
        </p:nvGraphicFramePr>
        <p:xfrm>
          <a:off xmlns:a="http://schemas.openxmlformats.org/drawingml/2006/main" x="742950" y="2447925"/>
          <a:ext xmlns:a="http://schemas.openxmlformats.org/drawingml/2006/main" cx="2714625" cy="1047750"/>
        </p:xfrm>
        <a:graphic xmlns:a="http://schemas.openxmlformats.org/drawingml/2006/main">
          <a:graphicData uri="http://schemas.openxmlformats.org/drawingml/2006/chart">
            <c:chart xmlns:r="http://schemas.openxmlformats.org/officeDocument/2006/relationships" xmlns:c="http://schemas.openxmlformats.org/drawingml/2006/chart" r:id="R43555420da534de8"/>
          </a:graphicData>
        </a:graphic>
      </p:graphicFrame>
      <p:sp>
        <p:nvSpPr>
          <p:cNvPr id="12" name="">
            <a:extLst xmlns:a="http://schemas.openxmlformats.org/drawingml/2006/main">
              <a:ext uri="{FF2B5EF4-FFF2-40B4-BE49-F238E27FC236}">
                <a16:creationId xmlns:a16="http://schemas.microsoft.com/office/drawing/2014/main" id="{0CD36324-CC90-4D8F-9018-E3511A5EC024}"/>
              </a:ext>
            </a:extLst>
          </p:cNvPr>
          <p:cNvSpPr>
            <a:spLocks xmlns:a="http://schemas.openxmlformats.org/drawingml/2006/main" noGrp="1"/>
          </p:cNvSpPr>
          <p:nvPr/>
        </p:nvSpPr>
        <p:spPr>
          <a:xfrm xmlns:a="http://schemas.openxmlformats.org/drawingml/2006/main">
            <a:off x="3829050" y="2171700"/>
            <a:ext cx="7667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def triangular(x, a, b, c):</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subida = (x-a)/(b-a)</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bajada = (c-x)/(c-b)</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return np.clip(np.minimum(subida, bajada), 0, 1)</a:t>
            </a:r>
          </a:p>
        </p:txBody>
      </p:sp>
      <p:sp>
        <p:nvSpPr>
          <p:cNvPr id="13" name="">
            <a:extLst xmlns:a="http://schemas.openxmlformats.org/drawingml/2006/main">
              <a:ext uri="{FF2B5EF4-FFF2-40B4-BE49-F238E27FC236}">
                <a16:creationId xmlns:a16="http://schemas.microsoft.com/office/drawing/2014/main" id="{ED488696-8C01-4C53-A47F-40F5A4A1A4B9}"/>
              </a:ext>
            </a:extLst>
          </p:cNvPr>
          <p:cNvSpPr>
            <a:spLocks xmlns:a="http://schemas.openxmlformats.org/drawingml/2006/main" noGrp="1"/>
          </p:cNvSpPr>
          <p:nvPr/>
        </p:nvSpPr>
        <p:spPr>
          <a:xfrm xmlns:a="http://schemas.openxmlformats.org/drawingml/2006/main">
            <a:off x="762000" y="355282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D96B18"/>
                </a:solidFill>
                <a:latin typeface="Arial"/>
                <a:ea typeface="Arial"/>
                <a:cs typeface="Arial"/>
              </a:defRPr>
            </a:pPr>
            <a:r>
              <a:rPr sz="1650" b="1">
                <a:solidFill>
                  <a:srgbClr val="D96B18"/>
                </a:solidFill>
                <a:latin typeface="Arial"/>
                <a:ea typeface="Arial"/>
                <a:cs typeface="Arial"/>
              </a:rPr>
              <a:t>Trapezoidal · a &lt; b ≤ c &lt; d</a:t>
            </a:r>
          </a:p>
        </p:txBody>
      </p:sp>
      <p:graphicFrame>
        <p:nvGraphicFramePr>
          <p:cNvPr id="41" name="Chart"/>
          <p:cNvGraphicFramePr/>
          <p:nvPr/>
        </p:nvGraphicFramePr>
        <p:xfrm>
          <a:off xmlns:a="http://schemas.openxmlformats.org/drawingml/2006/main" x="742950" y="3857625"/>
          <a:ext xmlns:a="http://schemas.openxmlformats.org/drawingml/2006/main" cx="2714625" cy="1047750"/>
        </p:xfrm>
        <a:graphic xmlns:a="http://schemas.openxmlformats.org/drawingml/2006/main">
          <a:graphicData uri="http://schemas.openxmlformats.org/drawingml/2006/chart">
            <c:chart xmlns:r="http://schemas.openxmlformats.org/officeDocument/2006/relationships" xmlns:c="http://schemas.openxmlformats.org/drawingml/2006/chart" r:id="Rbac9ec9eb96141ed"/>
          </a:graphicData>
        </a:graphic>
      </p:graphicFrame>
      <p:sp>
        <p:nvSpPr>
          <p:cNvPr id="15" name="">
            <a:extLst xmlns:a="http://schemas.openxmlformats.org/drawingml/2006/main">
              <a:ext uri="{FF2B5EF4-FFF2-40B4-BE49-F238E27FC236}">
                <a16:creationId xmlns:a16="http://schemas.microsoft.com/office/drawing/2014/main" id="{AD79B389-E1B8-4B13-85A1-E65327B7008C}"/>
              </a:ext>
            </a:extLst>
          </p:cNvPr>
          <p:cNvSpPr>
            <a:spLocks xmlns:a="http://schemas.openxmlformats.org/drawingml/2006/main" noGrp="1"/>
          </p:cNvSpPr>
          <p:nvPr/>
        </p:nvSpPr>
        <p:spPr>
          <a:xfrm xmlns:a="http://schemas.openxmlformats.org/drawingml/2006/main">
            <a:off x="3829050" y="3581400"/>
            <a:ext cx="7667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def trapezoidal(x, a, b, c, d):</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subida = (x-a)/(b-a)</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bajada = (d-x)/(d-c)</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return np.clip(np.minimum(subida, bajada), 0, 1)</a:t>
            </a:r>
          </a:p>
        </p:txBody>
      </p:sp>
      <p:sp>
        <p:nvSpPr>
          <p:cNvPr id="16" name="">
            <a:extLst xmlns:a="http://schemas.openxmlformats.org/drawingml/2006/main">
              <a:ext uri="{FF2B5EF4-FFF2-40B4-BE49-F238E27FC236}">
                <a16:creationId xmlns:a16="http://schemas.microsoft.com/office/drawing/2014/main" id="{22DFF483-D70F-4467-A84A-D3B901C7E19F}"/>
              </a:ext>
            </a:extLst>
          </p:cNvPr>
          <p:cNvSpPr>
            <a:spLocks xmlns:a="http://schemas.openxmlformats.org/drawingml/2006/main" noGrp="1"/>
          </p:cNvSpPr>
          <p:nvPr/>
        </p:nvSpPr>
        <p:spPr>
          <a:xfrm xmlns:a="http://schemas.openxmlformats.org/drawingml/2006/main">
            <a:off x="762000" y="4962525"/>
            <a:ext cx="319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1">
                <a:solidFill>
                  <a:srgbClr val="D96B18"/>
                </a:solidFill>
                <a:latin typeface="Arial"/>
                <a:ea typeface="Arial"/>
                <a:cs typeface="Arial"/>
              </a:defRPr>
            </a:pPr>
            <a:r>
              <a:rPr sz="1650" b="1">
                <a:solidFill>
                  <a:srgbClr val="D96B18"/>
                </a:solidFill>
                <a:latin typeface="Arial"/>
                <a:ea typeface="Arial"/>
                <a:cs typeface="Arial"/>
              </a:rPr>
              <a:t>Gaussiana · sigma &gt; 0</a:t>
            </a:r>
          </a:p>
        </p:txBody>
      </p:sp>
      <p:graphicFrame>
        <p:nvGraphicFramePr>
          <p:cNvPr id="44" name="Chart"/>
          <p:cNvGraphicFramePr/>
          <p:nvPr/>
        </p:nvGraphicFramePr>
        <p:xfrm>
          <a:off xmlns:a="http://schemas.openxmlformats.org/drawingml/2006/main" x="742950" y="5267325"/>
          <a:ext xmlns:a="http://schemas.openxmlformats.org/drawingml/2006/main" cx="2714625" cy="1047750"/>
        </p:xfrm>
        <a:graphic xmlns:a="http://schemas.openxmlformats.org/drawingml/2006/main">
          <a:graphicData uri="http://schemas.openxmlformats.org/drawingml/2006/chart">
            <c:chart xmlns:r="http://schemas.openxmlformats.org/officeDocument/2006/relationships" xmlns:c="http://schemas.openxmlformats.org/drawingml/2006/chart" r:id="R03e322eab2fe4500"/>
          </a:graphicData>
        </a:graphic>
      </p:graphicFrame>
      <p:sp>
        <p:nvSpPr>
          <p:cNvPr id="18" name="">
            <a:extLst xmlns:a="http://schemas.openxmlformats.org/drawingml/2006/main">
              <a:ext uri="{FF2B5EF4-FFF2-40B4-BE49-F238E27FC236}">
                <a16:creationId xmlns:a16="http://schemas.microsoft.com/office/drawing/2014/main" id="{BD23C15D-51A8-47BF-B86F-9277094EF6E0}"/>
              </a:ext>
            </a:extLst>
          </p:cNvPr>
          <p:cNvSpPr>
            <a:spLocks xmlns:a="http://schemas.openxmlformats.org/drawingml/2006/main" noGrp="1"/>
          </p:cNvSpPr>
          <p:nvPr/>
        </p:nvSpPr>
        <p:spPr>
          <a:xfrm xmlns:a="http://schemas.openxmlformats.org/drawingml/2006/main">
            <a:off x="3829050" y="4991100"/>
            <a:ext cx="76676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def gaussiana(x, c, sigma):</a:t>
            </a:r>
          </a:p>
          <a:p xmlns:a="http://schemas.openxmlformats.org/drawingml/2006/main">
            <a:pPr>
              <a:buNone/>
              <a:defRPr sz="1725" b="0">
                <a:solidFill>
                  <a:srgbClr val="233746"/>
                </a:solidFill>
                <a:latin typeface="Consolas"/>
                <a:ea typeface="Consolas"/>
                <a:cs typeface="Consolas"/>
              </a:defRPr>
            </a:pPr>
            <a:r>
              <a:rPr sz="1725" b="0">
                <a:solidFill>
                  <a:srgbClr val="233746"/>
                </a:solidFill>
                <a:latin typeface="Consolas"/>
                <a:ea typeface="Consolas"/>
                <a:cs typeface="Consolas"/>
              </a:rPr>
              <a:t>    return np.exp(-0.5 * ((x-c)/sigma)**2)</a:t>
            </a:r>
          </a:p>
        </p:txBody>
      </p:sp>
      <p:sp>
        <p:nvSpPr>
          <p:cNvPr id="19" name="">
            <a:extLst xmlns:a="http://schemas.openxmlformats.org/drawingml/2006/main">
              <a:ext uri="{FF2B5EF4-FFF2-40B4-BE49-F238E27FC236}">
                <a16:creationId xmlns:a16="http://schemas.microsoft.com/office/drawing/2014/main" id="{7E47D539-0B5F-4226-A508-AAB078E3B3C2}"/>
              </a:ext>
            </a:extLst>
          </p:cNvPr>
          <p:cNvSpPr>
            <a:spLocks xmlns:a="http://schemas.openxmlformats.org/drawingml/2006/main" noGrp="1"/>
          </p:cNvSpPr>
          <p:nvPr/>
        </p:nvSpPr>
        <p:spPr>
          <a:xfrm xmlns:a="http://schemas.openxmlformats.org/drawingml/2006/main">
            <a:off x="3829050" y="5905500"/>
            <a:ext cx="7667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2162A0"/>
                </a:solidFill>
                <a:latin typeface="Consolas"/>
                <a:ea typeface="Consolas"/>
                <a:cs typeface="Consolas"/>
              </a:defRPr>
            </a:pPr>
            <a:r>
              <a:rPr sz="1725" b="0">
                <a:solidFill>
                  <a:srgbClr val="2162A0"/>
                </a:solidFill>
                <a:latin typeface="Consolas"/>
                <a:ea typeface="Consolas"/>
                <a:cs typeface="Consolas"/>
              </a:rPr>
              <a:t>Ejemplo: mu = gaussiana(x, c=5, sigma=1.3)</a:t>
            </a:r>
          </a:p>
        </p:txBody>
      </p:sp>
      <p:sp>
        <p:nvSpPr>
          <p:cNvPr id="28" name="">
            <a:extLst xmlns:a="http://schemas.openxmlformats.org/drawingml/2006/main">
              <a:ext uri="{FF2B5EF4-FFF2-40B4-BE49-F238E27FC236}">
                <a16:creationId xmlns:a16="http://schemas.microsoft.com/office/drawing/2014/main" id="{9693A418-6610-434B-86DB-71A539F76065}"/>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45139BC-29F8-464C-8E59-E62E7C09C16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Ejercicio 1.1 · Tiempo de fraguado de epoxi</a:t>
            </a:r>
          </a:p>
        </p:txBody>
      </p:sp>
      <p:sp>
        <p:nvSpPr>
          <p:cNvPr id="9" name="">
            <a:extLst xmlns:a="http://schemas.openxmlformats.org/drawingml/2006/main">
              <a:ext uri="{FF2B5EF4-FFF2-40B4-BE49-F238E27FC236}">
                <a16:creationId xmlns:a16="http://schemas.microsoft.com/office/drawing/2014/main" id="{77021878-984F-4ABD-ADCC-0F0B22632DCE}"/>
              </a:ext>
            </a:extLst>
          </p:cNvPr>
          <p:cNvSpPr>
            <a:spLocks xmlns:a="http://schemas.openxmlformats.org/drawingml/2006/main" noGrp="1"/>
          </p:cNvSpPr>
          <p:nvPr/>
        </p:nvSpPr>
        <p:spPr>
          <a:xfrm xmlns:a="http://schemas.openxmlformats.org/drawingml/2006/main">
            <a:off x="762000" y="1581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Una resina epoxi tarda un tiempo en fraguar (endurecerse).</a:t>
            </a:r>
          </a:p>
        </p:txBody>
      </p:sp>
      <p:sp>
        <p:nvSpPr>
          <p:cNvPr id="10" name="">
            <a:extLst xmlns:a="http://schemas.openxmlformats.org/drawingml/2006/main">
              <a:ext uri="{FF2B5EF4-FFF2-40B4-BE49-F238E27FC236}">
                <a16:creationId xmlns:a16="http://schemas.microsoft.com/office/drawing/2014/main" id="{AE51B8A1-9567-4CE4-B3A1-058B8733FB68}"/>
              </a:ext>
            </a:extLst>
          </p:cNvPr>
          <p:cNvSpPr>
            <a:spLocks xmlns:a="http://schemas.openxmlformats.org/drawingml/2006/main" noGrp="1"/>
          </p:cNvSpPr>
          <p:nvPr/>
        </p:nvSpPr>
        <p:spPr>
          <a:xfrm xmlns:a="http://schemas.openxmlformats.org/drawingml/2006/main">
            <a:off x="762000" y="22193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Queremos describir ese tiempo con tres etiquetas:</a:t>
            </a:r>
          </a:p>
        </p:txBody>
      </p:sp>
      <p:sp>
        <p:nvSpPr>
          <p:cNvPr id="11" name="">
            <a:extLst xmlns:a="http://schemas.openxmlformats.org/drawingml/2006/main">
              <a:ext uri="{FF2B5EF4-FFF2-40B4-BE49-F238E27FC236}">
                <a16:creationId xmlns:a16="http://schemas.microsoft.com/office/drawing/2014/main" id="{2D1ED734-25DA-409A-9C76-A6818D00CDCD}"/>
              </a:ext>
            </a:extLst>
          </p:cNvPr>
          <p:cNvSpPr>
            <a:spLocks xmlns:a="http://schemas.openxmlformats.org/drawingml/2006/main" noGrp="1"/>
          </p:cNvSpPr>
          <p:nvPr/>
        </p:nvSpPr>
        <p:spPr>
          <a:xfrm xmlns:a="http://schemas.openxmlformats.org/drawingml/2006/main">
            <a:off x="762000" y="28860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1">
                <a:solidFill>
                  <a:srgbClr val="D96B18"/>
                </a:solidFill>
                <a:latin typeface="Arial"/>
                <a:ea typeface="Arial"/>
                <a:cs typeface="Arial"/>
              </a:defRPr>
            </a:pPr>
            <a:r>
              <a:rPr sz="2475" b="1">
                <a:solidFill>
                  <a:srgbClr val="D96B18"/>
                </a:solidFill>
                <a:latin typeface="Arial"/>
                <a:ea typeface="Arial"/>
                <a:cs typeface="Arial"/>
              </a:rPr>
              <a:t>«Extra rápido»                 «Rápido»                 «Lento»</a:t>
            </a:r>
          </a:p>
        </p:txBody>
      </p:sp>
      <p:sp>
        <p:nvSpPr>
          <p:cNvPr id="12" name="">
            <a:extLst xmlns:a="http://schemas.openxmlformats.org/drawingml/2006/main">
              <a:ext uri="{FF2B5EF4-FFF2-40B4-BE49-F238E27FC236}">
                <a16:creationId xmlns:a16="http://schemas.microsoft.com/office/drawing/2014/main" id="{1DD04E6C-C96E-4AD3-90C0-8332DACEF7F6}"/>
              </a:ext>
            </a:extLst>
          </p:cNvPr>
          <p:cNvSpPr>
            <a:spLocks xmlns:a="http://schemas.openxmlformats.org/drawingml/2006/main" noGrp="1"/>
          </p:cNvSpPr>
          <p:nvPr/>
        </p:nvSpPr>
        <p:spPr>
          <a:xfrm xmlns:a="http://schemas.openxmlformats.org/drawingml/2006/main">
            <a:off x="762000" y="371475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Proponed una función de pertenencia razonable para cada etiqueta,</a:t>
            </a:r>
          </a:p>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usando como variable el tiempo t, medido en minutos.</a:t>
            </a:r>
          </a:p>
        </p:txBody>
      </p:sp>
      <p:sp>
        <p:nvSpPr>
          <p:cNvPr id="13" name="">
            <a:extLst xmlns:a="http://schemas.openxmlformats.org/drawingml/2006/main">
              <a:ext uri="{FF2B5EF4-FFF2-40B4-BE49-F238E27FC236}">
                <a16:creationId xmlns:a16="http://schemas.microsoft.com/office/drawing/2014/main" id="{E63EE754-D746-43DE-8A6E-28030F3E7674}"/>
              </a:ext>
            </a:extLst>
          </p:cNvPr>
          <p:cNvSpPr>
            <a:spLocks xmlns:a="http://schemas.openxmlformats.org/drawingml/2006/main" noGrp="1"/>
          </p:cNvSpPr>
          <p:nvPr/>
        </p:nvSpPr>
        <p:spPr>
          <a:xfrm xmlns:a="http://schemas.openxmlformats.org/drawingml/2006/main">
            <a:off x="762000" y="49339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Representad las tres funciones en unos mismos ejes:</a:t>
            </a:r>
          </a:p>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eje horizontal: t (min) · eje vertical: pertenencia μ, entre 0 y 1.</a:t>
            </a:r>
          </a:p>
        </p:txBody>
      </p:sp>
      <p:sp>
        <p:nvSpPr>
          <p:cNvPr id="14" name="">
            <a:extLst xmlns:a="http://schemas.openxmlformats.org/drawingml/2006/main">
              <a:ext uri="{FF2B5EF4-FFF2-40B4-BE49-F238E27FC236}">
                <a16:creationId xmlns:a16="http://schemas.microsoft.com/office/drawing/2014/main" id="{188CE630-2007-4705-B9A7-E8508D2C46D6}"/>
              </a:ext>
            </a:extLst>
          </p:cNvPr>
          <p:cNvSpPr>
            <a:spLocks xmlns:a="http://schemas.openxmlformats.org/drawingml/2006/main" noGrp="1"/>
          </p:cNvSpPr>
          <p:nvPr/>
        </p:nvSpPr>
        <p:spPr>
          <a:xfrm xmlns:a="http://schemas.openxmlformats.org/drawingml/2006/main">
            <a:off x="762000" y="60769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162A0"/>
                </a:solidFill>
                <a:latin typeface="Arial"/>
                <a:ea typeface="Arial"/>
                <a:cs typeface="Arial"/>
              </a:defRPr>
            </a:pPr>
            <a:r>
              <a:rPr sz="1875" b="0">
                <a:solidFill>
                  <a:srgbClr val="2162A0"/>
                </a:solidFill>
                <a:latin typeface="Arial"/>
                <a:ea typeface="Arial"/>
                <a:cs typeface="Arial"/>
              </a:rPr>
              <a:t>El enunciado no fija umbrales: debéis elegirlos y justificar vuestra propuesta.</a:t>
            </a:r>
          </a:p>
        </p:txBody>
      </p:sp>
      <p:sp>
        <p:nvSpPr>
          <p:cNvPr id="15" name="">
            <a:extLst xmlns:a="http://schemas.openxmlformats.org/drawingml/2006/main">
              <a:ext uri="{FF2B5EF4-FFF2-40B4-BE49-F238E27FC236}">
                <a16:creationId xmlns:a16="http://schemas.microsoft.com/office/drawing/2014/main" id="{A702D1E4-52AF-4D7A-9467-DE8F3E0BA779}"/>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C7F93DB-49B5-4887-AC48-14D79F8D172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Solución 1.1 · Una propuesta posible</a:t>
            </a:r>
          </a:p>
        </p:txBody>
      </p:sp>
      <p:sp>
        <p:nvSpPr>
          <p:cNvPr id="9" name="">
            <a:extLst xmlns:a="http://schemas.openxmlformats.org/drawingml/2006/main">
              <a:ext uri="{FF2B5EF4-FFF2-40B4-BE49-F238E27FC236}">
                <a16:creationId xmlns:a16="http://schemas.microsoft.com/office/drawing/2014/main" id="{28939A76-A131-43B7-AE21-5CCA4C6C86C4}"/>
              </a:ext>
            </a:extLst>
          </p:cNvPr>
          <p:cNvSpPr>
            <a:spLocks xmlns:a="http://schemas.openxmlformats.org/drawingml/2006/main" noGrp="1"/>
          </p:cNvSpPr>
          <p:nvPr/>
        </p:nvSpPr>
        <p:spPr>
          <a:xfrm xmlns:a="http://schemas.openxmlformats.org/drawingml/2006/main">
            <a:off x="762000" y="14859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Elegimos estos tiempos como ejemplo; otros umbrales también pueden ser razonables.</a:t>
            </a:r>
          </a:p>
        </p:txBody>
      </p:sp>
      <p:graphicFrame>
        <p:nvGraphicFramePr>
          <p:cNvPr id="31" name="Chart"/>
          <p:cNvGraphicFramePr/>
          <p:nvPr/>
        </p:nvGraphicFramePr>
        <p:xfrm>
          <a:off xmlns:a="http://schemas.openxmlformats.org/drawingml/2006/main" x="704850" y="2295525"/>
          <a:ext xmlns:a="http://schemas.openxmlformats.org/drawingml/2006/main" cx="5381625" cy="3209925"/>
        </p:xfrm>
        <a:graphic xmlns:a="http://schemas.openxmlformats.org/drawingml/2006/main">
          <a:graphicData uri="http://schemas.openxmlformats.org/drawingml/2006/chart">
            <c:chart xmlns:r="http://schemas.openxmlformats.org/officeDocument/2006/relationships" xmlns:c="http://schemas.openxmlformats.org/drawingml/2006/chart" r:id="R24d05ed5145944ba"/>
          </a:graphicData>
        </a:graphic>
      </p:graphicFrame>
      <p:sp>
        <p:nvSpPr>
          <p:cNvPr id="11" name="">
            <a:extLst xmlns:a="http://schemas.openxmlformats.org/drawingml/2006/main">
              <a:ext uri="{FF2B5EF4-FFF2-40B4-BE49-F238E27FC236}">
                <a16:creationId xmlns:a16="http://schemas.microsoft.com/office/drawing/2014/main" id="{C456B81D-D9A8-446F-8922-599263C01758}"/>
              </a:ext>
            </a:extLst>
          </p:cNvPr>
          <p:cNvSpPr>
            <a:spLocks xmlns:a="http://schemas.openxmlformats.org/drawingml/2006/main" noGrp="1"/>
          </p:cNvSpPr>
          <p:nvPr/>
        </p:nvSpPr>
        <p:spPr>
          <a:xfrm xmlns:a="http://schemas.openxmlformats.org/drawingml/2006/main">
            <a:off x="6572250" y="230505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Extra rápido</a:t>
            </a:r>
          </a:p>
        </p:txBody>
      </p:sp>
      <p:sp>
        <p:nvSpPr>
          <p:cNvPr id="12" name="">
            <a:extLst xmlns:a="http://schemas.openxmlformats.org/drawingml/2006/main">
              <a:ext uri="{FF2B5EF4-FFF2-40B4-BE49-F238E27FC236}">
                <a16:creationId xmlns:a16="http://schemas.microsoft.com/office/drawing/2014/main" id="{4DB20955-3C15-4528-8C4A-24CF6A6E3E81}"/>
              </a:ext>
            </a:extLst>
          </p:cNvPr>
          <p:cNvSpPr>
            <a:spLocks xmlns:a="http://schemas.openxmlformats.org/drawingml/2006/main" noGrp="1"/>
          </p:cNvSpPr>
          <p:nvPr/>
        </p:nvSpPr>
        <p:spPr>
          <a:xfrm xmlns:a="http://schemas.openxmlformats.org/drawingml/2006/main">
            <a:off x="6572250" y="27527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μ = 1 hasta 2 min; baja a 0 en 5 min.</a:t>
            </a:r>
          </a:p>
        </p:txBody>
      </p:sp>
      <p:sp>
        <p:nvSpPr>
          <p:cNvPr id="13" name="">
            <a:extLst xmlns:a="http://schemas.openxmlformats.org/drawingml/2006/main">
              <a:ext uri="{FF2B5EF4-FFF2-40B4-BE49-F238E27FC236}">
                <a16:creationId xmlns:a16="http://schemas.microsoft.com/office/drawing/2014/main" id="{577BD69A-86F3-4BD8-8CE0-BCDECD48ADA5}"/>
              </a:ext>
            </a:extLst>
          </p:cNvPr>
          <p:cNvSpPr>
            <a:spLocks xmlns:a="http://schemas.openxmlformats.org/drawingml/2006/main" noGrp="1"/>
          </p:cNvSpPr>
          <p:nvPr/>
        </p:nvSpPr>
        <p:spPr>
          <a:xfrm xmlns:a="http://schemas.openxmlformats.org/drawingml/2006/main">
            <a:off x="6572250" y="3533775"/>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Rápido</a:t>
            </a:r>
          </a:p>
        </p:txBody>
      </p:sp>
      <p:sp>
        <p:nvSpPr>
          <p:cNvPr id="14" name="">
            <a:extLst xmlns:a="http://schemas.openxmlformats.org/drawingml/2006/main">
              <a:ext uri="{FF2B5EF4-FFF2-40B4-BE49-F238E27FC236}">
                <a16:creationId xmlns:a16="http://schemas.microsoft.com/office/drawing/2014/main" id="{36D3C712-8774-43AD-A53B-AD2D34D99739}"/>
              </a:ext>
            </a:extLst>
          </p:cNvPr>
          <p:cNvSpPr>
            <a:spLocks xmlns:a="http://schemas.openxmlformats.org/drawingml/2006/main" noGrp="1"/>
          </p:cNvSpPr>
          <p:nvPr/>
        </p:nvSpPr>
        <p:spPr>
          <a:xfrm xmlns:a="http://schemas.openxmlformats.org/drawingml/2006/main">
            <a:off x="6572250" y="3962400"/>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Triángulo: (2, 0), (8, 1), (20, 0).</a:t>
            </a:r>
          </a:p>
        </p:txBody>
      </p:sp>
      <p:sp>
        <p:nvSpPr>
          <p:cNvPr id="15" name="">
            <a:extLst xmlns:a="http://schemas.openxmlformats.org/drawingml/2006/main">
              <a:ext uri="{FF2B5EF4-FFF2-40B4-BE49-F238E27FC236}">
                <a16:creationId xmlns:a16="http://schemas.microsoft.com/office/drawing/2014/main" id="{916B424A-A100-4F6D-8841-A2C8DD3EF478}"/>
              </a:ext>
            </a:extLst>
          </p:cNvPr>
          <p:cNvSpPr>
            <a:spLocks xmlns:a="http://schemas.openxmlformats.org/drawingml/2006/main" noGrp="1"/>
          </p:cNvSpPr>
          <p:nvPr/>
        </p:nvSpPr>
        <p:spPr>
          <a:xfrm xmlns:a="http://schemas.openxmlformats.org/drawingml/2006/main">
            <a:off x="6572250" y="4743450"/>
            <a:ext cx="4762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60863D"/>
                </a:solidFill>
                <a:latin typeface="Arial"/>
                <a:ea typeface="Arial"/>
                <a:cs typeface="Arial"/>
              </a:defRPr>
            </a:pPr>
            <a:r>
              <a:rPr sz="2100" b="1">
                <a:solidFill>
                  <a:srgbClr val="60863D"/>
                </a:solidFill>
                <a:latin typeface="Arial"/>
                <a:ea typeface="Arial"/>
                <a:cs typeface="Arial"/>
              </a:rPr>
              <a:t>Lento</a:t>
            </a:r>
          </a:p>
        </p:txBody>
      </p:sp>
      <p:sp>
        <p:nvSpPr>
          <p:cNvPr id="16" name="">
            <a:extLst xmlns:a="http://schemas.openxmlformats.org/drawingml/2006/main">
              <a:ext uri="{FF2B5EF4-FFF2-40B4-BE49-F238E27FC236}">
                <a16:creationId xmlns:a16="http://schemas.microsoft.com/office/drawing/2014/main" id="{ED0CE7AF-CE50-4842-BF9D-CCF273676986}"/>
              </a:ext>
            </a:extLst>
          </p:cNvPr>
          <p:cNvSpPr>
            <a:spLocks xmlns:a="http://schemas.openxmlformats.org/drawingml/2006/main" noGrp="1"/>
          </p:cNvSpPr>
          <p:nvPr/>
        </p:nvSpPr>
        <p:spPr>
          <a:xfrm xmlns:a="http://schemas.openxmlformats.org/drawingml/2006/main">
            <a:off x="6572250" y="5172075"/>
            <a:ext cx="4857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μ = 0 hasta 10 min; sube a 1 en 30 min.</a:t>
            </a:r>
          </a:p>
        </p:txBody>
      </p:sp>
      <p:sp>
        <p:nvSpPr>
          <p:cNvPr id="17" name="">
            <a:extLst xmlns:a="http://schemas.openxmlformats.org/drawingml/2006/main">
              <a:ext uri="{FF2B5EF4-FFF2-40B4-BE49-F238E27FC236}">
                <a16:creationId xmlns:a16="http://schemas.microsoft.com/office/drawing/2014/main" id="{8AB7A1E9-E612-4A83-AF96-B43EC1EEA14C}"/>
              </a:ext>
            </a:extLst>
          </p:cNvPr>
          <p:cNvSpPr>
            <a:spLocks xmlns:a="http://schemas.openxmlformats.org/drawingml/2006/main" noGrp="1"/>
          </p:cNvSpPr>
          <p:nvPr/>
        </p:nvSpPr>
        <p:spPr>
          <a:xfrm xmlns:a="http://schemas.openxmlformats.org/drawingml/2006/main">
            <a:off x="762000" y="601027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233746"/>
                </a:solidFill>
                <a:latin typeface="Arial"/>
                <a:ea typeface="Arial"/>
                <a:cs typeface="Arial"/>
              </a:defRPr>
            </a:pPr>
            <a:r>
              <a:rPr sz="1875" b="1">
                <a:solidFill>
                  <a:srgbClr val="233746"/>
                </a:solidFill>
                <a:latin typeface="Arial"/>
                <a:ea typeface="Arial"/>
                <a:cs typeface="Arial"/>
              </a:rPr>
              <a:t>A los 15 min: μExtra rápido = 0 · μRápido = 5/12 ≈ 0,42 · μLento = 5/20 = 0,25.</a:t>
            </a:r>
          </a:p>
        </p:txBody>
      </p:sp>
      <p:sp>
        <p:nvSpPr>
          <p:cNvPr id="22" name="">
            <a:extLst xmlns:a="http://schemas.openxmlformats.org/drawingml/2006/main">
              <a:ext uri="{FF2B5EF4-FFF2-40B4-BE49-F238E27FC236}">
                <a16:creationId xmlns:a16="http://schemas.microsoft.com/office/drawing/2014/main" id="{20054AF5-2BE8-498E-A996-EBBBF8EE922F}"/>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A3B0E48-EAB0-43DA-A111-08BE0CD5568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Razonamiento deductivo en sistemas fuzzy</a:t>
            </a:r>
          </a:p>
        </p:txBody>
      </p:sp>
      <p:sp>
        <p:nvSpPr>
          <p:cNvPr id="9" name="">
            <a:extLst xmlns:a="http://schemas.openxmlformats.org/drawingml/2006/main">
              <a:ext uri="{FF2B5EF4-FFF2-40B4-BE49-F238E27FC236}">
                <a16:creationId xmlns:a16="http://schemas.microsoft.com/office/drawing/2014/main" id="{DABA2552-DB85-42BC-9B1C-117EC73AAA0F}"/>
              </a:ext>
            </a:extLst>
          </p:cNvPr>
          <p:cNvSpPr>
            <a:spLocks xmlns:a="http://schemas.openxmlformats.org/drawingml/2006/main" noGrp="1"/>
          </p:cNvSpPr>
          <p:nvPr/>
        </p:nvSpPr>
        <p:spPr>
          <a:xfrm xmlns:a="http://schemas.openxmlformats.org/drawingml/2006/main">
            <a:off x="762000" y="15430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233746"/>
                </a:solidFill>
                <a:latin typeface="Arial"/>
                <a:ea typeface="Arial"/>
                <a:cs typeface="Arial"/>
              </a:defRPr>
            </a:pPr>
            <a:r>
              <a:rPr sz="2400" b="1">
                <a:solidFill>
                  <a:srgbClr val="233746"/>
                </a:solidFill>
                <a:latin typeface="Arial"/>
                <a:ea typeface="Arial"/>
                <a:cs typeface="Arial"/>
              </a:rPr>
              <a:t>Aplicamos reglas generales a una situación particular.</a:t>
            </a:r>
          </a:p>
        </p:txBody>
      </p:sp>
      <p:sp>
        <p:nvSpPr>
          <p:cNvPr id="10" name="">
            <a:extLst xmlns:a="http://schemas.openxmlformats.org/drawingml/2006/main">
              <a:ext uri="{FF2B5EF4-FFF2-40B4-BE49-F238E27FC236}">
                <a16:creationId xmlns:a16="http://schemas.microsoft.com/office/drawing/2014/main" id="{CB737BAC-CC37-4306-AAE6-D75F8C59F2CD}"/>
              </a:ext>
            </a:extLst>
          </p:cNvPr>
          <p:cNvSpPr>
            <a:spLocks xmlns:a="http://schemas.openxmlformats.org/drawingml/2006/main" noGrp="1"/>
          </p:cNvSpPr>
          <p:nvPr/>
        </p:nvSpPr>
        <p:spPr>
          <a:xfrm xmlns:a="http://schemas.openxmlformats.org/drawingml/2006/main">
            <a:off x="762000" y="262890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Regla general</a:t>
            </a:r>
          </a:p>
        </p:txBody>
      </p:sp>
      <p:sp>
        <p:nvSpPr>
          <p:cNvPr id="11" name="">
            <a:extLst xmlns:a="http://schemas.openxmlformats.org/drawingml/2006/main">
              <a:ext uri="{FF2B5EF4-FFF2-40B4-BE49-F238E27FC236}">
                <a16:creationId xmlns:a16="http://schemas.microsoft.com/office/drawing/2014/main" id="{ED52601D-0C2E-4FB2-93D7-D93F8BAD845A}"/>
              </a:ext>
            </a:extLst>
          </p:cNvPr>
          <p:cNvSpPr>
            <a:spLocks xmlns:a="http://schemas.openxmlformats.org/drawingml/2006/main" noGrp="1"/>
          </p:cNvSpPr>
          <p:nvPr/>
        </p:nvSpPr>
        <p:spPr>
          <a:xfrm xmlns:a="http://schemas.openxmlformats.org/drawingml/2006/main">
            <a:off x="4095750" y="2628900"/>
            <a:ext cx="7286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SI hace frío, ENTONCES aumentar la calefacción.</a:t>
            </a:r>
          </a:p>
        </p:txBody>
      </p:sp>
      <p:sp>
        <p:nvSpPr>
          <p:cNvPr id="12" name="">
            <a:extLst xmlns:a="http://schemas.openxmlformats.org/drawingml/2006/main">
              <a:ext uri="{FF2B5EF4-FFF2-40B4-BE49-F238E27FC236}">
                <a16:creationId xmlns:a16="http://schemas.microsoft.com/office/drawing/2014/main" id="{C1C099DC-5343-4BFC-83FD-E7E271A1F638}"/>
              </a:ext>
            </a:extLst>
          </p:cNvPr>
          <p:cNvSpPr>
            <a:spLocks xmlns:a="http://schemas.openxmlformats.org/drawingml/2006/main" noGrp="1"/>
          </p:cNvSpPr>
          <p:nvPr/>
        </p:nvSpPr>
        <p:spPr>
          <a:xfrm xmlns:a="http://schemas.openxmlformats.org/drawingml/2006/main">
            <a:off x="762000" y="36290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Caso particular</a:t>
            </a:r>
          </a:p>
        </p:txBody>
      </p:sp>
      <p:sp>
        <p:nvSpPr>
          <p:cNvPr id="13" name="">
            <a:extLst xmlns:a="http://schemas.openxmlformats.org/drawingml/2006/main">
              <a:ext uri="{FF2B5EF4-FFF2-40B4-BE49-F238E27FC236}">
                <a16:creationId xmlns:a16="http://schemas.microsoft.com/office/drawing/2014/main" id="{577B99C4-99E9-45E5-B908-48EFDCFDA364}"/>
              </a:ext>
            </a:extLst>
          </p:cNvPr>
          <p:cNvSpPr>
            <a:spLocks xmlns:a="http://schemas.openxmlformats.org/drawingml/2006/main" noGrp="1"/>
          </p:cNvSpPr>
          <p:nvPr/>
        </p:nvSpPr>
        <p:spPr>
          <a:xfrm xmlns:a="http://schemas.openxmlformats.org/drawingml/2006/main">
            <a:off x="4095750" y="3629025"/>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La temperatura actual pertenece al conjunto «Frío»</a:t>
            </a:r>
          </a:p>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con cierto grado.</a:t>
            </a:r>
          </a:p>
        </p:txBody>
      </p:sp>
      <p:sp>
        <p:nvSpPr>
          <p:cNvPr id="14" name="">
            <a:extLst xmlns:a="http://schemas.openxmlformats.org/drawingml/2006/main">
              <a:ext uri="{FF2B5EF4-FFF2-40B4-BE49-F238E27FC236}">
                <a16:creationId xmlns:a16="http://schemas.microsoft.com/office/drawing/2014/main" id="{72EDFB79-85CB-40D8-98E7-9395626B39A6}"/>
              </a:ext>
            </a:extLst>
          </p:cNvPr>
          <p:cNvSpPr>
            <a:spLocks xmlns:a="http://schemas.openxmlformats.org/drawingml/2006/main" noGrp="1"/>
          </p:cNvSpPr>
          <p:nvPr/>
        </p:nvSpPr>
        <p:spPr>
          <a:xfrm xmlns:a="http://schemas.openxmlformats.org/drawingml/2006/main">
            <a:off x="762000" y="468630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Deducción fuzzy</a:t>
            </a:r>
          </a:p>
        </p:txBody>
      </p:sp>
      <p:sp>
        <p:nvSpPr>
          <p:cNvPr id="15" name="">
            <a:extLst xmlns:a="http://schemas.openxmlformats.org/drawingml/2006/main">
              <a:ext uri="{FF2B5EF4-FFF2-40B4-BE49-F238E27FC236}">
                <a16:creationId xmlns:a16="http://schemas.microsoft.com/office/drawing/2014/main" id="{EF5B488E-4D0C-4DC5-AF91-F34BB7D58B09}"/>
              </a:ext>
            </a:extLst>
          </p:cNvPr>
          <p:cNvSpPr>
            <a:spLocks xmlns:a="http://schemas.openxmlformats.org/drawingml/2006/main" noGrp="1"/>
          </p:cNvSpPr>
          <p:nvPr/>
        </p:nvSpPr>
        <p:spPr>
          <a:xfrm xmlns:a="http://schemas.openxmlformats.org/drawingml/2006/main">
            <a:off x="4095750" y="4686300"/>
            <a:ext cx="728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Activamos la regla según ese grado para calcular</a:t>
            </a:r>
          </a:p>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la acción de control.</a:t>
            </a:r>
          </a:p>
        </p:txBody>
      </p:sp>
      <p:sp>
        <p:nvSpPr>
          <p:cNvPr id="16" name="">
            <a:extLst xmlns:a="http://schemas.openxmlformats.org/drawingml/2006/main">
              <a:ext uri="{FF2B5EF4-FFF2-40B4-BE49-F238E27FC236}">
                <a16:creationId xmlns:a16="http://schemas.microsoft.com/office/drawing/2014/main" id="{35D6DF9F-47E8-4685-9993-F0879C71F400}"/>
              </a:ext>
            </a:extLst>
          </p:cNvPr>
          <p:cNvSpPr>
            <a:spLocks xmlns:a="http://schemas.openxmlformats.org/drawingml/2006/main" noGrp="1"/>
          </p:cNvSpPr>
          <p:nvPr/>
        </p:nvSpPr>
        <p:spPr>
          <a:xfrm xmlns:a="http://schemas.openxmlformats.org/drawingml/2006/main">
            <a:off x="762000" y="58388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La conclusión depende de las reglas: pueden ser útiles y, aun así, incompletas.</a:t>
            </a:r>
          </a:p>
        </p:txBody>
      </p:sp>
      <p:sp>
        <p:nvSpPr>
          <p:cNvPr id="17" name="">
            <a:extLst xmlns:a="http://schemas.openxmlformats.org/drawingml/2006/main">
              <a:ext uri="{FF2B5EF4-FFF2-40B4-BE49-F238E27FC236}">
                <a16:creationId xmlns:a16="http://schemas.microsoft.com/office/drawing/2014/main" id="{A2DB3C48-98B1-4297-BA1A-A3C63506F10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CF4E30F-74C4-41AF-8870-2B62F6D4E127}"/>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Conjuntos fuzzy, reglas y aproximación</a:t>
            </a:r>
          </a:p>
        </p:txBody>
      </p:sp>
      <p:sp>
        <p:nvSpPr>
          <p:cNvPr id="9" name="">
            <a:extLst xmlns:a="http://schemas.openxmlformats.org/drawingml/2006/main">
              <a:ext uri="{FF2B5EF4-FFF2-40B4-BE49-F238E27FC236}">
                <a16:creationId xmlns:a16="http://schemas.microsoft.com/office/drawing/2014/main" id="{C952A55D-6437-4C7B-842F-62F62C9C3F12}"/>
              </a:ext>
            </a:extLst>
          </p:cNvPr>
          <p:cNvSpPr>
            <a:spLocks xmlns:a="http://schemas.openxmlformats.org/drawingml/2006/main" noGrp="1"/>
          </p:cNvSpPr>
          <p:nvPr/>
        </p:nvSpPr>
        <p:spPr>
          <a:xfrm xmlns:a="http://schemas.openxmlformats.org/drawingml/2006/main">
            <a:off x="762000" y="14097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D96B18"/>
                </a:solidFill>
                <a:latin typeface="Arial"/>
                <a:ea typeface="Arial"/>
                <a:cs typeface="Arial"/>
              </a:defRPr>
            </a:pPr>
            <a:r>
              <a:rPr sz="1875" b="1">
                <a:solidFill>
                  <a:srgbClr val="D96B18"/>
                </a:solidFill>
                <a:latin typeface="Arial"/>
                <a:ea typeface="Arial"/>
                <a:cs typeface="Arial"/>
              </a:rPr>
              <a:t>Conjuntos de entrada</a:t>
            </a:r>
          </a:p>
        </p:txBody>
      </p:sp>
      <p:sp>
        <p:nvSpPr>
          <p:cNvPr id="10" name="">
            <a:extLst xmlns:a="http://schemas.openxmlformats.org/drawingml/2006/main">
              <a:ext uri="{FF2B5EF4-FFF2-40B4-BE49-F238E27FC236}">
                <a16:creationId xmlns:a16="http://schemas.microsoft.com/office/drawing/2014/main" id="{0FC056BD-D020-452E-A397-1FB9BFE18930}"/>
              </a:ext>
            </a:extLst>
          </p:cNvPr>
          <p:cNvSpPr>
            <a:spLocks xmlns:a="http://schemas.openxmlformats.org/drawingml/2006/main" noGrp="1"/>
          </p:cNvSpPr>
          <p:nvPr/>
        </p:nvSpPr>
        <p:spPr>
          <a:xfrm xmlns:a="http://schemas.openxmlformats.org/drawingml/2006/main">
            <a:off x="6572250" y="14097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D96B18"/>
                </a:solidFill>
                <a:latin typeface="Arial"/>
                <a:ea typeface="Arial"/>
                <a:cs typeface="Arial"/>
              </a:defRPr>
            </a:pPr>
            <a:r>
              <a:rPr sz="1875" b="1">
                <a:solidFill>
                  <a:srgbClr val="D96B18"/>
                </a:solidFill>
                <a:latin typeface="Arial"/>
                <a:ea typeface="Arial"/>
                <a:cs typeface="Arial"/>
              </a:rPr>
              <a:t>Función y aproximación</a:t>
            </a:r>
          </a:p>
        </p:txBody>
      </p:sp>
      <p:graphicFrame>
        <p:nvGraphicFramePr>
          <p:cNvPr id="33" name="Chart"/>
          <p:cNvGraphicFramePr/>
          <p:nvPr/>
        </p:nvGraphicFramePr>
        <p:xfrm>
          <a:off xmlns:a="http://schemas.openxmlformats.org/drawingml/2006/main" x="619125" y="1857375"/>
          <a:ext xmlns:a="http://schemas.openxmlformats.org/drawingml/2006/main" cx="5143500" cy="2476500"/>
        </p:xfrm>
        <a:graphic xmlns:a="http://schemas.openxmlformats.org/drawingml/2006/main">
          <a:graphicData uri="http://schemas.openxmlformats.org/drawingml/2006/chart">
            <c:chart xmlns:r="http://schemas.openxmlformats.org/officeDocument/2006/relationships" xmlns:c="http://schemas.openxmlformats.org/drawingml/2006/chart" r:id="Rd2bd3e9aec7c48c8"/>
          </a:graphicData>
        </a:graphic>
      </p:graphicFrame>
      <p:graphicFrame>
        <p:nvGraphicFramePr>
          <p:cNvPr id="34" name="Chart"/>
          <p:cNvGraphicFramePr/>
          <p:nvPr/>
        </p:nvGraphicFramePr>
        <p:xfrm>
          <a:off xmlns:a="http://schemas.openxmlformats.org/drawingml/2006/main" x="6429375" y="1857375"/>
          <a:ext xmlns:a="http://schemas.openxmlformats.org/drawingml/2006/main" cx="5048250" cy="2476500"/>
        </p:xfrm>
        <a:graphic xmlns:a="http://schemas.openxmlformats.org/drawingml/2006/main">
          <a:graphicData uri="http://schemas.openxmlformats.org/drawingml/2006/chart">
            <c:chart xmlns:r="http://schemas.openxmlformats.org/officeDocument/2006/relationships" xmlns:c="http://schemas.openxmlformats.org/drawingml/2006/chart" r:id="R397b144de4a4437b"/>
          </a:graphicData>
        </a:graphic>
      </p:graphicFrame>
      <p:sp>
        <p:nvSpPr>
          <p:cNvPr id="13" name="">
            <a:extLst xmlns:a="http://schemas.openxmlformats.org/drawingml/2006/main">
              <a:ext uri="{FF2B5EF4-FFF2-40B4-BE49-F238E27FC236}">
                <a16:creationId xmlns:a16="http://schemas.microsoft.com/office/drawing/2014/main" id="{E9B68262-9B77-4065-96E7-6032CB8AB27D}"/>
              </a:ext>
            </a:extLst>
          </p:cNvPr>
          <p:cNvSpPr>
            <a:spLocks xmlns:a="http://schemas.openxmlformats.org/drawingml/2006/main" noGrp="1"/>
          </p:cNvSpPr>
          <p:nvPr/>
        </p:nvSpPr>
        <p:spPr>
          <a:xfrm xmlns:a="http://schemas.openxmlformats.org/drawingml/2006/main">
            <a:off x="762000" y="4667250"/>
            <a:ext cx="5381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233746"/>
                </a:solidFill>
                <a:latin typeface="Arial"/>
                <a:ea typeface="Arial"/>
                <a:cs typeface="Arial"/>
              </a:defRPr>
            </a:pPr>
            <a:r>
              <a:rPr sz="1950" b="1">
                <a:solidFill>
                  <a:srgbClr val="233746"/>
                </a:solidFill>
                <a:latin typeface="Arial"/>
                <a:ea typeface="Arial"/>
                <a:cs typeface="Arial"/>
              </a:rPr>
              <a:t>SI x es Bajo, ENTONCES y = 0</a:t>
            </a:r>
          </a:p>
          <a:p xmlns:a="http://schemas.openxmlformats.org/drawingml/2006/main">
            <a:pPr>
              <a:buNone/>
              <a:defRPr sz="1950" b="1">
                <a:solidFill>
                  <a:srgbClr val="233746"/>
                </a:solidFill>
                <a:latin typeface="Arial"/>
                <a:ea typeface="Arial"/>
                <a:cs typeface="Arial"/>
              </a:defRPr>
            </a:pPr>
            <a:r>
              <a:rPr sz="1950" b="1">
                <a:solidFill>
                  <a:srgbClr val="233746"/>
                </a:solidFill>
                <a:latin typeface="Arial"/>
                <a:ea typeface="Arial"/>
                <a:cs typeface="Arial"/>
              </a:rPr>
              <a:t>SI x es Medio, ENTONCES y = 0,25</a:t>
            </a:r>
          </a:p>
          <a:p xmlns:a="http://schemas.openxmlformats.org/drawingml/2006/main">
            <a:pPr>
              <a:buNone/>
              <a:defRPr sz="1950" b="1">
                <a:solidFill>
                  <a:srgbClr val="233746"/>
                </a:solidFill>
                <a:latin typeface="Arial"/>
                <a:ea typeface="Arial"/>
                <a:cs typeface="Arial"/>
              </a:defRPr>
            </a:pPr>
            <a:r>
              <a:rPr sz="1950" b="1">
                <a:solidFill>
                  <a:srgbClr val="233746"/>
                </a:solidFill>
                <a:latin typeface="Arial"/>
                <a:ea typeface="Arial"/>
                <a:cs typeface="Arial"/>
              </a:rPr>
              <a:t>SI x es Alto, ENTONCES y = 1</a:t>
            </a:r>
          </a:p>
        </p:txBody>
      </p:sp>
      <p:sp>
        <p:nvSpPr>
          <p:cNvPr id="14" name="">
            <a:extLst xmlns:a="http://schemas.openxmlformats.org/drawingml/2006/main">
              <a:ext uri="{FF2B5EF4-FFF2-40B4-BE49-F238E27FC236}">
                <a16:creationId xmlns:a16="http://schemas.microsoft.com/office/drawing/2014/main" id="{828F2563-994A-4BA3-9F40-31B314799AFD}"/>
              </a:ext>
            </a:extLst>
          </p:cNvPr>
          <p:cNvSpPr>
            <a:spLocks xmlns:a="http://schemas.openxmlformats.org/drawingml/2006/main" noGrp="1"/>
          </p:cNvSpPr>
          <p:nvPr/>
        </p:nvSpPr>
        <p:spPr>
          <a:xfrm xmlns:a="http://schemas.openxmlformats.org/drawingml/2006/main">
            <a:off x="6572250" y="4667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233746"/>
                </a:solidFill>
                <a:latin typeface="Arial"/>
                <a:ea typeface="Arial"/>
                <a:cs typeface="Arial"/>
              </a:defRPr>
            </a:pPr>
            <a:r>
              <a:rPr sz="1950" b="1">
                <a:solidFill>
                  <a:srgbClr val="233746"/>
                </a:solidFill>
                <a:latin typeface="Arial"/>
                <a:ea typeface="Arial"/>
                <a:cs typeface="Arial"/>
              </a:rPr>
              <a:t>Para x = 0,25: μB = μM = 0,5</a:t>
            </a:r>
          </a:p>
        </p:txBody>
      </p:sp>
      <p:sp>
        <p:nvSpPr>
          <p:cNvPr id="15" name="">
            <a:extLst xmlns:a="http://schemas.openxmlformats.org/drawingml/2006/main">
              <a:ext uri="{FF2B5EF4-FFF2-40B4-BE49-F238E27FC236}">
                <a16:creationId xmlns:a16="http://schemas.microsoft.com/office/drawing/2014/main" id="{F4852279-458A-4815-A188-36E8D9042BA4}"/>
              </a:ext>
            </a:extLst>
          </p:cNvPr>
          <p:cNvSpPr>
            <a:spLocks xmlns:a="http://schemas.openxmlformats.org/drawingml/2006/main" noGrp="1"/>
          </p:cNvSpPr>
          <p:nvPr/>
        </p:nvSpPr>
        <p:spPr>
          <a:xfrm xmlns:a="http://schemas.openxmlformats.org/drawingml/2006/main">
            <a:off x="6572250" y="5267325"/>
            <a:ext cx="4905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233746"/>
                </a:solidFill>
                <a:latin typeface="Arial"/>
                <a:ea typeface="Arial"/>
                <a:cs typeface="Arial"/>
              </a:defRPr>
            </a:pPr>
            <a:r>
              <a:rPr sz="1800" b="0">
                <a:solidFill>
                  <a:srgbClr val="233746"/>
                </a:solidFill>
                <a:latin typeface="Arial"/>
                <a:ea typeface="Arial"/>
                <a:cs typeface="Arial"/>
              </a:rPr>
              <a:t>ŷ = (0,5 · 0 + 0,5 · 0,25) / 1 = 0,125</a:t>
            </a:r>
          </a:p>
        </p:txBody>
      </p:sp>
      <p:sp>
        <p:nvSpPr>
          <p:cNvPr id="16" name="">
            <a:extLst xmlns:a="http://schemas.openxmlformats.org/drawingml/2006/main">
              <a:ext uri="{FF2B5EF4-FFF2-40B4-BE49-F238E27FC236}">
                <a16:creationId xmlns:a16="http://schemas.microsoft.com/office/drawing/2014/main" id="{CEA13A04-751D-4543-BBEC-CC8FF600FB28}"/>
              </a:ext>
            </a:extLst>
          </p:cNvPr>
          <p:cNvSpPr>
            <a:spLocks xmlns:a="http://schemas.openxmlformats.org/drawingml/2006/main" noGrp="1"/>
          </p:cNvSpPr>
          <p:nvPr/>
        </p:nvSpPr>
        <p:spPr>
          <a:xfrm xmlns:a="http://schemas.openxmlformats.org/drawingml/2006/main">
            <a:off x="762000" y="60388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1">
                <a:solidFill>
                  <a:srgbClr val="D96B18"/>
                </a:solidFill>
                <a:latin typeface="Arial"/>
                <a:ea typeface="Arial"/>
                <a:cs typeface="Arial"/>
              </a:defRPr>
            </a:pPr>
            <a:r>
              <a:rPr sz="1950" b="1">
                <a:solidFill>
                  <a:srgbClr val="D96B18"/>
                </a:solidFill>
                <a:latin typeface="Arial"/>
                <a:ea typeface="Arial"/>
                <a:cs typeface="Arial"/>
              </a:rPr>
              <a:t>Las reglas se combinan según su grado de activación.</a:t>
            </a:r>
          </a:p>
        </p:txBody>
      </p:sp>
      <p:sp>
        <p:nvSpPr>
          <p:cNvPr id="23" name="">
            <a:extLst xmlns:a="http://schemas.openxmlformats.org/drawingml/2006/main">
              <a:ext uri="{FF2B5EF4-FFF2-40B4-BE49-F238E27FC236}">
                <a16:creationId xmlns:a16="http://schemas.microsoft.com/office/drawing/2014/main" id="{7AA8F214-3BCE-4D05-B884-D338D95338D4}"/>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2D0D51-F5DA-4342-94BB-2EA7D5595B45}"/>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Aproximar una función desconocida con reglas</a:t>
            </a:r>
          </a:p>
        </p:txBody>
      </p:sp>
      <p:sp>
        <p:nvSpPr>
          <p:cNvPr id="9" name="">
            <a:extLst xmlns:a="http://schemas.openxmlformats.org/drawingml/2006/main">
              <a:ext uri="{FF2B5EF4-FFF2-40B4-BE49-F238E27FC236}">
                <a16:creationId xmlns:a16="http://schemas.microsoft.com/office/drawing/2014/main" id="{721847DF-D7E8-4FBF-A96D-C3B73109306F}"/>
              </a:ext>
            </a:extLst>
          </p:cNvPr>
          <p:cNvSpPr>
            <a:spLocks xmlns:a="http://schemas.openxmlformats.org/drawingml/2006/main" noGrp="1"/>
          </p:cNvSpPr>
          <p:nvPr/>
        </p:nvSpPr>
        <p:spPr>
          <a:xfrm xmlns:a="http://schemas.openxmlformats.org/drawingml/2006/main">
            <a:off x="762000" y="1476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1">
                <a:solidFill>
                  <a:srgbClr val="233746"/>
                </a:solidFill>
                <a:latin typeface="Arial"/>
                <a:ea typeface="Arial"/>
                <a:cs typeface="Arial"/>
              </a:defRPr>
            </a:pPr>
            <a:r>
              <a:rPr sz="2550" b="1">
                <a:solidFill>
                  <a:srgbClr val="233746"/>
                </a:solidFill>
                <a:latin typeface="Arial"/>
                <a:ea typeface="Arial"/>
                <a:cs typeface="Arial"/>
              </a:rPr>
              <a:t>u = f(parámetro₁, …, parámetroₙ) desconocida</a:t>
            </a:r>
          </a:p>
        </p:txBody>
      </p:sp>
      <p:sp>
        <p:nvSpPr>
          <p:cNvPr id="10" name="">
            <a:extLst xmlns:a="http://schemas.openxmlformats.org/drawingml/2006/main">
              <a:ext uri="{FF2B5EF4-FFF2-40B4-BE49-F238E27FC236}">
                <a16:creationId xmlns:a16="http://schemas.microsoft.com/office/drawing/2014/main" id="{E1709501-F085-4180-A7CC-9172183074F8}"/>
              </a:ext>
            </a:extLst>
          </p:cNvPr>
          <p:cNvSpPr>
            <a:spLocks xmlns:a="http://schemas.openxmlformats.org/drawingml/2006/main" noGrp="1"/>
          </p:cNvSpPr>
          <p:nvPr/>
        </p:nvSpPr>
        <p:spPr>
          <a:xfrm xmlns:a="http://schemas.openxmlformats.org/drawingml/2006/main">
            <a:off x="762000" y="2114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D96B18"/>
                </a:solidFill>
                <a:latin typeface="Arial"/>
                <a:ea typeface="Arial"/>
                <a:cs typeface="Arial"/>
              </a:defRPr>
            </a:pPr>
            <a:r>
              <a:rPr sz="2025" b="1">
                <a:solidFill>
                  <a:srgbClr val="D96B18"/>
                </a:solidFill>
                <a:latin typeface="Arial"/>
                <a:ea typeface="Arial"/>
                <a:cs typeface="Arial"/>
              </a:rPr>
              <a:t>Ejemplo: potencia de calefacción u ≈ f̂(error, ritmo de calentamiento)</a:t>
            </a:r>
          </a:p>
        </p:txBody>
      </p:sp>
      <p:sp>
        <p:nvSpPr>
          <p:cNvPr id="11" name="">
            <a:extLst xmlns:a="http://schemas.openxmlformats.org/drawingml/2006/main">
              <a:ext uri="{FF2B5EF4-FFF2-40B4-BE49-F238E27FC236}">
                <a16:creationId xmlns:a16="http://schemas.microsoft.com/office/drawing/2014/main" id="{6118BA9D-1445-435A-A371-BE3F231DE0B4}"/>
              </a:ext>
            </a:extLst>
          </p:cNvPr>
          <p:cNvSpPr>
            <a:spLocks xmlns:a="http://schemas.openxmlformats.org/drawingml/2006/main" noGrp="1"/>
          </p:cNvSpPr>
          <p:nvPr/>
        </p:nvSpPr>
        <p:spPr>
          <a:xfrm xmlns:a="http://schemas.openxmlformats.org/drawingml/2006/main">
            <a:off x="762000" y="28575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Entradas y conjuntos fuzzy</a:t>
            </a:r>
          </a:p>
        </p:txBody>
      </p:sp>
      <p:sp>
        <p:nvSpPr>
          <p:cNvPr id="12" name="">
            <a:extLst xmlns:a="http://schemas.openxmlformats.org/drawingml/2006/main">
              <a:ext uri="{FF2B5EF4-FFF2-40B4-BE49-F238E27FC236}">
                <a16:creationId xmlns:a16="http://schemas.microsoft.com/office/drawing/2014/main" id="{C3022831-D50F-4190-9686-26B5EB67BA66}"/>
              </a:ext>
            </a:extLst>
          </p:cNvPr>
          <p:cNvSpPr>
            <a:spLocks xmlns:a="http://schemas.openxmlformats.org/drawingml/2006/main" noGrp="1"/>
          </p:cNvSpPr>
          <p:nvPr/>
        </p:nvSpPr>
        <p:spPr>
          <a:xfrm xmlns:a="http://schemas.openxmlformats.org/drawingml/2006/main">
            <a:off x="762000" y="34575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233746"/>
                </a:solidFill>
                <a:latin typeface="Arial"/>
                <a:ea typeface="Arial"/>
                <a:cs typeface="Arial"/>
              </a:defRPr>
            </a:pPr>
            <a:r>
              <a:rPr sz="2025" b="1">
                <a:solidFill>
                  <a:srgbClr val="233746"/>
                </a:solidFill>
                <a:latin typeface="Arial"/>
                <a:ea typeface="Arial"/>
                <a:cs typeface="Arial"/>
              </a:rPr>
              <a:t>Error = 3 °C</a:t>
            </a:r>
          </a:p>
        </p:txBody>
      </p:sp>
      <p:sp>
        <p:nvSpPr>
          <p:cNvPr id="13" name="">
            <a:extLst xmlns:a="http://schemas.openxmlformats.org/drawingml/2006/main">
              <a:ext uri="{FF2B5EF4-FFF2-40B4-BE49-F238E27FC236}">
                <a16:creationId xmlns:a16="http://schemas.microsoft.com/office/drawing/2014/main" id="{B003855E-D999-4950-879F-04E09B479EBD}"/>
              </a:ext>
            </a:extLst>
          </p:cNvPr>
          <p:cNvSpPr>
            <a:spLocks xmlns:a="http://schemas.openxmlformats.org/drawingml/2006/main" noGrp="1"/>
          </p:cNvSpPr>
          <p:nvPr/>
        </p:nvSpPr>
        <p:spPr>
          <a:xfrm xmlns:a="http://schemas.openxmlformats.org/drawingml/2006/main">
            <a:off x="762000" y="38766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μMedio = 0,5     μGrande = 0,5</a:t>
            </a:r>
          </a:p>
        </p:txBody>
      </p:sp>
      <p:sp>
        <p:nvSpPr>
          <p:cNvPr id="14" name="">
            <a:extLst xmlns:a="http://schemas.openxmlformats.org/drawingml/2006/main">
              <a:ext uri="{FF2B5EF4-FFF2-40B4-BE49-F238E27FC236}">
                <a16:creationId xmlns:a16="http://schemas.microsoft.com/office/drawing/2014/main" id="{521CA2DF-FD9E-49CC-BB77-0944096CD966}"/>
              </a:ext>
            </a:extLst>
          </p:cNvPr>
          <p:cNvSpPr>
            <a:spLocks xmlns:a="http://schemas.openxmlformats.org/drawingml/2006/main" noGrp="1"/>
          </p:cNvSpPr>
          <p:nvPr/>
        </p:nvSpPr>
        <p:spPr>
          <a:xfrm xmlns:a="http://schemas.openxmlformats.org/drawingml/2006/main">
            <a:off x="762000" y="45434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233746"/>
                </a:solidFill>
                <a:latin typeface="Arial"/>
                <a:ea typeface="Arial"/>
                <a:cs typeface="Arial"/>
              </a:defRPr>
            </a:pPr>
            <a:r>
              <a:rPr sz="2025" b="1">
                <a:solidFill>
                  <a:srgbClr val="233746"/>
                </a:solidFill>
                <a:latin typeface="Arial"/>
                <a:ea typeface="Arial"/>
                <a:cs typeface="Arial"/>
              </a:rPr>
              <a:t>Calentamiento = 0,2 °C/min</a:t>
            </a:r>
          </a:p>
        </p:txBody>
      </p:sp>
      <p:sp>
        <p:nvSpPr>
          <p:cNvPr id="15" name="">
            <a:extLst xmlns:a="http://schemas.openxmlformats.org/drawingml/2006/main">
              <a:ext uri="{FF2B5EF4-FFF2-40B4-BE49-F238E27FC236}">
                <a16:creationId xmlns:a16="http://schemas.microsoft.com/office/drawing/2014/main" id="{CCC242A2-242B-4384-A3D0-B7C3FBD77752}"/>
              </a:ext>
            </a:extLst>
          </p:cNvPr>
          <p:cNvSpPr>
            <a:spLocks xmlns:a="http://schemas.openxmlformats.org/drawingml/2006/main" noGrp="1"/>
          </p:cNvSpPr>
          <p:nvPr/>
        </p:nvSpPr>
        <p:spPr>
          <a:xfrm xmlns:a="http://schemas.openxmlformats.org/drawingml/2006/main">
            <a:off x="762000" y="49720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μLento = 0,8</a:t>
            </a:r>
          </a:p>
        </p:txBody>
      </p:sp>
      <p:sp>
        <p:nvSpPr>
          <p:cNvPr id="16" name="">
            <a:extLst xmlns:a="http://schemas.openxmlformats.org/drawingml/2006/main">
              <a:ext uri="{FF2B5EF4-FFF2-40B4-BE49-F238E27FC236}">
                <a16:creationId xmlns:a16="http://schemas.microsoft.com/office/drawing/2014/main" id="{4106C7FD-045F-4762-AC62-E83DFD317F47}"/>
              </a:ext>
            </a:extLst>
          </p:cNvPr>
          <p:cNvSpPr>
            <a:spLocks xmlns:a="http://schemas.openxmlformats.org/drawingml/2006/main" noGrp="1"/>
          </p:cNvSpPr>
          <p:nvPr/>
        </p:nvSpPr>
        <p:spPr>
          <a:xfrm xmlns:a="http://schemas.openxmlformats.org/drawingml/2006/main">
            <a:off x="6477000" y="28575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Reglas del experto</a:t>
            </a:r>
          </a:p>
        </p:txBody>
      </p:sp>
      <p:sp>
        <p:nvSpPr>
          <p:cNvPr id="17" name="">
            <a:extLst xmlns:a="http://schemas.openxmlformats.org/drawingml/2006/main">
              <a:ext uri="{FF2B5EF4-FFF2-40B4-BE49-F238E27FC236}">
                <a16:creationId xmlns:a16="http://schemas.microsoft.com/office/drawing/2014/main" id="{1114B955-FB9B-4116-B5CB-FFB30538C77F}"/>
              </a:ext>
            </a:extLst>
          </p:cNvPr>
          <p:cNvSpPr>
            <a:spLocks xmlns:a="http://schemas.openxmlformats.org/drawingml/2006/main" noGrp="1"/>
          </p:cNvSpPr>
          <p:nvPr/>
        </p:nvSpPr>
        <p:spPr>
          <a:xfrm xmlns:a="http://schemas.openxmlformats.org/drawingml/2006/main">
            <a:off x="6477000" y="3457575"/>
            <a:ext cx="5048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233746"/>
                </a:solidFill>
                <a:latin typeface="Arial"/>
                <a:ea typeface="Arial"/>
                <a:cs typeface="Arial"/>
              </a:defRPr>
            </a:pPr>
            <a:r>
              <a:rPr sz="1875" b="1">
                <a:solidFill>
                  <a:srgbClr val="233746"/>
                </a:solidFill>
                <a:latin typeface="Arial"/>
                <a:ea typeface="Arial"/>
                <a:cs typeface="Arial"/>
              </a:rPr>
              <a:t>SI error Medio Y calentamiento Lento,</a:t>
            </a:r>
          </a:p>
          <a:p xmlns:a="http://schemas.openxmlformats.org/drawingml/2006/main">
            <a:pPr>
              <a:buNone/>
              <a:defRPr sz="1875" b="1">
                <a:solidFill>
                  <a:srgbClr val="233746"/>
                </a:solidFill>
                <a:latin typeface="Arial"/>
                <a:ea typeface="Arial"/>
                <a:cs typeface="Arial"/>
              </a:defRPr>
            </a:pPr>
            <a:r>
              <a:rPr sz="1875" b="1">
                <a:solidFill>
                  <a:srgbClr val="233746"/>
                </a:solidFill>
                <a:latin typeface="Arial"/>
                <a:ea typeface="Arial"/>
                <a:cs typeface="Arial"/>
              </a:rPr>
              <a:t>ENTONCES potencia = 40 %.</a:t>
            </a:r>
          </a:p>
        </p:txBody>
      </p:sp>
      <p:sp>
        <p:nvSpPr>
          <p:cNvPr id="18" name="">
            <a:extLst xmlns:a="http://schemas.openxmlformats.org/drawingml/2006/main">
              <a:ext uri="{FF2B5EF4-FFF2-40B4-BE49-F238E27FC236}">
                <a16:creationId xmlns:a16="http://schemas.microsoft.com/office/drawing/2014/main" id="{1429112A-D3E9-43AE-ADD1-A400C9D753EA}"/>
              </a:ext>
            </a:extLst>
          </p:cNvPr>
          <p:cNvSpPr>
            <a:spLocks xmlns:a="http://schemas.openxmlformats.org/drawingml/2006/main" noGrp="1"/>
          </p:cNvSpPr>
          <p:nvPr/>
        </p:nvSpPr>
        <p:spPr>
          <a:xfrm xmlns:a="http://schemas.openxmlformats.org/drawingml/2006/main">
            <a:off x="6477000" y="4457700"/>
            <a:ext cx="5048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233746"/>
                </a:solidFill>
                <a:latin typeface="Arial"/>
                <a:ea typeface="Arial"/>
                <a:cs typeface="Arial"/>
              </a:defRPr>
            </a:pPr>
            <a:r>
              <a:rPr sz="1875" b="1">
                <a:solidFill>
                  <a:srgbClr val="233746"/>
                </a:solidFill>
                <a:latin typeface="Arial"/>
                <a:ea typeface="Arial"/>
                <a:cs typeface="Arial"/>
              </a:rPr>
              <a:t>SI error Grande Y calentamiento Lento,</a:t>
            </a:r>
          </a:p>
          <a:p xmlns:a="http://schemas.openxmlformats.org/drawingml/2006/main">
            <a:pPr>
              <a:buNone/>
              <a:defRPr sz="1875" b="1">
                <a:solidFill>
                  <a:srgbClr val="233746"/>
                </a:solidFill>
                <a:latin typeface="Arial"/>
                <a:ea typeface="Arial"/>
                <a:cs typeface="Arial"/>
              </a:defRPr>
            </a:pPr>
            <a:r>
              <a:rPr sz="1875" b="1">
                <a:solidFill>
                  <a:srgbClr val="233746"/>
                </a:solidFill>
                <a:latin typeface="Arial"/>
                <a:ea typeface="Arial"/>
                <a:cs typeface="Arial"/>
              </a:rPr>
              <a:t>ENTONCES potencia = 90 %.</a:t>
            </a:r>
          </a:p>
        </p:txBody>
      </p:sp>
      <p:sp>
        <p:nvSpPr>
          <p:cNvPr id="19" name="">
            <a:extLst xmlns:a="http://schemas.openxmlformats.org/drawingml/2006/main">
              <a:ext uri="{FF2B5EF4-FFF2-40B4-BE49-F238E27FC236}">
                <a16:creationId xmlns:a16="http://schemas.microsoft.com/office/drawing/2014/main" id="{34FF1E01-183E-4DAA-8A6D-E40D5BA2CF84}"/>
              </a:ext>
            </a:extLst>
          </p:cNvPr>
          <p:cNvSpPr>
            <a:spLocks xmlns:a="http://schemas.openxmlformats.org/drawingml/2006/main" noGrp="1"/>
          </p:cNvSpPr>
          <p:nvPr/>
        </p:nvSpPr>
        <p:spPr>
          <a:xfrm xmlns:a="http://schemas.openxmlformats.org/drawingml/2006/main">
            <a:off x="762000" y="55816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233746"/>
                </a:solidFill>
                <a:latin typeface="Arial"/>
                <a:ea typeface="Arial"/>
                <a:cs typeface="Arial"/>
              </a:defRPr>
            </a:pPr>
            <a:r>
              <a:rPr sz="1800" b="0">
                <a:solidFill>
                  <a:srgbClr val="233746"/>
                </a:solidFill>
                <a:latin typeface="Arial"/>
                <a:ea typeface="Arial"/>
                <a:cs typeface="Arial"/>
              </a:rPr>
              <a:t>Activación con Y = mínimo: ambas reglas valen 0,5.</a:t>
            </a:r>
          </a:p>
        </p:txBody>
      </p:sp>
      <p:sp>
        <p:nvSpPr>
          <p:cNvPr id="20" name="">
            <a:extLst xmlns:a="http://schemas.openxmlformats.org/drawingml/2006/main">
              <a:ext uri="{FF2B5EF4-FFF2-40B4-BE49-F238E27FC236}">
                <a16:creationId xmlns:a16="http://schemas.microsoft.com/office/drawing/2014/main" id="{52331AF5-2E9A-45D1-9A6F-EF794EE717DF}"/>
              </a:ext>
            </a:extLst>
          </p:cNvPr>
          <p:cNvSpPr>
            <a:spLocks xmlns:a="http://schemas.openxmlformats.org/drawingml/2006/main" noGrp="1"/>
          </p:cNvSpPr>
          <p:nvPr/>
        </p:nvSpPr>
        <p:spPr>
          <a:xfrm xmlns:a="http://schemas.openxmlformats.org/drawingml/2006/main">
            <a:off x="762000" y="60388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Potencia = (0,5 · 40 + 0,5 · 90) / (0,5 + 0,5) = 65 %</a:t>
            </a:r>
          </a:p>
        </p:txBody>
      </p:sp>
      <p:sp>
        <p:nvSpPr>
          <p:cNvPr id="21" name="">
            <a:extLst xmlns:a="http://schemas.openxmlformats.org/drawingml/2006/main">
              <a:ext uri="{FF2B5EF4-FFF2-40B4-BE49-F238E27FC236}">
                <a16:creationId xmlns:a16="http://schemas.microsoft.com/office/drawing/2014/main" id="{A68F6143-2DBE-446A-A2C4-A707128B0D66}"/>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2114130-F61D-4E2A-89C8-DCB6F30C5EF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BD5810"/>
                </a:solidFill>
                <a:latin typeface="Arial"/>
                <a:ea typeface="Arial"/>
                <a:cs typeface="Arial"/>
              </a:defRPr>
            </a:pPr>
            <a:r>
              <a:rPr sz="3000" b="0">
                <a:solidFill>
                  <a:srgbClr val="BD5810"/>
                </a:solidFill>
                <a:latin typeface="Arial"/>
                <a:ea typeface="Arial"/>
                <a:cs typeface="Arial"/>
              </a:rPr>
              <a:t>Fuzzy y robustez frente a pequeñas variaciones</a:t>
            </a:r>
          </a:p>
        </p:txBody>
      </p:sp>
      <p:graphicFrame>
        <p:nvGraphicFramePr>
          <p:cNvPr id="28" name="Chart"/>
          <p:cNvGraphicFramePr/>
          <p:nvPr/>
        </p:nvGraphicFramePr>
        <p:xfrm>
          <a:off xmlns:a="http://schemas.openxmlformats.org/drawingml/2006/main" x="619125" y="1714500"/>
          <a:ext xmlns:a="http://schemas.openxmlformats.org/drawingml/2006/main" cx="5619750" cy="3476625"/>
        </p:xfrm>
        <a:graphic xmlns:a="http://schemas.openxmlformats.org/drawingml/2006/main">
          <a:graphicData uri="http://schemas.openxmlformats.org/drawingml/2006/chart">
            <c:chart xmlns:r="http://schemas.openxmlformats.org/officeDocument/2006/relationships" xmlns:c="http://schemas.openxmlformats.org/drawingml/2006/chart" r:id="R256dd25aab574c91"/>
          </a:graphicData>
        </a:graphic>
      </p:graphicFrame>
      <p:sp>
        <p:nvSpPr>
          <p:cNvPr id="10" name="">
            <a:extLst xmlns:a="http://schemas.openxmlformats.org/drawingml/2006/main">
              <a:ext uri="{FF2B5EF4-FFF2-40B4-BE49-F238E27FC236}">
                <a16:creationId xmlns:a16="http://schemas.microsoft.com/office/drawing/2014/main" id="{45B2D0BB-33B5-4100-83A0-C22B049BC373}"/>
              </a:ext>
            </a:extLst>
          </p:cNvPr>
          <p:cNvSpPr>
            <a:spLocks xmlns:a="http://schemas.openxmlformats.org/drawingml/2006/main" noGrp="1"/>
          </p:cNvSpPr>
          <p:nvPr/>
        </p:nvSpPr>
        <p:spPr>
          <a:xfrm xmlns:a="http://schemas.openxmlformats.org/drawingml/2006/main">
            <a:off x="6762750" y="167640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Pequeño cambio en la entrada</a:t>
            </a:r>
          </a:p>
        </p:txBody>
      </p:sp>
      <p:sp>
        <p:nvSpPr>
          <p:cNvPr id="11" name="">
            <a:extLst xmlns:a="http://schemas.openxmlformats.org/drawingml/2006/main">
              <a:ext uri="{FF2B5EF4-FFF2-40B4-BE49-F238E27FC236}">
                <a16:creationId xmlns:a16="http://schemas.microsoft.com/office/drawing/2014/main" id="{40EDD1E8-8120-46A5-A568-0F16134A5D14}"/>
              </a:ext>
            </a:extLst>
          </p:cNvPr>
          <p:cNvSpPr>
            <a:spLocks xmlns:a="http://schemas.openxmlformats.org/drawingml/2006/main" noGrp="1"/>
          </p:cNvSpPr>
          <p:nvPr/>
        </p:nvSpPr>
        <p:spPr>
          <a:xfrm xmlns:a="http://schemas.openxmlformats.org/drawingml/2006/main">
            <a:off x="6762750" y="2543175"/>
            <a:ext cx="466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33746"/>
                </a:solidFill>
                <a:latin typeface="Arial"/>
                <a:ea typeface="Arial"/>
                <a:cs typeface="Arial"/>
              </a:defRPr>
            </a:pPr>
            <a:r>
              <a:rPr sz="2100" b="1">
                <a:solidFill>
                  <a:srgbClr val="233746"/>
                </a:solidFill>
                <a:latin typeface="Arial"/>
                <a:ea typeface="Arial"/>
                <a:cs typeface="Arial"/>
              </a:rPr>
              <a:t>Error: 0,49 a 0,51 °C</a:t>
            </a:r>
          </a:p>
          <a:p xmlns:a="http://schemas.openxmlformats.org/drawingml/2006/main">
            <a:pPr>
              <a:buNone/>
              <a:defRPr sz="2100" b="1">
                <a:solidFill>
                  <a:srgbClr val="233746"/>
                </a:solidFill>
                <a:latin typeface="Arial"/>
                <a:ea typeface="Arial"/>
                <a:cs typeface="Arial"/>
              </a:defRPr>
            </a:pPr>
            <a:r>
              <a:rPr sz="2100" b="1">
                <a:solidFill>
                  <a:srgbClr val="233746"/>
                </a:solidFill>
                <a:latin typeface="Arial"/>
                <a:ea typeface="Arial"/>
                <a:cs typeface="Arial"/>
              </a:rPr>
              <a:t>Potencia: 49,4 a 50,6 %</a:t>
            </a:r>
          </a:p>
        </p:txBody>
      </p:sp>
      <p:sp>
        <p:nvSpPr>
          <p:cNvPr id="12" name="">
            <a:extLst xmlns:a="http://schemas.openxmlformats.org/drawingml/2006/main">
              <a:ext uri="{FF2B5EF4-FFF2-40B4-BE49-F238E27FC236}">
                <a16:creationId xmlns:a16="http://schemas.microsoft.com/office/drawing/2014/main" id="{15FF4B71-1C14-43F6-90E3-232C2FC39222}"/>
              </a:ext>
            </a:extLst>
          </p:cNvPr>
          <p:cNvSpPr>
            <a:spLocks xmlns:a="http://schemas.openxmlformats.org/drawingml/2006/main" noGrp="1"/>
          </p:cNvSpPr>
          <p:nvPr/>
        </p:nvSpPr>
        <p:spPr>
          <a:xfrm xmlns:a="http://schemas.openxmlformats.org/drawingml/2006/main">
            <a:off x="6762750" y="3714750"/>
            <a:ext cx="4619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La estructura combina reglas de forma gradual y evita cambios bruscos de acción.</a:t>
            </a:r>
          </a:p>
        </p:txBody>
      </p:sp>
      <p:sp>
        <p:nvSpPr>
          <p:cNvPr id="13" name="">
            <a:extLst xmlns:a="http://schemas.openxmlformats.org/drawingml/2006/main">
              <a:ext uri="{FF2B5EF4-FFF2-40B4-BE49-F238E27FC236}">
                <a16:creationId xmlns:a16="http://schemas.microsoft.com/office/drawing/2014/main" id="{54548B7B-7C03-4902-955B-35A75611ED44}"/>
              </a:ext>
            </a:extLst>
          </p:cNvPr>
          <p:cNvSpPr>
            <a:spLocks xmlns:a="http://schemas.openxmlformats.org/drawingml/2006/main" noGrp="1"/>
          </p:cNvSpPr>
          <p:nvPr/>
        </p:nvSpPr>
        <p:spPr>
          <a:xfrm xmlns:a="http://schemas.openxmlformats.org/drawingml/2006/main">
            <a:off x="762000" y="54673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D96B18"/>
                </a:solidFill>
                <a:latin typeface="Arial"/>
                <a:ea typeface="Arial"/>
                <a:cs typeface="Arial"/>
              </a:defRPr>
            </a:pPr>
            <a:r>
              <a:rPr sz="2325" b="1">
                <a:solidFill>
                  <a:srgbClr val="D96B18"/>
                </a:solidFill>
                <a:latin typeface="Arial"/>
                <a:ea typeface="Arial"/>
                <a:cs typeface="Arial"/>
              </a:rPr>
              <a:t>Un sistema fuzzy bien diseñado es robusto frente a pequeñas variaciones de entrada.</a:t>
            </a:r>
          </a:p>
        </p:txBody>
      </p:sp>
      <p:sp>
        <p:nvSpPr>
          <p:cNvPr id="15" name="">
            <a:extLst xmlns:a="http://schemas.openxmlformats.org/drawingml/2006/main">
              <a:ext uri="{FF2B5EF4-FFF2-40B4-BE49-F238E27FC236}">
                <a16:creationId xmlns:a16="http://schemas.microsoft.com/office/drawing/2014/main" id="{D35B3C1E-AC6C-4AF0-B404-606645783DCF}"/>
              </a:ext>
            </a:extLst>
          </p:cNvPr>
          <p:cNvSpPr>
            <a:spLocks xmlns:a="http://schemas.openxmlformats.org/drawingml/2006/main" noGrp="1"/>
          </p:cNvSpPr>
          <p:nvPr/>
        </p:nvSpPr>
        <p:spPr>
          <a:xfrm xmlns:a="http://schemas.openxmlformats.org/drawingml/2006/main">
            <a:off x="762000" y="631507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00" b="0">
                <a:solidFill>
                  <a:srgbClr val="233746"/>
                </a:solidFill>
                <a:latin typeface="Arial"/>
                <a:ea typeface="Arial"/>
                <a:cs typeface="Arial"/>
              </a:defRPr>
            </a:pPr>
            <a:r>
              <a:rPr sz="1500" b="0">
                <a:solidFill>
                  <a:srgbClr val="233746"/>
                </a:solidFill>
                <a:latin typeface="Arial"/>
                <a:ea typeface="Arial"/>
                <a:cs typeface="Arial"/>
              </a:rPr>
              <a:t>La suavidad de la acción ayuda; la estabilidad del lazo se comprueba con la planta.</a:t>
            </a:r>
          </a:p>
        </p:txBody>
      </p:sp>
      <p:sp>
        <p:nvSpPr>
          <p:cNvPr id="20" name="">
            <a:extLst xmlns:a="http://schemas.openxmlformats.org/drawingml/2006/main">
              <a:ext uri="{FF2B5EF4-FFF2-40B4-BE49-F238E27FC236}">
                <a16:creationId xmlns:a16="http://schemas.microsoft.com/office/drawing/2014/main" id="{80240A61-5E90-4113-9F6A-53F2B8523DF7}"/>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BD581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0794CF4-D061-417F-850F-35BAD18702F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BD5810"/>
                </a:solidFill>
                <a:latin typeface="Arial"/>
                <a:ea typeface="Arial"/>
                <a:cs typeface="Arial"/>
              </a:defRPr>
            </a:pPr>
            <a:r>
              <a:rPr sz="1350" b="1">
                <a:solidFill>
                  <a:srgbClr val="BD5810"/>
                </a:solidFill>
                <a:latin typeface="Arial"/>
                <a:ea typeface="Arial"/>
                <a:cs typeface="Arial"/>
              </a:rPr>
              <a:t>01  CONTEXTO FUZZY    /    Capítulos 1–3 · conceptos y pertenencia</a:t>
            </a:r>
          </a:p>
        </p:txBody>
      </p:sp>
    </p:spTree>
    <p:extLst>
      <p:ext uri="{BB962C8B-B14F-4D97-AF65-F5344CB8AC3E}">
        <p14:creationId xmlns:p14="http://schemas.microsoft.com/office/powerpoint/2010/main" val="17218965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19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Núcleo, soporte y frontera de un conjunto</a:t>
            </a:r>
          </a:p>
        </p:txBody>
      </p:sp>
      <p:sp>
        <p:nvSpPr>
          <p:cNvPr id="9" name="">
            <a:extLst xmlns:a="http://schemas.openxmlformats.org/drawingml/2006/main">
              <a:ext uri="{FF2B5EF4-FFF2-40B4-BE49-F238E27FC236}">
                <a16:creationId xmlns:a16="http://schemas.microsoft.com/office/drawing/2014/main" id="{21DF4336-59F4-4A32-9498-F479C5AE88AD}"/>
              </a:ext>
            </a:extLst>
          </p:cNvPr>
          <p:cNvSpPr>
            <a:spLocks xmlns:a="http://schemas.openxmlformats.org/drawingml/2006/main" noGrp="1"/>
          </p:cNvSpPr>
          <p:nvPr/>
        </p:nvSpPr>
        <p:spPr>
          <a:xfrm xmlns:a="http://schemas.openxmlformats.org/drawingml/2006/main">
            <a:off x="762000" y="16668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Ejemplo: «temperatura confortable»</a:t>
            </a:r>
          </a:p>
        </p:txBody>
      </p:sp>
      <p:graphicFrame>
        <p:nvGraphicFramePr>
          <p:cNvPr id="31" name="Chart"/>
          <p:cNvGraphicFramePr/>
          <p:nvPr/>
        </p:nvGraphicFramePr>
        <p:xfrm>
          <a:off xmlns:a="http://schemas.openxmlformats.org/drawingml/2006/main" x="762000" y="2324100"/>
          <a:ext xmlns:a="http://schemas.openxmlformats.org/drawingml/2006/main" cx="5524500" cy="3190875"/>
        </p:xfrm>
        <a:graphic xmlns:a="http://schemas.openxmlformats.org/drawingml/2006/main">
          <a:graphicData uri="http://schemas.openxmlformats.org/drawingml/2006/chart">
            <c:chart xmlns:r="http://schemas.openxmlformats.org/officeDocument/2006/relationships" xmlns:c="http://schemas.openxmlformats.org/drawingml/2006/chart" r:id="R1455b12a85fb4f06"/>
          </a:graphicData>
        </a:graphic>
      </p:graphicFrame>
      <p:sp>
        <p:nvSpPr>
          <p:cNvPr id="11" name="">
            <a:extLst xmlns:a="http://schemas.openxmlformats.org/drawingml/2006/main">
              <a:ext uri="{FF2B5EF4-FFF2-40B4-BE49-F238E27FC236}">
                <a16:creationId xmlns:a16="http://schemas.microsoft.com/office/drawing/2014/main" id="{0F77128C-333D-4498-95A6-FC3963CB3C5A}"/>
              </a:ext>
            </a:extLst>
          </p:cNvPr>
          <p:cNvSpPr>
            <a:spLocks xmlns:a="http://schemas.openxmlformats.org/drawingml/2006/main" noGrp="1"/>
          </p:cNvSpPr>
          <p:nvPr/>
        </p:nvSpPr>
        <p:spPr>
          <a:xfrm xmlns:a="http://schemas.openxmlformats.org/drawingml/2006/main">
            <a:off x="6762750" y="22574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Núcleo (core): μA(x) = 1</a:t>
            </a:r>
          </a:p>
        </p:txBody>
      </p:sp>
      <p:sp>
        <p:nvSpPr>
          <p:cNvPr id="12" name="">
            <a:extLst xmlns:a="http://schemas.openxmlformats.org/drawingml/2006/main">
              <a:ext uri="{FF2B5EF4-FFF2-40B4-BE49-F238E27FC236}">
                <a16:creationId xmlns:a16="http://schemas.microsoft.com/office/drawing/2014/main" id="{B904740A-DF8B-47E8-A362-230E148DF991}"/>
              </a:ext>
            </a:extLst>
          </p:cNvPr>
          <p:cNvSpPr>
            <a:spLocks xmlns:a="http://schemas.openxmlformats.org/drawingml/2006/main" noGrp="1"/>
          </p:cNvSpPr>
          <p:nvPr/>
        </p:nvSpPr>
        <p:spPr>
          <a:xfrm xmlns:a="http://schemas.openxmlformats.org/drawingml/2006/main">
            <a:off x="6762750" y="27336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En el ejemplo: [4, 6].</a:t>
            </a:r>
          </a:p>
        </p:txBody>
      </p:sp>
      <p:sp>
        <p:nvSpPr>
          <p:cNvPr id="13" name="">
            <a:extLst xmlns:a="http://schemas.openxmlformats.org/drawingml/2006/main">
              <a:ext uri="{FF2B5EF4-FFF2-40B4-BE49-F238E27FC236}">
                <a16:creationId xmlns:a16="http://schemas.microsoft.com/office/drawing/2014/main" id="{9839E9B0-A035-4AD3-94B2-818E7B511FD6}"/>
              </a:ext>
            </a:extLst>
          </p:cNvPr>
          <p:cNvSpPr>
            <a:spLocks xmlns:a="http://schemas.openxmlformats.org/drawingml/2006/main" noGrp="1"/>
          </p:cNvSpPr>
          <p:nvPr/>
        </p:nvSpPr>
        <p:spPr>
          <a:xfrm xmlns:a="http://schemas.openxmlformats.org/drawingml/2006/main">
            <a:off x="6762750" y="34575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162A0"/>
                </a:solidFill>
                <a:latin typeface="Arial"/>
                <a:ea typeface="Arial"/>
                <a:cs typeface="Arial"/>
              </a:defRPr>
            </a:pPr>
            <a:r>
              <a:rPr sz="2175" b="1">
                <a:solidFill>
                  <a:srgbClr val="2162A0"/>
                </a:solidFill>
                <a:latin typeface="Arial"/>
                <a:ea typeface="Arial"/>
                <a:cs typeface="Arial"/>
              </a:rPr>
              <a:t>Soporte: μA(x) &gt; 0</a:t>
            </a:r>
          </a:p>
        </p:txBody>
      </p:sp>
      <p:sp>
        <p:nvSpPr>
          <p:cNvPr id="14" name="">
            <a:extLst xmlns:a="http://schemas.openxmlformats.org/drawingml/2006/main">
              <a:ext uri="{FF2B5EF4-FFF2-40B4-BE49-F238E27FC236}">
                <a16:creationId xmlns:a16="http://schemas.microsoft.com/office/drawing/2014/main" id="{6FC44E0D-D1BC-4BB6-86DD-26EA3461E2C2}"/>
              </a:ext>
            </a:extLst>
          </p:cNvPr>
          <p:cNvSpPr>
            <a:spLocks xmlns:a="http://schemas.openxmlformats.org/drawingml/2006/main" noGrp="1"/>
          </p:cNvSpPr>
          <p:nvPr/>
        </p:nvSpPr>
        <p:spPr>
          <a:xfrm xmlns:a="http://schemas.openxmlformats.org/drawingml/2006/main">
            <a:off x="6762750" y="39338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En el ejemplo: (2, 8).</a:t>
            </a:r>
          </a:p>
        </p:txBody>
      </p:sp>
      <p:sp>
        <p:nvSpPr>
          <p:cNvPr id="15" name="">
            <a:extLst xmlns:a="http://schemas.openxmlformats.org/drawingml/2006/main">
              <a:ext uri="{FF2B5EF4-FFF2-40B4-BE49-F238E27FC236}">
                <a16:creationId xmlns:a16="http://schemas.microsoft.com/office/drawing/2014/main" id="{88EF5539-8399-4781-A624-25ABAB0D232F}"/>
              </a:ext>
            </a:extLst>
          </p:cNvPr>
          <p:cNvSpPr>
            <a:spLocks xmlns:a="http://schemas.openxmlformats.org/drawingml/2006/main" noGrp="1"/>
          </p:cNvSpPr>
          <p:nvPr/>
        </p:nvSpPr>
        <p:spPr>
          <a:xfrm xmlns:a="http://schemas.openxmlformats.org/drawingml/2006/main">
            <a:off x="6762750" y="46577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60863D"/>
                </a:solidFill>
                <a:latin typeface="Arial"/>
                <a:ea typeface="Arial"/>
                <a:cs typeface="Arial"/>
              </a:defRPr>
            </a:pPr>
            <a:r>
              <a:rPr sz="2175" b="1">
                <a:solidFill>
                  <a:srgbClr val="60863D"/>
                </a:solidFill>
                <a:latin typeface="Arial"/>
                <a:ea typeface="Arial"/>
                <a:cs typeface="Arial"/>
              </a:rPr>
              <a:t>Frontera: 0 &lt; μA(x) &lt; 1</a:t>
            </a:r>
          </a:p>
        </p:txBody>
      </p:sp>
      <p:sp>
        <p:nvSpPr>
          <p:cNvPr id="16" name="">
            <a:extLst xmlns:a="http://schemas.openxmlformats.org/drawingml/2006/main">
              <a:ext uri="{FF2B5EF4-FFF2-40B4-BE49-F238E27FC236}">
                <a16:creationId xmlns:a16="http://schemas.microsoft.com/office/drawing/2014/main" id="{CB648910-391F-4F97-88A5-B77A6AC3E52D}"/>
              </a:ext>
            </a:extLst>
          </p:cNvPr>
          <p:cNvSpPr>
            <a:spLocks xmlns:a="http://schemas.openxmlformats.org/drawingml/2006/main" noGrp="1"/>
          </p:cNvSpPr>
          <p:nvPr/>
        </p:nvSpPr>
        <p:spPr>
          <a:xfrm xmlns:a="http://schemas.openxmlformats.org/drawingml/2006/main">
            <a:off x="6762750" y="51339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(2, 4) y (6, 8).</a:t>
            </a:r>
          </a:p>
        </p:txBody>
      </p:sp>
      <p:sp>
        <p:nvSpPr>
          <p:cNvPr id="17" name="">
            <a:extLst xmlns:a="http://schemas.openxmlformats.org/drawingml/2006/main">
              <a:ext uri="{FF2B5EF4-FFF2-40B4-BE49-F238E27FC236}">
                <a16:creationId xmlns:a16="http://schemas.microsoft.com/office/drawing/2014/main" id="{40B11D23-5D49-4D45-B77F-94A73C38AA91}"/>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Estas regiones están en el dominio x; μ indica cuánto pertenece cada valor.</a:t>
            </a:r>
          </a:p>
        </p:txBody>
      </p:sp>
      <p:sp>
        <p:nvSpPr>
          <p:cNvPr id="22" name="">
            <a:extLst xmlns:a="http://schemas.openxmlformats.org/drawingml/2006/main">
              <a:ext uri="{FF2B5EF4-FFF2-40B4-BE49-F238E27FC236}">
                <a16:creationId xmlns:a16="http://schemas.microsoft.com/office/drawing/2014/main" id="{73C41887-BE02-46FB-A8BD-B72765EA4CB9}"/>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0C32FAF-7D97-4320-B6BB-B3FF2590087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Altura, normalidad, prototipo y cruces</a:t>
            </a:r>
          </a:p>
        </p:txBody>
      </p:sp>
      <p:sp>
        <p:nvSpPr>
          <p:cNvPr id="9" name="">
            <a:extLst xmlns:a="http://schemas.openxmlformats.org/drawingml/2006/main">
              <a:ext uri="{FF2B5EF4-FFF2-40B4-BE49-F238E27FC236}">
                <a16:creationId xmlns:a16="http://schemas.microsoft.com/office/drawing/2014/main" id="{81C37E3A-CAA0-4D91-8251-5B9B70701D3B}"/>
              </a:ext>
            </a:extLst>
          </p:cNvPr>
          <p:cNvSpPr>
            <a:spLocks xmlns:a="http://schemas.openxmlformats.org/drawingml/2006/main" noGrp="1"/>
          </p:cNvSpPr>
          <p:nvPr/>
        </p:nvSpPr>
        <p:spPr>
          <a:xfrm xmlns:a="http://schemas.openxmlformats.org/drawingml/2006/main">
            <a:off x="762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Normal: máximo 1</a:t>
            </a:r>
          </a:p>
        </p:txBody>
      </p:sp>
      <p:sp>
        <p:nvSpPr>
          <p:cNvPr id="10" name="">
            <a:extLst xmlns:a="http://schemas.openxmlformats.org/drawingml/2006/main">
              <a:ext uri="{FF2B5EF4-FFF2-40B4-BE49-F238E27FC236}">
                <a16:creationId xmlns:a16="http://schemas.microsoft.com/office/drawing/2014/main" id="{A82ED66A-7B23-4187-B621-381E09392D6A}"/>
              </a:ext>
            </a:extLst>
          </p:cNvPr>
          <p:cNvSpPr>
            <a:spLocks xmlns:a="http://schemas.openxmlformats.org/drawingml/2006/main" noGrp="1"/>
          </p:cNvSpPr>
          <p:nvPr/>
        </p:nvSpPr>
        <p:spPr>
          <a:xfrm xmlns:a="http://schemas.openxmlformats.org/drawingml/2006/main">
            <a:off x="6096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Subnormal: máximo 0,6</a:t>
            </a:r>
          </a:p>
        </p:txBody>
      </p:sp>
      <p:graphicFrame>
        <p:nvGraphicFramePr>
          <p:cNvPr id="32" name="Chart"/>
          <p:cNvGraphicFramePr/>
          <p:nvPr/>
        </p:nvGraphicFramePr>
        <p:xfrm>
          <a:off xmlns:a="http://schemas.openxmlformats.org/drawingml/2006/main" x="762000" y="2276475"/>
          <a:ext xmlns:a="http://schemas.openxmlformats.org/drawingml/2006/main" cx="5524500" cy="3238500"/>
        </p:xfrm>
        <a:graphic xmlns:a="http://schemas.openxmlformats.org/drawingml/2006/main">
          <a:graphicData uri="http://schemas.openxmlformats.org/drawingml/2006/chart">
            <c:chart xmlns:r="http://schemas.openxmlformats.org/officeDocument/2006/relationships" xmlns:c="http://schemas.openxmlformats.org/drawingml/2006/chart" r:id="Rf32980df32fc456e"/>
          </a:graphicData>
        </a:graphic>
      </p:graphicFrame>
      <p:sp>
        <p:nvSpPr>
          <p:cNvPr id="12" name="">
            <a:extLst xmlns:a="http://schemas.openxmlformats.org/drawingml/2006/main">
              <a:ext uri="{FF2B5EF4-FFF2-40B4-BE49-F238E27FC236}">
                <a16:creationId xmlns:a16="http://schemas.microsoft.com/office/drawing/2014/main" id="{0A8F19B6-D3D7-41F2-9C57-CCC61D650757}"/>
              </a:ext>
            </a:extLst>
          </p:cNvPr>
          <p:cNvSpPr>
            <a:spLocks xmlns:a="http://schemas.openxmlformats.org/drawingml/2006/main" noGrp="1"/>
          </p:cNvSpPr>
          <p:nvPr/>
        </p:nvSpPr>
        <p:spPr>
          <a:xfrm xmlns:a="http://schemas.openxmlformats.org/drawingml/2006/main">
            <a:off x="6762750" y="2228850"/>
            <a:ext cx="4714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Altura = máximo de μ.</a:t>
            </a:r>
          </a:p>
        </p:txBody>
      </p:sp>
      <p:sp>
        <p:nvSpPr>
          <p:cNvPr id="13" name="">
            <a:extLst xmlns:a="http://schemas.openxmlformats.org/drawingml/2006/main">
              <a:ext uri="{FF2B5EF4-FFF2-40B4-BE49-F238E27FC236}">
                <a16:creationId xmlns:a16="http://schemas.microsoft.com/office/drawing/2014/main" id="{E8C26CF9-9151-4C71-9C4F-C67F3BF30885}"/>
              </a:ext>
            </a:extLst>
          </p:cNvPr>
          <p:cNvSpPr>
            <a:spLocks xmlns:a="http://schemas.openxmlformats.org/drawingml/2006/main" noGrp="1"/>
          </p:cNvSpPr>
          <p:nvPr/>
        </p:nvSpPr>
        <p:spPr>
          <a:xfrm xmlns:a="http://schemas.openxmlformats.org/drawingml/2006/main">
            <a:off x="6762750" y="2790825"/>
            <a:ext cx="4714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Normal: alcanza 1.</a:t>
            </a:r>
          </a:p>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Subnormal: máximo menor que 1.</a:t>
            </a:r>
          </a:p>
        </p:txBody>
      </p:sp>
      <p:sp>
        <p:nvSpPr>
          <p:cNvPr id="14" name="">
            <a:extLst xmlns:a="http://schemas.openxmlformats.org/drawingml/2006/main">
              <a:ext uri="{FF2B5EF4-FFF2-40B4-BE49-F238E27FC236}">
                <a16:creationId xmlns:a16="http://schemas.microsoft.com/office/drawing/2014/main" id="{477D818C-9AB6-48BD-BBCE-04AC8BB90C87}"/>
              </a:ext>
            </a:extLst>
          </p:cNvPr>
          <p:cNvSpPr>
            <a:spLocks xmlns:a="http://schemas.openxmlformats.org/drawingml/2006/main" noGrp="1"/>
          </p:cNvSpPr>
          <p:nvPr/>
        </p:nvSpPr>
        <p:spPr>
          <a:xfrm xmlns:a="http://schemas.openxmlformats.org/drawingml/2006/main">
            <a:off x="6762750" y="3895725"/>
            <a:ext cx="471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Prototipo: x = 5</a:t>
            </a:r>
          </a:p>
        </p:txBody>
      </p:sp>
      <p:sp>
        <p:nvSpPr>
          <p:cNvPr id="15" name="">
            <a:extLst xmlns:a="http://schemas.openxmlformats.org/drawingml/2006/main">
              <a:ext uri="{FF2B5EF4-FFF2-40B4-BE49-F238E27FC236}">
                <a16:creationId xmlns:a16="http://schemas.microsoft.com/office/drawing/2014/main" id="{CC61DD62-4492-4D73-A92C-0AE3C3CC6420}"/>
              </a:ext>
            </a:extLst>
          </p:cNvPr>
          <p:cNvSpPr>
            <a:spLocks xmlns:a="http://schemas.openxmlformats.org/drawingml/2006/main" noGrp="1"/>
          </p:cNvSpPr>
          <p:nvPr/>
        </p:nvSpPr>
        <p:spPr>
          <a:xfrm xmlns:a="http://schemas.openxmlformats.org/drawingml/2006/main">
            <a:off x="6762750" y="43624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Arial"/>
                <a:ea typeface="Arial"/>
                <a:cs typeface="Arial"/>
              </a:defRPr>
            </a:pPr>
            <a:r>
              <a:rPr sz="1950" b="0">
                <a:solidFill>
                  <a:srgbClr val="233746"/>
                </a:solidFill>
                <a:latin typeface="Arial"/>
                <a:ea typeface="Arial"/>
                <a:cs typeface="Arial"/>
              </a:rPr>
              <a:t>Aquí es el único punto con μ = 1.</a:t>
            </a:r>
          </a:p>
        </p:txBody>
      </p:sp>
      <p:sp>
        <p:nvSpPr>
          <p:cNvPr id="16" name="">
            <a:extLst xmlns:a="http://schemas.openxmlformats.org/drawingml/2006/main">
              <a:ext uri="{FF2B5EF4-FFF2-40B4-BE49-F238E27FC236}">
                <a16:creationId xmlns:a16="http://schemas.microsoft.com/office/drawing/2014/main" id="{A287DC50-C00A-4DB2-B8CD-C1428E9FE038}"/>
              </a:ext>
            </a:extLst>
          </p:cNvPr>
          <p:cNvSpPr>
            <a:spLocks xmlns:a="http://schemas.openxmlformats.org/drawingml/2006/main" noGrp="1"/>
          </p:cNvSpPr>
          <p:nvPr/>
        </p:nvSpPr>
        <p:spPr>
          <a:xfrm xmlns:a="http://schemas.openxmlformats.org/drawingml/2006/main">
            <a:off x="6762750" y="52387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Cruces: μ = 0,5</a:t>
            </a:r>
          </a:p>
        </p:txBody>
      </p:sp>
      <p:sp>
        <p:nvSpPr>
          <p:cNvPr id="17" name="">
            <a:extLst xmlns:a="http://schemas.openxmlformats.org/drawingml/2006/main">
              <a:ext uri="{FF2B5EF4-FFF2-40B4-BE49-F238E27FC236}">
                <a16:creationId xmlns:a16="http://schemas.microsoft.com/office/drawing/2014/main" id="{92183AC4-2F7E-4750-AEB8-4C73B612353A}"/>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En el triángulo normal, los puntos de cruce son x = 3,5 y x = 6,5.</a:t>
            </a:r>
          </a:p>
        </p:txBody>
      </p:sp>
      <p:sp>
        <p:nvSpPr>
          <p:cNvPr id="22" name="">
            <a:extLst xmlns:a="http://schemas.openxmlformats.org/drawingml/2006/main">
              <a:ext uri="{FF2B5EF4-FFF2-40B4-BE49-F238E27FC236}">
                <a16:creationId xmlns:a16="http://schemas.microsoft.com/office/drawing/2014/main" id="{FD377730-28C7-42E0-9114-147C1098D05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E9BF911-EFE5-4B33-A55D-34D01C398986}"/>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Convexidad: una sola región por nivel</a:t>
            </a:r>
          </a:p>
        </p:txBody>
      </p:sp>
      <p:sp>
        <p:nvSpPr>
          <p:cNvPr id="9" name="">
            <a:extLst xmlns:a="http://schemas.openxmlformats.org/drawingml/2006/main">
              <a:ext uri="{FF2B5EF4-FFF2-40B4-BE49-F238E27FC236}">
                <a16:creationId xmlns:a16="http://schemas.microsoft.com/office/drawing/2014/main" id="{605F13D2-2610-4242-80F4-10B41E4879F0}"/>
              </a:ext>
            </a:extLst>
          </p:cNvPr>
          <p:cNvSpPr>
            <a:spLocks xmlns:a="http://schemas.openxmlformats.org/drawingml/2006/main" noGrp="1"/>
          </p:cNvSpPr>
          <p:nvPr/>
        </p:nvSpPr>
        <p:spPr>
          <a:xfrm xmlns:a="http://schemas.openxmlformats.org/drawingml/2006/main">
            <a:off x="762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Convexo: triángulo</a:t>
            </a:r>
          </a:p>
        </p:txBody>
      </p:sp>
      <p:sp>
        <p:nvSpPr>
          <p:cNvPr id="10" name="">
            <a:extLst xmlns:a="http://schemas.openxmlformats.org/drawingml/2006/main">
              <a:ext uri="{FF2B5EF4-FFF2-40B4-BE49-F238E27FC236}">
                <a16:creationId xmlns:a16="http://schemas.microsoft.com/office/drawing/2014/main" id="{8080B5DA-89D0-4540-B7A4-569E10841C1A}"/>
              </a:ext>
            </a:extLst>
          </p:cNvPr>
          <p:cNvSpPr>
            <a:spLocks xmlns:a="http://schemas.openxmlformats.org/drawingml/2006/main" noGrp="1"/>
          </p:cNvSpPr>
          <p:nvPr/>
        </p:nvSpPr>
        <p:spPr>
          <a:xfrm xmlns:a="http://schemas.openxmlformats.org/drawingml/2006/main">
            <a:off x="6096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No convexo: dos zonas separadas</a:t>
            </a:r>
          </a:p>
        </p:txBody>
      </p:sp>
      <p:graphicFrame>
        <p:nvGraphicFramePr>
          <p:cNvPr id="30" name="Chart"/>
          <p:cNvGraphicFramePr/>
          <p:nvPr/>
        </p:nvGraphicFramePr>
        <p:xfrm>
          <a:off xmlns:a="http://schemas.openxmlformats.org/drawingml/2006/main" x="762000" y="2286000"/>
          <a:ext xmlns:a="http://schemas.openxmlformats.org/drawingml/2006/main" cx="4953000" cy="3190875"/>
        </p:xfrm>
        <a:graphic xmlns:a="http://schemas.openxmlformats.org/drawingml/2006/main">
          <a:graphicData uri="http://schemas.openxmlformats.org/drawingml/2006/chart">
            <c:chart xmlns:r="http://schemas.openxmlformats.org/officeDocument/2006/relationships" xmlns:c="http://schemas.openxmlformats.org/drawingml/2006/chart" r:id="R3c23bb64deb24d89"/>
          </a:graphicData>
        </a:graphic>
      </p:graphicFrame>
      <p:graphicFrame>
        <p:nvGraphicFramePr>
          <p:cNvPr id="31" name="Chart"/>
          <p:cNvGraphicFramePr/>
          <p:nvPr/>
        </p:nvGraphicFramePr>
        <p:xfrm>
          <a:off xmlns:a="http://schemas.openxmlformats.org/drawingml/2006/main" x="6429375" y="2286000"/>
          <a:ext xmlns:a="http://schemas.openxmlformats.org/drawingml/2006/main" cx="4953000" cy="3190875"/>
        </p:xfrm>
        <a:graphic xmlns:a="http://schemas.openxmlformats.org/drawingml/2006/main">
          <a:graphicData uri="http://schemas.openxmlformats.org/drawingml/2006/chart">
            <c:chart xmlns:r="http://schemas.openxmlformats.org/officeDocument/2006/relationships" xmlns:c="http://schemas.openxmlformats.org/drawingml/2006/chart" r:id="R22ebe9fd81ed4236"/>
          </a:graphicData>
        </a:graphic>
      </p:graphicFrame>
      <p:sp>
        <p:nvSpPr>
          <p:cNvPr id="13" name="">
            <a:extLst xmlns:a="http://schemas.openxmlformats.org/drawingml/2006/main">
              <a:ext uri="{FF2B5EF4-FFF2-40B4-BE49-F238E27FC236}">
                <a16:creationId xmlns:a16="http://schemas.microsoft.com/office/drawing/2014/main" id="{2EFC424A-A6B1-4FF3-AD5F-4C6FCA52189B}"/>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Al cortar a una altura α, el convexo deja un intervalo, sin huecos.</a:t>
            </a:r>
          </a:p>
        </p:txBody>
      </p:sp>
      <p:sp>
        <p:nvSpPr>
          <p:cNvPr id="20" name="">
            <a:extLst xmlns:a="http://schemas.openxmlformats.org/drawingml/2006/main">
              <a:ext uri="{FF2B5EF4-FFF2-40B4-BE49-F238E27FC236}">
                <a16:creationId xmlns:a16="http://schemas.microsoft.com/office/drawing/2014/main" id="{916F8763-8C2C-40FD-9005-9A6D02D41FD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FFACDE1-64A0-43FF-AB08-D9642230C360}"/>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Por qué necesitamos desdifusificar</a:t>
            </a:r>
          </a:p>
        </p:txBody>
      </p:sp>
      <p:sp>
        <p:nvSpPr>
          <p:cNvPr id="9" name="">
            <a:extLst xmlns:a="http://schemas.openxmlformats.org/drawingml/2006/main">
              <a:ext uri="{FF2B5EF4-FFF2-40B4-BE49-F238E27FC236}">
                <a16:creationId xmlns:a16="http://schemas.microsoft.com/office/drawing/2014/main" id="{9A89F1E4-D312-45FA-92DE-7BAD8C56EAC7}"/>
              </a:ext>
            </a:extLst>
          </p:cNvPr>
          <p:cNvSpPr>
            <a:spLocks xmlns:a="http://schemas.openxmlformats.org/drawingml/2006/main" noGrp="1"/>
          </p:cNvSpPr>
          <p:nvPr/>
        </p:nvSpPr>
        <p:spPr>
          <a:xfrm xmlns:a="http://schemas.openxmlformats.org/drawingml/2006/main">
            <a:off x="762000" y="1619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El razonamiento admite grados</a:t>
            </a:r>
          </a:p>
        </p:txBody>
      </p:sp>
      <p:sp>
        <p:nvSpPr>
          <p:cNvPr id="10" name="">
            <a:extLst xmlns:a="http://schemas.openxmlformats.org/drawingml/2006/main">
              <a:ext uri="{FF2B5EF4-FFF2-40B4-BE49-F238E27FC236}">
                <a16:creationId xmlns:a16="http://schemas.microsoft.com/office/drawing/2014/main" id="{5D5E9C16-AD85-42AB-87C8-2AC52B44840F}"/>
              </a:ext>
            </a:extLst>
          </p:cNvPr>
          <p:cNvSpPr>
            <a:spLocks xmlns:a="http://schemas.openxmlformats.org/drawingml/2006/main" noGrp="1"/>
          </p:cNvSpPr>
          <p:nvPr/>
        </p:nvSpPr>
        <p:spPr>
          <a:xfrm xmlns:a="http://schemas.openxmlformats.org/drawingml/2006/main">
            <a:off x="762000" y="20764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Podemos activar «potencia baja» y «potencia alta» simultáneamente.</a:t>
            </a:r>
          </a:p>
        </p:txBody>
      </p:sp>
      <p:sp>
        <p:nvSpPr>
          <p:cNvPr id="11" name="">
            <a:extLst xmlns:a="http://schemas.openxmlformats.org/drawingml/2006/main">
              <a:ext uri="{FF2B5EF4-FFF2-40B4-BE49-F238E27FC236}">
                <a16:creationId xmlns:a16="http://schemas.microsoft.com/office/drawing/2014/main" id="{0ED48E2C-9F99-4DBC-895E-CBE5D2A72BF4}"/>
              </a:ext>
            </a:extLst>
          </p:cNvPr>
          <p:cNvSpPr>
            <a:spLocks xmlns:a="http://schemas.openxmlformats.org/drawingml/2006/main" noGrp="1"/>
          </p:cNvSpPr>
          <p:nvPr/>
        </p:nvSpPr>
        <p:spPr>
          <a:xfrm xmlns:a="http://schemas.openxmlformats.org/drawingml/2006/main">
            <a:off x="762000" y="2905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El actuador necesita una orden concreta</a:t>
            </a:r>
          </a:p>
        </p:txBody>
      </p:sp>
      <p:sp>
        <p:nvSpPr>
          <p:cNvPr id="12" name="">
            <a:extLst xmlns:a="http://schemas.openxmlformats.org/drawingml/2006/main">
              <a:ext uri="{FF2B5EF4-FFF2-40B4-BE49-F238E27FC236}">
                <a16:creationId xmlns:a16="http://schemas.microsoft.com/office/drawing/2014/main" id="{EA1D51EF-5313-4CEC-947A-D4B96177C178}"/>
              </a:ext>
            </a:extLst>
          </p:cNvPr>
          <p:cNvSpPr>
            <a:spLocks xmlns:a="http://schemas.openxmlformats.org/drawingml/2006/main" noGrp="1"/>
          </p:cNvSpPr>
          <p:nvPr/>
        </p:nvSpPr>
        <p:spPr>
          <a:xfrm xmlns:a="http://schemas.openxmlformats.org/drawingml/2006/main">
            <a:off x="762000" y="3362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Por ejemplo: aplicar 43,9 % de potencia durante este intervalo de control.</a:t>
            </a:r>
          </a:p>
        </p:txBody>
      </p:sp>
      <p:sp>
        <p:nvSpPr>
          <p:cNvPr id="13" name="">
            <a:extLst xmlns:a="http://schemas.openxmlformats.org/drawingml/2006/main">
              <a:ext uri="{FF2B5EF4-FFF2-40B4-BE49-F238E27FC236}">
                <a16:creationId xmlns:a16="http://schemas.microsoft.com/office/drawing/2014/main" id="{D11583FD-68AD-43A3-9C39-DDA0D70783A4}"/>
              </a:ext>
            </a:extLst>
          </p:cNvPr>
          <p:cNvSpPr>
            <a:spLocks xmlns:a="http://schemas.openxmlformats.org/drawingml/2006/main" noGrp="1"/>
          </p:cNvSpPr>
          <p:nvPr/>
        </p:nvSpPr>
        <p:spPr>
          <a:xfrm xmlns:a="http://schemas.openxmlformats.org/drawingml/2006/main">
            <a:off x="762000" y="4191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Crisp no significa necesariamente binario</a:t>
            </a:r>
          </a:p>
        </p:txBody>
      </p:sp>
      <p:sp>
        <p:nvSpPr>
          <p:cNvPr id="14" name="">
            <a:extLst xmlns:a="http://schemas.openxmlformats.org/drawingml/2006/main">
              <a:ext uri="{FF2B5EF4-FFF2-40B4-BE49-F238E27FC236}">
                <a16:creationId xmlns:a16="http://schemas.microsoft.com/office/drawing/2014/main" id="{A89017C8-93AF-4A2F-86B7-7B1274466816}"/>
              </a:ext>
            </a:extLst>
          </p:cNvPr>
          <p:cNvSpPr>
            <a:spLocks xmlns:a="http://schemas.openxmlformats.org/drawingml/2006/main" noGrp="1"/>
          </p:cNvSpPr>
          <p:nvPr/>
        </p:nvSpPr>
        <p:spPr>
          <a:xfrm xmlns:a="http://schemas.openxmlformats.org/drawingml/2006/main">
            <a:off x="762000" y="4648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ON/OFF es binario; 43,9 % también es crisp porque es un valor determinado.</a:t>
            </a:r>
          </a:p>
        </p:txBody>
      </p:sp>
      <p:sp>
        <p:nvSpPr>
          <p:cNvPr id="15" name="">
            <a:extLst xmlns:a="http://schemas.openxmlformats.org/drawingml/2006/main">
              <a:ext uri="{FF2B5EF4-FFF2-40B4-BE49-F238E27FC236}">
                <a16:creationId xmlns:a16="http://schemas.microsoft.com/office/drawing/2014/main" id="{292CE76D-E014-406A-956A-2C2AD61DB868}"/>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Desdifusificar a un escalar: resumir el conjunto de salida en una acción numérica.</a:t>
            </a:r>
          </a:p>
        </p:txBody>
      </p:sp>
      <p:sp>
        <p:nvSpPr>
          <p:cNvPr id="16" name="">
            <a:extLst xmlns:a="http://schemas.openxmlformats.org/drawingml/2006/main">
              <a:ext uri="{FF2B5EF4-FFF2-40B4-BE49-F238E27FC236}">
                <a16:creationId xmlns:a16="http://schemas.microsoft.com/office/drawing/2014/main" id="{F693DE39-F35F-403F-BEBF-40EC0BF1F349}"/>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8B01912-7469-46BC-8D55-36FC9B6D7C6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La salida fuzzy que vamos a convertir en un número</a:t>
            </a:r>
          </a:p>
        </p:txBody>
      </p:sp>
      <p:sp>
        <p:nvSpPr>
          <p:cNvPr id="9" name="">
            <a:extLst xmlns:a="http://schemas.openxmlformats.org/drawingml/2006/main">
              <a:ext uri="{FF2B5EF4-FFF2-40B4-BE49-F238E27FC236}">
                <a16:creationId xmlns:a16="http://schemas.microsoft.com/office/drawing/2014/main" id="{9EDC0A21-D73E-470A-8289-2C4B0444750E}"/>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CE8F15-DD90-4E2D-993D-9BB7B67D39D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
        <p:nvSpPr>
          <p:cNvPr id="11" name="">
            <a:extLst xmlns:a="http://schemas.openxmlformats.org/drawingml/2006/main">
              <a:ext uri="{FF2B5EF4-FFF2-40B4-BE49-F238E27FC236}">
                <a16:creationId xmlns:a16="http://schemas.microsoft.com/office/drawing/2014/main" id="{A433ACA7-554F-4E2C-AA65-2A5414200386}"/>
              </a:ext>
            </a:extLst>
          </p:cNvPr>
          <p:cNvSpPr>
            <a:spLocks xmlns:a="http://schemas.openxmlformats.org/drawingml/2006/main" noGrp="1"/>
          </p:cNvSpPr>
          <p:nvPr/>
        </p:nvSpPr>
        <p:spPr>
          <a:xfrm xmlns:a="http://schemas.openxmlformats.org/drawingml/2006/main">
            <a:off x="762000" y="15525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233746"/>
                </a:solidFill>
                <a:latin typeface="Arial"/>
                <a:ea typeface="Arial"/>
                <a:cs typeface="Arial"/>
              </a:defRPr>
            </a:pPr>
            <a:r>
              <a:rPr sz="2025" b="0">
                <a:solidFill>
                  <a:srgbClr val="233746"/>
                </a:solidFill>
                <a:latin typeface="Arial"/>
                <a:ea typeface="Arial"/>
                <a:cs typeface="Arial"/>
              </a:rPr>
              <a:t>Partimos de una curva ya calculada. Más adelante veremos cómo la generan las reglas.</a:t>
            </a:r>
          </a:p>
        </p:txBody>
      </p:sp>
      <p:graphicFrame>
        <p:nvGraphicFramePr>
          <p:cNvPr id="25" name="Chart"/>
          <p:cNvGraphicFramePr/>
          <p:nvPr/>
        </p:nvGraphicFramePr>
        <p:xfrm>
          <a:off xmlns:a="http://schemas.openxmlformats.org/drawingml/2006/main" x="762000" y="2238375"/>
          <a:ext xmlns:a="http://schemas.openxmlformats.org/drawingml/2006/main" cx="6286500" cy="3238500"/>
        </p:xfrm>
        <a:graphic xmlns:a="http://schemas.openxmlformats.org/drawingml/2006/main">
          <a:graphicData uri="http://schemas.openxmlformats.org/drawingml/2006/chart">
            <c:chart xmlns:r="http://schemas.openxmlformats.org/officeDocument/2006/relationships" xmlns:c="http://schemas.openxmlformats.org/drawingml/2006/chart" r:id="Redc29a73db5f49a8"/>
          </a:graphicData>
        </a:graphic>
      </p:graphicFrame>
      <p:sp>
        <p:nvSpPr>
          <p:cNvPr id="13" name="">
            <a:extLst xmlns:a="http://schemas.openxmlformats.org/drawingml/2006/main">
              <a:ext uri="{FF2B5EF4-FFF2-40B4-BE49-F238E27FC236}">
                <a16:creationId xmlns:a16="http://schemas.microsoft.com/office/drawing/2014/main" id="{C4EFC34F-8B90-49B7-88B2-DDA5260805A7}"/>
              </a:ext>
            </a:extLst>
          </p:cNvPr>
          <p:cNvSpPr>
            <a:spLocks xmlns:a="http://schemas.openxmlformats.org/drawingml/2006/main" noGrp="1"/>
          </p:cNvSpPr>
          <p:nvPr/>
        </p:nvSpPr>
        <p:spPr>
          <a:xfrm xmlns:a="http://schemas.openxmlformats.org/drawingml/2006/main">
            <a:off x="7620000" y="2371725"/>
            <a:ext cx="3810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Eje horizontal</a:t>
            </a:r>
          </a:p>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Potencias posibles, en %.</a:t>
            </a:r>
          </a:p>
          <a:p xmlns:a="http://schemas.openxmlformats.org/drawingml/2006/main">
            <a:r>
              <a:t/>
            </a:r>
          </a:p>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Eje vertical</a:t>
            </a:r>
          </a:p>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Grado de pertenencia.</a:t>
            </a:r>
          </a:p>
        </p:txBody>
      </p:sp>
      <p:sp>
        <p:nvSpPr>
          <p:cNvPr id="14" name="">
            <a:extLst xmlns:a="http://schemas.openxmlformats.org/drawingml/2006/main">
              <a:ext uri="{FF2B5EF4-FFF2-40B4-BE49-F238E27FC236}">
                <a16:creationId xmlns:a16="http://schemas.microsoft.com/office/drawing/2014/main" id="{D6376F38-7981-4C53-83AD-17985BE6A9B7}"/>
              </a:ext>
            </a:extLst>
          </p:cNvPr>
          <p:cNvSpPr>
            <a:spLocks xmlns:a="http://schemas.openxmlformats.org/drawingml/2006/main" noGrp="1"/>
          </p:cNvSpPr>
          <p:nvPr/>
        </p:nvSpPr>
        <p:spPr>
          <a:xfrm xmlns:a="http://schemas.openxmlformats.org/drawingml/2006/main">
            <a:off x="7620000" y="4972050"/>
            <a:ext cx="3810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087F79"/>
                </a:solidFill>
                <a:latin typeface="Arial"/>
                <a:ea typeface="Arial"/>
                <a:cs typeface="Arial"/>
              </a:defRPr>
            </a:pPr>
            <a:r>
              <a:rPr sz="2100" b="1">
                <a:solidFill>
                  <a:srgbClr val="087F79"/>
                </a:solidFill>
                <a:latin typeface="Arial"/>
                <a:ea typeface="Arial"/>
                <a:cs typeface="Arial"/>
              </a:rPr>
              <a:t>Buscamos una sola potencia</a:t>
            </a:r>
          </a:p>
          <a:p xmlns:a="http://schemas.openxmlformats.org/drawingml/2006/main">
            <a:pPr>
              <a:defRPr sz="2100" b="1">
                <a:solidFill>
                  <a:srgbClr val="087F79"/>
                </a:solidFill>
                <a:latin typeface="Arial"/>
                <a:ea typeface="Arial"/>
                <a:cs typeface="Arial"/>
              </a:defRPr>
            </a:pPr>
            <a:r>
              <a:rPr sz="2100" b="1">
                <a:solidFill>
                  <a:srgbClr val="087F79"/>
                </a:solidFill>
                <a:latin typeface="Arial"/>
                <a:ea typeface="Arial"/>
                <a:cs typeface="Arial"/>
              </a:rPr>
              <a:t>para enviar al actuador.</a:t>
            </a:r>
          </a:p>
        </p:txBody>
      </p:sp>
      <p:sp>
        <p:nvSpPr>
          <p:cNvPr id="15" name="">
            <a:extLst xmlns:a="http://schemas.openxmlformats.org/drawingml/2006/main">
              <a:ext uri="{FF2B5EF4-FFF2-40B4-BE49-F238E27FC236}">
                <a16:creationId xmlns:a16="http://schemas.microsoft.com/office/drawing/2014/main" id="{01D45B5F-CFFB-4DD0-96A2-3F113E0DD032}"/>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Primero compararemos varios métodos sobre esta misma curva.</a:t>
            </a:r>
          </a:p>
        </p:txBody>
      </p:sp>
    </p:spTree>
    <p:extLst>
      <p:ext uri="{BB962C8B-B14F-4D97-AF65-F5344CB8AC3E}">
        <p14:creationId xmlns:p14="http://schemas.microsoft.com/office/powerpoint/2010/main" val="172189652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Siete métodos de Ross para elegir ese número</a:t>
            </a:r>
          </a:p>
        </p:txBody>
      </p:sp>
      <p:graphicFrame>
        <p:nvGraphicFramePr>
          <p:cNvPr id="22" name=""/>
          <p:cNvGraphicFramePr/>
          <p:nvPr/>
        </p:nvGraphicFramePr>
        <p:xfrm>
          <a:off xmlns:a="http://schemas.openxmlformats.org/drawingml/2006/main" x="762000" y="1524000"/>
          <a:ext xmlns:a="http://schemas.openxmlformats.org/drawingml/2006/main" cx="10668000" cy="4257675"/>
        </p:xfrm>
        <a:graphic xmlns:a="http://schemas.openxmlformats.org/drawingml/2006/main">
          <a:graphicData uri="http://schemas.openxmlformats.org/drawingml/2006/table">
            <a:tbl>
              <a:tblPr/>
              <a:tblGrid>
                <a:gridCol w="4524375"/>
                <a:gridCol w="6143625"/>
              </a:tblGrid>
              <a:tr h="532209">
                <a:tc>
                  <a:txBody>
                    <a:bodyPr lIns="85725" tIns="76200" rIns="85725" bIns="76200"/>
                    <a:lstStyle/>
                    <a:p>
                      <a:pPr algn="ctr">
                        <a:buNone/>
                      </a:pPr>
                      <a:r>
                        <a:rPr sz="1875" b="1">
                          <a:solidFill>
                            <a:srgbClr val="2162A0"/>
                          </a:solidFill>
                          <a:latin typeface="Arial"/>
                          <a:ea typeface="Arial"/>
                          <a:cs typeface="Arial"/>
                        </a:rPr>
                        <a:t>Método</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Qué utiliza para decidir</a:t>
                      </a:r>
                    </a:p>
                  </a:txBody>
                  <a:tcPr marL="91440" marR="91440" marT="45720" marB="45720" anchor="ctr">
                    <a:solidFill>
                      <a:srgbClr val="E7EFF5"/>
                    </a:solidFill>
                  </a:tcPr>
                </a:tc>
              </a:tr>
              <a:tr h="532209">
                <a:tc>
                  <a:txBody>
                    <a:bodyPr lIns="85725" tIns="76200" rIns="85725" bIns="76200"/>
                    <a:lstStyle/>
                    <a:p>
                      <a:pPr algn="ctr">
                        <a:buNone/>
                      </a:pPr>
                      <a:r>
                        <a:rPr sz="1875" b="0">
                          <a:solidFill>
                            <a:srgbClr val="233746"/>
                          </a:solidFill>
                          <a:latin typeface="Arial"/>
                          <a:ea typeface="Arial"/>
                          <a:cs typeface="Arial"/>
                        </a:rPr>
                        <a:t>1. Máxima pertenencia</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Un punto donde μ alcanza su máximo</a:t>
                      </a:r>
                    </a:p>
                  </a:txBody>
                  <a:tcPr marL="91440" marR="91440" marT="45720" marB="45720" anchor="ctr">
                    <a:solidFill>
                      <a:srgbClr val="FFFFFF"/>
                    </a:solidFill>
                  </a:tcPr>
                </a:tc>
              </a:tr>
              <a:tr h="532209">
                <a:tc>
                  <a:txBody>
                    <a:bodyPr lIns="85725" tIns="76200" rIns="85725" bIns="76200"/>
                    <a:lstStyle/>
                    <a:p>
                      <a:pPr algn="ctr">
                        <a:buNone/>
                      </a:pPr>
                      <a:r>
                        <a:rPr sz="1875" b="0">
                          <a:solidFill>
                            <a:srgbClr val="233746"/>
                          </a:solidFill>
                          <a:latin typeface="Arial"/>
                          <a:ea typeface="Arial"/>
                          <a:cs typeface="Arial"/>
                        </a:rPr>
                        <a:t>2. Centroide</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Toda el área de la salida agregada</a:t>
                      </a:r>
                    </a:p>
                  </a:txBody>
                  <a:tcPr marL="91440" marR="91440" marT="45720" marB="45720" anchor="ctr">
                    <a:solidFill>
                      <a:srgbClr val="F4F7F9"/>
                    </a:solidFill>
                  </a:tcPr>
                </a:tc>
              </a:tr>
              <a:tr h="532209">
                <a:tc>
                  <a:txBody>
                    <a:bodyPr lIns="85725" tIns="76200" rIns="85725" bIns="76200"/>
                    <a:lstStyle/>
                    <a:p>
                      <a:pPr algn="ctr">
                        <a:buNone/>
                      </a:pPr>
                      <a:r>
                        <a:rPr sz="1875" b="0">
                          <a:solidFill>
                            <a:srgbClr val="233746"/>
                          </a:solidFill>
                          <a:latin typeface="Arial"/>
                          <a:ea typeface="Arial"/>
                          <a:cs typeface="Arial"/>
                        </a:rPr>
                        <a:t>3. Media ponderada</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Centros de conjuntos y sus alturas</a:t>
                      </a:r>
                    </a:p>
                  </a:txBody>
                  <a:tcPr marL="91440" marR="91440" marT="45720" marB="45720" anchor="ctr">
                    <a:solidFill>
                      <a:srgbClr val="FFFFFF"/>
                    </a:solidFill>
                  </a:tcPr>
                </a:tc>
              </a:tr>
              <a:tr h="532209">
                <a:tc>
                  <a:txBody>
                    <a:bodyPr lIns="85725" tIns="76200" rIns="85725" bIns="76200"/>
                    <a:lstStyle/>
                    <a:p>
                      <a:pPr algn="ctr">
                        <a:buNone/>
                      </a:pPr>
                      <a:r>
                        <a:rPr sz="1875" b="0">
                          <a:solidFill>
                            <a:srgbClr val="233746"/>
                          </a:solidFill>
                          <a:latin typeface="Arial"/>
                          <a:ea typeface="Arial"/>
                          <a:cs typeface="Arial"/>
                        </a:rPr>
                        <a:t>4. Media de máximos</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El centro de la meseta de máximo</a:t>
                      </a:r>
                    </a:p>
                  </a:txBody>
                  <a:tcPr marL="91440" marR="91440" marT="45720" marB="45720" anchor="ctr">
                    <a:solidFill>
                      <a:srgbClr val="F4F7F9"/>
                    </a:solidFill>
                  </a:tcPr>
                </a:tc>
              </a:tr>
              <a:tr h="532209">
                <a:tc>
                  <a:txBody>
                    <a:bodyPr lIns="85725" tIns="76200" rIns="85725" bIns="76200"/>
                    <a:lstStyle/>
                    <a:p>
                      <a:pPr algn="ctr">
                        <a:buNone/>
                      </a:pPr>
                      <a:r>
                        <a:rPr sz="1875" b="0">
                          <a:solidFill>
                            <a:srgbClr val="233746"/>
                          </a:solidFill>
                          <a:latin typeface="Arial"/>
                          <a:ea typeface="Arial"/>
                          <a:cs typeface="Arial"/>
                        </a:rPr>
                        <a:t>5. Centro de sumas</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Áreas de las salidas de cada regla</a:t>
                      </a:r>
                    </a:p>
                  </a:txBody>
                  <a:tcPr marL="91440" marR="91440" marT="45720" marB="45720" anchor="ctr">
                    <a:solidFill>
                      <a:srgbClr val="FFFFFF"/>
                    </a:solidFill>
                  </a:tcPr>
                </a:tc>
              </a:tr>
              <a:tr h="532209">
                <a:tc>
                  <a:txBody>
                    <a:bodyPr lIns="85725" tIns="76200" rIns="85725" bIns="76200"/>
                    <a:lstStyle/>
                    <a:p>
                      <a:pPr algn="ctr">
                        <a:buNone/>
                      </a:pPr>
                      <a:r>
                        <a:rPr sz="1875" b="0">
                          <a:solidFill>
                            <a:srgbClr val="233746"/>
                          </a:solidFill>
                          <a:latin typeface="Arial"/>
                          <a:ea typeface="Arial"/>
                          <a:cs typeface="Arial"/>
                        </a:rPr>
                        <a:t>6. Centro del área mayor</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La región convexa con mayor área</a:t>
                      </a:r>
                    </a:p>
                  </a:txBody>
                  <a:tcPr marL="91440" marR="91440" marT="45720" marB="45720" anchor="ctr">
                    <a:solidFill>
                      <a:srgbClr val="F4F7F9"/>
                    </a:solidFill>
                  </a:tcPr>
                </a:tc>
              </a:tr>
              <a:tr h="532209">
                <a:tc>
                  <a:txBody>
                    <a:bodyPr lIns="85725" tIns="76200" rIns="85725" bIns="76200"/>
                    <a:lstStyle/>
                    <a:p>
                      <a:pPr algn="ctr">
                        <a:buNone/>
                      </a:pPr>
                      <a:r>
                        <a:rPr sz="1875" b="0">
                          <a:solidFill>
                            <a:srgbClr val="233746"/>
                          </a:solidFill>
                          <a:latin typeface="Arial"/>
                          <a:ea typeface="Arial"/>
                          <a:cs typeface="Arial"/>
                        </a:rPr>
                        <a:t>7. Primero / último de máximos</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Un extremo de los máximos</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64EE6913-33D6-4D0B-9D61-D408215CDD5A}"/>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En la práctica: entender bien el centroide y la media ponderada. Compararemos los siete.</a:t>
            </a:r>
          </a:p>
        </p:txBody>
      </p:sp>
      <p:sp>
        <p:nvSpPr>
          <p:cNvPr id="14" name="">
            <a:extLst xmlns:a="http://schemas.openxmlformats.org/drawingml/2006/main">
              <a:ext uri="{FF2B5EF4-FFF2-40B4-BE49-F238E27FC236}">
                <a16:creationId xmlns:a16="http://schemas.microsoft.com/office/drawing/2014/main" id="{5EEBD37F-DF9D-4FEF-81E9-B9897BD97A20}"/>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B1335F9-8B93-4312-8025-60F3E6397138}"/>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1. Máxima pertenencia: el punto más alto</a:t>
            </a:r>
          </a:p>
        </p:txBody>
      </p:sp>
      <p:graphicFrame>
        <p:nvGraphicFramePr>
          <p:cNvPr id="23" name="Chart"/>
          <p:cNvGraphicFramePr/>
          <p:nvPr/>
        </p:nvGraphicFramePr>
        <p:xfrm>
          <a:off xmlns:a="http://schemas.openxmlformats.org/drawingml/2006/main" x="685800" y="2305050"/>
          <a:ext xmlns:a="http://schemas.openxmlformats.org/drawingml/2006/main" cx="6524625" cy="3295650"/>
        </p:xfrm>
        <a:graphic xmlns:a="http://schemas.openxmlformats.org/drawingml/2006/main">
          <a:graphicData uri="http://schemas.openxmlformats.org/drawingml/2006/chart">
            <c:chart xmlns:r="http://schemas.openxmlformats.org/officeDocument/2006/relationships" xmlns:c="http://schemas.openxmlformats.org/drawingml/2006/chart" r:id="R646e5c5b9b26443c"/>
          </a:graphicData>
        </a:graphic>
      </p:graphicFrame>
      <p:sp>
        <p:nvSpPr>
          <p:cNvPr id="10" name="">
            <a:extLst xmlns:a="http://schemas.openxmlformats.org/drawingml/2006/main">
              <a:ext uri="{FF2B5EF4-FFF2-40B4-BE49-F238E27FC236}">
                <a16:creationId xmlns:a16="http://schemas.microsoft.com/office/drawing/2014/main" id="{49A02CB0-FBE2-462F-8EAC-9710CF863134}"/>
              </a:ext>
            </a:extLst>
          </p:cNvPr>
          <p:cNvSpPr>
            <a:spLocks xmlns:a="http://schemas.openxmlformats.org/drawingml/2006/main" noGrp="1"/>
          </p:cNvSpPr>
          <p:nvPr/>
        </p:nvSpPr>
        <p:spPr>
          <a:xfrm xmlns:a="http://schemas.openxmlformats.org/drawingml/2006/main">
            <a:off x="7667625" y="2085975"/>
            <a:ext cx="37147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Buscamos el valor más alto de μ.</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Aquí hay una meseta:</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15 ≤ u ≤ 35.</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El criterio solo no elige un único número.</a:t>
            </a:r>
          </a:p>
        </p:txBody>
      </p:sp>
      <p:sp>
        <p:nvSpPr>
          <p:cNvPr id="11" name="">
            <a:extLst xmlns:a="http://schemas.openxmlformats.org/drawingml/2006/main">
              <a:ext uri="{FF2B5EF4-FFF2-40B4-BE49-F238E27FC236}">
                <a16:creationId xmlns:a16="http://schemas.microsoft.com/office/drawing/2014/main" id="{41BDD615-1E2F-4C8A-9767-313C3B27F4A6}"/>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Si hay un único pico, queda resuelto. Con una meseta hay que fijar cómo desempatar.</a:t>
            </a:r>
          </a:p>
        </p:txBody>
      </p:sp>
      <p:sp>
        <p:nvSpPr>
          <p:cNvPr id="15" name="">
            <a:extLst xmlns:a="http://schemas.openxmlformats.org/drawingml/2006/main">
              <a:ext uri="{FF2B5EF4-FFF2-40B4-BE49-F238E27FC236}">
                <a16:creationId xmlns:a16="http://schemas.microsoft.com/office/drawing/2014/main" id="{BD386E79-263F-4B98-8B3A-B401D992DE05}"/>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7F6195B-A4F7-44DE-9986-3CE40ED5A92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2. Centroide: el equilibrio de la salida</a:t>
            </a:r>
          </a:p>
        </p:txBody>
      </p:sp>
      <p:sp>
        <p:nvSpPr>
          <p:cNvPr id="9" name="">
            <a:extLst xmlns:a="http://schemas.openxmlformats.org/drawingml/2006/main">
              <a:ext uri="{FF2B5EF4-FFF2-40B4-BE49-F238E27FC236}">
                <a16:creationId xmlns:a16="http://schemas.microsoft.com/office/drawing/2014/main" id="{A87B851F-B50C-4374-95FD-D7D5AF6485D6}"/>
              </a:ext>
            </a:extLst>
          </p:cNvPr>
          <p:cNvSpPr>
            <a:spLocks xmlns:a="http://schemas.openxmlformats.org/drawingml/2006/main" noGrp="1"/>
          </p:cNvSpPr>
          <p:nvPr/>
        </p:nvSpPr>
        <p:spPr>
          <a:xfrm xmlns:a="http://schemas.openxmlformats.org/drawingml/2006/main">
            <a:off x="762000" y="15621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D96B18"/>
                </a:solidFill>
                <a:latin typeface="Arial"/>
                <a:ea typeface="Arial"/>
                <a:cs typeface="Arial"/>
              </a:defRPr>
            </a:pPr>
            <a:r>
              <a:rPr sz="2700" b="1">
                <a:solidFill>
                  <a:srgbClr val="D96B18"/>
                </a:solidFill>
                <a:latin typeface="Arial"/>
                <a:ea typeface="Arial"/>
                <a:cs typeface="Arial"/>
              </a:rPr>
              <a:t>u* = ∫ u · μAgregada(u) du / ∫ μAgregada(u) du</a:t>
            </a:r>
          </a:p>
        </p:txBody>
      </p:sp>
      <p:graphicFrame>
        <p:nvGraphicFramePr>
          <p:cNvPr id="28" name="Chart"/>
          <p:cNvGraphicFramePr/>
          <p:nvPr/>
        </p:nvGraphicFramePr>
        <p:xfrm>
          <a:off xmlns:a="http://schemas.openxmlformats.org/drawingml/2006/main" x="762000" y="2667000"/>
          <a:ext xmlns:a="http://schemas.openxmlformats.org/drawingml/2006/main" cx="5524500" cy="2886075"/>
        </p:xfrm>
        <a:graphic xmlns:a="http://schemas.openxmlformats.org/drawingml/2006/main">
          <a:graphicData uri="http://schemas.openxmlformats.org/drawingml/2006/chart">
            <c:chart xmlns:r="http://schemas.openxmlformats.org/officeDocument/2006/relationships" xmlns:c="http://schemas.openxmlformats.org/drawingml/2006/chart" r:id="R9b25effdd2894d67"/>
          </a:graphicData>
        </a:graphic>
      </p:graphicFrame>
      <p:sp>
        <p:nvSpPr>
          <p:cNvPr id="11" name="">
            <a:extLst xmlns:a="http://schemas.openxmlformats.org/drawingml/2006/main">
              <a:ext uri="{FF2B5EF4-FFF2-40B4-BE49-F238E27FC236}">
                <a16:creationId xmlns:a16="http://schemas.microsoft.com/office/drawing/2014/main" id="{DC1E68BE-7EE9-47ED-A230-D91187DE1369}"/>
              </a:ext>
            </a:extLst>
          </p:cNvPr>
          <p:cNvSpPr>
            <a:spLocks xmlns:a="http://schemas.openxmlformats.org/drawingml/2006/main" noGrp="1"/>
          </p:cNvSpPr>
          <p:nvPr/>
        </p:nvSpPr>
        <p:spPr>
          <a:xfrm xmlns:a="http://schemas.openxmlformats.org/drawingml/2006/main">
            <a:off x="6762750" y="26289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Área baja = 21; centro = 25.</a:t>
            </a:r>
          </a:p>
        </p:txBody>
      </p:sp>
      <p:sp>
        <p:nvSpPr>
          <p:cNvPr id="12" name="">
            <a:extLst xmlns:a="http://schemas.openxmlformats.org/drawingml/2006/main">
              <a:ext uri="{FF2B5EF4-FFF2-40B4-BE49-F238E27FC236}">
                <a16:creationId xmlns:a16="http://schemas.microsoft.com/office/drawing/2014/main" id="{8B81992F-6E46-4195-A414-2517A6957E7C}"/>
              </a:ext>
            </a:extLst>
          </p:cNvPr>
          <p:cNvSpPr>
            <a:spLocks xmlns:a="http://schemas.openxmlformats.org/drawingml/2006/main" noGrp="1"/>
          </p:cNvSpPr>
          <p:nvPr/>
        </p:nvSpPr>
        <p:spPr>
          <a:xfrm xmlns:a="http://schemas.openxmlformats.org/drawingml/2006/main">
            <a:off x="6762750" y="3352800"/>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Área alta = 12,75; centro = 75.</a:t>
            </a:r>
          </a:p>
        </p:txBody>
      </p:sp>
      <p:sp>
        <p:nvSpPr>
          <p:cNvPr id="13" name="">
            <a:extLst xmlns:a="http://schemas.openxmlformats.org/drawingml/2006/main">
              <a:ext uri="{FF2B5EF4-FFF2-40B4-BE49-F238E27FC236}">
                <a16:creationId xmlns:a16="http://schemas.microsoft.com/office/drawing/2014/main" id="{3FB70751-BDEB-4909-A327-AD0D7BBDAD05}"/>
              </a:ext>
            </a:extLst>
          </p:cNvPr>
          <p:cNvSpPr>
            <a:spLocks xmlns:a="http://schemas.openxmlformats.org/drawingml/2006/main" noGrp="1"/>
          </p:cNvSpPr>
          <p:nvPr/>
        </p:nvSpPr>
        <p:spPr>
          <a:xfrm xmlns:a="http://schemas.openxmlformats.org/drawingml/2006/main">
            <a:off x="6762750" y="4314825"/>
            <a:ext cx="4667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u* = (21·25 + 12,75·75)</a:t>
            </a:r>
          </a:p>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       / (21 + 12,75)</a:t>
            </a:r>
          </a:p>
          <a:p xmlns:a="http://schemas.openxmlformats.org/drawingml/2006/main">
            <a:pPr>
              <a:buNone/>
              <a:defRPr sz="2175" b="1">
                <a:solidFill>
                  <a:srgbClr val="233746"/>
                </a:solidFill>
                <a:latin typeface="Arial"/>
                <a:ea typeface="Arial"/>
                <a:cs typeface="Arial"/>
              </a:defRPr>
            </a:pPr>
            <a:r>
              <a:rPr sz="2175" b="1">
                <a:solidFill>
                  <a:srgbClr val="233746"/>
                </a:solidFill>
                <a:latin typeface="Arial"/>
                <a:ea typeface="Arial"/>
                <a:cs typeface="Arial"/>
              </a:rPr>
              <a:t>    ≈ 43,89 %</a:t>
            </a:r>
          </a:p>
        </p:txBody>
      </p:sp>
      <p:sp>
        <p:nvSpPr>
          <p:cNvPr id="14" name="">
            <a:extLst xmlns:a="http://schemas.openxmlformats.org/drawingml/2006/main">
              <a:ext uri="{FF2B5EF4-FFF2-40B4-BE49-F238E27FC236}">
                <a16:creationId xmlns:a16="http://schemas.microsoft.com/office/drawing/2014/main" id="{30DD62D3-DB11-4F65-91E8-6175AC96E089}"/>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denominador debe ser positivo: si no hay salida activada, hay que resolver la falta de cobertura.</a:t>
            </a:r>
          </a:p>
        </p:txBody>
      </p:sp>
      <p:sp>
        <p:nvSpPr>
          <p:cNvPr id="19" name="">
            <a:extLst xmlns:a="http://schemas.openxmlformats.org/drawingml/2006/main">
              <a:ext uri="{FF2B5EF4-FFF2-40B4-BE49-F238E27FC236}">
                <a16:creationId xmlns:a16="http://schemas.microsoft.com/office/drawing/2014/main" id="{C009D6D3-F591-4050-9C26-893058DD6CB0}"/>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B82D79-EA97-4F74-95B5-7A6043291E08}"/>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Centroide discreto: de la tabla al número</a:t>
            </a:r>
          </a:p>
        </p:txBody>
      </p:sp>
      <p:sp>
        <p:nvSpPr>
          <p:cNvPr id="9" name="">
            <a:extLst xmlns:a="http://schemas.openxmlformats.org/drawingml/2006/main">
              <a:ext uri="{FF2B5EF4-FFF2-40B4-BE49-F238E27FC236}">
                <a16:creationId xmlns:a16="http://schemas.microsoft.com/office/drawing/2014/main" id="{6D61166B-B223-4EC9-97FA-290FB3CE16CB}"/>
              </a:ext>
            </a:extLst>
          </p:cNvPr>
          <p:cNvSpPr>
            <a:spLocks xmlns:a="http://schemas.openxmlformats.org/drawingml/2006/main" noGrp="1"/>
          </p:cNvSpPr>
          <p:nvPr/>
        </p:nvSpPr>
        <p:spPr>
          <a:xfrm xmlns:a="http://schemas.openxmlformats.org/drawingml/2006/main">
            <a:off x="762000" y="154305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Otro ejemplo: muestreamos una salida agregada en cinco potencias equidistantes.</a:t>
            </a:r>
          </a:p>
        </p:txBody>
      </p:sp>
      <p:graphicFrame>
        <p:nvGraphicFramePr>
          <p:cNvPr id="26" name=""/>
          <p:cNvGraphicFramePr/>
          <p:nvPr/>
        </p:nvGraphicFramePr>
        <p:xfrm>
          <a:off xmlns:a="http://schemas.openxmlformats.org/drawingml/2006/main" x="762000" y="2581275"/>
          <a:ext xmlns:a="http://schemas.openxmlformats.org/drawingml/2006/main" cx="10668000" cy="1409700"/>
        </p:xfrm>
        <a:graphic xmlns:a="http://schemas.openxmlformats.org/drawingml/2006/main">
          <a:graphicData uri="http://schemas.openxmlformats.org/drawingml/2006/table">
            <a:tbl>
              <a:tblPr/>
              <a:tblGrid>
                <a:gridCol w="3048000"/>
                <a:gridCol w="1524000"/>
                <a:gridCol w="1524000"/>
                <a:gridCol w="1524000"/>
                <a:gridCol w="1524000"/>
                <a:gridCol w="1524000"/>
              </a:tblGrid>
              <a:tr h="704850">
                <a:tc>
                  <a:txBody>
                    <a:bodyPr lIns="85725" tIns="76200" rIns="85725" bIns="76200"/>
                    <a:lstStyle/>
                    <a:p>
                      <a:pPr algn="ctr">
                        <a:buNone/>
                      </a:pPr>
                      <a:r>
                        <a:rPr sz="2175" b="1">
                          <a:solidFill>
                            <a:srgbClr val="2162A0"/>
                          </a:solidFill>
                          <a:latin typeface="Arial"/>
                          <a:ea typeface="Arial"/>
                          <a:cs typeface="Arial"/>
                        </a:rPr>
                        <a:t>Potencia ui (%)</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0</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25</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50</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75</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100</a:t>
                      </a:r>
                    </a:p>
                  </a:txBody>
                  <a:tcPr marL="91440" marR="91440" marT="45720" marB="45720" anchor="ctr">
                    <a:solidFill>
                      <a:srgbClr val="E7EFF5"/>
                    </a:solidFill>
                  </a:tcPr>
                </a:tc>
              </a:tr>
              <a:tr h="704850">
                <a:tc>
                  <a:txBody>
                    <a:bodyPr lIns="85725" tIns="76200" rIns="85725" bIns="76200"/>
                    <a:lstStyle/>
                    <a:p>
                      <a:pPr algn="ctr">
                        <a:buNone/>
                      </a:pPr>
                      <a:r>
                        <a:rPr sz="2175" b="0">
                          <a:solidFill>
                            <a:srgbClr val="233746"/>
                          </a:solidFill>
                          <a:latin typeface="Arial"/>
                          <a:ea typeface="Arial"/>
                          <a:cs typeface="Arial"/>
                        </a:rPr>
                        <a:t>μAgregada(ui)</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0,2</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0,6</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0,4</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56F2EE72-9CD2-4825-90E9-1BCE6D6668D2}"/>
              </a:ext>
            </a:extLst>
          </p:cNvPr>
          <p:cNvSpPr>
            <a:spLocks xmlns:a="http://schemas.openxmlformats.org/drawingml/2006/main" noGrp="1"/>
          </p:cNvSpPr>
          <p:nvPr/>
        </p:nvSpPr>
        <p:spPr>
          <a:xfrm xmlns:a="http://schemas.openxmlformats.org/drawingml/2006/main">
            <a:off x="762000" y="4419600"/>
            <a:ext cx="10668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233746"/>
                </a:solidFill>
                <a:latin typeface="Arial"/>
                <a:ea typeface="Arial"/>
                <a:cs typeface="Arial"/>
              </a:defRPr>
            </a:pPr>
            <a:r>
              <a:rPr sz="2325" b="1">
                <a:solidFill>
                  <a:srgbClr val="233746"/>
                </a:solidFill>
                <a:latin typeface="Arial"/>
                <a:ea typeface="Arial"/>
                <a:cs typeface="Arial"/>
              </a:rPr>
              <a:t>u* ≈ Σ ui μi / Σ μi</a:t>
            </a:r>
          </a:p>
          <a:p xmlns:a="http://schemas.openxmlformats.org/drawingml/2006/main">
            <a:pPr>
              <a:buNone/>
              <a:defRPr sz="2325" b="1">
                <a:solidFill>
                  <a:srgbClr val="233746"/>
                </a:solidFill>
                <a:latin typeface="Arial"/>
                <a:ea typeface="Arial"/>
                <a:cs typeface="Arial"/>
              </a:defRPr>
            </a:pPr>
            <a:r>
              <a:rPr sz="2325" b="1">
                <a:solidFill>
                  <a:srgbClr val="233746"/>
                </a:solidFill>
                <a:latin typeface="Arial"/>
                <a:ea typeface="Arial"/>
                <a:cs typeface="Arial"/>
              </a:rPr>
              <a:t>    = (25·0,2 + 50·0,6 + 75·0,4) / (0,2 + 0,6 + 0,4)</a:t>
            </a:r>
          </a:p>
          <a:p xmlns:a="http://schemas.openxmlformats.org/drawingml/2006/main">
            <a:pPr>
              <a:buNone/>
              <a:defRPr sz="2325" b="1">
                <a:solidFill>
                  <a:srgbClr val="233746"/>
                </a:solidFill>
                <a:latin typeface="Arial"/>
                <a:ea typeface="Arial"/>
                <a:cs typeface="Arial"/>
              </a:defRPr>
            </a:pPr>
            <a:r>
              <a:rPr sz="2325" b="1">
                <a:solidFill>
                  <a:srgbClr val="233746"/>
                </a:solidFill>
                <a:latin typeface="Arial"/>
                <a:ea typeface="Arial"/>
                <a:cs typeface="Arial"/>
              </a:rPr>
              <a:t>    ≈ 54,17 %</a:t>
            </a:r>
          </a:p>
        </p:txBody>
      </p:sp>
      <p:sp>
        <p:nvSpPr>
          <p:cNvPr id="12" name="">
            <a:extLst xmlns:a="http://schemas.openxmlformats.org/drawingml/2006/main">
              <a:ext uri="{FF2B5EF4-FFF2-40B4-BE49-F238E27FC236}">
                <a16:creationId xmlns:a16="http://schemas.microsoft.com/office/drawing/2014/main" id="{AD869AAB-9C02-4471-9DA2-F5B226F7005C}"/>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54,17 % es la potencia elegida; 0,6 es un grado de pertenencia, no una potencia.</a:t>
            </a:r>
          </a:p>
        </p:txBody>
      </p:sp>
      <p:sp>
        <p:nvSpPr>
          <p:cNvPr id="17" name="">
            <a:extLst xmlns:a="http://schemas.openxmlformats.org/drawingml/2006/main">
              <a:ext uri="{FF2B5EF4-FFF2-40B4-BE49-F238E27FC236}">
                <a16:creationId xmlns:a16="http://schemas.microsoft.com/office/drawing/2014/main" id="{7DCF23D9-29B5-4C40-BF83-3D8C51D3F32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D6E44AB-ABCE-4364-A3CB-D0DADC95C78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Programar la desdifusificación a un escalar</a:t>
            </a:r>
          </a:p>
        </p:txBody>
      </p:sp>
      <p:sp>
        <p:nvSpPr>
          <p:cNvPr id="9" name="">
            <a:extLst xmlns:a="http://schemas.openxmlformats.org/drawingml/2006/main">
              <a:ext uri="{FF2B5EF4-FFF2-40B4-BE49-F238E27FC236}">
                <a16:creationId xmlns:a16="http://schemas.microsoft.com/office/drawing/2014/main" id="{0CFEDAC2-C065-4ABC-A58A-30AE19E8E67E}"/>
              </a:ext>
            </a:extLst>
          </p:cNvPr>
          <p:cNvSpPr>
            <a:spLocks xmlns:a="http://schemas.openxmlformats.org/drawingml/2006/main" noGrp="1"/>
          </p:cNvSpPr>
          <p:nvPr/>
        </p:nvSpPr>
        <p:spPr>
          <a:xfrm xmlns:a="http://schemas.openxmlformats.org/drawingml/2006/main">
            <a:off x="762000" y="1943100"/>
            <a:ext cx="1066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Consolas"/>
                <a:ea typeface="Consolas"/>
                <a:cs typeface="Consolas"/>
              </a:defRPr>
            </a:pPr>
            <a:r>
              <a:rPr sz="2025" b="0">
                <a:solidFill>
                  <a:srgbClr val="233746"/>
                </a:solidFill>
                <a:latin typeface="Consolas"/>
                <a:ea typeface="Consolas"/>
                <a:cs typeface="Consolas"/>
              </a:rPr>
              <a:t># u: malla ordenada de potencias; mu: salida agregada</a:t>
            </a:r>
          </a:p>
          <a:p xmlns:a="http://schemas.openxmlformats.org/drawingml/2006/main">
            <a:pPr>
              <a:buNone/>
              <a:defRPr sz="2025" b="0">
                <a:solidFill>
                  <a:srgbClr val="233746"/>
                </a:solidFill>
                <a:latin typeface="Consolas"/>
                <a:ea typeface="Consolas"/>
                <a:cs typeface="Consolas"/>
              </a:defRPr>
            </a:pPr>
            <a:r>
              <a:rPr sz="2025" b="0">
                <a:solidFill>
                  <a:srgbClr val="233746"/>
                </a:solidFill>
                <a:latin typeface="Consolas"/>
                <a:ea typeface="Consolas"/>
                <a:cs typeface="Consolas"/>
              </a:rPr>
              <a:t>area = np.trapezoid(mu, u)</a:t>
            </a:r>
          </a:p>
          <a:p xmlns:a="http://schemas.openxmlformats.org/drawingml/2006/main">
            <a:pPr>
              <a:buNone/>
              <a:defRPr sz="2025" b="0">
                <a:solidFill>
                  <a:srgbClr val="233746"/>
                </a:solidFill>
                <a:latin typeface="Consolas"/>
                <a:ea typeface="Consolas"/>
                <a:cs typeface="Consolas"/>
              </a:defRPr>
            </a:pPr>
            <a:r>
              <a:rPr sz="2025" b="0">
                <a:solidFill>
                  <a:srgbClr val="233746"/>
                </a:solidFill>
                <a:latin typeface="Consolas"/>
                <a:ea typeface="Consolas"/>
                <a:cs typeface="Consolas"/>
              </a:rPr>
              <a:t>if area &lt;= 0:</a:t>
            </a:r>
          </a:p>
          <a:p xmlns:a="http://schemas.openxmlformats.org/drawingml/2006/main">
            <a:pPr>
              <a:buNone/>
              <a:defRPr sz="2025" b="0">
                <a:solidFill>
                  <a:srgbClr val="233746"/>
                </a:solidFill>
                <a:latin typeface="Consolas"/>
                <a:ea typeface="Consolas"/>
                <a:cs typeface="Consolas"/>
              </a:defRPr>
            </a:pPr>
            <a:r>
              <a:rPr sz="2025" b="0">
                <a:solidFill>
                  <a:srgbClr val="233746"/>
                </a:solidFill>
                <a:latin typeface="Consolas"/>
                <a:ea typeface="Consolas"/>
                <a:cs typeface="Consolas"/>
              </a:rPr>
              <a:t>    raise ValueError("Ninguna regla genera salida")</a:t>
            </a:r>
          </a:p>
          <a:p xmlns:a="http://schemas.openxmlformats.org/drawingml/2006/main">
            <a:pPr>
              <a:buNone/>
              <a:defRPr sz="2025" b="0">
                <a:solidFill>
                  <a:srgbClr val="233746"/>
                </a:solidFill>
                <a:latin typeface="Consolas"/>
                <a:ea typeface="Consolas"/>
                <a:cs typeface="Consolas"/>
              </a:defRPr>
            </a:pPr>
            <a:r>
              <a:rPr sz="2025" b="0">
                <a:solidFill>
                  <a:srgbClr val="233746"/>
                </a:solidFill>
                <a:latin typeface="Consolas"/>
                <a:ea typeface="Consolas"/>
                <a:cs typeface="Consolas"/>
              </a:rPr>
              <a:t>momento = np.trapezoid(u * mu, u)</a:t>
            </a:r>
          </a:p>
          <a:p xmlns:a="http://schemas.openxmlformats.org/drawingml/2006/main">
            <a:pPr>
              <a:buNone/>
              <a:defRPr sz="2025" b="0">
                <a:solidFill>
                  <a:srgbClr val="233746"/>
                </a:solidFill>
                <a:latin typeface="Consolas"/>
                <a:ea typeface="Consolas"/>
                <a:cs typeface="Consolas"/>
              </a:defRPr>
            </a:pPr>
            <a:r>
              <a:rPr sz="2025" b="0">
                <a:solidFill>
                  <a:srgbClr val="233746"/>
                </a:solidFill>
                <a:latin typeface="Consolas"/>
                <a:ea typeface="Consolas"/>
                <a:cs typeface="Consolas"/>
              </a:rPr>
              <a:t>potencia = momento / area</a:t>
            </a:r>
          </a:p>
        </p:txBody>
      </p:sp>
      <p:sp>
        <p:nvSpPr>
          <p:cNvPr id="10" name="">
            <a:extLst xmlns:a="http://schemas.openxmlformats.org/drawingml/2006/main">
              <a:ext uri="{FF2B5EF4-FFF2-40B4-BE49-F238E27FC236}">
                <a16:creationId xmlns:a16="http://schemas.microsoft.com/office/drawing/2014/main" id="{D249C70D-15DD-4B90-8989-235D89FC070E}"/>
              </a:ext>
            </a:extLst>
          </p:cNvPr>
          <p:cNvSpPr>
            <a:spLocks xmlns:a="http://schemas.openxmlformats.org/drawingml/2006/main" noGrp="1"/>
          </p:cNvSpPr>
          <p:nvPr/>
        </p:nvSpPr>
        <p:spPr>
          <a:xfrm xmlns:a="http://schemas.openxmlformats.org/drawingml/2006/main">
            <a:off x="762000" y="498157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Antes: fuzzificar → activar → recortar → agregar.</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Después: enviar la potencia al modelo y volver a medir.</a:t>
            </a:r>
          </a:p>
        </p:txBody>
      </p:sp>
      <p:sp>
        <p:nvSpPr>
          <p:cNvPr id="11" name="">
            <a:extLst xmlns:a="http://schemas.openxmlformats.org/drawingml/2006/main">
              <a:ext uri="{FF2B5EF4-FFF2-40B4-BE49-F238E27FC236}">
                <a16:creationId xmlns:a16="http://schemas.microsoft.com/office/drawing/2014/main" id="{B7524D06-EB03-4E38-9BB0-0E95A2EA4921}"/>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Refina la malla hasta que el resultado apenas cambie; comprueba también los límites del actuador.</a:t>
            </a:r>
          </a:p>
        </p:txBody>
      </p:sp>
      <p:sp>
        <p:nvSpPr>
          <p:cNvPr id="12" name="">
            <a:extLst xmlns:a="http://schemas.openxmlformats.org/drawingml/2006/main">
              <a:ext uri="{FF2B5EF4-FFF2-40B4-BE49-F238E27FC236}">
                <a16:creationId xmlns:a16="http://schemas.microsoft.com/office/drawing/2014/main" id="{30859857-C53B-452C-BDA3-2BCE55A23E9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9C1031-AB33-44FD-B449-EBB22115D53E}"/>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3. Media ponderada: centros y alturas</a:t>
            </a:r>
          </a:p>
        </p:txBody>
      </p:sp>
      <p:graphicFrame>
        <p:nvGraphicFramePr>
          <p:cNvPr id="23" name="Chart"/>
          <p:cNvGraphicFramePr/>
          <p:nvPr/>
        </p:nvGraphicFramePr>
        <p:xfrm>
          <a:off xmlns:a="http://schemas.openxmlformats.org/drawingml/2006/main" x="685800" y="2305050"/>
          <a:ext xmlns:a="http://schemas.openxmlformats.org/drawingml/2006/main" cx="6524625" cy="3295650"/>
        </p:xfrm>
        <a:graphic xmlns:a="http://schemas.openxmlformats.org/drawingml/2006/main">
          <a:graphicData uri="http://schemas.openxmlformats.org/drawingml/2006/chart">
            <c:chart xmlns:r="http://schemas.openxmlformats.org/officeDocument/2006/relationships" xmlns:c="http://schemas.openxmlformats.org/drawingml/2006/chart" r:id="R0199340954ed4c44"/>
          </a:graphicData>
        </a:graphic>
      </p:graphicFrame>
      <p:sp>
        <p:nvSpPr>
          <p:cNvPr id="10" name="">
            <a:extLst xmlns:a="http://schemas.openxmlformats.org/drawingml/2006/main">
              <a:ext uri="{FF2B5EF4-FFF2-40B4-BE49-F238E27FC236}">
                <a16:creationId xmlns:a16="http://schemas.microsoft.com/office/drawing/2014/main" id="{D9626DC3-44B5-4D96-869F-E2C6FC0BBD71}"/>
              </a:ext>
            </a:extLst>
          </p:cNvPr>
          <p:cNvSpPr>
            <a:spLocks xmlns:a="http://schemas.openxmlformats.org/drawingml/2006/main" noGrp="1"/>
          </p:cNvSpPr>
          <p:nvPr/>
        </p:nvSpPr>
        <p:spPr>
          <a:xfrm xmlns:a="http://schemas.openxmlformats.org/drawingml/2006/main">
            <a:off x="7667625" y="2085975"/>
            <a:ext cx="37147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Centro bajo: 25</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Altura: 0,6</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Centro alto: 75</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Altura: 0,3</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u* = 41,67 %</a:t>
            </a:r>
          </a:p>
        </p:txBody>
      </p:sp>
      <p:sp>
        <p:nvSpPr>
          <p:cNvPr id="11" name="">
            <a:extLst xmlns:a="http://schemas.openxmlformats.org/drawingml/2006/main">
              <a:ext uri="{FF2B5EF4-FFF2-40B4-BE49-F238E27FC236}">
                <a16:creationId xmlns:a16="http://schemas.microsoft.com/office/drawing/2014/main" id="{799D4E9E-20F0-4934-BAA9-80095BDD8FE3}"/>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u* = (25 · 0,6 + 75 · 0,3) / (0,6 + 0,3) = 41,67 %.</a:t>
            </a:r>
          </a:p>
        </p:txBody>
      </p:sp>
      <p:sp>
        <p:nvSpPr>
          <p:cNvPr id="15" name="">
            <a:extLst xmlns:a="http://schemas.openxmlformats.org/drawingml/2006/main">
              <a:ext uri="{FF2B5EF4-FFF2-40B4-BE49-F238E27FC236}">
                <a16:creationId xmlns:a16="http://schemas.microsoft.com/office/drawing/2014/main" id="{50D069B4-AADF-4F1E-A615-A0EF9BD5B75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257DDD-DF5C-4607-BCED-AFA6A093D85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4. Media de máximos: el centro de la meseta</a:t>
            </a:r>
          </a:p>
        </p:txBody>
      </p:sp>
      <p:graphicFrame>
        <p:nvGraphicFramePr>
          <p:cNvPr id="23" name="Chart"/>
          <p:cNvGraphicFramePr/>
          <p:nvPr/>
        </p:nvGraphicFramePr>
        <p:xfrm>
          <a:off xmlns:a="http://schemas.openxmlformats.org/drawingml/2006/main" x="685800" y="2305050"/>
          <a:ext xmlns:a="http://schemas.openxmlformats.org/drawingml/2006/main" cx="6524625" cy="3295650"/>
        </p:xfrm>
        <a:graphic xmlns:a="http://schemas.openxmlformats.org/drawingml/2006/main">
          <a:graphicData uri="http://schemas.openxmlformats.org/drawingml/2006/chart">
            <c:chart xmlns:r="http://schemas.openxmlformats.org/officeDocument/2006/relationships" xmlns:c="http://schemas.openxmlformats.org/drawingml/2006/chart" r:id="Rc0a68af651e04ac8"/>
          </a:graphicData>
        </a:graphic>
      </p:graphicFrame>
      <p:sp>
        <p:nvSpPr>
          <p:cNvPr id="10" name="">
            <a:extLst xmlns:a="http://schemas.openxmlformats.org/drawingml/2006/main">
              <a:ext uri="{FF2B5EF4-FFF2-40B4-BE49-F238E27FC236}">
                <a16:creationId xmlns:a16="http://schemas.microsoft.com/office/drawing/2014/main" id="{85BD42DC-6977-468B-9515-57E36DF6FEF9}"/>
              </a:ext>
            </a:extLst>
          </p:cNvPr>
          <p:cNvSpPr>
            <a:spLocks xmlns:a="http://schemas.openxmlformats.org/drawingml/2006/main" noGrp="1"/>
          </p:cNvSpPr>
          <p:nvPr/>
        </p:nvSpPr>
        <p:spPr>
          <a:xfrm xmlns:a="http://schemas.openxmlformats.org/drawingml/2006/main">
            <a:off x="7667625" y="2085975"/>
            <a:ext cx="37147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La altura máxima es 0,6.</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La meseta va de 15 a 35.</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u* = (15 + 35) / 2</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     = 25 %</a:t>
            </a:r>
          </a:p>
        </p:txBody>
      </p:sp>
      <p:sp>
        <p:nvSpPr>
          <p:cNvPr id="11" name="">
            <a:extLst xmlns:a="http://schemas.openxmlformats.org/drawingml/2006/main">
              <a:ext uri="{FF2B5EF4-FFF2-40B4-BE49-F238E27FC236}">
                <a16:creationId xmlns:a16="http://schemas.microsoft.com/office/drawing/2014/main" id="{F6650EE7-156B-4B03-85CB-48CCE182F3D1}"/>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Solo intervienen los máximos. La región de potencia alta no cambia esta decisión.</a:t>
            </a:r>
          </a:p>
        </p:txBody>
      </p:sp>
      <p:sp>
        <p:nvSpPr>
          <p:cNvPr id="15" name="">
            <a:extLst xmlns:a="http://schemas.openxmlformats.org/drawingml/2006/main">
              <a:ext uri="{FF2B5EF4-FFF2-40B4-BE49-F238E27FC236}">
                <a16:creationId xmlns:a16="http://schemas.microsoft.com/office/drawing/2014/main" id="{787AB9BA-7CF3-4665-9C31-E606E1EAC3F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4CCC196-75B1-4771-B762-1FDA7F2F4FB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5. Centro de sumas: cada regla conserva su área</a:t>
            </a:r>
          </a:p>
        </p:txBody>
      </p:sp>
      <p:graphicFrame>
        <p:nvGraphicFramePr>
          <p:cNvPr id="25" name="Chart"/>
          <p:cNvGraphicFramePr/>
          <p:nvPr/>
        </p:nvGraphicFramePr>
        <p:xfrm>
          <a:off xmlns:a="http://schemas.openxmlformats.org/drawingml/2006/main" x="666750" y="2314575"/>
          <a:ext xmlns:a="http://schemas.openxmlformats.org/drawingml/2006/main" cx="6524625" cy="3190875"/>
        </p:xfrm>
        <a:graphic xmlns:a="http://schemas.openxmlformats.org/drawingml/2006/main">
          <a:graphicData uri="http://schemas.openxmlformats.org/drawingml/2006/chart">
            <c:chart xmlns:r="http://schemas.openxmlformats.org/officeDocument/2006/relationships" xmlns:c="http://schemas.openxmlformats.org/drawingml/2006/chart" r:id="R9ea5d55535444340"/>
          </a:graphicData>
        </a:graphic>
      </p:graphicFrame>
      <p:sp>
        <p:nvSpPr>
          <p:cNvPr id="10" name="">
            <a:extLst xmlns:a="http://schemas.openxmlformats.org/drawingml/2006/main">
              <a:ext uri="{FF2B5EF4-FFF2-40B4-BE49-F238E27FC236}">
                <a16:creationId xmlns:a16="http://schemas.microsoft.com/office/drawing/2014/main" id="{396A4541-DF20-4DF5-A12C-5B5E79E122F2}"/>
              </a:ext>
            </a:extLst>
          </p:cNvPr>
          <p:cNvSpPr>
            <a:spLocks xmlns:a="http://schemas.openxmlformats.org/drawingml/2006/main" noGrp="1"/>
          </p:cNvSpPr>
          <p:nvPr/>
        </p:nvSpPr>
        <p:spPr>
          <a:xfrm xmlns:a="http://schemas.openxmlformats.org/drawingml/2006/main">
            <a:off x="762000" y="16097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2162A0"/>
                </a:solidFill>
                <a:latin typeface="Arial"/>
                <a:ea typeface="Arial"/>
                <a:cs typeface="Arial"/>
              </a:defRPr>
            </a:pPr>
            <a:r>
              <a:rPr sz="1875" b="1">
                <a:solidFill>
                  <a:srgbClr val="2162A0"/>
                </a:solidFill>
                <a:latin typeface="Arial"/>
                <a:ea typeface="Arial"/>
                <a:cs typeface="Arial"/>
              </a:rPr>
              <a:t>Unión (azul)</a:t>
            </a:r>
          </a:p>
        </p:txBody>
      </p:sp>
      <p:sp>
        <p:nvSpPr>
          <p:cNvPr id="11" name="">
            <a:extLst xmlns:a="http://schemas.openxmlformats.org/drawingml/2006/main">
              <a:ext uri="{FF2B5EF4-FFF2-40B4-BE49-F238E27FC236}">
                <a16:creationId xmlns:a16="http://schemas.microsoft.com/office/drawing/2014/main" id="{12A2BDB7-9FA0-4637-8D76-7A9D37B99245}"/>
              </a:ext>
            </a:extLst>
          </p:cNvPr>
          <p:cNvSpPr>
            <a:spLocks xmlns:a="http://schemas.openxmlformats.org/drawingml/2006/main" noGrp="1"/>
          </p:cNvSpPr>
          <p:nvPr/>
        </p:nvSpPr>
        <p:spPr>
          <a:xfrm xmlns:a="http://schemas.openxmlformats.org/drawingml/2006/main">
            <a:off x="4143375" y="1609725"/>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D96B18"/>
                </a:solidFill>
                <a:latin typeface="Arial"/>
                <a:ea typeface="Arial"/>
                <a:cs typeface="Arial"/>
              </a:defRPr>
            </a:pPr>
            <a:r>
              <a:rPr sz="1875" b="1">
                <a:solidFill>
                  <a:srgbClr val="D96B18"/>
                </a:solidFill>
                <a:latin typeface="Arial"/>
                <a:ea typeface="Arial"/>
                <a:cs typeface="Arial"/>
              </a:rPr>
              <a:t>Suma (naranja)</a:t>
            </a:r>
          </a:p>
        </p:txBody>
      </p:sp>
      <p:sp>
        <p:nvSpPr>
          <p:cNvPr id="12" name="">
            <a:extLst xmlns:a="http://schemas.openxmlformats.org/drawingml/2006/main">
              <a:ext uri="{FF2B5EF4-FFF2-40B4-BE49-F238E27FC236}">
                <a16:creationId xmlns:a16="http://schemas.microsoft.com/office/drawing/2014/main" id="{92C0AF10-E0DC-40F2-A67E-B5E02CE28EC3}"/>
              </a:ext>
            </a:extLst>
          </p:cNvPr>
          <p:cNvSpPr>
            <a:spLocks xmlns:a="http://schemas.openxmlformats.org/drawingml/2006/main" noGrp="1"/>
          </p:cNvSpPr>
          <p:nvPr/>
        </p:nvSpPr>
        <p:spPr>
          <a:xfrm xmlns:a="http://schemas.openxmlformats.org/drawingml/2006/main">
            <a:off x="7667625" y="1952625"/>
            <a:ext cx="371475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Ejemplo con solape</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A1 = 25,2; c1 = 30</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A2 = 15,3; c2 = 60</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u* = Σ Ai ci / Σ Ai</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     ≈ 41,33 %</a:t>
            </a:r>
          </a:p>
        </p:txBody>
      </p:sp>
      <p:sp>
        <p:nvSpPr>
          <p:cNvPr id="13" name="">
            <a:extLst xmlns:a="http://schemas.openxmlformats.org/drawingml/2006/main">
              <a:ext uri="{FF2B5EF4-FFF2-40B4-BE49-F238E27FC236}">
                <a16:creationId xmlns:a16="http://schemas.microsoft.com/office/drawing/2014/main" id="{E61192DC-7D32-41EE-BFB9-4670FCE25B0F}"/>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suma cuenta el solape por cada regla. El centroide de la unión daría ≈ 40,66 %.</a:t>
            </a:r>
          </a:p>
        </p:txBody>
      </p:sp>
      <p:sp>
        <p:nvSpPr>
          <p:cNvPr id="17" name="">
            <a:extLst xmlns:a="http://schemas.openxmlformats.org/drawingml/2006/main">
              <a:ext uri="{FF2B5EF4-FFF2-40B4-BE49-F238E27FC236}">
                <a16:creationId xmlns:a16="http://schemas.microsoft.com/office/drawing/2014/main" id="{B537748B-D0E7-4476-9AF4-1C386F2EE261}"/>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B89570A-4C56-49C4-8211-8CC4A75025D3}"/>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6. Centro del área mayor: escoger una región</a:t>
            </a:r>
          </a:p>
        </p:txBody>
      </p:sp>
      <p:graphicFrame>
        <p:nvGraphicFramePr>
          <p:cNvPr id="23" name="Chart"/>
          <p:cNvGraphicFramePr/>
          <p:nvPr/>
        </p:nvGraphicFramePr>
        <p:xfrm>
          <a:off xmlns:a="http://schemas.openxmlformats.org/drawingml/2006/main" x="685800" y="2305050"/>
          <a:ext xmlns:a="http://schemas.openxmlformats.org/drawingml/2006/main" cx="6524625" cy="3295650"/>
        </p:xfrm>
        <a:graphic xmlns:a="http://schemas.openxmlformats.org/drawingml/2006/main">
          <a:graphicData uri="http://schemas.openxmlformats.org/drawingml/2006/chart">
            <c:chart xmlns:r="http://schemas.openxmlformats.org/officeDocument/2006/relationships" xmlns:c="http://schemas.openxmlformats.org/drawingml/2006/chart" r:id="R5aef2a2c434f4f94"/>
          </a:graphicData>
        </a:graphic>
      </p:graphicFrame>
      <p:sp>
        <p:nvSpPr>
          <p:cNvPr id="10" name="">
            <a:extLst xmlns:a="http://schemas.openxmlformats.org/drawingml/2006/main">
              <a:ext uri="{FF2B5EF4-FFF2-40B4-BE49-F238E27FC236}">
                <a16:creationId xmlns:a16="http://schemas.microsoft.com/office/drawing/2014/main" id="{BF5CD85E-4864-4E17-ABB8-FEF5F954732E}"/>
              </a:ext>
            </a:extLst>
          </p:cNvPr>
          <p:cNvSpPr>
            <a:spLocks xmlns:a="http://schemas.openxmlformats.org/drawingml/2006/main" noGrp="1"/>
          </p:cNvSpPr>
          <p:nvPr/>
        </p:nvSpPr>
        <p:spPr>
          <a:xfrm xmlns:a="http://schemas.openxmlformats.org/drawingml/2006/main">
            <a:off x="7667625" y="2085975"/>
            <a:ext cx="37147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Volvemos al ejemplo inicial.</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Región baja: área 21.</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Región alta: área 12,75.</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Elegimos la región baja</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y su centroide: 25 %.</a:t>
            </a:r>
          </a:p>
        </p:txBody>
      </p:sp>
      <p:sp>
        <p:nvSpPr>
          <p:cNvPr id="11" name="">
            <a:extLst xmlns:a="http://schemas.openxmlformats.org/drawingml/2006/main">
              <a:ext uri="{FF2B5EF4-FFF2-40B4-BE49-F238E27FC236}">
                <a16:creationId xmlns:a16="http://schemas.microsoft.com/office/drawing/2014/main" id="{A7AB47BF-5C23-4484-8509-3EA72AEB5F69}"/>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Mayor área no significa necesariamente mayor pico.</a:t>
            </a:r>
          </a:p>
        </p:txBody>
      </p:sp>
      <p:sp>
        <p:nvSpPr>
          <p:cNvPr id="15" name="">
            <a:extLst xmlns:a="http://schemas.openxmlformats.org/drawingml/2006/main">
              <a:ext uri="{FF2B5EF4-FFF2-40B4-BE49-F238E27FC236}">
                <a16:creationId xmlns:a16="http://schemas.microsoft.com/office/drawing/2014/main" id="{DA52A742-F8C3-4674-AB6E-B44F494224B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9645375-0567-4202-A309-12AA48322952}"/>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7. Primero o último de los máximos</a:t>
            </a:r>
          </a:p>
        </p:txBody>
      </p:sp>
      <p:graphicFrame>
        <p:nvGraphicFramePr>
          <p:cNvPr id="23" name="Chart"/>
          <p:cNvGraphicFramePr/>
          <p:nvPr/>
        </p:nvGraphicFramePr>
        <p:xfrm>
          <a:off xmlns:a="http://schemas.openxmlformats.org/drawingml/2006/main" x="685800" y="2305050"/>
          <a:ext xmlns:a="http://schemas.openxmlformats.org/drawingml/2006/main" cx="6524625" cy="3295650"/>
        </p:xfrm>
        <a:graphic xmlns:a="http://schemas.openxmlformats.org/drawingml/2006/main">
          <a:graphicData uri="http://schemas.openxmlformats.org/drawingml/2006/chart">
            <c:chart xmlns:r="http://schemas.openxmlformats.org/officeDocument/2006/relationships" xmlns:c="http://schemas.openxmlformats.org/drawingml/2006/chart" r:id="Rfdf0f2070d4646be"/>
          </a:graphicData>
        </a:graphic>
      </p:graphicFrame>
      <p:sp>
        <p:nvSpPr>
          <p:cNvPr id="10" name="">
            <a:extLst xmlns:a="http://schemas.openxmlformats.org/drawingml/2006/main">
              <a:ext uri="{FF2B5EF4-FFF2-40B4-BE49-F238E27FC236}">
                <a16:creationId xmlns:a16="http://schemas.microsoft.com/office/drawing/2014/main" id="{9F4EF8C1-57F2-47D7-B453-B858B3B3338C}"/>
              </a:ext>
            </a:extLst>
          </p:cNvPr>
          <p:cNvSpPr>
            <a:spLocks xmlns:a="http://schemas.openxmlformats.org/drawingml/2006/main" noGrp="1"/>
          </p:cNvSpPr>
          <p:nvPr/>
        </p:nvSpPr>
        <p:spPr>
          <a:xfrm xmlns:a="http://schemas.openxmlformats.org/drawingml/2006/main">
            <a:off x="7667625" y="2085975"/>
            <a:ext cx="37147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Misma meseta: [15, 35].</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Primero: u* = 15 %.</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Último: u* = 35 %.</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Hay que declarar cuál usamos.</a:t>
            </a:r>
          </a:p>
        </p:txBody>
      </p:sp>
      <p:sp>
        <p:nvSpPr>
          <p:cNvPr id="11" name="">
            <a:extLst xmlns:a="http://schemas.openxmlformats.org/drawingml/2006/main">
              <a:ext uri="{FF2B5EF4-FFF2-40B4-BE49-F238E27FC236}">
                <a16:creationId xmlns:a16="http://schemas.microsoft.com/office/drawing/2014/main" id="{FB02BD1E-6C56-4234-AD81-51A75571DE8D}"/>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máximo se busca en vertical. Primero y último se eligen en el eje de potencia.</a:t>
            </a:r>
          </a:p>
        </p:txBody>
      </p:sp>
      <p:sp>
        <p:nvSpPr>
          <p:cNvPr id="15" name="">
            <a:extLst xmlns:a="http://schemas.openxmlformats.org/drawingml/2006/main">
              <a:ext uri="{FF2B5EF4-FFF2-40B4-BE49-F238E27FC236}">
                <a16:creationId xmlns:a16="http://schemas.microsoft.com/office/drawing/2014/main" id="{BF1859FC-1B17-4B69-8869-B65156963AAE}"/>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DBCFD7-3182-41A7-AF65-ED6EB917B993}"/>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Misma salida fuzzy, decisiones diferentes</a:t>
            </a:r>
          </a:p>
        </p:txBody>
      </p:sp>
      <p:graphicFrame>
        <p:nvGraphicFramePr>
          <p:cNvPr id="22" name=""/>
          <p:cNvGraphicFramePr/>
          <p:nvPr/>
        </p:nvGraphicFramePr>
        <p:xfrm>
          <a:off xmlns:a="http://schemas.openxmlformats.org/drawingml/2006/main" x="762000" y="1562100"/>
          <a:ext xmlns:a="http://schemas.openxmlformats.org/drawingml/2006/main" cx="10668000" cy="4162425"/>
        </p:xfrm>
        <a:graphic xmlns:a="http://schemas.openxmlformats.org/drawingml/2006/main">
          <a:graphicData uri="http://schemas.openxmlformats.org/drawingml/2006/table">
            <a:tbl>
              <a:tblPr/>
              <a:tblGrid>
                <a:gridCol w="4619625"/>
                <a:gridCol w="6048375"/>
              </a:tblGrid>
              <a:tr h="520303">
                <a:tc>
                  <a:txBody>
                    <a:bodyPr lIns="85725" tIns="76200" rIns="85725" bIns="76200"/>
                    <a:lstStyle/>
                    <a:p>
                      <a:pPr algn="ctr">
                        <a:buNone/>
                      </a:pPr>
                      <a:r>
                        <a:rPr sz="1875" b="1">
                          <a:solidFill>
                            <a:srgbClr val="2162A0"/>
                          </a:solidFill>
                          <a:latin typeface="Arial"/>
                          <a:ea typeface="Arial"/>
                          <a:cs typeface="Arial"/>
                        </a:rPr>
                        <a:t>Método</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Potencia resultante</a:t>
                      </a:r>
                    </a:p>
                  </a:txBody>
                  <a:tcPr marL="91440" marR="91440" marT="45720" marB="45720" anchor="ctr">
                    <a:solidFill>
                      <a:srgbClr val="E7EFF5"/>
                    </a:solidFill>
                  </a:tcPr>
                </a:tc>
              </a:tr>
              <a:tr h="520303">
                <a:tc>
                  <a:txBody>
                    <a:bodyPr lIns="85725" tIns="76200" rIns="85725" bIns="76200"/>
                    <a:lstStyle/>
                    <a:p>
                      <a:pPr algn="ctr">
                        <a:buNone/>
                      </a:pPr>
                      <a:r>
                        <a:rPr sz="1875" b="0">
                          <a:solidFill>
                            <a:srgbClr val="233746"/>
                          </a:solidFill>
                          <a:latin typeface="Arial"/>
                          <a:ea typeface="Arial"/>
                          <a:cs typeface="Arial"/>
                        </a:rPr>
                        <a:t>Máxima pertenencia</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Cualquier valor de [15, 35] sin desempate</a:t>
                      </a:r>
                    </a:p>
                  </a:txBody>
                  <a:tcPr marL="91440" marR="91440" marT="45720" marB="45720" anchor="ctr">
                    <a:solidFill>
                      <a:srgbClr val="FFFFFF"/>
                    </a:solidFill>
                  </a:tcPr>
                </a:tc>
              </a:tr>
              <a:tr h="520303">
                <a:tc>
                  <a:txBody>
                    <a:bodyPr lIns="85725" tIns="76200" rIns="85725" bIns="76200"/>
                    <a:lstStyle/>
                    <a:p>
                      <a:pPr algn="ctr">
                        <a:buNone/>
                      </a:pPr>
                      <a:r>
                        <a:rPr sz="1875" b="0">
                          <a:solidFill>
                            <a:srgbClr val="233746"/>
                          </a:solidFill>
                          <a:latin typeface="Arial"/>
                          <a:ea typeface="Arial"/>
                          <a:cs typeface="Arial"/>
                        </a:rPr>
                        <a:t>Centroide</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43,89 %</a:t>
                      </a:r>
                    </a:p>
                  </a:txBody>
                  <a:tcPr marL="91440" marR="91440" marT="45720" marB="45720" anchor="ctr">
                    <a:solidFill>
                      <a:srgbClr val="F4F7F9"/>
                    </a:solidFill>
                  </a:tcPr>
                </a:tc>
              </a:tr>
              <a:tr h="520303">
                <a:tc>
                  <a:txBody>
                    <a:bodyPr lIns="85725" tIns="76200" rIns="85725" bIns="76200"/>
                    <a:lstStyle/>
                    <a:p>
                      <a:pPr algn="ctr">
                        <a:buNone/>
                      </a:pPr>
                      <a:r>
                        <a:rPr sz="1875" b="0">
                          <a:solidFill>
                            <a:srgbClr val="233746"/>
                          </a:solidFill>
                          <a:latin typeface="Arial"/>
                          <a:ea typeface="Arial"/>
                          <a:cs typeface="Arial"/>
                        </a:rPr>
                        <a:t>Media ponderada</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41,67 %</a:t>
                      </a:r>
                    </a:p>
                  </a:txBody>
                  <a:tcPr marL="91440" marR="91440" marT="45720" marB="45720" anchor="ctr">
                    <a:solidFill>
                      <a:srgbClr val="FFFFFF"/>
                    </a:solidFill>
                  </a:tcPr>
                </a:tc>
              </a:tr>
              <a:tr h="520303">
                <a:tc>
                  <a:txBody>
                    <a:bodyPr lIns="85725" tIns="76200" rIns="85725" bIns="76200"/>
                    <a:lstStyle/>
                    <a:p>
                      <a:pPr algn="ctr">
                        <a:buNone/>
                      </a:pPr>
                      <a:r>
                        <a:rPr sz="1875" b="0">
                          <a:solidFill>
                            <a:srgbClr val="233746"/>
                          </a:solidFill>
                          <a:latin typeface="Arial"/>
                          <a:ea typeface="Arial"/>
                          <a:cs typeface="Arial"/>
                        </a:rPr>
                        <a:t>Media de máximos</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25 %</a:t>
                      </a:r>
                    </a:p>
                  </a:txBody>
                  <a:tcPr marL="91440" marR="91440" marT="45720" marB="45720" anchor="ctr">
                    <a:solidFill>
                      <a:srgbClr val="F4F7F9"/>
                    </a:solidFill>
                  </a:tcPr>
                </a:tc>
              </a:tr>
              <a:tr h="520303">
                <a:tc>
                  <a:txBody>
                    <a:bodyPr lIns="85725" tIns="76200" rIns="85725" bIns="76200"/>
                    <a:lstStyle/>
                    <a:p>
                      <a:pPr algn="ctr">
                        <a:buNone/>
                      </a:pPr>
                      <a:r>
                        <a:rPr sz="1875" b="0">
                          <a:solidFill>
                            <a:srgbClr val="233746"/>
                          </a:solidFill>
                          <a:latin typeface="Arial"/>
                          <a:ea typeface="Arial"/>
                          <a:cs typeface="Arial"/>
                        </a:rPr>
                        <a:t>Centro de sumas</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43,89 % en este caso sin solape</a:t>
                      </a:r>
                    </a:p>
                  </a:txBody>
                  <a:tcPr marL="91440" marR="91440" marT="45720" marB="45720" anchor="ctr">
                    <a:solidFill>
                      <a:srgbClr val="FFFFFF"/>
                    </a:solidFill>
                  </a:tcPr>
                </a:tc>
              </a:tr>
              <a:tr h="520303">
                <a:tc>
                  <a:txBody>
                    <a:bodyPr lIns="85725" tIns="76200" rIns="85725" bIns="76200"/>
                    <a:lstStyle/>
                    <a:p>
                      <a:pPr algn="ctr">
                        <a:buNone/>
                      </a:pPr>
                      <a:r>
                        <a:rPr sz="1875" b="0">
                          <a:solidFill>
                            <a:srgbClr val="233746"/>
                          </a:solidFill>
                          <a:latin typeface="Arial"/>
                          <a:ea typeface="Arial"/>
                          <a:cs typeface="Arial"/>
                        </a:rPr>
                        <a:t>Centro del área mayor</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25 %</a:t>
                      </a:r>
                    </a:p>
                  </a:txBody>
                  <a:tcPr marL="91440" marR="91440" marT="45720" marB="45720" anchor="ctr">
                    <a:solidFill>
                      <a:srgbClr val="F4F7F9"/>
                    </a:solidFill>
                  </a:tcPr>
                </a:tc>
              </a:tr>
              <a:tr h="520303">
                <a:tc>
                  <a:txBody>
                    <a:bodyPr lIns="85725" tIns="76200" rIns="85725" bIns="76200"/>
                    <a:lstStyle/>
                    <a:p>
                      <a:pPr algn="ctr">
                        <a:buNone/>
                      </a:pPr>
                      <a:r>
                        <a:rPr sz="1875" b="0">
                          <a:solidFill>
                            <a:srgbClr val="233746"/>
                          </a:solidFill>
                          <a:latin typeface="Arial"/>
                          <a:ea typeface="Arial"/>
                          <a:cs typeface="Arial"/>
                        </a:rPr>
                        <a:t>Primero / último de máximos</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15 % / 35 %</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0334007-A79F-4C16-9373-9ADE6C3A271F}"/>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Elegir el método forma parte del diseño del controlador y debe quedar escrito.</a:t>
            </a:r>
          </a:p>
        </p:txBody>
      </p:sp>
      <p:sp>
        <p:nvSpPr>
          <p:cNvPr id="14" name="">
            <a:extLst xmlns:a="http://schemas.openxmlformats.org/drawingml/2006/main">
              <a:ext uri="{FF2B5EF4-FFF2-40B4-BE49-F238E27FC236}">
                <a16:creationId xmlns:a16="http://schemas.microsoft.com/office/drawing/2014/main" id="{B4663ACC-0E16-4E99-BCC6-822CEDA23BD7}"/>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D13D7E8-FF7D-48C1-896F-7FC7AB68799C}"/>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Cinco criterios para elegir la desdifusificación</a:t>
            </a:r>
          </a:p>
        </p:txBody>
      </p:sp>
      <p:graphicFrame>
        <p:nvGraphicFramePr>
          <p:cNvPr id="22" name=""/>
          <p:cNvGraphicFramePr/>
          <p:nvPr/>
        </p:nvGraphicFramePr>
        <p:xfrm>
          <a:off xmlns:a="http://schemas.openxmlformats.org/drawingml/2006/main" x="762000" y="1638300"/>
          <a:ext xmlns:a="http://schemas.openxmlformats.org/drawingml/2006/main" cx="10668000" cy="3724275"/>
        </p:xfrm>
        <a:graphic xmlns:a="http://schemas.openxmlformats.org/drawingml/2006/main">
          <a:graphicData uri="http://schemas.openxmlformats.org/drawingml/2006/table">
            <a:tbl>
              <a:tblPr/>
              <a:tblGrid>
                <a:gridCol w="4000500"/>
                <a:gridCol w="6667500"/>
              </a:tblGrid>
              <a:tr h="620713">
                <a:tc>
                  <a:txBody>
                    <a:bodyPr lIns="85725" tIns="76200" rIns="85725" bIns="76200"/>
                    <a:lstStyle/>
                    <a:p>
                      <a:pPr algn="ctr">
                        <a:buNone/>
                      </a:pPr>
                      <a:r>
                        <a:rPr sz="1950" b="1">
                          <a:solidFill>
                            <a:srgbClr val="2162A0"/>
                          </a:solidFill>
                          <a:latin typeface="Arial"/>
                          <a:ea typeface="Arial"/>
                          <a:cs typeface="Arial"/>
                        </a:rPr>
                        <a:t>Criterio de Ross</a:t>
                      </a:r>
                    </a:p>
                  </a:txBody>
                  <a:tcPr marL="91440" marR="91440" marT="45720" marB="45720" anchor="ctr">
                    <a:solidFill>
                      <a:srgbClr val="E7EFF5"/>
                    </a:solidFill>
                  </a:tcPr>
                </a:tc>
                <a:tc>
                  <a:txBody>
                    <a:bodyPr lIns="85725" tIns="76200" rIns="85725" bIns="76200"/>
                    <a:lstStyle/>
                    <a:p>
                      <a:pPr algn="ctr">
                        <a:buNone/>
                      </a:pPr>
                      <a:r>
                        <a:rPr sz="1950" b="1">
                          <a:solidFill>
                            <a:srgbClr val="2162A0"/>
                          </a:solidFill>
                          <a:latin typeface="Arial"/>
                          <a:ea typeface="Arial"/>
                          <a:cs typeface="Arial"/>
                        </a:rPr>
                        <a:t>Qué buscamos en el controlador</a:t>
                      </a:r>
                    </a:p>
                  </a:txBody>
                  <a:tcPr marL="91440" marR="91440" marT="45720" marB="45720" anchor="ctr">
                    <a:solidFill>
                      <a:srgbClr val="E7EFF5"/>
                    </a:solidFill>
                  </a:tcPr>
                </a:tc>
              </a:tr>
              <a:tr h="620713">
                <a:tc>
                  <a:txBody>
                    <a:bodyPr lIns="85725" tIns="76200" rIns="85725" bIns="76200"/>
                    <a:lstStyle/>
                    <a:p>
                      <a:pPr algn="ctr">
                        <a:buNone/>
                      </a:pPr>
                      <a:r>
                        <a:rPr sz="1950" b="0">
                          <a:solidFill>
                            <a:srgbClr val="233746"/>
                          </a:solidFill>
                          <a:latin typeface="Arial"/>
                          <a:ea typeface="Arial"/>
                          <a:cs typeface="Arial"/>
                        </a:rPr>
                        <a:t>1. Continuidad</a:t>
                      </a:r>
                    </a:p>
                  </a:txBody>
                  <a:tcPr marL="91440" marR="91440" marT="45720" marB="45720" anchor="ctr">
                    <a:solidFill>
                      <a:srgbClr val="FFFFFF"/>
                    </a:solidFill>
                  </a:tcPr>
                </a:tc>
                <a:tc>
                  <a:txBody>
                    <a:bodyPr lIns="85725" tIns="76200" rIns="85725" bIns="76200"/>
                    <a:lstStyle/>
                    <a:p>
                      <a:pPr algn="ctr">
                        <a:buNone/>
                      </a:pPr>
                      <a:r>
                        <a:rPr sz="1950" b="0">
                          <a:solidFill>
                            <a:srgbClr val="233746"/>
                          </a:solidFill>
                          <a:latin typeface="Arial"/>
                          <a:ea typeface="Arial"/>
                          <a:cs typeface="Arial"/>
                        </a:rPr>
                        <a:t>Cambios pequeños de entrada producen cambios pequeños de salida</a:t>
                      </a:r>
                    </a:p>
                  </a:txBody>
                  <a:tcPr marL="91440" marR="91440" marT="45720" marB="45720" anchor="ctr">
                    <a:solidFill>
                      <a:srgbClr val="FFFFFF"/>
                    </a:solidFill>
                  </a:tcPr>
                </a:tc>
              </a:tr>
              <a:tr h="620713">
                <a:tc>
                  <a:txBody>
                    <a:bodyPr lIns="85725" tIns="76200" rIns="85725" bIns="76200"/>
                    <a:lstStyle/>
                    <a:p>
                      <a:pPr algn="ctr">
                        <a:buNone/>
                      </a:pPr>
                      <a:r>
                        <a:rPr sz="1950" b="0">
                          <a:solidFill>
                            <a:srgbClr val="233746"/>
                          </a:solidFill>
                          <a:latin typeface="Arial"/>
                          <a:ea typeface="Arial"/>
                          <a:cs typeface="Arial"/>
                        </a:rPr>
                        <a:t>2. Unicidad (disambiguity)</a:t>
                      </a:r>
                    </a:p>
                  </a:txBody>
                  <a:tcPr marL="91440" marR="91440" marT="45720" marB="45720" anchor="ctr">
                    <a:solidFill>
                      <a:srgbClr val="F4F7F9"/>
                    </a:solidFill>
                  </a:tcPr>
                </a:tc>
                <a:tc>
                  <a:txBody>
                    <a:bodyPr lIns="85725" tIns="76200" rIns="85725" bIns="76200"/>
                    <a:lstStyle/>
                    <a:p>
                      <a:pPr algn="ctr">
                        <a:buNone/>
                      </a:pPr>
                      <a:r>
                        <a:rPr sz="1950" b="0">
                          <a:solidFill>
                            <a:srgbClr val="233746"/>
                          </a:solidFill>
                          <a:latin typeface="Arial"/>
                          <a:ea typeface="Arial"/>
                          <a:cs typeface="Arial"/>
                        </a:rPr>
                        <a:t>Obtener un único valor, también cuando hay empates</a:t>
                      </a:r>
                    </a:p>
                  </a:txBody>
                  <a:tcPr marL="91440" marR="91440" marT="45720" marB="45720" anchor="ctr">
                    <a:solidFill>
                      <a:srgbClr val="F4F7F9"/>
                    </a:solidFill>
                  </a:tcPr>
                </a:tc>
              </a:tr>
              <a:tr h="620713">
                <a:tc>
                  <a:txBody>
                    <a:bodyPr lIns="85725" tIns="76200" rIns="85725" bIns="76200"/>
                    <a:lstStyle/>
                    <a:p>
                      <a:pPr algn="ctr">
                        <a:buNone/>
                      </a:pPr>
                      <a:r>
                        <a:rPr sz="1950" b="0">
                          <a:solidFill>
                            <a:srgbClr val="233746"/>
                          </a:solidFill>
                          <a:latin typeface="Arial"/>
                          <a:ea typeface="Arial"/>
                          <a:cs typeface="Arial"/>
                        </a:rPr>
                        <a:t>3. Plausibilidad</a:t>
                      </a:r>
                    </a:p>
                  </a:txBody>
                  <a:tcPr marL="91440" marR="91440" marT="45720" marB="45720" anchor="ctr">
                    <a:solidFill>
                      <a:srgbClr val="FFFFFF"/>
                    </a:solidFill>
                  </a:tcPr>
                </a:tc>
                <a:tc>
                  <a:txBody>
                    <a:bodyPr lIns="85725" tIns="76200" rIns="85725" bIns="76200"/>
                    <a:lstStyle/>
                    <a:p>
                      <a:pPr algn="ctr">
                        <a:buNone/>
                      </a:pPr>
                      <a:r>
                        <a:rPr sz="1950" b="0">
                          <a:solidFill>
                            <a:srgbClr val="233746"/>
                          </a:solidFill>
                          <a:latin typeface="Arial"/>
                          <a:ea typeface="Arial"/>
                          <a:cs typeface="Arial"/>
                        </a:rPr>
                        <a:t>Un valor central en el soporte y con pertenencia alta</a:t>
                      </a:r>
                    </a:p>
                  </a:txBody>
                  <a:tcPr marL="91440" marR="91440" marT="45720" marB="45720" anchor="ctr">
                    <a:solidFill>
                      <a:srgbClr val="FFFFFF"/>
                    </a:solidFill>
                  </a:tcPr>
                </a:tc>
              </a:tr>
              <a:tr h="620713">
                <a:tc>
                  <a:txBody>
                    <a:bodyPr lIns="85725" tIns="76200" rIns="85725" bIns="76200"/>
                    <a:lstStyle/>
                    <a:p>
                      <a:pPr algn="ctr">
                        <a:buNone/>
                      </a:pPr>
                      <a:r>
                        <a:rPr sz="1950" b="0">
                          <a:solidFill>
                            <a:srgbClr val="233746"/>
                          </a:solidFill>
                          <a:latin typeface="Arial"/>
                          <a:ea typeface="Arial"/>
                          <a:cs typeface="Arial"/>
                        </a:rPr>
                        <a:t>4. Simplicidad computacional</a:t>
                      </a:r>
                    </a:p>
                  </a:txBody>
                  <a:tcPr marL="91440" marR="91440" marT="45720" marB="45720" anchor="ctr">
                    <a:solidFill>
                      <a:srgbClr val="F4F7F9"/>
                    </a:solidFill>
                  </a:tcPr>
                </a:tc>
                <a:tc>
                  <a:txBody>
                    <a:bodyPr lIns="85725" tIns="76200" rIns="85725" bIns="76200"/>
                    <a:lstStyle/>
                    <a:p>
                      <a:pPr algn="ctr">
                        <a:buNone/>
                      </a:pPr>
                      <a:r>
                        <a:rPr sz="1950" b="0">
                          <a:solidFill>
                            <a:srgbClr val="233746"/>
                          </a:solidFill>
                          <a:latin typeface="Arial"/>
                          <a:ea typeface="Arial"/>
                          <a:cs typeface="Arial"/>
                        </a:rPr>
                        <a:t>Calcular la acción dentro del tiempo de muestreo</a:t>
                      </a:r>
                    </a:p>
                  </a:txBody>
                  <a:tcPr marL="91440" marR="91440" marT="45720" marB="45720" anchor="ctr">
                    <a:solidFill>
                      <a:srgbClr val="F4F7F9"/>
                    </a:solidFill>
                  </a:tcPr>
                </a:tc>
              </a:tr>
              <a:tr h="620713">
                <a:tc>
                  <a:txBody>
                    <a:bodyPr lIns="85725" tIns="76200" rIns="85725" bIns="76200"/>
                    <a:lstStyle/>
                    <a:p>
                      <a:pPr algn="ctr">
                        <a:buNone/>
                      </a:pPr>
                      <a:r>
                        <a:rPr sz="1950" b="0">
                          <a:solidFill>
                            <a:srgbClr val="233746"/>
                          </a:solidFill>
                          <a:latin typeface="Arial"/>
                          <a:ea typeface="Arial"/>
                          <a:cs typeface="Arial"/>
                        </a:rPr>
                        <a:t>5. Forma de ponderar (weighting)</a:t>
                      </a:r>
                    </a:p>
                  </a:txBody>
                  <a:tcPr marL="91440" marR="91440" marT="45720" marB="45720" anchor="ctr">
                    <a:solidFill>
                      <a:srgbClr val="FFFFFF"/>
                    </a:solidFill>
                  </a:tcPr>
                </a:tc>
                <a:tc>
                  <a:txBody>
                    <a:bodyPr lIns="85725" tIns="76200" rIns="85725" bIns="76200"/>
                    <a:lstStyle/>
                    <a:p>
                      <a:pPr algn="ctr">
                        <a:buNone/>
                      </a:pPr>
                      <a:r>
                        <a:rPr sz="1950" b="0">
                          <a:solidFill>
                            <a:srgbClr val="233746"/>
                          </a:solidFill>
                          <a:latin typeface="Arial"/>
                          <a:ea typeface="Arial"/>
                          <a:cs typeface="Arial"/>
                        </a:rPr>
                        <a:t>Decidir qué influye más: altura, área o curva agregada</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5F9B24A2-1D51-48C9-9321-650DDD4389F7}"/>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Ningún método es el mejor para todos los problemas. La elección depende de la acción física.</a:t>
            </a:r>
          </a:p>
        </p:txBody>
      </p:sp>
      <p:sp>
        <p:nvSpPr>
          <p:cNvPr id="14" name="">
            <a:extLst xmlns:a="http://schemas.openxmlformats.org/drawingml/2006/main">
              <a:ext uri="{FF2B5EF4-FFF2-40B4-BE49-F238E27FC236}">
                <a16:creationId xmlns:a16="http://schemas.microsoft.com/office/drawing/2014/main" id="{6BD00666-CF0D-4EC6-BDC5-EAFB3E5479B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B30C659-1DFF-47B8-AA1B-898565ECD7A3}"/>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Continuidad y unicidad son propiedades diferentes</a:t>
            </a:r>
          </a:p>
        </p:txBody>
      </p:sp>
      <p:graphicFrame>
        <p:nvGraphicFramePr>
          <p:cNvPr id="28" name="Chart"/>
          <p:cNvGraphicFramePr/>
          <p:nvPr/>
        </p:nvGraphicFramePr>
        <p:xfrm>
          <a:off xmlns:a="http://schemas.openxmlformats.org/drawingml/2006/main" x="762000" y="2181225"/>
          <a:ext xmlns:a="http://schemas.openxmlformats.org/drawingml/2006/main" cx="5095875" cy="2886075"/>
        </p:xfrm>
        <a:graphic xmlns:a="http://schemas.openxmlformats.org/drawingml/2006/main">
          <a:graphicData uri="http://schemas.openxmlformats.org/drawingml/2006/chart">
            <c:chart xmlns:r="http://schemas.openxmlformats.org/officeDocument/2006/relationships" xmlns:c="http://schemas.openxmlformats.org/drawingml/2006/chart" r:id="R77f8394267334aea"/>
          </a:graphicData>
        </a:graphic>
      </p:graphicFrame>
      <p:graphicFrame>
        <p:nvGraphicFramePr>
          <p:cNvPr id="29" name="Chart"/>
          <p:cNvGraphicFramePr/>
          <p:nvPr/>
        </p:nvGraphicFramePr>
        <p:xfrm>
          <a:off xmlns:a="http://schemas.openxmlformats.org/drawingml/2006/main" x="6477000" y="2181225"/>
          <a:ext xmlns:a="http://schemas.openxmlformats.org/drawingml/2006/main" cx="4953000" cy="2886075"/>
        </p:xfrm>
        <a:graphic xmlns:a="http://schemas.openxmlformats.org/drawingml/2006/main">
          <a:graphicData uri="http://schemas.openxmlformats.org/drawingml/2006/chart">
            <c:chart xmlns:r="http://schemas.openxmlformats.org/officeDocument/2006/relationships" xmlns:c="http://schemas.openxmlformats.org/drawingml/2006/chart" r:id="Rd976b9b265554a5f"/>
          </a:graphicData>
        </a:graphic>
      </p:graphicFrame>
      <p:sp>
        <p:nvSpPr>
          <p:cNvPr id="11" name="">
            <a:extLst xmlns:a="http://schemas.openxmlformats.org/drawingml/2006/main">
              <a:ext uri="{FF2B5EF4-FFF2-40B4-BE49-F238E27FC236}">
                <a16:creationId xmlns:a16="http://schemas.microsoft.com/office/drawing/2014/main" id="{975B38A2-0C3D-4797-86EE-54DF0FF0CB47}"/>
              </a:ext>
            </a:extLst>
          </p:cNvPr>
          <p:cNvSpPr>
            <a:spLocks xmlns:a="http://schemas.openxmlformats.org/drawingml/2006/main" noGrp="1"/>
          </p:cNvSpPr>
          <p:nvPr/>
        </p:nvSpPr>
        <p:spPr>
          <a:xfrm xmlns:a="http://schemas.openxmlformats.org/drawingml/2006/main">
            <a:off x="762000" y="157162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2162A0"/>
                </a:solidFill>
                <a:latin typeface="Arial"/>
                <a:ea typeface="Arial"/>
                <a:cs typeface="Arial"/>
              </a:defRPr>
            </a:pPr>
            <a:r>
              <a:rPr sz="2250" b="1">
                <a:solidFill>
                  <a:srgbClr val="2162A0"/>
                </a:solidFill>
                <a:latin typeface="Arial"/>
                <a:ea typeface="Arial"/>
                <a:cs typeface="Arial"/>
              </a:rPr>
              <a:t>Alturas: 0,51 y 0,49</a:t>
            </a:r>
          </a:p>
        </p:txBody>
      </p:sp>
      <p:sp>
        <p:nvSpPr>
          <p:cNvPr id="12" name="">
            <a:extLst xmlns:a="http://schemas.openxmlformats.org/drawingml/2006/main">
              <a:ext uri="{FF2B5EF4-FFF2-40B4-BE49-F238E27FC236}">
                <a16:creationId xmlns:a16="http://schemas.microsoft.com/office/drawing/2014/main" id="{A965CC1B-C082-4FE8-A8EE-E09740F6040E}"/>
              </a:ext>
            </a:extLst>
          </p:cNvPr>
          <p:cNvSpPr>
            <a:spLocks xmlns:a="http://schemas.openxmlformats.org/drawingml/2006/main" noGrp="1"/>
          </p:cNvSpPr>
          <p:nvPr/>
        </p:nvSpPr>
        <p:spPr>
          <a:xfrm xmlns:a="http://schemas.openxmlformats.org/drawingml/2006/main">
            <a:off x="6477000" y="157162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Alturas: 0,49 y 0,51</a:t>
            </a:r>
          </a:p>
        </p:txBody>
      </p:sp>
      <p:sp>
        <p:nvSpPr>
          <p:cNvPr id="13" name="">
            <a:extLst xmlns:a="http://schemas.openxmlformats.org/drawingml/2006/main">
              <a:ext uri="{FF2B5EF4-FFF2-40B4-BE49-F238E27FC236}">
                <a16:creationId xmlns:a16="http://schemas.microsoft.com/office/drawing/2014/main" id="{0A3AD29E-3DCC-473D-BB08-98C04DDA3D48}"/>
              </a:ext>
            </a:extLst>
          </p:cNvPr>
          <p:cNvSpPr>
            <a:spLocks xmlns:a="http://schemas.openxmlformats.org/drawingml/2006/main" noGrp="1"/>
          </p:cNvSpPr>
          <p:nvPr/>
        </p:nvSpPr>
        <p:spPr>
          <a:xfrm xmlns:a="http://schemas.openxmlformats.org/drawingml/2006/main">
            <a:off x="1524000" y="51625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Máximo: 20 %</a:t>
            </a:r>
          </a:p>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Centroide: 49,4 %</a:t>
            </a:r>
          </a:p>
        </p:txBody>
      </p:sp>
      <p:sp>
        <p:nvSpPr>
          <p:cNvPr id="14" name="">
            <a:extLst xmlns:a="http://schemas.openxmlformats.org/drawingml/2006/main">
              <a:ext uri="{FF2B5EF4-FFF2-40B4-BE49-F238E27FC236}">
                <a16:creationId xmlns:a16="http://schemas.microsoft.com/office/drawing/2014/main" id="{7D3D30D6-E3CC-4C3B-87B2-6F30862AE17E}"/>
              </a:ext>
            </a:extLst>
          </p:cNvPr>
          <p:cNvSpPr>
            <a:spLocks xmlns:a="http://schemas.openxmlformats.org/drawingml/2006/main" noGrp="1"/>
          </p:cNvSpPr>
          <p:nvPr/>
        </p:nvSpPr>
        <p:spPr>
          <a:xfrm xmlns:a="http://schemas.openxmlformats.org/drawingml/2006/main">
            <a:off x="7239000" y="51625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Máximo: 80 %</a:t>
            </a:r>
          </a:p>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Centroide: 50,6 %</a:t>
            </a:r>
          </a:p>
        </p:txBody>
      </p:sp>
      <p:sp>
        <p:nvSpPr>
          <p:cNvPr id="15" name="">
            <a:extLst xmlns:a="http://schemas.openxmlformats.org/drawingml/2006/main">
              <a:ext uri="{FF2B5EF4-FFF2-40B4-BE49-F238E27FC236}">
                <a16:creationId xmlns:a16="http://schemas.microsoft.com/office/drawing/2014/main" id="{226E875F-8D9D-47B6-B20C-FDA4CD56656A}"/>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máximo salta. Si ambas alturas son iguales, además necesita una regla de desempate.</a:t>
            </a:r>
          </a:p>
        </p:txBody>
      </p:sp>
      <p:sp>
        <p:nvSpPr>
          <p:cNvPr id="20" name="">
            <a:extLst xmlns:a="http://schemas.openxmlformats.org/drawingml/2006/main">
              <a:ext uri="{FF2B5EF4-FFF2-40B4-BE49-F238E27FC236}">
                <a16:creationId xmlns:a16="http://schemas.microsoft.com/office/drawing/2014/main" id="{E6FACB0F-CE96-4B23-93D0-6B724DC830E9}"/>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1D5D946-8E90-4158-8EB4-51EB08143AED}"/>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Plausibilidad: el punto débil del centroide</a:t>
            </a:r>
          </a:p>
        </p:txBody>
      </p:sp>
      <p:graphicFrame>
        <p:nvGraphicFramePr>
          <p:cNvPr id="24" name="Chart"/>
          <p:cNvGraphicFramePr/>
          <p:nvPr/>
        </p:nvGraphicFramePr>
        <p:xfrm>
          <a:off xmlns:a="http://schemas.openxmlformats.org/drawingml/2006/main" x="762000" y="2276475"/>
          <a:ext xmlns:a="http://schemas.openxmlformats.org/drawingml/2006/main" cx="6286500" cy="3143250"/>
        </p:xfrm>
        <a:graphic xmlns:a="http://schemas.openxmlformats.org/drawingml/2006/main">
          <a:graphicData uri="http://schemas.openxmlformats.org/drawingml/2006/chart">
            <c:chart xmlns:r="http://schemas.openxmlformats.org/officeDocument/2006/relationships" xmlns:c="http://schemas.openxmlformats.org/drawingml/2006/chart" r:id="R67b2a885057a43ac"/>
          </a:graphicData>
        </a:graphic>
      </p:graphicFrame>
      <p:sp>
        <p:nvSpPr>
          <p:cNvPr id="10" name="">
            <a:extLst xmlns:a="http://schemas.openxmlformats.org/drawingml/2006/main">
              <a:ext uri="{FF2B5EF4-FFF2-40B4-BE49-F238E27FC236}">
                <a16:creationId xmlns:a16="http://schemas.microsoft.com/office/drawing/2014/main" id="{C5FB496F-D825-49A5-AF2E-C83557FEB132}"/>
              </a:ext>
            </a:extLst>
          </p:cNvPr>
          <p:cNvSpPr>
            <a:spLocks xmlns:a="http://schemas.openxmlformats.org/drawingml/2006/main" noGrp="1"/>
          </p:cNvSpPr>
          <p:nvPr/>
        </p:nvSpPr>
        <p:spPr>
          <a:xfrm xmlns:a="http://schemas.openxmlformats.org/drawingml/2006/main">
            <a:off x="7620000" y="1952625"/>
            <a:ext cx="381000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Dos regiones iguales:</a:t>
            </a:r>
          </a:p>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centros 20 y 80.</a:t>
            </a:r>
          </a:p>
          <a:p xmlns:a="http://schemas.openxmlformats.org/drawingml/2006/main">
            <a:r>
              <a:t/>
            </a:r>
          </a:p>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Centroide = 50 %.</a:t>
            </a:r>
          </a:p>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Pero μ(50) = 0.</a:t>
            </a:r>
          </a:p>
        </p:txBody>
      </p:sp>
      <p:sp>
        <p:nvSpPr>
          <p:cNvPr id="11" name="">
            <a:extLst xmlns:a="http://schemas.openxmlformats.org/drawingml/2006/main">
              <a:ext uri="{FF2B5EF4-FFF2-40B4-BE49-F238E27FC236}">
                <a16:creationId xmlns:a16="http://schemas.microsoft.com/office/drawing/2014/main" id="{84631F79-7C14-4750-BB4F-8021F3708818}"/>
              </a:ext>
            </a:extLst>
          </p:cNvPr>
          <p:cNvSpPr>
            <a:spLocks xmlns:a="http://schemas.openxmlformats.org/drawingml/2006/main" noGrp="1"/>
          </p:cNvSpPr>
          <p:nvPr/>
        </p:nvSpPr>
        <p:spPr>
          <a:xfrm xmlns:a="http://schemas.openxmlformats.org/drawingml/2006/main">
            <a:off x="7620000" y="4657725"/>
            <a:ext cx="381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Es central, pero tiene</a:t>
            </a:r>
          </a:p>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pertenencia nula.</a:t>
            </a:r>
          </a:p>
        </p:txBody>
      </p:sp>
      <p:sp>
        <p:nvSpPr>
          <p:cNvPr id="12" name="">
            <a:extLst xmlns:a="http://schemas.openxmlformats.org/drawingml/2006/main">
              <a:ext uri="{FF2B5EF4-FFF2-40B4-BE49-F238E27FC236}">
                <a16:creationId xmlns:a16="http://schemas.microsoft.com/office/drawing/2014/main" id="{52B565A1-2873-4558-BE98-CFEFE5D456DD}"/>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Un compromiso puede servir para potencia continua. Si esa acción no es admisible, hay que cambiar el diseño.</a:t>
            </a:r>
          </a:p>
        </p:txBody>
      </p:sp>
      <p:sp>
        <p:nvSpPr>
          <p:cNvPr id="16" name="">
            <a:extLst xmlns:a="http://schemas.openxmlformats.org/drawingml/2006/main">
              <a:ext uri="{FF2B5EF4-FFF2-40B4-BE49-F238E27FC236}">
                <a16:creationId xmlns:a16="http://schemas.microsoft.com/office/drawing/2014/main" id="{E54F6A37-4AAA-4232-B824-AFCBE26D1CF7}"/>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941FDC6-FCB8-49A0-B7B0-37A78A4D00B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Weighting: qué hace pesar más a una propuesta</a:t>
            </a:r>
          </a:p>
        </p:txBody>
      </p:sp>
      <p:graphicFrame>
        <p:nvGraphicFramePr>
          <p:cNvPr id="25" name="Chart"/>
          <p:cNvGraphicFramePr/>
          <p:nvPr/>
        </p:nvGraphicFramePr>
        <p:xfrm>
          <a:off xmlns:a="http://schemas.openxmlformats.org/drawingml/2006/main" x="762000" y="2352675"/>
          <a:ext xmlns:a="http://schemas.openxmlformats.org/drawingml/2006/main" cx="6286500" cy="3086100"/>
        </p:xfrm>
        <a:graphic xmlns:a="http://schemas.openxmlformats.org/drawingml/2006/main">
          <a:graphicData uri="http://schemas.openxmlformats.org/drawingml/2006/chart">
            <c:chart xmlns:r="http://schemas.openxmlformats.org/officeDocument/2006/relationships" xmlns:c="http://schemas.openxmlformats.org/drawingml/2006/chart" r:id="Rb09f5169caf04db2"/>
          </a:graphicData>
        </a:graphic>
      </p:graphicFrame>
      <p:sp>
        <p:nvSpPr>
          <p:cNvPr id="10" name="">
            <a:extLst xmlns:a="http://schemas.openxmlformats.org/drawingml/2006/main">
              <a:ext uri="{FF2B5EF4-FFF2-40B4-BE49-F238E27FC236}">
                <a16:creationId xmlns:a16="http://schemas.microsoft.com/office/drawing/2014/main" id="{A385A307-0DDE-41FC-9861-4F2176C4031D}"/>
              </a:ext>
            </a:extLst>
          </p:cNvPr>
          <p:cNvSpPr>
            <a:spLocks xmlns:a="http://schemas.openxmlformats.org/drawingml/2006/main" noGrp="1"/>
          </p:cNvSpPr>
          <p:nvPr/>
        </p:nvSpPr>
        <p:spPr>
          <a:xfrm xmlns:a="http://schemas.openxmlformats.org/drawingml/2006/main">
            <a:off x="7620000" y="1724025"/>
            <a:ext cx="3810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Igual altura: 0,8</a:t>
            </a:r>
          </a:p>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Centros: 20 y 70</a:t>
            </a:r>
          </a:p>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Áreas: 8 y 24</a:t>
            </a:r>
          </a:p>
        </p:txBody>
      </p:sp>
      <p:sp>
        <p:nvSpPr>
          <p:cNvPr id="11" name="">
            <a:extLst xmlns:a="http://schemas.openxmlformats.org/drawingml/2006/main">
              <a:ext uri="{FF2B5EF4-FFF2-40B4-BE49-F238E27FC236}">
                <a16:creationId xmlns:a16="http://schemas.microsoft.com/office/drawing/2014/main" id="{90684242-45D7-49A6-A872-BFC85F5BEF36}"/>
              </a:ext>
            </a:extLst>
          </p:cNvPr>
          <p:cNvSpPr>
            <a:spLocks xmlns:a="http://schemas.openxmlformats.org/drawingml/2006/main" noGrp="1"/>
          </p:cNvSpPr>
          <p:nvPr/>
        </p:nvSpPr>
        <p:spPr>
          <a:xfrm xmlns:a="http://schemas.openxmlformats.org/drawingml/2006/main">
            <a:off x="7620000" y="3257550"/>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Pesos = alturas</a:t>
            </a:r>
          </a:p>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(0,8·20 + 0,8·70) / 1,6</a:t>
            </a:r>
          </a:p>
          <a:p xmlns:a="http://schemas.openxmlformats.org/drawingml/2006/main">
            <a:pPr>
              <a:buNone/>
              <a:defRPr sz="2100" b="1">
                <a:solidFill>
                  <a:srgbClr val="2162A0"/>
                </a:solidFill>
                <a:latin typeface="Arial"/>
                <a:ea typeface="Arial"/>
                <a:cs typeface="Arial"/>
              </a:defRPr>
            </a:pPr>
            <a:r>
              <a:rPr sz="2100" b="1">
                <a:solidFill>
                  <a:srgbClr val="2162A0"/>
                </a:solidFill>
                <a:latin typeface="Arial"/>
                <a:ea typeface="Arial"/>
                <a:cs typeface="Arial"/>
              </a:rPr>
              <a:t>= 45 %</a:t>
            </a:r>
          </a:p>
        </p:txBody>
      </p:sp>
      <p:sp>
        <p:nvSpPr>
          <p:cNvPr id="12" name="">
            <a:extLst xmlns:a="http://schemas.openxmlformats.org/drawingml/2006/main">
              <a:ext uri="{FF2B5EF4-FFF2-40B4-BE49-F238E27FC236}">
                <a16:creationId xmlns:a16="http://schemas.microsoft.com/office/drawing/2014/main" id="{CB4F6AD4-333C-49DF-B3A6-FB9E9EA0294A}"/>
              </a:ext>
            </a:extLst>
          </p:cNvPr>
          <p:cNvSpPr>
            <a:spLocks xmlns:a="http://schemas.openxmlformats.org/drawingml/2006/main" noGrp="1"/>
          </p:cNvSpPr>
          <p:nvPr/>
        </p:nvSpPr>
        <p:spPr>
          <a:xfrm xmlns:a="http://schemas.openxmlformats.org/drawingml/2006/main">
            <a:off x="7620000" y="4619625"/>
            <a:ext cx="3810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Pesos = áreas</a:t>
            </a:r>
          </a:p>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(8·20 + 24·70) / 32</a:t>
            </a:r>
          </a:p>
          <a:p xmlns:a="http://schemas.openxmlformats.org/drawingml/2006/main">
            <a:pPr>
              <a:buNone/>
              <a:defRPr sz="2100" b="1">
                <a:solidFill>
                  <a:srgbClr val="D96B18"/>
                </a:solidFill>
                <a:latin typeface="Arial"/>
                <a:ea typeface="Arial"/>
                <a:cs typeface="Arial"/>
              </a:defRPr>
            </a:pPr>
            <a:r>
              <a:rPr sz="2100" b="1">
                <a:solidFill>
                  <a:srgbClr val="D96B18"/>
                </a:solidFill>
                <a:latin typeface="Arial"/>
                <a:ea typeface="Arial"/>
                <a:cs typeface="Arial"/>
              </a:rPr>
              <a:t>= 57,5 %</a:t>
            </a:r>
          </a:p>
        </p:txBody>
      </p:sp>
      <p:sp>
        <p:nvSpPr>
          <p:cNvPr id="13" name="">
            <a:extLst xmlns:a="http://schemas.openxmlformats.org/drawingml/2006/main">
              <a:ext uri="{FF2B5EF4-FFF2-40B4-BE49-F238E27FC236}">
                <a16:creationId xmlns:a16="http://schemas.microsoft.com/office/drawing/2014/main" id="{F9B4C417-221C-4462-B266-2ABB761C22E5}"/>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propuesta ancha pesa más por su área. Debemos decidir si esa anchura debe influir en la acción.</a:t>
            </a:r>
          </a:p>
        </p:txBody>
      </p:sp>
      <p:sp>
        <p:nvSpPr>
          <p:cNvPr id="17" name="">
            <a:extLst xmlns:a="http://schemas.openxmlformats.org/drawingml/2006/main">
              <a:ext uri="{FF2B5EF4-FFF2-40B4-BE49-F238E27FC236}">
                <a16:creationId xmlns:a16="http://schemas.microsoft.com/office/drawing/2014/main" id="{201D07F4-8D6E-4286-90DC-7A3054C21910}"/>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C0A9793-6800-4E7A-BA1D-2DF71834ACE8}"/>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39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Elección del método de salida</a:t>
            </a:r>
          </a:p>
        </p:txBody>
      </p:sp>
      <p:sp>
        <p:nvSpPr>
          <p:cNvPr id="9" name="">
            <a:extLst xmlns:a="http://schemas.openxmlformats.org/drawingml/2006/main">
              <a:ext uri="{FF2B5EF4-FFF2-40B4-BE49-F238E27FC236}">
                <a16:creationId xmlns:a16="http://schemas.microsoft.com/office/drawing/2014/main" id="{50118DC3-7851-46EB-9F9E-D6B8160802DA}"/>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8630431-A1F7-43DA-8CB2-7067B82E023C}"/>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
        <p:nvSpPr>
          <p:cNvPr id="11" name="">
            <a:extLst xmlns:a="http://schemas.openxmlformats.org/drawingml/2006/main">
              <a:ext uri="{FF2B5EF4-FFF2-40B4-BE49-F238E27FC236}">
                <a16:creationId xmlns:a16="http://schemas.microsoft.com/office/drawing/2014/main" id="{ED1C8686-A256-40A6-A864-27711BDAA1E1}"/>
              </a:ext>
            </a:extLst>
          </p:cNvPr>
          <p:cNvSpPr>
            <a:spLocks xmlns:a="http://schemas.openxmlformats.org/drawingml/2006/main" noGrp="1"/>
          </p:cNvSpPr>
          <p:nvPr/>
        </p:nvSpPr>
        <p:spPr>
          <a:xfrm xmlns:a="http://schemas.openxmlformats.org/drawingml/2006/main">
            <a:off x="762000" y="1676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87F79"/>
                </a:solidFill>
                <a:latin typeface="Arial"/>
                <a:ea typeface="Arial"/>
                <a:cs typeface="Arial"/>
              </a:defRPr>
            </a:pPr>
            <a:r>
              <a:rPr sz="2250" b="1">
                <a:solidFill>
                  <a:srgbClr val="087F79"/>
                </a:solidFill>
                <a:latin typeface="Arial"/>
                <a:ea typeface="Arial"/>
                <a:cs typeface="Arial"/>
              </a:rPr>
              <a:t>Si la salida es un conjunto fuzzy</a:t>
            </a:r>
          </a:p>
        </p:txBody>
      </p:sp>
      <p:sp>
        <p:nvSpPr>
          <p:cNvPr id="12" name="">
            <a:extLst xmlns:a="http://schemas.openxmlformats.org/drawingml/2006/main">
              <a:ext uri="{FF2B5EF4-FFF2-40B4-BE49-F238E27FC236}">
                <a16:creationId xmlns:a16="http://schemas.microsoft.com/office/drawing/2014/main" id="{A05A6673-F146-4D65-93ED-59015AA6D7C4}"/>
              </a:ext>
            </a:extLst>
          </p:cNvPr>
          <p:cNvSpPr>
            <a:spLocks xmlns:a="http://schemas.openxmlformats.org/drawingml/2006/main" noGrp="1"/>
          </p:cNvSpPr>
          <p:nvPr/>
        </p:nvSpPr>
        <p:spPr>
          <a:xfrm xmlns:a="http://schemas.openxmlformats.org/drawingml/2006/main">
            <a:off x="762000" y="2114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El centroide utiliza toda la curva y da un escalar si el área es positiva.</a:t>
            </a:r>
          </a:p>
        </p:txBody>
      </p:sp>
      <p:sp>
        <p:nvSpPr>
          <p:cNvPr id="13" name="">
            <a:extLst xmlns:a="http://schemas.openxmlformats.org/drawingml/2006/main">
              <a:ext uri="{FF2B5EF4-FFF2-40B4-BE49-F238E27FC236}">
                <a16:creationId xmlns:a16="http://schemas.microsoft.com/office/drawing/2014/main" id="{4F576C34-0A19-4971-86E0-A27B9D323860}"/>
              </a:ext>
            </a:extLst>
          </p:cNvPr>
          <p:cNvSpPr>
            <a:spLocks xmlns:a="http://schemas.openxmlformats.org/drawingml/2006/main" noGrp="1"/>
          </p:cNvSpPr>
          <p:nvPr/>
        </p:nvSpPr>
        <p:spPr>
          <a:xfrm xmlns:a="http://schemas.openxmlformats.org/drawingml/2006/main">
            <a:off x="762000" y="2933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87F79"/>
                </a:solidFill>
                <a:latin typeface="Arial"/>
                <a:ea typeface="Arial"/>
                <a:cs typeface="Arial"/>
              </a:defRPr>
            </a:pPr>
            <a:r>
              <a:rPr sz="2250" b="1">
                <a:solidFill>
                  <a:srgbClr val="087F79"/>
                </a:solidFill>
                <a:latin typeface="Arial"/>
                <a:ea typeface="Arial"/>
                <a:cs typeface="Arial"/>
              </a:rPr>
              <a:t>Comprobar la plausibilidad</a:t>
            </a:r>
          </a:p>
        </p:txBody>
      </p:sp>
      <p:sp>
        <p:nvSpPr>
          <p:cNvPr id="14" name="">
            <a:extLst xmlns:a="http://schemas.openxmlformats.org/drawingml/2006/main">
              <a:ext uri="{FF2B5EF4-FFF2-40B4-BE49-F238E27FC236}">
                <a16:creationId xmlns:a16="http://schemas.microsoft.com/office/drawing/2014/main" id="{4DFB2F49-38A7-43D7-99FD-D5439DE1642B}"/>
              </a:ext>
            </a:extLst>
          </p:cNvPr>
          <p:cNvSpPr>
            <a:spLocks xmlns:a="http://schemas.openxmlformats.org/drawingml/2006/main" noGrp="1"/>
          </p:cNvSpPr>
          <p:nvPr/>
        </p:nvSpPr>
        <p:spPr>
          <a:xfrm xmlns:a="http://schemas.openxmlformats.org/drawingml/2006/main">
            <a:off x="7620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Puede caer entre dos propuestas, incluso donde la pertenencia es cero.</a:t>
            </a:r>
          </a:p>
        </p:txBody>
      </p:sp>
      <p:sp>
        <p:nvSpPr>
          <p:cNvPr id="15" name="">
            <a:extLst xmlns:a="http://schemas.openxmlformats.org/drawingml/2006/main">
              <a:ext uri="{FF2B5EF4-FFF2-40B4-BE49-F238E27FC236}">
                <a16:creationId xmlns:a16="http://schemas.microsoft.com/office/drawing/2014/main" id="{4A7527DF-C10E-413F-982C-8E0668BE10D5}"/>
              </a:ext>
            </a:extLst>
          </p:cNvPr>
          <p:cNvSpPr>
            <a:spLocks xmlns:a="http://schemas.openxmlformats.org/drawingml/2006/main" noGrp="1"/>
          </p:cNvSpPr>
          <p:nvPr/>
        </p:nvSpPr>
        <p:spPr>
          <a:xfrm xmlns:a="http://schemas.openxmlformats.org/drawingml/2006/main">
            <a:off x="762000" y="4191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087F79"/>
                </a:solidFill>
                <a:latin typeface="Arial"/>
                <a:ea typeface="Arial"/>
                <a:cs typeface="Arial"/>
              </a:defRPr>
            </a:pPr>
            <a:r>
              <a:rPr sz="2250" b="1">
                <a:solidFill>
                  <a:srgbClr val="087F79"/>
                </a:solidFill>
                <a:latin typeface="Arial"/>
                <a:ea typeface="Arial"/>
                <a:cs typeface="Arial"/>
              </a:rPr>
              <a:t>Si las propuestas ya son números</a:t>
            </a:r>
          </a:p>
        </p:txBody>
      </p:sp>
      <p:sp>
        <p:nvSpPr>
          <p:cNvPr id="16" name="">
            <a:extLst xmlns:a="http://schemas.openxmlformats.org/drawingml/2006/main">
              <a:ext uri="{FF2B5EF4-FFF2-40B4-BE49-F238E27FC236}">
                <a16:creationId xmlns:a16="http://schemas.microsoft.com/office/drawing/2014/main" id="{40C5A91C-41F0-4901-BFB7-2474908DAB2E}"/>
              </a:ext>
            </a:extLst>
          </p:cNvPr>
          <p:cNvSpPr>
            <a:spLocks xmlns:a="http://schemas.openxmlformats.org/drawingml/2006/main" noGrp="1"/>
          </p:cNvSpPr>
          <p:nvPr/>
        </p:nvSpPr>
        <p:spPr>
          <a:xfrm xmlns:a="http://schemas.openxmlformats.org/drawingml/2006/main">
            <a:off x="762000" y="46291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Una media ponderada facilita el cálculo. Lo retomaremos al explicar Sugeno.</a:t>
            </a:r>
          </a:p>
        </p:txBody>
      </p:sp>
      <p:sp>
        <p:nvSpPr>
          <p:cNvPr id="17" name="">
            <a:extLst xmlns:a="http://schemas.openxmlformats.org/drawingml/2006/main">
              <a:ext uri="{FF2B5EF4-FFF2-40B4-BE49-F238E27FC236}">
                <a16:creationId xmlns:a16="http://schemas.microsoft.com/office/drawing/2014/main" id="{4D3441CA-B9C3-48F7-BF8C-F44CC00041C9}"/>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 elección depende del significado de la salida, del coste y de cómo debe variar la decisión.</a:t>
            </a:r>
          </a:p>
        </p:txBody>
      </p:sp>
    </p:spTree>
    <p:extLst>
      <p:ext uri="{BB962C8B-B14F-4D97-AF65-F5344CB8AC3E}">
        <p14:creationId xmlns:p14="http://schemas.microsoft.com/office/powerpoint/2010/main" val="172189652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087F79"/>
                </a:solidFill>
                <a:latin typeface="Arial"/>
                <a:ea typeface="Arial"/>
                <a:cs typeface="Arial"/>
              </a:defRPr>
            </a:pPr>
            <a:r>
              <a:rPr sz="3000" b="0">
                <a:solidFill>
                  <a:srgbClr val="087F79"/>
                </a:solidFill>
                <a:latin typeface="Arial"/>
                <a:ea typeface="Arial"/>
                <a:cs typeface="Arial"/>
              </a:rPr>
              <a:t>Ampliación opcional: bisector del área</a:t>
            </a:r>
          </a:p>
        </p:txBody>
      </p:sp>
      <p:graphicFrame>
        <p:nvGraphicFramePr>
          <p:cNvPr id="23" name="Chart"/>
          <p:cNvGraphicFramePr/>
          <p:nvPr/>
        </p:nvGraphicFramePr>
        <p:xfrm>
          <a:off xmlns:a="http://schemas.openxmlformats.org/drawingml/2006/main" x="685800" y="2305050"/>
          <a:ext xmlns:a="http://schemas.openxmlformats.org/drawingml/2006/main" cx="6524625" cy="3295650"/>
        </p:xfrm>
        <a:graphic xmlns:a="http://schemas.openxmlformats.org/drawingml/2006/main">
          <a:graphicData uri="http://schemas.openxmlformats.org/drawingml/2006/chart">
            <c:chart xmlns:r="http://schemas.openxmlformats.org/officeDocument/2006/relationships" xmlns:c="http://schemas.openxmlformats.org/drawingml/2006/chart" r:id="Rc967b84d23824be9"/>
          </a:graphicData>
        </a:graphic>
      </p:graphicFrame>
      <p:sp>
        <p:nvSpPr>
          <p:cNvPr id="10" name="">
            <a:extLst xmlns:a="http://schemas.openxmlformats.org/drawingml/2006/main">
              <a:ext uri="{FF2B5EF4-FFF2-40B4-BE49-F238E27FC236}">
                <a16:creationId xmlns:a16="http://schemas.microsoft.com/office/drawing/2014/main" id="{6E17207D-6C1D-4DDB-82AB-B14422AB526F}"/>
              </a:ext>
            </a:extLst>
          </p:cNvPr>
          <p:cNvSpPr>
            <a:spLocks xmlns:a="http://schemas.openxmlformats.org/drawingml/2006/main" noGrp="1"/>
          </p:cNvSpPr>
          <p:nvPr/>
        </p:nvSpPr>
        <p:spPr>
          <a:xfrm xmlns:a="http://schemas.openxmlformats.org/drawingml/2006/main">
            <a:off x="7667625" y="2085975"/>
            <a:ext cx="3714750" cy="3343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Divide el área total</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en dos mitades.</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Área total: 33,75.</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Cada mitad: 16,875.</a:t>
            </a:r>
          </a:p>
          <a:p xmlns:a="http://schemas.openxmlformats.org/drawingml/2006/main">
            <a:r>
              <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u* ≈ 35,64 %</a:t>
            </a:r>
          </a:p>
        </p:txBody>
      </p:sp>
      <p:sp>
        <p:nvSpPr>
          <p:cNvPr id="11" name="">
            <a:extLst xmlns:a="http://schemas.openxmlformats.org/drawingml/2006/main">
              <a:ext uri="{FF2B5EF4-FFF2-40B4-BE49-F238E27FC236}">
                <a16:creationId xmlns:a16="http://schemas.microsoft.com/office/drawing/2014/main" id="{14D7CE6B-982D-42BF-B7F4-709D306F21C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Es otro criterio. No pertenece a la lista de siete que acabamos de recorrer.</a:t>
            </a:r>
          </a:p>
        </p:txBody>
      </p:sp>
      <p:sp>
        <p:nvSpPr>
          <p:cNvPr id="15" name="">
            <a:extLst xmlns:a="http://schemas.openxmlformats.org/drawingml/2006/main">
              <a:ext uri="{FF2B5EF4-FFF2-40B4-BE49-F238E27FC236}">
                <a16:creationId xmlns:a16="http://schemas.microsoft.com/office/drawing/2014/main" id="{84AD8E63-5B6F-431D-A7EB-B688CF9216C4}"/>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087F7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E836FEA-2EA9-40C8-848E-CFC106C9DBE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087F79"/>
                </a:solidFill>
                <a:latin typeface="Arial"/>
                <a:ea typeface="Arial"/>
                <a:cs typeface="Arial"/>
              </a:defRPr>
            </a:pPr>
            <a:r>
              <a:rPr sz="1350" b="1">
                <a:solidFill>
                  <a:srgbClr val="087F79"/>
                </a:solidFill>
                <a:latin typeface="Arial"/>
                <a:ea typeface="Arial"/>
                <a:cs typeface="Arial"/>
              </a:rPr>
              <a:t>02  FUZZIFICACIÓN Y DESDIFUSIFICACIÓN    /    Capítulo 4 · representar y obtener un escalar</a:t>
            </a:r>
          </a:p>
        </p:txBody>
      </p:sp>
    </p:spTree>
    <p:extLst>
      <p:ext uri="{BB962C8B-B14F-4D97-AF65-F5344CB8AC3E}">
        <p14:creationId xmlns:p14="http://schemas.microsoft.com/office/powerpoint/2010/main" val="172189652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Una regla conecta entradas con una acción</a:t>
            </a:r>
          </a:p>
        </p:txBody>
      </p:sp>
      <p:sp>
        <p:nvSpPr>
          <p:cNvPr id="9" name="">
            <a:extLst xmlns:a="http://schemas.openxmlformats.org/drawingml/2006/main">
              <a:ext uri="{FF2B5EF4-FFF2-40B4-BE49-F238E27FC236}">
                <a16:creationId xmlns:a16="http://schemas.microsoft.com/office/drawing/2014/main" id="{9D58FF58-E251-4C9A-BA5E-4361FB7F6805}"/>
              </a:ext>
            </a:extLst>
          </p:cNvPr>
          <p:cNvSpPr>
            <a:spLocks xmlns:a="http://schemas.openxmlformats.org/drawingml/2006/main" noGrp="1"/>
          </p:cNvSpPr>
          <p:nvPr/>
        </p:nvSpPr>
        <p:spPr>
          <a:xfrm xmlns:a="http://schemas.openxmlformats.org/drawingml/2006/main">
            <a:off x="762000" y="14954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1">
                <a:solidFill>
                  <a:srgbClr val="8655A2"/>
                </a:solidFill>
                <a:latin typeface="Arial"/>
                <a:ea typeface="Arial"/>
                <a:cs typeface="Arial"/>
              </a:defRPr>
            </a:pPr>
            <a:r>
              <a:rPr sz="1725" b="1">
                <a:solidFill>
                  <a:srgbClr val="8655A2"/>
                </a:solidFill>
                <a:latin typeface="Arial"/>
                <a:ea typeface="Arial"/>
                <a:cs typeface="Arial"/>
              </a:rPr>
              <a:t>DENTRO DEL CONTROLADOR: BASE DE REGLAS</a:t>
            </a:r>
          </a:p>
        </p:txBody>
      </p:sp>
      <p:sp>
        <p:nvSpPr>
          <p:cNvPr id="10" name="">
            <a:extLst xmlns:a="http://schemas.openxmlformats.org/drawingml/2006/main">
              <a:ext uri="{FF2B5EF4-FFF2-40B4-BE49-F238E27FC236}">
                <a16:creationId xmlns:a16="http://schemas.microsoft.com/office/drawing/2014/main" id="{7BDCE042-8C5C-4BD0-AA4F-1308676CE9E5}"/>
              </a:ext>
            </a:extLst>
          </p:cNvPr>
          <p:cNvSpPr>
            <a:spLocks xmlns:a="http://schemas.openxmlformats.org/drawingml/2006/main" noGrp="1"/>
          </p:cNvSpPr>
          <p:nvPr/>
        </p:nvSpPr>
        <p:spPr>
          <a:xfrm xmlns:a="http://schemas.openxmlformats.org/drawingml/2006/main">
            <a:off x="762000" y="2181225"/>
            <a:ext cx="647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2162A0"/>
                </a:solidFill>
                <a:latin typeface="Arial"/>
                <a:ea typeface="Arial"/>
                <a:cs typeface="Arial"/>
              </a:defRPr>
            </a:pPr>
            <a:r>
              <a:rPr sz="2700" b="1">
                <a:solidFill>
                  <a:srgbClr val="2162A0"/>
                </a:solidFill>
                <a:latin typeface="Arial"/>
                <a:ea typeface="Arial"/>
                <a:cs typeface="Arial"/>
              </a:rPr>
              <a:t>SI el error es Positivo</a:t>
            </a:r>
          </a:p>
        </p:txBody>
      </p:sp>
      <p:sp>
        <p:nvSpPr>
          <p:cNvPr id="11" name="">
            <a:extLst xmlns:a="http://schemas.openxmlformats.org/drawingml/2006/main">
              <a:ext uri="{FF2B5EF4-FFF2-40B4-BE49-F238E27FC236}">
                <a16:creationId xmlns:a16="http://schemas.microsoft.com/office/drawing/2014/main" id="{9E4E910C-87DD-47DF-A59F-A17532E97789}"/>
              </a:ext>
            </a:extLst>
          </p:cNvPr>
          <p:cNvSpPr>
            <a:spLocks xmlns:a="http://schemas.openxmlformats.org/drawingml/2006/main" noGrp="1"/>
          </p:cNvSpPr>
          <p:nvPr/>
        </p:nvSpPr>
        <p:spPr>
          <a:xfrm xmlns:a="http://schemas.openxmlformats.org/drawingml/2006/main">
            <a:off x="762000" y="2838450"/>
            <a:ext cx="647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2162A0"/>
                </a:solidFill>
                <a:latin typeface="Arial"/>
                <a:ea typeface="Arial"/>
                <a:cs typeface="Arial"/>
              </a:defRPr>
            </a:pPr>
            <a:r>
              <a:rPr sz="2700" b="1">
                <a:solidFill>
                  <a:srgbClr val="2162A0"/>
                </a:solidFill>
                <a:latin typeface="Arial"/>
                <a:ea typeface="Arial"/>
                <a:cs typeface="Arial"/>
              </a:rPr>
              <a:t>Y el error está Creciendo</a:t>
            </a:r>
          </a:p>
        </p:txBody>
      </p:sp>
      <p:sp>
        <p:nvSpPr>
          <p:cNvPr id="12" name="">
            <a:extLst xmlns:a="http://schemas.openxmlformats.org/drawingml/2006/main">
              <a:ext uri="{FF2B5EF4-FFF2-40B4-BE49-F238E27FC236}">
                <a16:creationId xmlns:a16="http://schemas.microsoft.com/office/drawing/2014/main" id="{F13A33FB-3BA0-4F5B-8779-0C693E1D0698}"/>
              </a:ext>
            </a:extLst>
          </p:cNvPr>
          <p:cNvSpPr>
            <a:spLocks xmlns:a="http://schemas.openxmlformats.org/drawingml/2006/main" noGrp="1"/>
          </p:cNvSpPr>
          <p:nvPr/>
        </p:nvSpPr>
        <p:spPr>
          <a:xfrm xmlns:a="http://schemas.openxmlformats.org/drawingml/2006/main">
            <a:off x="762000" y="38766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850" b="1">
                <a:solidFill>
                  <a:srgbClr val="087F79"/>
                </a:solidFill>
                <a:latin typeface="Arial"/>
                <a:ea typeface="Arial"/>
                <a:cs typeface="Arial"/>
              </a:defRPr>
            </a:pPr>
            <a:r>
              <a:rPr sz="2850" b="1">
                <a:solidFill>
                  <a:srgbClr val="087F79"/>
                </a:solidFill>
                <a:latin typeface="Arial"/>
                <a:ea typeface="Arial"/>
                <a:cs typeface="Arial"/>
              </a:rPr>
              <a:t>ENTONCES la potencia es Alta</a:t>
            </a:r>
          </a:p>
        </p:txBody>
      </p:sp>
      <p:sp>
        <p:nvSpPr>
          <p:cNvPr id="13" name="">
            <a:extLst xmlns:a="http://schemas.openxmlformats.org/drawingml/2006/main">
              <a:ext uri="{FF2B5EF4-FFF2-40B4-BE49-F238E27FC236}">
                <a16:creationId xmlns:a16="http://schemas.microsoft.com/office/drawing/2014/main" id="{2F02E323-BF5E-4775-87AE-E1BCFED21C00}"/>
              </a:ext>
            </a:extLst>
          </p:cNvPr>
          <p:cNvSpPr>
            <a:spLocks xmlns:a="http://schemas.openxmlformats.org/drawingml/2006/main" noGrp="1"/>
          </p:cNvSpPr>
          <p:nvPr/>
        </p:nvSpPr>
        <p:spPr>
          <a:xfrm xmlns:a="http://schemas.openxmlformats.org/drawingml/2006/main">
            <a:off x="7858125" y="2324100"/>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162A0"/>
                </a:solidFill>
                <a:latin typeface="Arial"/>
                <a:ea typeface="Arial"/>
                <a:cs typeface="Arial"/>
              </a:defRPr>
            </a:pPr>
            <a:r>
              <a:rPr sz="2175" b="0">
                <a:solidFill>
                  <a:srgbClr val="2162A0"/>
                </a:solidFill>
                <a:latin typeface="Arial"/>
                <a:ea typeface="Arial"/>
                <a:cs typeface="Arial"/>
              </a:rPr>
              <a:t>Antecedente</a:t>
            </a:r>
          </a:p>
          <a:p xmlns:a="http://schemas.openxmlformats.org/drawingml/2006/main">
            <a:pPr>
              <a:buNone/>
              <a:defRPr sz="2175" b="0">
                <a:solidFill>
                  <a:srgbClr val="2162A0"/>
                </a:solidFill>
                <a:latin typeface="Arial"/>
                <a:ea typeface="Arial"/>
                <a:cs typeface="Arial"/>
              </a:defRPr>
            </a:pPr>
            <a:r>
              <a:rPr sz="2175" b="0">
                <a:solidFill>
                  <a:srgbClr val="2162A0"/>
                </a:solidFill>
                <a:latin typeface="Arial"/>
                <a:ea typeface="Arial"/>
                <a:cs typeface="Arial"/>
              </a:rPr>
              <a:t>Describe las entradas.</a:t>
            </a:r>
          </a:p>
        </p:txBody>
      </p:sp>
      <p:sp>
        <p:nvSpPr>
          <p:cNvPr id="14" name="">
            <a:extLst xmlns:a="http://schemas.openxmlformats.org/drawingml/2006/main">
              <a:ext uri="{FF2B5EF4-FFF2-40B4-BE49-F238E27FC236}">
                <a16:creationId xmlns:a16="http://schemas.microsoft.com/office/drawing/2014/main" id="{86CB3EB1-1E7D-4624-90D5-D0780DB454C0}"/>
              </a:ext>
            </a:extLst>
          </p:cNvPr>
          <p:cNvSpPr>
            <a:spLocks xmlns:a="http://schemas.openxmlformats.org/drawingml/2006/main" noGrp="1"/>
          </p:cNvSpPr>
          <p:nvPr/>
        </p:nvSpPr>
        <p:spPr>
          <a:xfrm xmlns:a="http://schemas.openxmlformats.org/drawingml/2006/main">
            <a:off x="7858125" y="46386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087F79"/>
                </a:solidFill>
                <a:latin typeface="Arial"/>
                <a:ea typeface="Arial"/>
                <a:cs typeface="Arial"/>
              </a:defRPr>
            </a:pPr>
            <a:r>
              <a:rPr sz="2175" b="0">
                <a:solidFill>
                  <a:srgbClr val="087F79"/>
                </a:solidFill>
                <a:latin typeface="Arial"/>
                <a:ea typeface="Arial"/>
                <a:cs typeface="Arial"/>
              </a:rPr>
              <a:t>Consecuente</a:t>
            </a:r>
          </a:p>
          <a:p xmlns:a="http://schemas.openxmlformats.org/drawingml/2006/main">
            <a:pPr>
              <a:buNone/>
              <a:defRPr sz="2175" b="0">
                <a:solidFill>
                  <a:srgbClr val="087F79"/>
                </a:solidFill>
                <a:latin typeface="Arial"/>
                <a:ea typeface="Arial"/>
                <a:cs typeface="Arial"/>
              </a:defRPr>
            </a:pPr>
            <a:r>
              <a:rPr sz="2175" b="0">
                <a:solidFill>
                  <a:srgbClr val="087F79"/>
                </a:solidFill>
                <a:latin typeface="Arial"/>
                <a:ea typeface="Arial"/>
                <a:cs typeface="Arial"/>
              </a:rPr>
              <a:t>Propone una salida.</a:t>
            </a:r>
          </a:p>
        </p:txBody>
      </p:sp>
      <p:sp>
        <p:nvSpPr>
          <p:cNvPr id="15" name="">
            <a:extLst xmlns:a="http://schemas.openxmlformats.org/drawingml/2006/main">
              <a:ext uri="{FF2B5EF4-FFF2-40B4-BE49-F238E27FC236}">
                <a16:creationId xmlns:a16="http://schemas.microsoft.com/office/drawing/2014/main" id="{95256057-5998-4D27-8146-E7560E84D492}"/>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regla se guarda al diseñar. Su grado de activación se calcula con cada nueva medida.</a:t>
            </a:r>
          </a:p>
        </p:txBody>
      </p:sp>
      <p:sp>
        <p:nvSpPr>
          <p:cNvPr id="16" name="">
            <a:extLst xmlns:a="http://schemas.openxmlformats.org/drawingml/2006/main">
              <a:ext uri="{FF2B5EF4-FFF2-40B4-BE49-F238E27FC236}">
                <a16:creationId xmlns:a16="http://schemas.microsoft.com/office/drawing/2014/main" id="{8A018755-E7A7-4A58-832E-F22CFF628CE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B137C95-0E58-4801-BD32-757D2AA3887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Operadores para combinar condiciones</a:t>
            </a:r>
          </a:p>
        </p:txBody>
      </p:sp>
      <p:graphicFrame>
        <p:nvGraphicFramePr>
          <p:cNvPr id="23" name=""/>
          <p:cNvGraphicFramePr/>
          <p:nvPr/>
        </p:nvGraphicFramePr>
        <p:xfrm>
          <a:off xmlns:a="http://schemas.openxmlformats.org/drawingml/2006/main" x="762000" y="2009775"/>
          <a:ext xmlns:a="http://schemas.openxmlformats.org/drawingml/2006/main" cx="10668000" cy="2876550"/>
        </p:xfrm>
        <a:graphic xmlns:a="http://schemas.openxmlformats.org/drawingml/2006/main">
          <a:graphicData uri="http://schemas.openxmlformats.org/drawingml/2006/table">
            <a:tbl>
              <a:tblPr/>
              <a:tblGrid>
                <a:gridCol w="3556000"/>
                <a:gridCol w="3556000"/>
                <a:gridCol w="3556000"/>
              </a:tblGrid>
              <a:tr h="719138">
                <a:tc>
                  <a:txBody>
                    <a:bodyPr lIns="85725" tIns="76200" rIns="85725" bIns="76200"/>
                    <a:lstStyle/>
                    <a:p>
                      <a:pPr algn="ctr">
                        <a:buNone/>
                      </a:pPr>
                      <a:r>
                        <a:rPr sz="2100" b="1">
                          <a:solidFill>
                            <a:srgbClr val="2162A0"/>
                          </a:solidFill>
                          <a:latin typeface="Arial"/>
                          <a:ea typeface="Arial"/>
                          <a:cs typeface="Arial"/>
                        </a:rPr>
                        <a:t>Expresión</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Operación estándar</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Ejemplo</a:t>
                      </a:r>
                    </a:p>
                  </a:txBody>
                  <a:tcPr marL="91440" marR="91440" marT="45720" marB="45720" anchor="ctr">
                    <a:solidFill>
                      <a:srgbClr val="E7EFF5"/>
                    </a:solidFill>
                  </a:tcPr>
                </a:tc>
              </a:tr>
              <a:tr h="719138">
                <a:tc>
                  <a:txBody>
                    <a:bodyPr lIns="85725" tIns="76200" rIns="85725" bIns="76200"/>
                    <a:lstStyle/>
                    <a:p>
                      <a:pPr algn="ctr">
                        <a:buNone/>
                      </a:pPr>
                      <a:r>
                        <a:rPr sz="2100" b="0">
                          <a:solidFill>
                            <a:srgbClr val="233746"/>
                          </a:solidFill>
                          <a:latin typeface="Arial"/>
                          <a:ea typeface="Arial"/>
                          <a:cs typeface="Arial"/>
                        </a:rPr>
                        <a:t>A Y B</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min(μA, μB)</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min(0,6; 0,3) = 0,3</a:t>
                      </a:r>
                    </a:p>
                  </a:txBody>
                  <a:tcPr marL="91440" marR="91440" marT="45720" marB="45720" anchor="ctr">
                    <a:solidFill>
                      <a:srgbClr val="FFFFFF"/>
                    </a:solidFill>
                  </a:tcPr>
                </a:tc>
              </a:tr>
              <a:tr h="719138">
                <a:tc>
                  <a:txBody>
                    <a:bodyPr lIns="85725" tIns="76200" rIns="85725" bIns="76200"/>
                    <a:lstStyle/>
                    <a:p>
                      <a:pPr algn="ctr">
                        <a:buNone/>
                      </a:pPr>
                      <a:r>
                        <a:rPr sz="2100" b="0">
                          <a:solidFill>
                            <a:srgbClr val="233746"/>
                          </a:solidFill>
                          <a:latin typeface="Arial"/>
                          <a:ea typeface="Arial"/>
                          <a:cs typeface="Arial"/>
                        </a:rPr>
                        <a:t>A O B</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max(μA, μB)</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max(0,6; 0,3) = 0,6</a:t>
                      </a:r>
                    </a:p>
                  </a:txBody>
                  <a:tcPr marL="91440" marR="91440" marT="45720" marB="45720" anchor="ctr">
                    <a:solidFill>
                      <a:srgbClr val="F4F7F9"/>
                    </a:solidFill>
                  </a:tcPr>
                </a:tc>
              </a:tr>
              <a:tr h="719138">
                <a:tc>
                  <a:txBody>
                    <a:bodyPr lIns="85725" tIns="76200" rIns="85725" bIns="76200"/>
                    <a:lstStyle/>
                    <a:p>
                      <a:pPr algn="ctr">
                        <a:buNone/>
                      </a:pPr>
                      <a:r>
                        <a:rPr sz="2100" b="0">
                          <a:solidFill>
                            <a:srgbClr val="233746"/>
                          </a:solidFill>
                          <a:latin typeface="Arial"/>
                          <a:ea typeface="Arial"/>
                          <a:cs typeface="Arial"/>
                        </a:rPr>
                        <a:t>NO A</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1 − μA</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1 − 0,6 = 0,4</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1E671196-DE50-43FC-ABE7-F0386290D1D5}"/>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También podemos usar producto para Y; debemos declarar qué operador elegimos.</a:t>
            </a:r>
          </a:p>
        </p:txBody>
      </p:sp>
      <p:sp>
        <p:nvSpPr>
          <p:cNvPr id="15" name="">
            <a:extLst xmlns:a="http://schemas.openxmlformats.org/drawingml/2006/main">
              <a:ext uri="{FF2B5EF4-FFF2-40B4-BE49-F238E27FC236}">
                <a16:creationId xmlns:a16="http://schemas.microsoft.com/office/drawing/2014/main" id="{F3878B38-2D92-428E-8FFA-E73EE6FA0BA1}"/>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EEDA27-A9D8-4001-BB32-92C66D7F2900}"/>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T-normas: distintas formas de calcular Y</a:t>
            </a:r>
          </a:p>
        </p:txBody>
      </p:sp>
      <p:sp>
        <p:nvSpPr>
          <p:cNvPr id="9" name="">
            <a:extLst xmlns:a="http://schemas.openxmlformats.org/drawingml/2006/main">
              <a:ext uri="{FF2B5EF4-FFF2-40B4-BE49-F238E27FC236}">
                <a16:creationId xmlns:a16="http://schemas.microsoft.com/office/drawing/2014/main" id="{847F28E3-5EE8-4C6F-B716-3C4E3EA0955F}"/>
              </a:ext>
            </a:extLst>
          </p:cNvPr>
          <p:cNvSpPr>
            <a:spLocks xmlns:a="http://schemas.openxmlformats.org/drawingml/2006/main" noGrp="1"/>
          </p:cNvSpPr>
          <p:nvPr/>
        </p:nvSpPr>
        <p:spPr>
          <a:xfrm xmlns:a="http://schemas.openxmlformats.org/drawingml/2006/main">
            <a:off x="762000" y="15240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a y b son grados de pertenencia. La t-norma T(a, b) combina ambas condiciones.</a:t>
            </a:r>
          </a:p>
        </p:txBody>
      </p:sp>
      <p:graphicFrame>
        <p:nvGraphicFramePr>
          <p:cNvPr id="25" name=""/>
          <p:cNvGraphicFramePr/>
          <p:nvPr/>
        </p:nvGraphicFramePr>
        <p:xfrm>
          <a:off xmlns:a="http://schemas.openxmlformats.org/drawingml/2006/main" x="762000" y="2533650"/>
          <a:ext xmlns:a="http://schemas.openxmlformats.org/drawingml/2006/main" cx="10668000" cy="2628900"/>
        </p:xfrm>
        <a:graphic xmlns:a="http://schemas.openxmlformats.org/drawingml/2006/main">
          <a:graphicData uri="http://schemas.openxmlformats.org/drawingml/2006/table">
            <a:tbl>
              <a:tblPr/>
              <a:tblGrid>
                <a:gridCol w="3556000"/>
                <a:gridCol w="3556000"/>
                <a:gridCol w="3556000"/>
              </a:tblGrid>
              <a:tr h="657225">
                <a:tc>
                  <a:txBody>
                    <a:bodyPr lIns="85725" tIns="76200" rIns="85725" bIns="76200"/>
                    <a:lstStyle/>
                    <a:p>
                      <a:pPr algn="ctr">
                        <a:buNone/>
                      </a:pPr>
                      <a:r>
                        <a:rPr sz="2100" b="1">
                          <a:solidFill>
                            <a:srgbClr val="2162A0"/>
                          </a:solidFill>
                          <a:latin typeface="Arial"/>
                          <a:ea typeface="Arial"/>
                          <a:cs typeface="Arial"/>
                        </a:rPr>
                        <a:t>T-norma</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Fórmula</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a = 0,6; b = 0,3</a:t>
                      </a:r>
                    </a:p>
                  </a:txBody>
                  <a:tcPr marL="91440" marR="91440" marT="45720" marB="45720" anchor="ctr">
                    <a:solidFill>
                      <a:srgbClr val="E7EFF5"/>
                    </a:solidFill>
                  </a:tcPr>
                </a:tc>
              </a:tr>
              <a:tr h="657225">
                <a:tc>
                  <a:txBody>
                    <a:bodyPr lIns="85725" tIns="76200" rIns="85725" bIns="76200"/>
                    <a:lstStyle/>
                    <a:p>
                      <a:pPr algn="ctr">
                        <a:buNone/>
                      </a:pPr>
                      <a:r>
                        <a:rPr sz="2100" b="0">
                          <a:solidFill>
                            <a:srgbClr val="233746"/>
                          </a:solidFill>
                          <a:latin typeface="Arial"/>
                          <a:ea typeface="Arial"/>
                          <a:cs typeface="Arial"/>
                        </a:rPr>
                        <a:t>Mínimo</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min(a, b)</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0,30</a:t>
                      </a:r>
                    </a:p>
                  </a:txBody>
                  <a:tcPr marL="91440" marR="91440" marT="45720" marB="45720" anchor="ctr">
                    <a:solidFill>
                      <a:srgbClr val="FFFFFF"/>
                    </a:solidFill>
                  </a:tcPr>
                </a:tc>
              </a:tr>
              <a:tr h="657225">
                <a:tc>
                  <a:txBody>
                    <a:bodyPr lIns="85725" tIns="76200" rIns="85725" bIns="76200"/>
                    <a:lstStyle/>
                    <a:p>
                      <a:pPr algn="ctr">
                        <a:buNone/>
                      </a:pPr>
                      <a:r>
                        <a:rPr sz="2100" b="0">
                          <a:solidFill>
                            <a:srgbClr val="233746"/>
                          </a:solidFill>
                          <a:latin typeface="Arial"/>
                          <a:ea typeface="Arial"/>
                          <a:cs typeface="Arial"/>
                        </a:rPr>
                        <a:t>Producto</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a · b</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0,18</a:t>
                      </a:r>
                    </a:p>
                  </a:txBody>
                  <a:tcPr marL="91440" marR="91440" marT="45720" marB="45720" anchor="ctr">
                    <a:solidFill>
                      <a:srgbClr val="F4F7F9"/>
                    </a:solidFill>
                  </a:tcPr>
                </a:tc>
              </a:tr>
              <a:tr h="657225">
                <a:tc>
                  <a:txBody>
                    <a:bodyPr lIns="85725" tIns="76200" rIns="85725" bIns="76200"/>
                    <a:lstStyle/>
                    <a:p>
                      <a:pPr algn="ctr">
                        <a:buNone/>
                      </a:pPr>
                      <a:r>
                        <a:rPr sz="2100" b="0">
                          <a:solidFill>
                            <a:srgbClr val="233746"/>
                          </a:solidFill>
                          <a:latin typeface="Arial"/>
                          <a:ea typeface="Arial"/>
                          <a:cs typeface="Arial"/>
                        </a:rPr>
                        <a:t>Łukasiewicz</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max(0, a + b − 1)</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0,00</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ECDD1A74-F1E0-460D-9E91-B3FA58DAF589}"/>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Todas reproducen el AND con 0 y 1; con grados intermedios dan resultados distintos.</a:t>
            </a:r>
          </a:p>
        </p:txBody>
      </p:sp>
      <p:sp>
        <p:nvSpPr>
          <p:cNvPr id="16" name="">
            <a:extLst xmlns:a="http://schemas.openxmlformats.org/drawingml/2006/main">
              <a:ext uri="{FF2B5EF4-FFF2-40B4-BE49-F238E27FC236}">
                <a16:creationId xmlns:a16="http://schemas.microsoft.com/office/drawing/2014/main" id="{BA439886-062F-45B9-A030-5CDA43FD673E}"/>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4FDAE89-318C-4894-B4F2-087C0797A543}"/>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T-conormas: distintas formas de calcular O</a:t>
            </a:r>
          </a:p>
        </p:txBody>
      </p:sp>
      <p:sp>
        <p:nvSpPr>
          <p:cNvPr id="9" name="">
            <a:extLst xmlns:a="http://schemas.openxmlformats.org/drawingml/2006/main">
              <a:ext uri="{FF2B5EF4-FFF2-40B4-BE49-F238E27FC236}">
                <a16:creationId xmlns:a16="http://schemas.microsoft.com/office/drawing/2014/main" id="{485618B2-229C-4379-8E84-863F467712D6}"/>
              </a:ext>
            </a:extLst>
          </p:cNvPr>
          <p:cNvSpPr>
            <a:spLocks xmlns:a="http://schemas.openxmlformats.org/drawingml/2006/main" noGrp="1"/>
          </p:cNvSpPr>
          <p:nvPr/>
        </p:nvSpPr>
        <p:spPr>
          <a:xfrm xmlns:a="http://schemas.openxmlformats.org/drawingml/2006/main">
            <a:off x="762000" y="1524000"/>
            <a:ext cx="10668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La t-conorma S(a, b), también llamada s-norma, combina alternativas.</a:t>
            </a:r>
          </a:p>
        </p:txBody>
      </p:sp>
      <p:graphicFrame>
        <p:nvGraphicFramePr>
          <p:cNvPr id="25" name=""/>
          <p:cNvGraphicFramePr/>
          <p:nvPr/>
        </p:nvGraphicFramePr>
        <p:xfrm>
          <a:off xmlns:a="http://schemas.openxmlformats.org/drawingml/2006/main" x="762000" y="2533650"/>
          <a:ext xmlns:a="http://schemas.openxmlformats.org/drawingml/2006/main" cx="10668000" cy="2628900"/>
        </p:xfrm>
        <a:graphic xmlns:a="http://schemas.openxmlformats.org/drawingml/2006/main">
          <a:graphicData uri="http://schemas.openxmlformats.org/drawingml/2006/table">
            <a:tbl>
              <a:tblPr/>
              <a:tblGrid>
                <a:gridCol w="3556000"/>
                <a:gridCol w="3556000"/>
                <a:gridCol w="3556000"/>
              </a:tblGrid>
              <a:tr h="657225">
                <a:tc>
                  <a:txBody>
                    <a:bodyPr lIns="85725" tIns="76200" rIns="85725" bIns="76200"/>
                    <a:lstStyle/>
                    <a:p>
                      <a:pPr algn="ctr">
                        <a:buNone/>
                      </a:pPr>
                      <a:r>
                        <a:rPr sz="2100" b="1">
                          <a:solidFill>
                            <a:srgbClr val="2162A0"/>
                          </a:solidFill>
                          <a:latin typeface="Arial"/>
                          <a:ea typeface="Arial"/>
                          <a:cs typeface="Arial"/>
                        </a:rPr>
                        <a:t>T-conorma</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Fórmula</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a = 0,6; b = 0,3</a:t>
                      </a:r>
                    </a:p>
                  </a:txBody>
                  <a:tcPr marL="91440" marR="91440" marT="45720" marB="45720" anchor="ctr">
                    <a:solidFill>
                      <a:srgbClr val="E7EFF5"/>
                    </a:solidFill>
                  </a:tcPr>
                </a:tc>
              </a:tr>
              <a:tr h="657225">
                <a:tc>
                  <a:txBody>
                    <a:bodyPr lIns="85725" tIns="76200" rIns="85725" bIns="76200"/>
                    <a:lstStyle/>
                    <a:p>
                      <a:pPr algn="ctr">
                        <a:buNone/>
                      </a:pPr>
                      <a:r>
                        <a:rPr sz="2100" b="0">
                          <a:solidFill>
                            <a:srgbClr val="233746"/>
                          </a:solidFill>
                          <a:latin typeface="Arial"/>
                          <a:ea typeface="Arial"/>
                          <a:cs typeface="Arial"/>
                        </a:rPr>
                        <a:t>Máximo</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max(a, b)</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0,60</a:t>
                      </a:r>
                    </a:p>
                  </a:txBody>
                  <a:tcPr marL="91440" marR="91440" marT="45720" marB="45720" anchor="ctr">
                    <a:solidFill>
                      <a:srgbClr val="FFFFFF"/>
                    </a:solidFill>
                  </a:tcPr>
                </a:tc>
              </a:tr>
              <a:tr h="657225">
                <a:tc>
                  <a:txBody>
                    <a:bodyPr lIns="85725" tIns="76200" rIns="85725" bIns="76200"/>
                    <a:lstStyle/>
                    <a:p>
                      <a:pPr algn="ctr">
                        <a:buNone/>
                      </a:pPr>
                      <a:r>
                        <a:rPr sz="2100" b="0">
                          <a:solidFill>
                            <a:srgbClr val="233746"/>
                          </a:solidFill>
                          <a:latin typeface="Arial"/>
                          <a:ea typeface="Arial"/>
                          <a:cs typeface="Arial"/>
                        </a:rPr>
                        <a:t>Suma probabilística</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a + b − a · b</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0,72</a:t>
                      </a:r>
                    </a:p>
                  </a:txBody>
                  <a:tcPr marL="91440" marR="91440" marT="45720" marB="45720" anchor="ctr">
                    <a:solidFill>
                      <a:srgbClr val="F4F7F9"/>
                    </a:solidFill>
                  </a:tcPr>
                </a:tc>
              </a:tr>
              <a:tr h="657225">
                <a:tc>
                  <a:txBody>
                    <a:bodyPr lIns="85725" tIns="76200" rIns="85725" bIns="76200"/>
                    <a:lstStyle/>
                    <a:p>
                      <a:pPr algn="ctr">
                        <a:buNone/>
                      </a:pPr>
                      <a:r>
                        <a:rPr sz="2100" b="0">
                          <a:solidFill>
                            <a:srgbClr val="233746"/>
                          </a:solidFill>
                          <a:latin typeface="Arial"/>
                          <a:ea typeface="Arial"/>
                          <a:cs typeface="Arial"/>
                        </a:rPr>
                        <a:t>Suma acotada</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min(1, a + b)</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0,90</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57E4317B-2A64-4B53-AFC8-A41782B064D0}"/>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«Suma probabilística» es el nombre del operador: aquí los grados no son probabilidades.</a:t>
            </a:r>
          </a:p>
        </p:txBody>
      </p:sp>
      <p:sp>
        <p:nvSpPr>
          <p:cNvPr id="16" name="">
            <a:extLst xmlns:a="http://schemas.openxmlformats.org/drawingml/2006/main">
              <a:ext uri="{FF2B5EF4-FFF2-40B4-BE49-F238E27FC236}">
                <a16:creationId xmlns:a16="http://schemas.microsoft.com/office/drawing/2014/main" id="{FA91E7A7-0268-4084-836D-B968D64CE3D9}"/>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5947B5B-292E-4FC2-B3F8-1749B364E7F4}"/>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Curiosidad: dos sentidos de «SI… ENTONCES»</a:t>
            </a:r>
          </a:p>
        </p:txBody>
      </p:sp>
      <p:sp>
        <p:nvSpPr>
          <p:cNvPr id="17" name="">
            <a:extLst xmlns:a="http://schemas.openxmlformats.org/drawingml/2006/main">
              <a:ext uri="{FF2B5EF4-FFF2-40B4-BE49-F238E27FC236}">
                <a16:creationId xmlns:a16="http://schemas.microsoft.com/office/drawing/2014/main" id="{351887C2-0575-4553-82A4-2417737A9FFC}"/>
              </a:ext>
            </a:extLst>
          </p:cNvPr>
          <p:cNvSpPr>
            <a:spLocks xmlns:a="http://schemas.openxmlformats.org/drawingml/2006/main" noGrp="1"/>
          </p:cNvSpPr>
          <p:nvPr/>
        </p:nvSpPr>
        <p:spPr>
          <a:xfrm xmlns:a="http://schemas.openxmlformats.org/drawingml/2006/main">
            <a:off x="762000" y="16097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7950A0"/>
                </a:solidFill>
                <a:latin typeface="Arial"/>
                <a:ea typeface="Arial"/>
                <a:cs typeface="Arial"/>
              </a:defRPr>
            </a:pPr>
            <a:r>
              <a:rPr sz="2250" b="1">
                <a:solidFill>
                  <a:srgbClr val="7950A0"/>
                </a:solidFill>
                <a:latin typeface="Arial"/>
                <a:ea typeface="Arial"/>
                <a:cs typeface="Arial"/>
              </a:rPr>
              <a:t>Lógica clásica: implicación material</a:t>
            </a:r>
          </a:p>
        </p:txBody>
      </p:sp>
      <p:sp>
        <p:nvSpPr>
          <p:cNvPr id="18" name="">
            <a:extLst xmlns:a="http://schemas.openxmlformats.org/drawingml/2006/main">
              <a:ext uri="{FF2B5EF4-FFF2-40B4-BE49-F238E27FC236}">
                <a16:creationId xmlns:a16="http://schemas.microsoft.com/office/drawing/2014/main" id="{496BBD17-C33A-4FE0-8670-E2F4CCE44B27}"/>
              </a:ext>
            </a:extLst>
          </p:cNvPr>
          <p:cNvSpPr>
            <a:spLocks xmlns:a="http://schemas.openxmlformats.org/drawingml/2006/main" noGrp="1"/>
          </p:cNvSpPr>
          <p:nvPr/>
        </p:nvSpPr>
        <p:spPr>
          <a:xfrm xmlns:a="http://schemas.openxmlformats.org/drawingml/2006/main">
            <a:off x="762000" y="204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P: x ∈ A     Q: y ∈ B     P → Q se representa mediante R</a:t>
            </a:r>
          </a:p>
        </p:txBody>
      </p:sp>
      <p:sp>
        <p:nvSpPr>
          <p:cNvPr id="19" name="">
            <a:extLst xmlns:a="http://schemas.openxmlformats.org/drawingml/2006/main">
              <a:ext uri="{FF2B5EF4-FFF2-40B4-BE49-F238E27FC236}">
                <a16:creationId xmlns:a16="http://schemas.microsoft.com/office/drawing/2014/main" id="{FBE6D85F-DBD8-4E92-A1FC-4CB2E05B3E12}"/>
              </a:ext>
            </a:extLst>
          </p:cNvPr>
          <p:cNvSpPr>
            <a:spLocks xmlns:a="http://schemas.openxmlformats.org/drawingml/2006/main" noGrp="1"/>
          </p:cNvSpPr>
          <p:nvPr/>
        </p:nvSpPr>
        <p:spPr>
          <a:xfrm xmlns:a="http://schemas.openxmlformats.org/drawingml/2006/main">
            <a:off x="762000" y="24765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1">
                <a:solidFill>
                  <a:srgbClr val="233746"/>
                </a:solidFill>
                <a:latin typeface="Arial"/>
                <a:ea typeface="Arial"/>
                <a:cs typeface="Arial"/>
              </a:defRPr>
            </a:pPr>
            <a:r>
              <a:rPr sz="2550" b="1">
                <a:solidFill>
                  <a:srgbClr val="233746"/>
                </a:solidFill>
                <a:latin typeface="Arial"/>
                <a:ea typeface="Arial"/>
                <a:cs typeface="Arial"/>
              </a:rPr>
              <a:t>R = (A × B) ∪ (¬A × Y)</a:t>
            </a:r>
          </a:p>
        </p:txBody>
      </p:sp>
      <p:sp>
        <p:nvSpPr>
          <p:cNvPr id="20" name="">
            <a:extLst xmlns:a="http://schemas.openxmlformats.org/drawingml/2006/main">
              <a:ext uri="{FF2B5EF4-FFF2-40B4-BE49-F238E27FC236}">
                <a16:creationId xmlns:a16="http://schemas.microsoft.com/office/drawing/2014/main" id="{57646429-4863-4DC1-8ED8-E9E87A0FB67A}"/>
              </a:ext>
            </a:extLst>
          </p:cNvPr>
          <p:cNvSpPr>
            <a:spLocks xmlns:a="http://schemas.openxmlformats.org/drawingml/2006/main" noGrp="1"/>
          </p:cNvSpPr>
          <p:nvPr/>
        </p:nvSpPr>
        <p:spPr>
          <a:xfrm xmlns:a="http://schemas.openxmlformats.org/drawingml/2006/main">
            <a:off x="762000" y="30003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Si A se cumple, exige B. Si A no se cumple, admite cualquier y ∈ Y.</a:t>
            </a:r>
          </a:p>
        </p:txBody>
      </p:sp>
      <p:sp>
        <p:nvSpPr>
          <p:cNvPr id="21" name="">
            <a:extLst xmlns:a="http://schemas.openxmlformats.org/drawingml/2006/main">
              <a:ext uri="{FF2B5EF4-FFF2-40B4-BE49-F238E27FC236}">
                <a16:creationId xmlns:a16="http://schemas.microsoft.com/office/drawing/2014/main" id="{D3B4A16F-3273-4D16-813F-65F4C78E8CF0}"/>
              </a:ext>
            </a:extLst>
          </p:cNvPr>
          <p:cNvSpPr>
            <a:spLocks xmlns:a="http://schemas.openxmlformats.org/drawingml/2006/main" noGrp="1"/>
          </p:cNvSpPr>
          <p:nvPr/>
        </p:nvSpPr>
        <p:spPr>
          <a:xfrm xmlns:a="http://schemas.openxmlformats.org/drawingml/2006/main">
            <a:off x="762000" y="3609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7950A0"/>
                </a:solidFill>
                <a:latin typeface="Arial"/>
                <a:ea typeface="Arial"/>
                <a:cs typeface="Arial"/>
              </a:defRPr>
            </a:pPr>
            <a:r>
              <a:rPr sz="2250" b="1">
                <a:solidFill>
                  <a:srgbClr val="7950A0"/>
                </a:solidFill>
                <a:latin typeface="Arial"/>
                <a:ea typeface="Arial"/>
                <a:cs typeface="Arial"/>
              </a:rPr>
              <a:t>Reglas de control: activación en Mamdani</a:t>
            </a:r>
          </a:p>
        </p:txBody>
      </p:sp>
      <p:sp>
        <p:nvSpPr>
          <p:cNvPr id="22" name="">
            <a:extLst xmlns:a="http://schemas.openxmlformats.org/drawingml/2006/main">
              <a:ext uri="{FF2B5EF4-FFF2-40B4-BE49-F238E27FC236}">
                <a16:creationId xmlns:a16="http://schemas.microsoft.com/office/drawing/2014/main" id="{495D3FCA-C082-43E7-A4AD-818DE6815975}"/>
              </a:ext>
            </a:extLst>
          </p:cNvPr>
          <p:cNvSpPr>
            <a:spLocks xmlns:a="http://schemas.openxmlformats.org/drawingml/2006/main" noGrp="1"/>
          </p:cNvSpPr>
          <p:nvPr/>
        </p:nvSpPr>
        <p:spPr>
          <a:xfrm xmlns:a="http://schemas.openxmlformats.org/drawingml/2006/main">
            <a:off x="762000" y="40671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SI x es A, ENTONCES y es B. La regla aporta μR(x,y) = min(a,b).</a:t>
            </a:r>
          </a:p>
        </p:txBody>
      </p:sp>
      <p:sp>
        <p:nvSpPr>
          <p:cNvPr id="23" name="">
            <a:extLst xmlns:a="http://schemas.openxmlformats.org/drawingml/2006/main">
              <a:ext uri="{FF2B5EF4-FFF2-40B4-BE49-F238E27FC236}">
                <a16:creationId xmlns:a16="http://schemas.microsoft.com/office/drawing/2014/main" id="{4D9C5085-B3D5-4503-B9F5-131674BB0421}"/>
              </a:ext>
            </a:extLst>
          </p:cNvPr>
          <p:cNvSpPr>
            <a:spLocks xmlns:a="http://schemas.openxmlformats.org/drawingml/2006/main" noGrp="1"/>
          </p:cNvSpPr>
          <p:nvPr/>
        </p:nvSpPr>
        <p:spPr>
          <a:xfrm xmlns:a="http://schemas.openxmlformats.org/drawingml/2006/main">
            <a:off x="762000" y="45434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D96B18"/>
                </a:solidFill>
                <a:latin typeface="Arial"/>
                <a:ea typeface="Arial"/>
                <a:cs typeface="Arial"/>
              </a:defRPr>
            </a:pPr>
            <a:r>
              <a:rPr sz="2175" b="1">
                <a:solidFill>
                  <a:srgbClr val="D96B18"/>
                </a:solidFill>
                <a:latin typeface="Arial"/>
                <a:ea typeface="Arial"/>
                <a:cs typeface="Arial"/>
              </a:rPr>
              <a:t>Si a = 0, la regla no aporta salida.</a:t>
            </a:r>
          </a:p>
        </p:txBody>
      </p:sp>
      <p:sp>
        <p:nvSpPr>
          <p:cNvPr id="24" name="">
            <a:extLst xmlns:a="http://schemas.openxmlformats.org/drawingml/2006/main">
              <a:ext uri="{FF2B5EF4-FFF2-40B4-BE49-F238E27FC236}">
                <a16:creationId xmlns:a16="http://schemas.microsoft.com/office/drawing/2014/main" id="{D56487A7-9A18-48CD-AFEB-9E829ED37AD3}"/>
              </a:ext>
            </a:extLst>
          </p:cNvPr>
          <p:cNvSpPr>
            <a:spLocks xmlns:a="http://schemas.openxmlformats.org/drawingml/2006/main" noGrp="1"/>
          </p:cNvSpPr>
          <p:nvPr/>
        </p:nvSpPr>
        <p:spPr>
          <a:xfrm xmlns:a="http://schemas.openxmlformats.org/drawingml/2006/main">
            <a:off x="762000" y="51816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Arial"/>
                <a:ea typeface="Arial"/>
                <a:cs typeface="Arial"/>
              </a:defRPr>
            </a:pPr>
            <a:r>
              <a:rPr sz="1875" b="0">
                <a:solidFill>
                  <a:srgbClr val="233746"/>
                </a:solidFill>
                <a:latin typeface="Arial"/>
                <a:ea typeface="Arial"/>
                <a:cs typeface="Arial"/>
              </a:rPr>
              <a:t>Extensión de la relación anterior: max(min(a,b), 1 − a). Si a = 0, vale 1.</a:t>
            </a:r>
          </a:p>
        </p:txBody>
      </p:sp>
      <p:sp>
        <p:nvSpPr>
          <p:cNvPr id="25" name="">
            <a:extLst xmlns:a="http://schemas.openxmlformats.org/drawingml/2006/main">
              <a:ext uri="{FF2B5EF4-FFF2-40B4-BE49-F238E27FC236}">
                <a16:creationId xmlns:a16="http://schemas.microsoft.com/office/drawing/2014/main" id="{6C4C3C1E-F6E0-4A0D-8F04-CD7BFB3A89D4}"/>
              </a:ext>
            </a:extLst>
          </p:cNvPr>
          <p:cNvSpPr>
            <a:spLocks xmlns:a="http://schemas.openxmlformats.org/drawingml/2006/main" noGrp="1"/>
          </p:cNvSpPr>
          <p:nvPr/>
        </p:nvSpPr>
        <p:spPr>
          <a:xfrm xmlns:a="http://schemas.openxmlformats.org/drawingml/2006/main">
            <a:off x="762000" y="577215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1">
                <a:solidFill>
                  <a:srgbClr val="D96B18"/>
                </a:solidFill>
                <a:latin typeface="Arial"/>
                <a:ea typeface="Arial"/>
                <a:cs typeface="Arial"/>
              </a:defRPr>
            </a:pPr>
            <a:r>
              <a:rPr sz="1875" b="1">
                <a:solidFill>
                  <a:srgbClr val="D96B18"/>
                </a:solidFill>
                <a:latin typeface="Arial"/>
                <a:ea typeface="Arial"/>
                <a:cs typeface="Arial"/>
              </a:rPr>
              <a:t>a = μA(x), b = μB(y). «Basado en reglas» no fija una única semántica.</a:t>
            </a:r>
          </a:p>
        </p:txBody>
      </p:sp>
      <p:sp>
        <p:nvSpPr>
          <p:cNvPr id="26" name="">
            <a:extLst xmlns:a="http://schemas.openxmlformats.org/drawingml/2006/main">
              <a:ext uri="{FF2B5EF4-FFF2-40B4-BE49-F238E27FC236}">
                <a16:creationId xmlns:a16="http://schemas.microsoft.com/office/drawing/2014/main" id="{DC6C405B-F543-45F2-8CD4-01451D7BDEC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CCE22F9-C289-4A08-9636-3DC93AACF61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Mamdani: el recorrido de una entrada</a:t>
            </a:r>
          </a:p>
        </p:txBody>
      </p:sp>
      <p:sp>
        <p:nvSpPr>
          <p:cNvPr id="9" name="">
            <a:extLst xmlns:a="http://schemas.openxmlformats.org/drawingml/2006/main">
              <a:ext uri="{FF2B5EF4-FFF2-40B4-BE49-F238E27FC236}">
                <a16:creationId xmlns:a16="http://schemas.microsoft.com/office/drawing/2014/main" id="{10F1A4DB-2153-4A3B-BE26-2A9F1F2AC8A8}"/>
              </a:ext>
            </a:extLst>
          </p:cNvPr>
          <p:cNvSpPr>
            <a:spLocks xmlns:a="http://schemas.openxmlformats.org/drawingml/2006/main" noGrp="1"/>
          </p:cNvSpPr>
          <p:nvPr/>
        </p:nvSpPr>
        <p:spPr>
          <a:xfrm xmlns:a="http://schemas.openxmlformats.org/drawingml/2006/main">
            <a:off x="762000" y="1619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1. Fuzzificar y activar</a:t>
            </a:r>
          </a:p>
        </p:txBody>
      </p:sp>
      <p:sp>
        <p:nvSpPr>
          <p:cNvPr id="10" name="">
            <a:extLst xmlns:a="http://schemas.openxmlformats.org/drawingml/2006/main">
              <a:ext uri="{FF2B5EF4-FFF2-40B4-BE49-F238E27FC236}">
                <a16:creationId xmlns:a16="http://schemas.microsoft.com/office/drawing/2014/main" id="{6C040218-31EF-4A1C-8175-681E68F793E8}"/>
              </a:ext>
            </a:extLst>
          </p:cNvPr>
          <p:cNvSpPr>
            <a:spLocks xmlns:a="http://schemas.openxmlformats.org/drawingml/2006/main" noGrp="1"/>
          </p:cNvSpPr>
          <p:nvPr/>
        </p:nvSpPr>
        <p:spPr>
          <a:xfrm xmlns:a="http://schemas.openxmlformats.org/drawingml/2006/main">
            <a:off x="762000" y="20764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Evaluar las pertenencias y combinar las condiciones de cada regla.</a:t>
            </a:r>
          </a:p>
        </p:txBody>
      </p:sp>
      <p:sp>
        <p:nvSpPr>
          <p:cNvPr id="11" name="">
            <a:extLst xmlns:a="http://schemas.openxmlformats.org/drawingml/2006/main">
              <a:ext uri="{FF2B5EF4-FFF2-40B4-BE49-F238E27FC236}">
                <a16:creationId xmlns:a16="http://schemas.microsoft.com/office/drawing/2014/main" id="{11AB3616-3D7A-4784-A8F2-7C066F844790}"/>
              </a:ext>
            </a:extLst>
          </p:cNvPr>
          <p:cNvSpPr>
            <a:spLocks xmlns:a="http://schemas.openxmlformats.org/drawingml/2006/main" noGrp="1"/>
          </p:cNvSpPr>
          <p:nvPr/>
        </p:nvSpPr>
        <p:spPr>
          <a:xfrm xmlns:a="http://schemas.openxmlformats.org/drawingml/2006/main">
            <a:off x="762000" y="2905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2. Implicar y agregar</a:t>
            </a:r>
          </a:p>
        </p:txBody>
      </p:sp>
      <p:sp>
        <p:nvSpPr>
          <p:cNvPr id="12" name="">
            <a:extLst xmlns:a="http://schemas.openxmlformats.org/drawingml/2006/main">
              <a:ext uri="{FF2B5EF4-FFF2-40B4-BE49-F238E27FC236}">
                <a16:creationId xmlns:a16="http://schemas.microsoft.com/office/drawing/2014/main" id="{42D43D07-7394-4314-A862-CB7F27EF0A78}"/>
              </a:ext>
            </a:extLst>
          </p:cNvPr>
          <p:cNvSpPr>
            <a:spLocks xmlns:a="http://schemas.openxmlformats.org/drawingml/2006/main" noGrp="1"/>
          </p:cNvSpPr>
          <p:nvPr/>
        </p:nvSpPr>
        <p:spPr>
          <a:xfrm xmlns:a="http://schemas.openxmlformats.org/drawingml/2006/main">
            <a:off x="762000" y="3362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Recortar cada conjunto de salida con su activación; reunirlos con máximo.</a:t>
            </a:r>
          </a:p>
        </p:txBody>
      </p:sp>
      <p:sp>
        <p:nvSpPr>
          <p:cNvPr id="13" name="">
            <a:extLst xmlns:a="http://schemas.openxmlformats.org/drawingml/2006/main">
              <a:ext uri="{FF2B5EF4-FFF2-40B4-BE49-F238E27FC236}">
                <a16:creationId xmlns:a16="http://schemas.microsoft.com/office/drawing/2014/main" id="{FFB7358D-E9EB-4E9B-87D9-084BDF7796C0}"/>
              </a:ext>
            </a:extLst>
          </p:cNvPr>
          <p:cNvSpPr>
            <a:spLocks xmlns:a="http://schemas.openxmlformats.org/drawingml/2006/main" noGrp="1"/>
          </p:cNvSpPr>
          <p:nvPr/>
        </p:nvSpPr>
        <p:spPr>
          <a:xfrm xmlns:a="http://schemas.openxmlformats.org/drawingml/2006/main">
            <a:off x="762000" y="4191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3. Desdifusificar</a:t>
            </a:r>
          </a:p>
        </p:txBody>
      </p:sp>
      <p:sp>
        <p:nvSpPr>
          <p:cNvPr id="14" name="">
            <a:extLst xmlns:a="http://schemas.openxmlformats.org/drawingml/2006/main">
              <a:ext uri="{FF2B5EF4-FFF2-40B4-BE49-F238E27FC236}">
                <a16:creationId xmlns:a16="http://schemas.microsoft.com/office/drawing/2014/main" id="{0BEB993E-007F-45CA-ACA0-149E4BE1D228}"/>
              </a:ext>
            </a:extLst>
          </p:cNvPr>
          <p:cNvSpPr>
            <a:spLocks xmlns:a="http://schemas.openxmlformats.org/drawingml/2006/main" noGrp="1"/>
          </p:cNvSpPr>
          <p:nvPr/>
        </p:nvSpPr>
        <p:spPr>
          <a:xfrm xmlns:a="http://schemas.openxmlformats.org/drawingml/2006/main">
            <a:off x="762000" y="4648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Obtener un único número a partir del conjunto de salida agregado.</a:t>
            </a:r>
          </a:p>
        </p:txBody>
      </p:sp>
      <p:sp>
        <p:nvSpPr>
          <p:cNvPr id="15" name="">
            <a:extLst xmlns:a="http://schemas.openxmlformats.org/drawingml/2006/main">
              <a:ext uri="{FF2B5EF4-FFF2-40B4-BE49-F238E27FC236}">
                <a16:creationId xmlns:a16="http://schemas.microsoft.com/office/drawing/2014/main" id="{E25CF036-6C3D-4C08-AA81-66115114B3A7}"/>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En el ejemplo siguiente: AND = mínimo, implicación = recorte, agregación = máximo.</a:t>
            </a:r>
          </a:p>
        </p:txBody>
      </p:sp>
      <p:sp>
        <p:nvSpPr>
          <p:cNvPr id="16" name="">
            <a:extLst xmlns:a="http://schemas.openxmlformats.org/drawingml/2006/main">
              <a:ext uri="{FF2B5EF4-FFF2-40B4-BE49-F238E27FC236}">
                <a16:creationId xmlns:a16="http://schemas.microsoft.com/office/drawing/2014/main" id="{269397EA-72DF-42A9-8BC7-AEE3A12848D2}"/>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5A555AA-84F5-470D-99A2-4C3018B366B7}"/>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Mini-ejemplo Mamdani: dos propuestas de potencia</a:t>
            </a:r>
          </a:p>
        </p:txBody>
      </p:sp>
      <p:graphicFrame>
        <p:nvGraphicFramePr>
          <p:cNvPr id="23" name=""/>
          <p:cNvGraphicFramePr/>
          <p:nvPr/>
        </p:nvGraphicFramePr>
        <p:xfrm>
          <a:off xmlns:a="http://schemas.openxmlformats.org/drawingml/2006/main" x="762000" y="2028825"/>
          <a:ext xmlns:a="http://schemas.openxmlformats.org/drawingml/2006/main" cx="10668000" cy="2143125"/>
        </p:xfrm>
        <a:graphic xmlns:a="http://schemas.openxmlformats.org/drawingml/2006/main">
          <a:graphicData uri="http://schemas.openxmlformats.org/drawingml/2006/table">
            <a:tbl>
              <a:tblPr/>
              <a:tblGrid>
                <a:gridCol w="4333875"/>
                <a:gridCol w="3143250"/>
                <a:gridCol w="3190875"/>
              </a:tblGrid>
              <a:tr h="714375">
                <a:tc>
                  <a:txBody>
                    <a:bodyPr lIns="85725" tIns="76200" rIns="85725" bIns="76200"/>
                    <a:lstStyle/>
                    <a:p>
                      <a:pPr algn="ctr">
                        <a:buNone/>
                      </a:pPr>
                      <a:r>
                        <a:rPr sz="2100" b="1">
                          <a:solidFill>
                            <a:srgbClr val="2162A0"/>
                          </a:solidFill>
                          <a:latin typeface="Arial"/>
                          <a:ea typeface="Arial"/>
                          <a:cs typeface="Arial"/>
                        </a:rPr>
                        <a:t>Regla</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Activación en esta lectura</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Consecuente</a:t>
                      </a:r>
                    </a:p>
                  </a:txBody>
                  <a:tcPr marL="91440" marR="91440" marT="45720" marB="45720" anchor="ctr">
                    <a:solidFill>
                      <a:srgbClr val="E7EFF5"/>
                    </a:solidFill>
                  </a:tcPr>
                </a:tc>
              </a:tr>
              <a:tr h="714375">
                <a:tc>
                  <a:txBody>
                    <a:bodyPr lIns="85725" tIns="76200" rIns="85725" bIns="76200"/>
                    <a:lstStyle/>
                    <a:p>
                      <a:pPr algn="ctr">
                        <a:buNone/>
                      </a:pPr>
                      <a:r>
                        <a:rPr sz="2100" b="0">
                          <a:solidFill>
                            <a:srgbClr val="233746"/>
                          </a:solidFill>
                          <a:latin typeface="Arial"/>
                          <a:ea typeface="Arial"/>
                          <a:cs typeface="Arial"/>
                        </a:rPr>
                        <a:t>SI el error es Pequeño</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0,6</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Potencia Baja</a:t>
                      </a:r>
                    </a:p>
                  </a:txBody>
                  <a:tcPr marL="91440" marR="91440" marT="45720" marB="45720" anchor="ctr">
                    <a:solidFill>
                      <a:srgbClr val="FFFFFF"/>
                    </a:solidFill>
                  </a:tcPr>
                </a:tc>
              </a:tr>
              <a:tr h="714375">
                <a:tc>
                  <a:txBody>
                    <a:bodyPr lIns="85725" tIns="76200" rIns="85725" bIns="76200"/>
                    <a:lstStyle/>
                    <a:p>
                      <a:pPr algn="ctr">
                        <a:buNone/>
                      </a:pPr>
                      <a:r>
                        <a:rPr sz="2100" b="0">
                          <a:solidFill>
                            <a:srgbClr val="233746"/>
                          </a:solidFill>
                          <a:latin typeface="Arial"/>
                          <a:ea typeface="Arial"/>
                          <a:cs typeface="Arial"/>
                        </a:rPr>
                        <a:t>SI el error es Grande</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0,3</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Potencia Alta</a:t>
                      </a:r>
                    </a:p>
                  </a:txBody>
                  <a:tcPr marL="91440" marR="91440" marT="45720" marB="45720" anchor="ctr">
                    <a:solidFill>
                      <a:srgbClr val="F4F7F9"/>
                    </a:solidFill>
                  </a:tcPr>
                </a:tc>
              </a:tr>
            </a:tbl>
          </a:graphicData>
        </a:graphic>
      </p:graphicFrame>
      <p:sp>
        <p:nvSpPr>
          <p:cNvPr id="10" name="">
            <a:extLst xmlns:a="http://schemas.openxmlformats.org/drawingml/2006/main">
              <a:ext uri="{FF2B5EF4-FFF2-40B4-BE49-F238E27FC236}">
                <a16:creationId xmlns:a16="http://schemas.microsoft.com/office/drawing/2014/main" id="{BBB8C901-8AFF-42D8-91B4-2D2A2D6E614D}"/>
              </a:ext>
            </a:extLst>
          </p:cNvPr>
          <p:cNvSpPr>
            <a:spLocks xmlns:a="http://schemas.openxmlformats.org/drawingml/2006/main" noGrp="1"/>
          </p:cNvSpPr>
          <p:nvPr/>
        </p:nvSpPr>
        <p:spPr>
          <a:xfrm xmlns:a="http://schemas.openxmlformats.org/drawingml/2006/main">
            <a:off x="762000" y="4610100"/>
            <a:ext cx="10668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Baja: triángulo con puntos (0, 0), (25, 1), (50, 0).</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Alta: triángulo con puntos (50, 0), (75, 1), (100, 0).</a:t>
            </a:r>
          </a:p>
        </p:txBody>
      </p:sp>
      <p:sp>
        <p:nvSpPr>
          <p:cNvPr id="11" name="">
            <a:extLst xmlns:a="http://schemas.openxmlformats.org/drawingml/2006/main">
              <a:ext uri="{FF2B5EF4-FFF2-40B4-BE49-F238E27FC236}">
                <a16:creationId xmlns:a16="http://schemas.microsoft.com/office/drawing/2014/main" id="{581D90CE-62CA-4ABE-9029-75D4414C6FAA}"/>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Fijamos esta salida de ejemplo para comparar los métodos de desdifusificación.</a:t>
            </a:r>
          </a:p>
        </p:txBody>
      </p:sp>
      <p:sp>
        <p:nvSpPr>
          <p:cNvPr id="15" name="">
            <a:extLst xmlns:a="http://schemas.openxmlformats.org/drawingml/2006/main">
              <a:ext uri="{FF2B5EF4-FFF2-40B4-BE49-F238E27FC236}">
                <a16:creationId xmlns:a16="http://schemas.microsoft.com/office/drawing/2014/main" id="{0A2104A2-8989-42C1-A05B-31B3695AA36F}"/>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351C07E-ABD8-4C13-92C7-03C0B7BF64C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Mamdani: dos reglas activas</a:t>
            </a:r>
          </a:p>
        </p:txBody>
      </p:sp>
      <p:sp>
        <p:nvSpPr>
          <p:cNvPr id="9" name="">
            <a:extLst xmlns:a="http://schemas.openxmlformats.org/drawingml/2006/main">
              <a:ext uri="{FF2B5EF4-FFF2-40B4-BE49-F238E27FC236}">
                <a16:creationId xmlns:a16="http://schemas.microsoft.com/office/drawing/2014/main" id="{3A16A9F1-B890-44A2-8D52-75FCD55B9B36}"/>
              </a:ext>
            </a:extLst>
          </p:cNvPr>
          <p:cNvSpPr>
            <a:spLocks xmlns:a="http://schemas.openxmlformats.org/drawingml/2006/main" noGrp="1"/>
          </p:cNvSpPr>
          <p:nvPr/>
        </p:nvSpPr>
        <p:spPr>
          <a:xfrm xmlns:a="http://schemas.openxmlformats.org/drawingml/2006/main">
            <a:off x="762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Potencia baja: α1 = 0,6</a:t>
            </a:r>
          </a:p>
        </p:txBody>
      </p:sp>
      <p:sp>
        <p:nvSpPr>
          <p:cNvPr id="10" name="">
            <a:extLst xmlns:a="http://schemas.openxmlformats.org/drawingml/2006/main">
              <a:ext uri="{FF2B5EF4-FFF2-40B4-BE49-F238E27FC236}">
                <a16:creationId xmlns:a16="http://schemas.microsoft.com/office/drawing/2014/main" id="{DA9930CC-4A41-41FA-A5AD-5411FDB568ED}"/>
              </a:ext>
            </a:extLst>
          </p:cNvPr>
          <p:cNvSpPr>
            <a:spLocks xmlns:a="http://schemas.openxmlformats.org/drawingml/2006/main" noGrp="1"/>
          </p:cNvSpPr>
          <p:nvPr/>
        </p:nvSpPr>
        <p:spPr>
          <a:xfrm xmlns:a="http://schemas.openxmlformats.org/drawingml/2006/main">
            <a:off x="6096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Potencia alta: α2 = 0,3</a:t>
            </a:r>
          </a:p>
        </p:txBody>
      </p:sp>
      <p:graphicFrame>
        <p:nvGraphicFramePr>
          <p:cNvPr id="27" name="Chart"/>
          <p:cNvGraphicFramePr/>
          <p:nvPr/>
        </p:nvGraphicFramePr>
        <p:xfrm>
          <a:off xmlns:a="http://schemas.openxmlformats.org/drawingml/2006/main" x="762000" y="2257425"/>
          <a:ext xmlns:a="http://schemas.openxmlformats.org/drawingml/2006/main" cx="10668000" cy="3162300"/>
        </p:xfrm>
        <a:graphic xmlns:a="http://schemas.openxmlformats.org/drawingml/2006/main">
          <a:graphicData uri="http://schemas.openxmlformats.org/drawingml/2006/chart">
            <c:chart xmlns:r="http://schemas.openxmlformats.org/officeDocument/2006/relationships" xmlns:c="http://schemas.openxmlformats.org/drawingml/2006/chart" r:id="Rf3fd3374979d4c89"/>
          </a:graphicData>
        </a:graphic>
      </p:graphicFrame>
      <p:sp>
        <p:nvSpPr>
          <p:cNvPr id="12" name="">
            <a:extLst xmlns:a="http://schemas.openxmlformats.org/drawingml/2006/main">
              <a:ext uri="{FF2B5EF4-FFF2-40B4-BE49-F238E27FC236}">
                <a16:creationId xmlns:a16="http://schemas.microsoft.com/office/drawing/2014/main" id="{8EED936C-4C56-402D-8456-0F5D0EA0BFA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Cada regla recorta su conjunto: μsalida,k(u) = min(αk, μBk(u)).</a:t>
            </a:r>
          </a:p>
        </p:txBody>
      </p:sp>
      <p:sp>
        <p:nvSpPr>
          <p:cNvPr id="17" name="">
            <a:extLst xmlns:a="http://schemas.openxmlformats.org/drawingml/2006/main">
              <a:ext uri="{FF2B5EF4-FFF2-40B4-BE49-F238E27FC236}">
                <a16:creationId xmlns:a16="http://schemas.microsoft.com/office/drawing/2014/main" id="{E4ECEBA1-04B4-48E1-A71D-32BC59590DB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76117A9-1C46-4EB7-B42F-A8DAD926A32E}"/>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49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Mamdani: una salida agregada</a:t>
            </a:r>
          </a:p>
        </p:txBody>
      </p:sp>
      <p:sp>
        <p:nvSpPr>
          <p:cNvPr id="9" name="">
            <a:extLst xmlns:a="http://schemas.openxmlformats.org/drawingml/2006/main">
              <a:ext uri="{FF2B5EF4-FFF2-40B4-BE49-F238E27FC236}">
                <a16:creationId xmlns:a16="http://schemas.microsoft.com/office/drawing/2014/main" id="{504048DD-F1F1-4EF9-9863-6B75089D7B49}"/>
              </a:ext>
            </a:extLst>
          </p:cNvPr>
          <p:cNvSpPr>
            <a:spLocks xmlns:a="http://schemas.openxmlformats.org/drawingml/2006/main" noGrp="1"/>
          </p:cNvSpPr>
          <p:nvPr/>
        </p:nvSpPr>
        <p:spPr>
          <a:xfrm xmlns:a="http://schemas.openxmlformats.org/drawingml/2006/main">
            <a:off x="762000" y="16668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μAgregada(u) = max(μsalida,1(u), μsalida,2(u))</a:t>
            </a:r>
          </a:p>
        </p:txBody>
      </p:sp>
      <p:graphicFrame>
        <p:nvGraphicFramePr>
          <p:cNvPr id="25" name="Chart"/>
          <p:cNvGraphicFramePr/>
          <p:nvPr/>
        </p:nvGraphicFramePr>
        <p:xfrm>
          <a:off xmlns:a="http://schemas.openxmlformats.org/drawingml/2006/main" x="762000" y="2143125"/>
          <a:ext xmlns:a="http://schemas.openxmlformats.org/drawingml/2006/main" cx="10668000" cy="3333750"/>
        </p:xfrm>
        <a:graphic xmlns:a="http://schemas.openxmlformats.org/drawingml/2006/main">
          <a:graphicData uri="http://schemas.openxmlformats.org/drawingml/2006/chart">
            <c:chart xmlns:r="http://schemas.openxmlformats.org/officeDocument/2006/relationships" xmlns:c="http://schemas.openxmlformats.org/drawingml/2006/chart" r:id="Ra129dea89d814aab"/>
          </a:graphicData>
        </a:graphic>
      </p:graphicFrame>
      <p:sp>
        <p:nvSpPr>
          <p:cNvPr id="11" name="">
            <a:extLst xmlns:a="http://schemas.openxmlformats.org/drawingml/2006/main">
              <a:ext uri="{FF2B5EF4-FFF2-40B4-BE49-F238E27FC236}">
                <a16:creationId xmlns:a16="http://schemas.microsoft.com/office/drawing/2014/main" id="{E37F8BDE-3789-4EAB-8C93-A2642472CC87}"/>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salida puede ser subnormal y no convexa aunque las etiquetas originales sean normales.</a:t>
            </a:r>
          </a:p>
        </p:txBody>
      </p:sp>
      <p:sp>
        <p:nvSpPr>
          <p:cNvPr id="16" name="">
            <a:extLst xmlns:a="http://schemas.openxmlformats.org/drawingml/2006/main">
              <a:ext uri="{FF2B5EF4-FFF2-40B4-BE49-F238E27FC236}">
                <a16:creationId xmlns:a16="http://schemas.microsoft.com/office/drawing/2014/main" id="{1E242A76-9B05-4EBA-B874-876EC0696EC4}"/>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46C53DB-199F-4F04-99DC-2C5ADD08D87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7950A0"/>
                </a:solidFill>
                <a:latin typeface="Arial"/>
                <a:ea typeface="Arial"/>
                <a:cs typeface="Arial"/>
              </a:defRPr>
            </a:pPr>
            <a:r>
              <a:rPr sz="3000" b="0">
                <a:solidFill>
                  <a:srgbClr val="7950A0"/>
                </a:solidFill>
                <a:latin typeface="Arial"/>
                <a:ea typeface="Arial"/>
                <a:cs typeface="Arial"/>
              </a:rPr>
              <a:t>Sugeno: reglas con consecuencias numéricas</a:t>
            </a:r>
          </a:p>
        </p:txBody>
      </p:sp>
      <p:sp>
        <p:nvSpPr>
          <p:cNvPr id="9" name="">
            <a:extLst xmlns:a="http://schemas.openxmlformats.org/drawingml/2006/main">
              <a:ext uri="{FF2B5EF4-FFF2-40B4-BE49-F238E27FC236}">
                <a16:creationId xmlns:a16="http://schemas.microsoft.com/office/drawing/2014/main" id="{C2F787C7-2B0E-4DA2-BE19-7A11AA49C1B1}"/>
              </a:ext>
            </a:extLst>
          </p:cNvPr>
          <p:cNvSpPr>
            <a:spLocks xmlns:a="http://schemas.openxmlformats.org/drawingml/2006/main" noGrp="1"/>
          </p:cNvSpPr>
          <p:nvPr/>
        </p:nvSpPr>
        <p:spPr>
          <a:xfrm xmlns:a="http://schemas.openxmlformats.org/drawingml/2006/main">
            <a:off x="762000" y="15811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D96B18"/>
                </a:solidFill>
                <a:latin typeface="Arial"/>
                <a:ea typeface="Arial"/>
                <a:cs typeface="Arial"/>
              </a:defRPr>
            </a:pPr>
            <a:r>
              <a:rPr sz="3225" b="1">
                <a:solidFill>
                  <a:srgbClr val="D96B18"/>
                </a:solidFill>
                <a:latin typeface="Arial"/>
                <a:ea typeface="Arial"/>
                <a:cs typeface="Arial"/>
              </a:rPr>
              <a:t>u = Σ wk zk / Σ wk</a:t>
            </a:r>
          </a:p>
        </p:txBody>
      </p:sp>
      <p:graphicFrame>
        <p:nvGraphicFramePr>
          <p:cNvPr id="26" name=""/>
          <p:cNvGraphicFramePr/>
          <p:nvPr/>
        </p:nvGraphicFramePr>
        <p:xfrm>
          <a:off xmlns:a="http://schemas.openxmlformats.org/drawingml/2006/main" x="762000" y="2628900"/>
          <a:ext xmlns:a="http://schemas.openxmlformats.org/drawingml/2006/main" cx="10668000" cy="1990725"/>
        </p:xfrm>
        <a:graphic xmlns:a="http://schemas.openxmlformats.org/drawingml/2006/main">
          <a:graphicData uri="http://schemas.openxmlformats.org/drawingml/2006/table">
            <a:tbl>
              <a:tblPr/>
              <a:tblGrid>
                <a:gridCol w="3556000"/>
                <a:gridCol w="3556000"/>
                <a:gridCol w="3556000"/>
              </a:tblGrid>
              <a:tr h="663575">
                <a:tc>
                  <a:txBody>
                    <a:bodyPr lIns="85725" tIns="76200" rIns="85725" bIns="76200"/>
                    <a:lstStyle/>
                    <a:p>
                      <a:pPr algn="ctr">
                        <a:buNone/>
                      </a:pPr>
                      <a:r>
                        <a:rPr sz="2250" b="1">
                          <a:solidFill>
                            <a:srgbClr val="2162A0"/>
                          </a:solidFill>
                          <a:latin typeface="Arial"/>
                          <a:ea typeface="Arial"/>
                          <a:cs typeface="Arial"/>
                        </a:rPr>
                        <a:t>Regla</a:t>
                      </a:r>
                    </a:p>
                  </a:txBody>
                  <a:tcPr marL="91440" marR="91440" marT="45720" marB="45720" anchor="ctr">
                    <a:solidFill>
                      <a:srgbClr val="E7EFF5"/>
                    </a:solidFill>
                  </a:tcPr>
                </a:tc>
                <a:tc>
                  <a:txBody>
                    <a:bodyPr lIns="85725" tIns="76200" rIns="85725" bIns="76200"/>
                    <a:lstStyle/>
                    <a:p>
                      <a:pPr algn="ctr">
                        <a:buNone/>
                      </a:pPr>
                      <a:r>
                        <a:rPr sz="2250" b="1">
                          <a:solidFill>
                            <a:srgbClr val="2162A0"/>
                          </a:solidFill>
                          <a:latin typeface="Arial"/>
                          <a:ea typeface="Arial"/>
                          <a:cs typeface="Arial"/>
                        </a:rPr>
                        <a:t>Activación wk</a:t>
                      </a:r>
                    </a:p>
                  </a:txBody>
                  <a:tcPr marL="91440" marR="91440" marT="45720" marB="45720" anchor="ctr">
                    <a:solidFill>
                      <a:srgbClr val="E7EFF5"/>
                    </a:solidFill>
                  </a:tcPr>
                </a:tc>
                <a:tc>
                  <a:txBody>
                    <a:bodyPr lIns="85725" tIns="76200" rIns="85725" bIns="76200"/>
                    <a:lstStyle/>
                    <a:p>
                      <a:pPr algn="ctr">
                        <a:buNone/>
                      </a:pPr>
                      <a:r>
                        <a:rPr sz="2250" b="1">
                          <a:solidFill>
                            <a:srgbClr val="2162A0"/>
                          </a:solidFill>
                          <a:latin typeface="Arial"/>
                          <a:ea typeface="Arial"/>
                          <a:cs typeface="Arial"/>
                        </a:rPr>
                        <a:t>Salida zk</a:t>
                      </a:r>
                    </a:p>
                  </a:txBody>
                  <a:tcPr marL="91440" marR="91440" marT="45720" marB="45720" anchor="ctr">
                    <a:solidFill>
                      <a:srgbClr val="E7EFF5"/>
                    </a:solidFill>
                  </a:tcPr>
                </a:tc>
              </a:tr>
              <a:tr h="663575">
                <a:tc>
                  <a:txBody>
                    <a:bodyPr lIns="85725" tIns="76200" rIns="85725" bIns="76200"/>
                    <a:lstStyle/>
                    <a:p>
                      <a:pPr algn="ctr">
                        <a:buNone/>
                      </a:pPr>
                      <a:r>
                        <a:rPr sz="2250" b="0">
                          <a:solidFill>
                            <a:srgbClr val="233746"/>
                          </a:solidFill>
                          <a:latin typeface="Arial"/>
                          <a:ea typeface="Arial"/>
                          <a:cs typeface="Arial"/>
                        </a:rPr>
                        <a:t>R1</a:t>
                      </a:r>
                    </a:p>
                  </a:txBody>
                  <a:tcPr marL="91440" marR="91440" marT="45720" marB="45720" anchor="ctr">
                    <a:solidFill>
                      <a:srgbClr val="FFFFFF"/>
                    </a:solidFill>
                  </a:tcPr>
                </a:tc>
                <a:tc>
                  <a:txBody>
                    <a:bodyPr lIns="85725" tIns="76200" rIns="85725" bIns="76200"/>
                    <a:lstStyle/>
                    <a:p>
                      <a:pPr algn="ctr">
                        <a:buNone/>
                      </a:pPr>
                      <a:r>
                        <a:rPr sz="2250" b="0">
                          <a:solidFill>
                            <a:srgbClr val="233746"/>
                          </a:solidFill>
                          <a:latin typeface="Arial"/>
                          <a:ea typeface="Arial"/>
                          <a:cs typeface="Arial"/>
                        </a:rPr>
                        <a:t>0,6</a:t>
                      </a:r>
                    </a:p>
                  </a:txBody>
                  <a:tcPr marL="91440" marR="91440" marT="45720" marB="45720" anchor="ctr">
                    <a:solidFill>
                      <a:srgbClr val="FFFFFF"/>
                    </a:solidFill>
                  </a:tcPr>
                </a:tc>
                <a:tc>
                  <a:txBody>
                    <a:bodyPr lIns="85725" tIns="76200" rIns="85725" bIns="76200"/>
                    <a:lstStyle/>
                    <a:p>
                      <a:pPr algn="ctr">
                        <a:buNone/>
                      </a:pPr>
                      <a:r>
                        <a:rPr sz="2250" b="0">
                          <a:solidFill>
                            <a:srgbClr val="233746"/>
                          </a:solidFill>
                          <a:latin typeface="Arial"/>
                          <a:ea typeface="Arial"/>
                          <a:cs typeface="Arial"/>
                        </a:rPr>
                        <a:t>25 %</a:t>
                      </a:r>
                    </a:p>
                  </a:txBody>
                  <a:tcPr marL="91440" marR="91440" marT="45720" marB="45720" anchor="ctr">
                    <a:solidFill>
                      <a:srgbClr val="FFFFFF"/>
                    </a:solidFill>
                  </a:tcPr>
                </a:tc>
              </a:tr>
              <a:tr h="663575">
                <a:tc>
                  <a:txBody>
                    <a:bodyPr lIns="85725" tIns="76200" rIns="85725" bIns="76200"/>
                    <a:lstStyle/>
                    <a:p>
                      <a:pPr algn="ctr">
                        <a:buNone/>
                      </a:pPr>
                      <a:r>
                        <a:rPr sz="2250" b="0">
                          <a:solidFill>
                            <a:srgbClr val="233746"/>
                          </a:solidFill>
                          <a:latin typeface="Arial"/>
                          <a:ea typeface="Arial"/>
                          <a:cs typeface="Arial"/>
                        </a:rPr>
                        <a:t>R2</a:t>
                      </a:r>
                    </a:p>
                  </a:txBody>
                  <a:tcPr marL="91440" marR="91440" marT="45720" marB="45720" anchor="ctr">
                    <a:solidFill>
                      <a:srgbClr val="F4F7F9"/>
                    </a:solidFill>
                  </a:tcPr>
                </a:tc>
                <a:tc>
                  <a:txBody>
                    <a:bodyPr lIns="85725" tIns="76200" rIns="85725" bIns="76200"/>
                    <a:lstStyle/>
                    <a:p>
                      <a:pPr algn="ctr">
                        <a:buNone/>
                      </a:pPr>
                      <a:r>
                        <a:rPr sz="2250" b="0">
                          <a:solidFill>
                            <a:srgbClr val="233746"/>
                          </a:solidFill>
                          <a:latin typeface="Arial"/>
                          <a:ea typeface="Arial"/>
                          <a:cs typeface="Arial"/>
                        </a:rPr>
                        <a:t>0,3</a:t>
                      </a:r>
                    </a:p>
                  </a:txBody>
                  <a:tcPr marL="91440" marR="91440" marT="45720" marB="45720" anchor="ctr">
                    <a:solidFill>
                      <a:srgbClr val="F4F7F9"/>
                    </a:solidFill>
                  </a:tcPr>
                </a:tc>
                <a:tc>
                  <a:txBody>
                    <a:bodyPr lIns="85725" tIns="76200" rIns="85725" bIns="76200"/>
                    <a:lstStyle/>
                    <a:p>
                      <a:pPr algn="ctr">
                        <a:buNone/>
                      </a:pPr>
                      <a:r>
                        <a:rPr sz="2250" b="0">
                          <a:solidFill>
                            <a:srgbClr val="233746"/>
                          </a:solidFill>
                          <a:latin typeface="Arial"/>
                          <a:ea typeface="Arial"/>
                          <a:cs typeface="Arial"/>
                        </a:rPr>
                        <a:t>75 %</a:t>
                      </a:r>
                    </a:p>
                  </a:txBody>
                  <a:tcPr marL="91440" marR="91440" marT="45720" marB="45720" anchor="ctr">
                    <a:solidFill>
                      <a:srgbClr val="F4F7F9"/>
                    </a:solidFill>
                  </a:tcPr>
                </a:tc>
              </a:tr>
            </a:tbl>
          </a:graphicData>
        </a:graphic>
      </p:graphicFrame>
      <p:sp>
        <p:nvSpPr>
          <p:cNvPr id="11" name="">
            <a:extLst xmlns:a="http://schemas.openxmlformats.org/drawingml/2006/main">
              <a:ext uri="{FF2B5EF4-FFF2-40B4-BE49-F238E27FC236}">
                <a16:creationId xmlns:a16="http://schemas.microsoft.com/office/drawing/2014/main" id="{8DAE22F1-8200-4BA2-85D2-C825B60576C4}"/>
              </a:ext>
            </a:extLst>
          </p:cNvPr>
          <p:cNvSpPr>
            <a:spLocks xmlns:a="http://schemas.openxmlformats.org/drawingml/2006/main" noGrp="1"/>
          </p:cNvSpPr>
          <p:nvPr/>
        </p:nvSpPr>
        <p:spPr>
          <a:xfrm xmlns:a="http://schemas.openxmlformats.org/drawingml/2006/main">
            <a:off x="762000" y="51339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1">
                <a:solidFill>
                  <a:srgbClr val="233746"/>
                </a:solidFill>
                <a:latin typeface="Arial"/>
                <a:ea typeface="Arial"/>
                <a:cs typeface="Arial"/>
              </a:defRPr>
            </a:pPr>
            <a:r>
              <a:rPr sz="2475" b="1">
                <a:solidFill>
                  <a:srgbClr val="233746"/>
                </a:solidFill>
                <a:latin typeface="Arial"/>
                <a:ea typeface="Arial"/>
                <a:cs typeface="Arial"/>
              </a:rPr>
              <a:t>u = (0,6·25 + 0,3·75) / (0,6 + 0,3) ≈ 41,67 %</a:t>
            </a:r>
          </a:p>
        </p:txBody>
      </p:sp>
      <p:sp>
        <p:nvSpPr>
          <p:cNvPr id="12" name="">
            <a:extLst xmlns:a="http://schemas.openxmlformats.org/drawingml/2006/main">
              <a:ext uri="{FF2B5EF4-FFF2-40B4-BE49-F238E27FC236}">
                <a16:creationId xmlns:a16="http://schemas.microsoft.com/office/drawing/2014/main" id="{7AF90D83-17F4-4E88-8C14-E90751BD5D07}"/>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Cada regla aporta una constante; no construimos un área de salida que haya que integrar.</a:t>
            </a:r>
          </a:p>
        </p:txBody>
      </p:sp>
      <p:sp>
        <p:nvSpPr>
          <p:cNvPr id="17" name="">
            <a:extLst xmlns:a="http://schemas.openxmlformats.org/drawingml/2006/main">
              <a:ext uri="{FF2B5EF4-FFF2-40B4-BE49-F238E27FC236}">
                <a16:creationId xmlns:a16="http://schemas.microsoft.com/office/drawing/2014/main" id="{8C776C11-3D94-4793-83BE-4BECAFAD681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7950A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E117E26-9EFA-4873-AF4C-C305E1F0A16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7950A0"/>
                </a:solidFill>
                <a:latin typeface="Arial"/>
                <a:ea typeface="Arial"/>
                <a:cs typeface="Arial"/>
              </a:defRPr>
            </a:pPr>
            <a:r>
              <a:rPr sz="1350" b="1">
                <a:solidFill>
                  <a:srgbClr val="7950A0"/>
                </a:solidFill>
                <a:latin typeface="Arial"/>
                <a:ea typeface="Arial"/>
                <a:cs typeface="Arial"/>
              </a:rPr>
              <a:t>03  REGLAS E INFERENCIA    /    Capítulo 5 · condiciones y consecuencias</a:t>
            </a:r>
          </a:p>
        </p:txBody>
      </p:sp>
    </p:spTree>
    <p:extLst>
      <p:ext uri="{BB962C8B-B14F-4D97-AF65-F5344CB8AC3E}">
        <p14:creationId xmlns:p14="http://schemas.microsoft.com/office/powerpoint/2010/main" val="172189652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2162A0"/>
                </a:solidFill>
                <a:latin typeface="Arial"/>
                <a:ea typeface="Arial"/>
                <a:cs typeface="Arial"/>
              </a:defRPr>
            </a:pPr>
            <a:r>
              <a:rPr sz="3000" b="0">
                <a:solidFill>
                  <a:srgbClr val="2162A0"/>
                </a:solidFill>
                <a:latin typeface="Arial"/>
                <a:ea typeface="Arial"/>
                <a:cs typeface="Arial"/>
              </a:rPr>
              <a:t>Modelar un comportamiento con reglas</a:t>
            </a:r>
          </a:p>
        </p:txBody>
      </p:sp>
      <p:sp>
        <p:nvSpPr>
          <p:cNvPr id="9" name="">
            <a:extLst xmlns:a="http://schemas.openxmlformats.org/drawingml/2006/main">
              <a:ext uri="{FF2B5EF4-FFF2-40B4-BE49-F238E27FC236}">
                <a16:creationId xmlns:a16="http://schemas.microsoft.com/office/drawing/2014/main" id="{1C506602-BF8B-4D54-A1F2-41F97DA67113}"/>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2162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856D08-421B-4DC2-963A-204A6603E60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2162A0"/>
                </a:solidFill>
                <a:latin typeface="Arial"/>
                <a:ea typeface="Arial"/>
                <a:cs typeface="Arial"/>
              </a:defRPr>
            </a:pPr>
            <a:r>
              <a:rPr sz="1350" b="1">
                <a:solidFill>
                  <a:srgbClr val="2162A0"/>
                </a:solidFill>
                <a:latin typeface="Arial"/>
                <a:ea typeface="Arial"/>
                <a:cs typeface="Arial"/>
              </a:rPr>
              <a:t>04  MODELADO Y SIMULACIÓN    /    Capítulo 8 · aproximar comportamientos</a:t>
            </a:r>
          </a:p>
        </p:txBody>
      </p:sp>
      <p:sp>
        <p:nvSpPr>
          <p:cNvPr id="11" name="">
            <a:extLst xmlns:a="http://schemas.openxmlformats.org/drawingml/2006/main">
              <a:ext uri="{FF2B5EF4-FFF2-40B4-BE49-F238E27FC236}">
                <a16:creationId xmlns:a16="http://schemas.microsoft.com/office/drawing/2014/main" id="{05BF69FB-A408-4F80-A211-CE7A0E86BD32}"/>
              </a:ext>
            </a:extLst>
          </p:cNvPr>
          <p:cNvSpPr>
            <a:spLocks xmlns:a="http://schemas.openxmlformats.org/drawingml/2006/main" noGrp="1"/>
          </p:cNvSpPr>
          <p:nvPr/>
        </p:nvSpPr>
        <p:spPr>
          <a:xfrm xmlns:a="http://schemas.openxmlformats.org/drawingml/2006/main">
            <a:off x="762000" y="1676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162A0"/>
                </a:solidFill>
                <a:latin typeface="Arial"/>
                <a:ea typeface="Arial"/>
                <a:cs typeface="Arial"/>
              </a:defRPr>
            </a:pPr>
            <a:r>
              <a:rPr sz="2250" b="1">
                <a:solidFill>
                  <a:srgbClr val="2162A0"/>
                </a:solidFill>
                <a:latin typeface="Arial"/>
                <a:ea typeface="Arial"/>
                <a:cs typeface="Arial"/>
              </a:rPr>
              <a:t>El capítulo 8 construye una aproximación</a:t>
            </a:r>
          </a:p>
        </p:txBody>
      </p:sp>
      <p:sp>
        <p:nvSpPr>
          <p:cNvPr id="12" name="">
            <a:extLst xmlns:a="http://schemas.openxmlformats.org/drawingml/2006/main">
              <a:ext uri="{FF2B5EF4-FFF2-40B4-BE49-F238E27FC236}">
                <a16:creationId xmlns:a16="http://schemas.microsoft.com/office/drawing/2014/main" id="{E90D2678-CBDE-4E4A-B600-E3EFE38F9B4A}"/>
              </a:ext>
            </a:extLst>
          </p:cNvPr>
          <p:cNvSpPr>
            <a:spLocks xmlns:a="http://schemas.openxmlformats.org/drawingml/2006/main" noGrp="1"/>
          </p:cNvSpPr>
          <p:nvPr/>
        </p:nvSpPr>
        <p:spPr>
          <a:xfrm xmlns:a="http://schemas.openxmlformats.org/drawingml/2006/main">
            <a:off x="762000" y="2114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Observaciones y conocimiento experto relacionan entradas con salidas.</a:t>
            </a:r>
          </a:p>
        </p:txBody>
      </p:sp>
      <p:sp>
        <p:nvSpPr>
          <p:cNvPr id="13" name="">
            <a:extLst xmlns:a="http://schemas.openxmlformats.org/drawingml/2006/main">
              <a:ext uri="{FF2B5EF4-FFF2-40B4-BE49-F238E27FC236}">
                <a16:creationId xmlns:a16="http://schemas.microsoft.com/office/drawing/2014/main" id="{20A867EB-A63E-4E77-9A3D-1709B80F6793}"/>
              </a:ext>
            </a:extLst>
          </p:cNvPr>
          <p:cNvSpPr>
            <a:spLocks xmlns:a="http://schemas.openxmlformats.org/drawingml/2006/main" noGrp="1"/>
          </p:cNvSpPr>
          <p:nvPr/>
        </p:nvSpPr>
        <p:spPr>
          <a:xfrm xmlns:a="http://schemas.openxmlformats.org/drawingml/2006/main">
            <a:off x="762000" y="2933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162A0"/>
                </a:solidFill>
                <a:latin typeface="Arial"/>
                <a:ea typeface="Arial"/>
                <a:cs typeface="Arial"/>
              </a:defRPr>
            </a:pPr>
            <a:r>
              <a:rPr sz="2250" b="1">
                <a:solidFill>
                  <a:srgbClr val="2162A0"/>
                </a:solidFill>
                <a:latin typeface="Arial"/>
                <a:ea typeface="Arial"/>
                <a:cs typeface="Arial"/>
              </a:rPr>
              <a:t>Una regla describe una zona del comportamiento</a:t>
            </a:r>
          </a:p>
        </p:txBody>
      </p:sp>
      <p:sp>
        <p:nvSpPr>
          <p:cNvPr id="14" name="">
            <a:extLst xmlns:a="http://schemas.openxmlformats.org/drawingml/2006/main">
              <a:ext uri="{FF2B5EF4-FFF2-40B4-BE49-F238E27FC236}">
                <a16:creationId xmlns:a16="http://schemas.microsoft.com/office/drawing/2014/main" id="{981B8F5C-740E-4D5B-A9BF-6498009E28CB}"/>
              </a:ext>
            </a:extLst>
          </p:cNvPr>
          <p:cNvSpPr>
            <a:spLocks xmlns:a="http://schemas.openxmlformats.org/drawingml/2006/main" noGrp="1"/>
          </p:cNvSpPr>
          <p:nvPr/>
        </p:nvSpPr>
        <p:spPr>
          <a:xfrm xmlns:a="http://schemas.openxmlformats.org/drawingml/2006/main">
            <a:off x="7620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SI el calor aportado es Alto, ENTONCES la presión es Muy alta.</a:t>
            </a:r>
          </a:p>
        </p:txBody>
      </p:sp>
      <p:sp>
        <p:nvSpPr>
          <p:cNvPr id="15" name="">
            <a:extLst xmlns:a="http://schemas.openxmlformats.org/drawingml/2006/main">
              <a:ext uri="{FF2B5EF4-FFF2-40B4-BE49-F238E27FC236}">
                <a16:creationId xmlns:a16="http://schemas.microsoft.com/office/drawing/2014/main" id="{CAA4B7F2-CBBE-4DB0-A6BE-3ED9997FD8C3}"/>
              </a:ext>
            </a:extLst>
          </p:cNvPr>
          <p:cNvSpPr>
            <a:spLocks xmlns:a="http://schemas.openxmlformats.org/drawingml/2006/main" noGrp="1"/>
          </p:cNvSpPr>
          <p:nvPr/>
        </p:nvSpPr>
        <p:spPr>
          <a:xfrm xmlns:a="http://schemas.openxmlformats.org/drawingml/2006/main">
            <a:off x="762000" y="4191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2162A0"/>
                </a:solidFill>
                <a:latin typeface="Arial"/>
                <a:ea typeface="Arial"/>
                <a:cs typeface="Arial"/>
              </a:defRPr>
            </a:pPr>
            <a:r>
              <a:rPr sz="2250" b="1">
                <a:solidFill>
                  <a:srgbClr val="2162A0"/>
                </a:solidFill>
                <a:latin typeface="Arial"/>
                <a:ea typeface="Arial"/>
                <a:cs typeface="Arial"/>
              </a:rPr>
              <a:t>El solape permite interpolar</a:t>
            </a:r>
          </a:p>
        </p:txBody>
      </p:sp>
      <p:sp>
        <p:nvSpPr>
          <p:cNvPr id="16" name="">
            <a:extLst xmlns:a="http://schemas.openxmlformats.org/drawingml/2006/main">
              <a:ext uri="{FF2B5EF4-FFF2-40B4-BE49-F238E27FC236}">
                <a16:creationId xmlns:a16="http://schemas.microsoft.com/office/drawing/2014/main" id="{2FA0B65D-B718-4260-B863-5F8F96378F94}"/>
              </a:ext>
            </a:extLst>
          </p:cNvPr>
          <p:cNvSpPr>
            <a:spLocks xmlns:a="http://schemas.openxmlformats.org/drawingml/2006/main" noGrp="1"/>
          </p:cNvSpPr>
          <p:nvPr/>
        </p:nvSpPr>
        <p:spPr>
          <a:xfrm xmlns:a="http://schemas.openxmlformats.org/drawingml/2006/main">
            <a:off x="762000" y="46291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Entre situaciones conocidas, varias reglas contribuyen a la respuesta.</a:t>
            </a:r>
          </a:p>
        </p:txBody>
      </p:sp>
      <p:sp>
        <p:nvSpPr>
          <p:cNvPr id="17" name="">
            <a:extLst xmlns:a="http://schemas.openxmlformats.org/drawingml/2006/main">
              <a:ext uri="{FF2B5EF4-FFF2-40B4-BE49-F238E27FC236}">
                <a16:creationId xmlns:a16="http://schemas.microsoft.com/office/drawing/2014/main" id="{0EFF282D-9623-495F-903F-B32B528BFDC7}"/>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Las reglas pueden describir cómo se comporta un proceso o qué acción conviene aplicar.</a:t>
            </a:r>
          </a:p>
        </p:txBody>
      </p:sp>
    </p:spTree>
    <p:extLst>
      <p:ext uri="{BB962C8B-B14F-4D97-AF65-F5344CB8AC3E}">
        <p14:creationId xmlns:p14="http://schemas.microsoft.com/office/powerpoint/2010/main" val="172189652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2162A0"/>
                </a:solidFill>
                <a:latin typeface="Arial"/>
                <a:ea typeface="Arial"/>
                <a:cs typeface="Arial"/>
              </a:defRPr>
            </a:pPr>
            <a:r>
              <a:rPr sz="3000" b="0">
                <a:solidFill>
                  <a:srgbClr val="2162A0"/>
                </a:solidFill>
                <a:latin typeface="Arial"/>
                <a:ea typeface="Arial"/>
                <a:cs typeface="Arial"/>
              </a:rPr>
              <a:t>Tabla FAM: una forma compacta de escribir reglas</a:t>
            </a:r>
          </a:p>
        </p:txBody>
      </p:sp>
      <p:sp>
        <p:nvSpPr>
          <p:cNvPr id="9" name="">
            <a:extLst xmlns:a="http://schemas.openxmlformats.org/drawingml/2006/main">
              <a:ext uri="{FF2B5EF4-FFF2-40B4-BE49-F238E27FC236}">
                <a16:creationId xmlns:a16="http://schemas.microsoft.com/office/drawing/2014/main" id="{62334F12-1E88-4105-8440-CD4ED02CEC0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2162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5BD3BD-2346-4B4C-B7CC-3A65017DFEE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2162A0"/>
                </a:solidFill>
                <a:latin typeface="Arial"/>
                <a:ea typeface="Arial"/>
                <a:cs typeface="Arial"/>
              </a:defRPr>
            </a:pPr>
            <a:r>
              <a:rPr sz="1350" b="1">
                <a:solidFill>
                  <a:srgbClr val="2162A0"/>
                </a:solidFill>
                <a:latin typeface="Arial"/>
                <a:ea typeface="Arial"/>
                <a:cs typeface="Arial"/>
              </a:rPr>
              <a:t>04  MODELADO Y SIMULACIÓN    /    Capítulo 8 · aproximar comportamientos</a:t>
            </a:r>
          </a:p>
        </p:txBody>
      </p:sp>
      <p:sp>
        <p:nvSpPr>
          <p:cNvPr id="11" name="">
            <a:extLst xmlns:a="http://schemas.openxmlformats.org/drawingml/2006/main">
              <a:ext uri="{FF2B5EF4-FFF2-40B4-BE49-F238E27FC236}">
                <a16:creationId xmlns:a16="http://schemas.microsoft.com/office/drawing/2014/main" id="{E947F584-81E0-409D-B3BF-157771D349C8}"/>
              </a:ext>
            </a:extLst>
          </p:cNvPr>
          <p:cNvSpPr>
            <a:spLocks xmlns:a="http://schemas.openxmlformats.org/drawingml/2006/main" noGrp="1"/>
          </p:cNvSpPr>
          <p:nvPr/>
        </p:nvSpPr>
        <p:spPr>
          <a:xfrm xmlns:a="http://schemas.openxmlformats.org/drawingml/2006/main">
            <a:off x="762000" y="16287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Dos entradas con tres etiquetas generan 3 × 3 = 9 combinaciones.</a:t>
            </a:r>
          </a:p>
        </p:txBody>
      </p:sp>
      <p:graphicFrame>
        <p:nvGraphicFramePr>
          <p:cNvPr id="24" name=""/>
          <p:cNvGraphicFramePr/>
          <p:nvPr/>
        </p:nvGraphicFramePr>
        <p:xfrm>
          <a:off xmlns:a="http://schemas.openxmlformats.org/drawingml/2006/main" x="762000" y="2400300"/>
          <a:ext xmlns:a="http://schemas.openxmlformats.org/drawingml/2006/main" cx="10668000" cy="2524125"/>
        </p:xfrm>
        <a:graphic xmlns:a="http://schemas.openxmlformats.org/drawingml/2006/main">
          <a:graphicData uri="http://schemas.openxmlformats.org/drawingml/2006/table">
            <a:tbl>
              <a:tblPr/>
              <a:tblGrid>
                <a:gridCol w="2952750"/>
                <a:gridCol w="2571750"/>
                <a:gridCol w="2571750"/>
                <a:gridCol w="2571750"/>
              </a:tblGrid>
              <a:tr h="631031">
                <a:tc>
                  <a:txBody>
                    <a:bodyPr lIns="85725" tIns="76200" rIns="85725" bIns="76200"/>
                    <a:lstStyle/>
                    <a:p>
                      <a:pPr algn="ctr"/>
                      <a:r>
                        <a:rPr sz="2025" b="1">
                          <a:solidFill>
                            <a:srgbClr val="233746"/>
                          </a:solidFill>
                          <a:latin typeface="Arial"/>
                          <a:ea typeface="Arial"/>
                          <a:cs typeface="Arial"/>
                        </a:rPr>
                        <a:t>Error / Tendencia</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Disminuye</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Estable</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Crece</a:t>
                      </a:r>
                    </a:p>
                  </a:txBody>
                  <a:tcPr marL="91440" marR="91440" marT="45720" marB="45720" anchor="ctr">
                    <a:solidFill>
                      <a:srgbClr val="E7EFF5"/>
                    </a:solidFill>
                  </a:tcPr>
                </a:tc>
              </a:tr>
              <a:tr h="631031">
                <a:tc>
                  <a:txBody>
                    <a:bodyPr lIns="85725" tIns="76200" rIns="85725" bIns="76200"/>
                    <a:lstStyle/>
                    <a:p>
                      <a:pPr algn="ctr"/>
                      <a:r>
                        <a:rPr sz="2025" b="0">
                          <a:solidFill>
                            <a:srgbClr val="233746"/>
                          </a:solidFill>
                          <a:latin typeface="Arial"/>
                          <a:ea typeface="Arial"/>
                          <a:cs typeface="Arial"/>
                        </a:rPr>
                        <a:t>Negativo</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Muy baja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Muy baja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Baja</a:t>
                      </a:r>
                    </a:p>
                  </a:txBody>
                  <a:tcPr marL="91440" marR="91440" marT="45720" marB="45720" anchor="ctr">
                    <a:solidFill>
                      <a:srgbClr val="FFFFFF"/>
                    </a:solidFill>
                  </a:tcPr>
                </a:tc>
              </a:tr>
              <a:tr h="631031">
                <a:tc>
                  <a:txBody>
                    <a:bodyPr lIns="85725" tIns="76200" rIns="85725" bIns="76200"/>
                    <a:lstStyle/>
                    <a:p>
                      <a:pPr algn="ctr"/>
                      <a:r>
                        <a:rPr sz="2025" b="0">
                          <a:solidFill>
                            <a:srgbClr val="233746"/>
                          </a:solidFill>
                          <a:latin typeface="Arial"/>
                          <a:ea typeface="Arial"/>
                          <a:cs typeface="Arial"/>
                        </a:rPr>
                        <a:t>Cero</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Muy baja</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Baja</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Media</a:t>
                      </a:r>
                    </a:p>
                  </a:txBody>
                  <a:tcPr marL="91440" marR="91440" marT="45720" marB="45720" anchor="ctr">
                    <a:solidFill>
                      <a:srgbClr val="F4F7F9"/>
                    </a:solidFill>
                  </a:tcPr>
                </a:tc>
              </a:tr>
              <a:tr h="631031">
                <a:tc>
                  <a:txBody>
                    <a:bodyPr lIns="85725" tIns="76200" rIns="85725" bIns="76200"/>
                    <a:lstStyle/>
                    <a:p>
                      <a:pPr algn="ctr"/>
                      <a:r>
                        <a:rPr sz="2025" b="0">
                          <a:solidFill>
                            <a:srgbClr val="233746"/>
                          </a:solidFill>
                          <a:latin typeface="Arial"/>
                          <a:ea typeface="Arial"/>
                          <a:cs typeface="Arial"/>
                        </a:rPr>
                        <a:t>Positivo</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Baja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Media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Alta</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2EB4C440-108E-4ECD-88FC-64C756E10183}"/>
              </a:ext>
            </a:extLst>
          </p:cNvPr>
          <p:cNvSpPr>
            <a:spLocks xmlns:a="http://schemas.openxmlformats.org/drawingml/2006/main" noGrp="1"/>
          </p:cNvSpPr>
          <p:nvPr/>
        </p:nvSpPr>
        <p:spPr>
          <a:xfrm xmlns:a="http://schemas.openxmlformats.org/drawingml/2006/main">
            <a:off x="762000" y="52387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233746"/>
                </a:solidFill>
                <a:latin typeface="Arial"/>
                <a:ea typeface="Arial"/>
                <a:cs typeface="Arial"/>
              </a:defRPr>
            </a:pPr>
            <a:r>
              <a:rPr sz="2025" b="0">
                <a:solidFill>
                  <a:srgbClr val="233746"/>
                </a:solidFill>
                <a:latin typeface="Arial"/>
                <a:ea typeface="Arial"/>
                <a:cs typeface="Arial"/>
              </a:rPr>
              <a:t>Una celda: SI error es Positivo Y tendencia es Crece, ENTONCES potencia Alta.</a:t>
            </a:r>
          </a:p>
        </p:txBody>
      </p:sp>
      <p:sp>
        <p:nvSpPr>
          <p:cNvPr id="14" name="">
            <a:extLst xmlns:a="http://schemas.openxmlformats.org/drawingml/2006/main">
              <a:ext uri="{FF2B5EF4-FFF2-40B4-BE49-F238E27FC236}">
                <a16:creationId xmlns:a16="http://schemas.microsoft.com/office/drawing/2014/main" id="{CC2611D6-59E2-4049-A24A-63E54FCAB63C}"/>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 tabla resume reglas. Las pertenencias y la inferencia convierten esa tabla en números.</a:t>
            </a:r>
          </a:p>
        </p:txBody>
      </p:sp>
    </p:spTree>
    <p:extLst>
      <p:ext uri="{BB962C8B-B14F-4D97-AF65-F5344CB8AC3E}">
        <p14:creationId xmlns:p14="http://schemas.microsoft.com/office/powerpoint/2010/main" val="17218965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2162A0"/>
                </a:solidFill>
                <a:latin typeface="Arial"/>
                <a:ea typeface="Arial"/>
                <a:cs typeface="Arial"/>
              </a:defRPr>
            </a:pPr>
            <a:r>
              <a:rPr sz="3000" b="0">
                <a:solidFill>
                  <a:srgbClr val="2162A0"/>
                </a:solidFill>
                <a:latin typeface="Arial"/>
                <a:ea typeface="Arial"/>
                <a:cs typeface="Arial"/>
              </a:rPr>
              <a:t>Simular el proceso y decidir la acción</a:t>
            </a:r>
          </a:p>
        </p:txBody>
      </p:sp>
      <p:sp>
        <p:nvSpPr>
          <p:cNvPr id="9" name="">
            <a:extLst xmlns:a="http://schemas.openxmlformats.org/drawingml/2006/main">
              <a:ext uri="{FF2B5EF4-FFF2-40B4-BE49-F238E27FC236}">
                <a16:creationId xmlns:a16="http://schemas.microsoft.com/office/drawing/2014/main" id="{A5370104-AEC8-4521-B4FD-0954A6B30204}"/>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2162A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70CDF2-3093-412E-8073-31385C7E3816}"/>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2162A0"/>
                </a:solidFill>
                <a:latin typeface="Arial"/>
                <a:ea typeface="Arial"/>
                <a:cs typeface="Arial"/>
              </a:defRPr>
            </a:pPr>
            <a:r>
              <a:rPr sz="1350" b="1">
                <a:solidFill>
                  <a:srgbClr val="2162A0"/>
                </a:solidFill>
                <a:latin typeface="Arial"/>
                <a:ea typeface="Arial"/>
                <a:cs typeface="Arial"/>
              </a:rPr>
              <a:t>04  MODELADO Y SIMULACIÓN    /    Capítulo 8 · aproximar comportamientos</a:t>
            </a:r>
          </a:p>
        </p:txBody>
      </p:sp>
      <p:graphicFrame>
        <p:nvGraphicFramePr>
          <p:cNvPr id="23" name=""/>
          <p:cNvGraphicFramePr/>
          <p:nvPr/>
        </p:nvGraphicFramePr>
        <p:xfrm>
          <a:off xmlns:a="http://schemas.openxmlformats.org/drawingml/2006/main" x="762000" y="2076450"/>
          <a:ext xmlns:a="http://schemas.openxmlformats.org/drawingml/2006/main" cx="10668000" cy="2286000"/>
        </p:xfrm>
        <a:graphic xmlns:a="http://schemas.openxmlformats.org/drawingml/2006/main">
          <a:graphicData uri="http://schemas.openxmlformats.org/drawingml/2006/table">
            <a:tbl>
              <a:tblPr/>
              <a:tblGrid>
                <a:gridCol w="2857500"/>
                <a:gridCol w="4476750"/>
                <a:gridCol w="3333750"/>
              </a:tblGrid>
              <a:tr h="762000">
                <a:tc>
                  <a:txBody>
                    <a:bodyPr lIns="85725" tIns="76200" rIns="85725" bIns="76200"/>
                    <a:lstStyle/>
                    <a:p>
                      <a:pPr algn="ctr"/>
                      <a:r>
                        <a:rPr sz="2100" b="1">
                          <a:solidFill>
                            <a:srgbClr val="233746"/>
                          </a:solidFill>
                          <a:latin typeface="Arial"/>
                          <a:ea typeface="Arial"/>
                          <a:cs typeface="Arial"/>
                        </a:rPr>
                        <a:t>Bloque</a:t>
                      </a:r>
                    </a:p>
                  </a:txBody>
                  <a:tcPr marL="91440" marR="91440" marT="45720" marB="45720" anchor="ctr">
                    <a:solidFill>
                      <a:srgbClr val="E7EFF5"/>
                    </a:solidFill>
                  </a:tcPr>
                </a:tc>
                <a:tc>
                  <a:txBody>
                    <a:bodyPr lIns="85725" tIns="76200" rIns="85725" bIns="76200"/>
                    <a:lstStyle/>
                    <a:p>
                      <a:pPr algn="ctr"/>
                      <a:r>
                        <a:rPr sz="2100" b="1">
                          <a:solidFill>
                            <a:srgbClr val="233746"/>
                          </a:solidFill>
                          <a:latin typeface="Arial"/>
                          <a:ea typeface="Arial"/>
                          <a:cs typeface="Arial"/>
                        </a:rPr>
                        <a:t>Pregunta</a:t>
                      </a:r>
                    </a:p>
                  </a:txBody>
                  <a:tcPr marL="91440" marR="91440" marT="45720" marB="45720" anchor="ctr">
                    <a:solidFill>
                      <a:srgbClr val="E7EFF5"/>
                    </a:solidFill>
                  </a:tcPr>
                </a:tc>
                <a:tc>
                  <a:txBody>
                    <a:bodyPr lIns="85725" tIns="76200" rIns="85725" bIns="76200"/>
                    <a:lstStyle/>
                    <a:p>
                      <a:pPr algn="ctr"/>
                      <a:r>
                        <a:rPr sz="2100" b="1">
                          <a:solidFill>
                            <a:srgbClr val="233746"/>
                          </a:solidFill>
                          <a:latin typeface="Arial"/>
                          <a:ea typeface="Arial"/>
                          <a:cs typeface="Arial"/>
                        </a:rPr>
                        <a:t>Resultado</a:t>
                      </a:r>
                    </a:p>
                  </a:txBody>
                  <a:tcPr marL="91440" marR="91440" marT="45720" marB="45720" anchor="ctr">
                    <a:solidFill>
                      <a:srgbClr val="E7EFF5"/>
                    </a:solidFill>
                  </a:tcPr>
                </a:tc>
              </a:tr>
              <a:tr h="762000">
                <a:tc>
                  <a:txBody>
                    <a:bodyPr lIns="85725" tIns="76200" rIns="85725" bIns="76200"/>
                    <a:lstStyle/>
                    <a:p>
                      <a:pPr algn="ctr"/>
                      <a:r>
                        <a:rPr sz="2100" b="0">
                          <a:solidFill>
                            <a:srgbClr val="233746"/>
                          </a:solidFill>
                          <a:latin typeface="Arial"/>
                          <a:ea typeface="Arial"/>
                          <a:cs typeface="Arial"/>
                        </a:rPr>
                        <a:t>Modelo del proceso</a:t>
                      </a:r>
                    </a:p>
                  </a:txBody>
                  <a:tcPr marL="91440" marR="91440" marT="45720" marB="45720" anchor="ctr">
                    <a:solidFill>
                      <a:srgbClr val="FFFFFF"/>
                    </a:solidFill>
                  </a:tcPr>
                </a:tc>
                <a:tc>
                  <a:txBody>
                    <a:bodyPr lIns="85725" tIns="76200" rIns="85725" bIns="76200"/>
                    <a:lstStyle/>
                    <a:p>
                      <a:pPr algn="ctr"/>
                      <a:r>
                        <a:rPr sz="2100" b="0">
                          <a:solidFill>
                            <a:srgbClr val="233746"/>
                          </a:solidFill>
                          <a:latin typeface="Arial"/>
                          <a:ea typeface="Arial"/>
                          <a:cs typeface="Arial"/>
                        </a:rPr>
                        <a:t>¿Qué ocurrirá al aplicar u?</a:t>
                      </a:r>
                    </a:p>
                  </a:txBody>
                  <a:tcPr marL="91440" marR="91440" marT="45720" marB="45720" anchor="ctr">
                    <a:solidFill>
                      <a:srgbClr val="FFFFFF"/>
                    </a:solidFill>
                  </a:tcPr>
                </a:tc>
                <a:tc>
                  <a:txBody>
                    <a:bodyPr lIns="85725" tIns="76200" rIns="85725" bIns="76200"/>
                    <a:lstStyle/>
                    <a:p>
                      <a:pPr algn="ctr"/>
                      <a:r>
                        <a:rPr sz="2100" b="0">
                          <a:solidFill>
                            <a:srgbClr val="233746"/>
                          </a:solidFill>
                          <a:latin typeface="Arial"/>
                          <a:ea typeface="Arial"/>
                          <a:cs typeface="Arial"/>
                        </a:rPr>
                        <a:t>Estado o medida siguiente</a:t>
                      </a:r>
                    </a:p>
                  </a:txBody>
                  <a:tcPr marL="91440" marR="91440" marT="45720" marB="45720" anchor="ctr">
                    <a:solidFill>
                      <a:srgbClr val="FFFFFF"/>
                    </a:solidFill>
                  </a:tcPr>
                </a:tc>
              </a:tr>
              <a:tr h="762000">
                <a:tc>
                  <a:txBody>
                    <a:bodyPr lIns="85725" tIns="76200" rIns="85725" bIns="76200"/>
                    <a:lstStyle/>
                    <a:p>
                      <a:pPr algn="ctr"/>
                      <a:r>
                        <a:rPr sz="2100" b="0">
                          <a:solidFill>
                            <a:srgbClr val="233746"/>
                          </a:solidFill>
                          <a:latin typeface="Arial"/>
                          <a:ea typeface="Arial"/>
                          <a:cs typeface="Arial"/>
                        </a:rPr>
                        <a:t>Controlador</a:t>
                      </a:r>
                    </a:p>
                  </a:txBody>
                  <a:tcPr marL="91440" marR="91440" marT="45720" marB="45720" anchor="ctr">
                    <a:solidFill>
                      <a:srgbClr val="F4F7F9"/>
                    </a:solidFill>
                  </a:tcPr>
                </a:tc>
                <a:tc>
                  <a:txBody>
                    <a:bodyPr lIns="85725" tIns="76200" rIns="85725" bIns="76200"/>
                    <a:lstStyle/>
                    <a:p>
                      <a:pPr algn="ctr"/>
                      <a:r>
                        <a:rPr sz="2100" b="0">
                          <a:solidFill>
                            <a:srgbClr val="233746"/>
                          </a:solidFill>
                          <a:latin typeface="Arial"/>
                          <a:ea typeface="Arial"/>
                          <a:cs typeface="Arial"/>
                        </a:rPr>
                        <a:t>¿Qué u conviene aplicar ahora?</a:t>
                      </a:r>
                    </a:p>
                  </a:txBody>
                  <a:tcPr marL="91440" marR="91440" marT="45720" marB="45720" anchor="ctr">
                    <a:solidFill>
                      <a:srgbClr val="F4F7F9"/>
                    </a:solidFill>
                  </a:tcPr>
                </a:tc>
                <a:tc>
                  <a:txBody>
                    <a:bodyPr lIns="85725" tIns="76200" rIns="85725" bIns="76200"/>
                    <a:lstStyle/>
                    <a:p>
                      <a:pPr algn="ctr"/>
                      <a:r>
                        <a:rPr sz="2100" b="0">
                          <a:solidFill>
                            <a:srgbClr val="233746"/>
                          </a:solidFill>
                          <a:latin typeface="Arial"/>
                          <a:ea typeface="Arial"/>
                          <a:cs typeface="Arial"/>
                        </a:rPr>
                        <a:t>Acción de control</a:t>
                      </a:r>
                    </a:p>
                  </a:txBody>
                  <a:tcPr marL="91440" marR="91440" marT="45720" marB="45720" anchor="ctr">
                    <a:solidFill>
                      <a:srgbClr val="F4F7F9"/>
                    </a:solidFill>
                  </a:tcPr>
                </a:tc>
              </a:tr>
            </a:tbl>
          </a:graphicData>
        </a:graphic>
      </p:graphicFrame>
      <p:sp>
        <p:nvSpPr>
          <p:cNvPr id="12" name="">
            <a:extLst xmlns:a="http://schemas.openxmlformats.org/drawingml/2006/main">
              <a:ext uri="{FF2B5EF4-FFF2-40B4-BE49-F238E27FC236}">
                <a16:creationId xmlns:a16="http://schemas.microsoft.com/office/drawing/2014/main" id="{45DBA769-83C1-4640-99EA-68FBD85470FB}"/>
              </a:ext>
            </a:extLst>
          </p:cNvPr>
          <p:cNvSpPr>
            <a:spLocks xmlns:a="http://schemas.openxmlformats.org/drawingml/2006/main" noGrp="1"/>
          </p:cNvSpPr>
          <p:nvPr/>
        </p:nvSpPr>
        <p:spPr>
          <a:xfrm xmlns:a="http://schemas.openxmlformats.org/drawingml/2006/main">
            <a:off x="762000" y="4752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2162A0"/>
                </a:solidFill>
                <a:latin typeface="Arial"/>
                <a:ea typeface="Arial"/>
                <a:cs typeface="Arial"/>
              </a:defRPr>
            </a:pPr>
            <a:r>
              <a:rPr sz="2325" b="1">
                <a:solidFill>
                  <a:srgbClr val="2162A0"/>
                </a:solidFill>
                <a:latin typeface="Arial"/>
                <a:ea typeface="Arial"/>
                <a:cs typeface="Arial"/>
              </a:rPr>
              <a:t>Modelo dinámico: T(k + 1) = F(T(k), u(k), ambiente, Δt)</a:t>
            </a:r>
          </a:p>
        </p:txBody>
      </p:sp>
      <p:sp>
        <p:nvSpPr>
          <p:cNvPr id="13" name="">
            <a:extLst xmlns:a="http://schemas.openxmlformats.org/drawingml/2006/main">
              <a:ext uri="{FF2B5EF4-FFF2-40B4-BE49-F238E27FC236}">
                <a16:creationId xmlns:a16="http://schemas.microsoft.com/office/drawing/2014/main" id="{A32717EF-E763-478D-AA3D-D31C892A8BAC}"/>
              </a:ext>
            </a:extLst>
          </p:cNvPr>
          <p:cNvSpPr>
            <a:spLocks xmlns:a="http://schemas.openxmlformats.org/drawingml/2006/main" noGrp="1"/>
          </p:cNvSpPr>
          <p:nvPr/>
        </p:nvSpPr>
        <p:spPr>
          <a:xfrm xmlns:a="http://schemas.openxmlformats.org/drawingml/2006/main">
            <a:off x="762000" y="53721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25" b="1">
                <a:solidFill>
                  <a:srgbClr val="7950A0"/>
                </a:solidFill>
                <a:latin typeface="Arial"/>
                <a:ea typeface="Arial"/>
                <a:cs typeface="Arial"/>
              </a:defRPr>
            </a:pPr>
            <a:r>
              <a:rPr sz="2325" b="1">
                <a:solidFill>
                  <a:srgbClr val="7950A0"/>
                </a:solidFill>
                <a:latin typeface="Arial"/>
                <a:ea typeface="Arial"/>
                <a:cs typeface="Arial"/>
              </a:rPr>
              <a:t>Controlador: u(k) = h(error(k), tendencia(k))</a:t>
            </a:r>
          </a:p>
        </p:txBody>
      </p:sp>
      <p:sp>
        <p:nvSpPr>
          <p:cNvPr id="14" name="">
            <a:extLst xmlns:a="http://schemas.openxmlformats.org/drawingml/2006/main">
              <a:ext uri="{FF2B5EF4-FFF2-40B4-BE49-F238E27FC236}">
                <a16:creationId xmlns:a16="http://schemas.microsoft.com/office/drawing/2014/main" id="{6E011277-032C-4E87-9280-F65454F8B376}"/>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Para simular en el tiempo necesitamos un modelo que actualice el proceso después de cada acción.</a:t>
            </a:r>
          </a:p>
        </p:txBody>
      </p:sp>
    </p:spTree>
    <p:extLst>
      <p:ext uri="{BB962C8B-B14F-4D97-AF65-F5344CB8AC3E}">
        <p14:creationId xmlns:p14="http://schemas.microsoft.com/office/powerpoint/2010/main" val="172189652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Sistema de control: objetivo, acción y medida</a:t>
            </a:r>
          </a:p>
        </p:txBody>
      </p:sp>
      <p:sp>
        <p:nvSpPr>
          <p:cNvPr id="9" name="">
            <a:extLst xmlns:a="http://schemas.openxmlformats.org/drawingml/2006/main">
              <a:ext uri="{FF2B5EF4-FFF2-40B4-BE49-F238E27FC236}">
                <a16:creationId xmlns:a16="http://schemas.microsoft.com/office/drawing/2014/main" id="{58564AF8-4D7C-4E45-93CA-9CB867863E9C}"/>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044210E-6DA5-444E-83B3-94E1EC468E1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81b8615f32e4352"/>
          <a:stretch xmlns:a="http://schemas.openxmlformats.org/drawingml/2006/main"/>
        </p:blipFill>
        <p:spPr>
          <a:xfrm xmlns:a="http://schemas.openxmlformats.org/drawingml/2006/main">
            <a:off x="2517571" y="1600200"/>
            <a:ext cx="7156858" cy="26003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68A6391-3ADB-4085-8761-1FEA3692E8AB}"/>
              </a:ext>
            </a:extLst>
          </p:cNvPr>
          <p:cNvSpPr>
            <a:spLocks xmlns:a="http://schemas.openxmlformats.org/drawingml/2006/main" noGrp="1"/>
          </p:cNvSpPr>
          <p:nvPr/>
        </p:nvSpPr>
        <p:spPr>
          <a:xfrm xmlns:a="http://schemas.openxmlformats.org/drawingml/2006/main">
            <a:off x="762000" y="4429125"/>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AD414C"/>
                </a:solidFill>
                <a:latin typeface="Arial"/>
                <a:ea typeface="Arial"/>
                <a:cs typeface="Arial"/>
              </a:defRPr>
            </a:pPr>
            <a:r>
              <a:rPr sz="2175" b="1">
                <a:solidFill>
                  <a:srgbClr val="AD414C"/>
                </a:solidFill>
                <a:latin typeface="Arial"/>
                <a:ea typeface="Arial"/>
                <a:cs typeface="Arial"/>
              </a:rPr>
              <a:t>r: consigna     y: medida     e = r − y     u: acción aplicada</a:t>
            </a:r>
          </a:p>
        </p:txBody>
      </p:sp>
      <p:sp>
        <p:nvSpPr>
          <p:cNvPr id="13" name="">
            <a:extLst xmlns:a="http://schemas.openxmlformats.org/drawingml/2006/main">
              <a:ext uri="{FF2B5EF4-FFF2-40B4-BE49-F238E27FC236}">
                <a16:creationId xmlns:a16="http://schemas.microsoft.com/office/drawing/2014/main" id="{CFD21CA0-90BB-4E36-81CA-4F64A9ECBAAA}"/>
              </a:ext>
            </a:extLst>
          </p:cNvPr>
          <p:cNvSpPr>
            <a:spLocks xmlns:a="http://schemas.openxmlformats.org/drawingml/2006/main" noGrp="1"/>
          </p:cNvSpPr>
          <p:nvPr/>
        </p:nvSpPr>
        <p:spPr>
          <a:xfrm xmlns:a="http://schemas.openxmlformats.org/drawingml/2006/main">
            <a:off x="762000" y="50768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Sin realimentación: aplicamos una acción prefijada.</a:t>
            </a:r>
          </a:p>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Con realimentación: medimos el resultado y corregimos la acción.</a:t>
            </a:r>
          </a:p>
        </p:txBody>
      </p:sp>
      <p:sp>
        <p:nvSpPr>
          <p:cNvPr id="14" name="">
            <a:extLst xmlns:a="http://schemas.openxmlformats.org/drawingml/2006/main">
              <a:ext uri="{FF2B5EF4-FFF2-40B4-BE49-F238E27FC236}">
                <a16:creationId xmlns:a16="http://schemas.microsoft.com/office/drawing/2014/main" id="{34D70C1C-ECAB-4302-9F3E-F4F5CC9B20C2}"/>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Planta = proceso físico. El sensor mide y el actuador aplica la orden del controlador.</a:t>
            </a:r>
          </a:p>
        </p:txBody>
      </p:sp>
    </p:spTree>
    <p:extLst>
      <p:ext uri="{BB962C8B-B14F-4D97-AF65-F5344CB8AC3E}">
        <p14:creationId xmlns:p14="http://schemas.microsoft.com/office/powerpoint/2010/main" val="1721896526"/>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Dos objetivos: seguir una consigna y rechazar perturbaciones</a:t>
            </a:r>
          </a:p>
        </p:txBody>
      </p:sp>
      <p:sp>
        <p:nvSpPr>
          <p:cNvPr id="9" name="">
            <a:extLst xmlns:a="http://schemas.openxmlformats.org/drawingml/2006/main">
              <a:ext uri="{FF2B5EF4-FFF2-40B4-BE49-F238E27FC236}">
                <a16:creationId xmlns:a16="http://schemas.microsoft.com/office/drawing/2014/main" id="{6BCB83BF-842B-465E-8B70-799FDC42E453}"/>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B601610-56F5-4B25-A28B-D82B1AB79B6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graphicFrame>
        <p:nvGraphicFramePr>
          <p:cNvPr id="22" name=""/>
          <p:cNvGraphicFramePr/>
          <p:nvPr/>
        </p:nvGraphicFramePr>
        <p:xfrm>
          <a:off xmlns:a="http://schemas.openxmlformats.org/drawingml/2006/main" x="762000" y="2124075"/>
          <a:ext xmlns:a="http://schemas.openxmlformats.org/drawingml/2006/main" cx="10668000" cy="2495550"/>
        </p:xfrm>
        <a:graphic xmlns:a="http://schemas.openxmlformats.org/drawingml/2006/main">
          <a:graphicData uri="http://schemas.openxmlformats.org/drawingml/2006/table">
            <a:tbl>
              <a:tblPr/>
              <a:tblGrid>
                <a:gridCol w="3238500"/>
                <a:gridCol w="3619500"/>
                <a:gridCol w="3810000"/>
              </a:tblGrid>
              <a:tr h="831850">
                <a:tc>
                  <a:txBody>
                    <a:bodyPr lIns="85725" tIns="76200" rIns="85725" bIns="76200"/>
                    <a:lstStyle/>
                    <a:p>
                      <a:pPr algn="ctr"/>
                      <a:r>
                        <a:rPr sz="2025" b="1">
                          <a:solidFill>
                            <a:srgbClr val="233746"/>
                          </a:solidFill>
                          <a:latin typeface="Arial"/>
                          <a:ea typeface="Arial"/>
                          <a:cs typeface="Arial"/>
                        </a:rPr>
                        <a:t>Objetivo</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Qué cambia</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Qué debe hacer el control</a:t>
                      </a:r>
                    </a:p>
                  </a:txBody>
                  <a:tcPr marL="91440" marR="91440" marT="45720" marB="45720" anchor="ctr">
                    <a:solidFill>
                      <a:srgbClr val="E7EFF5"/>
                    </a:solidFill>
                  </a:tcPr>
                </a:tc>
              </a:tr>
              <a:tr h="831850">
                <a:tc>
                  <a:txBody>
                    <a:bodyPr lIns="85725" tIns="76200" rIns="85725" bIns="76200"/>
                    <a:lstStyle/>
                    <a:p>
                      <a:pPr algn="ctr"/>
                      <a:r>
                        <a:rPr sz="2025" b="0">
                          <a:solidFill>
                            <a:srgbClr val="233746"/>
                          </a:solidFill>
                          <a:latin typeface="Arial"/>
                          <a:ea typeface="Arial"/>
                          <a:cs typeface="Arial"/>
                        </a:rPr>
                        <a:t>Seguimiento de consigna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Pedimos pasar de 20 a 22 °C</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Llegar al nuevo objetivo</a:t>
                      </a:r>
                    </a:p>
                  </a:txBody>
                  <a:tcPr marL="91440" marR="91440" marT="45720" marB="45720" anchor="ctr">
                    <a:solidFill>
                      <a:srgbClr val="FFFFFF"/>
                    </a:solidFill>
                  </a:tcPr>
                </a:tc>
              </a:tr>
              <a:tr h="831850">
                <a:tc>
                  <a:txBody>
                    <a:bodyPr lIns="85725" tIns="76200" rIns="85725" bIns="76200"/>
                    <a:lstStyle/>
                    <a:p>
                      <a:pPr algn="ctr"/>
                      <a:r>
                        <a:rPr sz="2025" b="0">
                          <a:solidFill>
                            <a:srgbClr val="233746"/>
                          </a:solidFill>
                          <a:latin typeface="Arial"/>
                          <a:ea typeface="Arial"/>
                          <a:cs typeface="Arial"/>
                        </a:rPr>
                        <a:t>Rechazo de perturbaciones</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Entra aire frío; seguimos pidiendo 22 °C</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Recuperar la temperatura</a:t>
                      </a:r>
                    </a:p>
                  </a:txBody>
                  <a:tcPr marL="91440" marR="91440" marT="45720" marB="45720" anchor="ctr">
                    <a:solidFill>
                      <a:srgbClr val="F4F7F9"/>
                    </a:solidFill>
                  </a:tcPr>
                </a:tc>
              </a:tr>
            </a:tbl>
          </a:graphicData>
        </a:graphic>
      </p:graphicFrame>
      <p:sp>
        <p:nvSpPr>
          <p:cNvPr id="12" name="">
            <a:extLst xmlns:a="http://schemas.openxmlformats.org/drawingml/2006/main">
              <a:ext uri="{FF2B5EF4-FFF2-40B4-BE49-F238E27FC236}">
                <a16:creationId xmlns:a16="http://schemas.microsoft.com/office/drawing/2014/main" id="{14DD7047-F104-429E-9B06-BBB74D99D10C}"/>
              </a:ext>
            </a:extLst>
          </p:cNvPr>
          <p:cNvSpPr>
            <a:spLocks xmlns:a="http://schemas.openxmlformats.org/drawingml/2006/main" noGrp="1"/>
          </p:cNvSpPr>
          <p:nvPr/>
        </p:nvSpPr>
        <p:spPr>
          <a:xfrm xmlns:a="http://schemas.openxmlformats.org/drawingml/2006/main">
            <a:off x="762000" y="50006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Evaluamos rapidez, sobreimpulso, error persistente y esfuerzo de actuación.</a:t>
            </a:r>
          </a:p>
        </p:txBody>
      </p:sp>
      <p:sp>
        <p:nvSpPr>
          <p:cNvPr id="13" name="">
            <a:extLst xmlns:a="http://schemas.openxmlformats.org/drawingml/2006/main">
              <a:ext uri="{FF2B5EF4-FFF2-40B4-BE49-F238E27FC236}">
                <a16:creationId xmlns:a16="http://schemas.microsoft.com/office/drawing/2014/main" id="{57E7FD4C-E0DA-4451-BBB1-0B7488BA272F}"/>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Un buen resultado en una de estas pruebas no asegura un buen resultado en la otra.</a:t>
            </a:r>
          </a:p>
        </p:txBody>
      </p:sp>
    </p:spTree>
    <p:extLst>
      <p:ext uri="{BB962C8B-B14F-4D97-AF65-F5344CB8AC3E}">
        <p14:creationId xmlns:p14="http://schemas.microsoft.com/office/powerpoint/2010/main" val="1721896526"/>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La estructura del controlador fuzzy: figura 13.2</a:t>
            </a:r>
          </a:p>
        </p:txBody>
      </p:sp>
      <p:sp>
        <p:nvSpPr>
          <p:cNvPr id="9" name="">
            <a:extLst xmlns:a="http://schemas.openxmlformats.org/drawingml/2006/main">
              <a:ext uri="{FF2B5EF4-FFF2-40B4-BE49-F238E27FC236}">
                <a16:creationId xmlns:a16="http://schemas.microsoft.com/office/drawing/2014/main" id="{0315062D-ABC7-434E-A549-543C2FAD804A}"/>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01FC12-4A98-4CE0-AEA9-BD0CF49AC6A4}"/>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93f8da8e7a94ce0"/>
          <a:stretch xmlns:a="http://schemas.openxmlformats.org/drawingml/2006/main"/>
        </p:blipFill>
        <p:spPr>
          <a:xfrm xmlns:a="http://schemas.openxmlformats.org/drawingml/2006/main">
            <a:off x="1651669" y="1619250"/>
            <a:ext cx="8888662" cy="35147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0BAC26A3-213B-4665-B34C-9F20668F66C1}"/>
              </a:ext>
            </a:extLst>
          </p:cNvPr>
          <p:cNvSpPr>
            <a:spLocks xmlns:a="http://schemas.openxmlformats.org/drawingml/2006/main" noGrp="1"/>
          </p:cNvSpPr>
          <p:nvPr/>
        </p:nvSpPr>
        <p:spPr>
          <a:xfrm xmlns:a="http://schemas.openxmlformats.org/drawingml/2006/main">
            <a:off x="762000" y="53149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025" b="0">
                <a:solidFill>
                  <a:srgbClr val="233746"/>
                </a:solidFill>
                <a:latin typeface="Arial"/>
                <a:ea typeface="Arial"/>
                <a:cs typeface="Arial"/>
              </a:defRPr>
            </a:pPr>
            <a:r>
              <a:rPr sz="2025" b="0">
                <a:solidFill>
                  <a:srgbClr val="233746"/>
                </a:solidFill>
                <a:latin typeface="Arial"/>
                <a:ea typeface="Arial"/>
                <a:cs typeface="Arial"/>
              </a:rPr>
              <a:t>Conocimiento: etiquetas y pertenencias. Reglas: relación entre condiciones y acciones.</a:t>
            </a:r>
          </a:p>
        </p:txBody>
      </p:sp>
      <p:sp>
        <p:nvSpPr>
          <p:cNvPr id="13" name="">
            <a:extLst xmlns:a="http://schemas.openxmlformats.org/drawingml/2006/main">
              <a:ext uri="{FF2B5EF4-FFF2-40B4-BE49-F238E27FC236}">
                <a16:creationId xmlns:a16="http://schemas.microsoft.com/office/drawing/2014/main" id="{7ECC58B8-61D1-4943-8519-50F734C649DA}"/>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Escalar, fuzzificar, inferir y obtener una acción. La planta responde y volvemos a medir.</a:t>
            </a:r>
          </a:p>
        </p:txBody>
      </p:sp>
    </p:spTree>
    <p:extLst>
      <p:ext uri="{BB962C8B-B14F-4D97-AF65-F5344CB8AC3E}">
        <p14:creationId xmlns:p14="http://schemas.microsoft.com/office/powerpoint/2010/main" val="1721896526"/>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Diseñar el controlador es elegir la función u = h(…)</a:t>
            </a:r>
          </a:p>
        </p:txBody>
      </p:sp>
      <p:sp>
        <p:nvSpPr>
          <p:cNvPr id="9" name="">
            <a:extLst xmlns:a="http://schemas.openxmlformats.org/drawingml/2006/main">
              <a:ext uri="{FF2B5EF4-FFF2-40B4-BE49-F238E27FC236}">
                <a16:creationId xmlns:a16="http://schemas.microsoft.com/office/drawing/2014/main" id="{396E2253-5EA4-4642-B4EE-69D5B4502196}"/>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D3FF0C-541F-4781-8726-941C83470190}"/>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sp>
        <p:nvSpPr>
          <p:cNvPr id="11" name="">
            <a:extLst xmlns:a="http://schemas.openxmlformats.org/drawingml/2006/main">
              <a:ext uri="{FF2B5EF4-FFF2-40B4-BE49-F238E27FC236}">
                <a16:creationId xmlns:a16="http://schemas.microsoft.com/office/drawing/2014/main" id="{7F07FB9F-26A7-467B-86CF-FC25EA8682B8}"/>
              </a:ext>
            </a:extLst>
          </p:cNvPr>
          <p:cNvSpPr>
            <a:spLocks xmlns:a="http://schemas.openxmlformats.org/drawingml/2006/main" noGrp="1"/>
          </p:cNvSpPr>
          <p:nvPr/>
        </p:nvSpPr>
        <p:spPr>
          <a:xfrm xmlns:a="http://schemas.openxmlformats.org/drawingml/2006/main">
            <a:off x="762000" y="16478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550" b="1">
                <a:solidFill>
                  <a:srgbClr val="AD414C"/>
                </a:solidFill>
                <a:latin typeface="Arial"/>
                <a:ea typeface="Arial"/>
                <a:cs typeface="Arial"/>
              </a:defRPr>
            </a:pPr>
            <a:r>
              <a:rPr sz="2550" b="1">
                <a:solidFill>
                  <a:srgbClr val="AD414C"/>
                </a:solidFill>
                <a:latin typeface="Arial"/>
                <a:ea typeface="Arial"/>
                <a:cs typeface="Arial"/>
              </a:rPr>
              <a:t>Usaremos el error y su tendencia: u = h(e, de/dt).</a:t>
            </a:r>
          </a:p>
        </p:txBody>
      </p:sp>
      <p:graphicFrame>
        <p:nvGraphicFramePr>
          <p:cNvPr id="24" name=""/>
          <p:cNvGraphicFramePr/>
          <p:nvPr/>
        </p:nvGraphicFramePr>
        <p:xfrm>
          <a:off xmlns:a="http://schemas.openxmlformats.org/drawingml/2006/main" x="762000" y="2505075"/>
          <a:ext xmlns:a="http://schemas.openxmlformats.org/drawingml/2006/main" cx="10668000" cy="2476500"/>
        </p:xfrm>
        <a:graphic xmlns:a="http://schemas.openxmlformats.org/drawingml/2006/main">
          <a:graphicData uri="http://schemas.openxmlformats.org/drawingml/2006/table">
            <a:tbl>
              <a:tblPr/>
              <a:tblGrid>
                <a:gridCol w="3381375"/>
                <a:gridCol w="7286625"/>
              </a:tblGrid>
              <a:tr h="619125">
                <a:tc>
                  <a:txBody>
                    <a:bodyPr lIns="85725" tIns="76200" rIns="85725" bIns="76200"/>
                    <a:lstStyle/>
                    <a:p>
                      <a:pPr algn="ctr"/>
                      <a:r>
                        <a:rPr sz="2025" b="1">
                          <a:solidFill>
                            <a:srgbClr val="233746"/>
                          </a:solidFill>
                          <a:latin typeface="Arial"/>
                          <a:ea typeface="Arial"/>
                          <a:cs typeface="Arial"/>
                        </a:rPr>
                        <a:t>Información</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Intuición</a:t>
                      </a:r>
                    </a:p>
                  </a:txBody>
                  <a:tcPr marL="91440" marR="91440" marT="45720" marB="45720" anchor="ctr">
                    <a:solidFill>
                      <a:srgbClr val="E7EFF5"/>
                    </a:solidFill>
                  </a:tcPr>
                </a:tc>
              </a:tr>
              <a:tr h="619125">
                <a:tc>
                  <a:txBody>
                    <a:bodyPr lIns="85725" tIns="76200" rIns="85725" bIns="76200"/>
                    <a:lstStyle/>
                    <a:p>
                      <a:pPr algn="ctr"/>
                      <a:r>
                        <a:rPr sz="2025" b="0">
                          <a:solidFill>
                            <a:srgbClr val="233746"/>
                          </a:solidFill>
                          <a:latin typeface="Arial"/>
                          <a:ea typeface="Arial"/>
                          <a:cs typeface="Arial"/>
                        </a:rPr>
                        <a:t>Error e</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Cuánto falta para alcanzar el objetivo</a:t>
                      </a:r>
                    </a:p>
                  </a:txBody>
                  <a:tcPr marL="91440" marR="91440" marT="45720" marB="45720" anchor="ctr">
                    <a:solidFill>
                      <a:srgbClr val="FFFFFF"/>
                    </a:solidFill>
                  </a:tcPr>
                </a:tc>
              </a:tr>
              <a:tr h="619125">
                <a:tc>
                  <a:txBody>
                    <a:bodyPr lIns="85725" tIns="76200" rIns="85725" bIns="76200"/>
                    <a:lstStyle/>
                    <a:p>
                      <a:pPr algn="ctr"/>
                      <a:r>
                        <a:rPr sz="2025" b="0">
                          <a:solidFill>
                            <a:srgbClr val="233746"/>
                          </a:solidFill>
                          <a:latin typeface="Arial"/>
                          <a:ea typeface="Arial"/>
                          <a:cs typeface="Arial"/>
                        </a:rPr>
                        <a:t>Tendencia de/dt</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Si nos acercamos o nos alejamos, y a qué velocidad</a:t>
                      </a:r>
                    </a:p>
                  </a:txBody>
                  <a:tcPr marL="91440" marR="91440" marT="45720" marB="45720" anchor="ctr">
                    <a:solidFill>
                      <a:srgbClr val="F4F7F9"/>
                    </a:solidFill>
                  </a:tcPr>
                </a:tc>
              </a:tr>
              <a:tr h="619125">
                <a:tc>
                  <a:txBody>
                    <a:bodyPr lIns="85725" tIns="76200" rIns="85725" bIns="76200"/>
                    <a:lstStyle/>
                    <a:p>
                      <a:pPr algn="ctr"/>
                      <a:r>
                        <a:rPr sz="2025" b="0">
                          <a:solidFill>
                            <a:srgbClr val="233746"/>
                          </a:solidFill>
                          <a:latin typeface="Arial"/>
                          <a:ea typeface="Arial"/>
                          <a:cs typeface="Arial"/>
                        </a:rPr>
                        <a:t>Acumulación ∫e dt</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Si queda un error persistente en el tiempo</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737516B5-9C9D-4A3A-88E3-93C4C7488768}"/>
              </a:ext>
            </a:extLst>
          </p:cNvPr>
          <p:cNvSpPr>
            <a:spLocks xmlns:a="http://schemas.openxmlformats.org/drawingml/2006/main" noGrp="1"/>
          </p:cNvSpPr>
          <p:nvPr/>
        </p:nvSpPr>
        <p:spPr>
          <a:xfrm xmlns:a="http://schemas.openxmlformats.org/drawingml/2006/main">
            <a:off x="762000" y="5324475"/>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PID combina P, I y D con coeficientes. Fuzzy construye h con reglas y pertenencias.</a:t>
            </a:r>
          </a:p>
        </p:txBody>
      </p:sp>
      <p:sp>
        <p:nvSpPr>
          <p:cNvPr id="14" name="">
            <a:extLst xmlns:a="http://schemas.openxmlformats.org/drawingml/2006/main">
              <a:ext uri="{FF2B5EF4-FFF2-40B4-BE49-F238E27FC236}">
                <a16:creationId xmlns:a16="http://schemas.microsoft.com/office/drawing/2014/main" id="{35A61A3A-2256-4C17-AB5F-6A5ADECE9611}"/>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No necesitamos desarrollar Laplace para programar y comprobar este primer controlador.</a:t>
            </a:r>
          </a:p>
        </p:txBody>
      </p:sp>
    </p:spTree>
    <p:extLst>
      <p:ext uri="{BB962C8B-B14F-4D97-AF65-F5344CB8AC3E}">
        <p14:creationId xmlns:p14="http://schemas.microsoft.com/office/powerpoint/2010/main" val="172189652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Superficie de control: una acción para cada par de entradas</a:t>
            </a:r>
          </a:p>
        </p:txBody>
      </p:sp>
      <p:sp>
        <p:nvSpPr>
          <p:cNvPr id="9" name="">
            <a:extLst xmlns:a="http://schemas.openxmlformats.org/drawingml/2006/main">
              <a:ext uri="{FF2B5EF4-FFF2-40B4-BE49-F238E27FC236}">
                <a16:creationId xmlns:a16="http://schemas.microsoft.com/office/drawing/2014/main" id="{5114B053-F479-4BBF-AF42-5EC38B60A7E0}"/>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713962-39F8-4C22-BBF7-1FB67B3A51E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sp>
        <p:nvSpPr>
          <p:cNvPr id="11" name="">
            <a:extLst xmlns:a="http://schemas.openxmlformats.org/drawingml/2006/main">
              <a:ext uri="{FF2B5EF4-FFF2-40B4-BE49-F238E27FC236}">
                <a16:creationId xmlns:a16="http://schemas.microsoft.com/office/drawing/2014/main" id="{6E188264-3328-40F4-A4C0-9C34B49D1EAA}"/>
              </a:ext>
            </a:extLst>
          </p:cNvPr>
          <p:cNvSpPr>
            <a:spLocks xmlns:a="http://schemas.openxmlformats.org/drawingml/2006/main" noGrp="1"/>
          </p:cNvSpPr>
          <p:nvPr/>
        </p:nvSpPr>
        <p:spPr>
          <a:xfrm xmlns:a="http://schemas.openxmlformats.org/drawingml/2006/main">
            <a:off x="762000" y="16192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Cada celda contiene u (%). Es una muestra de la función h(error, tendencia).</a:t>
            </a:r>
          </a:p>
        </p:txBody>
      </p:sp>
      <p:graphicFrame>
        <p:nvGraphicFramePr>
          <p:cNvPr id="24" name=""/>
          <p:cNvGraphicFramePr/>
          <p:nvPr/>
        </p:nvGraphicFramePr>
        <p:xfrm>
          <a:off xmlns:a="http://schemas.openxmlformats.org/drawingml/2006/main" x="762000" y="2505075"/>
          <a:ext xmlns:a="http://schemas.openxmlformats.org/drawingml/2006/main" cx="10668000" cy="2667000"/>
        </p:xfrm>
        <a:graphic xmlns:a="http://schemas.openxmlformats.org/drawingml/2006/main">
          <a:graphicData uri="http://schemas.openxmlformats.org/drawingml/2006/table">
            <a:tbl>
              <a:tblPr/>
              <a:tblGrid>
                <a:gridCol w="2095500"/>
                <a:gridCol w="1714500"/>
                <a:gridCol w="1714500"/>
                <a:gridCol w="1714500"/>
                <a:gridCol w="1714500"/>
                <a:gridCol w="1714500"/>
              </a:tblGrid>
              <a:tr h="444500">
                <a:tc>
                  <a:txBody>
                    <a:bodyPr lIns="85725" tIns="76200" rIns="85725" bIns="76200"/>
                    <a:lstStyle/>
                    <a:p>
                      <a:pPr algn="ctr"/>
                      <a:r>
                        <a:rPr sz="2025" b="1">
                          <a:solidFill>
                            <a:srgbClr val="233746"/>
                          </a:solidFill>
                          <a:latin typeface="Arial"/>
                          <a:ea typeface="Arial"/>
                          <a:cs typeface="Arial"/>
                        </a:rPr>
                        <a:t>e / de/dt</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−1</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−0,5</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0</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0,5</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1</a:t>
                      </a:r>
                    </a:p>
                  </a:txBody>
                  <a:tcPr marL="91440" marR="91440" marT="45720" marB="45720" anchor="ctr">
                    <a:solidFill>
                      <a:srgbClr val="E7EFF5"/>
                    </a:solidFill>
                  </a:tcPr>
                </a:tc>
              </a:tr>
              <a:tr h="444500">
                <a:tc>
                  <a:txBody>
                    <a:bodyPr lIns="85725" tIns="76200" rIns="85725" bIns="76200"/>
                    <a:lstStyle/>
                    <a:p>
                      <a:pPr algn="ctr"/>
                      <a:r>
                        <a:rPr sz="2025" b="0">
                          <a:solidFill>
                            <a:srgbClr val="233746"/>
                          </a:solidFill>
                          <a:latin typeface="Arial"/>
                          <a:ea typeface="Arial"/>
                          <a:cs typeface="Arial"/>
                        </a:rPr>
                        <a:t>-4</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10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20</a:t>
                      </a:r>
                    </a:p>
                  </a:txBody>
                  <a:tcPr marL="91440" marR="91440" marT="45720" marB="45720" anchor="ctr">
                    <a:solidFill>
                      <a:srgbClr val="FFFFFF"/>
                    </a:solidFill>
                  </a:tcPr>
                </a:tc>
              </a:tr>
              <a:tr h="444500">
                <a:tc>
                  <a:txBody>
                    <a:bodyPr lIns="85725" tIns="76200" rIns="85725" bIns="76200"/>
                    <a:lstStyle/>
                    <a:p>
                      <a:pPr algn="ctr"/>
                      <a:r>
                        <a:rPr sz="2025" b="0">
                          <a:solidFill>
                            <a:srgbClr val="233746"/>
                          </a:solidFill>
                          <a:latin typeface="Arial"/>
                          <a:ea typeface="Arial"/>
                          <a:cs typeface="Arial"/>
                        </a:rPr>
                        <a:t>-2</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0</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5</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10</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25</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40</a:t>
                      </a:r>
                    </a:p>
                  </a:txBody>
                  <a:tcPr marL="91440" marR="91440" marT="45720" marB="45720" anchor="ctr">
                    <a:solidFill>
                      <a:srgbClr val="F4F7F9"/>
                    </a:solidFill>
                  </a:tcPr>
                </a:tc>
              </a:tr>
              <a:tr h="444500">
                <a:tc>
                  <a:txBody>
                    <a:bodyPr lIns="85725" tIns="76200" rIns="85725" bIns="76200"/>
                    <a:lstStyle/>
                    <a:p>
                      <a:pPr algn="ctr"/>
                      <a:r>
                        <a:rPr sz="2025" b="0">
                          <a:solidFill>
                            <a:srgbClr val="233746"/>
                          </a:solidFill>
                          <a:latin typeface="Arial"/>
                          <a:ea typeface="Arial"/>
                          <a:cs typeface="Arial"/>
                        </a:rPr>
                        <a:t>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10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20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40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60</a:t>
                      </a:r>
                    </a:p>
                  </a:txBody>
                  <a:tcPr marL="91440" marR="91440" marT="45720" marB="45720" anchor="ctr">
                    <a:solidFill>
                      <a:srgbClr val="FFFFFF"/>
                    </a:solidFill>
                  </a:tcPr>
                </a:tc>
              </a:tr>
              <a:tr h="444500">
                <a:tc>
                  <a:txBody>
                    <a:bodyPr lIns="85725" tIns="76200" rIns="85725" bIns="76200"/>
                    <a:lstStyle/>
                    <a:p>
                      <a:pPr algn="ctr"/>
                      <a:r>
                        <a:rPr sz="2025" b="0">
                          <a:solidFill>
                            <a:srgbClr val="233746"/>
                          </a:solidFill>
                          <a:latin typeface="Arial"/>
                          <a:ea typeface="Arial"/>
                          <a:cs typeface="Arial"/>
                        </a:rPr>
                        <a:t>2</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10</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25</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40</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60</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80</a:t>
                      </a:r>
                    </a:p>
                  </a:txBody>
                  <a:tcPr marL="91440" marR="91440" marT="45720" marB="45720" anchor="ctr">
                    <a:solidFill>
                      <a:srgbClr val="F4F7F9"/>
                    </a:solidFill>
                  </a:tcPr>
                </a:tc>
              </a:tr>
              <a:tr h="444500">
                <a:tc>
                  <a:txBody>
                    <a:bodyPr lIns="85725" tIns="76200" rIns="85725" bIns="76200"/>
                    <a:lstStyle/>
                    <a:p>
                      <a:pPr algn="ctr"/>
                      <a:r>
                        <a:rPr sz="2025" b="0">
                          <a:solidFill>
                            <a:srgbClr val="233746"/>
                          </a:solidFill>
                          <a:latin typeface="Arial"/>
                          <a:ea typeface="Arial"/>
                          <a:cs typeface="Arial"/>
                        </a:rPr>
                        <a:t>4</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20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40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60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80</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100</a:t>
                      </a:r>
                    </a:p>
                  </a:txBody>
                  <a:tcPr marL="91440" marR="91440" marT="45720" marB="45720" anchor="ctr">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88D26DCB-D3E5-49F0-AC3C-C4E0C37EA6B6}"/>
              </a:ext>
            </a:extLst>
          </p:cNvPr>
          <p:cNvSpPr>
            <a:spLocks xmlns:a="http://schemas.openxmlformats.org/drawingml/2006/main" noGrp="1"/>
          </p:cNvSpPr>
          <p:nvPr/>
        </p:nvSpPr>
        <p:spPr>
          <a:xfrm xmlns:a="http://schemas.openxmlformats.org/drawingml/2006/main">
            <a:off x="762000" y="54197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0">
                <a:solidFill>
                  <a:srgbClr val="233746"/>
                </a:solidFill>
                <a:latin typeface="Arial"/>
                <a:ea typeface="Arial"/>
                <a:cs typeface="Arial"/>
              </a:defRPr>
            </a:pPr>
            <a:r>
              <a:rPr sz="2175" b="0">
                <a:solidFill>
                  <a:srgbClr val="233746"/>
                </a:solidFill>
                <a:latin typeface="Arial"/>
                <a:ea typeface="Arial"/>
                <a:cs typeface="Arial"/>
              </a:rPr>
              <a:t>Fijar las pertenencias, las reglas y los operadores fija esta superficie.</a:t>
            </a:r>
          </a:p>
        </p:txBody>
      </p:sp>
      <p:sp>
        <p:nvSpPr>
          <p:cNvPr id="14" name="">
            <a:extLst xmlns:a="http://schemas.openxmlformats.org/drawingml/2006/main">
              <a:ext uri="{FF2B5EF4-FFF2-40B4-BE49-F238E27FC236}">
                <a16:creationId xmlns:a16="http://schemas.microsoft.com/office/drawing/2014/main" id="{12446FA6-153C-4847-A143-A3656924E623}"/>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Esta tabla calcula la acción. Para conocer la temperatura futura aún necesitamos la planta.</a:t>
            </a:r>
          </a:p>
        </p:txBody>
      </p:sp>
    </p:spTree>
    <p:extLst>
      <p:ext uri="{BB962C8B-B14F-4D97-AF65-F5344CB8AC3E}">
        <p14:creationId xmlns:p14="http://schemas.microsoft.com/office/powerpoint/2010/main" val="172189652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59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Antes de diseñar: qué necesitamos conocer</a:t>
            </a:r>
          </a:p>
        </p:txBody>
      </p:sp>
      <p:sp>
        <p:nvSpPr>
          <p:cNvPr id="9" name="">
            <a:extLst xmlns:a="http://schemas.openxmlformats.org/drawingml/2006/main">
              <a:ext uri="{FF2B5EF4-FFF2-40B4-BE49-F238E27FC236}">
                <a16:creationId xmlns:a16="http://schemas.microsoft.com/office/drawing/2014/main" id="{082130B3-0629-4E68-A9BC-31710A6D210E}"/>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2BBF46-37EC-4281-BC74-AE674AABBE87}"/>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sp>
        <p:nvSpPr>
          <p:cNvPr id="11" name="">
            <a:extLst xmlns:a="http://schemas.openxmlformats.org/drawingml/2006/main">
              <a:ext uri="{FF2B5EF4-FFF2-40B4-BE49-F238E27FC236}">
                <a16:creationId xmlns:a16="http://schemas.microsoft.com/office/drawing/2014/main" id="{7B065E80-7E0E-4942-8413-06072F6F5108}"/>
              </a:ext>
            </a:extLst>
          </p:cNvPr>
          <p:cNvSpPr>
            <a:spLocks xmlns:a="http://schemas.openxmlformats.org/drawingml/2006/main" noGrp="1"/>
          </p:cNvSpPr>
          <p:nvPr/>
        </p:nvSpPr>
        <p:spPr>
          <a:xfrm xmlns:a="http://schemas.openxmlformats.org/drawingml/2006/main">
            <a:off x="762000" y="1676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AD414C"/>
                </a:solidFill>
                <a:latin typeface="Arial"/>
                <a:ea typeface="Arial"/>
                <a:cs typeface="Arial"/>
              </a:defRPr>
            </a:pPr>
            <a:r>
              <a:rPr sz="2250" b="1">
                <a:solidFill>
                  <a:srgbClr val="AD414C"/>
                </a:solidFill>
                <a:latin typeface="Arial"/>
                <a:ea typeface="Arial"/>
                <a:cs typeface="Arial"/>
              </a:rPr>
              <a:t>Medir y poder actuar</a:t>
            </a:r>
          </a:p>
        </p:txBody>
      </p:sp>
      <p:sp>
        <p:nvSpPr>
          <p:cNvPr id="12" name="">
            <a:extLst xmlns:a="http://schemas.openxmlformats.org/drawingml/2006/main">
              <a:ext uri="{FF2B5EF4-FFF2-40B4-BE49-F238E27FC236}">
                <a16:creationId xmlns:a16="http://schemas.microsoft.com/office/drawing/2014/main" id="{D746700F-3444-40E4-AE50-DA5243A69C4B}"/>
              </a:ext>
            </a:extLst>
          </p:cNvPr>
          <p:cNvSpPr>
            <a:spLocks xmlns:a="http://schemas.openxmlformats.org/drawingml/2006/main" noGrp="1"/>
          </p:cNvSpPr>
          <p:nvPr/>
        </p:nvSpPr>
        <p:spPr>
          <a:xfrm xmlns:a="http://schemas.openxmlformats.org/drawingml/2006/main">
            <a:off x="762000" y="2114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Las variables relevantes deben estar disponibles y el actuador debe tener capacidad.</a:t>
            </a:r>
          </a:p>
        </p:txBody>
      </p:sp>
      <p:sp>
        <p:nvSpPr>
          <p:cNvPr id="13" name="">
            <a:extLst xmlns:a="http://schemas.openxmlformats.org/drawingml/2006/main">
              <a:ext uri="{FF2B5EF4-FFF2-40B4-BE49-F238E27FC236}">
                <a16:creationId xmlns:a16="http://schemas.microsoft.com/office/drawing/2014/main" id="{3A7DFB2C-AC55-4E1A-B0D8-A95E21901893}"/>
              </a:ext>
            </a:extLst>
          </p:cNvPr>
          <p:cNvSpPr>
            <a:spLocks xmlns:a="http://schemas.openxmlformats.org/drawingml/2006/main" noGrp="1"/>
          </p:cNvSpPr>
          <p:nvPr/>
        </p:nvSpPr>
        <p:spPr>
          <a:xfrm xmlns:a="http://schemas.openxmlformats.org/drawingml/2006/main">
            <a:off x="762000" y="2933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AD414C"/>
                </a:solidFill>
                <a:latin typeface="Arial"/>
                <a:ea typeface="Arial"/>
                <a:cs typeface="Arial"/>
              </a:defRPr>
            </a:pPr>
            <a:r>
              <a:rPr sz="2250" b="1">
                <a:solidFill>
                  <a:srgbClr val="AD414C"/>
                </a:solidFill>
                <a:latin typeface="Arial"/>
                <a:ea typeface="Arial"/>
                <a:cs typeface="Arial"/>
              </a:rPr>
              <a:t>Conocimiento para las reglas</a:t>
            </a:r>
          </a:p>
        </p:txBody>
      </p:sp>
      <p:sp>
        <p:nvSpPr>
          <p:cNvPr id="14" name="">
            <a:extLst xmlns:a="http://schemas.openxmlformats.org/drawingml/2006/main">
              <a:ext uri="{FF2B5EF4-FFF2-40B4-BE49-F238E27FC236}">
                <a16:creationId xmlns:a16="http://schemas.microsoft.com/office/drawing/2014/main" id="{7550EAD6-52EB-44D7-87B3-1A933674B6FD}"/>
              </a:ext>
            </a:extLst>
          </p:cNvPr>
          <p:cNvSpPr>
            <a:spLocks xmlns:a="http://schemas.openxmlformats.org/drawingml/2006/main" noGrp="1"/>
          </p:cNvSpPr>
          <p:nvPr/>
        </p:nvSpPr>
        <p:spPr>
          <a:xfrm xmlns:a="http://schemas.openxmlformats.org/drawingml/2006/main">
            <a:off x="7620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Usar experiencia, sentido físico o datos. Definir el rango de funcionamiento.</a:t>
            </a:r>
          </a:p>
        </p:txBody>
      </p:sp>
      <p:sp>
        <p:nvSpPr>
          <p:cNvPr id="15" name="">
            <a:extLst xmlns:a="http://schemas.openxmlformats.org/drawingml/2006/main">
              <a:ext uri="{FF2B5EF4-FFF2-40B4-BE49-F238E27FC236}">
                <a16:creationId xmlns:a16="http://schemas.microsoft.com/office/drawing/2014/main" id="{40F929B5-9CC4-41E3-86E0-701C29786E40}"/>
              </a:ext>
            </a:extLst>
          </p:cNvPr>
          <p:cNvSpPr>
            <a:spLocks xmlns:a="http://schemas.openxmlformats.org/drawingml/2006/main" noGrp="1"/>
          </p:cNvSpPr>
          <p:nvPr/>
        </p:nvSpPr>
        <p:spPr>
          <a:xfrm xmlns:a="http://schemas.openxmlformats.org/drawingml/2006/main">
            <a:off x="762000" y="4191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AD414C"/>
                </a:solidFill>
                <a:latin typeface="Arial"/>
                <a:ea typeface="Arial"/>
                <a:cs typeface="Arial"/>
              </a:defRPr>
            </a:pPr>
            <a:r>
              <a:rPr sz="2250" b="1">
                <a:solidFill>
                  <a:srgbClr val="AD414C"/>
                </a:solidFill>
                <a:latin typeface="Arial"/>
                <a:ea typeface="Arial"/>
                <a:cs typeface="Arial"/>
              </a:rPr>
              <a:t>Un objetivo alcanzable y medible</a:t>
            </a:r>
          </a:p>
        </p:txBody>
      </p:sp>
      <p:sp>
        <p:nvSpPr>
          <p:cNvPr id="16" name="">
            <a:extLst xmlns:a="http://schemas.openxmlformats.org/drawingml/2006/main">
              <a:ext uri="{FF2B5EF4-FFF2-40B4-BE49-F238E27FC236}">
                <a16:creationId xmlns:a16="http://schemas.microsoft.com/office/drawing/2014/main" id="{72F7C9C8-64CA-4764-9D47-61E84C75E593}"/>
              </a:ext>
            </a:extLst>
          </p:cNvPr>
          <p:cNvSpPr>
            <a:spLocks xmlns:a="http://schemas.openxmlformats.org/drawingml/2006/main" noGrp="1"/>
          </p:cNvSpPr>
          <p:nvPr/>
        </p:nvSpPr>
        <p:spPr>
          <a:xfrm xmlns:a="http://schemas.openxmlformats.org/drawingml/2006/main">
            <a:off x="762000" y="46291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Aceptar una precisión suficiente y comprobar estabilidad y prestaciones.</a:t>
            </a:r>
          </a:p>
        </p:txBody>
      </p:sp>
      <p:sp>
        <p:nvSpPr>
          <p:cNvPr id="17" name="">
            <a:extLst xmlns:a="http://schemas.openxmlformats.org/drawingml/2006/main">
              <a:ext uri="{FF2B5EF4-FFF2-40B4-BE49-F238E27FC236}">
                <a16:creationId xmlns:a16="http://schemas.microsoft.com/office/drawing/2014/main" id="{F7A4CBEF-FF30-4337-93BD-198A200077B1}"/>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Más reglas no compensan un sensor inadecuado ni un actuador incapaz de alcanzar la consigna.</a:t>
            </a:r>
          </a:p>
        </p:txBody>
      </p:sp>
    </p:spTree>
    <p:extLst>
      <p:ext uri="{BB962C8B-B14F-4D97-AF65-F5344CB8AC3E}">
        <p14:creationId xmlns:p14="http://schemas.microsoft.com/office/powerpoint/2010/main" val="172189652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Los nueve pasos de diseño de Ross</a:t>
            </a:r>
          </a:p>
        </p:txBody>
      </p:sp>
      <p:sp>
        <p:nvSpPr>
          <p:cNvPr id="9" name="">
            <a:extLst xmlns:a="http://schemas.openxmlformats.org/drawingml/2006/main">
              <a:ext uri="{FF2B5EF4-FFF2-40B4-BE49-F238E27FC236}">
                <a16:creationId xmlns:a16="http://schemas.microsoft.com/office/drawing/2014/main" id="{2922063E-411E-43E8-954F-2FCA1CD476B6}"/>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AFC7C5F-9687-4B73-98E9-6428151A97A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graphicFrame>
        <p:nvGraphicFramePr>
          <p:cNvPr id="21" name=""/>
          <p:cNvGraphicFramePr/>
          <p:nvPr/>
        </p:nvGraphicFramePr>
        <p:xfrm>
          <a:off xmlns:a="http://schemas.openxmlformats.org/drawingml/2006/main" x="762000" y="1847850"/>
          <a:ext xmlns:a="http://schemas.openxmlformats.org/drawingml/2006/main" cx="10668000" cy="3619500"/>
        </p:xfrm>
        <a:graphic xmlns:a="http://schemas.openxmlformats.org/drawingml/2006/main">
          <a:graphicData uri="http://schemas.openxmlformats.org/drawingml/2006/table">
            <a:tbl>
              <a:tblPr/>
              <a:tblGrid>
                <a:gridCol w="5334000"/>
                <a:gridCol w="5334000"/>
              </a:tblGrid>
              <a:tr h="603250">
                <a:tc>
                  <a:txBody>
                    <a:bodyPr lIns="85725" tIns="76200" rIns="85725" bIns="76200"/>
                    <a:lstStyle/>
                    <a:p>
                      <a:pPr algn="ctr"/>
                      <a:r>
                        <a:rPr sz="2025" b="1">
                          <a:solidFill>
                            <a:srgbClr val="233746"/>
                          </a:solidFill>
                          <a:latin typeface="Arial"/>
                          <a:ea typeface="Arial"/>
                          <a:cs typeface="Arial"/>
                        </a:rPr>
                        <a:t>Diseño previo</a:t>
                      </a:r>
                    </a:p>
                  </a:txBody>
                  <a:tcPr marL="91440" marR="91440" marT="45720" marB="45720" anchor="ctr">
                    <a:solidFill>
                      <a:srgbClr val="E7EFF5"/>
                    </a:solidFill>
                  </a:tcPr>
                </a:tc>
                <a:tc>
                  <a:txBody>
                    <a:bodyPr lIns="85725" tIns="76200" rIns="85725" bIns="76200"/>
                    <a:lstStyle/>
                    <a:p>
                      <a:pPr algn="ctr"/>
                      <a:r>
                        <a:rPr sz="2025" b="1">
                          <a:solidFill>
                            <a:srgbClr val="233746"/>
                          </a:solidFill>
                          <a:latin typeface="Arial"/>
                          <a:ea typeface="Arial"/>
                          <a:cs typeface="Arial"/>
                        </a:rPr>
                        <a:t>Cálculo en cada instante</a:t>
                      </a:r>
                    </a:p>
                  </a:txBody>
                  <a:tcPr marL="91440" marR="91440" marT="45720" marB="45720" anchor="ctr">
                    <a:solidFill>
                      <a:srgbClr val="E7EFF5"/>
                    </a:solidFill>
                  </a:tcPr>
                </a:tc>
              </a:tr>
              <a:tr h="603250">
                <a:tc>
                  <a:txBody>
                    <a:bodyPr lIns="85725" tIns="76200" rIns="85725" bIns="76200"/>
                    <a:lstStyle/>
                    <a:p>
                      <a:pPr algn="ctr"/>
                      <a:r>
                        <a:rPr sz="2025" b="0">
                          <a:solidFill>
                            <a:srgbClr val="233746"/>
                          </a:solidFill>
                          <a:latin typeface="Arial"/>
                          <a:ea typeface="Arial"/>
                          <a:cs typeface="Arial"/>
                        </a:rPr>
                        <a:t>1. Identificar variables y rangos</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6. Fuzzificar las entradas</a:t>
                      </a:r>
                    </a:p>
                  </a:txBody>
                  <a:tcPr marL="91440" marR="91440" marT="45720" marB="45720" anchor="ctr">
                    <a:solidFill>
                      <a:srgbClr val="FFFFFF"/>
                    </a:solidFill>
                  </a:tcPr>
                </a:tc>
              </a:tr>
              <a:tr h="603250">
                <a:tc>
                  <a:txBody>
                    <a:bodyPr lIns="85725" tIns="76200" rIns="85725" bIns="76200"/>
                    <a:lstStyle/>
                    <a:p>
                      <a:pPr algn="ctr"/>
                      <a:r>
                        <a:rPr sz="2025" b="0">
                          <a:solidFill>
                            <a:srgbClr val="233746"/>
                          </a:solidFill>
                          <a:latin typeface="Arial"/>
                          <a:ea typeface="Arial"/>
                          <a:cs typeface="Arial"/>
                        </a:rPr>
                        <a:t>2. Elegir etiquetas y particiones</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7. Inferir la salida de cada regla</a:t>
                      </a:r>
                    </a:p>
                  </a:txBody>
                  <a:tcPr marL="91440" marR="91440" marT="45720" marB="45720" anchor="ctr">
                    <a:solidFill>
                      <a:srgbClr val="F4F7F9"/>
                    </a:solidFill>
                  </a:tcPr>
                </a:tc>
              </a:tr>
              <a:tr h="603250">
                <a:tc>
                  <a:txBody>
                    <a:bodyPr lIns="85725" tIns="76200" rIns="85725" bIns="76200"/>
                    <a:lstStyle/>
                    <a:p>
                      <a:pPr algn="ctr"/>
                      <a:r>
                        <a:rPr sz="2025" b="0">
                          <a:solidFill>
                            <a:srgbClr val="233746"/>
                          </a:solidFill>
                          <a:latin typeface="Arial"/>
                          <a:ea typeface="Arial"/>
                          <a:cs typeface="Arial"/>
                        </a:rPr>
                        <a:t>3. Asignar funciones de pertenencia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8. Agregar las contribuciones</a:t>
                      </a:r>
                    </a:p>
                  </a:txBody>
                  <a:tcPr marL="91440" marR="91440" marT="45720" marB="45720" anchor="ctr">
                    <a:solidFill>
                      <a:srgbClr val="FFFFFF"/>
                    </a:solidFill>
                  </a:tcPr>
                </a:tc>
              </a:tr>
              <a:tr h="603250">
                <a:tc>
                  <a:txBody>
                    <a:bodyPr lIns="85725" tIns="76200" rIns="85725" bIns="76200"/>
                    <a:lstStyle/>
                    <a:p>
                      <a:pPr algn="ctr"/>
                      <a:r>
                        <a:rPr sz="2025" b="0">
                          <a:solidFill>
                            <a:srgbClr val="233746"/>
                          </a:solidFill>
                          <a:latin typeface="Arial"/>
                          <a:ea typeface="Arial"/>
                          <a:cs typeface="Arial"/>
                        </a:rPr>
                        <a:t>4. Escribir las reglas</a:t>
                      </a:r>
                    </a:p>
                  </a:txBody>
                  <a:tcPr marL="91440" marR="91440" marT="45720" marB="45720" anchor="ctr">
                    <a:solidFill>
                      <a:srgbClr val="F4F7F9"/>
                    </a:solidFill>
                  </a:tcPr>
                </a:tc>
                <a:tc>
                  <a:txBody>
                    <a:bodyPr lIns="85725" tIns="76200" rIns="85725" bIns="76200"/>
                    <a:lstStyle/>
                    <a:p>
                      <a:pPr algn="ctr"/>
                      <a:r>
                        <a:rPr sz="2025" b="0">
                          <a:solidFill>
                            <a:srgbClr val="233746"/>
                          </a:solidFill>
                          <a:latin typeface="Arial"/>
                          <a:ea typeface="Arial"/>
                          <a:cs typeface="Arial"/>
                        </a:rPr>
                        <a:t>9. Obtener una salida crisp</a:t>
                      </a:r>
                    </a:p>
                  </a:txBody>
                  <a:tcPr marL="91440" marR="91440" marT="45720" marB="45720" anchor="ctr">
                    <a:solidFill>
                      <a:srgbClr val="F4F7F9"/>
                    </a:solidFill>
                  </a:tcPr>
                </a:tc>
              </a:tr>
              <a:tr h="603250">
                <a:tc>
                  <a:txBody>
                    <a:bodyPr lIns="85725" tIns="76200" rIns="85725" bIns="76200"/>
                    <a:lstStyle/>
                    <a:p>
                      <a:pPr algn="ctr"/>
                      <a:r>
                        <a:rPr sz="2025" b="0">
                          <a:solidFill>
                            <a:srgbClr val="233746"/>
                          </a:solidFill>
                          <a:latin typeface="Arial"/>
                          <a:ea typeface="Arial"/>
                          <a:cs typeface="Arial"/>
                        </a:rPr>
                        <a:t>5. Elegir escalas de entrada y salida</a:t>
                      </a:r>
                    </a:p>
                  </a:txBody>
                  <a:tcPr marL="91440" marR="91440" marT="45720" marB="45720" anchor="ctr">
                    <a:solidFill>
                      <a:srgbClr val="FFFFFF"/>
                    </a:solidFill>
                  </a:tcPr>
                </a:tc>
                <a:tc>
                  <a:txBody>
                    <a:bodyPr lIns="85725" tIns="76200" rIns="85725" bIns="76200"/>
                    <a:lstStyle/>
                    <a:p>
                      <a:pPr algn="ctr"/>
                      <a:r>
                        <a:rPr sz="2025" b="0">
                          <a:solidFill>
                            <a:srgbClr val="233746"/>
                          </a:solidFill>
                          <a:latin typeface="Arial"/>
                          <a:ea typeface="Arial"/>
                          <a:cs typeface="Arial"/>
                        </a:rPr>
                        <a:t>Aplicar la acción y volver a medir</a:t>
                      </a:r>
                    </a:p>
                  </a:txBody>
                  <a:tcPr marL="91440" marR="91440" marT="45720" marB="45720" anchor="ctr">
                    <a:solidFill>
                      <a:srgbClr val="FFFFFF"/>
                    </a:solidFill>
                  </a:tcPr>
                </a:tc>
              </a:tr>
            </a:tbl>
          </a:graphicData>
        </a:graphic>
      </p:graphicFrame>
      <p:sp>
        <p:nvSpPr>
          <p:cNvPr id="12" name="">
            <a:extLst xmlns:a="http://schemas.openxmlformats.org/drawingml/2006/main">
              <a:ext uri="{FF2B5EF4-FFF2-40B4-BE49-F238E27FC236}">
                <a16:creationId xmlns:a16="http://schemas.microsoft.com/office/drawing/2014/main" id="{955FB4FE-DC61-4863-BF34-9F82DCA080CC}"/>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La figura 13.2 conecta estos pasos. Después probamos el sistema completo y ajustamos el diseño.</a:t>
            </a:r>
          </a:p>
        </p:txBody>
      </p:sp>
    </p:spTree>
    <p:extLst>
      <p:ext uri="{BB962C8B-B14F-4D97-AF65-F5344CB8AC3E}">
        <p14:creationId xmlns:p14="http://schemas.microsoft.com/office/powerpoint/2010/main" val="1721896526"/>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La salida puede ser una acción o un cambio de acción</a:t>
            </a:r>
          </a:p>
        </p:txBody>
      </p:sp>
      <p:sp>
        <p:nvSpPr>
          <p:cNvPr id="9" name="">
            <a:extLst xmlns:a="http://schemas.openxmlformats.org/drawingml/2006/main">
              <a:ext uri="{FF2B5EF4-FFF2-40B4-BE49-F238E27FC236}">
                <a16:creationId xmlns:a16="http://schemas.microsoft.com/office/drawing/2014/main" id="{7061096B-B6A5-42EE-8931-CA96EA952401}"/>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AB0464B-55A7-47D8-BA97-71DB81D1B3A8}"/>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graphicFrame>
        <p:nvGraphicFramePr>
          <p:cNvPr id="22" name=""/>
          <p:cNvGraphicFramePr/>
          <p:nvPr/>
        </p:nvGraphicFramePr>
        <p:xfrm>
          <a:off xmlns:a="http://schemas.openxmlformats.org/drawingml/2006/main" x="762000" y="2276475"/>
          <a:ext xmlns:a="http://schemas.openxmlformats.org/drawingml/2006/main" cx="10668000" cy="2381250"/>
        </p:xfrm>
        <a:graphic xmlns:a="http://schemas.openxmlformats.org/drawingml/2006/main">
          <a:graphicData uri="http://schemas.openxmlformats.org/drawingml/2006/table">
            <a:tbl>
              <a:tblPr/>
              <a:tblGrid>
                <a:gridCol w="3048000"/>
                <a:gridCol w="3619500"/>
                <a:gridCol w="4000500"/>
              </a:tblGrid>
              <a:tr h="793750">
                <a:tc>
                  <a:txBody>
                    <a:bodyPr lIns="85725" tIns="76200" rIns="85725" bIns="76200"/>
                    <a:lstStyle/>
                    <a:p>
                      <a:pPr algn="ctr"/>
                      <a:r>
                        <a:rPr sz="2100" b="1">
                          <a:solidFill>
                            <a:srgbClr val="233746"/>
                          </a:solidFill>
                          <a:latin typeface="Arial"/>
                          <a:ea typeface="Arial"/>
                          <a:cs typeface="Arial"/>
                        </a:rPr>
                        <a:t>Diseño</a:t>
                      </a:r>
                    </a:p>
                  </a:txBody>
                  <a:tcPr marL="91440" marR="91440" marT="45720" marB="45720" anchor="ctr">
                    <a:solidFill>
                      <a:srgbClr val="E7EFF5"/>
                    </a:solidFill>
                  </a:tcPr>
                </a:tc>
                <a:tc>
                  <a:txBody>
                    <a:bodyPr lIns="85725" tIns="76200" rIns="85725" bIns="76200"/>
                    <a:lstStyle/>
                    <a:p>
                      <a:pPr algn="ctr"/>
                      <a:r>
                        <a:rPr sz="2100" b="1">
                          <a:solidFill>
                            <a:srgbClr val="233746"/>
                          </a:solidFill>
                          <a:latin typeface="Arial"/>
                          <a:ea typeface="Arial"/>
                          <a:cs typeface="Arial"/>
                        </a:rPr>
                        <a:t>Qué devuelve</a:t>
                      </a:r>
                    </a:p>
                  </a:txBody>
                  <a:tcPr marL="91440" marR="91440" marT="45720" marB="45720" anchor="ctr">
                    <a:solidFill>
                      <a:srgbClr val="E7EFF5"/>
                    </a:solidFill>
                  </a:tcPr>
                </a:tc>
                <a:tc>
                  <a:txBody>
                    <a:bodyPr lIns="85725" tIns="76200" rIns="85725" bIns="76200"/>
                    <a:lstStyle/>
                    <a:p>
                      <a:pPr algn="ctr"/>
                      <a:r>
                        <a:rPr sz="2100" b="1">
                          <a:solidFill>
                            <a:srgbClr val="233746"/>
                          </a:solidFill>
                          <a:latin typeface="Arial"/>
                          <a:ea typeface="Arial"/>
                          <a:cs typeface="Arial"/>
                        </a:rPr>
                        <a:t>Cómo se aplica</a:t>
                      </a:r>
                    </a:p>
                  </a:txBody>
                  <a:tcPr marL="91440" marR="91440" marT="45720" marB="45720" anchor="ctr">
                    <a:solidFill>
                      <a:srgbClr val="E7EFF5"/>
                    </a:solidFill>
                  </a:tcPr>
                </a:tc>
              </a:tr>
              <a:tr h="793750">
                <a:tc>
                  <a:txBody>
                    <a:bodyPr lIns="85725" tIns="76200" rIns="85725" bIns="76200"/>
                    <a:lstStyle/>
                    <a:p>
                      <a:pPr algn="ctr"/>
                      <a:r>
                        <a:rPr sz="2100" b="0">
                          <a:solidFill>
                            <a:srgbClr val="233746"/>
                          </a:solidFill>
                          <a:latin typeface="Arial"/>
                          <a:ea typeface="Arial"/>
                          <a:cs typeface="Arial"/>
                        </a:rPr>
                        <a:t>Acción absoluta</a:t>
                      </a:r>
                    </a:p>
                  </a:txBody>
                  <a:tcPr marL="91440" marR="91440" marT="45720" marB="45720" anchor="ctr">
                    <a:solidFill>
                      <a:srgbClr val="FFFFFF"/>
                    </a:solidFill>
                  </a:tcPr>
                </a:tc>
                <a:tc>
                  <a:txBody>
                    <a:bodyPr lIns="85725" tIns="76200" rIns="85725" bIns="76200"/>
                    <a:lstStyle/>
                    <a:p>
                      <a:pPr algn="ctr"/>
                      <a:r>
                        <a:rPr sz="2100" b="0">
                          <a:solidFill>
                            <a:srgbClr val="233746"/>
                          </a:solidFill>
                          <a:latin typeface="Arial"/>
                          <a:ea typeface="Arial"/>
                          <a:cs typeface="Arial"/>
                        </a:rPr>
                        <a:t>u = 48 %</a:t>
                      </a:r>
                    </a:p>
                  </a:txBody>
                  <a:tcPr marL="91440" marR="91440" marT="45720" marB="45720" anchor="ctr">
                    <a:solidFill>
                      <a:srgbClr val="FFFFFF"/>
                    </a:solidFill>
                  </a:tcPr>
                </a:tc>
                <a:tc>
                  <a:txBody>
                    <a:bodyPr lIns="85725" tIns="76200" rIns="85725" bIns="76200"/>
                    <a:lstStyle/>
                    <a:p>
                      <a:pPr algn="ctr"/>
                      <a:r>
                        <a:rPr sz="2100" b="0">
                          <a:solidFill>
                            <a:srgbClr val="233746"/>
                          </a:solidFill>
                          <a:latin typeface="Arial"/>
                          <a:ea typeface="Arial"/>
                          <a:cs typeface="Arial"/>
                        </a:rPr>
                        <a:t>Se fija la potencia al 48 %</a:t>
                      </a:r>
                    </a:p>
                  </a:txBody>
                  <a:tcPr marL="91440" marR="91440" marT="45720" marB="45720" anchor="ctr">
                    <a:solidFill>
                      <a:srgbClr val="FFFFFF"/>
                    </a:solidFill>
                  </a:tcPr>
                </a:tc>
              </a:tr>
              <a:tr h="793750">
                <a:tc>
                  <a:txBody>
                    <a:bodyPr lIns="85725" tIns="76200" rIns="85725" bIns="76200"/>
                    <a:lstStyle/>
                    <a:p>
                      <a:pPr algn="ctr"/>
                      <a:r>
                        <a:rPr sz="2100" b="0">
                          <a:solidFill>
                            <a:srgbClr val="233746"/>
                          </a:solidFill>
                          <a:latin typeface="Arial"/>
                          <a:ea typeface="Arial"/>
                          <a:cs typeface="Arial"/>
                        </a:rPr>
                        <a:t>Acción incremental</a:t>
                      </a:r>
                    </a:p>
                  </a:txBody>
                  <a:tcPr marL="91440" marR="91440" marT="45720" marB="45720" anchor="ctr">
                    <a:solidFill>
                      <a:srgbClr val="F4F7F9"/>
                    </a:solidFill>
                  </a:tcPr>
                </a:tc>
                <a:tc>
                  <a:txBody>
                    <a:bodyPr lIns="85725" tIns="76200" rIns="85725" bIns="76200"/>
                    <a:lstStyle/>
                    <a:p>
                      <a:pPr algn="ctr"/>
                      <a:r>
                        <a:rPr sz="2100" b="0">
                          <a:solidFill>
                            <a:srgbClr val="233746"/>
                          </a:solidFill>
                          <a:latin typeface="Arial"/>
                          <a:ea typeface="Arial"/>
                          <a:cs typeface="Arial"/>
                        </a:rPr>
                        <a:t>Δu = +5 puntos</a:t>
                      </a:r>
                    </a:p>
                  </a:txBody>
                  <a:tcPr marL="91440" marR="91440" marT="45720" marB="45720" anchor="ctr">
                    <a:solidFill>
                      <a:srgbClr val="F4F7F9"/>
                    </a:solidFill>
                  </a:tcPr>
                </a:tc>
                <a:tc>
                  <a:txBody>
                    <a:bodyPr lIns="85725" tIns="76200" rIns="85725" bIns="76200"/>
                    <a:lstStyle/>
                    <a:p>
                      <a:pPr algn="ctr"/>
                      <a:r>
                        <a:rPr sz="2100" b="0">
                          <a:solidFill>
                            <a:srgbClr val="233746"/>
                          </a:solidFill>
                          <a:latin typeface="Arial"/>
                          <a:ea typeface="Arial"/>
                          <a:cs typeface="Arial"/>
                        </a:rPr>
                        <a:t>Si u era 40 %, ahora será 45 %</a:t>
                      </a:r>
                    </a:p>
                  </a:txBody>
                  <a:tcPr marL="91440" marR="91440" marT="45720" marB="45720" anchor="ctr">
                    <a:solidFill>
                      <a:srgbClr val="F4F7F9"/>
                    </a:solidFill>
                  </a:tcPr>
                </a:tc>
              </a:tr>
            </a:tbl>
          </a:graphicData>
        </a:graphic>
      </p:graphicFrame>
      <p:sp>
        <p:nvSpPr>
          <p:cNvPr id="12" name="">
            <a:extLst xmlns:a="http://schemas.openxmlformats.org/drawingml/2006/main">
              <a:ext uri="{FF2B5EF4-FFF2-40B4-BE49-F238E27FC236}">
                <a16:creationId xmlns:a16="http://schemas.microsoft.com/office/drawing/2014/main" id="{D0CE4A6C-00A1-4D01-B31D-A01D9DA22269}"/>
              </a:ext>
            </a:extLst>
          </p:cNvPr>
          <p:cNvSpPr>
            <a:spLocks xmlns:a="http://schemas.openxmlformats.org/drawingml/2006/main" noGrp="1"/>
          </p:cNvSpPr>
          <p:nvPr/>
        </p:nvSpPr>
        <p:spPr>
          <a:xfrm xmlns:a="http://schemas.openxmlformats.org/drawingml/2006/main">
            <a:off x="762000" y="51054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0">
                <a:solidFill>
                  <a:srgbClr val="233746"/>
                </a:solidFill>
                <a:latin typeface="Arial"/>
                <a:ea typeface="Arial"/>
                <a:cs typeface="Arial"/>
              </a:defRPr>
            </a:pPr>
            <a:r>
              <a:rPr sz="2250" b="0">
                <a:solidFill>
                  <a:srgbClr val="233746"/>
                </a:solidFill>
                <a:latin typeface="Arial"/>
                <a:ea typeface="Arial"/>
                <a:cs typeface="Arial"/>
              </a:rPr>
              <a:t>En ambos casos: declarar unidades, respetar límites y fijar el tiempo de muestreo.</a:t>
            </a:r>
          </a:p>
        </p:txBody>
      </p:sp>
      <p:sp>
        <p:nvSpPr>
          <p:cNvPr id="13" name="">
            <a:extLst xmlns:a="http://schemas.openxmlformats.org/drawingml/2006/main">
              <a:ext uri="{FF2B5EF4-FFF2-40B4-BE49-F238E27FC236}">
                <a16:creationId xmlns:a16="http://schemas.microsoft.com/office/drawing/2014/main" id="{5C346EBB-C0E3-4CC4-AD48-2D5DAC910A26}"/>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Nuestro ejemplo devuelve potencia absoluta. No sumaremos esa potencia a la del instante anterior.</a:t>
            </a:r>
          </a:p>
        </p:txBody>
      </p:sp>
    </p:spTree>
    <p:extLst>
      <p:ext uri="{BB962C8B-B14F-4D97-AF65-F5344CB8AC3E}">
        <p14:creationId xmlns:p14="http://schemas.microsoft.com/office/powerpoint/2010/main" val="1721896526"/>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AD414C"/>
                </a:solidFill>
                <a:latin typeface="Arial"/>
                <a:ea typeface="Arial"/>
                <a:cs typeface="Arial"/>
              </a:defRPr>
            </a:pPr>
            <a:r>
              <a:rPr sz="3000" b="0">
                <a:solidFill>
                  <a:srgbClr val="AD414C"/>
                </a:solidFill>
                <a:latin typeface="Arial"/>
                <a:ea typeface="Arial"/>
                <a:cs typeface="Arial"/>
              </a:rPr>
              <a:t>Muestreo, ruido y banda de tolerancia</a:t>
            </a:r>
          </a:p>
        </p:txBody>
      </p:sp>
      <p:sp>
        <p:nvSpPr>
          <p:cNvPr id="9" name="">
            <a:extLst xmlns:a="http://schemas.openxmlformats.org/drawingml/2006/main">
              <a:ext uri="{FF2B5EF4-FFF2-40B4-BE49-F238E27FC236}">
                <a16:creationId xmlns:a16="http://schemas.microsoft.com/office/drawing/2014/main" id="{1BBDACFE-467F-4169-BB19-ED5BA06F1EA2}"/>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AD41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2772D8D-E244-4F8E-8449-6A119438FF45}"/>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AD414C"/>
                </a:solidFill>
                <a:latin typeface="Arial"/>
                <a:ea typeface="Arial"/>
                <a:cs typeface="Arial"/>
              </a:defRPr>
            </a:pPr>
            <a:r>
              <a:rPr sz="1350" b="1">
                <a:solidFill>
                  <a:srgbClr val="AD414C"/>
                </a:solidFill>
                <a:latin typeface="Arial"/>
                <a:ea typeface="Arial"/>
                <a:cs typeface="Arial"/>
              </a:rPr>
              <a:t>05  SISTEMAS DE CONTROL    /    Capítulo 13 · diseñar y comprobar</a:t>
            </a:r>
          </a:p>
        </p:txBody>
      </p:sp>
      <p:sp>
        <p:nvSpPr>
          <p:cNvPr id="11" name="">
            <a:extLst xmlns:a="http://schemas.openxmlformats.org/drawingml/2006/main">
              <a:ext uri="{FF2B5EF4-FFF2-40B4-BE49-F238E27FC236}">
                <a16:creationId xmlns:a16="http://schemas.microsoft.com/office/drawing/2014/main" id="{A1CA927F-1D93-4113-9071-B367AA756DC1}"/>
              </a:ext>
            </a:extLst>
          </p:cNvPr>
          <p:cNvSpPr>
            <a:spLocks xmlns:a="http://schemas.openxmlformats.org/drawingml/2006/main" noGrp="1"/>
          </p:cNvSpPr>
          <p:nvPr/>
        </p:nvSpPr>
        <p:spPr>
          <a:xfrm xmlns:a="http://schemas.openxmlformats.org/drawingml/2006/main">
            <a:off x="762000" y="1676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AD414C"/>
                </a:solidFill>
                <a:latin typeface="Arial"/>
                <a:ea typeface="Arial"/>
                <a:cs typeface="Arial"/>
              </a:defRPr>
            </a:pPr>
            <a:r>
              <a:rPr sz="2250" b="1">
                <a:solidFill>
                  <a:srgbClr val="AD414C"/>
                </a:solidFill>
                <a:latin typeface="Arial"/>
                <a:ea typeface="Arial"/>
                <a:cs typeface="Arial"/>
              </a:rPr>
              <a:t>Cuándo volver a decidir</a:t>
            </a:r>
          </a:p>
        </p:txBody>
      </p:sp>
      <p:sp>
        <p:nvSpPr>
          <p:cNvPr id="12" name="">
            <a:extLst xmlns:a="http://schemas.openxmlformats.org/drawingml/2006/main">
              <a:ext uri="{FF2B5EF4-FFF2-40B4-BE49-F238E27FC236}">
                <a16:creationId xmlns:a16="http://schemas.microsoft.com/office/drawing/2014/main" id="{2D261949-6BC0-4EF8-A1D4-8C4DF92A5002}"/>
              </a:ext>
            </a:extLst>
          </p:cNvPr>
          <p:cNvSpPr>
            <a:spLocks xmlns:a="http://schemas.openxmlformats.org/drawingml/2006/main" noGrp="1"/>
          </p:cNvSpPr>
          <p:nvPr/>
        </p:nvSpPr>
        <p:spPr>
          <a:xfrm xmlns:a="http://schemas.openxmlformats.org/drawingml/2006/main">
            <a:off x="762000" y="21145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Elegir Δt según la rapidez del proceso. Aquí: una lectura cada 6 segundos.</a:t>
            </a:r>
          </a:p>
        </p:txBody>
      </p:sp>
      <p:sp>
        <p:nvSpPr>
          <p:cNvPr id="13" name="">
            <a:extLst xmlns:a="http://schemas.openxmlformats.org/drawingml/2006/main">
              <a:ext uri="{FF2B5EF4-FFF2-40B4-BE49-F238E27FC236}">
                <a16:creationId xmlns:a16="http://schemas.microsoft.com/office/drawing/2014/main" id="{85894973-5BF9-4E87-B7A0-FF1510617D70}"/>
              </a:ext>
            </a:extLst>
          </p:cNvPr>
          <p:cNvSpPr>
            <a:spLocks xmlns:a="http://schemas.openxmlformats.org/drawingml/2006/main" noGrp="1"/>
          </p:cNvSpPr>
          <p:nvPr/>
        </p:nvSpPr>
        <p:spPr>
          <a:xfrm xmlns:a="http://schemas.openxmlformats.org/drawingml/2006/main">
            <a:off x="762000" y="29337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AD414C"/>
                </a:solidFill>
                <a:latin typeface="Arial"/>
                <a:ea typeface="Arial"/>
                <a:cs typeface="Arial"/>
              </a:defRPr>
            </a:pPr>
            <a:r>
              <a:rPr sz="2250" b="1">
                <a:solidFill>
                  <a:srgbClr val="AD414C"/>
                </a:solidFill>
                <a:latin typeface="Arial"/>
                <a:ea typeface="Arial"/>
                <a:cs typeface="Arial"/>
              </a:rPr>
              <a:t>El ruido puede activar correcciones innecesarias</a:t>
            </a:r>
          </a:p>
        </p:txBody>
      </p:sp>
      <p:sp>
        <p:nvSpPr>
          <p:cNvPr id="14" name="">
            <a:extLst xmlns:a="http://schemas.openxmlformats.org/drawingml/2006/main">
              <a:ext uri="{FF2B5EF4-FFF2-40B4-BE49-F238E27FC236}">
                <a16:creationId xmlns:a16="http://schemas.microsoft.com/office/drawing/2014/main" id="{9DF43BA3-5C13-45C1-AA7E-A35EB96CA1DF}"/>
              </a:ext>
            </a:extLst>
          </p:cNvPr>
          <p:cNvSpPr>
            <a:spLocks xmlns:a="http://schemas.openxmlformats.org/drawingml/2006/main" noGrp="1"/>
          </p:cNvSpPr>
          <p:nvPr/>
        </p:nvSpPr>
        <p:spPr>
          <a:xfrm xmlns:a="http://schemas.openxmlformats.org/drawingml/2006/main">
            <a:off x="762000" y="33718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La derivada amplifica cambios de la medida. Filtrar suaviza, pero añade retraso.</a:t>
            </a:r>
          </a:p>
        </p:txBody>
      </p:sp>
      <p:sp>
        <p:nvSpPr>
          <p:cNvPr id="15" name="">
            <a:extLst xmlns:a="http://schemas.openxmlformats.org/drawingml/2006/main">
              <a:ext uri="{FF2B5EF4-FFF2-40B4-BE49-F238E27FC236}">
                <a16:creationId xmlns:a16="http://schemas.microsoft.com/office/drawing/2014/main" id="{8FACB60C-93F6-49CC-8F9F-3550B35DCC85}"/>
              </a:ext>
            </a:extLst>
          </p:cNvPr>
          <p:cNvSpPr>
            <a:spLocks xmlns:a="http://schemas.openxmlformats.org/drawingml/2006/main" noGrp="1"/>
          </p:cNvSpPr>
          <p:nvPr/>
        </p:nvSpPr>
        <p:spPr>
          <a:xfrm xmlns:a="http://schemas.openxmlformats.org/drawingml/2006/main">
            <a:off x="762000" y="41910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AD414C"/>
                </a:solidFill>
                <a:latin typeface="Arial"/>
                <a:ea typeface="Arial"/>
                <a:cs typeface="Arial"/>
              </a:defRPr>
            </a:pPr>
            <a:r>
              <a:rPr sz="2250" b="1">
                <a:solidFill>
                  <a:srgbClr val="AD414C"/>
                </a:solidFill>
                <a:latin typeface="Arial"/>
                <a:ea typeface="Arial"/>
                <a:cs typeface="Arial"/>
              </a:rPr>
              <a:t>Una zona Cero puede tener anchura</a:t>
            </a:r>
          </a:p>
        </p:txBody>
      </p:sp>
      <p:sp>
        <p:nvSpPr>
          <p:cNvPr id="16" name="">
            <a:extLst xmlns:a="http://schemas.openxmlformats.org/drawingml/2006/main">
              <a:ext uri="{FF2B5EF4-FFF2-40B4-BE49-F238E27FC236}">
                <a16:creationId xmlns:a16="http://schemas.microsoft.com/office/drawing/2014/main" id="{87F60DAC-38F1-4F36-863C-A31A72212210}"/>
              </a:ext>
            </a:extLst>
          </p:cNvPr>
          <p:cNvSpPr>
            <a:spLocks xmlns:a="http://schemas.openxmlformats.org/drawingml/2006/main" noGrp="1"/>
          </p:cNvSpPr>
          <p:nvPr/>
        </p:nvSpPr>
        <p:spPr>
          <a:xfrm xmlns:a="http://schemas.openxmlformats.org/drawingml/2006/main">
            <a:off x="762000" y="46291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0">
                <a:solidFill>
                  <a:srgbClr val="233746"/>
                </a:solidFill>
                <a:latin typeface="Arial"/>
                <a:ea typeface="Arial"/>
                <a:cs typeface="Arial"/>
              </a:defRPr>
            </a:pPr>
            <a:r>
              <a:rPr sz="2100" b="0">
                <a:solidFill>
                  <a:srgbClr val="233746"/>
                </a:solidFill>
                <a:latin typeface="Arial"/>
                <a:ea typeface="Arial"/>
                <a:cs typeface="Arial"/>
              </a:rPr>
              <a:t>Una tolerancia reduce actuaciones pequeñas. Su tamaño depende de lo que aceptamos.</a:t>
            </a:r>
          </a:p>
        </p:txBody>
      </p:sp>
      <p:sp>
        <p:nvSpPr>
          <p:cNvPr id="17" name="">
            <a:extLst xmlns:a="http://schemas.openxmlformats.org/drawingml/2006/main">
              <a:ext uri="{FF2B5EF4-FFF2-40B4-BE49-F238E27FC236}">
                <a16:creationId xmlns:a16="http://schemas.microsoft.com/office/drawing/2014/main" id="{B6E29924-D5A6-49F9-8662-510B567102C1}"/>
              </a:ext>
            </a:extLst>
          </p:cNvPr>
          <p:cNvSpPr>
            <a:spLocks xmlns:a="http://schemas.openxmlformats.org/drawingml/2006/main" noGrp="1"/>
          </p:cNvSpPr>
          <p:nvPr/>
        </p:nvSpPr>
        <p:spPr>
          <a:xfrm xmlns:a="http://schemas.openxmlformats.org/drawingml/2006/main">
            <a:off x="762000" y="59531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1">
                <a:solidFill>
                  <a:srgbClr val="D96B18"/>
                </a:solidFill>
                <a:latin typeface="Arial"/>
                <a:ea typeface="Arial"/>
                <a:cs typeface="Arial"/>
              </a:defRPr>
            </a:pPr>
            <a:r>
              <a:rPr sz="1800" b="1">
                <a:solidFill>
                  <a:srgbClr val="D96B18"/>
                </a:solidFill>
                <a:latin typeface="Arial"/>
                <a:ea typeface="Arial"/>
                <a:cs typeface="Arial"/>
              </a:rPr>
              <a:t>Probar saturación, ruido y cambios de consigna o ambiente forma parte del diseño.</a:t>
            </a:r>
          </a:p>
        </p:txBody>
      </p:sp>
    </p:spTree>
    <p:extLst>
      <p:ext uri="{BB962C8B-B14F-4D97-AF65-F5344CB8AC3E}">
        <p14:creationId xmlns:p14="http://schemas.microsoft.com/office/powerpoint/2010/main" val="172189652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Ejemplo guiado: regular la temperatura de una habitación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8348857a6fb4c38"/>
          <a:stretch xmlns:a="http://schemas.openxmlformats.org/drawingml/2006/main"/>
        </p:blipFill>
        <p:spPr>
          <a:xfrm xmlns:a="http://schemas.openxmlformats.org/drawingml/2006/main">
            <a:off x="5153025" y="1504950"/>
            <a:ext cx="6172200" cy="41148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93F59F3-27DF-4AFC-84CC-6EE90C8296CC}"/>
              </a:ext>
            </a:extLst>
          </p:cNvPr>
          <p:cNvSpPr>
            <a:spLocks xmlns:a="http://schemas.openxmlformats.org/drawingml/2006/main" noGrp="1"/>
          </p:cNvSpPr>
          <p:nvPr/>
        </p:nvSpPr>
        <p:spPr>
          <a:xfrm xmlns:a="http://schemas.openxmlformats.org/drawingml/2006/main">
            <a:off x="762000" y="1781175"/>
            <a:ext cx="409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D96B18"/>
                </a:solidFill>
                <a:latin typeface="Arial"/>
                <a:ea typeface="Arial"/>
                <a:cs typeface="Arial"/>
              </a:defRPr>
            </a:pPr>
            <a:r>
              <a:rPr sz="2700" b="1">
                <a:solidFill>
                  <a:srgbClr val="D96B18"/>
                </a:solidFill>
                <a:latin typeface="Arial"/>
                <a:ea typeface="Arial"/>
                <a:cs typeface="Arial"/>
              </a:rPr>
              <a:t>Queremos 22 °C.</a:t>
            </a:r>
          </a:p>
        </p:txBody>
      </p:sp>
      <p:sp>
        <p:nvSpPr>
          <p:cNvPr id="11" name="">
            <a:extLst xmlns:a="http://schemas.openxmlformats.org/drawingml/2006/main">
              <a:ext uri="{FF2B5EF4-FFF2-40B4-BE49-F238E27FC236}">
                <a16:creationId xmlns:a16="http://schemas.microsoft.com/office/drawing/2014/main" id="{C65BA6CE-F0D2-4D67-9B3C-F1235128224F}"/>
              </a:ext>
            </a:extLst>
          </p:cNvPr>
          <p:cNvSpPr>
            <a:spLocks xmlns:a="http://schemas.openxmlformats.org/drawingml/2006/main" noGrp="1"/>
          </p:cNvSpPr>
          <p:nvPr/>
        </p:nvSpPr>
        <p:spPr>
          <a:xfrm xmlns:a="http://schemas.openxmlformats.org/drawingml/2006/main">
            <a:off x="762000" y="2676525"/>
            <a:ext cx="4000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El sensor mide 18 °C.</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El exterior enfría la habitación.</a:t>
            </a:r>
          </a:p>
        </p:txBody>
      </p:sp>
      <p:sp>
        <p:nvSpPr>
          <p:cNvPr id="12" name="">
            <a:extLst xmlns:a="http://schemas.openxmlformats.org/drawingml/2006/main">
              <a:ext uri="{FF2B5EF4-FFF2-40B4-BE49-F238E27FC236}">
                <a16:creationId xmlns:a16="http://schemas.microsoft.com/office/drawing/2014/main" id="{E2577DC4-4B8E-49AC-90E1-24217E20B182}"/>
              </a:ext>
            </a:extLst>
          </p:cNvPr>
          <p:cNvSpPr>
            <a:spLocks xmlns:a="http://schemas.openxmlformats.org/drawingml/2006/main" noGrp="1"/>
          </p:cNvSpPr>
          <p:nvPr/>
        </p:nvSpPr>
        <p:spPr>
          <a:xfrm xmlns:a="http://schemas.openxmlformats.org/drawingml/2006/main">
            <a:off x="762000" y="4076700"/>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233746"/>
                </a:solidFill>
                <a:latin typeface="Arial"/>
                <a:ea typeface="Arial"/>
                <a:cs typeface="Arial"/>
              </a:defRPr>
            </a:pPr>
            <a:r>
              <a:rPr sz="2400" b="1">
                <a:solidFill>
                  <a:srgbClr val="233746"/>
                </a:solidFill>
                <a:latin typeface="Arial"/>
                <a:ea typeface="Arial"/>
                <a:cs typeface="Arial"/>
              </a:rPr>
              <a:t>Nuestra decisión:</a:t>
            </a:r>
          </a:p>
          <a:p xmlns:a="http://schemas.openxmlformats.org/drawingml/2006/main">
            <a:pPr>
              <a:buNone/>
              <a:defRPr sz="2400" b="1">
                <a:solidFill>
                  <a:srgbClr val="233746"/>
                </a:solidFill>
                <a:latin typeface="Arial"/>
                <a:ea typeface="Arial"/>
                <a:cs typeface="Arial"/>
              </a:defRPr>
            </a:pPr>
            <a:r>
              <a:rPr sz="2400" b="1">
                <a:solidFill>
                  <a:srgbClr val="233746"/>
                </a:solidFill>
                <a:latin typeface="Arial"/>
                <a:ea typeface="Arial"/>
                <a:cs typeface="Arial"/>
              </a:rPr>
              <a:t>¿qué potencia aplicar</a:t>
            </a:r>
          </a:p>
          <a:p xmlns:a="http://schemas.openxmlformats.org/drawingml/2006/main">
            <a:pPr>
              <a:buNone/>
              <a:defRPr sz="2400" b="1">
                <a:solidFill>
                  <a:srgbClr val="233746"/>
                </a:solidFill>
                <a:latin typeface="Arial"/>
                <a:ea typeface="Arial"/>
                <a:cs typeface="Arial"/>
              </a:defRPr>
            </a:pPr>
            <a:r>
              <a:rPr sz="2400" b="1">
                <a:solidFill>
                  <a:srgbClr val="233746"/>
                </a:solidFill>
                <a:latin typeface="Arial"/>
                <a:ea typeface="Arial"/>
                <a:cs typeface="Arial"/>
              </a:rPr>
              <a:t>en el siguiente instante?</a:t>
            </a:r>
          </a:p>
        </p:txBody>
      </p:sp>
      <p:sp>
        <p:nvSpPr>
          <p:cNvPr id="13" name="">
            <a:extLst xmlns:a="http://schemas.openxmlformats.org/drawingml/2006/main">
              <a:ext uri="{FF2B5EF4-FFF2-40B4-BE49-F238E27FC236}">
                <a16:creationId xmlns:a16="http://schemas.microsoft.com/office/drawing/2014/main" id="{5185A7BA-C8B8-470B-B6C3-8AE6D8E01E2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potencia cambia la temperatura. Volvemos a medir y decidimos otra vez.</a:t>
            </a:r>
          </a:p>
        </p:txBody>
      </p:sp>
      <p:sp>
        <p:nvSpPr>
          <p:cNvPr id="17" name="">
            <a:extLst xmlns:a="http://schemas.openxmlformats.org/drawingml/2006/main">
              <a:ext uri="{FF2B5EF4-FFF2-40B4-BE49-F238E27FC236}">
                <a16:creationId xmlns:a16="http://schemas.microsoft.com/office/drawing/2014/main" id="{1DE8BA5B-DC10-4F0F-96C9-1325045EC3E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8F536FA-BD7C-441C-9360-086C15749EB6}"/>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Caso térmico: especificación antes de diseñar</a:t>
            </a:r>
          </a:p>
        </p:txBody>
      </p:sp>
      <p:graphicFrame>
        <p:nvGraphicFramePr>
          <p:cNvPr id="23" name=""/>
          <p:cNvGraphicFramePr/>
          <p:nvPr/>
        </p:nvGraphicFramePr>
        <p:xfrm>
          <a:off xmlns:a="http://schemas.openxmlformats.org/drawingml/2006/main" x="762000" y="1790700"/>
          <a:ext xmlns:a="http://schemas.openxmlformats.org/drawingml/2006/main" cx="10668000" cy="3438525"/>
        </p:xfrm>
        <a:graphic xmlns:a="http://schemas.openxmlformats.org/drawingml/2006/main">
          <a:graphicData uri="http://schemas.openxmlformats.org/drawingml/2006/table">
            <a:tbl>
              <a:tblPr/>
              <a:tblGrid>
                <a:gridCol w="2714625"/>
                <a:gridCol w="7953375"/>
              </a:tblGrid>
              <a:tr h="573088">
                <a:tc>
                  <a:txBody>
                    <a:bodyPr lIns="85725" tIns="76200" rIns="85725" bIns="76200"/>
                    <a:lstStyle/>
                    <a:p>
                      <a:pPr algn="ctr">
                        <a:buNone/>
                      </a:pPr>
                      <a:r>
                        <a:rPr sz="1950" b="1">
                          <a:solidFill>
                            <a:srgbClr val="2162A0"/>
                          </a:solidFill>
                          <a:latin typeface="Arial"/>
                          <a:ea typeface="Arial"/>
                          <a:cs typeface="Arial"/>
                        </a:rPr>
                        <a:t>Elemento</a:t>
                      </a:r>
                    </a:p>
                  </a:txBody>
                  <a:tcPr marL="91440" marR="91440" marT="45720" marB="45720" anchor="ctr">
                    <a:solidFill>
                      <a:srgbClr val="E7EFF5"/>
                    </a:solidFill>
                  </a:tcPr>
                </a:tc>
                <a:tc>
                  <a:txBody>
                    <a:bodyPr lIns="85725" tIns="76200" rIns="85725" bIns="76200"/>
                    <a:lstStyle/>
                    <a:p>
                      <a:pPr algn="ctr">
                        <a:buNone/>
                      </a:pPr>
                      <a:r>
                        <a:rPr sz="1950" b="1">
                          <a:solidFill>
                            <a:srgbClr val="2162A0"/>
                          </a:solidFill>
                          <a:latin typeface="Arial"/>
                          <a:ea typeface="Arial"/>
                          <a:cs typeface="Arial"/>
                        </a:rPr>
                        <a:t>Definición del ejemplo</a:t>
                      </a:r>
                    </a:p>
                  </a:txBody>
                  <a:tcPr marL="91440" marR="91440" marT="45720" marB="45720" anchor="ctr">
                    <a:solidFill>
                      <a:srgbClr val="E7EFF5"/>
                    </a:solidFill>
                  </a:tcPr>
                </a:tc>
              </a:tr>
              <a:tr h="573088">
                <a:tc>
                  <a:txBody>
                    <a:bodyPr lIns="85725" tIns="76200" rIns="85725" bIns="76200"/>
                    <a:lstStyle/>
                    <a:p>
                      <a:pPr algn="ctr">
                        <a:buNone/>
                      </a:pPr>
                      <a:r>
                        <a:rPr sz="1950" b="0">
                          <a:solidFill>
                            <a:srgbClr val="233746"/>
                          </a:solidFill>
                          <a:latin typeface="Arial"/>
                          <a:ea typeface="Arial"/>
                          <a:cs typeface="Arial"/>
                        </a:rPr>
                        <a:t>Objetivo</a:t>
                      </a:r>
                    </a:p>
                  </a:txBody>
                  <a:tcPr marL="91440" marR="91440" marT="45720" marB="45720" anchor="ctr">
                    <a:solidFill>
                      <a:srgbClr val="FFFFFF"/>
                    </a:solidFill>
                  </a:tcPr>
                </a:tc>
                <a:tc>
                  <a:txBody>
                    <a:bodyPr lIns="85725" tIns="76200" rIns="85725" bIns="76200"/>
                    <a:lstStyle/>
                    <a:p>
                      <a:pPr algn="ctr">
                        <a:buNone/>
                      </a:pPr>
                      <a:r>
                        <a:rPr sz="1950" b="0">
                          <a:solidFill>
                            <a:srgbClr val="233746"/>
                          </a:solidFill>
                          <a:latin typeface="Arial"/>
                          <a:ea typeface="Arial"/>
                          <a:cs typeface="Arial"/>
                        </a:rPr>
                        <a:t>Mantener r = 22 °C; banda de evaluación ±0,2 °C</a:t>
                      </a:r>
                    </a:p>
                  </a:txBody>
                  <a:tcPr marL="91440" marR="91440" marT="45720" marB="45720" anchor="ctr">
                    <a:solidFill>
                      <a:srgbClr val="FFFFFF"/>
                    </a:solidFill>
                  </a:tcPr>
                </a:tc>
              </a:tr>
              <a:tr h="573088">
                <a:tc>
                  <a:txBody>
                    <a:bodyPr lIns="85725" tIns="76200" rIns="85725" bIns="76200"/>
                    <a:lstStyle/>
                    <a:p>
                      <a:pPr algn="ctr">
                        <a:buNone/>
                      </a:pPr>
                      <a:r>
                        <a:rPr sz="1950" b="0">
                          <a:solidFill>
                            <a:srgbClr val="233746"/>
                          </a:solidFill>
                          <a:latin typeface="Arial"/>
                          <a:ea typeface="Arial"/>
                          <a:cs typeface="Arial"/>
                        </a:rPr>
                        <a:t>Entradas</a:t>
                      </a:r>
                    </a:p>
                  </a:txBody>
                  <a:tcPr marL="91440" marR="91440" marT="45720" marB="45720" anchor="ctr">
                    <a:solidFill>
                      <a:srgbClr val="F4F7F9"/>
                    </a:solidFill>
                  </a:tcPr>
                </a:tc>
                <a:tc>
                  <a:txBody>
                    <a:bodyPr lIns="85725" tIns="76200" rIns="85725" bIns="76200"/>
                    <a:lstStyle/>
                    <a:p>
                      <a:pPr algn="ctr">
                        <a:buNone/>
                      </a:pPr>
                      <a:r>
                        <a:rPr sz="1950" b="0">
                          <a:solidFill>
                            <a:srgbClr val="233746"/>
                          </a:solidFill>
                          <a:latin typeface="Arial"/>
                          <a:ea typeface="Arial"/>
                          <a:cs typeface="Arial"/>
                        </a:rPr>
                        <a:t>Error e (°C) y variación de/dt (°C/min)</a:t>
                      </a:r>
                    </a:p>
                  </a:txBody>
                  <a:tcPr marL="91440" marR="91440" marT="45720" marB="45720" anchor="ctr">
                    <a:solidFill>
                      <a:srgbClr val="F4F7F9"/>
                    </a:solidFill>
                  </a:tcPr>
                </a:tc>
              </a:tr>
              <a:tr h="573088">
                <a:tc>
                  <a:txBody>
                    <a:bodyPr lIns="85725" tIns="76200" rIns="85725" bIns="76200"/>
                    <a:lstStyle/>
                    <a:p>
                      <a:pPr algn="ctr">
                        <a:buNone/>
                      </a:pPr>
                      <a:r>
                        <a:rPr sz="1950" b="0">
                          <a:solidFill>
                            <a:srgbClr val="233746"/>
                          </a:solidFill>
                          <a:latin typeface="Arial"/>
                          <a:ea typeface="Arial"/>
                          <a:cs typeface="Arial"/>
                        </a:rPr>
                        <a:t>Salida</a:t>
                      </a:r>
                    </a:p>
                  </a:txBody>
                  <a:tcPr marL="91440" marR="91440" marT="45720" marB="45720" anchor="ctr">
                    <a:solidFill>
                      <a:srgbClr val="FFFFFF"/>
                    </a:solidFill>
                  </a:tcPr>
                </a:tc>
                <a:tc>
                  <a:txBody>
                    <a:bodyPr lIns="85725" tIns="76200" rIns="85725" bIns="76200"/>
                    <a:lstStyle/>
                    <a:p>
                      <a:pPr algn="ctr">
                        <a:buNone/>
                      </a:pPr>
                      <a:r>
                        <a:rPr sz="1950" b="0">
                          <a:solidFill>
                            <a:srgbClr val="233746"/>
                          </a:solidFill>
                          <a:latin typeface="Arial"/>
                          <a:ea typeface="Arial"/>
                          <a:cs typeface="Arial"/>
                        </a:rPr>
                        <a:t>Potencia absoluta u, entre 0 y 100 %</a:t>
                      </a:r>
                    </a:p>
                  </a:txBody>
                  <a:tcPr marL="91440" marR="91440" marT="45720" marB="45720" anchor="ctr">
                    <a:solidFill>
                      <a:srgbClr val="FFFFFF"/>
                    </a:solidFill>
                  </a:tcPr>
                </a:tc>
              </a:tr>
              <a:tr h="573088">
                <a:tc>
                  <a:txBody>
                    <a:bodyPr lIns="85725" tIns="76200" rIns="85725" bIns="76200"/>
                    <a:lstStyle/>
                    <a:p>
                      <a:pPr algn="ctr">
                        <a:buNone/>
                      </a:pPr>
                      <a:r>
                        <a:rPr sz="1950" b="0">
                          <a:solidFill>
                            <a:srgbClr val="233746"/>
                          </a:solidFill>
                          <a:latin typeface="Arial"/>
                          <a:ea typeface="Arial"/>
                          <a:cs typeface="Arial"/>
                        </a:rPr>
                        <a:t>Muestreo</a:t>
                      </a:r>
                    </a:p>
                  </a:txBody>
                  <a:tcPr marL="91440" marR="91440" marT="45720" marB="45720" anchor="ctr">
                    <a:solidFill>
                      <a:srgbClr val="F4F7F9"/>
                    </a:solidFill>
                  </a:tcPr>
                </a:tc>
                <a:tc>
                  <a:txBody>
                    <a:bodyPr lIns="85725" tIns="76200" rIns="85725" bIns="76200"/>
                    <a:lstStyle/>
                    <a:p>
                      <a:pPr algn="ctr">
                        <a:buNone/>
                      </a:pPr>
                      <a:r>
                        <a:rPr sz="1950" b="0">
                          <a:solidFill>
                            <a:srgbClr val="233746"/>
                          </a:solidFill>
                          <a:latin typeface="Arial"/>
                          <a:ea typeface="Arial"/>
                          <a:cs typeface="Arial"/>
                        </a:rPr>
                        <a:t>Cada 0,1 min = 6 s</a:t>
                      </a:r>
                    </a:p>
                  </a:txBody>
                  <a:tcPr marL="91440" marR="91440" marT="45720" marB="45720" anchor="ctr">
                    <a:solidFill>
                      <a:srgbClr val="F4F7F9"/>
                    </a:solidFill>
                  </a:tcPr>
                </a:tc>
              </a:tr>
              <a:tr h="573088">
                <a:tc>
                  <a:txBody>
                    <a:bodyPr lIns="85725" tIns="76200" rIns="85725" bIns="76200"/>
                    <a:lstStyle/>
                    <a:p>
                      <a:pPr algn="ctr">
                        <a:buNone/>
                      </a:pPr>
                      <a:r>
                        <a:rPr sz="1950" b="0">
                          <a:solidFill>
                            <a:srgbClr val="233746"/>
                          </a:solidFill>
                          <a:latin typeface="Arial"/>
                          <a:ea typeface="Arial"/>
                          <a:cs typeface="Arial"/>
                        </a:rPr>
                        <a:t>Ensayo inicial</a:t>
                      </a:r>
                    </a:p>
                  </a:txBody>
                  <a:tcPr marL="91440" marR="91440" marT="45720" marB="45720" anchor="ctr">
                    <a:solidFill>
                      <a:srgbClr val="FFFFFF"/>
                    </a:solidFill>
                  </a:tcPr>
                </a:tc>
                <a:tc>
                  <a:txBody>
                    <a:bodyPr lIns="85725" tIns="76200" rIns="85725" bIns="76200"/>
                    <a:lstStyle/>
                    <a:p>
                      <a:pPr algn="ctr">
                        <a:buNone/>
                      </a:pPr>
                      <a:r>
                        <a:rPr sz="1950" b="0">
                          <a:solidFill>
                            <a:srgbClr val="233746"/>
                          </a:solidFill>
                          <a:latin typeface="Arial"/>
                          <a:ea typeface="Arial"/>
                          <a:cs typeface="Arial"/>
                        </a:rPr>
                        <a:t>T(0) = 18 °C; ambiente Ta = 18 °C</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44DE7600-A929-494F-85D6-F49A1C523B73}"/>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Datos docentes para simulación: no son especificaciones de una instalación real.</a:t>
            </a:r>
          </a:p>
        </p:txBody>
      </p:sp>
      <p:sp>
        <p:nvSpPr>
          <p:cNvPr id="15" name="">
            <a:extLst xmlns:a="http://schemas.openxmlformats.org/drawingml/2006/main">
              <a:ext uri="{FF2B5EF4-FFF2-40B4-BE49-F238E27FC236}">
                <a16:creationId xmlns:a16="http://schemas.microsoft.com/office/drawing/2014/main" id="{1F5B9FA8-5F18-4314-BF90-A026DDFD5B8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16B9F90-6DC3-4B82-A918-DA6F19364BB5}"/>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1. Medir y calcular error y tendencia</a:t>
            </a:r>
          </a:p>
        </p:txBody>
      </p:sp>
      <p:graphicFrame>
        <p:nvGraphicFramePr>
          <p:cNvPr id="24" name=""/>
          <p:cNvGraphicFramePr/>
          <p:nvPr/>
        </p:nvGraphicFramePr>
        <p:xfrm>
          <a:off xmlns:a="http://schemas.openxmlformats.org/drawingml/2006/main" x="762000" y="1714500"/>
          <a:ext xmlns:a="http://schemas.openxmlformats.org/drawingml/2006/main" cx="10668000" cy="2095500"/>
        </p:xfrm>
        <a:graphic xmlns:a="http://schemas.openxmlformats.org/drawingml/2006/main">
          <a:graphicData uri="http://schemas.openxmlformats.org/drawingml/2006/table">
            <a:tbl>
              <a:tblPr/>
              <a:tblGrid>
                <a:gridCol w="2714625"/>
                <a:gridCol w="3095625"/>
                <a:gridCol w="4857750"/>
              </a:tblGrid>
              <a:tr h="698500">
                <a:tc>
                  <a:txBody>
                    <a:bodyPr lIns="85725" tIns="76200" rIns="85725" bIns="76200"/>
                    <a:lstStyle/>
                    <a:p>
                      <a:pPr algn="ctr">
                        <a:buNone/>
                      </a:pPr>
                      <a:r>
                        <a:rPr sz="2250" b="1">
                          <a:solidFill>
                            <a:srgbClr val="2162A0"/>
                          </a:solidFill>
                          <a:latin typeface="Arial"/>
                          <a:ea typeface="Arial"/>
                          <a:cs typeface="Arial"/>
                        </a:rPr>
                        <a:t>Instante</a:t>
                      </a:r>
                    </a:p>
                  </a:txBody>
                  <a:tcPr marL="91440" marR="91440" marT="45720" marB="45720" anchor="ctr">
                    <a:solidFill>
                      <a:srgbClr val="E7EFF5"/>
                    </a:solidFill>
                  </a:tcPr>
                </a:tc>
                <a:tc>
                  <a:txBody>
                    <a:bodyPr lIns="85725" tIns="76200" rIns="85725" bIns="76200"/>
                    <a:lstStyle/>
                    <a:p>
                      <a:pPr algn="ctr">
                        <a:buNone/>
                      </a:pPr>
                      <a:r>
                        <a:rPr sz="2250" b="1">
                          <a:solidFill>
                            <a:srgbClr val="2162A0"/>
                          </a:solidFill>
                          <a:latin typeface="Arial"/>
                          <a:ea typeface="Arial"/>
                          <a:cs typeface="Arial"/>
                        </a:rPr>
                        <a:t>Temperatura</a:t>
                      </a:r>
                    </a:p>
                  </a:txBody>
                  <a:tcPr marL="91440" marR="91440" marT="45720" marB="45720" anchor="ctr">
                    <a:solidFill>
                      <a:srgbClr val="E7EFF5"/>
                    </a:solidFill>
                  </a:tcPr>
                </a:tc>
                <a:tc>
                  <a:txBody>
                    <a:bodyPr lIns="85725" tIns="76200" rIns="85725" bIns="76200"/>
                    <a:lstStyle/>
                    <a:p>
                      <a:pPr algn="ctr">
                        <a:buNone/>
                      </a:pPr>
                      <a:r>
                        <a:rPr sz="2250" b="1">
                          <a:solidFill>
                            <a:srgbClr val="2162A0"/>
                          </a:solidFill>
                          <a:latin typeface="Arial"/>
                          <a:ea typeface="Arial"/>
                          <a:cs typeface="Arial"/>
                        </a:rPr>
                        <a:t>Error r − T</a:t>
                      </a:r>
                    </a:p>
                  </a:txBody>
                  <a:tcPr marL="91440" marR="91440" marT="45720" marB="45720" anchor="ctr">
                    <a:solidFill>
                      <a:srgbClr val="E7EFF5"/>
                    </a:solidFill>
                  </a:tcPr>
                </a:tc>
              </a:tr>
              <a:tr h="698500">
                <a:tc>
                  <a:txBody>
                    <a:bodyPr lIns="85725" tIns="76200" rIns="85725" bIns="76200"/>
                    <a:lstStyle/>
                    <a:p>
                      <a:pPr algn="ctr">
                        <a:buNone/>
                      </a:pPr>
                      <a:r>
                        <a:rPr sz="2250" b="0">
                          <a:solidFill>
                            <a:srgbClr val="233746"/>
                          </a:solidFill>
                          <a:latin typeface="Arial"/>
                          <a:ea typeface="Arial"/>
                          <a:cs typeface="Arial"/>
                        </a:rPr>
                        <a:t>Anterior</a:t>
                      </a:r>
                    </a:p>
                  </a:txBody>
                  <a:tcPr marL="91440" marR="91440" marT="45720" marB="45720" anchor="ctr">
                    <a:solidFill>
                      <a:srgbClr val="FFFFFF"/>
                    </a:solidFill>
                  </a:tcPr>
                </a:tc>
                <a:tc>
                  <a:txBody>
                    <a:bodyPr lIns="85725" tIns="76200" rIns="85725" bIns="76200"/>
                    <a:lstStyle/>
                    <a:p>
                      <a:pPr algn="ctr">
                        <a:buNone/>
                      </a:pPr>
                      <a:r>
                        <a:rPr sz="2250" b="0">
                          <a:solidFill>
                            <a:srgbClr val="233746"/>
                          </a:solidFill>
                          <a:latin typeface="Arial"/>
                          <a:ea typeface="Arial"/>
                          <a:cs typeface="Arial"/>
                        </a:rPr>
                        <a:t>20,02 °C</a:t>
                      </a:r>
                    </a:p>
                  </a:txBody>
                  <a:tcPr marL="91440" marR="91440" marT="45720" marB="45720" anchor="ctr">
                    <a:solidFill>
                      <a:srgbClr val="FFFFFF"/>
                    </a:solidFill>
                  </a:tcPr>
                </a:tc>
                <a:tc>
                  <a:txBody>
                    <a:bodyPr lIns="85725" tIns="76200" rIns="85725" bIns="76200"/>
                    <a:lstStyle/>
                    <a:p>
                      <a:pPr algn="ctr">
                        <a:buNone/>
                      </a:pPr>
                      <a:r>
                        <a:rPr sz="2250" b="0">
                          <a:solidFill>
                            <a:srgbClr val="233746"/>
                          </a:solidFill>
                          <a:latin typeface="Arial"/>
                          <a:ea typeface="Arial"/>
                          <a:cs typeface="Arial"/>
                        </a:rPr>
                        <a:t>22 − 20,02 = 1,98 °C</a:t>
                      </a:r>
                    </a:p>
                  </a:txBody>
                  <a:tcPr marL="91440" marR="91440" marT="45720" marB="45720" anchor="ctr">
                    <a:solidFill>
                      <a:srgbClr val="FFFFFF"/>
                    </a:solidFill>
                  </a:tcPr>
                </a:tc>
              </a:tr>
              <a:tr h="698500">
                <a:tc>
                  <a:txBody>
                    <a:bodyPr lIns="85725" tIns="76200" rIns="85725" bIns="76200"/>
                    <a:lstStyle/>
                    <a:p>
                      <a:pPr algn="ctr">
                        <a:buNone/>
                      </a:pPr>
                      <a:r>
                        <a:rPr sz="2250" b="0">
                          <a:solidFill>
                            <a:srgbClr val="233746"/>
                          </a:solidFill>
                          <a:latin typeface="Arial"/>
                          <a:ea typeface="Arial"/>
                          <a:cs typeface="Arial"/>
                        </a:rPr>
                        <a:t>Actual</a:t>
                      </a:r>
                    </a:p>
                  </a:txBody>
                  <a:tcPr marL="91440" marR="91440" marT="45720" marB="45720" anchor="ctr">
                    <a:solidFill>
                      <a:srgbClr val="F4F7F9"/>
                    </a:solidFill>
                  </a:tcPr>
                </a:tc>
                <a:tc>
                  <a:txBody>
                    <a:bodyPr lIns="85725" tIns="76200" rIns="85725" bIns="76200"/>
                    <a:lstStyle/>
                    <a:p>
                      <a:pPr algn="ctr">
                        <a:buNone/>
                      </a:pPr>
                      <a:r>
                        <a:rPr sz="2250" b="0">
                          <a:solidFill>
                            <a:srgbClr val="233746"/>
                          </a:solidFill>
                          <a:latin typeface="Arial"/>
                          <a:ea typeface="Arial"/>
                          <a:cs typeface="Arial"/>
                        </a:rPr>
                        <a:t>20,00 °C</a:t>
                      </a:r>
                    </a:p>
                  </a:txBody>
                  <a:tcPr marL="91440" marR="91440" marT="45720" marB="45720" anchor="ctr">
                    <a:solidFill>
                      <a:srgbClr val="F4F7F9"/>
                    </a:solidFill>
                  </a:tcPr>
                </a:tc>
                <a:tc>
                  <a:txBody>
                    <a:bodyPr lIns="85725" tIns="76200" rIns="85725" bIns="76200"/>
                    <a:lstStyle/>
                    <a:p>
                      <a:pPr algn="ctr">
                        <a:buNone/>
                      </a:pPr>
                      <a:r>
                        <a:rPr sz="2250" b="0">
                          <a:solidFill>
                            <a:srgbClr val="233746"/>
                          </a:solidFill>
                          <a:latin typeface="Arial"/>
                          <a:ea typeface="Arial"/>
                          <a:cs typeface="Arial"/>
                        </a:rPr>
                        <a:t>22 − 20,00 = 2,00 °C</a:t>
                      </a:r>
                    </a:p>
                  </a:txBody>
                  <a:tcPr marL="91440" marR="91440" marT="45720" marB="45720" anchor="ctr">
                    <a:solidFill>
                      <a:srgbClr val="F4F7F9"/>
                    </a:solidFill>
                  </a:tcPr>
                </a:tc>
              </a:tr>
            </a:tbl>
          </a:graphicData>
        </a:graphic>
      </p:graphicFrame>
      <p:sp>
        <p:nvSpPr>
          <p:cNvPr id="10" name="">
            <a:extLst xmlns:a="http://schemas.openxmlformats.org/drawingml/2006/main">
              <a:ext uri="{FF2B5EF4-FFF2-40B4-BE49-F238E27FC236}">
                <a16:creationId xmlns:a16="http://schemas.microsoft.com/office/drawing/2014/main" id="{699BDD01-3654-49F5-A8B7-A33CD77112AC}"/>
              </a:ext>
            </a:extLst>
          </p:cNvPr>
          <p:cNvSpPr>
            <a:spLocks xmlns:a="http://schemas.openxmlformats.org/drawingml/2006/main" noGrp="1"/>
          </p:cNvSpPr>
          <p:nvPr/>
        </p:nvSpPr>
        <p:spPr>
          <a:xfrm xmlns:a="http://schemas.openxmlformats.org/drawingml/2006/main">
            <a:off x="762000" y="4219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1">
                <a:solidFill>
                  <a:srgbClr val="D96B18"/>
                </a:solidFill>
                <a:latin typeface="Arial"/>
                <a:ea typeface="Arial"/>
                <a:cs typeface="Arial"/>
              </a:defRPr>
            </a:pPr>
            <a:r>
              <a:rPr sz="2550" b="1">
                <a:solidFill>
                  <a:srgbClr val="D96B18"/>
                </a:solidFill>
                <a:latin typeface="Arial"/>
                <a:ea typeface="Arial"/>
                <a:cs typeface="Arial"/>
              </a:rPr>
              <a:t>Variación del error = (2,00 − 1,98) / 0,1 = 0,2 °C/min</a:t>
            </a:r>
          </a:p>
        </p:txBody>
      </p:sp>
      <p:sp>
        <p:nvSpPr>
          <p:cNvPr id="11" name="">
            <a:extLst xmlns:a="http://schemas.openxmlformats.org/drawingml/2006/main">
              <a:ext uri="{FF2B5EF4-FFF2-40B4-BE49-F238E27FC236}">
                <a16:creationId xmlns:a16="http://schemas.microsoft.com/office/drawing/2014/main" id="{39DF7525-6C78-4173-A047-27835C0A18F9}"/>
              </a:ext>
            </a:extLst>
          </p:cNvPr>
          <p:cNvSpPr>
            <a:spLocks xmlns:a="http://schemas.openxmlformats.org/drawingml/2006/main" noGrp="1"/>
          </p:cNvSpPr>
          <p:nvPr/>
        </p:nvSpPr>
        <p:spPr>
          <a:xfrm xmlns:a="http://schemas.openxmlformats.org/drawingml/2006/main">
            <a:off x="762000" y="51816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e &gt; 0: falta temperatura.</a:t>
            </a:r>
          </a:p>
          <a:p xmlns:a="http://schemas.openxmlformats.org/drawingml/2006/main">
            <a:pPr>
              <a:buNone/>
              <a:defRPr sz="2250" b="0">
                <a:solidFill>
                  <a:srgbClr val="233746"/>
                </a:solidFill>
                <a:latin typeface="Arial"/>
                <a:ea typeface="Arial"/>
                <a:cs typeface="Arial"/>
              </a:defRPr>
            </a:pPr>
            <a:r>
              <a:rPr sz="2250" b="0">
                <a:solidFill>
                  <a:srgbClr val="233746"/>
                </a:solidFill>
                <a:latin typeface="Arial"/>
                <a:ea typeface="Arial"/>
                <a:cs typeface="Arial"/>
              </a:rPr>
              <a:t>de/dt &gt; 0: el error está creciendo.</a:t>
            </a:r>
          </a:p>
        </p:txBody>
      </p:sp>
      <p:sp>
        <p:nvSpPr>
          <p:cNvPr id="12" name="">
            <a:extLst xmlns:a="http://schemas.openxmlformats.org/drawingml/2006/main">
              <a:ext uri="{FF2B5EF4-FFF2-40B4-BE49-F238E27FC236}">
                <a16:creationId xmlns:a16="http://schemas.microsoft.com/office/drawing/2014/main" id="{98195B8B-A718-462B-B1E5-65AA8D2EC560}"/>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signo tiene significado físico: la habitación está perdiendo temperatura.</a:t>
            </a:r>
          </a:p>
        </p:txBody>
      </p:sp>
      <p:sp>
        <p:nvSpPr>
          <p:cNvPr id="16" name="">
            <a:extLst xmlns:a="http://schemas.openxmlformats.org/drawingml/2006/main">
              <a:ext uri="{FF2B5EF4-FFF2-40B4-BE49-F238E27FC236}">
                <a16:creationId xmlns:a16="http://schemas.microsoft.com/office/drawing/2014/main" id="{0647E306-9EA7-43B7-AE50-2ED2F8276E0A}"/>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70838A0-AEC7-4E6C-87F2-DADD91B2A298}"/>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2. Normalizar los rangos de entrada</a:t>
            </a:r>
          </a:p>
        </p:txBody>
      </p:sp>
      <p:sp>
        <p:nvSpPr>
          <p:cNvPr id="9" name="">
            <a:extLst xmlns:a="http://schemas.openxmlformats.org/drawingml/2006/main">
              <a:ext uri="{FF2B5EF4-FFF2-40B4-BE49-F238E27FC236}">
                <a16:creationId xmlns:a16="http://schemas.microsoft.com/office/drawing/2014/main" id="{73C7868E-1601-4D04-B8B8-8DB1936F26DA}"/>
              </a:ext>
            </a:extLst>
          </p:cNvPr>
          <p:cNvSpPr>
            <a:spLocks xmlns:a="http://schemas.openxmlformats.org/drawingml/2006/main" noGrp="1"/>
          </p:cNvSpPr>
          <p:nvPr/>
        </p:nvSpPr>
        <p:spPr>
          <a:xfrm xmlns:a="http://schemas.openxmlformats.org/drawingml/2006/main">
            <a:off x="762000" y="190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925" b="1">
                <a:solidFill>
                  <a:srgbClr val="D96B18"/>
                </a:solidFill>
                <a:latin typeface="Arial"/>
                <a:ea typeface="Arial"/>
                <a:cs typeface="Arial"/>
              </a:defRPr>
            </a:pPr>
            <a:r>
              <a:rPr sz="2925" b="1">
                <a:solidFill>
                  <a:srgbClr val="D96B18"/>
                </a:solidFill>
                <a:latin typeface="Arial"/>
                <a:ea typeface="Arial"/>
                <a:cs typeface="Arial"/>
              </a:rPr>
              <a:t>E = clip(e / 4, −1, 1)</a:t>
            </a:r>
          </a:p>
        </p:txBody>
      </p:sp>
      <p:sp>
        <p:nvSpPr>
          <p:cNvPr id="10" name="">
            <a:extLst xmlns:a="http://schemas.openxmlformats.org/drawingml/2006/main">
              <a:ext uri="{FF2B5EF4-FFF2-40B4-BE49-F238E27FC236}">
                <a16:creationId xmlns:a16="http://schemas.microsoft.com/office/drawing/2014/main" id="{D1F07ECF-0032-453A-8B0F-5B62D5D91947}"/>
              </a:ext>
            </a:extLst>
          </p:cNvPr>
          <p:cNvSpPr>
            <a:spLocks xmlns:a="http://schemas.openxmlformats.org/drawingml/2006/main" noGrp="1"/>
          </p:cNvSpPr>
          <p:nvPr/>
        </p:nvSpPr>
        <p:spPr>
          <a:xfrm xmlns:a="http://schemas.openxmlformats.org/drawingml/2006/main">
            <a:off x="762000" y="28860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925" b="1">
                <a:solidFill>
                  <a:srgbClr val="2162A0"/>
                </a:solidFill>
                <a:latin typeface="Arial"/>
                <a:ea typeface="Arial"/>
                <a:cs typeface="Arial"/>
              </a:defRPr>
            </a:pPr>
            <a:r>
              <a:rPr sz="2925" b="1">
                <a:solidFill>
                  <a:srgbClr val="2162A0"/>
                </a:solidFill>
                <a:latin typeface="Arial"/>
                <a:ea typeface="Arial"/>
                <a:cs typeface="Arial"/>
              </a:rPr>
              <a:t>D = clip((de/dt) / 1, −1, 1)</a:t>
            </a:r>
          </a:p>
        </p:txBody>
      </p:sp>
      <p:sp>
        <p:nvSpPr>
          <p:cNvPr id="11" name="">
            <a:extLst xmlns:a="http://schemas.openxmlformats.org/drawingml/2006/main">
              <a:ext uri="{FF2B5EF4-FFF2-40B4-BE49-F238E27FC236}">
                <a16:creationId xmlns:a16="http://schemas.microsoft.com/office/drawing/2014/main" id="{62792AEA-8D9E-40A3-88BC-6F2A029BD7E5}"/>
              </a:ext>
            </a:extLst>
          </p:cNvPr>
          <p:cNvSpPr>
            <a:spLocks xmlns:a="http://schemas.openxmlformats.org/drawingml/2006/main" noGrp="1"/>
          </p:cNvSpPr>
          <p:nvPr/>
        </p:nvSpPr>
        <p:spPr>
          <a:xfrm xmlns:a="http://schemas.openxmlformats.org/drawingml/2006/main">
            <a:off x="762000" y="41052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233746"/>
                </a:solidFill>
                <a:latin typeface="Arial"/>
                <a:ea typeface="Arial"/>
                <a:cs typeface="Arial"/>
              </a:defRPr>
            </a:pPr>
            <a:r>
              <a:rPr sz="2400" b="0">
                <a:solidFill>
                  <a:srgbClr val="233746"/>
                </a:solidFill>
                <a:latin typeface="Arial"/>
                <a:ea typeface="Arial"/>
                <a:cs typeface="Arial"/>
              </a:rPr>
              <a:t>Ejemplo: e = 2 °C y de/dt = 0,2 °C/min</a:t>
            </a:r>
          </a:p>
          <a:p xmlns:a="http://schemas.openxmlformats.org/drawingml/2006/main">
            <a:pPr>
              <a:buNone/>
              <a:defRPr sz="2400" b="0">
                <a:solidFill>
                  <a:srgbClr val="233746"/>
                </a:solidFill>
                <a:latin typeface="Arial"/>
                <a:ea typeface="Arial"/>
                <a:cs typeface="Arial"/>
              </a:defRPr>
            </a:pPr>
            <a:r>
              <a:rPr sz="2400" b="0">
                <a:solidFill>
                  <a:srgbClr val="233746"/>
                </a:solidFill>
                <a:latin typeface="Arial"/>
                <a:ea typeface="Arial"/>
                <a:cs typeface="Arial"/>
              </a:rPr>
              <a:t>→ E = 0,5 y D = 0,2.</a:t>
            </a:r>
          </a:p>
        </p:txBody>
      </p:sp>
      <p:sp>
        <p:nvSpPr>
          <p:cNvPr id="12" name="">
            <a:extLst xmlns:a="http://schemas.openxmlformats.org/drawingml/2006/main">
              <a:ext uri="{FF2B5EF4-FFF2-40B4-BE49-F238E27FC236}">
                <a16:creationId xmlns:a16="http://schemas.microsoft.com/office/drawing/2014/main" id="{00E283EA-DDE2-44FF-ADCD-BBB18173A6C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saturación de entradas es explícita; fuera del rango seguimos en el hombro extremo.</a:t>
            </a:r>
          </a:p>
        </p:txBody>
      </p:sp>
      <p:sp>
        <p:nvSpPr>
          <p:cNvPr id="13" name="">
            <a:extLst xmlns:a="http://schemas.openxmlformats.org/drawingml/2006/main">
              <a:ext uri="{FF2B5EF4-FFF2-40B4-BE49-F238E27FC236}">
                <a16:creationId xmlns:a16="http://schemas.microsoft.com/office/drawing/2014/main" id="{DE51EEA4-8B08-4B9D-8E50-24E14D2093B1}"/>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1D4E710-63BA-46DD-B256-B776B7BBB5DD}"/>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3. Calcular los grados de pertenencia</a:t>
            </a:r>
          </a:p>
        </p:txBody>
      </p:sp>
      <p:sp>
        <p:nvSpPr>
          <p:cNvPr id="9" name="">
            <a:extLst xmlns:a="http://schemas.openxmlformats.org/drawingml/2006/main">
              <a:ext uri="{FF2B5EF4-FFF2-40B4-BE49-F238E27FC236}">
                <a16:creationId xmlns:a16="http://schemas.microsoft.com/office/drawing/2014/main" id="{BB8FF0C0-995B-49AF-A82F-FB64D21BE4A8}"/>
              </a:ext>
            </a:extLst>
          </p:cNvPr>
          <p:cNvSpPr>
            <a:spLocks xmlns:a="http://schemas.openxmlformats.org/drawingml/2006/main" noGrp="1"/>
          </p:cNvSpPr>
          <p:nvPr/>
        </p:nvSpPr>
        <p:spPr>
          <a:xfrm xmlns:a="http://schemas.openxmlformats.org/drawingml/2006/main">
            <a:off x="762000" y="16097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2162A0"/>
                </a:solidFill>
                <a:latin typeface="Arial"/>
                <a:ea typeface="Arial"/>
                <a:cs typeface="Arial"/>
              </a:defRPr>
            </a:pPr>
            <a:r>
              <a:rPr sz="2400" b="1">
                <a:solidFill>
                  <a:srgbClr val="2162A0"/>
                </a:solidFill>
                <a:latin typeface="Arial"/>
                <a:ea typeface="Arial"/>
                <a:cs typeface="Arial"/>
              </a:rPr>
              <a:t>E = e / 4 = 0,5</a:t>
            </a:r>
          </a:p>
        </p:txBody>
      </p:sp>
      <p:sp>
        <p:nvSpPr>
          <p:cNvPr id="10" name="">
            <a:extLst xmlns:a="http://schemas.openxmlformats.org/drawingml/2006/main">
              <a:ext uri="{FF2B5EF4-FFF2-40B4-BE49-F238E27FC236}">
                <a16:creationId xmlns:a16="http://schemas.microsoft.com/office/drawing/2014/main" id="{CB52FCAE-280E-4834-ADB7-D37F1701C269}"/>
              </a:ext>
            </a:extLst>
          </p:cNvPr>
          <p:cNvSpPr>
            <a:spLocks xmlns:a="http://schemas.openxmlformats.org/drawingml/2006/main" noGrp="1"/>
          </p:cNvSpPr>
          <p:nvPr/>
        </p:nvSpPr>
        <p:spPr>
          <a:xfrm xmlns:a="http://schemas.openxmlformats.org/drawingml/2006/main">
            <a:off x="6572250" y="16097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1">
                <a:solidFill>
                  <a:srgbClr val="D96B18"/>
                </a:solidFill>
                <a:latin typeface="Arial"/>
                <a:ea typeface="Arial"/>
                <a:cs typeface="Arial"/>
              </a:defRPr>
            </a:pPr>
            <a:r>
              <a:rPr sz="2400" b="1">
                <a:solidFill>
                  <a:srgbClr val="D96B18"/>
                </a:solidFill>
                <a:latin typeface="Arial"/>
                <a:ea typeface="Arial"/>
                <a:cs typeface="Arial"/>
              </a:rPr>
              <a:t>D = (de/dt) / 1 = 0,2</a:t>
            </a:r>
          </a:p>
        </p:txBody>
      </p:sp>
      <p:graphicFrame>
        <p:nvGraphicFramePr>
          <p:cNvPr id="30" name="Chart"/>
          <p:cNvGraphicFramePr/>
          <p:nvPr/>
        </p:nvGraphicFramePr>
        <p:xfrm>
          <a:off xmlns:a="http://schemas.openxmlformats.org/drawingml/2006/main" x="762000" y="2209800"/>
          <a:ext xmlns:a="http://schemas.openxmlformats.org/drawingml/2006/main" cx="5095875" cy="2800350"/>
        </p:xfrm>
        <a:graphic xmlns:a="http://schemas.openxmlformats.org/drawingml/2006/main">
          <a:graphicData uri="http://schemas.openxmlformats.org/drawingml/2006/chart">
            <c:chart xmlns:r="http://schemas.openxmlformats.org/officeDocument/2006/relationships" xmlns:c="http://schemas.openxmlformats.org/drawingml/2006/chart" r:id="R8a257e0be3c74f6a"/>
          </a:graphicData>
        </a:graphic>
      </p:graphicFrame>
      <p:graphicFrame>
        <p:nvGraphicFramePr>
          <p:cNvPr id="31" name="Chart"/>
          <p:cNvGraphicFramePr/>
          <p:nvPr/>
        </p:nvGraphicFramePr>
        <p:xfrm>
          <a:off xmlns:a="http://schemas.openxmlformats.org/drawingml/2006/main" x="6477000" y="2209800"/>
          <a:ext xmlns:a="http://schemas.openxmlformats.org/drawingml/2006/main" cx="4953000" cy="2800350"/>
        </p:xfrm>
        <a:graphic xmlns:a="http://schemas.openxmlformats.org/drawingml/2006/main">
          <a:graphicData uri="http://schemas.openxmlformats.org/drawingml/2006/chart">
            <c:chart xmlns:r="http://schemas.openxmlformats.org/officeDocument/2006/relationships" xmlns:c="http://schemas.openxmlformats.org/drawingml/2006/chart" r:id="R29fe10e826224e7f"/>
          </a:graphicData>
        </a:graphic>
      </p:graphicFrame>
      <p:sp>
        <p:nvSpPr>
          <p:cNvPr id="13" name="">
            <a:extLst xmlns:a="http://schemas.openxmlformats.org/drawingml/2006/main">
              <a:ext uri="{FF2B5EF4-FFF2-40B4-BE49-F238E27FC236}">
                <a16:creationId xmlns:a16="http://schemas.microsoft.com/office/drawing/2014/main" id="{DDC28400-DCFF-4397-9992-CA98386E7794}"/>
              </a:ext>
            </a:extLst>
          </p:cNvPr>
          <p:cNvSpPr>
            <a:spLocks xmlns:a="http://schemas.openxmlformats.org/drawingml/2006/main" noGrp="1"/>
          </p:cNvSpPr>
          <p:nvPr/>
        </p:nvSpPr>
        <p:spPr>
          <a:xfrm xmlns:a="http://schemas.openxmlformats.org/drawingml/2006/main">
            <a:off x="1190625" y="5219700"/>
            <a:ext cx="4381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2162A0"/>
                </a:solidFill>
                <a:latin typeface="Arial"/>
                <a:ea typeface="Arial"/>
                <a:cs typeface="Arial"/>
              </a:defRPr>
            </a:pPr>
            <a:r>
              <a:rPr sz="2250" b="1">
                <a:solidFill>
                  <a:srgbClr val="2162A0"/>
                </a:solidFill>
                <a:latin typeface="Arial"/>
                <a:ea typeface="Arial"/>
                <a:cs typeface="Arial"/>
              </a:rPr>
              <a:t>Cero = 0,5</a:t>
            </a:r>
          </a:p>
          <a:p xmlns:a="http://schemas.openxmlformats.org/drawingml/2006/main">
            <a:pPr>
              <a:buNone/>
              <a:defRPr sz="2250" b="1">
                <a:solidFill>
                  <a:srgbClr val="2162A0"/>
                </a:solidFill>
                <a:latin typeface="Arial"/>
                <a:ea typeface="Arial"/>
                <a:cs typeface="Arial"/>
              </a:defRPr>
            </a:pPr>
            <a:r>
              <a:rPr sz="2250" b="1">
                <a:solidFill>
                  <a:srgbClr val="2162A0"/>
                </a:solidFill>
                <a:latin typeface="Arial"/>
                <a:ea typeface="Arial"/>
                <a:cs typeface="Arial"/>
              </a:rPr>
              <a:t>Positivo = 0,5</a:t>
            </a:r>
          </a:p>
        </p:txBody>
      </p:sp>
      <p:sp>
        <p:nvSpPr>
          <p:cNvPr id="14" name="">
            <a:extLst xmlns:a="http://schemas.openxmlformats.org/drawingml/2006/main">
              <a:ext uri="{FF2B5EF4-FFF2-40B4-BE49-F238E27FC236}">
                <a16:creationId xmlns:a16="http://schemas.microsoft.com/office/drawing/2014/main" id="{C48CAEF6-F431-4661-9C39-13FDF6E27C84}"/>
              </a:ext>
            </a:extLst>
          </p:cNvPr>
          <p:cNvSpPr>
            <a:spLocks xmlns:a="http://schemas.openxmlformats.org/drawingml/2006/main" noGrp="1"/>
          </p:cNvSpPr>
          <p:nvPr/>
        </p:nvSpPr>
        <p:spPr>
          <a:xfrm xmlns:a="http://schemas.openxmlformats.org/drawingml/2006/main">
            <a:off x="6905625" y="5219700"/>
            <a:ext cx="4381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Estable = 0,8</a:t>
            </a:r>
          </a:p>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Crece = 0,2</a:t>
            </a:r>
          </a:p>
        </p:txBody>
      </p:sp>
      <p:sp>
        <p:nvSpPr>
          <p:cNvPr id="15" name="">
            <a:extLst xmlns:a="http://schemas.openxmlformats.org/drawingml/2006/main">
              <a:ext uri="{FF2B5EF4-FFF2-40B4-BE49-F238E27FC236}">
                <a16:creationId xmlns:a16="http://schemas.microsoft.com/office/drawing/2014/main" id="{DBF954A0-44C7-440E-9E14-F1E694893BBA}"/>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En cada gráfica hay dos etiquetas activas. Sus combinaciones activarán cuatro reglas.</a:t>
            </a:r>
          </a:p>
        </p:txBody>
      </p:sp>
      <p:sp>
        <p:nvSpPr>
          <p:cNvPr id="20" name="">
            <a:extLst xmlns:a="http://schemas.openxmlformats.org/drawingml/2006/main">
              <a:ext uri="{FF2B5EF4-FFF2-40B4-BE49-F238E27FC236}">
                <a16:creationId xmlns:a16="http://schemas.microsoft.com/office/drawing/2014/main" id="{72257CE3-2490-4E19-B75A-D2C0E02F311E}"/>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4656065-9F1F-41D2-B9A6-FABA33EA8C6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4. Consultar la tabla de nueve reglas</a:t>
            </a:r>
          </a:p>
        </p:txBody>
      </p:sp>
      <p:graphicFrame>
        <p:nvGraphicFramePr>
          <p:cNvPr id="24" name=""/>
          <p:cNvGraphicFramePr/>
          <p:nvPr/>
        </p:nvGraphicFramePr>
        <p:xfrm>
          <a:off xmlns:a="http://schemas.openxmlformats.org/drawingml/2006/main" x="762000" y="1952625"/>
          <a:ext xmlns:a="http://schemas.openxmlformats.org/drawingml/2006/main" cx="10668000" cy="2695575"/>
        </p:xfrm>
        <a:graphic xmlns:a="http://schemas.openxmlformats.org/drawingml/2006/main">
          <a:graphicData uri="http://schemas.openxmlformats.org/drawingml/2006/table">
            <a:tbl>
              <a:tblPr/>
              <a:tblGrid>
                <a:gridCol w="2667000"/>
                <a:gridCol w="2667000"/>
                <a:gridCol w="2667000"/>
                <a:gridCol w="2667000"/>
              </a:tblGrid>
              <a:tr h="673894">
                <a:tc>
                  <a:txBody>
                    <a:bodyPr lIns="85725" tIns="76200" rIns="85725" bIns="76200"/>
                    <a:lstStyle/>
                    <a:p>
                      <a:pPr algn="ctr">
                        <a:buNone/>
                      </a:pPr>
                      <a:r>
                        <a:rPr sz="2175" b="1">
                          <a:solidFill>
                            <a:srgbClr val="2162A0"/>
                          </a:solidFill>
                          <a:latin typeface="Arial"/>
                          <a:ea typeface="Arial"/>
                          <a:cs typeface="Arial"/>
                        </a:rPr>
                        <a:t>e / de/dt</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Disminuye</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Estable</a:t>
                      </a:r>
                    </a:p>
                  </a:txBody>
                  <a:tcPr marL="91440" marR="91440" marT="45720" marB="45720" anchor="ctr">
                    <a:solidFill>
                      <a:srgbClr val="E7EFF5"/>
                    </a:solidFill>
                  </a:tcPr>
                </a:tc>
                <a:tc>
                  <a:txBody>
                    <a:bodyPr lIns="85725" tIns="76200" rIns="85725" bIns="76200"/>
                    <a:lstStyle/>
                    <a:p>
                      <a:pPr algn="ctr">
                        <a:buNone/>
                      </a:pPr>
                      <a:r>
                        <a:rPr sz="2175" b="1">
                          <a:solidFill>
                            <a:srgbClr val="2162A0"/>
                          </a:solidFill>
                          <a:latin typeface="Arial"/>
                          <a:ea typeface="Arial"/>
                          <a:cs typeface="Arial"/>
                        </a:rPr>
                        <a:t>Crece</a:t>
                      </a:r>
                    </a:p>
                  </a:txBody>
                  <a:tcPr marL="91440" marR="91440" marT="45720" marB="45720" anchor="ctr">
                    <a:solidFill>
                      <a:srgbClr val="E7EFF5"/>
                    </a:solidFill>
                  </a:tcPr>
                </a:tc>
              </a:tr>
              <a:tr h="673894">
                <a:tc>
                  <a:txBody>
                    <a:bodyPr lIns="85725" tIns="76200" rIns="85725" bIns="76200"/>
                    <a:lstStyle/>
                    <a:p>
                      <a:pPr algn="ctr">
                        <a:buNone/>
                      </a:pPr>
                      <a:r>
                        <a:rPr sz="2175" b="0">
                          <a:solidFill>
                            <a:srgbClr val="233746"/>
                          </a:solidFill>
                          <a:latin typeface="Arial"/>
                          <a:ea typeface="Arial"/>
                          <a:cs typeface="Arial"/>
                        </a:rPr>
                        <a:t>Negativo</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0 %</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0 %</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20 %</a:t>
                      </a:r>
                    </a:p>
                  </a:txBody>
                  <a:tcPr marL="91440" marR="91440" marT="45720" marB="45720" anchor="ctr">
                    <a:solidFill>
                      <a:srgbClr val="FFFFFF"/>
                    </a:solidFill>
                  </a:tcPr>
                </a:tc>
              </a:tr>
              <a:tr h="673894">
                <a:tc>
                  <a:txBody>
                    <a:bodyPr lIns="85725" tIns="76200" rIns="85725" bIns="76200"/>
                    <a:lstStyle/>
                    <a:p>
                      <a:pPr algn="ctr">
                        <a:buNone/>
                      </a:pPr>
                      <a:r>
                        <a:rPr sz="2175" b="0">
                          <a:solidFill>
                            <a:srgbClr val="233746"/>
                          </a:solidFill>
                          <a:latin typeface="Arial"/>
                          <a:ea typeface="Arial"/>
                          <a:cs typeface="Arial"/>
                        </a:rPr>
                        <a:t>Cero</a:t>
                      </a:r>
                    </a:p>
                  </a:txBody>
                  <a:tcPr marL="91440" marR="91440" marT="45720" marB="45720" anchor="ctr">
                    <a:solidFill>
                      <a:srgbClr val="F4F7F9"/>
                    </a:solidFill>
                  </a:tcPr>
                </a:tc>
                <a:tc>
                  <a:txBody>
                    <a:bodyPr lIns="85725" tIns="76200" rIns="85725" bIns="76200"/>
                    <a:lstStyle/>
                    <a:p>
                      <a:pPr algn="ctr">
                        <a:buNone/>
                      </a:pPr>
                      <a:r>
                        <a:rPr sz="2175" b="0">
                          <a:solidFill>
                            <a:srgbClr val="233746"/>
                          </a:solidFill>
                          <a:latin typeface="Arial"/>
                          <a:ea typeface="Arial"/>
                          <a:cs typeface="Arial"/>
                        </a:rPr>
                        <a:t>0 %</a:t>
                      </a:r>
                    </a:p>
                  </a:txBody>
                  <a:tcPr marL="91440" marR="91440" marT="45720" marB="45720" anchor="ctr">
                    <a:solidFill>
                      <a:srgbClr val="F4F7F9"/>
                    </a:solidFill>
                  </a:tcPr>
                </a:tc>
                <a:tc>
                  <a:txBody>
                    <a:bodyPr lIns="85725" tIns="76200" rIns="85725" bIns="76200"/>
                    <a:lstStyle/>
                    <a:p>
                      <a:pPr algn="ctr">
                        <a:buNone/>
                      </a:pPr>
                      <a:r>
                        <a:rPr sz="2175" b="0">
                          <a:solidFill>
                            <a:srgbClr val="233746"/>
                          </a:solidFill>
                          <a:latin typeface="Arial"/>
                          <a:ea typeface="Arial"/>
                          <a:cs typeface="Arial"/>
                        </a:rPr>
                        <a:t>20 %</a:t>
                      </a:r>
                    </a:p>
                  </a:txBody>
                  <a:tcPr marL="91440" marR="91440" marT="45720" marB="45720" anchor="ctr">
                    <a:solidFill>
                      <a:srgbClr val="F4F7F9"/>
                    </a:solidFill>
                  </a:tcPr>
                </a:tc>
                <a:tc>
                  <a:txBody>
                    <a:bodyPr lIns="85725" tIns="76200" rIns="85725" bIns="76200"/>
                    <a:lstStyle/>
                    <a:p>
                      <a:pPr algn="ctr">
                        <a:buNone/>
                      </a:pPr>
                      <a:r>
                        <a:rPr sz="2175" b="0">
                          <a:solidFill>
                            <a:srgbClr val="233746"/>
                          </a:solidFill>
                          <a:latin typeface="Arial"/>
                          <a:ea typeface="Arial"/>
                          <a:cs typeface="Arial"/>
                        </a:rPr>
                        <a:t>60 %</a:t>
                      </a:r>
                    </a:p>
                  </a:txBody>
                  <a:tcPr marL="91440" marR="91440" marT="45720" marB="45720" anchor="ctr">
                    <a:solidFill>
                      <a:srgbClr val="F4F7F9"/>
                    </a:solidFill>
                  </a:tcPr>
                </a:tc>
              </a:tr>
              <a:tr h="673894">
                <a:tc>
                  <a:txBody>
                    <a:bodyPr lIns="85725" tIns="76200" rIns="85725" bIns="76200"/>
                    <a:lstStyle/>
                    <a:p>
                      <a:pPr algn="ctr">
                        <a:buNone/>
                      </a:pPr>
                      <a:r>
                        <a:rPr sz="2175" b="0">
                          <a:solidFill>
                            <a:srgbClr val="233746"/>
                          </a:solidFill>
                          <a:latin typeface="Arial"/>
                          <a:ea typeface="Arial"/>
                          <a:cs typeface="Arial"/>
                        </a:rPr>
                        <a:t>Positivo</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20 %</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60 %</a:t>
                      </a:r>
                    </a:p>
                  </a:txBody>
                  <a:tcPr marL="91440" marR="91440" marT="45720" marB="45720" anchor="ctr">
                    <a:solidFill>
                      <a:srgbClr val="FFFFFF"/>
                    </a:solidFill>
                  </a:tcPr>
                </a:tc>
                <a:tc>
                  <a:txBody>
                    <a:bodyPr lIns="85725" tIns="76200" rIns="85725" bIns="76200"/>
                    <a:lstStyle/>
                    <a:p>
                      <a:pPr algn="ctr">
                        <a:buNone/>
                      </a:pPr>
                      <a:r>
                        <a:rPr sz="2175" b="0">
                          <a:solidFill>
                            <a:srgbClr val="233746"/>
                          </a:solidFill>
                          <a:latin typeface="Arial"/>
                          <a:ea typeface="Arial"/>
                          <a:cs typeface="Arial"/>
                        </a:rPr>
                        <a:t>100 %</a:t>
                      </a:r>
                    </a:p>
                  </a:txBody>
                  <a:tcPr marL="91440" marR="91440" marT="45720" marB="45720" anchor="ctr">
                    <a:solidFill>
                      <a:srgbClr val="FFFFFF"/>
                    </a:solidFill>
                  </a:tcPr>
                </a:tc>
              </a:tr>
            </a:tbl>
          </a:graphicData>
        </a:graphic>
      </p:graphicFrame>
      <p:sp>
        <p:nvSpPr>
          <p:cNvPr id="10" name="">
            <a:extLst xmlns:a="http://schemas.openxmlformats.org/drawingml/2006/main">
              <a:ext uri="{FF2B5EF4-FFF2-40B4-BE49-F238E27FC236}">
                <a16:creationId xmlns:a16="http://schemas.microsoft.com/office/drawing/2014/main" id="{2F75F1DF-C700-451D-B5FC-F832C0ECE628}"/>
              </a:ext>
            </a:extLst>
          </p:cNvPr>
          <p:cNvSpPr>
            <a:spLocks xmlns:a="http://schemas.openxmlformats.org/drawingml/2006/main" noGrp="1"/>
          </p:cNvSpPr>
          <p:nvPr/>
        </p:nvSpPr>
        <p:spPr>
          <a:xfrm xmlns:a="http://schemas.openxmlformats.org/drawingml/2006/main">
            <a:off x="762000" y="5057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Si falta temperatura y el error crece, aplicamos más potencia.</a:t>
            </a:r>
          </a:p>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Si nos acercamos al objetivo, reducimos la acción.</a:t>
            </a:r>
          </a:p>
        </p:txBody>
      </p:sp>
      <p:sp>
        <p:nvSpPr>
          <p:cNvPr id="11" name="">
            <a:extLst xmlns:a="http://schemas.openxmlformats.org/drawingml/2006/main">
              <a:ext uri="{FF2B5EF4-FFF2-40B4-BE49-F238E27FC236}">
                <a16:creationId xmlns:a16="http://schemas.microsoft.com/office/drawing/2014/main" id="{DAA15D6E-4BA6-4169-BA87-1FBF972BFD14}"/>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20 % en (Cero, Estable) compensa las pérdidas del escenario nominal.</a:t>
            </a:r>
          </a:p>
        </p:txBody>
      </p:sp>
      <p:sp>
        <p:nvSpPr>
          <p:cNvPr id="16" name="">
            <a:extLst xmlns:a="http://schemas.openxmlformats.org/drawingml/2006/main">
              <a:ext uri="{FF2B5EF4-FFF2-40B4-BE49-F238E27FC236}">
                <a16:creationId xmlns:a16="http://schemas.microsoft.com/office/drawing/2014/main" id="{4C427D25-6598-4AD1-BAE2-78F54D2DD93B}"/>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528212A-A1C1-4B7A-80D8-A294C1ED689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69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5. Calcular la contribución de cada regla</a:t>
            </a:r>
          </a:p>
        </p:txBody>
      </p:sp>
      <p:sp>
        <p:nvSpPr>
          <p:cNvPr id="9" name="">
            <a:extLst xmlns:a="http://schemas.openxmlformats.org/drawingml/2006/main">
              <a:ext uri="{FF2B5EF4-FFF2-40B4-BE49-F238E27FC236}">
                <a16:creationId xmlns:a16="http://schemas.microsoft.com/office/drawing/2014/main" id="{FFCA363B-BE31-4F17-8F31-5374A6F8D18E}"/>
              </a:ext>
            </a:extLst>
          </p:cNvPr>
          <p:cNvSpPr>
            <a:spLocks xmlns:a="http://schemas.openxmlformats.org/drawingml/2006/main" noGrp="1"/>
          </p:cNvSpPr>
          <p:nvPr/>
        </p:nvSpPr>
        <p:spPr>
          <a:xfrm xmlns:a="http://schemas.openxmlformats.org/drawingml/2006/main">
            <a:off x="762000" y="1543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e = 2 °C; de/dt = 0,2 °C/min. Elegimos AND = producto.</a:t>
            </a:r>
          </a:p>
        </p:txBody>
      </p:sp>
      <p:graphicFrame>
        <p:nvGraphicFramePr>
          <p:cNvPr id="25" name=""/>
          <p:cNvGraphicFramePr/>
          <p:nvPr/>
        </p:nvGraphicFramePr>
        <p:xfrm>
          <a:off xmlns:a="http://schemas.openxmlformats.org/drawingml/2006/main" x="762000" y="2428875"/>
          <a:ext xmlns:a="http://schemas.openxmlformats.org/drawingml/2006/main" cx="10668000" cy="2733675"/>
        </p:xfrm>
        <a:graphic xmlns:a="http://schemas.openxmlformats.org/drawingml/2006/main">
          <a:graphicData uri="http://schemas.openxmlformats.org/drawingml/2006/table">
            <a:tbl>
              <a:tblPr/>
              <a:tblGrid>
                <a:gridCol w="4381500"/>
                <a:gridCol w="2476500"/>
                <a:gridCol w="1714500"/>
                <a:gridCol w="2095500"/>
              </a:tblGrid>
              <a:tr h="546735">
                <a:tc>
                  <a:txBody>
                    <a:bodyPr lIns="85725" tIns="76200" rIns="85725" bIns="76200"/>
                    <a:lstStyle/>
                    <a:p>
                      <a:pPr algn="ctr">
                        <a:buNone/>
                      </a:pPr>
                      <a:r>
                        <a:rPr sz="1875" b="1">
                          <a:solidFill>
                            <a:srgbClr val="2162A0"/>
                          </a:solidFill>
                          <a:latin typeface="Arial"/>
                          <a:ea typeface="Arial"/>
                          <a:cs typeface="Arial"/>
                        </a:rPr>
                        <a:t>Regla activa</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Peso wk</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Salida zk</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wk · zk</a:t>
                      </a:r>
                    </a:p>
                  </a:txBody>
                  <a:tcPr marL="91440" marR="91440" marT="45720" marB="45720" anchor="ctr">
                    <a:solidFill>
                      <a:srgbClr val="E7EFF5"/>
                    </a:solidFill>
                  </a:tcPr>
                </a:tc>
              </a:tr>
              <a:tr h="546735">
                <a:tc>
                  <a:txBody>
                    <a:bodyPr lIns="85725" tIns="76200" rIns="85725" bIns="76200"/>
                    <a:lstStyle/>
                    <a:p>
                      <a:pPr algn="ctr">
                        <a:buNone/>
                      </a:pPr>
                      <a:r>
                        <a:rPr sz="1875" b="0">
                          <a:solidFill>
                            <a:srgbClr val="233746"/>
                          </a:solidFill>
                          <a:latin typeface="Arial"/>
                          <a:ea typeface="Arial"/>
                          <a:cs typeface="Arial"/>
                        </a:rPr>
                        <a:t>Cero Y Estable</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0,5 · 0,8 = 0,4</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20</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8</a:t>
                      </a:r>
                    </a:p>
                  </a:txBody>
                  <a:tcPr marL="91440" marR="91440" marT="45720" marB="45720" anchor="ctr">
                    <a:solidFill>
                      <a:srgbClr val="FFFFFF"/>
                    </a:solidFill>
                  </a:tcPr>
                </a:tc>
              </a:tr>
              <a:tr h="546735">
                <a:tc>
                  <a:txBody>
                    <a:bodyPr lIns="85725" tIns="76200" rIns="85725" bIns="76200"/>
                    <a:lstStyle/>
                    <a:p>
                      <a:pPr algn="ctr">
                        <a:buNone/>
                      </a:pPr>
                      <a:r>
                        <a:rPr sz="1875" b="0">
                          <a:solidFill>
                            <a:srgbClr val="233746"/>
                          </a:solidFill>
                          <a:latin typeface="Arial"/>
                          <a:ea typeface="Arial"/>
                          <a:cs typeface="Arial"/>
                        </a:rPr>
                        <a:t>Cero Y Crece</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0,5 · 0,2 = 0,1</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60</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6</a:t>
                      </a:r>
                    </a:p>
                  </a:txBody>
                  <a:tcPr marL="91440" marR="91440" marT="45720" marB="45720" anchor="ctr">
                    <a:solidFill>
                      <a:srgbClr val="F4F7F9"/>
                    </a:solidFill>
                  </a:tcPr>
                </a:tc>
              </a:tr>
              <a:tr h="546735">
                <a:tc>
                  <a:txBody>
                    <a:bodyPr lIns="85725" tIns="76200" rIns="85725" bIns="76200"/>
                    <a:lstStyle/>
                    <a:p>
                      <a:pPr algn="ctr">
                        <a:buNone/>
                      </a:pPr>
                      <a:r>
                        <a:rPr sz="1875" b="0">
                          <a:solidFill>
                            <a:srgbClr val="233746"/>
                          </a:solidFill>
                          <a:latin typeface="Arial"/>
                          <a:ea typeface="Arial"/>
                          <a:cs typeface="Arial"/>
                        </a:rPr>
                        <a:t>Positivo Y Estable</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0,5 · 0,8 = 0,4</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60</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24</a:t>
                      </a:r>
                    </a:p>
                  </a:txBody>
                  <a:tcPr marL="91440" marR="91440" marT="45720" marB="45720" anchor="ctr">
                    <a:solidFill>
                      <a:srgbClr val="FFFFFF"/>
                    </a:solidFill>
                  </a:tcPr>
                </a:tc>
              </a:tr>
              <a:tr h="546735">
                <a:tc>
                  <a:txBody>
                    <a:bodyPr lIns="85725" tIns="76200" rIns="85725" bIns="76200"/>
                    <a:lstStyle/>
                    <a:p>
                      <a:pPr algn="ctr">
                        <a:buNone/>
                      </a:pPr>
                      <a:r>
                        <a:rPr sz="1875" b="0">
                          <a:solidFill>
                            <a:srgbClr val="233746"/>
                          </a:solidFill>
                          <a:latin typeface="Arial"/>
                          <a:ea typeface="Arial"/>
                          <a:cs typeface="Arial"/>
                        </a:rPr>
                        <a:t>Positivo Y Crece</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0,5 · 0,2 = 0,1</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100</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10</a:t>
                      </a:r>
                    </a:p>
                  </a:txBody>
                  <a:tcPr marL="91440" marR="91440" marT="45720" marB="45720" anchor="ctr">
                    <a:solidFill>
                      <a:srgbClr val="F4F7F9"/>
                    </a:solidFill>
                  </a:tcPr>
                </a:tc>
              </a:tr>
            </a:tbl>
          </a:graphicData>
        </a:graphic>
      </p:graphicFrame>
      <p:sp>
        <p:nvSpPr>
          <p:cNvPr id="11" name="">
            <a:extLst xmlns:a="http://schemas.openxmlformats.org/drawingml/2006/main">
              <a:ext uri="{FF2B5EF4-FFF2-40B4-BE49-F238E27FC236}">
                <a16:creationId xmlns:a16="http://schemas.microsoft.com/office/drawing/2014/main" id="{4979F0D5-5CDF-4D2C-AED2-12C4476D5370}"/>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u = (8 + 6 + 24 + 10) / (0,4 + 0,1 + 0,4 + 0,1) = 48 %.</a:t>
            </a:r>
          </a:p>
        </p:txBody>
      </p:sp>
      <p:sp>
        <p:nvSpPr>
          <p:cNvPr id="16" name="">
            <a:extLst xmlns:a="http://schemas.openxmlformats.org/drawingml/2006/main">
              <a:ext uri="{FF2B5EF4-FFF2-40B4-BE49-F238E27FC236}">
                <a16:creationId xmlns:a16="http://schemas.microsoft.com/office/drawing/2014/main" id="{4ACD4782-6ECA-4FC6-A31B-914D42F6E16A}"/>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ADEE6FF-4882-40E4-814D-059A03797A36}"/>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6. Obtener la potencia: 48 %</a:t>
            </a:r>
          </a:p>
        </p:txBody>
      </p:sp>
      <p:graphicFrame>
        <p:nvGraphicFramePr>
          <p:cNvPr id="24" name="Chart"/>
          <p:cNvGraphicFramePr/>
          <p:nvPr/>
        </p:nvGraphicFramePr>
        <p:xfrm>
          <a:off xmlns:a="http://schemas.openxmlformats.org/drawingml/2006/main" x="762000" y="2181225"/>
          <a:ext xmlns:a="http://schemas.openxmlformats.org/drawingml/2006/main" cx="6381750" cy="3333750"/>
        </p:xfrm>
        <a:graphic xmlns:a="http://schemas.openxmlformats.org/drawingml/2006/main">
          <a:graphicData uri="http://schemas.openxmlformats.org/drawingml/2006/chart">
            <c:chart xmlns:r="http://schemas.openxmlformats.org/officeDocument/2006/relationships" xmlns:c="http://schemas.openxmlformats.org/drawingml/2006/chart" r:id="Rf9c49d2fb9054406"/>
          </a:graphicData>
        </a:graphic>
      </p:graphicFrame>
      <p:sp>
        <p:nvSpPr>
          <p:cNvPr id="10" name="">
            <a:extLst xmlns:a="http://schemas.openxmlformats.org/drawingml/2006/main">
              <a:ext uri="{FF2B5EF4-FFF2-40B4-BE49-F238E27FC236}">
                <a16:creationId xmlns:a16="http://schemas.microsoft.com/office/drawing/2014/main" id="{0A22B624-59C1-48C3-93E6-EB36ED9D0D79}"/>
              </a:ext>
            </a:extLst>
          </p:cNvPr>
          <p:cNvSpPr>
            <a:spLocks xmlns:a="http://schemas.openxmlformats.org/drawingml/2006/main" noGrp="1"/>
          </p:cNvSpPr>
          <p:nvPr/>
        </p:nvSpPr>
        <p:spPr>
          <a:xfrm xmlns:a="http://schemas.openxmlformats.org/drawingml/2006/main">
            <a:off x="7524750" y="1838325"/>
            <a:ext cx="3905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Pesos: 0,4 + 0,1 + 0,4 + 0,1 = 1</a:t>
            </a:r>
          </a:p>
        </p:txBody>
      </p:sp>
      <p:sp>
        <p:nvSpPr>
          <p:cNvPr id="11" name="">
            <a:extLst xmlns:a="http://schemas.openxmlformats.org/drawingml/2006/main">
              <a:ext uri="{FF2B5EF4-FFF2-40B4-BE49-F238E27FC236}">
                <a16:creationId xmlns:a16="http://schemas.microsoft.com/office/drawing/2014/main" id="{6445E0FF-2453-41DB-AEB8-55AA5EEA2636}"/>
              </a:ext>
            </a:extLst>
          </p:cNvPr>
          <p:cNvSpPr>
            <a:spLocks xmlns:a="http://schemas.openxmlformats.org/drawingml/2006/main" noGrp="1"/>
          </p:cNvSpPr>
          <p:nvPr/>
        </p:nvSpPr>
        <p:spPr>
          <a:xfrm xmlns:a="http://schemas.openxmlformats.org/drawingml/2006/main">
            <a:off x="7524750" y="3362325"/>
            <a:ext cx="3905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625" b="1">
                <a:solidFill>
                  <a:srgbClr val="D96B18"/>
                </a:solidFill>
                <a:latin typeface="Arial"/>
                <a:ea typeface="Arial"/>
                <a:cs typeface="Arial"/>
              </a:defRPr>
            </a:pPr>
            <a:r>
              <a:rPr sz="2625" b="1">
                <a:solidFill>
                  <a:srgbClr val="D96B18"/>
                </a:solidFill>
                <a:latin typeface="Arial"/>
                <a:ea typeface="Arial"/>
                <a:cs typeface="Arial"/>
              </a:rPr>
              <a:t>u = (8 + 6 + 24 + 10) / 1</a:t>
            </a:r>
          </a:p>
          <a:p xmlns:a="http://schemas.openxmlformats.org/drawingml/2006/main">
            <a:r>
              <a:t/>
            </a:r>
          </a:p>
          <a:p xmlns:a="http://schemas.openxmlformats.org/drawingml/2006/main">
            <a:pPr>
              <a:buNone/>
              <a:defRPr sz="2625" b="1">
                <a:solidFill>
                  <a:srgbClr val="D96B18"/>
                </a:solidFill>
                <a:latin typeface="Arial"/>
                <a:ea typeface="Arial"/>
                <a:cs typeface="Arial"/>
              </a:defRPr>
            </a:pPr>
            <a:r>
              <a:rPr sz="2625" b="1">
                <a:solidFill>
                  <a:srgbClr val="D96B18"/>
                </a:solidFill>
                <a:latin typeface="Arial"/>
                <a:ea typeface="Arial"/>
                <a:cs typeface="Arial"/>
              </a:rPr>
              <a:t>   = 48 %</a:t>
            </a:r>
          </a:p>
        </p:txBody>
      </p:sp>
      <p:sp>
        <p:nvSpPr>
          <p:cNvPr id="12" name="">
            <a:extLst xmlns:a="http://schemas.openxmlformats.org/drawingml/2006/main">
              <a:ext uri="{FF2B5EF4-FFF2-40B4-BE49-F238E27FC236}">
                <a16:creationId xmlns:a16="http://schemas.microsoft.com/office/drawing/2014/main" id="{0DCB2FA1-92E7-4429-8566-E7128ED5991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Es una media ponderada de potencias. El resultado ya es un número que puede usar el actuador.</a:t>
            </a:r>
          </a:p>
        </p:txBody>
      </p:sp>
      <p:sp>
        <p:nvSpPr>
          <p:cNvPr id="16" name="">
            <a:extLst xmlns:a="http://schemas.openxmlformats.org/drawingml/2006/main">
              <a:ext uri="{FF2B5EF4-FFF2-40B4-BE49-F238E27FC236}">
                <a16:creationId xmlns:a16="http://schemas.microsoft.com/office/drawing/2014/main" id="{F2ACD396-EADE-472A-804D-D0E1C8DEA493}"/>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E08BA7A-B99E-45D6-AA0D-CC06850C5509}"/>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El modelo de la planta para simular la habitación</a:t>
            </a:r>
          </a:p>
        </p:txBody>
      </p:sp>
      <p:sp>
        <p:nvSpPr>
          <p:cNvPr id="9" name="">
            <a:extLst xmlns:a="http://schemas.openxmlformats.org/drawingml/2006/main">
              <a:ext uri="{FF2B5EF4-FFF2-40B4-BE49-F238E27FC236}">
                <a16:creationId xmlns:a16="http://schemas.microsoft.com/office/drawing/2014/main" id="{8A1AC0EB-64C0-47C5-A13B-EA5BCA087E7E}"/>
              </a:ext>
            </a:extLst>
          </p:cNvPr>
          <p:cNvSpPr>
            <a:spLocks xmlns:a="http://schemas.openxmlformats.org/drawingml/2006/main" noGrp="1"/>
          </p:cNvSpPr>
          <p:nvPr/>
        </p:nvSpPr>
        <p:spPr>
          <a:xfrm xmlns:a="http://schemas.openxmlformats.org/drawingml/2006/main">
            <a:off x="762000" y="16954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150" b="1">
                <a:solidFill>
                  <a:srgbClr val="D96B18"/>
                </a:solidFill>
                <a:latin typeface="Arial"/>
                <a:ea typeface="Arial"/>
                <a:cs typeface="Arial"/>
              </a:defRPr>
            </a:pPr>
            <a:r>
              <a:rPr sz="3150" b="1">
                <a:solidFill>
                  <a:srgbClr val="D96B18"/>
                </a:solidFill>
                <a:latin typeface="Arial"/>
                <a:ea typeface="Arial"/>
                <a:cs typeface="Arial"/>
              </a:rPr>
              <a:t>dT/dt = −(T − Ta) / 10 + 0,02 · u</a:t>
            </a:r>
          </a:p>
        </p:txBody>
      </p:sp>
      <p:graphicFrame>
        <p:nvGraphicFramePr>
          <p:cNvPr id="25" name=""/>
          <p:cNvGraphicFramePr/>
          <p:nvPr/>
        </p:nvGraphicFramePr>
        <p:xfrm>
          <a:off xmlns:a="http://schemas.openxmlformats.org/drawingml/2006/main" x="762000" y="2724150"/>
          <a:ext xmlns:a="http://schemas.openxmlformats.org/drawingml/2006/main" cx="10668000" cy="2743200"/>
        </p:xfrm>
        <a:graphic xmlns:a="http://schemas.openxmlformats.org/drawingml/2006/main">
          <a:graphicData uri="http://schemas.openxmlformats.org/drawingml/2006/table">
            <a:tbl>
              <a:tblPr/>
              <a:tblGrid>
                <a:gridCol w="4000500"/>
                <a:gridCol w="6667500"/>
              </a:tblGrid>
              <a:tr h="457200">
                <a:tc>
                  <a:txBody>
                    <a:bodyPr lIns="85725" tIns="76200" rIns="85725" bIns="76200"/>
                    <a:lstStyle/>
                    <a:p>
                      <a:pPr algn="ctr">
                        <a:buNone/>
                      </a:pPr>
                      <a:r>
                        <a:rPr sz="1875" b="1">
                          <a:solidFill>
                            <a:srgbClr val="2162A0"/>
                          </a:solidFill>
                          <a:latin typeface="Arial"/>
                          <a:ea typeface="Arial"/>
                          <a:cs typeface="Arial"/>
                        </a:rPr>
                        <a:t>Magnitud</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Valor o unidad</a:t>
                      </a:r>
                    </a:p>
                  </a:txBody>
                  <a:tcPr marL="91440" marR="91440" marT="45720" marB="45720" anchor="ctr">
                    <a:solidFill>
                      <a:srgbClr val="E7EFF5"/>
                    </a:solidFill>
                  </a:tcPr>
                </a:tc>
              </a:tr>
              <a:tr h="457200">
                <a:tc>
                  <a:txBody>
                    <a:bodyPr lIns="85725" tIns="76200" rIns="85725" bIns="76200"/>
                    <a:lstStyle/>
                    <a:p>
                      <a:pPr algn="ctr">
                        <a:buNone/>
                      </a:pPr>
                      <a:r>
                        <a:rPr sz="1875" b="0">
                          <a:solidFill>
                            <a:srgbClr val="233746"/>
                          </a:solidFill>
                          <a:latin typeface="Arial"/>
                          <a:ea typeface="Arial"/>
                          <a:cs typeface="Arial"/>
                        </a:rPr>
                        <a:t>T, Ta</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Temperatura interior y ambiente, en °C</a:t>
                      </a:r>
                    </a:p>
                  </a:txBody>
                  <a:tcPr marL="91440" marR="91440" marT="45720" marB="45720" anchor="ctr">
                    <a:solidFill>
                      <a:srgbClr val="FFFFFF"/>
                    </a:solidFill>
                  </a:tcPr>
                </a:tc>
              </a:tr>
              <a:tr h="457200">
                <a:tc>
                  <a:txBody>
                    <a:bodyPr lIns="85725" tIns="76200" rIns="85725" bIns="76200"/>
                    <a:lstStyle/>
                    <a:p>
                      <a:pPr algn="ctr">
                        <a:buNone/>
                      </a:pPr>
                      <a:r>
                        <a:rPr sz="1875" b="0">
                          <a:solidFill>
                            <a:srgbClr val="233746"/>
                          </a:solidFill>
                          <a:latin typeface="Arial"/>
                          <a:ea typeface="Arial"/>
                          <a:cs typeface="Arial"/>
                        </a:rPr>
                        <a:t>t</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Tiempo en minutos</a:t>
                      </a:r>
                    </a:p>
                  </a:txBody>
                  <a:tcPr marL="91440" marR="91440" marT="45720" marB="45720" anchor="ctr">
                    <a:solidFill>
                      <a:srgbClr val="F4F7F9"/>
                    </a:solidFill>
                  </a:tcPr>
                </a:tc>
              </a:tr>
              <a:tr h="457200">
                <a:tc>
                  <a:txBody>
                    <a:bodyPr lIns="85725" tIns="76200" rIns="85725" bIns="76200"/>
                    <a:lstStyle/>
                    <a:p>
                      <a:pPr algn="ctr">
                        <a:buNone/>
                      </a:pPr>
                      <a:r>
                        <a:rPr sz="1875" b="0">
                          <a:solidFill>
                            <a:srgbClr val="233746"/>
                          </a:solidFill>
                          <a:latin typeface="Arial"/>
                          <a:ea typeface="Arial"/>
                          <a:cs typeface="Arial"/>
                        </a:rPr>
                        <a:t>u</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Potencia porcentual: 0 ≤ u ≤ 100</a:t>
                      </a:r>
                    </a:p>
                  </a:txBody>
                  <a:tcPr marL="91440" marR="91440" marT="45720" marB="45720" anchor="ctr">
                    <a:solidFill>
                      <a:srgbClr val="FFFFFF"/>
                    </a:solidFill>
                  </a:tcPr>
                </a:tc>
              </a:tr>
              <a:tr h="457200">
                <a:tc>
                  <a:txBody>
                    <a:bodyPr lIns="85725" tIns="76200" rIns="85725" bIns="76200"/>
                    <a:lstStyle/>
                    <a:p>
                      <a:pPr algn="ctr">
                        <a:buNone/>
                      </a:pPr>
                      <a:r>
                        <a:rPr sz="1875" b="0">
                          <a:solidFill>
                            <a:srgbClr val="233746"/>
                          </a:solidFill>
                          <a:latin typeface="Arial"/>
                          <a:ea typeface="Arial"/>
                          <a:cs typeface="Arial"/>
                        </a:rPr>
                        <a:t>Constante de tiempo</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10 min</a:t>
                      </a:r>
                    </a:p>
                  </a:txBody>
                  <a:tcPr marL="91440" marR="91440" marT="45720" marB="45720" anchor="ctr">
                    <a:solidFill>
                      <a:srgbClr val="F4F7F9"/>
                    </a:solidFill>
                  </a:tcPr>
                </a:tc>
              </a:tr>
              <a:tr h="457200">
                <a:tc>
                  <a:txBody>
                    <a:bodyPr lIns="85725" tIns="76200" rIns="85725" bIns="76200"/>
                    <a:lstStyle/>
                    <a:p>
                      <a:pPr algn="ctr">
                        <a:buNone/>
                      </a:pPr>
                      <a:r>
                        <a:rPr sz="1875" b="0">
                          <a:solidFill>
                            <a:srgbClr val="233746"/>
                          </a:solidFill>
                          <a:latin typeface="Arial"/>
                          <a:ea typeface="Arial"/>
                          <a:cs typeface="Arial"/>
                        </a:rPr>
                        <a:t>Calentamiento máximo</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2 °C/min antes de descontar pérdidas</a:t>
                      </a:r>
                    </a:p>
                  </a:txBody>
                  <a:tcPr marL="91440" marR="91440" marT="45720" marB="45720" anchor="ctr">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87771AB1-E850-4033-B047-5495EB567478}"/>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A 22 °C y ambiente de 18 °C: pérdidas = 0,4 °C/min; u = 20 % las compensa.</a:t>
            </a:r>
          </a:p>
        </p:txBody>
      </p:sp>
      <p:sp>
        <p:nvSpPr>
          <p:cNvPr id="16" name="">
            <a:extLst xmlns:a="http://schemas.openxmlformats.org/drawingml/2006/main">
              <a:ext uri="{FF2B5EF4-FFF2-40B4-BE49-F238E27FC236}">
                <a16:creationId xmlns:a16="http://schemas.microsoft.com/office/drawing/2014/main" id="{CB8A6D0A-CBEC-437D-B14F-4500DEF9F1D4}"/>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3D345C2-2FDA-44C0-862E-3F3E2ECFA08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7. Aplicar la potencia al modelo del proceso</a:t>
            </a:r>
          </a:p>
        </p:txBody>
      </p:sp>
      <p:sp>
        <p:nvSpPr>
          <p:cNvPr id="9" name="">
            <a:extLst xmlns:a="http://schemas.openxmlformats.org/drawingml/2006/main">
              <a:ext uri="{FF2B5EF4-FFF2-40B4-BE49-F238E27FC236}">
                <a16:creationId xmlns:a16="http://schemas.microsoft.com/office/drawing/2014/main" id="{D4EC7B03-D70E-4843-8310-FF83C9C73AAA}"/>
              </a:ext>
            </a:extLst>
          </p:cNvPr>
          <p:cNvSpPr>
            <a:spLocks xmlns:a="http://schemas.openxmlformats.org/drawingml/2006/main" noGrp="1"/>
          </p:cNvSpPr>
          <p:nvPr/>
        </p:nvSpPr>
        <p:spPr>
          <a:xfrm xmlns:a="http://schemas.openxmlformats.org/drawingml/2006/main">
            <a:off x="762000" y="16287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1">
                <a:solidFill>
                  <a:srgbClr val="233746"/>
                </a:solidFill>
                <a:latin typeface="Arial"/>
                <a:ea typeface="Arial"/>
                <a:cs typeface="Arial"/>
              </a:defRPr>
            </a:pPr>
            <a:r>
              <a:rPr sz="2475" b="1">
                <a:solidFill>
                  <a:srgbClr val="233746"/>
                </a:solidFill>
                <a:latin typeface="Arial"/>
                <a:ea typeface="Arial"/>
                <a:cs typeface="Arial"/>
              </a:rPr>
              <a:t>Ahora: T = 20 °C, Ta = 18 °C, u = 48 %</a:t>
            </a:r>
          </a:p>
        </p:txBody>
      </p:sp>
      <p:sp>
        <p:nvSpPr>
          <p:cNvPr id="10" name="">
            <a:extLst xmlns:a="http://schemas.openxmlformats.org/drawingml/2006/main">
              <a:ext uri="{FF2B5EF4-FFF2-40B4-BE49-F238E27FC236}">
                <a16:creationId xmlns:a16="http://schemas.microsoft.com/office/drawing/2014/main" id="{53BDD882-1CDB-41CC-88C7-25EDF54CC9A4}"/>
              </a:ext>
            </a:extLst>
          </p:cNvPr>
          <p:cNvSpPr>
            <a:spLocks xmlns:a="http://schemas.openxmlformats.org/drawingml/2006/main" noGrp="1"/>
          </p:cNvSpPr>
          <p:nvPr/>
        </p:nvSpPr>
        <p:spPr>
          <a:xfrm xmlns:a="http://schemas.openxmlformats.org/drawingml/2006/main">
            <a:off x="762000" y="2581275"/>
            <a:ext cx="51435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2162A0"/>
                </a:solidFill>
                <a:latin typeface="Arial"/>
                <a:ea typeface="Arial"/>
                <a:cs typeface="Arial"/>
              </a:defRPr>
            </a:pPr>
            <a:r>
              <a:rPr sz="2250" b="1">
                <a:solidFill>
                  <a:srgbClr val="2162A0"/>
                </a:solidFill>
                <a:latin typeface="Arial"/>
                <a:ea typeface="Arial"/>
                <a:cs typeface="Arial"/>
              </a:rPr>
              <a:t>Pérdida de calor</a:t>
            </a:r>
          </a:p>
          <a:p xmlns:a="http://schemas.openxmlformats.org/drawingml/2006/main">
            <a:pPr>
              <a:buNone/>
              <a:defRPr sz="2250" b="1">
                <a:solidFill>
                  <a:srgbClr val="2162A0"/>
                </a:solidFill>
                <a:latin typeface="Arial"/>
                <a:ea typeface="Arial"/>
                <a:cs typeface="Arial"/>
              </a:defRPr>
            </a:pPr>
            <a:r>
              <a:rPr sz="2250" b="1">
                <a:solidFill>
                  <a:srgbClr val="2162A0"/>
                </a:solidFill>
                <a:latin typeface="Arial"/>
                <a:ea typeface="Arial"/>
                <a:cs typeface="Arial"/>
              </a:rPr>
              <a:t>−(20 − 18) / 10 = −0,20 °C/min</a:t>
            </a:r>
          </a:p>
        </p:txBody>
      </p:sp>
      <p:sp>
        <p:nvSpPr>
          <p:cNvPr id="11" name="">
            <a:extLst xmlns:a="http://schemas.openxmlformats.org/drawingml/2006/main">
              <a:ext uri="{FF2B5EF4-FFF2-40B4-BE49-F238E27FC236}">
                <a16:creationId xmlns:a16="http://schemas.microsoft.com/office/drawing/2014/main" id="{D3FFD87E-2F6D-4733-85CD-37751539C157}"/>
              </a:ext>
            </a:extLst>
          </p:cNvPr>
          <p:cNvSpPr>
            <a:spLocks xmlns:a="http://schemas.openxmlformats.org/drawingml/2006/main" noGrp="1"/>
          </p:cNvSpPr>
          <p:nvPr/>
        </p:nvSpPr>
        <p:spPr>
          <a:xfrm xmlns:a="http://schemas.openxmlformats.org/drawingml/2006/main">
            <a:off x="6572250" y="2581275"/>
            <a:ext cx="4857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Calor aportado</a:t>
            </a:r>
          </a:p>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0,02 · 48 = +0,96 °C/min</a:t>
            </a:r>
          </a:p>
        </p:txBody>
      </p:sp>
      <p:sp>
        <p:nvSpPr>
          <p:cNvPr id="12" name="">
            <a:extLst xmlns:a="http://schemas.openxmlformats.org/drawingml/2006/main">
              <a:ext uri="{FF2B5EF4-FFF2-40B4-BE49-F238E27FC236}">
                <a16:creationId xmlns:a16="http://schemas.microsoft.com/office/drawing/2014/main" id="{71D8884D-88D9-495C-9373-D9D0D3B05634}"/>
              </a:ext>
            </a:extLst>
          </p:cNvPr>
          <p:cNvSpPr>
            <a:spLocks xmlns:a="http://schemas.openxmlformats.org/drawingml/2006/main" noGrp="1"/>
          </p:cNvSpPr>
          <p:nvPr/>
        </p:nvSpPr>
        <p:spPr>
          <a:xfrm xmlns:a="http://schemas.openxmlformats.org/drawingml/2006/main">
            <a:off x="762000" y="4362450"/>
            <a:ext cx="106680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0">
                <a:solidFill>
                  <a:srgbClr val="233746"/>
                </a:solidFill>
                <a:latin typeface="Arial"/>
                <a:ea typeface="Arial"/>
                <a:cs typeface="Arial"/>
              </a:defRPr>
            </a:pPr>
            <a:r>
              <a:rPr sz="2550" b="0">
                <a:solidFill>
                  <a:srgbClr val="233746"/>
                </a:solidFill>
                <a:latin typeface="Arial"/>
                <a:ea typeface="Arial"/>
                <a:cs typeface="Arial"/>
              </a:rPr>
              <a:t>Cambio neto: +0,76 °C/min</a:t>
            </a:r>
          </a:p>
          <a:p xmlns:a="http://schemas.openxmlformats.org/drawingml/2006/main">
            <a:pPr>
              <a:buNone/>
              <a:defRPr sz="2550" b="0">
                <a:solidFill>
                  <a:srgbClr val="233746"/>
                </a:solidFill>
                <a:latin typeface="Arial"/>
                <a:ea typeface="Arial"/>
                <a:cs typeface="Arial"/>
              </a:defRPr>
            </a:pPr>
            <a:r>
              <a:rPr sz="2550" b="0">
                <a:solidFill>
                  <a:srgbClr val="233746"/>
                </a:solidFill>
                <a:latin typeface="Arial"/>
                <a:ea typeface="Arial"/>
                <a:cs typeface="Arial"/>
              </a:rPr>
              <a:t>En 0,1 min: Tnueva = 20 + 0,1 · 0,76 = 20,076 °C</a:t>
            </a:r>
          </a:p>
        </p:txBody>
      </p:sp>
      <p:sp>
        <p:nvSpPr>
          <p:cNvPr id="13" name="">
            <a:extLst xmlns:a="http://schemas.openxmlformats.org/drawingml/2006/main">
              <a:ext uri="{FF2B5EF4-FFF2-40B4-BE49-F238E27FC236}">
                <a16:creationId xmlns:a16="http://schemas.microsoft.com/office/drawing/2014/main" id="{FC0F1634-BAED-4203-B232-870159BCA996}"/>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El controlador decide la potencia. El modelo de la habitación calcula la nueva temperatura.</a:t>
            </a:r>
          </a:p>
        </p:txBody>
      </p:sp>
      <p:sp>
        <p:nvSpPr>
          <p:cNvPr id="14" name="">
            <a:extLst xmlns:a="http://schemas.openxmlformats.org/drawingml/2006/main">
              <a:ext uri="{FF2B5EF4-FFF2-40B4-BE49-F238E27FC236}">
                <a16:creationId xmlns:a16="http://schemas.microsoft.com/office/drawing/2014/main" id="{AD8C94C8-AD49-4FBC-ABCB-CFD3D1D14043}"/>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FE4A94D-0CA0-4BB7-AD4F-A7884621484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73</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8. Volver a medir y decidir</a:t>
            </a:r>
          </a:p>
        </p:txBody>
      </p:sp>
      <p:graphicFrame>
        <p:nvGraphicFramePr>
          <p:cNvPr id="23" name=""/>
          <p:cNvGraphicFramePr/>
          <p:nvPr/>
        </p:nvGraphicFramePr>
        <p:xfrm>
          <a:off xmlns:a="http://schemas.openxmlformats.org/drawingml/2006/main" x="762000" y="1800225"/>
          <a:ext xmlns:a="http://schemas.openxmlformats.org/drawingml/2006/main" cx="10668000" cy="3114675"/>
        </p:xfrm>
        <a:graphic xmlns:a="http://schemas.openxmlformats.org/drawingml/2006/main">
          <a:graphicData uri="http://schemas.openxmlformats.org/drawingml/2006/table">
            <a:tbl>
              <a:tblPr/>
              <a:tblGrid>
                <a:gridCol w="3333750"/>
                <a:gridCol w="3667125"/>
                <a:gridCol w="3667125"/>
              </a:tblGrid>
              <a:tr h="622935">
                <a:tc>
                  <a:txBody>
                    <a:bodyPr lIns="85725" tIns="76200" rIns="85725" bIns="76200"/>
                    <a:lstStyle/>
                    <a:p>
                      <a:pPr algn="ctr">
                        <a:buNone/>
                      </a:pPr>
                      <a:r>
                        <a:rPr sz="2100" b="1">
                          <a:solidFill>
                            <a:srgbClr val="2162A0"/>
                          </a:solidFill>
                          <a:latin typeface="Arial"/>
                          <a:ea typeface="Arial"/>
                          <a:cs typeface="Arial"/>
                        </a:rPr>
                        <a:t>Dato</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Instante anterior</a:t>
                      </a:r>
                    </a:p>
                  </a:txBody>
                  <a:tcPr marL="91440" marR="91440" marT="45720" marB="45720" anchor="ctr">
                    <a:solidFill>
                      <a:srgbClr val="E7EFF5"/>
                    </a:solidFill>
                  </a:tcPr>
                </a:tc>
                <a:tc>
                  <a:txBody>
                    <a:bodyPr lIns="85725" tIns="76200" rIns="85725" bIns="76200"/>
                    <a:lstStyle/>
                    <a:p>
                      <a:pPr algn="ctr">
                        <a:buNone/>
                      </a:pPr>
                      <a:r>
                        <a:rPr sz="2100" b="1">
                          <a:solidFill>
                            <a:srgbClr val="2162A0"/>
                          </a:solidFill>
                          <a:latin typeface="Arial"/>
                          <a:ea typeface="Arial"/>
                          <a:cs typeface="Arial"/>
                        </a:rPr>
                        <a:t>Siguiente instante</a:t>
                      </a:r>
                    </a:p>
                  </a:txBody>
                  <a:tcPr marL="91440" marR="91440" marT="45720" marB="45720" anchor="ctr">
                    <a:solidFill>
                      <a:srgbClr val="E7EFF5"/>
                    </a:solidFill>
                  </a:tcPr>
                </a:tc>
              </a:tr>
              <a:tr h="622935">
                <a:tc>
                  <a:txBody>
                    <a:bodyPr lIns="85725" tIns="76200" rIns="85725" bIns="76200"/>
                    <a:lstStyle/>
                    <a:p>
                      <a:pPr algn="ctr">
                        <a:buNone/>
                      </a:pPr>
                      <a:r>
                        <a:rPr sz="2100" b="0">
                          <a:solidFill>
                            <a:srgbClr val="233746"/>
                          </a:solidFill>
                          <a:latin typeface="Arial"/>
                          <a:ea typeface="Arial"/>
                          <a:cs typeface="Arial"/>
                        </a:rPr>
                        <a:t>Temperatura</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20,000 °C</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20,076 °C</a:t>
                      </a:r>
                    </a:p>
                  </a:txBody>
                  <a:tcPr marL="91440" marR="91440" marT="45720" marB="45720" anchor="ctr">
                    <a:solidFill>
                      <a:srgbClr val="FFFFFF"/>
                    </a:solidFill>
                  </a:tcPr>
                </a:tc>
              </a:tr>
              <a:tr h="622935">
                <a:tc>
                  <a:txBody>
                    <a:bodyPr lIns="85725" tIns="76200" rIns="85725" bIns="76200"/>
                    <a:lstStyle/>
                    <a:p>
                      <a:pPr algn="ctr">
                        <a:buNone/>
                      </a:pPr>
                      <a:r>
                        <a:rPr sz="2100" b="0">
                          <a:solidFill>
                            <a:srgbClr val="233746"/>
                          </a:solidFill>
                          <a:latin typeface="Arial"/>
                          <a:ea typeface="Arial"/>
                          <a:cs typeface="Arial"/>
                        </a:rPr>
                        <a:t>Error</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2,000 °C</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1,924 °C</a:t>
                      </a:r>
                    </a:p>
                  </a:txBody>
                  <a:tcPr marL="91440" marR="91440" marT="45720" marB="45720" anchor="ctr">
                    <a:solidFill>
                      <a:srgbClr val="F4F7F9"/>
                    </a:solidFill>
                  </a:tcPr>
                </a:tc>
              </a:tr>
              <a:tr h="622935">
                <a:tc>
                  <a:txBody>
                    <a:bodyPr lIns="85725" tIns="76200" rIns="85725" bIns="76200"/>
                    <a:lstStyle/>
                    <a:p>
                      <a:pPr algn="ctr">
                        <a:buNone/>
                      </a:pPr>
                      <a:r>
                        <a:rPr sz="2100" b="0">
                          <a:solidFill>
                            <a:srgbClr val="233746"/>
                          </a:solidFill>
                          <a:latin typeface="Arial"/>
                          <a:ea typeface="Arial"/>
                          <a:cs typeface="Arial"/>
                        </a:rPr>
                        <a:t>Variación del error</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+0,20 °C/min</a:t>
                      </a:r>
                    </a:p>
                  </a:txBody>
                  <a:tcPr marL="91440" marR="91440" marT="45720" marB="45720" anchor="ctr">
                    <a:solidFill>
                      <a:srgbClr val="FFFFFF"/>
                    </a:solidFill>
                  </a:tcPr>
                </a:tc>
                <a:tc>
                  <a:txBody>
                    <a:bodyPr lIns="85725" tIns="76200" rIns="85725" bIns="76200"/>
                    <a:lstStyle/>
                    <a:p>
                      <a:pPr algn="ctr">
                        <a:buNone/>
                      </a:pPr>
                      <a:r>
                        <a:rPr sz="2100" b="0">
                          <a:solidFill>
                            <a:srgbClr val="233746"/>
                          </a:solidFill>
                          <a:latin typeface="Arial"/>
                          <a:ea typeface="Arial"/>
                          <a:cs typeface="Arial"/>
                        </a:rPr>
                        <a:t>−0,76 °C/min</a:t>
                      </a:r>
                    </a:p>
                  </a:txBody>
                  <a:tcPr marL="91440" marR="91440" marT="45720" marB="45720" anchor="ctr">
                    <a:solidFill>
                      <a:srgbClr val="FFFFFF"/>
                    </a:solidFill>
                  </a:tcPr>
                </a:tc>
              </a:tr>
              <a:tr h="622935">
                <a:tc>
                  <a:txBody>
                    <a:bodyPr lIns="85725" tIns="76200" rIns="85725" bIns="76200"/>
                    <a:lstStyle/>
                    <a:p>
                      <a:pPr algn="ctr">
                        <a:buNone/>
                      </a:pPr>
                      <a:r>
                        <a:rPr sz="2100" b="0">
                          <a:solidFill>
                            <a:srgbClr val="233746"/>
                          </a:solidFill>
                          <a:latin typeface="Arial"/>
                          <a:ea typeface="Arial"/>
                          <a:cs typeface="Arial"/>
                        </a:rPr>
                        <a:t>Potencia calculada</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48,00 %</a:t>
                      </a:r>
                    </a:p>
                  </a:txBody>
                  <a:tcPr marL="91440" marR="91440" marT="45720" marB="45720" anchor="ctr">
                    <a:solidFill>
                      <a:srgbClr val="F4F7F9"/>
                    </a:solidFill>
                  </a:tcPr>
                </a:tc>
                <a:tc>
                  <a:txBody>
                    <a:bodyPr lIns="85725" tIns="76200" rIns="85725" bIns="76200"/>
                    <a:lstStyle/>
                    <a:p>
                      <a:pPr algn="ctr">
                        <a:buNone/>
                      </a:pPr>
                      <a:r>
                        <a:rPr sz="2100" b="0">
                          <a:solidFill>
                            <a:srgbClr val="233746"/>
                          </a:solidFill>
                          <a:latin typeface="Arial"/>
                          <a:ea typeface="Arial"/>
                          <a:cs typeface="Arial"/>
                        </a:rPr>
                        <a:t>16,73 %</a:t>
                      </a:r>
                    </a:p>
                  </a:txBody>
                  <a:tcPr marL="91440" marR="91440" marT="45720" marB="45720" anchor="ctr">
                    <a:solidFill>
                      <a:srgbClr val="F4F7F9"/>
                    </a:solidFill>
                  </a:tcPr>
                </a:tc>
              </a:tr>
            </a:tbl>
          </a:graphicData>
        </a:graphic>
      </p:graphicFrame>
      <p:sp>
        <p:nvSpPr>
          <p:cNvPr id="10" name="">
            <a:extLst xmlns:a="http://schemas.openxmlformats.org/drawingml/2006/main">
              <a:ext uri="{FF2B5EF4-FFF2-40B4-BE49-F238E27FC236}">
                <a16:creationId xmlns:a16="http://schemas.microsoft.com/office/drawing/2014/main" id="{144705F1-A0C0-41D5-B411-F5A2DF64A6D6}"/>
              </a:ext>
            </a:extLst>
          </p:cNvPr>
          <p:cNvSpPr>
            <a:spLocks xmlns:a="http://schemas.openxmlformats.org/drawingml/2006/main" noGrp="1"/>
          </p:cNvSpPr>
          <p:nvPr/>
        </p:nvSpPr>
        <p:spPr>
          <a:xfrm xmlns:a="http://schemas.openxmlformats.org/drawingml/2006/main">
            <a:off x="762000" y="52197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Todavía falta temperatura, pero ahora sube deprisa.</a:t>
            </a:r>
          </a:p>
          <a:p xmlns:a="http://schemas.openxmlformats.org/drawingml/2006/main">
            <a:pPr>
              <a:buNone/>
              <a:defRPr sz="2325" b="0">
                <a:solidFill>
                  <a:srgbClr val="233746"/>
                </a:solidFill>
                <a:latin typeface="Arial"/>
                <a:ea typeface="Arial"/>
                <a:cs typeface="Arial"/>
              </a:defRPr>
            </a:pPr>
            <a:r>
              <a:rPr sz="2325" b="0">
                <a:solidFill>
                  <a:srgbClr val="233746"/>
                </a:solidFill>
                <a:latin typeface="Arial"/>
                <a:ea typeface="Arial"/>
                <a:cs typeface="Arial"/>
              </a:rPr>
              <a:t>Las reglas reducen la potencia antes de alcanzar el objetivo.</a:t>
            </a:r>
          </a:p>
        </p:txBody>
      </p:sp>
      <p:sp>
        <p:nvSpPr>
          <p:cNvPr id="11" name="">
            <a:extLst xmlns:a="http://schemas.openxmlformats.org/drawingml/2006/main">
              <a:ext uri="{FF2B5EF4-FFF2-40B4-BE49-F238E27FC236}">
                <a16:creationId xmlns:a16="http://schemas.microsoft.com/office/drawing/2014/main" id="{C814CFF3-1DF6-465C-9E74-1A9E6105A1D5}"/>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Repetir este ciclo convierte una base de reglas en un sistema de control con realimentación.</a:t>
            </a:r>
          </a:p>
        </p:txBody>
      </p:sp>
      <p:sp>
        <p:nvSpPr>
          <p:cNvPr id="15" name="">
            <a:extLst xmlns:a="http://schemas.openxmlformats.org/drawingml/2006/main">
              <a:ext uri="{FF2B5EF4-FFF2-40B4-BE49-F238E27FC236}">
                <a16:creationId xmlns:a16="http://schemas.microsoft.com/office/drawing/2014/main" id="{57BD15F2-58C9-4D97-AD93-EB3D794CA13A}"/>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3F25B81-AD29-40D3-BD6A-FEF51987CD1D}"/>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74</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9. Programar el controlador</a:t>
            </a:r>
          </a:p>
        </p:txBody>
      </p:sp>
      <p:sp>
        <p:nvSpPr>
          <p:cNvPr id="9" name="">
            <a:extLst xmlns:a="http://schemas.openxmlformats.org/drawingml/2006/main">
              <a:ext uri="{FF2B5EF4-FFF2-40B4-BE49-F238E27FC236}">
                <a16:creationId xmlns:a16="http://schemas.microsoft.com/office/drawing/2014/main" id="{297E428F-0456-4922-996D-B90CCAA7C003}"/>
              </a:ext>
            </a:extLst>
          </p:cNvPr>
          <p:cNvSpPr>
            <a:spLocks xmlns:a="http://schemas.openxmlformats.org/drawingml/2006/main" noGrp="1"/>
          </p:cNvSpPr>
          <p:nvPr/>
        </p:nvSpPr>
        <p:spPr>
          <a:xfrm xmlns:a="http://schemas.openxmlformats.org/drawingml/2006/main">
            <a:off x="762000" y="1571625"/>
            <a:ext cx="107632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import numpy as np</a:t>
            </a:r>
          </a:p>
          <a:p xmlns:a="http://schemas.openxmlformats.org/drawingml/2006/main">
            <a:r>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def grados(z):</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z = np.clip(z, -1.0, 1.0)</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return np.array([max(-z, 0), 1-abs(z), max(z, 0)])</a:t>
            </a:r>
          </a:p>
          <a:p xmlns:a="http://schemas.openxmlformats.org/drawingml/2006/main">
            <a:r>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reglas = np.array([[0, 0, 20], [0, 20, 60], [20, 60, 100]])</a:t>
            </a:r>
          </a:p>
          <a:p xmlns:a="http://schemas.openxmlformats.org/drawingml/2006/main">
            <a:r>
              <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def controlar(e, de):</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pesos = np.outer(grados(e/4), grados(de/1))</a:t>
            </a:r>
          </a:p>
          <a:p xmlns:a="http://schemas.openxmlformats.org/drawingml/2006/main">
            <a:pPr>
              <a:buNone/>
              <a:defRPr sz="1875" b="0">
                <a:solidFill>
                  <a:srgbClr val="233746"/>
                </a:solidFill>
                <a:latin typeface="Consolas"/>
                <a:ea typeface="Consolas"/>
                <a:cs typeface="Consolas"/>
              </a:defRPr>
            </a:pPr>
            <a:r>
              <a:rPr sz="1875" b="0">
                <a:solidFill>
                  <a:srgbClr val="233746"/>
                </a:solidFill>
                <a:latin typeface="Consolas"/>
                <a:ea typeface="Consolas"/>
                <a:cs typeface="Consolas"/>
              </a:rPr>
              <a:t>    return np.sum(pesos * reglas) / np.sum(pesos)</a:t>
            </a:r>
          </a:p>
        </p:txBody>
      </p:sp>
      <p:sp>
        <p:nvSpPr>
          <p:cNvPr id="10" name="">
            <a:extLst xmlns:a="http://schemas.openxmlformats.org/drawingml/2006/main">
              <a:ext uri="{FF2B5EF4-FFF2-40B4-BE49-F238E27FC236}">
                <a16:creationId xmlns:a16="http://schemas.microsoft.com/office/drawing/2014/main" id="{FAEAA69A-7BCC-48F7-90BC-8C38D6494D59}"/>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controlar(2, 0.2) devuelve 48.0. La partición garantiza suma de pesos positiva.</a:t>
            </a:r>
          </a:p>
        </p:txBody>
      </p:sp>
      <p:sp>
        <p:nvSpPr>
          <p:cNvPr id="11" name="">
            <a:extLst xmlns:a="http://schemas.openxmlformats.org/drawingml/2006/main">
              <a:ext uri="{FF2B5EF4-FFF2-40B4-BE49-F238E27FC236}">
                <a16:creationId xmlns:a16="http://schemas.microsoft.com/office/drawing/2014/main" id="{F87C26E3-286C-4873-B472-49098366713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582AC13-9916-417A-B376-7FD8183F55D3}"/>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75</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Paso 10. Repetir el ciclo en la simulación</a:t>
            </a:r>
          </a:p>
        </p:txBody>
      </p:sp>
      <p:sp>
        <p:nvSpPr>
          <p:cNvPr id="9" name="">
            <a:extLst xmlns:a="http://schemas.openxmlformats.org/drawingml/2006/main">
              <a:ext uri="{FF2B5EF4-FFF2-40B4-BE49-F238E27FC236}">
                <a16:creationId xmlns:a16="http://schemas.microsoft.com/office/drawing/2014/main" id="{AE530BA4-041C-46E8-9778-9FC1F0DB33F6}"/>
              </a:ext>
            </a:extLst>
          </p:cNvPr>
          <p:cNvSpPr>
            <a:spLocks xmlns:a="http://schemas.openxmlformats.org/drawingml/2006/main" noGrp="1"/>
          </p:cNvSpPr>
          <p:nvPr/>
        </p:nvSpPr>
        <p:spPr>
          <a:xfrm xmlns:a="http://schemas.openxmlformats.org/drawingml/2006/main">
            <a:off x="762000" y="1552575"/>
            <a:ext cx="1076325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dt = 0.1                  # minutos</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T, Ta, referencia = 18.0, 18.0, 22.0</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e_anterior = referencia - T</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registro = []</a:t>
            </a:r>
          </a:p>
          <a:p xmlns:a="http://schemas.openxmlformats.org/drawingml/2006/main">
            <a:r>
              <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for k in range(600):       # 60 minutos</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    e = referencia - T</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    de = (e - e_anterior) / dt</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    u = controlar(e, de)</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    T_siguiente = T + dt * (-(T-Ta)/10 + 0.02*u)</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    registro.append((k*dt, T, u))</a:t>
            </a:r>
          </a:p>
          <a:p xmlns:a="http://schemas.openxmlformats.org/drawingml/2006/main">
            <a:pPr>
              <a:buNone/>
              <a:defRPr sz="1950" b="0">
                <a:solidFill>
                  <a:srgbClr val="233746"/>
                </a:solidFill>
                <a:latin typeface="Consolas"/>
                <a:ea typeface="Consolas"/>
                <a:cs typeface="Consolas"/>
              </a:defRPr>
            </a:pPr>
            <a:r>
              <a:rPr sz="1950" b="0">
                <a:solidFill>
                  <a:srgbClr val="233746"/>
                </a:solidFill>
                <a:latin typeface="Consolas"/>
                <a:ea typeface="Consolas"/>
                <a:cs typeface="Consolas"/>
              </a:rPr>
              <a:t>    e_anterior, T = e, T_siguiente</a:t>
            </a:r>
          </a:p>
        </p:txBody>
      </p:sp>
      <p:sp>
        <p:nvSpPr>
          <p:cNvPr id="10" name="">
            <a:extLst xmlns:a="http://schemas.openxmlformats.org/drawingml/2006/main">
              <a:ext uri="{FF2B5EF4-FFF2-40B4-BE49-F238E27FC236}">
                <a16:creationId xmlns:a16="http://schemas.microsoft.com/office/drawing/2014/main" id="{F3AD1F4F-5A97-4596-9DE5-7F80C73767A6}"/>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planta actualiza T; el controlador calcula u. Son dos funciones diferentes.</a:t>
            </a:r>
          </a:p>
        </p:txBody>
      </p:sp>
      <p:sp>
        <p:nvSpPr>
          <p:cNvPr id="11" name="">
            <a:extLst xmlns:a="http://schemas.openxmlformats.org/drawingml/2006/main">
              <a:ext uri="{FF2B5EF4-FFF2-40B4-BE49-F238E27FC236}">
                <a16:creationId xmlns:a16="http://schemas.microsoft.com/office/drawing/2014/main" id="{D7200F00-2CA5-4687-94A0-4055E42E3643}"/>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E22403-58C0-4D57-9F52-152038CEFEDA}"/>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76</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Prueba 1. Calentar desde 18 °C hasta la consigna</a:t>
            </a:r>
          </a:p>
        </p:txBody>
      </p:sp>
      <p:sp>
        <p:nvSpPr>
          <p:cNvPr id="9" name="">
            <a:extLst xmlns:a="http://schemas.openxmlformats.org/drawingml/2006/main">
              <a:ext uri="{FF2B5EF4-FFF2-40B4-BE49-F238E27FC236}">
                <a16:creationId xmlns:a16="http://schemas.microsoft.com/office/drawing/2014/main" id="{DAFF15DE-9EA5-49A2-9DDB-BFE4B8778F53}"/>
              </a:ext>
            </a:extLst>
          </p:cNvPr>
          <p:cNvSpPr>
            <a:spLocks xmlns:a="http://schemas.openxmlformats.org/drawingml/2006/main" noGrp="1"/>
          </p:cNvSpPr>
          <p:nvPr/>
        </p:nvSpPr>
        <p:spPr>
          <a:xfrm xmlns:a="http://schemas.openxmlformats.org/drawingml/2006/main">
            <a:off x="762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Temperatura T y objetivo 22 °C</a:t>
            </a:r>
          </a:p>
        </p:txBody>
      </p:sp>
      <p:sp>
        <p:nvSpPr>
          <p:cNvPr id="10" name="">
            <a:extLst xmlns:a="http://schemas.openxmlformats.org/drawingml/2006/main">
              <a:ext uri="{FF2B5EF4-FFF2-40B4-BE49-F238E27FC236}">
                <a16:creationId xmlns:a16="http://schemas.microsoft.com/office/drawing/2014/main" id="{04AB2C30-1485-4EE1-88BD-D0079B03A639}"/>
              </a:ext>
            </a:extLst>
          </p:cNvPr>
          <p:cNvSpPr>
            <a:spLocks xmlns:a="http://schemas.openxmlformats.org/drawingml/2006/main" noGrp="1"/>
          </p:cNvSpPr>
          <p:nvPr/>
        </p:nvSpPr>
        <p:spPr>
          <a:xfrm xmlns:a="http://schemas.openxmlformats.org/drawingml/2006/main">
            <a:off x="6096000" y="1666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Potencia u</a:t>
            </a:r>
          </a:p>
        </p:txBody>
      </p:sp>
      <p:graphicFrame>
        <p:nvGraphicFramePr>
          <p:cNvPr id="30" name="Chart"/>
          <p:cNvGraphicFramePr/>
          <p:nvPr/>
        </p:nvGraphicFramePr>
        <p:xfrm>
          <a:off xmlns:a="http://schemas.openxmlformats.org/drawingml/2006/main" x="762000" y="2286000"/>
          <a:ext xmlns:a="http://schemas.openxmlformats.org/drawingml/2006/main" cx="5143500" cy="3114675"/>
        </p:xfrm>
        <a:graphic xmlns:a="http://schemas.openxmlformats.org/drawingml/2006/main">
          <a:graphicData uri="http://schemas.openxmlformats.org/drawingml/2006/chart">
            <c:chart xmlns:r="http://schemas.openxmlformats.org/officeDocument/2006/relationships" xmlns:c="http://schemas.openxmlformats.org/drawingml/2006/chart" r:id="Re5f5306f598a4331"/>
          </a:graphicData>
        </a:graphic>
      </p:graphicFrame>
      <p:graphicFrame>
        <p:nvGraphicFramePr>
          <p:cNvPr id="31" name="Chart"/>
          <p:cNvGraphicFramePr/>
          <p:nvPr/>
        </p:nvGraphicFramePr>
        <p:xfrm>
          <a:off xmlns:a="http://schemas.openxmlformats.org/drawingml/2006/main" x="6429375" y="2286000"/>
          <a:ext xmlns:a="http://schemas.openxmlformats.org/drawingml/2006/main" cx="5000625" cy="3114675"/>
        </p:xfrm>
        <a:graphic xmlns:a="http://schemas.openxmlformats.org/drawingml/2006/main">
          <a:graphicData uri="http://schemas.openxmlformats.org/drawingml/2006/chart">
            <c:chart xmlns:r="http://schemas.openxmlformats.org/officeDocument/2006/relationships" xmlns:c="http://schemas.openxmlformats.org/drawingml/2006/chart" r:id="R62067cbeb9ea47b4"/>
          </a:graphicData>
        </a:graphic>
      </p:graphicFrame>
      <p:sp>
        <p:nvSpPr>
          <p:cNvPr id="13" name="">
            <a:extLst xmlns:a="http://schemas.openxmlformats.org/drawingml/2006/main">
              <a:ext uri="{FF2B5EF4-FFF2-40B4-BE49-F238E27FC236}">
                <a16:creationId xmlns:a16="http://schemas.microsoft.com/office/drawing/2014/main" id="{349C8F07-B335-4A96-8284-E9DF1574E476}"/>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En este modelo entra y permanece en ±0,2 °C a partir de unos 15,2 min.</a:t>
            </a:r>
          </a:p>
        </p:txBody>
      </p:sp>
      <p:sp>
        <p:nvSpPr>
          <p:cNvPr id="20" name="">
            <a:extLst xmlns:a="http://schemas.openxmlformats.org/drawingml/2006/main">
              <a:ext uri="{FF2B5EF4-FFF2-40B4-BE49-F238E27FC236}">
                <a16:creationId xmlns:a16="http://schemas.microsoft.com/office/drawing/2014/main" id="{D5B91E14-706B-48BA-BF71-50E28C46703C}"/>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0F92B6C-8DA0-4F74-A42C-BB519ED31BDF}"/>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77</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Prueba 2. Enfriar el ambiente durante la simulación</a:t>
            </a:r>
          </a:p>
        </p:txBody>
      </p:sp>
      <p:sp>
        <p:nvSpPr>
          <p:cNvPr id="9" name="">
            <a:extLst xmlns:a="http://schemas.openxmlformats.org/drawingml/2006/main">
              <a:ext uri="{FF2B5EF4-FFF2-40B4-BE49-F238E27FC236}">
                <a16:creationId xmlns:a16="http://schemas.microsoft.com/office/drawing/2014/main" id="{1ACDC8CB-037A-4875-A33D-B83749177A24}"/>
              </a:ext>
            </a:extLst>
          </p:cNvPr>
          <p:cNvSpPr>
            <a:spLocks xmlns:a="http://schemas.openxmlformats.org/drawingml/2006/main" noGrp="1"/>
          </p:cNvSpPr>
          <p:nvPr/>
        </p:nvSpPr>
        <p:spPr>
          <a:xfrm xmlns:a="http://schemas.openxmlformats.org/drawingml/2006/main">
            <a:off x="762000" y="1666875"/>
            <a:ext cx="346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Temperatura interior</a:t>
            </a:r>
          </a:p>
        </p:txBody>
      </p:sp>
      <p:sp>
        <p:nvSpPr>
          <p:cNvPr id="10" name="">
            <a:extLst xmlns:a="http://schemas.openxmlformats.org/drawingml/2006/main">
              <a:ext uri="{FF2B5EF4-FFF2-40B4-BE49-F238E27FC236}">
                <a16:creationId xmlns:a16="http://schemas.microsoft.com/office/drawing/2014/main" id="{A12F92CD-FFB3-4DA5-92A4-C51D177F7205}"/>
              </a:ext>
            </a:extLst>
          </p:cNvPr>
          <p:cNvSpPr>
            <a:spLocks xmlns:a="http://schemas.openxmlformats.org/drawingml/2006/main" noGrp="1"/>
          </p:cNvSpPr>
          <p:nvPr/>
        </p:nvSpPr>
        <p:spPr>
          <a:xfrm xmlns:a="http://schemas.openxmlformats.org/drawingml/2006/main">
            <a:off x="4318000" y="1666875"/>
            <a:ext cx="346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Objetivo</a:t>
            </a:r>
          </a:p>
        </p:txBody>
      </p:sp>
      <p:sp>
        <p:nvSpPr>
          <p:cNvPr id="11" name="">
            <a:extLst xmlns:a="http://schemas.openxmlformats.org/drawingml/2006/main">
              <a:ext uri="{FF2B5EF4-FFF2-40B4-BE49-F238E27FC236}">
                <a16:creationId xmlns:a16="http://schemas.microsoft.com/office/drawing/2014/main" id="{D98A0FBA-5778-4F14-BE02-7854BF495D65}"/>
              </a:ext>
            </a:extLst>
          </p:cNvPr>
          <p:cNvSpPr>
            <a:spLocks xmlns:a="http://schemas.openxmlformats.org/drawingml/2006/main" noGrp="1"/>
          </p:cNvSpPr>
          <p:nvPr/>
        </p:nvSpPr>
        <p:spPr>
          <a:xfrm xmlns:a="http://schemas.openxmlformats.org/drawingml/2006/main">
            <a:off x="7874000" y="1666875"/>
            <a:ext cx="346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60863D"/>
                </a:solidFill>
                <a:latin typeface="Arial"/>
                <a:ea typeface="Arial"/>
                <a:cs typeface="Arial"/>
              </a:defRPr>
            </a:pPr>
            <a:r>
              <a:rPr sz="1800" b="1">
                <a:solidFill>
                  <a:srgbClr val="60863D"/>
                </a:solidFill>
                <a:latin typeface="Arial"/>
                <a:ea typeface="Arial"/>
                <a:cs typeface="Arial"/>
              </a:rPr>
              <a:t>Ambiente</a:t>
            </a:r>
          </a:p>
        </p:txBody>
      </p:sp>
      <p:graphicFrame>
        <p:nvGraphicFramePr>
          <p:cNvPr id="29" name="Chart"/>
          <p:cNvGraphicFramePr/>
          <p:nvPr/>
        </p:nvGraphicFramePr>
        <p:xfrm>
          <a:off xmlns:a="http://schemas.openxmlformats.org/drawingml/2006/main" x="762000" y="2238375"/>
          <a:ext xmlns:a="http://schemas.openxmlformats.org/drawingml/2006/main" cx="10668000" cy="3200400"/>
        </p:xfrm>
        <a:graphic xmlns:a="http://schemas.openxmlformats.org/drawingml/2006/main">
          <a:graphicData uri="http://schemas.openxmlformats.org/drawingml/2006/chart">
            <c:chart xmlns:r="http://schemas.openxmlformats.org/officeDocument/2006/relationships" xmlns:c="http://schemas.openxmlformats.org/drawingml/2006/chart" r:id="R11458d0277504983"/>
          </a:graphicData>
        </a:graphic>
      </p:graphicFrame>
      <p:sp>
        <p:nvSpPr>
          <p:cNvPr id="13" name="">
            <a:extLst xmlns:a="http://schemas.openxmlformats.org/drawingml/2006/main">
              <a:ext uri="{FF2B5EF4-FFF2-40B4-BE49-F238E27FC236}">
                <a16:creationId xmlns:a16="http://schemas.microsoft.com/office/drawing/2014/main" id="{B75C08CF-E99F-4391-AA7D-E4AC6A051ACB}"/>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Al cambiar Ta de 18 a 16 °C en t = 20 min, queda un error final ≈ 0,67 °C.</a:t>
            </a:r>
          </a:p>
        </p:txBody>
      </p:sp>
      <p:sp>
        <p:nvSpPr>
          <p:cNvPr id="18" name="">
            <a:extLst xmlns:a="http://schemas.openxmlformats.org/drawingml/2006/main">
              <a:ext uri="{FF2B5EF4-FFF2-40B4-BE49-F238E27FC236}">
                <a16:creationId xmlns:a16="http://schemas.microsoft.com/office/drawing/2014/main" id="{67E7EF91-5073-4282-AA0A-C3E51FE49D74}"/>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A9435C-CAC2-48B5-A091-3A5BE581C74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78</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Prueba 3. Añadir ruido a la medida</a:t>
            </a:r>
          </a:p>
        </p:txBody>
      </p:sp>
      <p:sp>
        <p:nvSpPr>
          <p:cNvPr id="9" name="">
            <a:extLst xmlns:a="http://schemas.openxmlformats.org/drawingml/2006/main">
              <a:ext uri="{FF2B5EF4-FFF2-40B4-BE49-F238E27FC236}">
                <a16:creationId xmlns:a16="http://schemas.microsoft.com/office/drawing/2014/main" id="{29B41C69-A377-4C91-90D1-179955CA5C52}"/>
              </a:ext>
            </a:extLst>
          </p:cNvPr>
          <p:cNvSpPr>
            <a:spLocks xmlns:a="http://schemas.openxmlformats.org/drawingml/2006/main" noGrp="1"/>
          </p:cNvSpPr>
          <p:nvPr/>
        </p:nvSpPr>
        <p:spPr>
          <a:xfrm xmlns:a="http://schemas.openxmlformats.org/drawingml/2006/main">
            <a:off x="762000" y="1666875"/>
            <a:ext cx="346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2162A0"/>
                </a:solidFill>
                <a:latin typeface="Arial"/>
                <a:ea typeface="Arial"/>
                <a:cs typeface="Arial"/>
              </a:defRPr>
            </a:pPr>
            <a:r>
              <a:rPr sz="1800" b="1">
                <a:solidFill>
                  <a:srgbClr val="2162A0"/>
                </a:solidFill>
                <a:latin typeface="Arial"/>
                <a:ea typeface="Arial"/>
                <a:cs typeface="Arial"/>
              </a:rPr>
              <a:t>Sin filtrar</a:t>
            </a:r>
          </a:p>
        </p:txBody>
      </p:sp>
      <p:sp>
        <p:nvSpPr>
          <p:cNvPr id="10" name="">
            <a:extLst xmlns:a="http://schemas.openxmlformats.org/drawingml/2006/main">
              <a:ext uri="{FF2B5EF4-FFF2-40B4-BE49-F238E27FC236}">
                <a16:creationId xmlns:a16="http://schemas.microsoft.com/office/drawing/2014/main" id="{C7A08362-FDA0-488F-932E-B5758B657B41}"/>
              </a:ext>
            </a:extLst>
          </p:cNvPr>
          <p:cNvSpPr>
            <a:spLocks xmlns:a="http://schemas.openxmlformats.org/drawingml/2006/main" noGrp="1"/>
          </p:cNvSpPr>
          <p:nvPr/>
        </p:nvSpPr>
        <p:spPr>
          <a:xfrm xmlns:a="http://schemas.openxmlformats.org/drawingml/2006/main">
            <a:off x="4318000" y="1666875"/>
            <a:ext cx="346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Con filtrado</a:t>
            </a:r>
          </a:p>
        </p:txBody>
      </p:sp>
      <p:sp>
        <p:nvSpPr>
          <p:cNvPr id="11" name="">
            <a:extLst xmlns:a="http://schemas.openxmlformats.org/drawingml/2006/main">
              <a:ext uri="{FF2B5EF4-FFF2-40B4-BE49-F238E27FC236}">
                <a16:creationId xmlns:a16="http://schemas.microsoft.com/office/drawing/2014/main" id="{136B182A-240E-4044-A0E8-13E66F0FC7AC}"/>
              </a:ext>
            </a:extLst>
          </p:cNvPr>
          <p:cNvSpPr>
            <a:spLocks xmlns:a="http://schemas.openxmlformats.org/drawingml/2006/main" noGrp="1"/>
          </p:cNvSpPr>
          <p:nvPr/>
        </p:nvSpPr>
        <p:spPr>
          <a:xfrm xmlns:a="http://schemas.openxmlformats.org/drawingml/2006/main">
            <a:off x="7874000" y="1666875"/>
            <a:ext cx="346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60863D"/>
                </a:solidFill>
                <a:latin typeface="Arial"/>
                <a:ea typeface="Arial"/>
                <a:cs typeface="Arial"/>
              </a:defRPr>
            </a:pPr>
            <a:r>
              <a:rPr sz="1800" b="1">
                <a:solidFill>
                  <a:srgbClr val="60863D"/>
                </a:solidFill>
                <a:latin typeface="Arial"/>
                <a:ea typeface="Arial"/>
                <a:cs typeface="Arial"/>
              </a:rPr>
              <a:t>Objetivo</a:t>
            </a:r>
          </a:p>
        </p:txBody>
      </p:sp>
      <p:graphicFrame>
        <p:nvGraphicFramePr>
          <p:cNvPr id="29" name="Chart"/>
          <p:cNvGraphicFramePr/>
          <p:nvPr/>
        </p:nvGraphicFramePr>
        <p:xfrm>
          <a:off xmlns:a="http://schemas.openxmlformats.org/drawingml/2006/main" x="762000" y="2190750"/>
          <a:ext xmlns:a="http://schemas.openxmlformats.org/drawingml/2006/main" cx="10668000" cy="3219450"/>
        </p:xfrm>
        <a:graphic xmlns:a="http://schemas.openxmlformats.org/drawingml/2006/main">
          <a:graphicData uri="http://schemas.openxmlformats.org/drawingml/2006/chart">
            <c:chart xmlns:r="http://schemas.openxmlformats.org/officeDocument/2006/relationships" xmlns:c="http://schemas.openxmlformats.org/drawingml/2006/chart" r:id="R3d7266fd02544707"/>
          </a:graphicData>
        </a:graphic>
      </p:graphicFrame>
      <p:sp>
        <p:nvSpPr>
          <p:cNvPr id="13" name="">
            <a:extLst xmlns:a="http://schemas.openxmlformats.org/drawingml/2006/main">
              <a:ext uri="{FF2B5EF4-FFF2-40B4-BE49-F238E27FC236}">
                <a16:creationId xmlns:a16="http://schemas.microsoft.com/office/drawing/2014/main" id="{575C3F54-5E84-429B-A984-9D01F0D4D2F4}"/>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Diferenciar una señal ruidosa amplifica sus variaciones; filtrar añade retardo.</a:t>
            </a:r>
          </a:p>
        </p:txBody>
      </p:sp>
      <p:sp>
        <p:nvSpPr>
          <p:cNvPr id="18" name="">
            <a:extLst xmlns:a="http://schemas.openxmlformats.org/drawingml/2006/main">
              <a:ext uri="{FF2B5EF4-FFF2-40B4-BE49-F238E27FC236}">
                <a16:creationId xmlns:a16="http://schemas.microsoft.com/office/drawing/2014/main" id="{6B6AEA09-75B0-4FE2-8B37-B011F221802E}"/>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3019642-83CC-4C0F-B937-D0621FC6C1C1}"/>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79</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Evaluación: rapidez, oscilación y consumo</a:t>
            </a:r>
          </a:p>
        </p:txBody>
      </p:sp>
      <p:graphicFrame>
        <p:nvGraphicFramePr>
          <p:cNvPr id="23" name=""/>
          <p:cNvGraphicFramePr/>
          <p:nvPr/>
        </p:nvGraphicFramePr>
        <p:xfrm>
          <a:off xmlns:a="http://schemas.openxmlformats.org/drawingml/2006/main" x="762000" y="2133600"/>
          <a:ext xmlns:a="http://schemas.openxmlformats.org/drawingml/2006/main" cx="10668000" cy="2847975"/>
        </p:xfrm>
        <a:graphic xmlns:a="http://schemas.openxmlformats.org/drawingml/2006/main">
          <a:graphicData uri="http://schemas.openxmlformats.org/drawingml/2006/table">
            <a:tbl>
              <a:tblPr/>
              <a:tblGrid>
                <a:gridCol w="5143500"/>
                <a:gridCol w="2762250"/>
                <a:gridCol w="2762250"/>
              </a:tblGrid>
              <a:tr h="569595">
                <a:tc>
                  <a:txBody>
                    <a:bodyPr lIns="85725" tIns="76200" rIns="85725" bIns="76200"/>
                    <a:lstStyle/>
                    <a:p>
                      <a:pPr algn="ctr">
                        <a:buNone/>
                      </a:pPr>
                      <a:r>
                        <a:rPr sz="1875" b="1">
                          <a:solidFill>
                            <a:srgbClr val="2162A0"/>
                          </a:solidFill>
                          <a:latin typeface="Arial"/>
                          <a:ea typeface="Arial"/>
                          <a:cs typeface="Arial"/>
                        </a:rPr>
                        <a:t>Métrica, ensayo de 60 min</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Fuzzy</a:t>
                      </a:r>
                    </a:p>
                  </a:txBody>
                  <a:tcPr marL="91440" marR="91440" marT="45720" marB="45720" anchor="ctr">
                    <a:solidFill>
                      <a:srgbClr val="E7EFF5"/>
                    </a:solidFill>
                  </a:tcPr>
                </a:tc>
                <a:tc>
                  <a:txBody>
                    <a:bodyPr lIns="85725" tIns="76200" rIns="85725" bIns="76200"/>
                    <a:lstStyle/>
                    <a:p>
                      <a:pPr algn="ctr">
                        <a:buNone/>
                      </a:pPr>
                      <a:r>
                        <a:rPr sz="1875" b="1">
                          <a:solidFill>
                            <a:srgbClr val="2162A0"/>
                          </a:solidFill>
                          <a:latin typeface="Arial"/>
                          <a:ea typeface="Arial"/>
                          <a:cs typeface="Arial"/>
                        </a:rPr>
                        <a:t>ON/OFF</a:t>
                      </a:r>
                    </a:p>
                  </a:txBody>
                  <a:tcPr marL="91440" marR="91440" marT="45720" marB="45720" anchor="ctr">
                    <a:solidFill>
                      <a:srgbClr val="E7EFF5"/>
                    </a:solidFill>
                  </a:tcPr>
                </a:tc>
              </a:tr>
              <a:tr h="569595">
                <a:tc>
                  <a:txBody>
                    <a:bodyPr lIns="85725" tIns="76200" rIns="85725" bIns="76200"/>
                    <a:lstStyle/>
                    <a:p>
                      <a:pPr algn="ctr">
                        <a:buNone/>
                      </a:pPr>
                      <a:r>
                        <a:rPr sz="1875" b="0">
                          <a:solidFill>
                            <a:srgbClr val="233746"/>
                          </a:solidFill>
                          <a:latin typeface="Arial"/>
                          <a:ea typeface="Arial"/>
                          <a:cs typeface="Arial"/>
                        </a:rPr>
                        <a:t>Error absoluto integrado (°C·min)</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21,06</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11,43</a:t>
                      </a:r>
                    </a:p>
                  </a:txBody>
                  <a:tcPr marL="91440" marR="91440" marT="45720" marB="45720" anchor="ctr">
                    <a:solidFill>
                      <a:srgbClr val="FFFFFF"/>
                    </a:solidFill>
                  </a:tcPr>
                </a:tc>
              </a:tr>
              <a:tr h="569595">
                <a:tc>
                  <a:txBody>
                    <a:bodyPr lIns="85725" tIns="76200" rIns="85725" bIns="76200"/>
                    <a:lstStyle/>
                    <a:p>
                      <a:pPr algn="ctr">
                        <a:buNone/>
                      </a:pPr>
                      <a:r>
                        <a:rPr sz="1875" b="0">
                          <a:solidFill>
                            <a:srgbClr val="233746"/>
                          </a:solidFill>
                          <a:latin typeface="Arial"/>
                          <a:ea typeface="Arial"/>
                          <a:cs typeface="Arial"/>
                        </a:rPr>
                        <a:t>Máximo sobre 22 °C (°C)</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0,00</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0,29</a:t>
                      </a:r>
                    </a:p>
                  </a:txBody>
                  <a:tcPr marL="91440" marR="91440" marT="45720" marB="45720" anchor="ctr">
                    <a:solidFill>
                      <a:srgbClr val="F4F7F9"/>
                    </a:solidFill>
                  </a:tcPr>
                </a:tc>
              </a:tr>
              <a:tr h="569595">
                <a:tc>
                  <a:txBody>
                    <a:bodyPr lIns="85725" tIns="76200" rIns="85725" bIns="76200"/>
                    <a:lstStyle/>
                    <a:p>
                      <a:pPr algn="ctr">
                        <a:buNone/>
                      </a:pPr>
                      <a:r>
                        <a:rPr sz="1875" b="0">
                          <a:solidFill>
                            <a:srgbClr val="233746"/>
                          </a:solidFill>
                          <a:latin typeface="Arial"/>
                          <a:ea typeface="Arial"/>
                          <a:cs typeface="Arial"/>
                        </a:rPr>
                        <a:t>Energía del calefactor (kWh)</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0,431</a:t>
                      </a:r>
                    </a:p>
                  </a:txBody>
                  <a:tcPr marL="91440" marR="91440" marT="45720" marB="45720" anchor="ctr">
                    <a:solidFill>
                      <a:srgbClr val="FFFFFF"/>
                    </a:solidFill>
                  </a:tcPr>
                </a:tc>
                <a:tc>
                  <a:txBody>
                    <a:bodyPr lIns="85725" tIns="76200" rIns="85725" bIns="76200"/>
                    <a:lstStyle/>
                    <a:p>
                      <a:pPr algn="ctr">
                        <a:buNone/>
                      </a:pPr>
                      <a:r>
                        <a:rPr sz="1875" b="0">
                          <a:solidFill>
                            <a:srgbClr val="233746"/>
                          </a:solidFill>
                          <a:latin typeface="Arial"/>
                          <a:ea typeface="Arial"/>
                          <a:cs typeface="Arial"/>
                        </a:rPr>
                        <a:t>0,458</a:t>
                      </a:r>
                    </a:p>
                  </a:txBody>
                  <a:tcPr marL="91440" marR="91440" marT="45720" marB="45720" anchor="ctr">
                    <a:solidFill>
                      <a:srgbClr val="FFFFFF"/>
                    </a:solidFill>
                  </a:tcPr>
                </a:tc>
              </a:tr>
              <a:tr h="569595">
                <a:tc>
                  <a:txBody>
                    <a:bodyPr lIns="85725" tIns="76200" rIns="85725" bIns="76200"/>
                    <a:lstStyle/>
                    <a:p>
                      <a:pPr algn="ctr">
                        <a:buNone/>
                      </a:pPr>
                      <a:r>
                        <a:rPr sz="1875" b="0">
                          <a:solidFill>
                            <a:srgbClr val="233746"/>
                          </a:solidFill>
                          <a:latin typeface="Arial"/>
                          <a:ea typeface="Arial"/>
                          <a:cs typeface="Arial"/>
                        </a:rPr>
                        <a:t>Permanencia en ±0,2 °C</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Desde 15,2 min</a:t>
                      </a:r>
                    </a:p>
                  </a:txBody>
                  <a:tcPr marL="91440" marR="91440" marT="45720" marB="45720" anchor="ctr">
                    <a:solidFill>
                      <a:srgbClr val="F4F7F9"/>
                    </a:solidFill>
                  </a:tcPr>
                </a:tc>
                <a:tc>
                  <a:txBody>
                    <a:bodyPr lIns="85725" tIns="76200" rIns="85725" bIns="76200"/>
                    <a:lstStyle/>
                    <a:p>
                      <a:pPr algn="ctr">
                        <a:buNone/>
                      </a:pPr>
                      <a:r>
                        <a:rPr sz="1875" b="0">
                          <a:solidFill>
                            <a:srgbClr val="233746"/>
                          </a:solidFill>
                          <a:latin typeface="Arial"/>
                          <a:ea typeface="Arial"/>
                          <a:cs typeface="Arial"/>
                        </a:rPr>
                        <a:t>Oscila fuera de la banda</a:t>
                      </a:r>
                    </a:p>
                  </a:txBody>
                  <a:tcPr marL="91440" marR="91440" marT="45720" marB="45720" anchor="ctr">
                    <a:solidFill>
                      <a:srgbClr val="F4F7F9"/>
                    </a:solidFill>
                  </a:tcPr>
                </a:tc>
              </a:tr>
            </a:tbl>
          </a:graphicData>
        </a:graphic>
      </p:graphicFrame>
      <p:sp>
        <p:nvSpPr>
          <p:cNvPr id="10" name="">
            <a:extLst xmlns:a="http://schemas.openxmlformats.org/drawingml/2006/main">
              <a:ext uri="{FF2B5EF4-FFF2-40B4-BE49-F238E27FC236}">
                <a16:creationId xmlns:a16="http://schemas.microsoft.com/office/drawing/2014/main" id="{CF746CC3-4965-450D-AF5E-FCE1A803656D}"/>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Ningún ajuste gana en todos los criterios. Las prioridades deben fijarse antes.</a:t>
            </a:r>
          </a:p>
        </p:txBody>
      </p:sp>
      <p:sp>
        <p:nvSpPr>
          <p:cNvPr id="15" name="">
            <a:extLst xmlns:a="http://schemas.openxmlformats.org/drawingml/2006/main">
              <a:ext uri="{FF2B5EF4-FFF2-40B4-BE49-F238E27FC236}">
                <a16:creationId xmlns:a16="http://schemas.microsoft.com/office/drawing/2014/main" id="{2F6E46FB-AB5C-4D12-AC7A-5A9805AE909D}"/>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2458E5-AE2F-4193-A127-513BE59D796B}"/>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80</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Ajuste: cambiar un parámetro y volver a probar</a:t>
            </a:r>
          </a:p>
        </p:txBody>
      </p:sp>
      <p:sp>
        <p:nvSpPr>
          <p:cNvPr id="9" name="">
            <a:extLst xmlns:a="http://schemas.openxmlformats.org/drawingml/2006/main">
              <a:ext uri="{FF2B5EF4-FFF2-40B4-BE49-F238E27FC236}">
                <a16:creationId xmlns:a16="http://schemas.microsoft.com/office/drawing/2014/main" id="{1353D64E-44A1-4DF7-A0BC-55D6BC27696F}"/>
              </a:ext>
            </a:extLst>
          </p:cNvPr>
          <p:cNvSpPr>
            <a:spLocks xmlns:a="http://schemas.openxmlformats.org/drawingml/2006/main" noGrp="1"/>
          </p:cNvSpPr>
          <p:nvPr/>
        </p:nvSpPr>
        <p:spPr>
          <a:xfrm xmlns:a="http://schemas.openxmlformats.org/drawingml/2006/main">
            <a:off x="762000" y="1619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Si tarda demasiado</a:t>
            </a:r>
          </a:p>
        </p:txBody>
      </p:sp>
      <p:sp>
        <p:nvSpPr>
          <p:cNvPr id="10" name="">
            <a:extLst xmlns:a="http://schemas.openxmlformats.org/drawingml/2006/main">
              <a:ext uri="{FF2B5EF4-FFF2-40B4-BE49-F238E27FC236}">
                <a16:creationId xmlns:a16="http://schemas.microsoft.com/office/drawing/2014/main" id="{44E3640E-D335-443B-B040-0349D780833B}"/>
              </a:ext>
            </a:extLst>
          </p:cNvPr>
          <p:cNvSpPr>
            <a:spLocks xmlns:a="http://schemas.openxmlformats.org/drawingml/2006/main" noGrp="1"/>
          </p:cNvSpPr>
          <p:nvPr/>
        </p:nvSpPr>
        <p:spPr>
          <a:xfrm xmlns:a="http://schemas.openxmlformats.org/drawingml/2006/main">
            <a:off x="762000" y="20764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Revisar escalas, consecuencias y potencia disponible; medir el sobreimpulso.</a:t>
            </a:r>
          </a:p>
        </p:txBody>
      </p:sp>
      <p:sp>
        <p:nvSpPr>
          <p:cNvPr id="11" name="">
            <a:extLst xmlns:a="http://schemas.openxmlformats.org/drawingml/2006/main">
              <a:ext uri="{FF2B5EF4-FFF2-40B4-BE49-F238E27FC236}">
                <a16:creationId xmlns:a16="http://schemas.microsoft.com/office/drawing/2014/main" id="{B527A9BC-34C3-4394-959B-35339F74B9C5}"/>
              </a:ext>
            </a:extLst>
          </p:cNvPr>
          <p:cNvSpPr>
            <a:spLocks xmlns:a="http://schemas.openxmlformats.org/drawingml/2006/main" noGrp="1"/>
          </p:cNvSpPr>
          <p:nvPr/>
        </p:nvSpPr>
        <p:spPr>
          <a:xfrm xmlns:a="http://schemas.openxmlformats.org/drawingml/2006/main">
            <a:off x="762000" y="2905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Si oscila o amplifica ruido</a:t>
            </a:r>
          </a:p>
        </p:txBody>
      </p:sp>
      <p:sp>
        <p:nvSpPr>
          <p:cNvPr id="12" name="">
            <a:extLst xmlns:a="http://schemas.openxmlformats.org/drawingml/2006/main">
              <a:ext uri="{FF2B5EF4-FFF2-40B4-BE49-F238E27FC236}">
                <a16:creationId xmlns:a16="http://schemas.microsoft.com/office/drawing/2014/main" id="{D9720B35-5A91-449F-9B28-350F30B0E35C}"/>
              </a:ext>
            </a:extLst>
          </p:cNvPr>
          <p:cNvSpPr>
            <a:spLocks xmlns:a="http://schemas.openxmlformats.org/drawingml/2006/main" noGrp="1"/>
          </p:cNvSpPr>
          <p:nvPr/>
        </p:nvSpPr>
        <p:spPr>
          <a:xfrm xmlns:a="http://schemas.openxmlformats.org/drawingml/2006/main">
            <a:off x="762000" y="3362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Revisar muestreo, tendencia, filtrado y cambios bruscos de la base de reglas.</a:t>
            </a:r>
          </a:p>
        </p:txBody>
      </p:sp>
      <p:sp>
        <p:nvSpPr>
          <p:cNvPr id="13" name="">
            <a:extLst xmlns:a="http://schemas.openxmlformats.org/drawingml/2006/main">
              <a:ext uri="{FF2B5EF4-FFF2-40B4-BE49-F238E27FC236}">
                <a16:creationId xmlns:a16="http://schemas.microsoft.com/office/drawing/2014/main" id="{5756244D-70BB-475E-ABE8-6110DDBC2961}"/>
              </a:ext>
            </a:extLst>
          </p:cNvPr>
          <p:cNvSpPr>
            <a:spLocks xmlns:a="http://schemas.openxmlformats.org/drawingml/2006/main" noGrp="1"/>
          </p:cNvSpPr>
          <p:nvPr/>
        </p:nvSpPr>
        <p:spPr>
          <a:xfrm xmlns:a="http://schemas.openxmlformats.org/drawingml/2006/main">
            <a:off x="762000" y="4191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Si queda error permanente</a:t>
            </a:r>
          </a:p>
        </p:txBody>
      </p:sp>
      <p:sp>
        <p:nvSpPr>
          <p:cNvPr id="14" name="">
            <a:extLst xmlns:a="http://schemas.openxmlformats.org/drawingml/2006/main">
              <a:ext uri="{FF2B5EF4-FFF2-40B4-BE49-F238E27FC236}">
                <a16:creationId xmlns:a16="http://schemas.microsoft.com/office/drawing/2014/main" id="{D0A66562-3875-4145-B7DA-0695B2EF75F3}"/>
              </a:ext>
            </a:extLst>
          </p:cNvPr>
          <p:cNvSpPr>
            <a:spLocks xmlns:a="http://schemas.openxmlformats.org/drawingml/2006/main" noGrp="1"/>
          </p:cNvSpPr>
          <p:nvPr/>
        </p:nvSpPr>
        <p:spPr>
          <a:xfrm xmlns:a="http://schemas.openxmlformats.org/drawingml/2006/main">
            <a:off x="762000" y="4648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Revisar compensación de pérdidas o una acción integral; volver a simular.</a:t>
            </a:r>
          </a:p>
        </p:txBody>
      </p:sp>
      <p:sp>
        <p:nvSpPr>
          <p:cNvPr id="15" name="">
            <a:extLst xmlns:a="http://schemas.openxmlformats.org/drawingml/2006/main">
              <a:ext uri="{FF2B5EF4-FFF2-40B4-BE49-F238E27FC236}">
                <a16:creationId xmlns:a16="http://schemas.microsoft.com/office/drawing/2014/main" id="{47BFA85F-8B28-4438-8F0D-8A00BB81BCE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Modificar una decisión de diseño cada vez y repetir también los casos que antes funcionaban.</a:t>
            </a:r>
          </a:p>
        </p:txBody>
      </p:sp>
      <p:sp>
        <p:nvSpPr>
          <p:cNvPr id="16" name="">
            <a:extLst xmlns:a="http://schemas.openxmlformats.org/drawingml/2006/main">
              <a:ext uri="{FF2B5EF4-FFF2-40B4-BE49-F238E27FC236}">
                <a16:creationId xmlns:a16="http://schemas.microsoft.com/office/drawing/2014/main" id="{BF923B6A-C30A-4E5E-A706-A2FB0A49B527}"/>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B772F86-512F-4584-98BF-CC9700855B9E}"/>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81</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Qué debe entregar vuestro controlador</a:t>
            </a:r>
          </a:p>
        </p:txBody>
      </p:sp>
      <p:sp>
        <p:nvSpPr>
          <p:cNvPr id="9" name="">
            <a:extLst xmlns:a="http://schemas.openxmlformats.org/drawingml/2006/main">
              <a:ext uri="{FF2B5EF4-FFF2-40B4-BE49-F238E27FC236}">
                <a16:creationId xmlns:a16="http://schemas.microsoft.com/office/drawing/2014/main" id="{E61B71F8-1BE7-4058-B1A7-6FEF31350627}"/>
              </a:ext>
            </a:extLst>
          </p:cNvPr>
          <p:cNvSpPr>
            <a:spLocks xmlns:a="http://schemas.openxmlformats.org/drawingml/2006/main" noGrp="1"/>
          </p:cNvSpPr>
          <p:nvPr/>
        </p:nvSpPr>
        <p:spPr>
          <a:xfrm xmlns:a="http://schemas.openxmlformats.org/drawingml/2006/main">
            <a:off x="762000" y="16192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Diseño explicado</a:t>
            </a:r>
          </a:p>
        </p:txBody>
      </p:sp>
      <p:sp>
        <p:nvSpPr>
          <p:cNvPr id="10" name="">
            <a:extLst xmlns:a="http://schemas.openxmlformats.org/drawingml/2006/main">
              <a:ext uri="{FF2B5EF4-FFF2-40B4-BE49-F238E27FC236}">
                <a16:creationId xmlns:a16="http://schemas.microsoft.com/office/drawing/2014/main" id="{26C64307-6C0F-4F23-9807-20C550A58B91}"/>
              </a:ext>
            </a:extLst>
          </p:cNvPr>
          <p:cNvSpPr>
            <a:spLocks xmlns:a="http://schemas.openxmlformats.org/drawingml/2006/main" noGrp="1"/>
          </p:cNvSpPr>
          <p:nvPr/>
        </p:nvSpPr>
        <p:spPr>
          <a:xfrm xmlns:a="http://schemas.openxmlformats.org/drawingml/2006/main">
            <a:off x="762000" y="20764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Entradas, salida, unidades, rangos, pertenencias, reglas y método de inferencia.</a:t>
            </a:r>
          </a:p>
        </p:txBody>
      </p:sp>
      <p:sp>
        <p:nvSpPr>
          <p:cNvPr id="11" name="">
            <a:extLst xmlns:a="http://schemas.openxmlformats.org/drawingml/2006/main">
              <a:ext uri="{FF2B5EF4-FFF2-40B4-BE49-F238E27FC236}">
                <a16:creationId xmlns:a16="http://schemas.microsoft.com/office/drawing/2014/main" id="{178C7B67-234B-4CFE-B468-469863BC3BB6}"/>
              </a:ext>
            </a:extLst>
          </p:cNvPr>
          <p:cNvSpPr>
            <a:spLocks xmlns:a="http://schemas.openxmlformats.org/drawingml/2006/main" noGrp="1"/>
          </p:cNvSpPr>
          <p:nvPr/>
        </p:nvSpPr>
        <p:spPr>
          <a:xfrm xmlns:a="http://schemas.openxmlformats.org/drawingml/2006/main">
            <a:off x="762000" y="2905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Implementación comprobable</a:t>
            </a:r>
          </a:p>
        </p:txBody>
      </p:sp>
      <p:sp>
        <p:nvSpPr>
          <p:cNvPr id="12" name="">
            <a:extLst xmlns:a="http://schemas.openxmlformats.org/drawingml/2006/main">
              <a:ext uri="{FF2B5EF4-FFF2-40B4-BE49-F238E27FC236}">
                <a16:creationId xmlns:a16="http://schemas.microsoft.com/office/drawing/2014/main" id="{37B6407D-3714-4BE8-A894-8F7DEF21604C}"/>
              </a:ext>
            </a:extLst>
          </p:cNvPr>
          <p:cNvSpPr>
            <a:spLocks xmlns:a="http://schemas.openxmlformats.org/drawingml/2006/main" noGrp="1"/>
          </p:cNvSpPr>
          <p:nvPr/>
        </p:nvSpPr>
        <p:spPr>
          <a:xfrm xmlns:a="http://schemas.openxmlformats.org/drawingml/2006/main">
            <a:off x="762000" y="3362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Código, cálculo manual de un instante y registro de la evolución del sistema.</a:t>
            </a:r>
          </a:p>
        </p:txBody>
      </p:sp>
      <p:sp>
        <p:nvSpPr>
          <p:cNvPr id="13" name="">
            <a:extLst xmlns:a="http://schemas.openxmlformats.org/drawingml/2006/main">
              <a:ext uri="{FF2B5EF4-FFF2-40B4-BE49-F238E27FC236}">
                <a16:creationId xmlns:a16="http://schemas.microsoft.com/office/drawing/2014/main" id="{603168C0-A60A-47A5-9728-3B74EEA56F7B}"/>
              </a:ext>
            </a:extLst>
          </p:cNvPr>
          <p:cNvSpPr>
            <a:spLocks xmlns:a="http://schemas.openxmlformats.org/drawingml/2006/main" noGrp="1"/>
          </p:cNvSpPr>
          <p:nvPr/>
        </p:nvSpPr>
        <p:spPr>
          <a:xfrm xmlns:a="http://schemas.openxmlformats.org/drawingml/2006/main">
            <a:off x="762000" y="41910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D96B18"/>
                </a:solidFill>
                <a:latin typeface="Arial"/>
                <a:ea typeface="Arial"/>
                <a:cs typeface="Arial"/>
              </a:defRPr>
            </a:pPr>
            <a:r>
              <a:rPr sz="2250" b="1">
                <a:solidFill>
                  <a:srgbClr val="D96B18"/>
                </a:solidFill>
                <a:latin typeface="Arial"/>
                <a:ea typeface="Arial"/>
                <a:cs typeface="Arial"/>
              </a:rPr>
              <a:t>Evaluación y límites</a:t>
            </a:r>
          </a:p>
        </p:txBody>
      </p:sp>
      <p:sp>
        <p:nvSpPr>
          <p:cNvPr id="14" name="">
            <a:extLst xmlns:a="http://schemas.openxmlformats.org/drawingml/2006/main">
              <a:ext uri="{FF2B5EF4-FFF2-40B4-BE49-F238E27FC236}">
                <a16:creationId xmlns:a16="http://schemas.microsoft.com/office/drawing/2014/main" id="{9E616A34-2FC3-4C08-9D8E-5C0DDF6664E2}"/>
              </a:ext>
            </a:extLst>
          </p:cNvPr>
          <p:cNvSpPr>
            <a:spLocks xmlns:a="http://schemas.openxmlformats.org/drawingml/2006/main" noGrp="1"/>
          </p:cNvSpPr>
          <p:nvPr/>
        </p:nvSpPr>
        <p:spPr>
          <a:xfrm xmlns:a="http://schemas.openxmlformats.org/drawingml/2006/main">
            <a:off x="762000" y="46482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233746"/>
                </a:solidFill>
                <a:latin typeface="Arial"/>
                <a:ea typeface="Arial"/>
                <a:cs typeface="Arial"/>
              </a:defRPr>
            </a:pPr>
            <a:r>
              <a:rPr sz="2100" b="0">
                <a:solidFill>
                  <a:srgbClr val="233746"/>
                </a:solidFill>
                <a:latin typeface="Arial"/>
                <a:ea typeface="Arial"/>
                <a:cs typeface="Arial"/>
              </a:rPr>
              <a:t>Pruebas nominales, perturbaciones, ruido y saturación; métricas y ajustes justificados.</a:t>
            </a:r>
          </a:p>
        </p:txBody>
      </p:sp>
      <p:sp>
        <p:nvSpPr>
          <p:cNvPr id="15" name="">
            <a:extLst xmlns:a="http://schemas.openxmlformats.org/drawingml/2006/main">
              <a:ext uri="{FF2B5EF4-FFF2-40B4-BE49-F238E27FC236}">
                <a16:creationId xmlns:a16="http://schemas.microsoft.com/office/drawing/2014/main" id="{8D94456D-4091-4E90-8CA1-C2C99459C97E}"/>
              </a:ext>
            </a:extLst>
          </p:cNvPr>
          <p:cNvSpPr>
            <a:spLocks xmlns:a="http://schemas.openxmlformats.org/drawingml/2006/main" noGrp="1"/>
          </p:cNvSpPr>
          <p:nvPr/>
        </p:nvSpPr>
        <p:spPr>
          <a:xfrm xmlns:a="http://schemas.openxmlformats.org/drawingml/2006/main">
            <a:off x="762000" y="59912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1">
                <a:solidFill>
                  <a:srgbClr val="D96B18"/>
                </a:solidFill>
                <a:latin typeface="Arial"/>
                <a:ea typeface="Arial"/>
                <a:cs typeface="Arial"/>
              </a:defRPr>
            </a:pPr>
            <a:r>
              <a:rPr sz="1800" b="1">
                <a:solidFill>
                  <a:srgbClr val="D96B18"/>
                </a:solidFill>
                <a:latin typeface="Arial"/>
                <a:ea typeface="Arial"/>
                <a:cs typeface="Arial"/>
              </a:rPr>
              <a:t>La explicación termina cuando podéis justificar por qué el controlador actúa así.</a:t>
            </a:r>
          </a:p>
        </p:txBody>
      </p:sp>
      <p:sp>
        <p:nvSpPr>
          <p:cNvPr id="16" name="">
            <a:extLst xmlns:a="http://schemas.openxmlformats.org/drawingml/2006/main">
              <a:ext uri="{FF2B5EF4-FFF2-40B4-BE49-F238E27FC236}">
                <a16:creationId xmlns:a16="http://schemas.microsoft.com/office/drawing/2014/main" id="{5F1255C2-8F83-4F12-BA07-167CB11C622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2E6A44F-A145-479E-91C0-6FF731F06ED7}"/>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B97A16-AD2D-45A8-B0DF-AA7DECDCB64F}"/>
              </a:ext>
            </a:extLst>
          </p:cNvPr>
          <p:cNvSpPr>
            <a:spLocks xmlns:a="http://schemas.openxmlformats.org/drawingml/2006/main" noGrp="1"/>
          </p:cNvSpPr>
          <p:nvPr/>
        </p:nvSpPr>
        <p:spPr>
          <a:xfrm xmlns:a="http://schemas.openxmlformats.org/drawingml/2006/main">
            <a:off x="0" y="0"/>
            <a:ext cx="12192000" cy="24765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AAE8A1-14E3-4DF6-9F1F-95F244DC4418}"/>
              </a:ext>
            </a:extLst>
          </p:cNvPr>
          <p:cNvSpPr>
            <a:spLocks xmlns:a="http://schemas.openxmlformats.org/drawingml/2006/main" noGrp="1"/>
          </p:cNvSpPr>
          <p:nvPr/>
        </p:nvSpPr>
        <p:spPr>
          <a:xfrm xmlns:a="http://schemas.openxmlformats.org/drawingml/2006/main">
            <a:off x="0" y="6591300"/>
            <a:ext cx="12192000" cy="266700"/>
          </a:xfrm>
          <a:prstGeom xmlns:a="http://schemas.openxmlformats.org/drawingml/2006/main" prst="rect">
            <a:avLst/>
          </a:prstGeom>
          <a:solidFill xmlns:a="http://schemas.openxmlformats.org/drawingml/2006/main">
            <a:srgbClr val="D96B1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814A714-2ACA-47C4-B363-3506A6B52770}"/>
              </a:ext>
            </a:extLst>
          </p:cNvPr>
          <p:cNvSpPr>
            <a:spLocks xmlns:a="http://schemas.openxmlformats.org/drawingml/2006/main" noGrp="1"/>
          </p:cNvSpPr>
          <p:nvPr/>
        </p:nvSpPr>
        <p:spPr>
          <a:xfrm xmlns:a="http://schemas.openxmlformats.org/drawingml/2006/main">
            <a:off x="609600" y="47625"/>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 b="0">
                <a:solidFill>
                  <a:srgbClr val="FFFFFF"/>
                </a:solidFill>
                <a:latin typeface="Arial"/>
                <a:ea typeface="Arial"/>
                <a:cs typeface="Arial"/>
              </a:defRPr>
            </a:pPr>
            <a:r>
              <a:rPr sz="825" b="0">
                <a:solidFill>
                  <a:srgbClr val="FFFFFF"/>
                </a:solidFill>
                <a:latin typeface="Arial"/>
                <a:ea typeface="Arial"/>
                <a:cs typeface="Arial"/>
              </a:rPr>
              <a:t>Razonamiento con Incertidumbre · Sistemas de control Fuzzy</a:t>
            </a:r>
          </a:p>
        </p:txBody>
      </p:sp>
      <p:sp>
        <p:nvSpPr>
          <p:cNvPr id="4" name="">
            <a:extLst xmlns:a="http://schemas.openxmlformats.org/drawingml/2006/main">
              <a:ext uri="{FF2B5EF4-FFF2-40B4-BE49-F238E27FC236}">
                <a16:creationId xmlns:a16="http://schemas.microsoft.com/office/drawing/2014/main" id="{52D24440-8556-43E5-AFB8-7106500C3F2B}"/>
              </a:ext>
            </a:extLst>
          </p:cNvPr>
          <p:cNvSpPr>
            <a:spLocks xmlns:a="http://schemas.openxmlformats.org/drawingml/2006/main" noGrp="1"/>
          </p:cNvSpPr>
          <p:nvPr/>
        </p:nvSpPr>
        <p:spPr>
          <a:xfrm xmlns:a="http://schemas.openxmlformats.org/drawingml/2006/main">
            <a:off x="609600" y="6648450"/>
            <a:ext cx="904875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Erik Figueiral Alonso</a:t>
            </a:r>
          </a:p>
        </p:txBody>
      </p:sp>
      <p:sp>
        <p:nvSpPr>
          <p:cNvPr id="5" name="">
            <a:extLst xmlns:a="http://schemas.openxmlformats.org/drawingml/2006/main">
              <a:ext uri="{FF2B5EF4-FFF2-40B4-BE49-F238E27FC236}">
                <a16:creationId xmlns:a16="http://schemas.microsoft.com/office/drawing/2014/main" id="{CE2DCEDA-C903-469B-9098-0C5E897F7DC6}"/>
              </a:ext>
            </a:extLst>
          </p:cNvPr>
          <p:cNvSpPr>
            <a:spLocks xmlns:a="http://schemas.openxmlformats.org/drawingml/2006/main" noGrp="1"/>
          </p:cNvSpPr>
          <p:nvPr/>
        </p:nvSpPr>
        <p:spPr>
          <a:xfrm xmlns:a="http://schemas.openxmlformats.org/drawingml/2006/main">
            <a:off x="11334750" y="6648450"/>
            <a:ext cx="428625"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 b="0">
                <a:solidFill>
                  <a:srgbClr val="FFFFFF"/>
                </a:solidFill>
                <a:latin typeface="Arial"/>
                <a:ea typeface="Arial"/>
                <a:cs typeface="Arial"/>
              </a:defRPr>
            </a:pPr>
            <a:r>
              <a:rPr sz="750" b="0">
                <a:solidFill>
                  <a:srgbClr val="FFFFFF"/>
                </a:solidFill>
                <a:latin typeface="Arial"/>
                <a:ea typeface="Arial"/>
                <a:cs typeface="Arial"/>
              </a:rPr>
              <a:t>82</a:t>
            </a:r>
          </a:p>
        </p:txBody>
      </p:sp>
      <p:sp>
        <p:nvSpPr>
          <p:cNvPr id="6" name="">
            <a:extLst xmlns:a="http://schemas.openxmlformats.org/drawingml/2006/main">
              <a:ext uri="{FF2B5EF4-FFF2-40B4-BE49-F238E27FC236}">
                <a16:creationId xmlns:a16="http://schemas.microsoft.com/office/drawing/2014/main" id="{6B70F6B7-ED79-4C6B-B379-D8563E607267}"/>
              </a:ext>
            </a:extLst>
          </p:cNvPr>
          <p:cNvSpPr>
            <a:spLocks xmlns:a="http://schemas.openxmlformats.org/drawingml/2006/main" noGrp="1"/>
          </p:cNvSpPr>
          <p:nvPr/>
        </p:nvSpPr>
        <p:spPr>
          <a:xfrm xmlns:a="http://schemas.openxmlformats.org/drawingml/2006/main">
            <a:off x="609600" y="6477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0">
                <a:solidFill>
                  <a:srgbClr val="4C6375"/>
                </a:solidFill>
                <a:latin typeface="Arial"/>
                <a:ea typeface="Arial"/>
                <a:cs typeface="Arial"/>
              </a:defRPr>
            </a:pPr>
            <a:r>
              <a:rPr sz="3000" b="0">
                <a:solidFill>
                  <a:srgbClr val="4C6375"/>
                </a:solidFill>
                <a:latin typeface="Arial"/>
                <a:ea typeface="Arial"/>
                <a:cs typeface="Arial"/>
              </a:rPr>
              <a:t>Libro de referencia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b0b64c9a39141ad"/>
          <a:stretch xmlns:a="http://schemas.openxmlformats.org/drawingml/2006/main"/>
        </p:blipFill>
        <p:spPr>
          <a:xfrm xmlns:a="http://schemas.openxmlformats.org/drawingml/2006/main">
            <a:off x="8028900" y="1619250"/>
            <a:ext cx="3087449" cy="4619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8E4F8C0-01A5-4F9D-85FB-9B90BFDA2CDE}"/>
              </a:ext>
            </a:extLst>
          </p:cNvPr>
          <p:cNvSpPr>
            <a:spLocks xmlns:a="http://schemas.openxmlformats.org/drawingml/2006/main" noGrp="1"/>
          </p:cNvSpPr>
          <p:nvPr/>
        </p:nvSpPr>
        <p:spPr>
          <a:xfrm xmlns:a="http://schemas.openxmlformats.org/drawingml/2006/main">
            <a:off x="762000" y="171450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75" b="1">
                <a:solidFill>
                  <a:srgbClr val="D96B18"/>
                </a:solidFill>
                <a:latin typeface="Arial"/>
                <a:ea typeface="Arial"/>
                <a:cs typeface="Arial"/>
              </a:defRPr>
            </a:pPr>
            <a:r>
              <a:rPr sz="2775" b="1">
                <a:solidFill>
                  <a:srgbClr val="D96B18"/>
                </a:solidFill>
                <a:latin typeface="Arial"/>
                <a:ea typeface="Arial"/>
                <a:cs typeface="Arial"/>
              </a:rPr>
              <a:t>Timothy J. Ross</a:t>
            </a:r>
          </a:p>
        </p:txBody>
      </p:sp>
      <p:sp>
        <p:nvSpPr>
          <p:cNvPr id="11" name="">
            <a:extLst xmlns:a="http://schemas.openxmlformats.org/drawingml/2006/main">
              <a:ext uri="{FF2B5EF4-FFF2-40B4-BE49-F238E27FC236}">
                <a16:creationId xmlns:a16="http://schemas.microsoft.com/office/drawing/2014/main" id="{375A80E5-7012-4BA1-A6FC-BA9F68186300}"/>
              </a:ext>
            </a:extLst>
          </p:cNvPr>
          <p:cNvSpPr>
            <a:spLocks xmlns:a="http://schemas.openxmlformats.org/drawingml/2006/main" noGrp="1"/>
          </p:cNvSpPr>
          <p:nvPr/>
        </p:nvSpPr>
        <p:spPr>
          <a:xfrm xmlns:a="http://schemas.openxmlformats.org/drawingml/2006/main">
            <a:off x="762000" y="2543175"/>
            <a:ext cx="685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850" b="1">
                <a:solidFill>
                  <a:srgbClr val="233746"/>
                </a:solidFill>
                <a:latin typeface="Arial"/>
                <a:ea typeface="Arial"/>
                <a:cs typeface="Arial"/>
              </a:defRPr>
            </a:pPr>
            <a:r>
              <a:rPr sz="2850" b="1">
                <a:solidFill>
                  <a:srgbClr val="233746"/>
                </a:solidFill>
                <a:latin typeface="Arial"/>
                <a:ea typeface="Arial"/>
                <a:cs typeface="Arial"/>
              </a:rPr>
              <a:t>Fuzzy Logic with</a:t>
            </a:r>
          </a:p>
          <a:p xmlns:a="http://schemas.openxmlformats.org/drawingml/2006/main">
            <a:pPr>
              <a:buNone/>
              <a:defRPr sz="2850" b="1">
                <a:solidFill>
                  <a:srgbClr val="233746"/>
                </a:solidFill>
                <a:latin typeface="Arial"/>
                <a:ea typeface="Arial"/>
                <a:cs typeface="Arial"/>
              </a:defRPr>
            </a:pPr>
            <a:r>
              <a:rPr sz="2850" b="1">
                <a:solidFill>
                  <a:srgbClr val="233746"/>
                </a:solidFill>
                <a:latin typeface="Arial"/>
                <a:ea typeface="Arial"/>
                <a:cs typeface="Arial"/>
              </a:rPr>
              <a:t>Engineering Applications</a:t>
            </a:r>
          </a:p>
        </p:txBody>
      </p:sp>
      <p:sp>
        <p:nvSpPr>
          <p:cNvPr id="12" name="">
            <a:extLst xmlns:a="http://schemas.openxmlformats.org/drawingml/2006/main">
              <a:ext uri="{FF2B5EF4-FFF2-40B4-BE49-F238E27FC236}">
                <a16:creationId xmlns:a16="http://schemas.microsoft.com/office/drawing/2014/main" id="{B9FAA015-711B-47E5-A5DC-77FC458780DD}"/>
              </a:ext>
            </a:extLst>
          </p:cNvPr>
          <p:cNvSpPr>
            <a:spLocks xmlns:a="http://schemas.openxmlformats.org/drawingml/2006/main" noGrp="1"/>
          </p:cNvSpPr>
          <p:nvPr/>
        </p:nvSpPr>
        <p:spPr>
          <a:xfrm xmlns:a="http://schemas.openxmlformats.org/drawingml/2006/main">
            <a:off x="762000" y="3990975"/>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3.ª edición · John Wiley &amp; Sons, 2010</a:t>
            </a:r>
          </a:p>
          <a:p xmlns:a="http://schemas.openxmlformats.org/drawingml/2006/main">
            <a:pPr>
              <a:buNone/>
              <a:defRPr sz="2175" b="0">
                <a:solidFill>
                  <a:srgbClr val="233746"/>
                </a:solidFill>
                <a:latin typeface="Arial"/>
                <a:ea typeface="Arial"/>
                <a:cs typeface="Arial"/>
              </a:defRPr>
            </a:pPr>
            <a:r>
              <a:rPr sz="2175" b="0">
                <a:solidFill>
                  <a:srgbClr val="233746"/>
                </a:solidFill>
                <a:latin typeface="Arial"/>
                <a:ea typeface="Arial"/>
                <a:cs typeface="Arial"/>
              </a:rPr>
              <a:t>ISBN 978-0-470-74376-8</a:t>
            </a:r>
          </a:p>
        </p:txBody>
      </p:sp>
      <p:sp>
        <p:nvSpPr>
          <p:cNvPr id="13" name="">
            <a:extLst xmlns:a="http://schemas.openxmlformats.org/drawingml/2006/main">
              <a:ext uri="{FF2B5EF4-FFF2-40B4-BE49-F238E27FC236}">
                <a16:creationId xmlns:a16="http://schemas.microsoft.com/office/drawing/2014/main" id="{BA672ED9-0FE4-449B-931A-9FBD0FF0EC02}"/>
              </a:ext>
            </a:extLst>
          </p:cNvPr>
          <p:cNvSpPr>
            <a:spLocks xmlns:a="http://schemas.openxmlformats.org/drawingml/2006/main" noGrp="1"/>
          </p:cNvSpPr>
          <p:nvPr/>
        </p:nvSpPr>
        <p:spPr>
          <a:xfrm xmlns:a="http://schemas.openxmlformats.org/drawingml/2006/main">
            <a:off x="762000" y="5305425"/>
            <a:ext cx="68580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Para continuar: 5 (inferencia) y 13 (control).</a:t>
            </a:r>
          </a:p>
          <a:p xmlns:a="http://schemas.openxmlformats.org/drawingml/2006/main">
            <a:pPr>
              <a:buNone/>
              <a:defRPr sz="2025" b="0">
                <a:solidFill>
                  <a:srgbClr val="233746"/>
                </a:solidFill>
                <a:latin typeface="Arial"/>
                <a:ea typeface="Arial"/>
                <a:cs typeface="Arial"/>
              </a:defRPr>
            </a:pPr>
            <a:r>
              <a:rPr sz="2025" b="0">
                <a:solidFill>
                  <a:srgbClr val="233746"/>
                </a:solidFill>
                <a:latin typeface="Arial"/>
                <a:ea typeface="Arial"/>
                <a:cs typeface="Arial"/>
              </a:rPr>
              <a:t>El capítulo 8 queda como ampliación.</a:t>
            </a:r>
          </a:p>
        </p:txBody>
      </p:sp>
      <p:sp>
        <p:nvSpPr>
          <p:cNvPr id="17" name="">
            <a:extLst xmlns:a="http://schemas.openxmlformats.org/drawingml/2006/main">
              <a:ext uri="{FF2B5EF4-FFF2-40B4-BE49-F238E27FC236}">
                <a16:creationId xmlns:a16="http://schemas.microsoft.com/office/drawing/2014/main" id="{0C3DA3C6-8B5E-4802-9D93-FA35C5090D18}"/>
              </a:ext>
            </a:extLst>
          </p:cNvPr>
          <p:cNvSpPr>
            <a:spLocks xmlns:a="http://schemas.openxmlformats.org/drawingml/2006/main" noGrp="1"/>
          </p:cNvSpPr>
          <p:nvPr/>
        </p:nvSpPr>
        <p:spPr>
          <a:xfrm xmlns:a="http://schemas.openxmlformats.org/drawingml/2006/main">
            <a:off x="609600" y="1352550"/>
            <a:ext cx="10972800" cy="38100"/>
          </a:xfrm>
          <a:prstGeom xmlns:a="http://schemas.openxmlformats.org/drawingml/2006/main" prst="rect">
            <a:avLst/>
          </a:prstGeom>
          <a:solidFill xmlns:a="http://schemas.openxmlformats.org/drawingml/2006/main">
            <a:srgbClr val="4C63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CCE7585-8838-421E-A8F3-70D7A9E0E2CC}"/>
              </a:ext>
            </a:extLst>
          </p:cNvPr>
          <p:cNvSpPr>
            <a:spLocks xmlns:a="http://schemas.openxmlformats.org/drawingml/2006/main" noGrp="1"/>
          </p:cNvSpPr>
          <p:nvPr/>
        </p:nvSpPr>
        <p:spPr>
          <a:xfrm xmlns:a="http://schemas.openxmlformats.org/drawingml/2006/main">
            <a:off x="685800" y="3333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350" b="1">
                <a:solidFill>
                  <a:srgbClr val="4C6375"/>
                </a:solidFill>
                <a:latin typeface="Arial"/>
                <a:ea typeface="Arial"/>
                <a:cs typeface="Arial"/>
              </a:defRPr>
            </a:pPr>
            <a:r>
              <a:rPr sz="1350" b="1">
                <a:solidFill>
                  <a:srgbClr val="4C6375"/>
                </a:solidFill>
                <a:latin typeface="Arial"/>
                <a:ea typeface="Arial"/>
                <a:cs typeface="Arial"/>
              </a:rPr>
              <a:t>06  EJEMPLO GUIADO    /    Control térmico · del diseño a la simulación</a:t>
            </a:r>
          </a:p>
        </p:txBody>
      </p:sp>
    </p:spTree>
    <p:extLst>
      <p:ext uri="{BB962C8B-B14F-4D97-AF65-F5344CB8AC3E}">
        <p14:creationId xmlns:p14="http://schemas.microsoft.com/office/powerpoint/2010/main" val="17218965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2026-10-04T22:00:23.3390000Z</dcterms:created>
  <dcterms:modified xsi:type="dcterms:W3CDTF">2026-10-04T22:00:23.3390000Z</dcterms:modified>
</coreProperties>
</file>