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4.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5.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6.xml" ContentType="application/vnd.openxmlformats-officedocument.drawingml.chart+xml"/>
  <Override PartName="/ppt/slides/charts/chart7.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8.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9.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0.xml" ContentType="application/vnd.openxmlformats-officedocument.drawingml.chart+xml"/>
  <Override PartName="/ppt/slides/charts/chart1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12.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13.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14.xml" ContentType="application/vnd.openxmlformats-officedocument.drawingml.chart+xml"/>
  <Override PartName="/ppt/slides/charts/chart15.xml" ContentType="application/vnd.openxmlformats-officedocument.drawingml.chart+xml"/>
  <Override PartName="/ppt/slides/charts/chart16.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17.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18.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19.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20.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21.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slides/charts/chart22.xml" ContentType="application/vnd.openxmlformats-officedocument.drawingml.chart+xml"/>
  <Override PartName="/ppt/notesSlides/notesSlide27.xml" ContentType="application/vnd.openxmlformats-officedocument.presentationml.notesSlide+xml"/>
  <Override PartName="/ppt/slides/slide28.xml" ContentType="application/vnd.openxmlformats-officedocument.presentationml.slide+xml"/>
  <Override PartName="/ppt/slides/charts/chart23.xml" ContentType="application/vnd.openxmlformats-officedocument.drawingml.chart+xml"/>
  <Override PartName="/ppt/notesSlides/notesSlide28.xml" ContentType="application/vnd.openxmlformats-officedocument.presentationml.notesSlide+xml"/>
  <Override PartName="/ppt/slides/slide29.xml" ContentType="application/vnd.openxmlformats-officedocument.presentationml.slide+xml"/>
  <Override PartName="/ppt/slides/charts/chart24.xml" ContentType="application/vnd.openxmlformats-officedocument.drawingml.chart+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slides/charts/chart25.xml" ContentType="application/vnd.openxmlformats-officedocument.drawingml.chart+xml"/>
  <Override PartName="/ppt/slides/charts/chart26.xml" ContentType="application/vnd.openxmlformats-officedocument.drawingml.chart+xml"/>
  <Override PartName="/ppt/notesSlides/notesSlide32.xml" ContentType="application/vnd.openxmlformats-officedocument.presentationml.notesSlide+xml"/>
  <Override PartName="/ppt/slides/slide33.xml" ContentType="application/vnd.openxmlformats-officedocument.presentationml.slide+xml"/>
  <Override PartName="/ppt/slides/charts/chart27.xml" ContentType="application/vnd.openxmlformats-officedocument.drawingml.chart+xml"/>
  <Override PartName="/ppt/notesSlides/notesSlide33.xml" ContentType="application/vnd.openxmlformats-officedocument.presentationml.notesSlide+xml"/>
  <Override PartName="/ppt/slides/slide34.xml" ContentType="application/vnd.openxmlformats-officedocument.presentationml.slide+xml"/>
  <Override PartName="/ppt/slides/charts/chart28.xml" ContentType="application/vnd.openxmlformats-officedocument.drawingml.chart+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slides/charts/chart29.xml" ContentType="application/vnd.openxmlformats-officedocument.drawingml.chart+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slides/charts/chart30.xml" ContentType="application/vnd.openxmlformats-officedocument.drawingml.chart+xml"/>
  <Override PartName="/ppt/notesSlides/notesSlide45.xml" ContentType="application/vnd.openxmlformats-officedocument.presentationml.notesSlide+xml"/>
  <Override PartName="/ppt/slides/slide46.xml" ContentType="application/vnd.openxmlformats-officedocument.presentationml.slide+xml"/>
  <Override PartName="/ppt/slides/charts/chart31.xml" ContentType="application/vnd.openxmlformats-officedocument.drawingml.chart+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slides/charts/chart32.xml" ContentType="application/vnd.openxmlformats-officedocument.drawingml.chart+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slides/charts/chart33.xml" ContentType="application/vnd.openxmlformats-officedocument.drawingml.chart+xml"/>
  <Override PartName="/ppt/slides/charts/chart34.xml" ContentType="application/vnd.openxmlformats-officedocument.drawingml.chart+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slides/charts/chart35.xml" ContentType="application/vnd.openxmlformats-officedocument.drawingml.chart+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slides/charts/chart36.xml" ContentType="application/vnd.openxmlformats-officedocument.drawingml.chart+xml"/>
  <Override PartName="/ppt/slides/charts/chart37.xml" ContentType="application/vnd.openxmlformats-officedocument.drawingml.chart+xml"/>
  <Override PartName="/ppt/notesSlides/notesSlide74.xml" ContentType="application/vnd.openxmlformats-officedocument.presentationml.notesSlide+xml"/>
  <Override PartName="/ppt/slides/slide75.xml" ContentType="application/vnd.openxmlformats-officedocument.presentationml.slide+xml"/>
  <Override PartName="/ppt/slides/charts/chart38.xml" ContentType="application/vnd.openxmlformats-officedocument.drawingml.chart+xml"/>
  <Override PartName="/ppt/notesSlides/notesSlide75.xml" ContentType="application/vnd.openxmlformats-officedocument.presentationml.notesSlide+xml"/>
  <Override PartName="/ppt/slides/slide76.xml" ContentType="application/vnd.openxmlformats-officedocument.presentationml.slide+xml"/>
  <Override PartName="/ppt/slides/charts/chart39.xml" ContentType="application/vnd.openxmlformats-officedocument.drawingml.chart+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bf1fe3145724887" /><Relationship Type="http://schemas.openxmlformats.org/officeDocument/2006/relationships/extended-properties" Target="/docProps/app.xml" Id="R9ad68e165a064bc1" /><Relationship Type="http://schemas.openxmlformats.org/officeDocument/2006/relationships/officeDocument" Target="/ppt/presentation.xml" Id="R83445c489c944453" /></Relationships>
</file>

<file path=ppt/presentation.xml><?xml version="1.0" encoding="utf-8"?>
<p:presentation xmlns:p="http://schemas.openxmlformats.org/presentationml/2006/main">
  <p:sldMasterIdLst>
    <p:sldMasterId xmlns:r="http://schemas.openxmlformats.org/officeDocument/2006/relationships" id="2147483648" r:id="Ra4cce3afded54dd6"/>
  </p:sldMasterIdLst>
  <p:notesMasterIdLst>
    <p:notesMasterId xmlns:r="http://schemas.openxmlformats.org/officeDocument/2006/relationships" r:id="Rac5ff1a4a02946c4"/>
  </p:notesMasterIdLst>
  <p:sldIdLst>
    <p:sldId xmlns:r="http://schemas.openxmlformats.org/officeDocument/2006/relationships" id="256" r:id="Rc9ca3237538d499a"/>
    <p:sldId xmlns:r="http://schemas.openxmlformats.org/officeDocument/2006/relationships" id="257" r:id="R7fd62ab966864425"/>
    <p:sldId xmlns:r="http://schemas.openxmlformats.org/officeDocument/2006/relationships" id="258" r:id="R8359d1fbbed04cc0"/>
    <p:sldId xmlns:r="http://schemas.openxmlformats.org/officeDocument/2006/relationships" id="259" r:id="Re598eafac7874a0b"/>
    <p:sldId xmlns:r="http://schemas.openxmlformats.org/officeDocument/2006/relationships" id="260" r:id="Ra00ec9e6c4554323"/>
    <p:sldId xmlns:r="http://schemas.openxmlformats.org/officeDocument/2006/relationships" id="261" r:id="R8d73769f2b2b490f"/>
    <p:sldId xmlns:r="http://schemas.openxmlformats.org/officeDocument/2006/relationships" id="262" r:id="Rd1ba1f7ff89442ea"/>
    <p:sldId xmlns:r="http://schemas.openxmlformats.org/officeDocument/2006/relationships" id="263" r:id="R1670ddd833bc4cc7"/>
    <p:sldId xmlns:r="http://schemas.openxmlformats.org/officeDocument/2006/relationships" id="264" r:id="R72b6e68f58d24b99"/>
    <p:sldId xmlns:r="http://schemas.openxmlformats.org/officeDocument/2006/relationships" id="265" r:id="Reb78e9ece63f43df"/>
    <p:sldId xmlns:r="http://schemas.openxmlformats.org/officeDocument/2006/relationships" id="266" r:id="Ra23b42c709fa448a"/>
    <p:sldId xmlns:r="http://schemas.openxmlformats.org/officeDocument/2006/relationships" id="267" r:id="Rd240364b3d914ee2"/>
    <p:sldId xmlns:r="http://schemas.openxmlformats.org/officeDocument/2006/relationships" id="268" r:id="R615e16911dad4565"/>
    <p:sldId xmlns:r="http://schemas.openxmlformats.org/officeDocument/2006/relationships" id="269" r:id="R968bcf4740624be2"/>
    <p:sldId xmlns:r="http://schemas.openxmlformats.org/officeDocument/2006/relationships" id="270" r:id="R6a246ac45c84473b"/>
    <p:sldId xmlns:r="http://schemas.openxmlformats.org/officeDocument/2006/relationships" id="271" r:id="R3fc0aa4606324ebd"/>
    <p:sldId xmlns:r="http://schemas.openxmlformats.org/officeDocument/2006/relationships" id="272" r:id="Rcd54ba400c2a4672"/>
    <p:sldId xmlns:r="http://schemas.openxmlformats.org/officeDocument/2006/relationships" id="273" r:id="R9b42bb66ee5a48da"/>
    <p:sldId xmlns:r="http://schemas.openxmlformats.org/officeDocument/2006/relationships" id="274" r:id="R8b91a54225054bd9"/>
    <p:sldId xmlns:r="http://schemas.openxmlformats.org/officeDocument/2006/relationships" id="275" r:id="R2547d373bb574e52"/>
    <p:sldId xmlns:r="http://schemas.openxmlformats.org/officeDocument/2006/relationships" id="276" r:id="R663b786cc9c94b07"/>
    <p:sldId xmlns:r="http://schemas.openxmlformats.org/officeDocument/2006/relationships" id="277" r:id="Rdc4b76a6dd414318"/>
    <p:sldId xmlns:r="http://schemas.openxmlformats.org/officeDocument/2006/relationships" id="278" r:id="R47d833de39fa49d8"/>
    <p:sldId xmlns:r="http://schemas.openxmlformats.org/officeDocument/2006/relationships" id="279" r:id="R3f0b736c6d374d12"/>
    <p:sldId xmlns:r="http://schemas.openxmlformats.org/officeDocument/2006/relationships" id="280" r:id="R93b7e3a79bd848fb"/>
    <p:sldId xmlns:r="http://schemas.openxmlformats.org/officeDocument/2006/relationships" id="281" r:id="Rbbb654d5611d4a5a"/>
    <p:sldId xmlns:r="http://schemas.openxmlformats.org/officeDocument/2006/relationships" id="282" r:id="R22312799f606410d"/>
    <p:sldId xmlns:r="http://schemas.openxmlformats.org/officeDocument/2006/relationships" id="283" r:id="R9f26395e31174b8c"/>
    <p:sldId xmlns:r="http://schemas.openxmlformats.org/officeDocument/2006/relationships" id="284" r:id="R1c9fa23ec5bf441b"/>
    <p:sldId xmlns:r="http://schemas.openxmlformats.org/officeDocument/2006/relationships" id="285" r:id="R2986c5ebffa74604"/>
    <p:sldId xmlns:r="http://schemas.openxmlformats.org/officeDocument/2006/relationships" id="286" r:id="R4dfa0ddea4b94952"/>
    <p:sldId xmlns:r="http://schemas.openxmlformats.org/officeDocument/2006/relationships" id="287" r:id="R3fcf8d3d5112482e"/>
    <p:sldId xmlns:r="http://schemas.openxmlformats.org/officeDocument/2006/relationships" id="288" r:id="R0cdba2242d604e46"/>
    <p:sldId xmlns:r="http://schemas.openxmlformats.org/officeDocument/2006/relationships" id="289" r:id="Rcf541c38ddf647ba"/>
    <p:sldId xmlns:r="http://schemas.openxmlformats.org/officeDocument/2006/relationships" id="290" r:id="R3e23acc9d8254926"/>
    <p:sldId xmlns:r="http://schemas.openxmlformats.org/officeDocument/2006/relationships" id="291" r:id="Rec90b41808ac443c"/>
    <p:sldId xmlns:r="http://schemas.openxmlformats.org/officeDocument/2006/relationships" id="292" r:id="R4b54d2b5ce854cee"/>
    <p:sldId xmlns:r="http://schemas.openxmlformats.org/officeDocument/2006/relationships" id="293" r:id="Reeded669ff66465e"/>
    <p:sldId xmlns:r="http://schemas.openxmlformats.org/officeDocument/2006/relationships" id="294" r:id="R03c97b783fb5462f"/>
    <p:sldId xmlns:r="http://schemas.openxmlformats.org/officeDocument/2006/relationships" id="295" r:id="R5836b74a0e7d4282"/>
    <p:sldId xmlns:r="http://schemas.openxmlformats.org/officeDocument/2006/relationships" id="296" r:id="R248fb31e22b34530"/>
    <p:sldId xmlns:r="http://schemas.openxmlformats.org/officeDocument/2006/relationships" id="297" r:id="R0d498463d46d4bbc"/>
    <p:sldId xmlns:r="http://schemas.openxmlformats.org/officeDocument/2006/relationships" id="298" r:id="R6915c7ecc4274798"/>
    <p:sldId xmlns:r="http://schemas.openxmlformats.org/officeDocument/2006/relationships" id="299" r:id="Rb3eb97c55b1f46b5"/>
    <p:sldId xmlns:r="http://schemas.openxmlformats.org/officeDocument/2006/relationships" id="300" r:id="Ra7cee00253ef4e2a"/>
    <p:sldId xmlns:r="http://schemas.openxmlformats.org/officeDocument/2006/relationships" id="301" r:id="Rfc31267246f7475c"/>
    <p:sldId xmlns:r="http://schemas.openxmlformats.org/officeDocument/2006/relationships" id="302" r:id="R465ae241c15e42d2"/>
    <p:sldId xmlns:r="http://schemas.openxmlformats.org/officeDocument/2006/relationships" id="303" r:id="R7d65016464944579"/>
    <p:sldId xmlns:r="http://schemas.openxmlformats.org/officeDocument/2006/relationships" id="304" r:id="Rb3f029cb213e435f"/>
    <p:sldId xmlns:r="http://schemas.openxmlformats.org/officeDocument/2006/relationships" id="305" r:id="Re1c9aa6981914f34"/>
    <p:sldId xmlns:r="http://schemas.openxmlformats.org/officeDocument/2006/relationships" id="306" r:id="Redfbe0362b794ab7"/>
    <p:sldId xmlns:r="http://schemas.openxmlformats.org/officeDocument/2006/relationships" id="307" r:id="Rfe06076fb1904576"/>
    <p:sldId xmlns:r="http://schemas.openxmlformats.org/officeDocument/2006/relationships" id="308" r:id="R9a0b44d19f1746b4"/>
    <p:sldId xmlns:r="http://schemas.openxmlformats.org/officeDocument/2006/relationships" id="309" r:id="Rc1a46b4ca1ef43d2"/>
    <p:sldId xmlns:r="http://schemas.openxmlformats.org/officeDocument/2006/relationships" id="310" r:id="R776f33c2c6084335"/>
    <p:sldId xmlns:r="http://schemas.openxmlformats.org/officeDocument/2006/relationships" id="311" r:id="Red1c9745493643a9"/>
    <p:sldId xmlns:r="http://schemas.openxmlformats.org/officeDocument/2006/relationships" id="312" r:id="Rd68fe9e7ea4f4fe6"/>
    <p:sldId xmlns:r="http://schemas.openxmlformats.org/officeDocument/2006/relationships" id="313" r:id="Rac6eda38d4d74a52"/>
    <p:sldId xmlns:r="http://schemas.openxmlformats.org/officeDocument/2006/relationships" id="314" r:id="Rb5c69940ca224e5d"/>
    <p:sldId xmlns:r="http://schemas.openxmlformats.org/officeDocument/2006/relationships" id="315" r:id="Rb01fa2f8ca4c4b8a"/>
    <p:sldId xmlns:r="http://schemas.openxmlformats.org/officeDocument/2006/relationships" id="316" r:id="Rd8cc83d045054ab2"/>
    <p:sldId xmlns:r="http://schemas.openxmlformats.org/officeDocument/2006/relationships" id="317" r:id="R74a623712cdb4d5a"/>
    <p:sldId xmlns:r="http://schemas.openxmlformats.org/officeDocument/2006/relationships" id="318" r:id="R16b7b02788724208"/>
    <p:sldId xmlns:r="http://schemas.openxmlformats.org/officeDocument/2006/relationships" id="319" r:id="Ra8b753ad0c3f4d75"/>
    <p:sldId xmlns:r="http://schemas.openxmlformats.org/officeDocument/2006/relationships" id="320" r:id="R3802054f4eee4161"/>
    <p:sldId xmlns:r="http://schemas.openxmlformats.org/officeDocument/2006/relationships" id="321" r:id="Rf25c2593c5004ccb"/>
    <p:sldId xmlns:r="http://schemas.openxmlformats.org/officeDocument/2006/relationships" id="322" r:id="R2fefc627ec9b4161"/>
    <p:sldId xmlns:r="http://schemas.openxmlformats.org/officeDocument/2006/relationships" id="323" r:id="R0d9e2122f9314c8e"/>
    <p:sldId xmlns:r="http://schemas.openxmlformats.org/officeDocument/2006/relationships" id="324" r:id="Rf7ebe203a8f94720"/>
    <p:sldId xmlns:r="http://schemas.openxmlformats.org/officeDocument/2006/relationships" id="325" r:id="R34ac457ea58d450a"/>
    <p:sldId xmlns:r="http://schemas.openxmlformats.org/officeDocument/2006/relationships" id="326" r:id="R049665b30be24ac5"/>
    <p:sldId xmlns:r="http://schemas.openxmlformats.org/officeDocument/2006/relationships" id="327" r:id="Rc3a4a2e13aed41ce"/>
    <p:sldId xmlns:r="http://schemas.openxmlformats.org/officeDocument/2006/relationships" id="328" r:id="Rdc97e9d3263d49ad"/>
    <p:sldId xmlns:r="http://schemas.openxmlformats.org/officeDocument/2006/relationships" id="329" r:id="Rfa80fd256d5c4910"/>
    <p:sldId xmlns:r="http://schemas.openxmlformats.org/officeDocument/2006/relationships" id="330" r:id="R6328173198d742d9"/>
    <p:sldId xmlns:r="http://schemas.openxmlformats.org/officeDocument/2006/relationships" id="331" r:id="Ra7704c40d0b04575"/>
    <p:sldId xmlns:r="http://schemas.openxmlformats.org/officeDocument/2006/relationships" id="332" r:id="Rb2e836c6f2814ad2"/>
    <p:sldId xmlns:r="http://schemas.openxmlformats.org/officeDocument/2006/relationships" id="333" r:id="Rcf320902b30b4bb6"/>
    <p:sldId xmlns:r="http://schemas.openxmlformats.org/officeDocument/2006/relationships" id="334" r:id="R1cf0498c99be4830"/>
    <p:sldId xmlns:r="http://schemas.openxmlformats.org/officeDocument/2006/relationships" id="335" r:id="Rd9ae9dacd9404c3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95795b555a04d06" /><Relationship Type="http://schemas.openxmlformats.org/officeDocument/2006/relationships/slideMaster" Target="/ppt/slideMasters/slideMaster1.xml" Id="Ra4cce3afded54dd6" /><Relationship Type="http://schemas.openxmlformats.org/officeDocument/2006/relationships/notesMaster" Target="/ppt/notesMasters/notesMaster1.xml" Id="Rac5ff1a4a02946c4" /><Relationship Type="http://schemas.openxmlformats.org/officeDocument/2006/relationships/presProps" Target="/ppt/presProps.xml" Id="Radb4f5649dd7420b" /><Relationship Type="http://schemas.openxmlformats.org/officeDocument/2006/relationships/tableStyles" Target="/ppt/tableStyles.xml" Id="R1ee19df738d44ef0" /><Relationship Type="http://schemas.openxmlformats.org/officeDocument/2006/relationships/slide" Target="/ppt/slides/slide1.xml" Id="Rc9ca3237538d499a" /><Relationship Type="http://schemas.openxmlformats.org/officeDocument/2006/relationships/slide" Target="/ppt/slides/slide2.xml" Id="R7fd62ab966864425" /><Relationship Type="http://schemas.openxmlformats.org/officeDocument/2006/relationships/slide" Target="/ppt/slides/slide3.xml" Id="R8359d1fbbed04cc0" /><Relationship Type="http://schemas.openxmlformats.org/officeDocument/2006/relationships/slide" Target="/ppt/slides/slide4.xml" Id="Re598eafac7874a0b" /><Relationship Type="http://schemas.openxmlformats.org/officeDocument/2006/relationships/slide" Target="/ppt/slides/slide5.xml" Id="Ra00ec9e6c4554323" /><Relationship Type="http://schemas.openxmlformats.org/officeDocument/2006/relationships/slide" Target="/ppt/slides/slide6.xml" Id="R8d73769f2b2b490f" /><Relationship Type="http://schemas.openxmlformats.org/officeDocument/2006/relationships/slide" Target="/ppt/slides/slide7.xml" Id="Rd1ba1f7ff89442ea" /><Relationship Type="http://schemas.openxmlformats.org/officeDocument/2006/relationships/slide" Target="/ppt/slides/slide8.xml" Id="R1670ddd833bc4cc7" /><Relationship Type="http://schemas.openxmlformats.org/officeDocument/2006/relationships/slide" Target="/ppt/slides/slide9.xml" Id="R72b6e68f58d24b99" /><Relationship Type="http://schemas.openxmlformats.org/officeDocument/2006/relationships/slide" Target="/ppt/slides/slide10.xml" Id="Reb78e9ece63f43df" /><Relationship Type="http://schemas.openxmlformats.org/officeDocument/2006/relationships/slide" Target="/ppt/slides/slide11.xml" Id="Ra23b42c709fa448a" /><Relationship Type="http://schemas.openxmlformats.org/officeDocument/2006/relationships/slide" Target="/ppt/slides/slide12.xml" Id="Rd240364b3d914ee2" /><Relationship Type="http://schemas.openxmlformats.org/officeDocument/2006/relationships/slide" Target="/ppt/slides/slide13.xml" Id="R615e16911dad4565" /><Relationship Type="http://schemas.openxmlformats.org/officeDocument/2006/relationships/slide" Target="/ppt/slides/slide14.xml" Id="R968bcf4740624be2" /><Relationship Type="http://schemas.openxmlformats.org/officeDocument/2006/relationships/slide" Target="/ppt/slides/slide15.xml" Id="R6a246ac45c84473b" /><Relationship Type="http://schemas.openxmlformats.org/officeDocument/2006/relationships/slide" Target="/ppt/slides/slide16.xml" Id="R3fc0aa4606324ebd" /><Relationship Type="http://schemas.openxmlformats.org/officeDocument/2006/relationships/slide" Target="/ppt/slides/slide17.xml" Id="Rcd54ba400c2a4672" /><Relationship Type="http://schemas.openxmlformats.org/officeDocument/2006/relationships/slide" Target="/ppt/slides/slide18.xml" Id="R9b42bb66ee5a48da" /><Relationship Type="http://schemas.openxmlformats.org/officeDocument/2006/relationships/slide" Target="/ppt/slides/slide19.xml" Id="R8b91a54225054bd9" /><Relationship Type="http://schemas.openxmlformats.org/officeDocument/2006/relationships/slide" Target="/ppt/slides/slide20.xml" Id="R2547d373bb574e52" /><Relationship Type="http://schemas.openxmlformats.org/officeDocument/2006/relationships/slide" Target="/ppt/slides/slide21.xml" Id="R663b786cc9c94b07" /><Relationship Type="http://schemas.openxmlformats.org/officeDocument/2006/relationships/slide" Target="/ppt/slides/slide22.xml" Id="Rdc4b76a6dd414318" /><Relationship Type="http://schemas.openxmlformats.org/officeDocument/2006/relationships/slide" Target="/ppt/slides/slide23.xml" Id="R47d833de39fa49d8" /><Relationship Type="http://schemas.openxmlformats.org/officeDocument/2006/relationships/slide" Target="/ppt/slides/slide24.xml" Id="R3f0b736c6d374d12" /><Relationship Type="http://schemas.openxmlformats.org/officeDocument/2006/relationships/slide" Target="/ppt/slides/slide25.xml" Id="R93b7e3a79bd848fb" /><Relationship Type="http://schemas.openxmlformats.org/officeDocument/2006/relationships/slide" Target="/ppt/slides/slide26.xml" Id="Rbbb654d5611d4a5a" /><Relationship Type="http://schemas.openxmlformats.org/officeDocument/2006/relationships/slide" Target="/ppt/slides/slide27.xml" Id="R22312799f606410d" /><Relationship Type="http://schemas.openxmlformats.org/officeDocument/2006/relationships/slide" Target="/ppt/slides/slide28.xml" Id="R9f26395e31174b8c" /><Relationship Type="http://schemas.openxmlformats.org/officeDocument/2006/relationships/slide" Target="/ppt/slides/slide29.xml" Id="R1c9fa23ec5bf441b" /><Relationship Type="http://schemas.openxmlformats.org/officeDocument/2006/relationships/slide" Target="/ppt/slides/slide30.xml" Id="R2986c5ebffa74604" /><Relationship Type="http://schemas.openxmlformats.org/officeDocument/2006/relationships/slide" Target="/ppt/slides/slide31.xml" Id="R4dfa0ddea4b94952" /><Relationship Type="http://schemas.openxmlformats.org/officeDocument/2006/relationships/slide" Target="/ppt/slides/slide32.xml" Id="R3fcf8d3d5112482e" /><Relationship Type="http://schemas.openxmlformats.org/officeDocument/2006/relationships/slide" Target="/ppt/slides/slide33.xml" Id="R0cdba2242d604e46" /><Relationship Type="http://schemas.openxmlformats.org/officeDocument/2006/relationships/slide" Target="/ppt/slides/slide34.xml" Id="Rcf541c38ddf647ba" /><Relationship Type="http://schemas.openxmlformats.org/officeDocument/2006/relationships/slide" Target="/ppt/slides/slide35.xml" Id="R3e23acc9d8254926" /><Relationship Type="http://schemas.openxmlformats.org/officeDocument/2006/relationships/slide" Target="/ppt/slides/slide36.xml" Id="Rec90b41808ac443c" /><Relationship Type="http://schemas.openxmlformats.org/officeDocument/2006/relationships/slide" Target="/ppt/slides/slide37.xml" Id="R4b54d2b5ce854cee" /><Relationship Type="http://schemas.openxmlformats.org/officeDocument/2006/relationships/slide" Target="/ppt/slides/slide38.xml" Id="Reeded669ff66465e" /><Relationship Type="http://schemas.openxmlformats.org/officeDocument/2006/relationships/slide" Target="/ppt/slides/slide39.xml" Id="R03c97b783fb5462f" /><Relationship Type="http://schemas.openxmlformats.org/officeDocument/2006/relationships/slide" Target="/ppt/slides/slide40.xml" Id="R5836b74a0e7d4282" /><Relationship Type="http://schemas.openxmlformats.org/officeDocument/2006/relationships/slide" Target="/ppt/slides/slide41.xml" Id="R248fb31e22b34530" /><Relationship Type="http://schemas.openxmlformats.org/officeDocument/2006/relationships/slide" Target="/ppt/slides/slide42.xml" Id="R0d498463d46d4bbc" /><Relationship Type="http://schemas.openxmlformats.org/officeDocument/2006/relationships/slide" Target="/ppt/slides/slide43.xml" Id="R6915c7ecc4274798" /><Relationship Type="http://schemas.openxmlformats.org/officeDocument/2006/relationships/slide" Target="/ppt/slides/slide44.xml" Id="Rb3eb97c55b1f46b5" /><Relationship Type="http://schemas.openxmlformats.org/officeDocument/2006/relationships/slide" Target="/ppt/slides/slide45.xml" Id="Ra7cee00253ef4e2a" /><Relationship Type="http://schemas.openxmlformats.org/officeDocument/2006/relationships/slide" Target="/ppt/slides/slide46.xml" Id="Rfc31267246f7475c" /><Relationship Type="http://schemas.openxmlformats.org/officeDocument/2006/relationships/slide" Target="/ppt/slides/slide47.xml" Id="R465ae241c15e42d2" /><Relationship Type="http://schemas.openxmlformats.org/officeDocument/2006/relationships/slide" Target="/ppt/slides/slide48.xml" Id="R7d65016464944579" /><Relationship Type="http://schemas.openxmlformats.org/officeDocument/2006/relationships/slide" Target="/ppt/slides/slide49.xml" Id="Rb3f029cb213e435f" /><Relationship Type="http://schemas.openxmlformats.org/officeDocument/2006/relationships/slide" Target="/ppt/slides/slide50.xml" Id="Re1c9aa6981914f34" /><Relationship Type="http://schemas.openxmlformats.org/officeDocument/2006/relationships/slide" Target="/ppt/slides/slide51.xml" Id="Redfbe0362b794ab7" /><Relationship Type="http://schemas.openxmlformats.org/officeDocument/2006/relationships/slide" Target="/ppt/slides/slide52.xml" Id="Rfe06076fb1904576" /><Relationship Type="http://schemas.openxmlformats.org/officeDocument/2006/relationships/slide" Target="/ppt/slides/slide53.xml" Id="R9a0b44d19f1746b4" /><Relationship Type="http://schemas.openxmlformats.org/officeDocument/2006/relationships/slide" Target="/ppt/slides/slide54.xml" Id="Rc1a46b4ca1ef43d2" /><Relationship Type="http://schemas.openxmlformats.org/officeDocument/2006/relationships/slide" Target="/ppt/slides/slide55.xml" Id="R776f33c2c6084335" /><Relationship Type="http://schemas.openxmlformats.org/officeDocument/2006/relationships/slide" Target="/ppt/slides/slide56.xml" Id="Red1c9745493643a9" /><Relationship Type="http://schemas.openxmlformats.org/officeDocument/2006/relationships/slide" Target="/ppt/slides/slide57.xml" Id="Rd68fe9e7ea4f4fe6" /><Relationship Type="http://schemas.openxmlformats.org/officeDocument/2006/relationships/slide" Target="/ppt/slides/slide58.xml" Id="Rac6eda38d4d74a52" /><Relationship Type="http://schemas.openxmlformats.org/officeDocument/2006/relationships/slide" Target="/ppt/slides/slide59.xml" Id="Rb5c69940ca224e5d" /><Relationship Type="http://schemas.openxmlformats.org/officeDocument/2006/relationships/slide" Target="/ppt/slides/slide60.xml" Id="Rb01fa2f8ca4c4b8a" /><Relationship Type="http://schemas.openxmlformats.org/officeDocument/2006/relationships/slide" Target="/ppt/slides/slide61.xml" Id="Rd8cc83d045054ab2" /><Relationship Type="http://schemas.openxmlformats.org/officeDocument/2006/relationships/slide" Target="/ppt/slides/slide62.xml" Id="R74a623712cdb4d5a" /><Relationship Type="http://schemas.openxmlformats.org/officeDocument/2006/relationships/slide" Target="/ppt/slides/slide63.xml" Id="R16b7b02788724208" /><Relationship Type="http://schemas.openxmlformats.org/officeDocument/2006/relationships/slide" Target="/ppt/slides/slide64.xml" Id="Ra8b753ad0c3f4d75" /><Relationship Type="http://schemas.openxmlformats.org/officeDocument/2006/relationships/slide" Target="/ppt/slides/slide65.xml" Id="R3802054f4eee4161" /><Relationship Type="http://schemas.openxmlformats.org/officeDocument/2006/relationships/slide" Target="/ppt/slides/slide66.xml" Id="Rf25c2593c5004ccb" /><Relationship Type="http://schemas.openxmlformats.org/officeDocument/2006/relationships/slide" Target="/ppt/slides/slide67.xml" Id="R2fefc627ec9b4161" /><Relationship Type="http://schemas.openxmlformats.org/officeDocument/2006/relationships/slide" Target="/ppt/slides/slide68.xml" Id="R0d9e2122f9314c8e" /><Relationship Type="http://schemas.openxmlformats.org/officeDocument/2006/relationships/slide" Target="/ppt/slides/slide69.xml" Id="Rf7ebe203a8f94720" /><Relationship Type="http://schemas.openxmlformats.org/officeDocument/2006/relationships/slide" Target="/ppt/slides/slide70.xml" Id="R34ac457ea58d450a" /><Relationship Type="http://schemas.openxmlformats.org/officeDocument/2006/relationships/slide" Target="/ppt/slides/slide71.xml" Id="R049665b30be24ac5" /><Relationship Type="http://schemas.openxmlformats.org/officeDocument/2006/relationships/slide" Target="/ppt/slides/slide72.xml" Id="Rc3a4a2e13aed41ce" /><Relationship Type="http://schemas.openxmlformats.org/officeDocument/2006/relationships/slide" Target="/ppt/slides/slide73.xml" Id="Rdc97e9d3263d49ad" /><Relationship Type="http://schemas.openxmlformats.org/officeDocument/2006/relationships/slide" Target="/ppt/slides/slide74.xml" Id="Rfa80fd256d5c4910" /><Relationship Type="http://schemas.openxmlformats.org/officeDocument/2006/relationships/slide" Target="/ppt/slides/slide75.xml" Id="R6328173198d742d9" /><Relationship Type="http://schemas.openxmlformats.org/officeDocument/2006/relationships/slide" Target="/ppt/slides/slide76.xml" Id="Ra7704c40d0b04575" /><Relationship Type="http://schemas.openxmlformats.org/officeDocument/2006/relationships/slide" Target="/ppt/slides/slide77.xml" Id="Rb2e836c6f2814ad2" /><Relationship Type="http://schemas.openxmlformats.org/officeDocument/2006/relationships/slide" Target="/ppt/slides/slide78.xml" Id="Rcf320902b30b4bb6" /><Relationship Type="http://schemas.openxmlformats.org/officeDocument/2006/relationships/slide" Target="/ppt/slides/slide79.xml" Id="R1cf0498c99be4830" /><Relationship Type="http://schemas.openxmlformats.org/officeDocument/2006/relationships/slide" Target="/ppt/slides/slide80.xml" Id="Rd9ae9dacd9404c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896518453d1414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7744bcbeacd42d2" /><Relationship Type="http://schemas.openxmlformats.org/officeDocument/2006/relationships/notesMaster" Target="/ppt/notesMasters/notesMaster1.xml" Id="R1930f15b278a4d25" /></Relationships>
</file>

<file path=ppt/notesSlides/_rels/notesSlide2.xml.rels>&#65279;<?xml version="1.0" encoding="utf-8"?><Relationships xmlns="http://schemas.openxmlformats.org/package/2006/relationships"><Relationship Type="http://schemas.openxmlformats.org/officeDocument/2006/relationships/slide" Target="/ppt/slides/slide2.xml" Id="Rce6b3a1b7c814e6e" /><Relationship Type="http://schemas.openxmlformats.org/officeDocument/2006/relationships/notesMaster" Target="/ppt/notesMasters/notesMaster1.xml" Id="Rd70cebd3aa8d4abb"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fb64a31d214fc7" /><Relationship Type="http://schemas.openxmlformats.org/officeDocument/2006/relationships/notesMaster" Target="/ppt/notesMasters/notesMaster1.xml" Id="R429482c56b8b4361"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e436375c0d4ffd" /><Relationship Type="http://schemas.openxmlformats.org/officeDocument/2006/relationships/notesMaster" Target="/ppt/notesMasters/notesMaster1.xml" Id="R0a1e67b7fb13456a" /></Relationships>
</file>

<file path=ppt/notesSlides/_rels/notesSlide5.xml.rels>&#65279;<?xml version="1.0" encoding="utf-8"?><Relationships xmlns="http://schemas.openxmlformats.org/package/2006/relationships"><Relationship Type="http://schemas.openxmlformats.org/officeDocument/2006/relationships/slide" Target="/ppt/slides/slide5.xml" Id="R20d3b013c81d4bde" /><Relationship Type="http://schemas.openxmlformats.org/officeDocument/2006/relationships/notesMaster" Target="/ppt/notesMasters/notesMaster1.xml" Id="Re25673f619e348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f336c776897c4e30" /><Relationship Type="http://schemas.openxmlformats.org/officeDocument/2006/relationships/notesMaster" Target="/ppt/notesMasters/notesMaster1.xml" Id="R03139993cd7e4b6f" /></Relationships>
</file>

<file path=ppt/notesSlides/_rels/notesSlide7.xml.rels>&#65279;<?xml version="1.0" encoding="utf-8"?><Relationships xmlns="http://schemas.openxmlformats.org/package/2006/relationships"><Relationship Type="http://schemas.openxmlformats.org/officeDocument/2006/relationships/slide" Target="/ppt/slides/slide7.xml" Id="R6b8646c8f51b412f" /><Relationship Type="http://schemas.openxmlformats.org/officeDocument/2006/relationships/notesMaster" Target="/ppt/notesMasters/notesMaster1.xml" Id="R50576a692b7c4322" /></Relationships>
</file>

<file path=ppt/notesSlides/_rels/notesSlide8.xml.rels>&#65279;<?xml version="1.0" encoding="utf-8"?><Relationships xmlns="http://schemas.openxmlformats.org/package/2006/relationships"><Relationship Type="http://schemas.openxmlformats.org/officeDocument/2006/relationships/slide" Target="/ppt/slides/slide8.xml" Id="Rce05185b644c4ed9" /><Relationship Type="http://schemas.openxmlformats.org/officeDocument/2006/relationships/notesMaster" Target="/ppt/notesMasters/notesMaster1.xml" Id="Re8e08d58fae44e7f" /></Relationships>
</file>

<file path=ppt/notesSlides/_rels/notesSlide9.xml.rels>&#65279;<?xml version="1.0" encoding="utf-8"?><Relationships xmlns="http://schemas.openxmlformats.org/package/2006/relationships"><Relationship Type="http://schemas.openxmlformats.org/officeDocument/2006/relationships/slide" Target="/ppt/slides/slide9.xml" Id="R5f5836117be9479a" /><Relationship Type="http://schemas.openxmlformats.org/officeDocument/2006/relationships/notesMaster" Target="/ppt/notesMasters/notesMaster1.xml" Id="R78dc7edfce9e4ea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ce9ff5281354b56" /><Relationship Type="http://schemas.openxmlformats.org/officeDocument/2006/relationships/notesMaster" Target="/ppt/notesMasters/notesMaster1.xml" Id="R9f27756cbb3f4db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b69486780544de2" /><Relationship Type="http://schemas.openxmlformats.org/officeDocument/2006/relationships/notesMaster" Target="/ppt/notesMasters/notesMaster1.xml" Id="R1564c7192ec34b5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b236be3bf9b4b31" /><Relationship Type="http://schemas.openxmlformats.org/officeDocument/2006/relationships/notesMaster" Target="/ppt/notesMasters/notesMaster1.xml" Id="R8f411e908e7549c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24e5c2ee2944ef5" /><Relationship Type="http://schemas.openxmlformats.org/officeDocument/2006/relationships/notesMaster" Target="/ppt/notesMasters/notesMaster1.xml" Id="Rf17b7adbb8d341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e32deffc9f54de9" /><Relationship Type="http://schemas.openxmlformats.org/officeDocument/2006/relationships/notesMaster" Target="/ppt/notesMasters/notesMaster1.xml" Id="Rcf7fd0ada4ff41f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66017650ba24c81" /><Relationship Type="http://schemas.openxmlformats.org/officeDocument/2006/relationships/notesMaster" Target="/ppt/notesMasters/notesMaster1.xml" Id="Ra4c63189ab5a480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326b76b0e14423a" /><Relationship Type="http://schemas.openxmlformats.org/officeDocument/2006/relationships/notesMaster" Target="/ppt/notesMasters/notesMaster1.xml" Id="Rf9d8c4b5a08b485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5f0dab3b4a5482a" /><Relationship Type="http://schemas.openxmlformats.org/officeDocument/2006/relationships/notesMaster" Target="/ppt/notesMasters/notesMaster1.xml" Id="R3edf7bf39997444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90619472ee84109" /><Relationship Type="http://schemas.openxmlformats.org/officeDocument/2006/relationships/notesMaster" Target="/ppt/notesMasters/notesMaster1.xml" Id="R3740a06aa776422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c9e2a965fa94eba" /><Relationship Type="http://schemas.openxmlformats.org/officeDocument/2006/relationships/notesMaster" Target="/ppt/notesMasters/notesMaster1.xml" Id="R1d4cd679c0574ff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a0e51208b214149" /><Relationship Type="http://schemas.openxmlformats.org/officeDocument/2006/relationships/notesMaster" Target="/ppt/notesMasters/notesMaster1.xml" Id="Rc74db0734b4441c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2db5e4ae6c84f4b" /><Relationship Type="http://schemas.openxmlformats.org/officeDocument/2006/relationships/notesMaster" Target="/ppt/notesMasters/notesMaster1.xml" Id="R2b017c616742468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e17cd5288f9429f" /><Relationship Type="http://schemas.openxmlformats.org/officeDocument/2006/relationships/notesMaster" Target="/ppt/notesMasters/notesMaster1.xml" Id="R49fac5a649d94da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9ac1952e95448a4" /><Relationship Type="http://schemas.openxmlformats.org/officeDocument/2006/relationships/notesMaster" Target="/ppt/notesMasters/notesMaster1.xml" Id="R75607ab48d3d44e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0d1f26ea73544b8" /><Relationship Type="http://schemas.openxmlformats.org/officeDocument/2006/relationships/notesMaster" Target="/ppt/notesMasters/notesMaster1.xml" Id="Rf675be99fd6a4ce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f0d2a8b1b56452d" /><Relationship Type="http://schemas.openxmlformats.org/officeDocument/2006/relationships/notesMaster" Target="/ppt/notesMasters/notesMaster1.xml" Id="Rafb17a1997e94f6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fe899945c744236" /><Relationship Type="http://schemas.openxmlformats.org/officeDocument/2006/relationships/notesMaster" Target="/ppt/notesMasters/notesMaster1.xml" Id="R0bfcb114a3dd427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b9016a2f9144d08" /><Relationship Type="http://schemas.openxmlformats.org/officeDocument/2006/relationships/notesMaster" Target="/ppt/notesMasters/notesMaster1.xml" Id="R1dff894fa88044f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9a829da2d0d40b7" /><Relationship Type="http://schemas.openxmlformats.org/officeDocument/2006/relationships/notesMaster" Target="/ppt/notesMasters/notesMaster1.xml" Id="R23bb11e97b664aa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0ae21f7a07c4e51" /><Relationship Type="http://schemas.openxmlformats.org/officeDocument/2006/relationships/notesMaster" Target="/ppt/notesMasters/notesMaster1.xml" Id="R998fbe9a93da4f1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171ecfe982049cc" /><Relationship Type="http://schemas.openxmlformats.org/officeDocument/2006/relationships/notesMaster" Target="/ppt/notesMasters/notesMaster1.xml" Id="R234afc5e00884bf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c3a8f28ea414873" /><Relationship Type="http://schemas.openxmlformats.org/officeDocument/2006/relationships/notesMaster" Target="/ppt/notesMasters/notesMaster1.xml" Id="R78436ad8497e4e6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429396fa2a94ed9" /><Relationship Type="http://schemas.openxmlformats.org/officeDocument/2006/relationships/notesMaster" Target="/ppt/notesMasters/notesMaster1.xml" Id="Rbc1dcab244064fe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f9df7a4e6874eee" /><Relationship Type="http://schemas.openxmlformats.org/officeDocument/2006/relationships/notesMaster" Target="/ppt/notesMasters/notesMaster1.xml" Id="R5946e5f77a5d4fd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4c7f4bf56814002" /><Relationship Type="http://schemas.openxmlformats.org/officeDocument/2006/relationships/notesMaster" Target="/ppt/notesMasters/notesMaster1.xml" Id="R242a902221c04fe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a1d147879744550" /><Relationship Type="http://schemas.openxmlformats.org/officeDocument/2006/relationships/notesMaster" Target="/ppt/notesMasters/notesMaster1.xml" Id="R396051eff885484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aca6072cc314159" /><Relationship Type="http://schemas.openxmlformats.org/officeDocument/2006/relationships/notesMaster" Target="/ppt/notesMasters/notesMaster1.xml" Id="R19e627ef8abf48f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e603d2308eb41eb" /><Relationship Type="http://schemas.openxmlformats.org/officeDocument/2006/relationships/notesMaster" Target="/ppt/notesMasters/notesMaster1.xml" Id="R29b5c05cacc04c9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aa824d7da3348bf" /><Relationship Type="http://schemas.openxmlformats.org/officeDocument/2006/relationships/notesMaster" Target="/ppt/notesMasters/notesMaster1.xml" Id="R69b87ab23a114de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19e604d52254f18" /><Relationship Type="http://schemas.openxmlformats.org/officeDocument/2006/relationships/notesMaster" Target="/ppt/notesMasters/notesMaster1.xml" Id="R319838a9026b470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5d4829d74894b02" /><Relationship Type="http://schemas.openxmlformats.org/officeDocument/2006/relationships/notesMaster" Target="/ppt/notesMasters/notesMaster1.xml" Id="R8d5c27efd17f448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4d534d5612243a2" /><Relationship Type="http://schemas.openxmlformats.org/officeDocument/2006/relationships/notesMaster" Target="/ppt/notesMasters/notesMaster1.xml" Id="Rbaa843ed85df49b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7c763505481448a" /><Relationship Type="http://schemas.openxmlformats.org/officeDocument/2006/relationships/notesMaster" Target="/ppt/notesMasters/notesMaster1.xml" Id="R38a99c6c614a414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760c07c3c434eb9" /><Relationship Type="http://schemas.openxmlformats.org/officeDocument/2006/relationships/notesMaster" Target="/ppt/notesMasters/notesMaster1.xml" Id="R7fe8492a13ea4d1e"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08f43f2342145be" /><Relationship Type="http://schemas.openxmlformats.org/officeDocument/2006/relationships/notesMaster" Target="/ppt/notesMasters/notesMaster1.xml" Id="R229ac702b0544c6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cb8691ddc904520" /><Relationship Type="http://schemas.openxmlformats.org/officeDocument/2006/relationships/notesMaster" Target="/ppt/notesMasters/notesMaster1.xml" Id="R33be7739652242ff"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4c1dc2ef579492c" /><Relationship Type="http://schemas.openxmlformats.org/officeDocument/2006/relationships/notesMaster" Target="/ppt/notesMasters/notesMaster1.xml" Id="Rbf5c0dc4fca0443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9d852d13ff04703" /><Relationship Type="http://schemas.openxmlformats.org/officeDocument/2006/relationships/notesMaster" Target="/ppt/notesMasters/notesMaster1.xml" Id="R20c388270b48471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fb71cfff12c4706" /><Relationship Type="http://schemas.openxmlformats.org/officeDocument/2006/relationships/notesMaster" Target="/ppt/notesMasters/notesMaster1.xml" Id="R6a82a2812a9a4e7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243ee038c6b4528" /><Relationship Type="http://schemas.openxmlformats.org/officeDocument/2006/relationships/notesMaster" Target="/ppt/notesMasters/notesMaster1.xml" Id="R91b2a2268e4444c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1cd10f4123a4ecf" /><Relationship Type="http://schemas.openxmlformats.org/officeDocument/2006/relationships/notesMaster" Target="/ppt/notesMasters/notesMaster1.xml" Id="Rb105ce4ce148411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310c46cd73348c8" /><Relationship Type="http://schemas.openxmlformats.org/officeDocument/2006/relationships/notesMaster" Target="/ppt/notesMasters/notesMaster1.xml" Id="Rac765b106a01498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908ea463f8b84a32" /><Relationship Type="http://schemas.openxmlformats.org/officeDocument/2006/relationships/notesMaster" Target="/ppt/notesMasters/notesMaster1.xml" Id="R1cb221e7a9ac47e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02541b751df434a" /><Relationship Type="http://schemas.openxmlformats.org/officeDocument/2006/relationships/notesMaster" Target="/ppt/notesMasters/notesMaster1.xml" Id="Rb8c9146f25d543a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ef7ecc2e5334b05" /><Relationship Type="http://schemas.openxmlformats.org/officeDocument/2006/relationships/notesMaster" Target="/ppt/notesMasters/notesMaster1.xml" Id="R2e86991822aa49ac"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08436403ebcb4e0f" /><Relationship Type="http://schemas.openxmlformats.org/officeDocument/2006/relationships/notesMaster" Target="/ppt/notesMasters/notesMaster1.xml" Id="R3a03b40591d74f9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5720815aac74fff" /><Relationship Type="http://schemas.openxmlformats.org/officeDocument/2006/relationships/notesMaster" Target="/ppt/notesMasters/notesMaster1.xml" Id="R498a1fd0140f473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d9a69687a4d048fb" /><Relationship Type="http://schemas.openxmlformats.org/officeDocument/2006/relationships/notesMaster" Target="/ppt/notesMasters/notesMaster1.xml" Id="R185196379cd24e0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3bab5b839a2430e" /><Relationship Type="http://schemas.openxmlformats.org/officeDocument/2006/relationships/notesMaster" Target="/ppt/notesMasters/notesMaster1.xml" Id="R86f4a5940bb842d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dd6a917ec9974834" /><Relationship Type="http://schemas.openxmlformats.org/officeDocument/2006/relationships/notesMaster" Target="/ppt/notesMasters/notesMaster1.xml" Id="R4f698755dfc247c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a63ede66d7b47f6" /><Relationship Type="http://schemas.openxmlformats.org/officeDocument/2006/relationships/notesMaster" Target="/ppt/notesMasters/notesMaster1.xml" Id="R491a3c5c32a744e3"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909bfad542e4981" /><Relationship Type="http://schemas.openxmlformats.org/officeDocument/2006/relationships/notesMaster" Target="/ppt/notesMasters/notesMaster1.xml" Id="R37bd04db91f2408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bf723dc760d347be" /><Relationship Type="http://schemas.openxmlformats.org/officeDocument/2006/relationships/notesMaster" Target="/ppt/notesMasters/notesMaster1.xml" Id="R84430f32f7bf4d99"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34ff6fd24bd44d52" /><Relationship Type="http://schemas.openxmlformats.org/officeDocument/2006/relationships/notesMaster" Target="/ppt/notesMasters/notesMaster1.xml" Id="R44a5ea577b9f4415"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59867f674bb74864" /><Relationship Type="http://schemas.openxmlformats.org/officeDocument/2006/relationships/notesMaster" Target="/ppt/notesMasters/notesMaster1.xml" Id="R2d21597ca1d24c6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2a85eca1bbae4839" /><Relationship Type="http://schemas.openxmlformats.org/officeDocument/2006/relationships/notesMaster" Target="/ppt/notesMasters/notesMaster1.xml" Id="R720fd4f918fb472b"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b61a82246e54bd1" /><Relationship Type="http://schemas.openxmlformats.org/officeDocument/2006/relationships/notesMaster" Target="/ppt/notesMasters/notesMaster1.xml" Id="Rc9ae971201874a5d"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dfb747fc0474f8e" /><Relationship Type="http://schemas.openxmlformats.org/officeDocument/2006/relationships/notesMaster" Target="/ppt/notesMasters/notesMaster1.xml" Id="Rc7df2d93957e4f79"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ae48c6ff7cc49ca" /><Relationship Type="http://schemas.openxmlformats.org/officeDocument/2006/relationships/notesMaster" Target="/ppt/notesMasters/notesMaster1.xml" Id="R7aec3cfe55cc41aa"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b9e4a28aa12a48d4" /><Relationship Type="http://schemas.openxmlformats.org/officeDocument/2006/relationships/notesMaster" Target="/ppt/notesMasters/notesMaster1.xml" Id="R7db7f6b02fd94aa3"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fccca7946874378" /><Relationship Type="http://schemas.openxmlformats.org/officeDocument/2006/relationships/notesMaster" Target="/ppt/notesMasters/notesMaster1.xml" Id="Rb7151c53ca9c41f9"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89b08a7436c04988" /><Relationship Type="http://schemas.openxmlformats.org/officeDocument/2006/relationships/notesMaster" Target="/ppt/notesMasters/notesMaster1.xml" Id="R169bc36191af444e"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efff4387d9224a03" /><Relationship Type="http://schemas.openxmlformats.org/officeDocument/2006/relationships/notesMaster" Target="/ppt/notesMasters/notesMaster1.xml" Id="R41574c92a0494f96"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7cdeaa5e02c64dde" /><Relationship Type="http://schemas.openxmlformats.org/officeDocument/2006/relationships/notesMaster" Target="/ppt/notesMasters/notesMaster1.xml" Id="R48d13c1382bc45e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71608e503b9a4567" /><Relationship Type="http://schemas.openxmlformats.org/officeDocument/2006/relationships/notesMaster" Target="/ppt/notesMasters/notesMaster1.xml" Id="R93f143f7a1b64114"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aa895022650f4c2a" /><Relationship Type="http://schemas.openxmlformats.org/officeDocument/2006/relationships/notesMaster" Target="/ppt/notesMasters/notesMaster1.xml" Id="Rb0dec43be03f44da"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d0dbf5ffdd204f18" /><Relationship Type="http://schemas.openxmlformats.org/officeDocument/2006/relationships/notesMaster" Target="/ppt/notesMasters/notesMaster1.xml" Id="R6dcc784e377b4d7d"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6174b6ec5ca4db6" /><Relationship Type="http://schemas.openxmlformats.org/officeDocument/2006/relationships/notesMaster" Target="/ppt/notesMasters/notesMaster1.xml" Id="R5a53ef30da684b06"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3e1a0fc2b47f4adc" /><Relationship Type="http://schemas.openxmlformats.org/officeDocument/2006/relationships/notesMaster" Target="/ppt/notesMasters/notesMaster1.xml" Id="R592b1d28825244a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fbd50aaffa8e4e98" /><Relationship Type="http://schemas.openxmlformats.org/officeDocument/2006/relationships/notesMaster" Target="/ppt/notesMasters/notesMaster1.xml" Id="R7febf9bae94b4e09"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4bf30fb63aa64664" /><Relationship Type="http://schemas.openxmlformats.org/officeDocument/2006/relationships/notesMaster" Target="/ppt/notesMasters/notesMaster1.xml" Id="R1215fa07376345c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Wiley, 2010, cap. 1. https://doi.org/10.1002/9781119994374.ch1</a:t>
            </a:r>
          </a:p>
          <a:p xmlns:a="http://schemas.openxmlformats.org/drawingml/2006/main">
            <a:r>
              <a:t>Datos del docente tomados de la presentación de Planificación del repositorio.</a:t>
            </a:r>
          </a:p>
          <a:p xmlns:a="http://schemas.openxmlformats.org/drawingml/2006/main">
            <a:r>
              <a:t>Abrir con una aplicación: una calefacción debe decidir cuánta potencia aplicar a partir de lo que medimos. Antes de programarla necesitamos entender cómo traducir conceptos a números.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Orden docente solicitado: capítulos 1–3, 4, 5, 8 y 13. El capítulo 6 se cita en el diseño de pertenencias. Los capítulos 7 y 9 no son necesarios para la práctica inicial.</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Referencia: T. J. Ross, Fuzzy Logic with Engineering Applications, 3.ª ed., capítulo 1. La lógica clásica es bivalente. La cita atribuida a Aristóteles se presenta como paráfrasis. La precisión exigida debe adaptarse al problema. Transición: para representar la imprecisión del lenguaje, transformaremos conceptos vagos en grados de pertenencia.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Wiley, 2010, cap. 1. https://doi.org/10.1002/9781119994374.ch1</a:t>
            </a:r>
          </a:p>
          <a:p xmlns:a="http://schemas.openxmlformats.org/drawingml/2006/main">
            <a:r>
              <a:t>Se elimina el ejemplo «en unos minutos» a petición del docente. «Aproximadamente 2 minutos» se usa explícitamente para representar el concepto fuzzy; decir exactamente 2 minutos no introduce por sí solo pertenencia gradual. La función triangular elegida es ilustrativa: μ(t)=max(0,1−|t−2|), para t en minutos. Los términos vago y fuzzy se usan aquí según la distinción didáctica del texto, no como taxonomía universal.</a:t>
            </a:r>
          </a:p>
          <a:p xmlns:a="http://schemas.openxmlformats.org/drawingml/2006/main">
            <a:r>
              <a:t/>
            </a:r>
          </a:p>
          <a:p xmlns:a="http://schemas.openxmlformats.org/drawingml/2006/main">
            <a:r>
              <a:t/>
            </a:r>
          </a:p>
          <a:p xmlns:a="http://schemas.openxmlformats.org/drawingml/2006/main">
            <a:r>
              <a:t>Después: la altura permite contrastar una frontera crisp con una gradual.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 con estaturas expresadas en metros. No se propone una definición demográfica universal de estatura media. Conjunto crisp A=[1,70;1,80]: χA(x)=1 dentro del intervalo cerrado y 0 fuera. La gráfica usa un cambio muy próximo a cada extremo (0,00001 m) únicamente para renderizar el salto con líneas de un gráfico editable; la definición exacta está escrita en la diapositiva. Conjunto fuzzy triangular con a=1,60, b=1,75, c=1,90: μ=0 fuera de [a,c], μ=(x−a)/(b−a) entre a y b y μ=(c−x)/(c−b) entre b y c. A 1,65 m, μ=1/3. Ambos conjuntos alcanzan 1 en 1,75 m. La pertenencia no es una probabilidad. Referencia conceptual: Ross, Fuzzy Logic with Engineering Applications, 3.ª ed., capítulos 1 y 2.</a:t>
            </a:r>
          </a:p>
          <a:p xmlns:a="http://schemas.openxmlformats.org/drawingml/2006/main">
            <a:r>
              <a:t/>
            </a:r>
          </a:p>
          <a:p xmlns:a="http://schemas.openxmlformats.org/drawingml/2006/main">
            <a:r>
              <a:t/>
            </a:r>
          </a:p>
          <a:p xmlns:a="http://schemas.openxmlformats.org/drawingml/2006/main">
            <a:r>
              <a:t>Después: una medida puede activar varias etiquetas con grados distintos.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Wiley, 2010, cap. 1. https://doi.org/10.1002/9781119994374.ch1</a:t>
            </a:r>
          </a:p>
          <a:p xmlns:a="http://schemas.openxmlformats.org/drawingml/2006/main">
            <a:r>
              <a:t>Zadeh introdujo los conjuntos difusos en 1965. Las funciones de esta diapositiva son una elección didáctica, no una clasificación universal de temperaturas. Fría decrece de 1 a 0 entre 16 y 22 °C. Templada forma un triángulo con vértices 16, 22 y 28 °C. Caliente crece de 0 a 1 entre 22 y 28 °C. En 25 °C, templada y caliente tienen pertenencia 0,5. Las pertenencias no tienen que sumar 1 en general.</a:t>
            </a:r>
          </a:p>
          <a:p xmlns:a="http://schemas.openxmlformats.org/drawingml/2006/main">
            <a:r>
              <a:t/>
            </a:r>
          </a:p>
          <a:p xmlns:a="http://schemas.openxmlformats.org/drawingml/2006/main">
            <a:r>
              <a:t/>
            </a:r>
          </a:p>
          <a:p xmlns:a="http://schemas.openxmlformats.org/drawingml/2006/main">
            <a:r>
              <a:t>Después: resumimos varios grados en un perfil geométrico dentro de un cubo.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propio solicitado por el docente: tres conjuntos distintos A=altos, D=guapos y M=jóvenes definidos sobre un mismo universo de personas; fijamos una persona Ana y representamos el vector (muA(Ana),muD(Ana),muM(Ana)). Cada eje mide un concepto diferente. Este punto es un perfil de pertenencias, no un subconjunto de personas. En la formulación original de Ross, Sets as Points in Hypercubes, las coordenadas son las pertenencias de distintos elementos de un universo fijo a un mismo conjunto: esa formulación también es correcta, pero no es la que muestra ahora esta diapositiva. En ambos casos cada coordenada vive en[0,1]; los perfiles binarios son los8vértices. El cubo es el espacio de perfiles posibles sin imponer restricciones entre conceptos, no una afirmación de independencia probabilística ni de que todos los perfiles aparezcan en una población real. Con complemento estándar1-mu, el centro expresa máxima difusidad componente a componente. No confundir pertenencia1 con difusidadmáxima. No hay condición de suma1.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Fuente: Timothy J. Ross, Fuzzy Logic with Engineering Applications, 3.ª edición, cap. 1, Chance versus Fuzziness, pp. 16–17; ejemplo atribuido en el libro a Bezdek (1993). https://doi.org/10.1002/9781119994374.ch1</a:t>
            </a:r>
          </a:p>
          <a:p xmlns:a="http://schemas.openxmlformats.org/drawingml/2006/main">
            <a:r>
              <a:t>Adaptación docente: en A se suponen dos estados exhaustivos (sano/envenenado) con probabilidades 0,95 y 0,05. Un análisis ideal y concluyente resuelve esa incertidumbre. En B el valor 0,95 mide la adecuación a una definición fijada de bueno, no la probabilidad de ausencia de veneno ni una proporción de ingredientes. No se puede recomendar beber uno u otro vaso a partir de esos números sin conocer el criterio de pertenencia y las condiciones de seguridad. El mensaje para el controlador: μcaliente(T)=0,8 expresa cuánto activa una medida el concepto caliente, no la probabilidad de que el sensor acierte. Pregunta para clase: ¿qué cambia en cada número al analizar el líquido?</a:t>
            </a:r>
          </a:p>
          <a:p xmlns:a="http://schemas.openxmlformats.org/drawingml/2006/main">
            <a:r>
              <a:t>Ilustración generada con ImageGen: dos vasos idénticos con líquido azul claro, fondo blanco, sin etiquetas, sin porcentajes ni capas de líquido; las diferencias explicativas son texto editable.</a:t>
            </a:r>
          </a:p>
          <a:p xmlns:a="http://schemas.openxmlformats.org/drawingml/2006/main">
            <a:r>
              <a:t/>
            </a:r>
          </a:p>
          <a:p xmlns:a="http://schemas.openxmlformats.org/drawingml/2006/main">
            <a:r>
              <a:t/>
            </a:r>
          </a:p>
          <a:p xmlns:a="http://schemas.openxmlformats.org/drawingml/2006/main">
            <a:r>
              <a:t>Después: situamos qué incertidumbre representa fuzzy y qué información necesita.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Fuzzy representa especialmente la vaguedad no aleatoria mediante grados de pertenencia. La probabilidad sirve para modelar aleatoriedad; ambos enfoques pueden combinarse. Las reglas permiten aprovechar conocimiento parcial, pero no crean información ausente. Referencias: Ross, 3.ª ed., capítulo1; Bellman y Zadeh (1970), Decision-Making in a Fuzzy Environment. Transición: ahora calcularemos pertenencias usando tres funciones típicas y las implementaremos en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Wang y Mendel (1992), Fuzzy basis functions, universal approximation, and orthogonal least-squares learning. https://sipi.usc.edu/~mendel/publications/Wang-Mendel%20OLS.pdf</a:t>
            </a:r>
          </a:p>
          <a:p xmlns:a="http://schemas.openxmlformats.org/drawingml/2006/main">
            <a:r>
              <a:t>Ejemplo Sugeno de orden cero con tres conjuntos sobre [0,1]: μB(x)=max(1−2x,0), μM(x)=max(1−2|x−0,5|,0), μA(x)=max(2x−1,0). Suman 1 en este dominio. Consecuentes cB=0, cM=0,25, cA=1. Salida ŷ=Σ μi(x)ci / Σ μi(x). En x=0,25 la salida es 0,125. El objetivo de la gráfica es mostrar la interpolación y su error frente a x².</a:t>
            </a:r>
          </a:p>
          <a:p xmlns:a="http://schemas.openxmlformats.org/drawingml/2006/main">
            <a:r>
              <a:t/>
            </a:r>
          </a:p>
          <a:p xmlns:a="http://schemas.openxmlformats.org/drawingml/2006/main">
            <a:r>
              <a:t/>
            </a:r>
          </a:p>
          <a:p xmlns:a="http://schemas.openxmlformats.org/drawingml/2006/main">
            <a:r>
              <a:t>Después: el objetivo en control es aproximar una relación que no conocemos explícitamente.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didáctico propio de Sugeno de orden cero. Una política ideal desconocida u=f(p1,…,pn) se aproxima con reglas. Se muestran dos reglas activas para una situación concreta, no una base completa de control. Para el error e en [0,4] °C, μMedio=max(0,1−|e−2|/2) y μGrande=max(0,min(1,(e−2)/2)); en e=3 ambos valen 0,5. Para el ritmo r en [0,1] °C/min, μLento=1−r; en r=0,2 vale 0,8. La conjunción usa mínimo: w1=w2=min(0,5;0,8)=0,5. Los consecuentes constantes 40 % y 90 % se combinan con media ponderada para obtener 65 %. Los parámetros y reglas son ilustrativos. Un controlador completo debe cubrir el resto del dominio. Fuente conceptual: Timothy J. Ross, Fuzzy Logic with Engineering Applications, 3.ª ed., capítulos 1, 5 y 13. https://doi.org/10.1002/9781119994374.ch1</a:t>
            </a:r>
          </a:p>
          <a:p xmlns:a="http://schemas.openxmlformats.org/drawingml/2006/main">
            <a:r>
              <a:t/>
            </a:r>
          </a:p>
          <a:p xmlns:a="http://schemas.openxmlformats.org/drawingml/2006/main">
            <a:r>
              <a:t/>
            </a:r>
          </a:p>
          <a:p xmlns:a="http://schemas.openxmlformats.org/drawingml/2006/main">
            <a:r>
              <a:t>Después: observamos cómo responde el sistema a pequeños cambios de entrada.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pp.90-91, figura4.1.</a:t>
            </a:r>
          </a:p>
          <a:p xmlns:a="http://schemas.openxmlformats.org/drawingml/2006/main">
            <a:r>
              <a:t>https://uml.iut.nsysu.edu.tw/ycchou/courses/113-1/FLC/Book/Fuzzy_Logic_with_Engineering_Applications_3rd_Edition.pdf</a:t>
            </a:r>
          </a:p>
          <a:p xmlns:a="http://schemas.openxmlformats.org/drawingml/2006/main">
            <a:r>
              <a:t>Redibujo propio del concepto de la figura4.1. Se sigue la convención de soporte mu&gt;0 del libro, sin tomar el cierre topológico. Los extremos2y8 tienen pertenencia0 y se excluyen.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pp.91-92.</a:t>
            </a:r>
          </a:p>
          <a:p xmlns:a="http://schemas.openxmlformats.org/drawingml/2006/main">
            <a:r>
              <a:t>https://uml.iut.nsysu.edu.tw/ycchou/courses/113-1/FLC/Book/Fuzzy_Logic_with_Engineering_Applications_3rd_Edition.pdf</a:t>
            </a:r>
          </a:p>
          <a:p xmlns:a="http://schemas.openxmlformats.org/drawingml/2006/main">
            <a:r>
              <a:t>El prototipo se usa aquí con la condición del libro: conjunto normal cuyo núcleo es un único punto. La altura de conjuntos generales se expresa con supremo si el máximo no se alcanza; aquí son funciones continuas sobre dominio compacto.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pp.91-92.</a:t>
            </a:r>
          </a:p>
          <a:p xmlns:a="http://schemas.openxmlformats.org/drawingml/2006/main">
            <a:r>
              <a:t>https://uml.iut.nsysu.edu.tw/ycchou/courses/113-1/FLC/Book/Fuzzy_Logic_with_Engineering_Applications_3rd_Edition.pdf</a:t>
            </a:r>
          </a:p>
          <a:p xmlns:a="http://schemas.openxmlformats.org/drawingml/2006/main">
            <a:r>
              <a:t>Convexidad fuzzy significa mu(lambda*x+(1-lambda)*y)&gt;=min(mu(x),mu(y)). No es la convexidad habitual de una función real. Normal y convexo son elecciones frecuentes para etiquetas sencillas, no requisitos universales del controlador. Unión max de normales conserva normalidad pero puede perder convexidad, como el gráfico derecho. Intersección y recorte pueden producir subnormalidad.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pp.93-94.</a:t>
            </a:r>
          </a:p>
          <a:p xmlns:a="http://schemas.openxmlformats.org/drawingml/2006/main">
            <a:r>
              <a:t>https://uml.iut.nsysu.edu.tw/ycchou/courses/113-1/FLC/Book/Fuzzy_Logic_with_Engineering_Applications_3rd_Edition.pdf</a:t>
            </a:r>
          </a:p>
          <a:p xmlns:a="http://schemas.openxmlformats.org/drawingml/2006/main">
            <a:r>
              <a:t>Método con entrada crisp de la figura4.7a. No es necesario convertir el sensor en una distribución difusa de errores. Mantener el ejemplo de25°C ya presentado para conectar significado con cálculo.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figuras4.6-4.7, pp.93-94.</a:t>
            </a:r>
          </a:p>
          <a:p xmlns:a="http://schemas.openxmlformats.org/drawingml/2006/main">
            <a:r>
              <a:t>https://uml.iut.nsysu.edu.tw/ycchou/courses/113-1/FLC/Book/Fuzzy_Logic_with_Engineering_Applications_3rd_Edition.pdf</a:t>
            </a:r>
          </a:p>
          <a:p xmlns:a="http://schemas.openxmlformats.org/drawingml/2006/main">
            <a:r>
              <a:t>Figura4.6 reinterpretada con lectura10V: los porcentajes son desviaciones relativas, no voltajes negativos. La figura4.7b compara la lectura fuzzy con medium voltage; el0.4es la altura de la intersección. No hay una comparación directa entre low=.3y medium=.4porque los dibujos son ejemplos distintos. El triángulo es una elección para representar imprecisión, no una densidad probabilística.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Implementaciones propias vectorizadas con NumPy. x debe ser un escalar numérico o un np.ndarray; para una lista, convertir con np.asarray(x,dtype=float). Los parámetros cumplen las condiciones indicadas: triangular a&lt;b&lt;c; trapezoidal a&lt;b&lt;=c&lt;d; sigma&gt;0. No se cubren hombros degenerados a=b o c=d porque producen división por cero en estas fórmulas. np.minimum toma el menor grado y np.clip limita el resultado a [0,1]; la gaussiana ya pertenece a (0,1]. Ejemplos de los gráficos: triangular(x,2,5,8), trapezoidal(x,1,3,7,9), gaussiana(x,5,1.3). La gaussiana no necesita un factor 1/(sigma*sqrt(2*pi)) porque aquí representa pertenencia, no densidad.</a:t>
            </a:r>
          </a:p>
          <a:p xmlns:a="http://schemas.openxmlformats.org/drawingml/2006/main">
            <a:r>
              <a:t/>
            </a:r>
          </a:p>
          <a:p xmlns:a="http://schemas.openxmlformats.org/drawingml/2006/main">
            <a:r>
              <a:t>Después: diseñad vuestras propias funciones para describir tiempos de fraguado.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pp.89-90 y98-110.</a:t>
            </a:r>
          </a:p>
          <a:p xmlns:a="http://schemas.openxmlformats.org/drawingml/2006/main">
            <a:r>
              <a:t>https://uml.iut.nsysu.edu.tw/ycchou/courses/113-1/FLC/Book/Fuzzy_Logic_with_Engineering_Applications_3rd_Edition.pdf</a:t>
            </a:r>
          </a:p>
          <a:p xmlns:a="http://schemas.openxmlformats.org/drawingml/2006/main">
            <a:r>
              <a:t>No todas las decisiones humanas son binarias. La motivación deRossse adapta al control: el sistema físico recibe un valor de mando concreto, aunque tenga interpretación continua.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Ross capítulo 4, Defuzzification to Scalars. Curva didáctica dada, no requiere haber visto inferencia. Está formada por la unión de dos triángulos recortados: (0,0),(25,1),(50,0) a 0.6, y (50,0),(75,1),(100,0) a 0.3. Se retomará en Mamdani. Para centro de sumas se explicita en su propia diapositiva el caso alternativo con solape.</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pp.99-107.</a:t>
            </a:r>
          </a:p>
          <a:p xmlns:a="http://schemas.openxmlformats.org/drawingml/2006/main">
            <a:r>
              <a:t>https://uml.iut.nsysu.edu.tw/ycchou/courses/113-1/FLC/Book/Fuzzy_Logic_with_Engineering_Applications_3rd_Edition.pdf</a:t>
            </a:r>
          </a:p>
          <a:p xmlns:a="http://schemas.openxmlformats.org/drawingml/2006/main">
            <a:r>
              <a:t>La lista corresponde a los siete métodos enumerados en Ross4, páginas99-107. Max membership principle, centroid, weighted average, mean max membership, center of sums, center of largest area, first or last of maxima. No se afirma que sean los únicos métodos posibles.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p.99, figura4.12.</a:t>
            </a:r>
          </a:p>
          <a:p xmlns:a="http://schemas.openxmlformats.org/drawingml/2006/main">
            <a:r>
              <a:t>https://uml.iut.nsysu.edu.tw/ycchou/courses/113-1/FLC/Book/Fuzzy_Logic_with_Engineering_Applications_3rd_Edition.pdf</a:t>
            </a:r>
          </a:p>
          <a:p xmlns:a="http://schemas.openxmlformats.org/drawingml/2006/main">
            <a:r>
              <a:t>Max membership principle o height method. En este ejemplo los máximos no son únicos. No asignamos arbitrariamente25como si fuera consecuencia del principio;25es una elección adicional, la media de máximos.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centroide, pp.98-110; cálculo docente propio.</a:t>
            </a:r>
          </a:p>
          <a:p xmlns:a="http://schemas.openxmlformats.org/drawingml/2006/main">
            <a:r>
              <a:t>https://uml.iut.nsysu.edu.tw/ycchou/courses/113-1/FLC/Book/Fuzzy_Logic_with_Engineering_Applications_3rd_Edition.pdf</a:t>
            </a:r>
          </a:p>
          <a:p xmlns:a="http://schemas.openxmlformats.org/drawingml/2006/main">
            <a:r>
              <a:t>Áreas exactas de triángulos recortados: ancho50,alpha.6=&gt;50*(.6-.6²/2)=21;alpha.3=&gt;12.75. No hay solape con área positiva, así que se pueden sumar momentos y áreas. El ejemplo no autoriza esa suma simple cuando los recortes se solapan: en ese caso se integra el máximo agregado.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Defuzzification to Scalars; adaptación numérica docente.</a:t>
            </a:r>
          </a:p>
          <a:p xmlns:a="http://schemas.openxmlformats.org/drawingml/2006/main">
            <a:r>
              <a:t>https://uml.iut.nsysu.edu.tw/ycchou/courses/113-1/FLC/Book/Fuzzy_Logic_with_Engineering_Applications_3rd_Edition.pdf</a:t>
            </a:r>
          </a:p>
          <a:p xmlns:a="http://schemas.openxmlformats.org/drawingml/2006/main">
            <a:r>
              <a:t>Ejemplo docente distinto del centroide anterior. La suma representa el centroide de un conjunto discreto; una malla uniforme puede aproximar una salida continua. En esta tabla los extremos tienen mu=0, así que el cociente trapezoidal coincide. Refinar la malla y comprobar convergencia. Para puntos no equidistantes se deben ponderar anchos o integrar.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centroide; implementación docente.</a:t>
            </a:r>
          </a:p>
          <a:p xmlns:a="http://schemas.openxmlformats.org/drawingml/2006/main">
            <a:r>
              <a:t>https://uml.iut.nsysu.edu.tw/ycchou/courses/113-1/FLC/Book/Fuzzy_Logic_with_Engineering_Applications_3rd_Edition.pdf</a:t>
            </a:r>
          </a:p>
          <a:p xmlns:a="http://schemas.openxmlformats.org/drawingml/2006/main">
            <a:r>
              <a:t>Código NumPy 2.x para arrays numéricos u y mu de igual longitud, con u estrictamente creciente, mu finita y no negativa. np.trapezoid aproxima ambas integrales. Lanzar error ayuda a detectar falta de cobertura durante desarrollo; en un sistema real se debe diseñar una respuesta de respaldo apropiada al proceso. No se adopta potencia 0 como valor universal de seguridad.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pp.99-100, figura4.14.</a:t>
            </a:r>
          </a:p>
          <a:p xmlns:a="http://schemas.openxmlformats.org/drawingml/2006/main">
            <a:r>
              <a:t>https://uml.iut.nsysu.edu.tw/ycchou/courses/113-1/FLC/Book/Fuzzy_Logic_with_Engineering_Applications_3rd_Edition.pdf</a:t>
            </a:r>
          </a:p>
          <a:p xmlns:a="http://schemas.openxmlformats.org/drawingml/2006/main">
            <a:r>
              <a:t>Weighted average de Ross. Se utilizan conjuntos simétricos y pesos dados por sus alturas. No es el centroide de la unión max: aquí da41.67frente43.89. Más adelante Sugeno tendrá una fórmula de media ponderada con consecuentes numéricos; distinguir ambos contextos.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p.100, figura4.15.</a:t>
            </a:r>
          </a:p>
          <a:p xmlns:a="http://schemas.openxmlformats.org/drawingml/2006/main">
            <a:r>
              <a:t>https://uml.iut.nsysu.edu.tw/ycchou/courses/113-1/FLC/Book/Fuzzy_Logic_with_Engineering_Applications_3rd_Edition.pdf</a:t>
            </a:r>
          </a:p>
          <a:p xmlns:a="http://schemas.openxmlformats.org/drawingml/2006/main">
            <a:r>
              <a:t>Ross llama mean max membership o middle-of-maxima a(a+b)/2. En una meseta continua coincide con el promedio de todos sus máximos. En conjuntos de máximos separados algunas bibliotecas diferencian middle-of-maxima del promedio de todas las muestras máximas; declarar la convención.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pp.105-106, figura4.28.</a:t>
            </a:r>
          </a:p>
          <a:p xmlns:a="http://schemas.openxmlformats.org/drawingml/2006/main">
            <a:r>
              <a:t>https://uml.iut.nsysu.edu.tw/ycchou/courses/113-1/FLC/Book/Fuzzy_Logic_with_Engineering_Applications_3rd_Edition.pdf</a:t>
            </a:r>
          </a:p>
          <a:p xmlns:a="http://schemas.openxmlformats.org/drawingml/2006/main">
            <a:r>
              <a:t>Center of sums. Ejemplo propio con triángulos(0,30,60)y(30,60,90), recortadosa0.6y0.3. Áreas25.2y15.3ycentros30y60. Suma de momentos1674, áreas40.5:41.3333. Solapeárea6.3,momento283.5. Unión:1390.5/34.2=40.6579. La suma puede exceder1en otros casos, no se trata como una unión fuzzy max.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p.106, figura4.29.</a:t>
            </a:r>
          </a:p>
          <a:p xmlns:a="http://schemas.openxmlformats.org/drawingml/2006/main">
            <a:r>
              <a:t>https://uml.iut.nsysu.edu.tw/ycchou/courses/113-1/FLC/Book/Fuzzy_Logic_with_Engineering_Applications_3rd_Edition.pdf</a:t>
            </a:r>
          </a:p>
          <a:p xmlns:a="http://schemas.openxmlformats.org/drawingml/2006/main">
            <a:r>
              <a:t>Center of largest area aplicado a dos regiones convexas con soportes sin solape positivo. En salidas conectadas no convexas hay que precisar la partición en subregiones; este ejemplo evita esa ambigüedad. No confundir escoger la región mayor con escoger siempre el conjunto original más alto.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pp.106-107, figura4.30.</a:t>
            </a:r>
          </a:p>
          <a:p xmlns:a="http://schemas.openxmlformats.org/drawingml/2006/main">
            <a:r>
              <a:t>https://uml.iut.nsysu.edu.tw/ycchou/courses/113-1/FLC/Book/Fuzzy_Logic_with_Engineering_Applications_3rd_Edition.pdf</a:t>
            </a:r>
          </a:p>
          <a:p xmlns:a="http://schemas.openxmlformats.org/drawingml/2006/main">
            <a:r>
              <a:t>First of maxima y last of maxima, también smallest/largest of maxima en algunas bibliotecas. Se muestran como las dos variantes del séptimo método de Ross.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métodos; cálculos docentes propios.</a:t>
            </a:r>
          </a:p>
          <a:p xmlns:a="http://schemas.openxmlformats.org/drawingml/2006/main">
            <a:r>
              <a:t>https://uml.iut.nsysu.edu.tw/ycchou/courses/113-1/FLC/Book/Fuzzy_Logic_with_Engineering_Applications_3rd_Edition.pdf</a:t>
            </a:r>
          </a:p>
          <a:p xmlns:a="http://schemas.openxmlformats.org/drawingml/2006/main">
            <a:r>
              <a:t>Resultados del ejemplo inicial: triángulos(0,25,50)y(50,75,100), recortes0.6y0.3. Centro de sumas coincide con centroide solo porque no hay solape con área positiva. La diapositiva anterior de centro de sumas empleó otro ejemplo para mostrar la diferencia con solape.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Summary, pp.110-111.</a:t>
            </a:r>
          </a:p>
          <a:p xmlns:a="http://schemas.openxmlformats.org/drawingml/2006/main">
            <a:r>
              <a:t>https://uml.iut.nsysu.edu.tw/ycchou/courses/113-1/FLC/Book/Fuzzy_Logic_with_Engineering_Applications_3rd_Edition.pdf</a:t>
            </a:r>
          </a:p>
          <a:p xmlns:a="http://schemas.openxmlformats.org/drawingml/2006/main">
            <a:r>
              <a:t>Ross recoge los criterios de Hellendoorn y Thomas(1993) en el resumen del capítulo4. Disambiguity se traduce aquí por unicidad o ausencia de ambigüedad. Plausibilidad reúne posición aproximadamente central y grado alto; no equivale a validez física ni a probabilidad. El quinto criterio compara formas de ponderar y no es una técnica adicional ni una escala con un ganador universal.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criterios1y2, p.111; cálculo docente.</a:t>
            </a:r>
          </a:p>
          <a:p xmlns:a="http://schemas.openxmlformats.org/drawingml/2006/main">
            <a:r>
              <a:t>https://uml.iut.nsysu.edu.tw/ycchou/courses/113-1/FLC/Book/Fuzzy_Logic_with_Engineering_Applications_3rd_Edition.pdf</a:t>
            </a:r>
          </a:p>
          <a:p xmlns:a="http://schemas.openxmlformats.org/drawingml/2006/main">
            <a:r>
              <a:t>Ejemplo docente de dos triángulos disjuntos de igual anchura, escalados a0.51y0.49. Áreas proporcionales a alturas; centroides49.4y50.6. En el empate, máximo y centro del área mayor no determinan un único valor sin convención. Primero/último pueden resolver la unicidad, pero no evitan necesariamente saltos. Continuidad del centroide exige variación regular de la salida y área positiva, suficientemente alejada de cero para buena sensibilidad.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criterio3, p.111.</a:t>
            </a:r>
          </a:p>
          <a:p xmlns:a="http://schemas.openxmlformats.org/drawingml/2006/main">
            <a:r>
              <a:t>https://uml.iut.nsysu.edu.tw/ycchou/courses/113-1/FLC/Book/Fuzzy_Logic_with_Engineering_Applications_3rd_Edition.pdf</a:t>
            </a:r>
          </a:p>
          <a:p xmlns:a="http://schemas.openxmlformats.org/drawingml/2006/main">
            <a:r>
              <a:t>Ejemplo docente simétrico con soportes(0,40)y(60,100). Centroide50y pertenencia0. Falla la parte de alta pertenencia del criterio de plausibilidad de Ross; no significa que todo centroide falle ni que una pertenencia baja haga físicamente imposible una acción. Si las regiones expresan alternativas incompatibles, no conviene promediarlas sin revisar reglas y restricciones. No interpretar el grado como probabilidad de éxito.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criterio5, p.111; ejemplo docente.</a:t>
            </a:r>
          </a:p>
          <a:p xmlns:a="http://schemas.openxmlformats.org/drawingml/2006/main">
            <a:r>
              <a:t>https://uml.iut.nsysu.edu.tw/ycchou/courses/113-1/FLC/Book/Fuzzy_Logic_with_Engineering_Applications_3rd_Edition.pdf</a:t>
            </a:r>
          </a:p>
          <a:p xmlns:a="http://schemas.openxmlformats.org/drawingml/2006/main">
            <a:r>
              <a:t>Quinto criterio, weighting method: forma de dar influencia a los conjuntos de salida. Ejemplo de dos triángulos escalados a0.8, centros20y70y bases20y60. Media ponderada por alturas45. Centro de sumas usa áreas8y24:57.5. Aquí el centroide de la unión coincide con centro de sumas porque no existe solape positivo. Con solape, centroide integra max y cuenta cada zona una vez; centro de sumas acumula las contribuciones de las reglas. No confundir este criterio con pesos de confianza de reglas ni con el método concreto weighted average.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Ross capítulo 4, resumen y cinco criterios. Mantiene la recomendación de centroide con sus límites, sin adelantar el mecanismo de Mamdani. Ningún método es universalmente superior.</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Ampliación docente sobre desdifusificación.</a:t>
            </a:r>
          </a:p>
          <a:p xmlns:a="http://schemas.openxmlformats.org/drawingml/2006/main">
            <a:r>
              <a:t>https://uml.iut.nsysu.edu.tw/ycchou/courses/113-1/FLC/Book/Fuzzy_Logic_with_Engineering_Applications_3rd_Edition.pdf</a:t>
            </a:r>
          </a:p>
          <a:p xmlns:a="http://schemas.openxmlformats.org/drawingml/2006/main">
            <a:r>
              <a:t>Bisector de la salida inicial. Hasta35eláreaes16.5. Resolver0.6d-d²/50=0.375 da d=(30-sqrt(825))/2 y u=35+d. Su valor difiere del centroide, que equilibra momentos. Cálculo docente.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y13; adaptación docente.</a:t>
            </a:r>
          </a:p>
          <a:p xmlns:a="http://schemas.openxmlformats.org/drawingml/2006/main">
            <a:r>
              <a:t>https://uml.iut.nsysu.edu.tw/ycchou/courses/113-1/FLC/Book/Fuzzy_Logic_with_Engineering_Applications_3rd_Edition.pdf</a:t>
            </a:r>
          </a:p>
          <a:p xmlns:a="http://schemas.openxmlformats.org/drawingml/2006/main">
            <a:r>
              <a:t>La regla es conocimiento del controlador. El antecedente usa conjuntos de las entradas. El consecuente describe una acción de salida. Una etiqueta de salida corresponde a un conjunto en Mamdani y puede ser una constante en Sugeno de orden cero. No confundir el grado de activación con la potencia física.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edición, sección Limitations of Fuzzy Systems, pp. 8–10. https://doi.org/10.1002/9781119994374.ch1</a:t>
            </a:r>
          </a:p>
          <a:p xmlns:a="http://schemas.openxmlformats.org/drawingml/2006/main">
            <a:r>
              <a:t>Ross caracteriza los sistemas fuzzy basados en reglas como principalmente deductivos: aplican conocimiento general a casos particulares. Las reglas pueden proceder de experiencia, datos o conocimiento físico. Cuando se generalizan observaciones para construirlas hay un componente inductivo; después se aplican deductivamente. La inferencia fuzzy es aproximada en su tratamiento de predicados graduales. El cálculo puede ser determinista sin garantizar que la base de reglas represente completamente el sistema real. La regla de calefacción es una ilustración cualitativa; la acción final depende también de las otras reglas activas y del método de inferencia.</a:t>
            </a:r>
          </a:p>
          <a:p xmlns:a="http://schemas.openxmlformats.org/drawingml/2006/main">
            <a:r>
              <a:t/>
            </a:r>
          </a:p>
          <a:p xmlns:a="http://schemas.openxmlformats.org/drawingml/2006/main">
            <a:r>
              <a:t/>
            </a:r>
          </a:p>
          <a:p xmlns:a="http://schemas.openxmlformats.org/drawingml/2006/main">
            <a:r>
              <a:t>Después: un ejemplo numérico muestra cómo las reglas producen una salida.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pp.131-139 y148-150.</a:t>
            </a:r>
          </a:p>
          <a:p xmlns:a="http://schemas.openxmlformats.org/drawingml/2006/main">
            <a:r>
              <a:t>https://uml.iut.nsysu.edu.tw/ycchou/courses/113-1/FLC/Book/Fuzzy_Logic_with_Engineering_Applications_3rd_Edition.pdf</a:t>
            </a:r>
          </a:p>
          <a:p xmlns:a="http://schemas.openxmlformats.org/drawingml/2006/main">
            <a:r>
              <a:t>Los operadores min/max/1-mu son estándar, no únicos. En crisp coinciden con AND/OR/NOT sobre0y1. El producto también es una t-norma: .6*.3=.18. No requiere interpretar los grados como probabilidades independientes. En el ejemplo térmico Sugeno se elegirá producto; en Mamdani y aterrizaje, mínimo.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Ross2, Alternative Fuzzy Set Operations, pp.40-41; ampliación docente.</a:t>
            </a:r>
          </a:p>
          <a:p xmlns:a="http://schemas.openxmlformats.org/drawingml/2006/main">
            <a:r>
              <a:t>https://uml.iut.nsysu.edu.tw/ycchou/courses/113-1/FLC/Book/Fuzzy_Logic_with_Engineering_Applications_3rd_Edition.pdf</a:t>
            </a:r>
          </a:p>
          <a:p xmlns:a="http://schemas.openxmlformats.org/drawingml/2006/main">
            <a:r>
              <a:t>Una t-norma es conmutativa, asociativa, no decreciente en cada argumento y tiene 1 como elemento neutro: T(a,1)=a. Por ello T(a,b) &lt;= min(a,b). No confundir norma triangular con función de pertenencia triangular. Ejemplos estándar añadidos como ampliación del apartado de Ross.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Ross2, Alternative Fuzzy Set Operations, pp.40-41; ampliación docente.</a:t>
            </a:r>
          </a:p>
          <a:p xmlns:a="http://schemas.openxmlformats.org/drawingml/2006/main">
            <a:r>
              <a:t>https://uml.iut.nsysu.edu.tw/ycchou/courses/113-1/FLC/Book/Fuzzy_Logic_with_Engineering_Applications_3rd_Edition.pdf</a:t>
            </a:r>
          </a:p>
          <a:p xmlns:a="http://schemas.openxmlformats.org/drawingml/2006/main">
            <a:r>
              <a:t>Una t-conorma es conmutativa, asociativa, no decreciente en cada argumento y tiene 0 como elemento neutro. Con complemento 1-a, los pares de estas tablas son duales: S(a,b)=1-T(1-a,1-b). No se exige independencia probabilística para aplicar el operador a pertenencias. No sumar sin acotar: podría superar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Curiosidad opcional antes de Mamdani. P y Q son proposiciones; R es la relación que representa P→Q, no una igualdad de objetos del mismo tipo. ¬A indica el complemento de A respecto de X. En clásico a,b∈{0,1}. AND=min, OR=max y complemento=1−a. La extensión fuzzy max(min(a,b),1−a) no equivale en general a max(1−a,b): a=0.7,b=0.9 produce 0.7 frente a 0.9. En Mamdani max-min, μR=min(a,b) representa la contribución de una regla, no el grado de verdad material de la implicación. Otros sistemas basados en reglas, como ASP, tienen otras semánticas. Fuente: Timothy J. Ross, Fuzzy Logic with Engineering Applications, 3.ª ed., capítulo 5, relación clásica, implicación fuzzy y Mamdani. https://uml.iut.nsysu.edu.tw/ycchou/courses/113-1/FLC/Book/Fuzzy_Logic_with_Engineering_Applications_3rd_Edition.pdf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pp.148-151, figuras5.10-5.11.</a:t>
            </a:r>
          </a:p>
          <a:p xmlns:a="http://schemas.openxmlformats.org/drawingml/2006/main">
            <a:r>
              <a:t>https://uml.iut.nsysu.edu.tw/ycchou/courses/113-1/FLC/Book/Fuzzy_Logic_with_Engineering_Applications_3rd_Edition.pdf</a:t>
            </a:r>
          </a:p>
          <a:p xmlns:a="http://schemas.openxmlformats.org/drawingml/2006/main">
            <a:r>
              <a:t>Configuración Mamdani max-min explícita. No confundir la operación AND de los antecedentes con la implicación que afecta al consecuente ni con la agregación entre reglas.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para los métodos de Ross4 y5.</a:t>
            </a:r>
          </a:p>
          <a:p xmlns:a="http://schemas.openxmlformats.org/drawingml/2006/main">
            <a:r>
              <a:t>https://uml.iut.nsysu.edu.tw/ycchou/courses/113-1/FLC/Book/Fuzzy_Logic_with_Engineering_Applications_3rd_Edition.pdf</a:t>
            </a:r>
          </a:p>
          <a:p xmlns:a="http://schemas.openxmlformats.org/drawingml/2006/main">
            <a:r>
              <a:t>Ejemplo Mamdani independiente del Sugeno térmico que programaremos. Se dan las activaciones como entrada del ejercicio, no se deducen de las pertenencias N/Z/P del caso térmico. Cada par de la fórmula indica(potencia,pertenencia). El objetivo es seguir recorte, agregación y elección de un escalar.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técnica de la figura5.10; datos docentes.</a:t>
            </a:r>
          </a:p>
          <a:p xmlns:a="http://schemas.openxmlformats.org/drawingml/2006/main">
            <a:r>
              <a:t>https://uml.iut.nsysu.edu.tw/ycchou/courses/113-1/FLC/Book/Fuzzy_Logic_with_Engineering_Applications_3rd_Edition.pdf</a:t>
            </a:r>
          </a:p>
          <a:p xmlns:a="http://schemas.openxmlformats.org/drawingml/2006/main">
            <a:r>
              <a:t>Ejemplo docente de inferencia con activaciones ya calculadas: alpha1=.6,alpha2=.3. Salidas triangulares Baja(0,25,50)yAlta(50,75,100). Las alturas de los trapecios son grados, no porcentajes de potencia. Se eligen soportes adyacentes sin solape para poder verificar las áreas a mano.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pp.91-92; Ross5, pp.148-150.</a:t>
            </a:r>
          </a:p>
          <a:p xmlns:a="http://schemas.openxmlformats.org/drawingml/2006/main">
            <a:r>
              <a:t>https://uml.iut.nsysu.edu.tw/ycchou/courses/113-1/FLC/Book/Fuzzy_Logic_with_Engineering_Applications_3rd_Edition.pdf</a:t>
            </a:r>
          </a:p>
          <a:p xmlns:a="http://schemas.openxmlformats.org/drawingml/2006/main">
            <a:r>
              <a:t>El recorte genera alturas menoresque1; la agregación max conserva el máximo de los recortes. La unión de conjuntos normales sísería normal; aquí unimos conjuntos previamente recortados. La salida agregada de este ejemplo tiene dos zonas separadas por mu=0en50.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Sugeno, pp.148-159.</a:t>
            </a:r>
          </a:p>
          <a:p xmlns:a="http://schemas.openxmlformats.org/drawingml/2006/main">
            <a:r>
              <a:t>https://uml.iut.nsysu.edu.tw/ycchou/courses/113-1/FLC/Book/Fuzzy_Logic_with_Engineering_Applications_3rd_Edition.pdf</a:t>
            </a:r>
          </a:p>
          <a:p xmlns:a="http://schemas.openxmlformats.org/drawingml/2006/main">
            <a:r>
              <a:t>Sugeno de orden0con constantes25y75y pesos.6,.3. No coincide necesariamente conMamdani aunque se usen los centros de las mismas etiquetas: las áreas de triángulos recortados no son proporcionales a alpha. Elegir Sugeno para el ejemplo programable reduce el código del cálculo de salida.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Ross capítulo 8, pp.245–255, Nonlinear Simulation Using Fuzzy Systems. Ejemplo lingüístico adaptado del proceso calor/presión de figura 8.6. Los modelos conocidos del libro sirven para ilustrar aproximación, no restringen la utilidad a funciones conocidas.</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Ross capítulo 8, Fuzzy Associative Memories, pp.255–256. Adaptación docente del formato FAM al caso térmico. El número de combinaciones de una tabla completa es el producto del número de etiquetas por entrada. No todas las bases requieren todas las combinaciones, pero hay que verificar cobertura. Aquí las etiquetas anticipan el mapa de consecuentes Sugeno: Muy baja=0, Baja=20, Media=60, Alta=100.</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Puente entre Ross capítulo 8 y capítulo 13, especialmente ejemplo 13.1 al final de p.445: construir la superficie de control no equivale a simular el proceso. El modelo de la planta puede ser físico, empírico o fuzzy. Un mapa estático entrada-salida no genera por sí solo una trayectoria temporal.</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Ross capítulo 13, pp.437–439, figura 13.1 original. r,y,e,u son nuestra notación docente, no nuevos bloques. Ejemplos de control abierto y cerrado dependen de si la salida medida interviene en la acción.</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Ross capítulo 13, pp.438–439 y 460–461. Regulación y seguimiento; los ejemplos de depósitos destacan que el seguimiento puede funcionar bien aunque un cambio de pérdidas requiera más reglas o adaptación. Métricas: tiempo de establecimiento, sobreimpulso, error y energía, pp.480–481.</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Ross capítulo 13, p.442, figura 13.2 original. La base de conocimiento almacena las particiones y funciones de pertenencia de entradas y salidas. La base de reglas expresa las relaciones lingüísticas. En Mamdani se agrega una salida fuzzy y se desdifusifica; en Sugeno la etapa de salida combina números o funciones.</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Ross capítulo 13, pp.439–441 y 455–457. u=Kp e + Ki integral(e) + Kd de/dt como referencia conceptual. El caso térmico docente no tiene un integrador de error; no debe presentarse como PID ni garantizar eliminación de error permanente. Con consigna constante de/dt=-dT/dt.</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Ross capítulo 13, Control (Decision) Surface, pp.440–446. Tabla numérica propia tomada del controlador Sugeno del ejemplo, e en °C y de/dt en °C/min. No se infiere ahorro energético del volumen de la superficie: la energía real depende de la trayectoria y la planta.</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Adaptación docente de las seis hipótesis de Ross capítulo 13, p.441. Observabilidad y controlabilidad tienen definiciones formales más fuertes que poder medir y actuar; aquí se presentan como comprobaciones prácticas, no como pruebas matemáticas. Se conserva existencia de solución, conocimiento, precisión aceptable y objetivo suficiente. No se universaliza la afirmación histórica de que la estabilidad es un problema abierto: en esta práctica se evalúa y no se promete por usar fuzzy.</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Ross capítulo 13, pp.441–442, nueve pasos del diseño de un controlador fuzzy simple. La agrupación diseño previo/ejecución es docente; no altera el listado. La desdifusificación es el paso 9 de Mamdani; en Sugeno se realiza combinación ponderada. La acción y nueva medida cierran el sistema físico.</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Ross capítulo 13, ejemplos 13.3–13.6 y problema 13.10 usan distintas convenciones de variación y referencia de salida. Una Δu referida al equilibrio no equivale necesariamente a un incremento acumulado sobre la acción anterior. Esta diapositiva distingue de forma explícita el diseño absoluto del incremental acumulativo para evitar confundirlos. Ejemplo térmico: 0≤u≤100 %.</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2010.</a:t>
            </a:r>
          </a:p>
          <a:p xmlns:a="http://schemas.openxmlformats.org/drawingml/2006/main">
            <a:r>
              <a:t>Ross capítulo 13, pp.458–461, dead band del depósito y efecto del movimiento del líquido sobre medidas y derivada. Δt=0.1 min es elección del ejemplo térmico, no receta general. Una zona de pertenencia Cero no garantiza por sí sola acción cero: depende de consecuentes y reglas. El ejemplo programado usa triángulo Cero, sin imponer banda muerta.</a:t>
            </a:r>
          </a:p>
          <a:p xmlns:a="http://schemas.openxmlformats.org/drawingml/2006/main">
            <a:r>
              <a:t>Fuente local: ross3_alt.pdf.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Wiley, 2010, cap. 1. https://doi.org/10.1002/9781119994374.ch1</a:t>
            </a:r>
          </a:p>
          <a:p xmlns:a="http://schemas.openxmlformats.org/drawingml/2006/main">
            <a:r>
              <a:t>MathWorks, Analyze Absolute Stability of Fuzzy Controller. https://www.mathworks.com/help/fuzzy/analyze-absolute-stability-of-fuzzy-controller.html</a:t>
            </a:r>
          </a:p>
          <a:p xmlns:a="http://schemas.openxmlformats.org/drawingml/2006/main">
            <a:r>
              <a:t>La robustez que se introduce aquí es la baja sensibilidad de la acción ante pequeñas variaciones de entrada. En el ejemplo u=20+60e para e en [0,1] °C; las pertenencias solapadas permiten interpolar acciones. Un diseño adecuado requiere cobertura del dominio, pertenencias continuas y consecuentes compatibles. La continuidad de una ley estática no demuestra por sí sola estabilidad o robustez del lazo cerrado frente a toda incertidumbre.</a:t>
            </a:r>
          </a:p>
          <a:p xmlns:a="http://schemas.openxmlformats.org/drawingml/2006/main">
            <a:r>
              <a:t/>
            </a:r>
          </a:p>
          <a:p xmlns:a="http://schemas.openxmlformats.org/drawingml/2006/main">
            <a:r>
              <a:t/>
            </a:r>
          </a:p>
          <a:p xmlns:a="http://schemas.openxmlformats.org/drawingml/2006/main">
            <a:r>
              <a:t>Cierre: ya sabemos representar conceptos, calcular grados y combinar reglas para decidir una acción. El siguiente bloque desarrollará la arquitectura y el diseño completo del controlador.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propio inspirado en la arquitectura de Ross13.</a:t>
            </a:r>
          </a:p>
          <a:p xmlns:a="http://schemas.openxmlformats.org/drawingml/2006/main">
            <a:r>
              <a:t>https://uml.iut.nsysu.edu.tw/ycchou/courses/113-1/FLC/Book/Fuzzy_Logic_with_Engineering_Applications_3rd_Edition.pdf</a:t>
            </a:r>
          </a:p>
          <a:p xmlns:a="http://schemas.openxmlformats.org/drawingml/2006/main">
            <a:r>
              <a:t>Ilustración generada con IA para representar el proceso térmico. El sistema, parámetros y resultados del ejemplo son docentes, no una instalación real.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procedimiento de diseño, pp.439-442; ejemplo propio.</a:t>
            </a:r>
          </a:p>
          <a:p xmlns:a="http://schemas.openxmlformats.org/drawingml/2006/main">
            <a:r>
              <a:t>https://uml.iut.nsysu.edu.tw/ycchou/courses/113-1/FLC/Book/Fuzzy_Logic_with_Engineering_Applications_3rd_Edition.pdf</a:t>
            </a:r>
          </a:p>
          <a:p xmlns:a="http://schemas.openxmlformats.org/drawingml/2006/main">
            <a:r>
              <a:t>Se fija el objetivo y las condiciones antes de ajustar. No hay refrigeración activa. La banda±.2se evalúa temporalmente, no basta cumplirla en laúltima muestra. Potenciamáxima2kWpara calcular energíadelmodelo.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Cálculo explícito del instante manual. Consigna constante. La variación del error es opuesta a la variación de temperatura. No confundir0.2°C/mincon0.2°Cpor muestra.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normalización, pp.441-444; ejemplo propio.</a:t>
            </a:r>
          </a:p>
          <a:p xmlns:a="http://schemas.openxmlformats.org/drawingml/2006/main">
            <a:r>
              <a:t>https://uml.iut.nsysu.edu.tw/ycchou/courses/113-1/FLC/Book/Fuzzy_Logic_with_Engineering_Applications_3rd_Edition.pdf</a:t>
            </a:r>
          </a:p>
          <a:p xmlns:a="http://schemas.openxmlformats.org/drawingml/2006/main">
            <a:r>
              <a:t>Escalas docentes:4°Cy1°C/min. clip alintervalo[-1,1]. No son pertenencias: son coordenadasnormalizadas que seintroducenen lasfunciones. Ajustar escala cambia sensibilidad; hayque repetir pruebas.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Mismas tres funciones por entrada, con nombres físicos distintos: N/Z/P para error y Disminuye/Estable/Crece para tendencia. En ambos casos la función negativa tiene grado0en esta muestra. Colores de las tres curvas siguen el orden N/Z/P; la línea gris marca la coordenada evaluada.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propio según procedimiento de Ross13.</a:t>
            </a:r>
          </a:p>
          <a:p xmlns:a="http://schemas.openxmlformats.org/drawingml/2006/main">
            <a:r>
              <a:t>https://uml.iut.nsysu.edu.tw/ycchou/courses/113-1/FLC/Book/Fuzzy_Logic_with_Engineering_Applications_3rd_Edition.pdf</a:t>
            </a:r>
          </a:p>
          <a:p xmlns:a="http://schemas.openxmlformats.org/drawingml/2006/main">
            <a:r>
              <a:t>La tablatieneconsecuentes Sugenoorden0. EnT22,Ta18yplantadefinida,lapérdidaes.4°C/min;u20aporta.4°C/min. Esta compensación nominalnoeliminaelerrorantecualquier perturbación. Matriz código[[0,0,20],[0,20,60],[20,60,100]].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Sugeno; ejemplo propio.</a:t>
            </a:r>
          </a:p>
          <a:p xmlns:a="http://schemas.openxmlformats.org/drawingml/2006/main">
            <a:r>
              <a:t>https://uml.iut.nsysu.edu.tw/ycchou/courses/113-1/FLC/Book/Fuzzy_Logic_with_Engineering_Applications_3rd_Edition.pdf</a:t>
            </a:r>
          </a:p>
          <a:p xmlns:a="http://schemas.openxmlformats.org/drawingml/2006/main">
            <a:r>
              <a:t>Cálculo propio validado por elcódigodelasimulación. Se eligió productoenantecedentes y media ponderada; no se mezcla con la activaciónmínimo del ejemploMamdani. Las reglasdepesocero noaportan.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Mismos pesos y consecuentes de la tabla anterior. Las barras muestran aportaciones ponderadas, no grados de pertenencia ni cuatro órdenes simultáneas al calefactor. La suma de pesos vale1por la partición elegida, no por una ley general de fuzzy.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Modelo propio; metodología de simulación de Ross8y13.</a:t>
            </a:r>
          </a:p>
          <a:p xmlns:a="http://schemas.openxmlformats.org/drawingml/2006/main">
            <a:r>
              <a:t>https://uml.iut.nsysu.edu.tw/ycchou/courses/113-1/FLC/Book/Fuzzy_Logic_with_Engineering_Applications_3rd_Edition.pdf</a:t>
            </a:r>
          </a:p>
          <a:p xmlns:a="http://schemas.openxmlformats.org/drawingml/2006/main">
            <a:r>
              <a:t>Planta docente propia deprimerorden. Puede derivarse de capacidad térmica60kJ/K,pérdidas.1kW/Ky calefactor2kW. No incorpora retardos deactuación, radiación ni variaciones de capacidad. Las conclusiones del ensayo se limitan a estemodelo.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Un paso Euler explícito del modelo docente. Este instante usaT20yTa18conacción48. Derivada0.76°C/min y aumento0.076°Ctras6s. No interpretar los decimales de la simulación como resolución real de un sensor.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Siguiente error1.924 y variación(1.924-2)/.1=-.76. E=.481,D=-.76. Pesos .39444,.12456,.36556,.11544 para consecuentes0,20,20,60. Potencia16.7288. Cálculo verificado. Es un recorrido manual con condiciones ilustrativas; la simulación nominal completa siguiente comienza en18°C.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Implementación propia del ejemplo térmico.</a:t>
            </a:r>
          </a:p>
          <a:p xmlns:a="http://schemas.openxmlformats.org/drawingml/2006/main">
            <a:r>
              <a:t>https://uml.iut.nsysu.edu.tw/ycchou/courses/113-1/FLC/Book/Fuzzy_Logic_with_Engineering_Applications_3rd_Edition.pdf</a:t>
            </a:r>
          </a:p>
          <a:p xmlns:a="http://schemas.openxmlformats.org/drawingml/2006/main">
            <a:r>
              <a:t>Fragmento equivalente alcódigo ejecutado. Entradaescalares finitos. Controlar lapresenciadeNaNolecturasinválidas antesde llamar. np.outercombina pesoproducto; aquíla sumadepesoses1por la partición elegida.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propio; Ross8y13.</a:t>
            </a:r>
          </a:p>
          <a:p xmlns:a="http://schemas.openxmlformats.org/drawingml/2006/main">
            <a:r>
              <a:t>https://uml.iut.nsysu.edu.tw/ycchou/courses/113-1/FLC/Book/Fuzzy_Logic_with_Engineering_Applications_3rd_Edition.pdf</a:t>
            </a:r>
          </a:p>
          <a:p xmlns:a="http://schemas.openxmlformats.org/drawingml/2006/main">
            <a:r>
              <a:t>IntegraciónEulerexplícitaconpaso.1min. registro almacena tiempo, temperatura y potencia antes de actualizar. Enelcódigodecálculo se añade la muestra finalt60. ParaunensayoconruidosustituirTmedidaen elerror; para perturbacióncambiarTa. Comprobarconpasomáspequeñoque los resultadosno dependanexcesivamentedelaintegración.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Simulación propia reproducible.</a:t>
            </a:r>
          </a:p>
          <a:p xmlns:a="http://schemas.openxmlformats.org/drawingml/2006/main">
            <a:r>
              <a:t>https://uml.iut.nsysu.edu.tw/ycchou/courses/113-1/FLC/Book/Fuzzy_Logic_with_Engineering_Applications_3rd_Edition.pdf</a:t>
            </a:r>
          </a:p>
          <a:p xmlns:a="http://schemas.openxmlformats.org/drawingml/2006/main">
            <a:r>
              <a:t>Datos simulados:dt.1min,duración60min,Ta18,r22,T018. Los gráficos muestranuna muestra cada.5min; métricas calculadascon todas lasmuestras. uinicial60,no100; uconverge20. Elerrorfinalnominal es≈1.3e-5°C. No se debe interpretar comoprecisión realdeun sensor.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Simulación propia; rechazo deperturbaciones, Ross13.</a:t>
            </a:r>
          </a:p>
          <a:p xmlns:a="http://schemas.openxmlformats.org/drawingml/2006/main">
            <a:r>
              <a:t>https://uml.iut.nsysu.edu.tw/ycchou/courses/113-1/FLC/Book/Fuzzy_Logic_with_Engineering_Applications_3rd_Edition.pdf</a:t>
            </a:r>
          </a:p>
          <a:p xmlns:a="http://schemas.openxmlformats.org/drawingml/2006/main">
            <a:r>
              <a:t>Resultado simulado. La compensación20%depotenciaequilibraba elescenarioTa18; conTa16yde0se necesitau30paraT22, peroelcontroladorconerror0devuelve20. El equilibrioquedaaproximadamente21.333°C. Unaacciónintegral oajustebasadoenplantapodríareducirlo;no seintroducesincomprobación.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Simulación propia; conceptos de medida y control, Ross13.</a:t>
            </a:r>
          </a:p>
          <a:p xmlns:a="http://schemas.openxmlformats.org/drawingml/2006/main">
            <a:r>
              <a:t>https://uml.iut.nsysu.edu.tw/ycchou/courses/113-1/FLC/Book/Fuzzy_Logic_with_Engineering_Applications_3rd_Edition.pdf</a:t>
            </a:r>
          </a:p>
          <a:p xmlns:a="http://schemas.openxmlformats.org/drawingml/2006/main">
            <a:r>
              <a:t>Mismasemilla42yruido gaussianosigma.05°C aplicadoalamedida, no directamenteala planta. Curvas sonTreal simulada. Filtrado deT: Tf=.3Tmed+.7Tfprev; derivadafiltradaDf=.1D+.9Dfprev. Sinfiltroerrorfinal≈-.606°C;con filtro≈-.022°C. No generalizar: esunejemplodel efectoenesta 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Resultados propios; conexión con decisionesmultiobjetivo de Ross9.</a:t>
            </a:r>
          </a:p>
          <a:p xmlns:a="http://schemas.openxmlformats.org/drawingml/2006/main">
            <a:r>
              <a:t>https://uml.iut.nsysu.edu.tw/ycchou/courses/113-1/FLC/Book/Fuzzy_Logic_with_Engineering_Applications_3rd_Edition.pdf</a:t>
            </a:r>
          </a:p>
          <a:p xmlns:a="http://schemas.openxmlformats.org/drawingml/2006/main">
            <a:r>
              <a:t>IAE=integral|r-T|dt calculadoconpaso.1min. Energía=integral2kW*(u/100)dt/60. Máximonominalfuzzyde22pordebajo redondeado0. Encriteriopermanenciase exige quedar dentrohastaelfinalymínimo5minrestantes;nofinalizarúnicamenteporúltimamuestra.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Ross6 y13; guía práctica docente.</a:t>
            </a:r>
          </a:p>
          <a:p xmlns:a="http://schemas.openxmlformats.org/drawingml/2006/main">
            <a:r>
              <a:t>https://uml.iut.nsysu.edu.tw/ycchou/courses/113-1/FLC/Book/Fuzzy_Logic_with_Engineering_Applications_3rd_Edition.pdf</a:t>
            </a:r>
          </a:p>
          <a:p xmlns:a="http://schemas.openxmlformats.org/drawingml/2006/main">
            <a:r>
              <a:t>Estas son hipótesisdeajuste,no garantíasciegas. Verificardespuésdela modificaciónestabilidad, límites yotrosescenarios. Mantener unregistro deparámetrosyresultados. Laacciónintegralrequiereun diseñoaparte yprotecciónante saturación.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Síntesis docente de Ross4,5,6,8,9y13.</a:t>
            </a:r>
          </a:p>
          <a:p xmlns:a="http://schemas.openxmlformats.org/drawingml/2006/main">
            <a:r>
              <a:t>https://uml.iut.nsysu.edu.tw/ycchou/courses/113-1/FLC/Book/Fuzzy_Logic_with_Engineering_Applications_3rd_Edition.pdf</a:t>
            </a:r>
          </a:p>
          <a:p xmlns:a="http://schemas.openxmlformats.org/drawingml/2006/main">
            <a:r>
              <a:t>Guía docente para la práctica. No se exigeelcontroladortérmico concreto: sirve comoestructura de trabajo. Evitarinformesquese limitena enseñarcurvas sinexplicarvariables,escalas,criteriosyfallos.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 2010, tercera edición.</a:t>
            </a:r>
          </a:p>
          <a:p xmlns:a="http://schemas.openxmlformats.org/drawingml/2006/main">
            <a:r>
              <a:t>https://uml.iut.nsysu.edu.tw/ycchou/courses/113-1/FLC/Book/Fuzzy_Logic_with_Engineering_Applications_3rd_Edition.pdf</a:t>
            </a:r>
          </a:p>
          <a:p xmlns:a="http://schemas.openxmlformats.org/drawingml/2006/main">
            <a:r>
              <a:t>Referencia verificada en la portada y páginas legales del PDF local. Portada original reproducida del PDF, no generada con IA. Referencia: Ross, T. J. (2010). Fuzzy Logic with Engineering Applications (3rd ed.). John Wiley &amp; Sons. ISBN9780470743768. El caso térmico y sus simulaciones son una adaptación docente propia, no un ejercicio literal del libro.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10eadf6aa664e8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1ee198911a94422" /><Relationship Type="http://schemas.openxmlformats.org/officeDocument/2006/relationships/slideLayout" Target="/ppt/slideLayouts/slideLayout1.xml" Id="R9eb07e027ba545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eb07e027ba545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02ba2c388794e30" /><Relationship Type="http://schemas.openxmlformats.org/officeDocument/2006/relationships/notesSlide" Target="/ppt/notesSlides/notesSlide1.xml" Id="R18830d67bf14495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8f177caf3b54528" /><Relationship Type="http://schemas.openxmlformats.org/officeDocument/2006/relationships/notesSlide" Target="/ppt/notesSlides/notesSlide2.xml" Id="R69703efe549740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09f5aa5c0e04fb1" /><Relationship Type="http://schemas.openxmlformats.org/officeDocument/2006/relationships/notesSlide" Target="/ppt/notesSlides/notesSlide3.xml" Id="Ra1324805d40747c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3f89b2238694d52" /><Relationship Type="http://schemas.openxmlformats.org/officeDocument/2006/relationships/chart" Target="/ppt/slides/charts/chart1.xml" Id="Rf27f066ae84c4a72" /><Relationship Type="http://schemas.openxmlformats.org/officeDocument/2006/relationships/notesSlide" Target="/ppt/notesSlides/notesSlide4.xml" Id="R2abb4418b21d401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b2b356f660d41c6" /><Relationship Type="http://schemas.openxmlformats.org/officeDocument/2006/relationships/chart" Target="/ppt/slides/charts/chart2.xml" Id="R8bdd027a8134455b" /><Relationship Type="http://schemas.openxmlformats.org/officeDocument/2006/relationships/chart" Target="/ppt/slides/charts/chart3.xml" Id="R6c66d4fa991448cd" /><Relationship Type="http://schemas.openxmlformats.org/officeDocument/2006/relationships/notesSlide" Target="/ppt/notesSlides/notesSlide5.xml" Id="R778dcccb82e44f4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f9154931452428d" /><Relationship Type="http://schemas.openxmlformats.org/officeDocument/2006/relationships/chart" Target="/ppt/slides/charts/chart4.xml" Id="Rd257f574ef534966" /><Relationship Type="http://schemas.openxmlformats.org/officeDocument/2006/relationships/notesSlide" Target="/ppt/notesSlides/notesSlide6.xml" Id="Rf76ccf7c95f74b6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f2a553ff3714dde" /><Relationship Type="http://schemas.openxmlformats.org/officeDocument/2006/relationships/chart" Target="/ppt/slides/charts/chart5.xml" Id="Rffc4726eeadd4edb" /><Relationship Type="http://schemas.openxmlformats.org/officeDocument/2006/relationships/notesSlide" Target="/ppt/notesSlides/notesSlide7.xml" Id="R66531b710174409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76107295fa243ad" /><Relationship Type="http://schemas.openxmlformats.org/officeDocument/2006/relationships/image" Target="/ppt/media/image.png" Id="R4693286c62314277" /><Relationship Type="http://schemas.openxmlformats.org/officeDocument/2006/relationships/notesSlide" Target="/ppt/notesSlides/notesSlide8.xml" Id="R6ff613ee46fe43f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8ca0a8ad6bf431a" /><Relationship Type="http://schemas.openxmlformats.org/officeDocument/2006/relationships/notesSlide" Target="/ppt/notesSlides/notesSlide9.xml" Id="Rf512e41f96c84e5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26049c2417d48be" /><Relationship Type="http://schemas.openxmlformats.org/officeDocument/2006/relationships/chart" Target="/ppt/slides/charts/chart6.xml" Id="R4f68b7f0f16244d1" /><Relationship Type="http://schemas.openxmlformats.org/officeDocument/2006/relationships/chart" Target="/ppt/slides/charts/chart7.xml" Id="R9d97871956de4d49" /><Relationship Type="http://schemas.openxmlformats.org/officeDocument/2006/relationships/notesSlide" Target="/ppt/notesSlides/notesSlide10.xml" Id="R511155e90a4248c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f5b1cd16f874481" /><Relationship Type="http://schemas.openxmlformats.org/officeDocument/2006/relationships/notesSlide" Target="/ppt/notesSlides/notesSlide11.xml" Id="R217b6b87bcff48b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ac69678f9c94926" /><Relationship Type="http://schemas.openxmlformats.org/officeDocument/2006/relationships/chart" Target="/ppt/slides/charts/chart8.xml" Id="R2f123115368b4775" /><Relationship Type="http://schemas.openxmlformats.org/officeDocument/2006/relationships/notesSlide" Target="/ppt/notesSlides/notesSlide12.xml" Id="Ra8af28c525f0415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51344d9e65b4501" /><Relationship Type="http://schemas.openxmlformats.org/officeDocument/2006/relationships/chart" Target="/ppt/slides/charts/chart9.xml" Id="R7821b83fc2ae48a2" /><Relationship Type="http://schemas.openxmlformats.org/officeDocument/2006/relationships/notesSlide" Target="/ppt/notesSlides/notesSlide13.xml" Id="R5f1a0a957c2e4c6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d41791f203649e1" /><Relationship Type="http://schemas.openxmlformats.org/officeDocument/2006/relationships/chart" Target="/ppt/slides/charts/chart10.xml" Id="R6f02dd949b1b4313" /><Relationship Type="http://schemas.openxmlformats.org/officeDocument/2006/relationships/chart" Target="/ppt/slides/charts/chart11.xml" Id="Rdebf3705a4b84d53" /><Relationship Type="http://schemas.openxmlformats.org/officeDocument/2006/relationships/notesSlide" Target="/ppt/notesSlides/notesSlide14.xml" Id="R70ad46b97fe448b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61baf98f8144920" /><Relationship Type="http://schemas.openxmlformats.org/officeDocument/2006/relationships/chart" Target="/ppt/slides/charts/chart12.xml" Id="Rbf3d009262834f2c" /><Relationship Type="http://schemas.openxmlformats.org/officeDocument/2006/relationships/notesSlide" Target="/ppt/notesSlides/notesSlide15.xml" Id="Rd13f1e0a8d074e6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62fd611100b4b2a" /><Relationship Type="http://schemas.openxmlformats.org/officeDocument/2006/relationships/chart" Target="/ppt/slides/charts/chart13.xml" Id="R45068e19c1b74fdf" /><Relationship Type="http://schemas.openxmlformats.org/officeDocument/2006/relationships/notesSlide" Target="/ppt/notesSlides/notesSlide16.xml" Id="Rc127d927dc1b403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876dfe9895a4f11" /><Relationship Type="http://schemas.openxmlformats.org/officeDocument/2006/relationships/chart" Target="/ppt/slides/charts/chart14.xml" Id="R253ff4aef40046a1" /><Relationship Type="http://schemas.openxmlformats.org/officeDocument/2006/relationships/chart" Target="/ppt/slides/charts/chart15.xml" Id="R1971245daa7548cf" /><Relationship Type="http://schemas.openxmlformats.org/officeDocument/2006/relationships/chart" Target="/ppt/slides/charts/chart16.xml" Id="Raa1080cf2114406d" /><Relationship Type="http://schemas.openxmlformats.org/officeDocument/2006/relationships/notesSlide" Target="/ppt/notesSlides/notesSlide17.xml" Id="Rf3f705482707462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3e6072dc0144852" /><Relationship Type="http://schemas.openxmlformats.org/officeDocument/2006/relationships/notesSlide" Target="/ppt/notesSlides/notesSlide18.xml" Id="Ref5294a02fd04e0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f42f40b018f4d5c" /><Relationship Type="http://schemas.openxmlformats.org/officeDocument/2006/relationships/chart" Target="/ppt/slides/charts/chart17.xml" Id="Recf191c08f474b7d" /><Relationship Type="http://schemas.openxmlformats.org/officeDocument/2006/relationships/notesSlide" Target="/ppt/notesSlides/notesSlide19.xml" Id="R97384fc64ef547b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e438aad68544e00" /><Relationship Type="http://schemas.openxmlformats.org/officeDocument/2006/relationships/notesSlide" Target="/ppt/notesSlides/notesSlide20.xml" Id="R6539f4e96227420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40a8180345f47ad" /><Relationship Type="http://schemas.openxmlformats.org/officeDocument/2006/relationships/chart" Target="/ppt/slides/charts/chart18.xml" Id="R7116e8b298db4466" /><Relationship Type="http://schemas.openxmlformats.org/officeDocument/2006/relationships/notesSlide" Target="/ppt/notesSlides/notesSlide21.xml" Id="Rc9e9017e878f411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0f4df2fb5d94660" /><Relationship Type="http://schemas.openxmlformats.org/officeDocument/2006/relationships/chart" Target="/ppt/slides/charts/chart19.xml" Id="Rdf7be50113274bf3" /><Relationship Type="http://schemas.openxmlformats.org/officeDocument/2006/relationships/notesSlide" Target="/ppt/notesSlides/notesSlide22.xml" Id="R21a699b249344cd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b16f72390ae4182" /><Relationship Type="http://schemas.openxmlformats.org/officeDocument/2006/relationships/notesSlide" Target="/ppt/notesSlides/notesSlide23.xml" Id="R907bfe2f3f6a432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97b727c21784359" /><Relationship Type="http://schemas.openxmlformats.org/officeDocument/2006/relationships/notesSlide" Target="/ppt/notesSlides/notesSlide24.xml" Id="R56b334e6d7014b0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18d3f681f2f4269" /><Relationship Type="http://schemas.openxmlformats.org/officeDocument/2006/relationships/chart" Target="/ppt/slides/charts/chart20.xml" Id="R28ff7dff198147da" /><Relationship Type="http://schemas.openxmlformats.org/officeDocument/2006/relationships/notesSlide" Target="/ppt/notesSlides/notesSlide25.xml" Id="R27e2062bfcf8434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380ba09ec464e93" /><Relationship Type="http://schemas.openxmlformats.org/officeDocument/2006/relationships/chart" Target="/ppt/slides/charts/chart21.xml" Id="Rfc232a2eacac436e" /><Relationship Type="http://schemas.openxmlformats.org/officeDocument/2006/relationships/notesSlide" Target="/ppt/notesSlides/notesSlide26.xml" Id="R575de53fef30471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9bc26aca5d04904" /><Relationship Type="http://schemas.openxmlformats.org/officeDocument/2006/relationships/chart" Target="/ppt/slides/charts/chart22.xml" Id="R01768ae4f5b94ecb" /><Relationship Type="http://schemas.openxmlformats.org/officeDocument/2006/relationships/notesSlide" Target="/ppt/notesSlides/notesSlide27.xml" Id="R3ecf9fdc81734cf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efcce144669450b" /><Relationship Type="http://schemas.openxmlformats.org/officeDocument/2006/relationships/chart" Target="/ppt/slides/charts/chart23.xml" Id="R84327a7e5d2f48be" /><Relationship Type="http://schemas.openxmlformats.org/officeDocument/2006/relationships/notesSlide" Target="/ppt/notesSlides/notesSlide28.xml" Id="R4b0156d0dd19438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b6a083841b74b66" /><Relationship Type="http://schemas.openxmlformats.org/officeDocument/2006/relationships/chart" Target="/ppt/slides/charts/chart24.xml" Id="R6af0b27f5df9461b" /><Relationship Type="http://schemas.openxmlformats.org/officeDocument/2006/relationships/notesSlide" Target="/ppt/notesSlides/notesSlide29.xml" Id="Rb24fe44605844f3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00ad227f4e14da5" /><Relationship Type="http://schemas.openxmlformats.org/officeDocument/2006/relationships/notesSlide" Target="/ppt/notesSlides/notesSlide30.xml" Id="R63e9ff789770405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bb9dddc45194211" /><Relationship Type="http://schemas.openxmlformats.org/officeDocument/2006/relationships/notesSlide" Target="/ppt/notesSlides/notesSlide31.xml" Id="R0c78753a41dc455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747f1ce8f364112" /><Relationship Type="http://schemas.openxmlformats.org/officeDocument/2006/relationships/chart" Target="/ppt/slides/charts/chart25.xml" Id="R3f30d9f365cc4306" /><Relationship Type="http://schemas.openxmlformats.org/officeDocument/2006/relationships/chart" Target="/ppt/slides/charts/chart26.xml" Id="R733ec62fa57341b0" /><Relationship Type="http://schemas.openxmlformats.org/officeDocument/2006/relationships/notesSlide" Target="/ppt/notesSlides/notesSlide32.xml" Id="R52bbcd65c699484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97c7ddc2d0f04ce8" /><Relationship Type="http://schemas.openxmlformats.org/officeDocument/2006/relationships/chart" Target="/ppt/slides/charts/chart27.xml" Id="R4308dd6575894aee" /><Relationship Type="http://schemas.openxmlformats.org/officeDocument/2006/relationships/notesSlide" Target="/ppt/notesSlides/notesSlide33.xml" Id="R2dcbfad48d1540a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a794b9d22ba4a1b" /><Relationship Type="http://schemas.openxmlformats.org/officeDocument/2006/relationships/chart" Target="/ppt/slides/charts/chart28.xml" Id="R844d679596f342a6" /><Relationship Type="http://schemas.openxmlformats.org/officeDocument/2006/relationships/notesSlide" Target="/ppt/notesSlides/notesSlide34.xml" Id="Rb1ebec14ca9e4e9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1426a74f6434f93" /><Relationship Type="http://schemas.openxmlformats.org/officeDocument/2006/relationships/notesSlide" Target="/ppt/notesSlides/notesSlide35.xml" Id="R4eaa318217f14a8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f5de3a161c6b4500" /><Relationship Type="http://schemas.openxmlformats.org/officeDocument/2006/relationships/chart" Target="/ppt/slides/charts/chart29.xml" Id="Re5cb06e6ba7d411f" /><Relationship Type="http://schemas.openxmlformats.org/officeDocument/2006/relationships/notesSlide" Target="/ppt/notesSlides/notesSlide36.xml" Id="R99e8b09478e0435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40e94b73c5f453a" /><Relationship Type="http://schemas.openxmlformats.org/officeDocument/2006/relationships/notesSlide" Target="/ppt/notesSlides/notesSlide37.xml" Id="R96dc0a1779dd49c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99ce4eed69534927" /><Relationship Type="http://schemas.openxmlformats.org/officeDocument/2006/relationships/notesSlide" Target="/ppt/notesSlides/notesSlide38.xml" Id="R82b2e5647ca44f1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e2a99df80154b27" /><Relationship Type="http://schemas.openxmlformats.org/officeDocument/2006/relationships/notesSlide" Target="/ppt/notesSlides/notesSlide39.xml" Id="Re6e7a3bd7cde4aed"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81804cfce7cf4fd4" /><Relationship Type="http://schemas.openxmlformats.org/officeDocument/2006/relationships/notesSlide" Target="/ppt/notesSlides/notesSlide40.xml" Id="Rfce2e32444064c0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4e962e019aa54d5d" /><Relationship Type="http://schemas.openxmlformats.org/officeDocument/2006/relationships/notesSlide" Target="/ppt/notesSlides/notesSlide41.xml" Id="R5a65becb26114df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b1fdd16c364b4f07" /><Relationship Type="http://schemas.openxmlformats.org/officeDocument/2006/relationships/notesSlide" Target="/ppt/notesSlides/notesSlide42.xml" Id="R8d32de843e5149f2"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580cd612d9db4cfb" /><Relationship Type="http://schemas.openxmlformats.org/officeDocument/2006/relationships/notesSlide" Target="/ppt/notesSlides/notesSlide43.xml" Id="R15e85baa109440c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d6960870a56a485f" /><Relationship Type="http://schemas.openxmlformats.org/officeDocument/2006/relationships/notesSlide" Target="/ppt/notesSlides/notesSlide44.xml" Id="R4e7fb59a972040b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afc2194ee1954fd2" /><Relationship Type="http://schemas.openxmlformats.org/officeDocument/2006/relationships/chart" Target="/ppt/slides/charts/chart30.xml" Id="R7445073f68a54944" /><Relationship Type="http://schemas.openxmlformats.org/officeDocument/2006/relationships/notesSlide" Target="/ppt/notesSlides/notesSlide45.xml" Id="Rd6a386967f594be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ed0ecbe487e64b55" /><Relationship Type="http://schemas.openxmlformats.org/officeDocument/2006/relationships/chart" Target="/ppt/slides/charts/chart31.xml" Id="R1c8a05e5201e4108" /><Relationship Type="http://schemas.openxmlformats.org/officeDocument/2006/relationships/notesSlide" Target="/ppt/notesSlides/notesSlide46.xml" Id="R90d4e7a85667424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e639b88afef64b9c" /><Relationship Type="http://schemas.openxmlformats.org/officeDocument/2006/relationships/notesSlide" Target="/ppt/notesSlides/notesSlide47.xml" Id="R8a8986c39e4946c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a50b642a18e744bd" /><Relationship Type="http://schemas.openxmlformats.org/officeDocument/2006/relationships/notesSlide" Target="/ppt/notesSlides/notesSlide48.xml" Id="R4869312af8c343a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386a0886b6cc4d4c" /><Relationship Type="http://schemas.openxmlformats.org/officeDocument/2006/relationships/notesSlide" Target="/ppt/notesSlides/notesSlide49.xml" Id="R2cddea8373d34f9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42a841dd6fb44460" /><Relationship Type="http://schemas.openxmlformats.org/officeDocument/2006/relationships/notesSlide" Target="/ppt/notesSlides/notesSlide50.xml" Id="R44cc69b5640646fa"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152015f9bb6946da" /><Relationship Type="http://schemas.openxmlformats.org/officeDocument/2006/relationships/image" Target="/ppt/media/image2.png" Id="R2b26ae5ca2944a8f" /><Relationship Type="http://schemas.openxmlformats.org/officeDocument/2006/relationships/notesSlide" Target="/ppt/notesSlides/notesSlide51.xml" Id="Rd3050c0db2b24d2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9f8fad145dce4dfb" /><Relationship Type="http://schemas.openxmlformats.org/officeDocument/2006/relationships/notesSlide" Target="/ppt/notesSlides/notesSlide52.xml" Id="R80a6db656be44bf1"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666fa276e9fa4b43" /><Relationship Type="http://schemas.openxmlformats.org/officeDocument/2006/relationships/image" Target="/ppt/media/image3.png" Id="R463e12edb47b43cc" /><Relationship Type="http://schemas.openxmlformats.org/officeDocument/2006/relationships/notesSlide" Target="/ppt/notesSlides/notesSlide53.xml" Id="Re121a8471b8b494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e718269184de47e3" /><Relationship Type="http://schemas.openxmlformats.org/officeDocument/2006/relationships/notesSlide" Target="/ppt/notesSlides/notesSlide54.xml" Id="Re1d579d0b3354a0d"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ef18c83c9e5d49a5" /><Relationship Type="http://schemas.openxmlformats.org/officeDocument/2006/relationships/notesSlide" Target="/ppt/notesSlides/notesSlide55.xml" Id="R7ee4489815c844f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8a19da4899744803" /><Relationship Type="http://schemas.openxmlformats.org/officeDocument/2006/relationships/notesSlide" Target="/ppt/notesSlides/notesSlide56.xml" Id="Ra15f30117e424c1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9afaa33786aa4923" /><Relationship Type="http://schemas.openxmlformats.org/officeDocument/2006/relationships/notesSlide" Target="/ppt/notesSlides/notesSlide57.xml" Id="R1782110b60584e2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1675e565e74e4f00" /><Relationship Type="http://schemas.openxmlformats.org/officeDocument/2006/relationships/notesSlide" Target="/ppt/notesSlides/notesSlide58.xml" Id="R19ef0fbee5e7490b"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e6ab7f0279834b19" /><Relationship Type="http://schemas.openxmlformats.org/officeDocument/2006/relationships/notesSlide" Target="/ppt/notesSlides/notesSlide59.xml" Id="Rb6ec8a9fa41f498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a1d2334cc934cef" /><Relationship Type="http://schemas.openxmlformats.org/officeDocument/2006/relationships/chart" Target="/ppt/slides/charts/chart32.xml" Id="R8c96d3dbd3ee47d9" /><Relationship Type="http://schemas.openxmlformats.org/officeDocument/2006/relationships/notesSlide" Target="/ppt/notesSlides/notesSlide60.xml" Id="Rf939ae30c91f4b84"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0ccf8b864efb48fc" /><Relationship Type="http://schemas.openxmlformats.org/officeDocument/2006/relationships/image" Target="/ppt/media/image4.png" Id="R57c092229a2b41a0" /><Relationship Type="http://schemas.openxmlformats.org/officeDocument/2006/relationships/notesSlide" Target="/ppt/notesSlides/notesSlide61.xml" Id="Re2272efb18fa4756"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16ac2584fbd84f9b" /><Relationship Type="http://schemas.openxmlformats.org/officeDocument/2006/relationships/notesSlide" Target="/ppt/notesSlides/notesSlide62.xml" Id="R55412beae9ef449e"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63582f9e97e14ba0" /><Relationship Type="http://schemas.openxmlformats.org/officeDocument/2006/relationships/notesSlide" Target="/ppt/notesSlides/notesSlide63.xml" Id="Rc4e1893ed9c8451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05047c9c21374e38" /><Relationship Type="http://schemas.openxmlformats.org/officeDocument/2006/relationships/notesSlide" Target="/ppt/notesSlides/notesSlide64.xml" Id="R9d81085ac72342b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ee779c80b2da4e2d" /><Relationship Type="http://schemas.openxmlformats.org/officeDocument/2006/relationships/chart" Target="/ppt/slides/charts/chart33.xml" Id="R543a975257f64bf9" /><Relationship Type="http://schemas.openxmlformats.org/officeDocument/2006/relationships/chart" Target="/ppt/slides/charts/chart34.xml" Id="R50652401201e4ea2" /><Relationship Type="http://schemas.openxmlformats.org/officeDocument/2006/relationships/notesSlide" Target="/ppt/notesSlides/notesSlide65.xml" Id="R421043ab3610489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e4fcb6193f874191" /><Relationship Type="http://schemas.openxmlformats.org/officeDocument/2006/relationships/notesSlide" Target="/ppt/notesSlides/notesSlide66.xml" Id="R7c0f24741cff43e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523adc26a1ab4060" /><Relationship Type="http://schemas.openxmlformats.org/officeDocument/2006/relationships/notesSlide" Target="/ppt/notesSlides/notesSlide67.xml" Id="Rc7771beec88247e1"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c2a47fcd317f4f24" /><Relationship Type="http://schemas.openxmlformats.org/officeDocument/2006/relationships/chart" Target="/ppt/slides/charts/chart35.xml" Id="R628dbb5b49b14676" /><Relationship Type="http://schemas.openxmlformats.org/officeDocument/2006/relationships/notesSlide" Target="/ppt/notesSlides/notesSlide68.xml" Id="R65f67ab5bd0143a8"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df73941cc87c40c2" /><Relationship Type="http://schemas.openxmlformats.org/officeDocument/2006/relationships/notesSlide" Target="/ppt/notesSlides/notesSlide69.xml" Id="R1d1fb6d6e6bc45e1"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b69842146e364dad" /><Relationship Type="http://schemas.openxmlformats.org/officeDocument/2006/relationships/notesSlide" Target="/ppt/notesSlides/notesSlide70.xml" Id="R84610bd1148d4d8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22632f5462534e09" /><Relationship Type="http://schemas.openxmlformats.org/officeDocument/2006/relationships/notesSlide" Target="/ppt/notesSlides/notesSlide71.xml" Id="R1bb985e23b8742de"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6be238da4ede416b" /><Relationship Type="http://schemas.openxmlformats.org/officeDocument/2006/relationships/notesSlide" Target="/ppt/notesSlides/notesSlide72.xml" Id="R765aded9654c406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1bcee6cc793c4661" /><Relationship Type="http://schemas.openxmlformats.org/officeDocument/2006/relationships/notesSlide" Target="/ppt/notesSlides/notesSlide73.xml" Id="Rcf12a1e05efc4126"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2d1c7ccf9d3e4ab8" /><Relationship Type="http://schemas.openxmlformats.org/officeDocument/2006/relationships/chart" Target="/ppt/slides/charts/chart36.xml" Id="R49bacba3c2244096" /><Relationship Type="http://schemas.openxmlformats.org/officeDocument/2006/relationships/chart" Target="/ppt/slides/charts/chart37.xml" Id="Ra42504d905654808" /><Relationship Type="http://schemas.openxmlformats.org/officeDocument/2006/relationships/notesSlide" Target="/ppt/notesSlides/notesSlide74.xml" Id="Rf6b8ce135bac4de4"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bae549d207694caa" /><Relationship Type="http://schemas.openxmlformats.org/officeDocument/2006/relationships/chart" Target="/ppt/slides/charts/chart38.xml" Id="R4c7ac77786e3438f" /><Relationship Type="http://schemas.openxmlformats.org/officeDocument/2006/relationships/notesSlide" Target="/ppt/notesSlides/notesSlide75.xml" Id="R4442cbf3b3e24ace"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4280ebc12b6e488d" /><Relationship Type="http://schemas.openxmlformats.org/officeDocument/2006/relationships/chart" Target="/ppt/slides/charts/chart39.xml" Id="R21963ec9445742d7" /><Relationship Type="http://schemas.openxmlformats.org/officeDocument/2006/relationships/notesSlide" Target="/ppt/notesSlides/notesSlide76.xml" Id="R8b54a5801294422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efe0ab5cbc574ca9" /><Relationship Type="http://schemas.openxmlformats.org/officeDocument/2006/relationships/notesSlide" Target="/ppt/notesSlides/notesSlide77.xml" Id="R6a499e0882604502"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a93bd67b1c6d420d" /><Relationship Type="http://schemas.openxmlformats.org/officeDocument/2006/relationships/notesSlide" Target="/ppt/notesSlides/notesSlide78.xml" Id="R153f085059c64fd9"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c2469d07530f4830" /><Relationship Type="http://schemas.openxmlformats.org/officeDocument/2006/relationships/notesSlide" Target="/ppt/notesSlides/notesSlide79.xml" Id="Rc6b47b11ce624f37"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7ca1acd87fd94c75" /><Relationship Type="http://schemas.openxmlformats.org/officeDocument/2006/relationships/image" Target="/ppt/media/image5.png" Id="R408cd7b636514368" /><Relationship Type="http://schemas.openxmlformats.org/officeDocument/2006/relationships/notesSlide" Target="/ppt/notesSlides/notesSlide80.xml" Id="R3773e32178bc4332" /></Relationships>
</file>

<file path=ppt/slides/charts/chart1.xml><?xml version="1.0" encoding="utf-8"?>
<c:chartSpace xmlns:c="http://schemas.openxmlformats.org/drawingml/2006/chart">
  <c:lang val="en-US"/>
  <c:chart>
    <c:plotArea>
      <c:scatterChart>
        <c:scatterStyle val="line"/>
        <c:ser>
          <c:idx val="0"/>
          <c:order val="0"/>
          <c:tx>
            <c:v>Aproximadamente 2 minutos</c:v>
          </c:tx>
          <c:spPr>
            <a:ln xmlns:a="http://schemas.openxmlformats.org/drawingml/2006/main" w="28575">
              <a:solidFill>
                <a:srgbClr val="D96B18"/>
              </a:solidFill>
            </a:ln>
          </c:spPr>
          <c:marker>
            <c:symbol val="none"/>
          </c:marker>
          <c:xVal>
            <c:numLit>
              <c:formatCode>General</c:formatCode>
              <c:ptCount val="5"/>
              <c:pt idx="0">
                <c:v>0</c:v>
              </c:pt>
              <c:pt idx="1">
                <c:v>1</c:v>
              </c:pt>
              <c:pt idx="2">
                <c:v>2</c:v>
              </c:pt>
              <c:pt idx="3">
                <c:v>3</c:v>
              </c:pt>
              <c:pt idx="4">
                <c:v>4</c:v>
              </c:pt>
            </c:numLit>
          </c:xVal>
          <c:yVal>
            <c:numLit>
              <c:formatCode>0.00</c:formatCode>
              <c:ptCount val="5"/>
              <c:pt idx="0">
                <c:v>0</c:v>
              </c:pt>
              <c:pt idx="1">
                <c:v>0</c:v>
              </c:pt>
              <c:pt idx="2">
                <c:v>1</c:v>
              </c:pt>
              <c:pt idx="3">
                <c:v>0</c:v>
              </c:pt>
              <c:pt idx="4">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4"/>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1"/>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2.xml><?xml version="1.0" encoding="utf-8"?>
<c:chartSpace xmlns:c="http://schemas.openxmlformats.org/drawingml/2006/chart">
  <c:lang val="en-US"/>
  <c:chart>
    <c:plotArea>
      <c:scatterChart>
        <c:scatterStyle val="line"/>
        <c:ser>
          <c:idx val="0"/>
          <c:order val="0"/>
          <c:tx>
            <c:v>Pertenencia</c:v>
          </c:tx>
          <c:spPr>
            <a:ln xmlns:a="http://schemas.openxmlformats.org/drawingml/2006/main" w="28575">
              <a:solidFill>
                <a:srgbClr val="2162A0"/>
              </a:solidFill>
            </a:ln>
          </c:spPr>
          <c:marker>
            <c:symbol val="none"/>
          </c:marker>
          <c:xVal>
            <c:numLit>
              <c:formatCode>General</c:formatCode>
              <c:ptCount val="6"/>
              <c:pt idx="0">
                <c:v>1.5</c:v>
              </c:pt>
              <c:pt idx="1">
                <c:v>1.69999</c:v>
              </c:pt>
              <c:pt idx="2">
                <c:v>1.7</c:v>
              </c:pt>
              <c:pt idx="3">
                <c:v>1.8</c:v>
              </c:pt>
              <c:pt idx="4">
                <c:v>1.80001</c:v>
              </c:pt>
              <c:pt idx="5">
                <c:v>2</c:v>
              </c:pt>
            </c:numLit>
          </c:xVal>
          <c:yVal>
            <c:numLit>
              <c:formatCode>0.0</c:formatCode>
              <c:ptCount val="6"/>
              <c:pt idx="0">
                <c:v>0</c:v>
              </c:pt>
              <c:pt idx="1">
                <c:v>0</c:v>
              </c:pt>
              <c:pt idx="2">
                <c:v>1</c:v>
              </c:pt>
              <c:pt idx="3">
                <c:v>1</c:v>
              </c:pt>
              <c:pt idx="4">
                <c:v>0</c:v>
              </c:pt>
              <c:pt idx="5">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50112"/>
        <c:majorUnit val="0.5"/>
      </c:valAx>
      <c:valAx>
        <c:axId val="48650112"/>
        <c:scaling>
          <c:orientation val="minMax"/>
          <c:max val="2"/>
          <c:min val="1.5"/>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Estatura x (m)</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72768"/>
        <c:majorUnit val="0.1"/>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3.xml><?xml version="1.0" encoding="utf-8"?>
<c:chartSpace xmlns:c="http://schemas.openxmlformats.org/drawingml/2006/chart">
  <c:lang val="en-US"/>
  <c:chart>
    <c:plotArea>
      <c:scatterChart>
        <c:scatterStyle val="line"/>
        <c:ser>
          <c:idx val="0"/>
          <c:order val="0"/>
          <c:tx>
            <c:v>Pertenencia</c:v>
          </c:tx>
          <c:spPr>
            <a:ln xmlns:a="http://schemas.openxmlformats.org/drawingml/2006/main" w="28575">
              <a:solidFill>
                <a:srgbClr val="D96B18"/>
              </a:solidFill>
            </a:ln>
          </c:spPr>
          <c:marker>
            <c:symbol val="none"/>
          </c:marker>
          <c:xVal>
            <c:numLit>
              <c:formatCode>General</c:formatCode>
              <c:ptCount val="5"/>
              <c:pt idx="0">
                <c:v>1.5</c:v>
              </c:pt>
              <c:pt idx="1">
                <c:v>1.6</c:v>
              </c:pt>
              <c:pt idx="2">
                <c:v>1.75</c:v>
              </c:pt>
              <c:pt idx="3">
                <c:v>1.9</c:v>
              </c:pt>
              <c:pt idx="4">
                <c:v>2</c:v>
              </c:pt>
            </c:numLit>
          </c:xVal>
          <c:yVal>
            <c:numLit>
              <c:formatCode>0.0</c:formatCode>
              <c:ptCount val="5"/>
              <c:pt idx="0">
                <c:v>0</c:v>
              </c:pt>
              <c:pt idx="1">
                <c:v>0</c:v>
              </c:pt>
              <c:pt idx="2">
                <c:v>1</c:v>
              </c:pt>
              <c:pt idx="3">
                <c:v>0</c:v>
              </c:pt>
              <c:pt idx="4">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50112"/>
        <c:majorUnit val="0.5"/>
      </c:valAx>
      <c:valAx>
        <c:axId val="48650112"/>
        <c:scaling>
          <c:orientation val="minMax"/>
          <c:max val="2"/>
          <c:min val="1.5"/>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Estatura x (m)</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72768"/>
        <c:majorUnit val="0.1"/>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4.xml><?xml version="1.0" encoding="utf-8"?>
<c:chartSpace xmlns:c="http://schemas.openxmlformats.org/drawingml/2006/chart">
  <c:lang val="en-US"/>
  <c:chart>
    <c:plotArea>
      <c:scatterChart>
        <c:scatterStyle val="line"/>
        <c:ser>
          <c:idx val="0"/>
          <c:order val="0"/>
          <c:tx>
            <c:v>Fría</c:v>
          </c:tx>
          <c:spPr>
            <a:ln xmlns:a="http://schemas.openxmlformats.org/drawingml/2006/main" w="28575">
              <a:solidFill>
                <a:srgbClr val="2162A0"/>
              </a:solidFill>
            </a:ln>
          </c:spPr>
          <c:marker>
            <c:symbol val="none"/>
          </c:marker>
          <c:xVal>
            <c:numLit>
              <c:formatCode>General</c:formatCode>
              <c:ptCount val="5"/>
              <c:pt idx="0">
                <c:v>10</c:v>
              </c:pt>
              <c:pt idx="1">
                <c:v>16</c:v>
              </c:pt>
              <c:pt idx="2">
                <c:v>22</c:v>
              </c:pt>
              <c:pt idx="3">
                <c:v>28</c:v>
              </c:pt>
              <c:pt idx="4">
                <c:v>34</c:v>
              </c:pt>
            </c:numLit>
          </c:xVal>
          <c:yVal>
            <c:numLit>
              <c:formatCode>0.00</c:formatCode>
              <c:ptCount val="5"/>
              <c:pt idx="0">
                <c:v>1</c:v>
              </c:pt>
              <c:pt idx="1">
                <c:v>1</c:v>
              </c:pt>
              <c:pt idx="2">
                <c:v>0</c:v>
              </c:pt>
              <c:pt idx="3">
                <c:v>0</c:v>
              </c:pt>
              <c:pt idx="4">
                <c:v>0</c:v>
              </c:pt>
            </c:numLit>
          </c:yVal>
        </c:ser>
        <c:ser>
          <c:idx val="1"/>
          <c:order val="1"/>
          <c:tx>
            <c:v>Templada</c:v>
          </c:tx>
          <c:spPr>
            <a:ln xmlns:a="http://schemas.openxmlformats.org/drawingml/2006/main" w="28575">
              <a:solidFill>
                <a:srgbClr val="74944D"/>
              </a:solidFill>
            </a:ln>
          </c:spPr>
          <c:marker>
            <c:symbol val="none"/>
          </c:marker>
          <c:xVal>
            <c:numLit>
              <c:formatCode>General</c:formatCode>
              <c:ptCount val="5"/>
              <c:pt idx="0">
                <c:v>10</c:v>
              </c:pt>
              <c:pt idx="1">
                <c:v>16</c:v>
              </c:pt>
              <c:pt idx="2">
                <c:v>22</c:v>
              </c:pt>
              <c:pt idx="3">
                <c:v>28</c:v>
              </c:pt>
              <c:pt idx="4">
                <c:v>34</c:v>
              </c:pt>
            </c:numLit>
          </c:xVal>
          <c:yVal>
            <c:numLit>
              <c:formatCode>0.00</c:formatCode>
              <c:ptCount val="5"/>
              <c:pt idx="0">
                <c:v>0</c:v>
              </c:pt>
              <c:pt idx="1">
                <c:v>0</c:v>
              </c:pt>
              <c:pt idx="2">
                <c:v>1</c:v>
              </c:pt>
              <c:pt idx="3">
                <c:v>0</c:v>
              </c:pt>
              <c:pt idx="4">
                <c:v>0</c:v>
              </c:pt>
            </c:numLit>
          </c:yVal>
        </c:ser>
        <c:ser>
          <c:idx val="2"/>
          <c:order val="2"/>
          <c:tx>
            <c:v>Caliente</c:v>
          </c:tx>
          <c:spPr>
            <a:ln xmlns:a="http://schemas.openxmlformats.org/drawingml/2006/main" w="28575">
              <a:solidFill>
                <a:srgbClr val="D96B18"/>
              </a:solidFill>
            </a:ln>
          </c:spPr>
          <c:marker>
            <c:symbol val="none"/>
          </c:marker>
          <c:xVal>
            <c:numLit>
              <c:formatCode>General</c:formatCode>
              <c:ptCount val="5"/>
              <c:pt idx="0">
                <c:v>10</c:v>
              </c:pt>
              <c:pt idx="1">
                <c:v>16</c:v>
              </c:pt>
              <c:pt idx="2">
                <c:v>22</c:v>
              </c:pt>
              <c:pt idx="3">
                <c:v>28</c:v>
              </c:pt>
              <c:pt idx="4">
                <c:v>34</c:v>
              </c:pt>
            </c:numLit>
          </c:xVal>
          <c:yVal>
            <c:numLit>
              <c:formatCode>0.00</c:formatCode>
              <c:ptCount val="5"/>
              <c:pt idx="0">
                <c:v>0</c:v>
              </c:pt>
              <c:pt idx="1">
                <c:v>0</c:v>
              </c:pt>
              <c:pt idx="2">
                <c:v>0</c:v>
              </c:pt>
              <c:pt idx="3">
                <c:v>1</c:v>
              </c:pt>
              <c:pt idx="4">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34"/>
          <c:min val="1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6"/>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233746"/>
              </a:solidFill>
              <a:latin typeface="Arial"/>
              <a:ea typeface="Arial"/>
              <a:cs typeface="Arial"/>
            </a:defRPr>
          </a:pPr>
        </a:p>
      </c:txPr>
    </c:legend>
    <c:plotVisOnly val="1"/>
  </c:chart>
  <c:spPr>
    <a:solidFill xmlns:a="http://schemas.openxmlformats.org/drawingml/2006/main">
      <a:srgbClr val="FFFFFF"/>
    </a:solidFill>
  </c:spPr>
</c:chartSpace>
</file>

<file path=ppt/slides/charts/chart5.xml><?xml version="1.0" encoding="utf-8"?>
<c:chartSpace xmlns:c="http://schemas.openxmlformats.org/drawingml/2006/chart">
  <c:lang val="en-US"/>
  <c:chart>
    <c:plotArea>
      <c:scatterChart>
        <c:ser>
          <c:idx val="0"/>
          <c:order val="0"/>
          <c:tx>
            <c:v>Arista</c:v>
          </c:tx>
          <c:spPr>
            <a:ln xmlns:a="http://schemas.openxmlformats.org/drawingml/2006/main" w="19050">
              <a:solidFill>
                <a:srgbClr val="2162A0"/>
              </a:solidFill>
            </a:ln>
          </c:spPr>
          <c:marker>
            <c:symbol val="none"/>
          </c:marker>
          <c:xVal>
            <c:numLit>
              <c:formatCode>General</c:formatCode>
              <c:ptCount val="2"/>
              <c:pt idx="0">
                <c:v>0</c:v>
              </c:pt>
              <c:pt idx="1">
                <c:v>1</c:v>
              </c:pt>
            </c:numLit>
          </c:xVal>
          <c:yVal>
            <c:numLit>
              <c:formatCode>General</c:formatCode>
              <c:ptCount val="2"/>
              <c:pt idx="0">
                <c:v>0</c:v>
              </c:pt>
              <c:pt idx="1">
                <c:v>0</c:v>
              </c:pt>
            </c:numLit>
          </c:yVal>
        </c:ser>
        <c:ser>
          <c:idx val="1"/>
          <c:order val="1"/>
          <c:tx>
            <c:v>Arista</c:v>
          </c:tx>
          <c:spPr>
            <a:ln xmlns:a="http://schemas.openxmlformats.org/drawingml/2006/main" w="19050">
              <a:solidFill>
                <a:srgbClr val="2162A0"/>
              </a:solidFill>
            </a:ln>
          </c:spPr>
          <c:marker>
            <c:symbol val="none"/>
          </c:marker>
          <c:xVal>
            <c:numLit>
              <c:formatCode>General</c:formatCode>
              <c:ptCount val="2"/>
              <c:pt idx="0">
                <c:v>0</c:v>
              </c:pt>
              <c:pt idx="1">
                <c:v>0.42</c:v>
              </c:pt>
            </c:numLit>
          </c:xVal>
          <c:yVal>
            <c:numLit>
              <c:formatCode>General</c:formatCode>
              <c:ptCount val="2"/>
              <c:pt idx="0">
                <c:v>0</c:v>
              </c:pt>
              <c:pt idx="1">
                <c:v>0.32</c:v>
              </c:pt>
            </c:numLit>
          </c:yVal>
        </c:ser>
        <c:ser>
          <c:idx val="2"/>
          <c:order val="2"/>
          <c:tx>
            <c:v>Arista</c:v>
          </c:tx>
          <c:spPr>
            <a:ln xmlns:a="http://schemas.openxmlformats.org/drawingml/2006/main" w="19050">
              <a:solidFill>
                <a:srgbClr val="2162A0"/>
              </a:solidFill>
            </a:ln>
          </c:spPr>
          <c:marker>
            <c:symbol val="none"/>
          </c:marker>
          <c:xVal>
            <c:numLit>
              <c:formatCode>General</c:formatCode>
              <c:ptCount val="2"/>
              <c:pt idx="0">
                <c:v>0</c:v>
              </c:pt>
              <c:pt idx="1">
                <c:v>0</c:v>
              </c:pt>
            </c:numLit>
          </c:xVal>
          <c:yVal>
            <c:numLit>
              <c:formatCode>General</c:formatCode>
              <c:ptCount val="2"/>
              <c:pt idx="0">
                <c:v>0</c:v>
              </c:pt>
              <c:pt idx="1">
                <c:v>1</c:v>
              </c:pt>
            </c:numLit>
          </c:yVal>
        </c:ser>
        <c:ser>
          <c:idx val="3"/>
          <c:order val="3"/>
          <c:tx>
            <c:v>Arista</c:v>
          </c:tx>
          <c:spPr>
            <a:ln xmlns:a="http://schemas.openxmlformats.org/drawingml/2006/main" w="19050">
              <a:solidFill>
                <a:srgbClr val="2162A0"/>
              </a:solidFill>
            </a:ln>
          </c:spPr>
          <c:marker>
            <c:symbol val="none"/>
          </c:marker>
          <c:xVal>
            <c:numLit>
              <c:formatCode>General</c:formatCode>
              <c:ptCount val="2"/>
              <c:pt idx="0">
                <c:v>0</c:v>
              </c:pt>
              <c:pt idx="1">
                <c:v>1</c:v>
              </c:pt>
            </c:numLit>
          </c:xVal>
          <c:yVal>
            <c:numLit>
              <c:formatCode>General</c:formatCode>
              <c:ptCount val="2"/>
              <c:pt idx="0">
                <c:v>1</c:v>
              </c:pt>
              <c:pt idx="1">
                <c:v>1</c:v>
              </c:pt>
            </c:numLit>
          </c:yVal>
        </c:ser>
        <c:ser>
          <c:idx val="4"/>
          <c:order val="4"/>
          <c:tx>
            <c:v>Arista</c:v>
          </c:tx>
          <c:spPr>
            <a:ln xmlns:a="http://schemas.openxmlformats.org/drawingml/2006/main" w="19050">
              <a:solidFill>
                <a:srgbClr val="2162A0"/>
              </a:solidFill>
            </a:ln>
          </c:spPr>
          <c:marker>
            <c:symbol val="none"/>
          </c:marker>
          <c:xVal>
            <c:numLit>
              <c:formatCode>General</c:formatCode>
              <c:ptCount val="2"/>
              <c:pt idx="0">
                <c:v>0</c:v>
              </c:pt>
              <c:pt idx="1">
                <c:v>0.42</c:v>
              </c:pt>
            </c:numLit>
          </c:xVal>
          <c:yVal>
            <c:numLit>
              <c:formatCode>General</c:formatCode>
              <c:ptCount val="2"/>
              <c:pt idx="0">
                <c:v>1</c:v>
              </c:pt>
              <c:pt idx="1">
                <c:v>1.32</c:v>
              </c:pt>
            </c:numLit>
          </c:yVal>
        </c:ser>
        <c:ser>
          <c:idx val="5"/>
          <c:order val="5"/>
          <c:tx>
            <c:v>Arista</c:v>
          </c:tx>
          <c:spPr>
            <a:ln xmlns:a="http://schemas.openxmlformats.org/drawingml/2006/main" w="19050">
              <a:solidFill>
                <a:srgbClr val="2162A0"/>
              </a:solidFill>
            </a:ln>
          </c:spPr>
          <c:marker>
            <c:symbol val="none"/>
          </c:marker>
          <c:xVal>
            <c:numLit>
              <c:formatCode>General</c:formatCode>
              <c:ptCount val="2"/>
              <c:pt idx="0">
                <c:v>0.42</c:v>
              </c:pt>
              <c:pt idx="1">
                <c:v>1.42</c:v>
              </c:pt>
            </c:numLit>
          </c:xVal>
          <c:yVal>
            <c:numLit>
              <c:formatCode>General</c:formatCode>
              <c:ptCount val="2"/>
              <c:pt idx="0">
                <c:v>0.32</c:v>
              </c:pt>
              <c:pt idx="1">
                <c:v>0.32</c:v>
              </c:pt>
            </c:numLit>
          </c:yVal>
        </c:ser>
        <c:ser>
          <c:idx val="6"/>
          <c:order val="6"/>
          <c:tx>
            <c:v>Arista</c:v>
          </c:tx>
          <c:spPr>
            <a:ln xmlns:a="http://schemas.openxmlformats.org/drawingml/2006/main" w="19050">
              <a:solidFill>
                <a:srgbClr val="2162A0"/>
              </a:solidFill>
            </a:ln>
          </c:spPr>
          <c:marker>
            <c:symbol val="none"/>
          </c:marker>
          <c:xVal>
            <c:numLit>
              <c:formatCode>General</c:formatCode>
              <c:ptCount val="2"/>
              <c:pt idx="0">
                <c:v>0.42</c:v>
              </c:pt>
              <c:pt idx="1">
                <c:v>0.42</c:v>
              </c:pt>
            </c:numLit>
          </c:xVal>
          <c:yVal>
            <c:numLit>
              <c:formatCode>General</c:formatCode>
              <c:ptCount val="2"/>
              <c:pt idx="0">
                <c:v>0.32</c:v>
              </c:pt>
              <c:pt idx="1">
                <c:v>1.32</c:v>
              </c:pt>
            </c:numLit>
          </c:yVal>
        </c:ser>
        <c:ser>
          <c:idx val="7"/>
          <c:order val="7"/>
          <c:tx>
            <c:v>Arista</c:v>
          </c:tx>
          <c:spPr>
            <a:ln xmlns:a="http://schemas.openxmlformats.org/drawingml/2006/main" w="19050">
              <a:solidFill>
                <a:srgbClr val="2162A0"/>
              </a:solidFill>
            </a:ln>
          </c:spPr>
          <c:marker>
            <c:symbol val="none"/>
          </c:marker>
          <c:xVal>
            <c:numLit>
              <c:formatCode>General</c:formatCode>
              <c:ptCount val="2"/>
              <c:pt idx="0">
                <c:v>0.42</c:v>
              </c:pt>
              <c:pt idx="1">
                <c:v>1.42</c:v>
              </c:pt>
            </c:numLit>
          </c:xVal>
          <c:yVal>
            <c:numLit>
              <c:formatCode>General</c:formatCode>
              <c:ptCount val="2"/>
              <c:pt idx="0">
                <c:v>1.32</c:v>
              </c:pt>
              <c:pt idx="1">
                <c:v>1.32</c:v>
              </c:pt>
            </c:numLit>
          </c:yVal>
        </c:ser>
        <c:ser>
          <c:idx val="8"/>
          <c:order val="8"/>
          <c:tx>
            <c:v>Arista</c:v>
          </c:tx>
          <c:spPr>
            <a:ln xmlns:a="http://schemas.openxmlformats.org/drawingml/2006/main" w="19050">
              <a:solidFill>
                <a:srgbClr val="2162A0"/>
              </a:solidFill>
            </a:ln>
          </c:spPr>
          <c:marker>
            <c:symbol val="none"/>
          </c:marker>
          <c:xVal>
            <c:numLit>
              <c:formatCode>General</c:formatCode>
              <c:ptCount val="2"/>
              <c:pt idx="0">
                <c:v>1</c:v>
              </c:pt>
              <c:pt idx="1">
                <c:v>1.42</c:v>
              </c:pt>
            </c:numLit>
          </c:xVal>
          <c:yVal>
            <c:numLit>
              <c:formatCode>General</c:formatCode>
              <c:ptCount val="2"/>
              <c:pt idx="0">
                <c:v>0</c:v>
              </c:pt>
              <c:pt idx="1">
                <c:v>0.32</c:v>
              </c:pt>
            </c:numLit>
          </c:yVal>
        </c:ser>
        <c:ser>
          <c:idx val="9"/>
          <c:order val="9"/>
          <c:tx>
            <c:v>Arista</c:v>
          </c:tx>
          <c:spPr>
            <a:ln xmlns:a="http://schemas.openxmlformats.org/drawingml/2006/main" w="19050">
              <a:solidFill>
                <a:srgbClr val="2162A0"/>
              </a:solidFill>
            </a:ln>
          </c:spPr>
          <c:marker>
            <c:symbol val="none"/>
          </c:marker>
          <c:xVal>
            <c:numLit>
              <c:formatCode>General</c:formatCode>
              <c:ptCount val="2"/>
              <c:pt idx="0">
                <c:v>1</c:v>
              </c:pt>
              <c:pt idx="1">
                <c:v>1</c:v>
              </c:pt>
            </c:numLit>
          </c:xVal>
          <c:yVal>
            <c:numLit>
              <c:formatCode>General</c:formatCode>
              <c:ptCount val="2"/>
              <c:pt idx="0">
                <c:v>0</c:v>
              </c:pt>
              <c:pt idx="1">
                <c:v>1</c:v>
              </c:pt>
            </c:numLit>
          </c:yVal>
        </c:ser>
        <c:ser>
          <c:idx val="10"/>
          <c:order val="10"/>
          <c:tx>
            <c:v>Arista</c:v>
          </c:tx>
          <c:spPr>
            <a:ln xmlns:a="http://schemas.openxmlformats.org/drawingml/2006/main" w="19050">
              <a:solidFill>
                <a:srgbClr val="2162A0"/>
              </a:solidFill>
            </a:ln>
          </c:spPr>
          <c:marker>
            <c:symbol val="none"/>
          </c:marker>
          <c:xVal>
            <c:numLit>
              <c:formatCode>General</c:formatCode>
              <c:ptCount val="2"/>
              <c:pt idx="0">
                <c:v>1</c:v>
              </c:pt>
              <c:pt idx="1">
                <c:v>1.42</c:v>
              </c:pt>
            </c:numLit>
          </c:xVal>
          <c:yVal>
            <c:numLit>
              <c:formatCode>General</c:formatCode>
              <c:ptCount val="2"/>
              <c:pt idx="0">
                <c:v>1</c:v>
              </c:pt>
              <c:pt idx="1">
                <c:v>1.32</c:v>
              </c:pt>
            </c:numLit>
          </c:yVal>
        </c:ser>
        <c:ser>
          <c:idx val="11"/>
          <c:order val="11"/>
          <c:tx>
            <c:v>Arista</c:v>
          </c:tx>
          <c:spPr>
            <a:ln xmlns:a="http://schemas.openxmlformats.org/drawingml/2006/main" w="19050">
              <a:solidFill>
                <a:srgbClr val="2162A0"/>
              </a:solidFill>
            </a:ln>
          </c:spPr>
          <c:marker>
            <c:symbol val="none"/>
          </c:marker>
          <c:xVal>
            <c:numLit>
              <c:formatCode>General</c:formatCode>
              <c:ptCount val="2"/>
              <c:pt idx="0">
                <c:v>1.42</c:v>
              </c:pt>
              <c:pt idx="1">
                <c:v>1.42</c:v>
              </c:pt>
            </c:numLit>
          </c:xVal>
          <c:yVal>
            <c:numLit>
              <c:formatCode>General</c:formatCode>
              <c:ptCount val="2"/>
              <c:pt idx="0">
                <c:v>0.32</c:v>
              </c:pt>
              <c:pt idx="1">
                <c:v>1.32</c:v>
              </c:pt>
            </c:numLit>
          </c:yVal>
        </c:ser>
        <c:ser>
          <c:idx val="12"/>
          <c:order val="12"/>
          <c:tx>
            <c:v>Perfiles crisp</c:v>
          </c:tx>
          <c:spPr>
            <a:solidFill xmlns:a="http://schemas.openxmlformats.org/drawingml/2006/main">
              <a:srgbClr val="2162A0"/>
            </a:solidFill>
            <a:ln xmlns:a="http://schemas.openxmlformats.org/drawingml/2006/main" w="0">
              <a:noFill/>
            </a:ln>
          </c:spPr>
          <c:marker>
            <c:symbol val="circle"/>
            <c:size val="8"/>
            <c:spPr>
              <a:noFill xmlns:a="http://schemas.openxmlformats.org/drawingml/2006/main"/>
            </c:spPr>
          </c:marker>
          <c:xVal>
            <c:numLit>
              <c:formatCode>General</c:formatCode>
              <c:ptCount val="8"/>
              <c:pt idx="0">
                <c:v>0</c:v>
              </c:pt>
              <c:pt idx="1">
                <c:v>0</c:v>
              </c:pt>
              <c:pt idx="2">
                <c:v>0.42</c:v>
              </c:pt>
              <c:pt idx="3">
                <c:v>0.42</c:v>
              </c:pt>
              <c:pt idx="4">
                <c:v>1</c:v>
              </c:pt>
              <c:pt idx="5">
                <c:v>1</c:v>
              </c:pt>
              <c:pt idx="6">
                <c:v>1.42</c:v>
              </c:pt>
              <c:pt idx="7">
                <c:v>1.42</c:v>
              </c:pt>
            </c:numLit>
          </c:xVal>
          <c:yVal>
            <c:numLit>
              <c:formatCode>General</c:formatCode>
              <c:ptCount val="8"/>
              <c:pt idx="0">
                <c:v>0</c:v>
              </c:pt>
              <c:pt idx="1">
                <c:v>1</c:v>
              </c:pt>
              <c:pt idx="2">
                <c:v>0.32</c:v>
              </c:pt>
              <c:pt idx="3">
                <c:v>1.32</c:v>
              </c:pt>
              <c:pt idx="4">
                <c:v>0</c:v>
              </c:pt>
              <c:pt idx="5">
                <c:v>1</c:v>
              </c:pt>
              <c:pt idx="6">
                <c:v>0.32</c:v>
              </c:pt>
              <c:pt idx="7">
                <c:v>1.32</c:v>
              </c:pt>
            </c:numLit>
          </c:yVal>
        </c:ser>
        <c:ser>
          <c:idx val="13"/>
          <c:order val="13"/>
          <c:tx>
            <c:v>Centro</c:v>
          </c:tx>
          <c:spPr>
            <a:solidFill xmlns:a="http://schemas.openxmlformats.org/drawingml/2006/main">
              <a:srgbClr val="D96B18"/>
            </a:solidFill>
            <a:ln xmlns:a="http://schemas.openxmlformats.org/drawingml/2006/main" w="0">
              <a:noFill/>
            </a:ln>
          </c:spPr>
          <c:marker>
            <c:symbol val="circle"/>
            <c:size val="12"/>
            <c:spPr>
              <a:noFill xmlns:a="http://schemas.openxmlformats.org/drawingml/2006/main"/>
            </c:spPr>
          </c:marker>
          <c:xVal>
            <c:numLit>
              <c:formatCode>General</c:formatCode>
              <c:ptCount val="1"/>
              <c:pt idx="0">
                <c:v>0.71</c:v>
              </c:pt>
            </c:numLit>
          </c:xVal>
          <c:yVal>
            <c:numLit>
              <c:formatCode>General</c:formatCode>
              <c:ptCount val="1"/>
              <c:pt idx="0">
                <c:v>0.66</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43"/>
          <c:min val="-0.12"/>
        </c:scaling>
        <c:delete val="0"/>
        <c:axPos val="l"/>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valAx>
      <c:valAx>
        <c:axId val="48650112"/>
        <c:scaling>
          <c:orientation val="minMax"/>
          <c:max val="1.55"/>
          <c:min val="-0.1"/>
        </c:scaling>
        <c:delete val="0"/>
        <c:axPos val="b"/>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6.xml><?xml version="1.0" encoding="utf-8"?>
<c:chartSpace xmlns:c="http://schemas.openxmlformats.org/drawingml/2006/chart">
  <c:lang val="en-US"/>
  <c:chart>
    <c:plotArea>
      <c:scatterChart>
        <c:scatterStyle val="line"/>
        <c:ser>
          <c:idx val="0"/>
          <c:order val="0"/>
          <c:tx>
            <c:v>Bajo</c:v>
          </c:tx>
          <c:spPr>
            <a:ln xmlns:a="http://schemas.openxmlformats.org/drawingml/2006/main" w="28575">
              <a:solidFill>
                <a:srgbClr val="2162A0"/>
              </a:solidFill>
            </a:ln>
          </c:spPr>
          <c:marker>
            <c:symbol val="none"/>
          </c:marker>
          <c:xVal>
            <c:numLit>
              <c:formatCode>General</c:formatCode>
              <c:ptCount val="3"/>
              <c:pt idx="0">
                <c:v>0</c:v>
              </c:pt>
              <c:pt idx="1">
                <c:v>0.5</c:v>
              </c:pt>
              <c:pt idx="2">
                <c:v>1</c:v>
              </c:pt>
            </c:numLit>
          </c:xVal>
          <c:yVal>
            <c:numLit>
              <c:formatCode>0.00</c:formatCode>
              <c:ptCount val="3"/>
              <c:pt idx="0">
                <c:v>1</c:v>
              </c:pt>
              <c:pt idx="1">
                <c:v>0</c:v>
              </c:pt>
              <c:pt idx="2">
                <c:v>0</c:v>
              </c:pt>
            </c:numLit>
          </c:yVal>
        </c:ser>
        <c:ser>
          <c:idx val="1"/>
          <c:order val="1"/>
          <c:tx>
            <c:v>Medio</c:v>
          </c:tx>
          <c:spPr>
            <a:ln xmlns:a="http://schemas.openxmlformats.org/drawingml/2006/main" w="28575">
              <a:solidFill>
                <a:srgbClr val="74944D"/>
              </a:solidFill>
            </a:ln>
          </c:spPr>
          <c:marker>
            <c:symbol val="none"/>
          </c:marker>
          <c:xVal>
            <c:numLit>
              <c:formatCode>General</c:formatCode>
              <c:ptCount val="3"/>
              <c:pt idx="0">
                <c:v>0</c:v>
              </c:pt>
              <c:pt idx="1">
                <c:v>0.5</c:v>
              </c:pt>
              <c:pt idx="2">
                <c:v>1</c:v>
              </c:pt>
            </c:numLit>
          </c:xVal>
          <c:yVal>
            <c:numLit>
              <c:formatCode>0.00</c:formatCode>
              <c:ptCount val="3"/>
              <c:pt idx="0">
                <c:v>0</c:v>
              </c:pt>
              <c:pt idx="1">
                <c:v>1</c:v>
              </c:pt>
              <c:pt idx="2">
                <c:v>0</c:v>
              </c:pt>
            </c:numLit>
          </c:yVal>
        </c:ser>
        <c:ser>
          <c:idx val="2"/>
          <c:order val="2"/>
          <c:tx>
            <c:v>Alto</c:v>
          </c:tx>
          <c:spPr>
            <a:ln xmlns:a="http://schemas.openxmlformats.org/drawingml/2006/main" w="28575">
              <a:solidFill>
                <a:srgbClr val="D96B18"/>
              </a:solidFill>
            </a:ln>
          </c:spPr>
          <c:marker>
            <c:symbol val="none"/>
          </c:marker>
          <c:xVal>
            <c:numLit>
              <c:formatCode>General</c:formatCode>
              <c:ptCount val="3"/>
              <c:pt idx="0">
                <c:v>0</c:v>
              </c:pt>
              <c:pt idx="1">
                <c:v>0.5</c:v>
              </c:pt>
              <c:pt idx="2">
                <c:v>1</c:v>
              </c:pt>
            </c:numLit>
          </c:xVal>
          <c:yVal>
            <c:numLit>
              <c:formatCode>0.00</c:formatCode>
              <c:ptCount val="3"/>
              <c:pt idx="0">
                <c:v>0</c:v>
              </c:pt>
              <c:pt idx="1">
                <c:v>0</c:v>
              </c:pt>
              <c:pt idx="2">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Entrada 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0.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233746"/>
              </a:solidFill>
              <a:latin typeface="Arial"/>
              <a:ea typeface="Arial"/>
              <a:cs typeface="Arial"/>
            </a:defRPr>
          </a:pPr>
        </a:p>
      </c:txPr>
    </c:legend>
    <c:plotVisOnly val="1"/>
  </c:chart>
  <c:spPr>
    <a:solidFill xmlns:a="http://schemas.openxmlformats.org/drawingml/2006/main">
      <a:srgbClr val="FFFFFF"/>
    </a:solidFill>
  </c:spPr>
</c:chartSpace>
</file>

<file path=ppt/slides/charts/chart7.xml><?xml version="1.0" encoding="utf-8"?>
<c:chartSpace xmlns:c="http://schemas.openxmlformats.org/drawingml/2006/chart">
  <c:lang val="en-US"/>
  <c:chart>
    <c:plotArea>
      <c:scatterChart>
        <c:scatterStyle val="line"/>
        <c:ser>
          <c:idx val="0"/>
          <c:order val="0"/>
          <c:tx>
            <c:v>f(x) = x²</c:v>
          </c:tx>
          <c:spPr>
            <a:ln xmlns:a="http://schemas.openxmlformats.org/drawingml/2006/main" w="28575">
              <a:solidFill>
                <a:srgbClr val="2162A0"/>
              </a:solidFill>
            </a:ln>
          </c:spPr>
          <c:marker>
            <c:symbol val="none"/>
          </c:marker>
          <c:xVal>
            <c:numLit>
              <c:formatCode>General</c:formatCode>
              <c:ptCount val="21"/>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numLit>
          </c:xVal>
          <c:yVal>
            <c:numLit>
              <c:formatCode>0.00</c:formatCode>
              <c:ptCount val="21"/>
              <c:pt idx="0">
                <c:v>0</c:v>
              </c:pt>
              <c:pt idx="1">
                <c:v>0.0025000000000000005</c:v>
              </c:pt>
              <c:pt idx="2">
                <c:v>0.010000000000000002</c:v>
              </c:pt>
              <c:pt idx="3">
                <c:v>0.0225</c:v>
              </c:pt>
              <c:pt idx="4">
                <c:v>0.04000000000000001</c:v>
              </c:pt>
              <c:pt idx="5">
                <c:v>0.0625</c:v>
              </c:pt>
              <c:pt idx="6">
                <c:v>0.09</c:v>
              </c:pt>
              <c:pt idx="7">
                <c:v>0.12249999999999998</c:v>
              </c:pt>
              <c:pt idx="8">
                <c:v>0.16000000000000003</c:v>
              </c:pt>
              <c:pt idx="9">
                <c:v>0.2025</c:v>
              </c:pt>
              <c:pt idx="10">
                <c:v>0.25</c:v>
              </c:pt>
              <c:pt idx="11">
                <c:v>0.30250000000000005</c:v>
              </c:pt>
              <c:pt idx="12">
                <c:v>0.36</c:v>
              </c:pt>
              <c:pt idx="13">
                <c:v>0.42250000000000004</c:v>
              </c:pt>
              <c:pt idx="14">
                <c:v>0.48999999999999994</c:v>
              </c:pt>
              <c:pt idx="15">
                <c:v>0.5625</c:v>
              </c:pt>
              <c:pt idx="16">
                <c:v>0.6400000000000001</c:v>
              </c:pt>
              <c:pt idx="17">
                <c:v>0.7224999999999999</c:v>
              </c:pt>
              <c:pt idx="18">
                <c:v>0.81</c:v>
              </c:pt>
              <c:pt idx="19">
                <c:v>0.9025</c:v>
              </c:pt>
              <c:pt idx="20">
                <c:v>1</c:v>
              </c:pt>
            </c:numLit>
          </c:yVal>
        </c:ser>
        <c:ser>
          <c:idx val="1"/>
          <c:order val="1"/>
          <c:tx>
            <c:v>Aproximación fuzzy</c:v>
          </c:tx>
          <c:spPr>
            <a:ln xmlns:a="http://schemas.openxmlformats.org/drawingml/2006/main" w="28575">
              <a:solidFill>
                <a:srgbClr val="D96B18"/>
              </a:solidFill>
            </a:ln>
          </c:spPr>
          <c:marker>
            <c:symbol val="none"/>
          </c:marker>
          <c:xVal>
            <c:numLit>
              <c:formatCode>General</c:formatCode>
              <c:ptCount val="3"/>
              <c:pt idx="0">
                <c:v>0</c:v>
              </c:pt>
              <c:pt idx="1">
                <c:v>0.5</c:v>
              </c:pt>
              <c:pt idx="2">
                <c:v>1</c:v>
              </c:pt>
            </c:numLit>
          </c:xVal>
          <c:yVal>
            <c:numLit>
              <c:formatCode>0.00</c:formatCode>
              <c:ptCount val="3"/>
              <c:pt idx="0">
                <c:v>0</c:v>
              </c:pt>
              <c:pt idx="1">
                <c:v>0.25</c:v>
              </c:pt>
              <c:pt idx="2">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Salida y</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Entrada 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0.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233746"/>
              </a:solidFill>
              <a:latin typeface="Arial"/>
              <a:ea typeface="Arial"/>
              <a:cs typeface="Arial"/>
            </a:defRPr>
          </a:pPr>
        </a:p>
      </c:txPr>
    </c:legend>
    <c:plotVisOnly val="1"/>
  </c:chart>
  <c:spPr>
    <a:solidFill xmlns:a="http://schemas.openxmlformats.org/drawingml/2006/main">
      <a:srgbClr val="FFFFFF"/>
    </a:solidFill>
  </c:spPr>
</c:chartSpace>
</file>

<file path=ppt/slides/charts/chart8.xml><?xml version="1.0" encoding="utf-8"?>
<c:chartSpace xmlns:c="http://schemas.openxmlformats.org/drawingml/2006/chart">
  <c:lang val="en-US"/>
  <c:chart>
    <c:plotArea>
      <c:scatterChart>
        <c:ser>
          <c:idx val="0"/>
          <c:order val="0"/>
          <c:tx>
            <c:v>A</c:v>
          </c:tx>
          <c:spPr>
            <a:ln xmlns:a="http://schemas.openxmlformats.org/drawingml/2006/main" w="28575">
              <a:solidFill>
                <a:srgbClr val="2162A0"/>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0.050000000000000044</c:v>
              </c:pt>
              <c:pt idx="22">
                <c:v>0.10000000000000009</c:v>
              </c:pt>
              <c:pt idx="23">
                <c:v>0.1499999999999999</c:v>
              </c:pt>
              <c:pt idx="24">
                <c:v>0.19999999999999996</c:v>
              </c:pt>
              <c:pt idx="25">
                <c:v>0.25</c:v>
              </c:pt>
              <c:pt idx="26">
                <c:v>0.30000000000000004</c:v>
              </c:pt>
              <c:pt idx="27">
                <c:v>0.3500000000000001</c:v>
              </c:pt>
              <c:pt idx="28">
                <c:v>0.3999999999999999</c:v>
              </c:pt>
              <c:pt idx="29">
                <c:v>0.44999999999999996</c:v>
              </c:pt>
              <c:pt idx="30">
                <c:v>0.5</c:v>
              </c:pt>
              <c:pt idx="31">
                <c:v>0.55</c:v>
              </c:pt>
              <c:pt idx="32">
                <c:v>0.6000000000000001</c:v>
              </c:pt>
              <c:pt idx="33">
                <c:v>0.6499999999999999</c:v>
              </c:pt>
              <c:pt idx="34">
                <c:v>0.7</c:v>
              </c:pt>
              <c:pt idx="35">
                <c:v>0.75</c:v>
              </c:pt>
              <c:pt idx="36">
                <c:v>0.8</c:v>
              </c:pt>
              <c:pt idx="37">
                <c:v>0.8500000000000001</c:v>
              </c:pt>
              <c:pt idx="38">
                <c:v>0.8999999999999999</c:v>
              </c:pt>
              <c:pt idx="39">
                <c:v>0.95</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1</c:v>
              </c:pt>
              <c:pt idx="61">
                <c:v>0.9500000000000002</c:v>
              </c:pt>
              <c:pt idx="62">
                <c:v>0.8999999999999999</c:v>
              </c:pt>
              <c:pt idx="63">
                <c:v>0.8500000000000001</c:v>
              </c:pt>
              <c:pt idx="64">
                <c:v>0.7999999999999998</c:v>
              </c:pt>
              <c:pt idx="65">
                <c:v>0.75</c:v>
              </c:pt>
              <c:pt idx="66">
                <c:v>0.7000000000000002</c:v>
              </c:pt>
              <c:pt idx="67">
                <c:v>0.6499999999999999</c:v>
              </c:pt>
              <c:pt idx="68">
                <c:v>0.6000000000000001</c:v>
              </c:pt>
              <c:pt idx="69">
                <c:v>0.5499999999999998</c:v>
              </c:pt>
              <c:pt idx="70">
                <c:v>0.5</c:v>
              </c:pt>
              <c:pt idx="71">
                <c:v>0.4500000000000002</c:v>
              </c:pt>
              <c:pt idx="72">
                <c:v>0.3999999999999999</c:v>
              </c:pt>
              <c:pt idx="73">
                <c:v>0.3500000000000001</c:v>
              </c:pt>
              <c:pt idx="74">
                <c:v>0.2999999999999998</c:v>
              </c:pt>
              <c:pt idx="75">
                <c:v>0.25</c:v>
              </c:pt>
              <c:pt idx="76">
                <c:v>0.20000000000000018</c:v>
              </c:pt>
              <c:pt idx="77">
                <c:v>0.1499999999999999</c:v>
              </c:pt>
              <c:pt idx="78">
                <c:v>0.10000000000000009</c:v>
              </c:pt>
              <c:pt idx="79">
                <c:v>0.04999999999999982</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x (unidades del ejemplo)</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9.xml><?xml version="1.0" encoding="utf-8"?>
<c:chartSpace xmlns:c="http://schemas.openxmlformats.org/drawingml/2006/chart">
  <c:lang val="en-US"/>
  <c:chart>
    <c:plotArea>
      <c:scatterChart>
        <c:ser>
          <c:idx val="0"/>
          <c:order val="0"/>
          <c:tx>
            <c:v>Normal</c:v>
          </c:tx>
          <c:spPr>
            <a:ln xmlns:a="http://schemas.openxmlformats.org/drawingml/2006/main" w="28575">
              <a:solidFill>
                <a:srgbClr val="2162A0"/>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0.03333333333333336</c:v>
              </c:pt>
              <c:pt idx="22">
                <c:v>0.06666666666666672</c:v>
              </c:pt>
              <c:pt idx="23">
                <c:v>0.09999999999999994</c:v>
              </c:pt>
              <c:pt idx="24">
                <c:v>0.1333333333333333</c:v>
              </c:pt>
              <c:pt idx="25">
                <c:v>0.16666666666666666</c:v>
              </c:pt>
              <c:pt idx="26">
                <c:v>0.20000000000000004</c:v>
              </c:pt>
              <c:pt idx="27">
                <c:v>0.2333333333333334</c:v>
              </c:pt>
              <c:pt idx="28">
                <c:v>0.2666666666666666</c:v>
              </c:pt>
              <c:pt idx="29">
                <c:v>0.3</c:v>
              </c:pt>
              <c:pt idx="30">
                <c:v>0.3333333333333333</c:v>
              </c:pt>
              <c:pt idx="31">
                <c:v>0.3666666666666667</c:v>
              </c:pt>
              <c:pt idx="32">
                <c:v>0.4000000000000001</c:v>
              </c:pt>
              <c:pt idx="33">
                <c:v>0.4333333333333333</c:v>
              </c:pt>
              <c:pt idx="34">
                <c:v>0.4666666666666666</c:v>
              </c:pt>
              <c:pt idx="35">
                <c:v>0.5</c:v>
              </c:pt>
              <c:pt idx="36">
                <c:v>0.5333333333333333</c:v>
              </c:pt>
              <c:pt idx="37">
                <c:v>0.5666666666666668</c:v>
              </c:pt>
              <c:pt idx="38">
                <c:v>0.6</c:v>
              </c:pt>
              <c:pt idx="39">
                <c:v>0.6333333333333333</c:v>
              </c:pt>
              <c:pt idx="40">
                <c:v>0.6666666666666666</c:v>
              </c:pt>
              <c:pt idx="41">
                <c:v>0.6999999999999998</c:v>
              </c:pt>
              <c:pt idx="42">
                <c:v>0.7333333333333334</c:v>
              </c:pt>
              <c:pt idx="43">
                <c:v>0.7666666666666666</c:v>
              </c:pt>
              <c:pt idx="44">
                <c:v>0.8000000000000002</c:v>
              </c:pt>
              <c:pt idx="45">
                <c:v>0.8333333333333334</c:v>
              </c:pt>
              <c:pt idx="46">
                <c:v>0.8666666666666666</c:v>
              </c:pt>
              <c:pt idx="47">
                <c:v>0.9</c:v>
              </c:pt>
              <c:pt idx="48">
                <c:v>0.9333333333333332</c:v>
              </c:pt>
              <c:pt idx="49">
                <c:v>0.9666666666666668</c:v>
              </c:pt>
              <c:pt idx="50">
                <c:v>1</c:v>
              </c:pt>
              <c:pt idx="51">
                <c:v>0.9666666666666668</c:v>
              </c:pt>
              <c:pt idx="52">
                <c:v>0.9333333333333332</c:v>
              </c:pt>
              <c:pt idx="53">
                <c:v>0.9</c:v>
              </c:pt>
              <c:pt idx="54">
                <c:v>0.8666666666666666</c:v>
              </c:pt>
              <c:pt idx="55">
                <c:v>0.8333333333333334</c:v>
              </c:pt>
              <c:pt idx="56">
                <c:v>0.8000000000000002</c:v>
              </c:pt>
              <c:pt idx="57">
                <c:v>0.7666666666666666</c:v>
              </c:pt>
              <c:pt idx="58">
                <c:v>0.7333333333333334</c:v>
              </c:pt>
              <c:pt idx="59">
                <c:v>0.6999999999999998</c:v>
              </c:pt>
              <c:pt idx="60">
                <c:v>0.6666666666666666</c:v>
              </c:pt>
              <c:pt idx="61">
                <c:v>0.6333333333333334</c:v>
              </c:pt>
              <c:pt idx="62">
                <c:v>0.6</c:v>
              </c:pt>
              <c:pt idx="63">
                <c:v>0.5666666666666668</c:v>
              </c:pt>
              <c:pt idx="64">
                <c:v>0.5333333333333332</c:v>
              </c:pt>
              <c:pt idx="65">
                <c:v>0.5</c:v>
              </c:pt>
              <c:pt idx="66">
                <c:v>0.4666666666666668</c:v>
              </c:pt>
              <c:pt idx="67">
                <c:v>0.4333333333333333</c:v>
              </c:pt>
              <c:pt idx="68">
                <c:v>0.4000000000000001</c:v>
              </c:pt>
              <c:pt idx="69">
                <c:v>0.36666666666666653</c:v>
              </c:pt>
              <c:pt idx="70">
                <c:v>0.3333333333333333</c:v>
              </c:pt>
              <c:pt idx="71">
                <c:v>0.3000000000000001</c:v>
              </c:pt>
              <c:pt idx="72">
                <c:v>0.2666666666666666</c:v>
              </c:pt>
              <c:pt idx="73">
                <c:v>0.2333333333333334</c:v>
              </c:pt>
              <c:pt idx="74">
                <c:v>0.19999999999999987</c:v>
              </c:pt>
              <c:pt idx="75">
                <c:v>0.16666666666666666</c:v>
              </c:pt>
              <c:pt idx="76">
                <c:v>0.13333333333333344</c:v>
              </c:pt>
              <c:pt idx="77">
                <c:v>0.09999999999999994</c:v>
              </c:pt>
              <c:pt idx="78">
                <c:v>0.06666666666666672</c:v>
              </c:pt>
              <c:pt idx="79">
                <c:v>0.033333333333333215</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Subnormal</c:v>
          </c:tx>
          <c:spPr>
            <a:ln xmlns:a="http://schemas.openxmlformats.org/drawingml/2006/main" w="28575">
              <a:solidFill>
                <a:srgbClr val="D96B18"/>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0.020000000000000014</c:v>
              </c:pt>
              <c:pt idx="22">
                <c:v>0.04000000000000003</c:v>
              </c:pt>
              <c:pt idx="23">
                <c:v>0.059999999999999956</c:v>
              </c:pt>
              <c:pt idx="24">
                <c:v>0.07999999999999997</c:v>
              </c:pt>
              <c:pt idx="25">
                <c:v>0.09999999999999999</c:v>
              </c:pt>
              <c:pt idx="26">
                <c:v>0.12000000000000002</c:v>
              </c:pt>
              <c:pt idx="27">
                <c:v>0.14000000000000004</c:v>
              </c:pt>
              <c:pt idx="28">
                <c:v>0.15999999999999995</c:v>
              </c:pt>
              <c:pt idx="29">
                <c:v>0.18</c:v>
              </c:pt>
              <c:pt idx="30">
                <c:v>0.19999999999999998</c:v>
              </c:pt>
              <c:pt idx="31">
                <c:v>0.22</c:v>
              </c:pt>
              <c:pt idx="32">
                <c:v>0.24000000000000005</c:v>
              </c:pt>
              <c:pt idx="33">
                <c:v>0.25999999999999995</c:v>
              </c:pt>
              <c:pt idx="34">
                <c:v>0.27999999999999997</c:v>
              </c:pt>
              <c:pt idx="35">
                <c:v>0.3</c:v>
              </c:pt>
              <c:pt idx="36">
                <c:v>0.32</c:v>
              </c:pt>
              <c:pt idx="37">
                <c:v>0.34</c:v>
              </c:pt>
              <c:pt idx="38">
                <c:v>0.36</c:v>
              </c:pt>
              <c:pt idx="39">
                <c:v>0.37999999999999995</c:v>
              </c:pt>
              <c:pt idx="40">
                <c:v>0.39999999999999997</c:v>
              </c:pt>
              <c:pt idx="41">
                <c:v>0.4199999999999999</c:v>
              </c:pt>
              <c:pt idx="42">
                <c:v>0.44</c:v>
              </c:pt>
              <c:pt idx="43">
                <c:v>0.45999999999999996</c:v>
              </c:pt>
              <c:pt idx="44">
                <c:v>0.4800000000000001</c:v>
              </c:pt>
              <c:pt idx="45">
                <c:v>0.5</c:v>
              </c:pt>
              <c:pt idx="46">
                <c:v>0.5199999999999999</c:v>
              </c:pt>
              <c:pt idx="47">
                <c:v>0.54</c:v>
              </c:pt>
              <c:pt idx="48">
                <c:v>0.5599999999999999</c:v>
              </c:pt>
              <c:pt idx="49">
                <c:v>0.5800000000000001</c:v>
              </c:pt>
              <c:pt idx="50">
                <c:v>0.6</c:v>
              </c:pt>
              <c:pt idx="51">
                <c:v>0.5800000000000001</c:v>
              </c:pt>
              <c:pt idx="52">
                <c:v>0.5599999999999999</c:v>
              </c:pt>
              <c:pt idx="53">
                <c:v>0.54</c:v>
              </c:pt>
              <c:pt idx="54">
                <c:v>0.5199999999999999</c:v>
              </c:pt>
              <c:pt idx="55">
                <c:v>0.5</c:v>
              </c:pt>
              <c:pt idx="56">
                <c:v>0.4800000000000001</c:v>
              </c:pt>
              <c:pt idx="57">
                <c:v>0.45999999999999996</c:v>
              </c:pt>
              <c:pt idx="58">
                <c:v>0.44</c:v>
              </c:pt>
              <c:pt idx="59">
                <c:v>0.4199999999999999</c:v>
              </c:pt>
              <c:pt idx="60">
                <c:v>0.39999999999999997</c:v>
              </c:pt>
              <c:pt idx="61">
                <c:v>0.38000000000000006</c:v>
              </c:pt>
              <c:pt idx="62">
                <c:v>0.36</c:v>
              </c:pt>
              <c:pt idx="63">
                <c:v>0.34</c:v>
              </c:pt>
              <c:pt idx="64">
                <c:v>0.3199999999999999</c:v>
              </c:pt>
              <c:pt idx="65">
                <c:v>0.3</c:v>
              </c:pt>
              <c:pt idx="66">
                <c:v>0.2800000000000001</c:v>
              </c:pt>
              <c:pt idx="67">
                <c:v>0.25999999999999995</c:v>
              </c:pt>
              <c:pt idx="68">
                <c:v>0.24000000000000005</c:v>
              </c:pt>
              <c:pt idx="69">
                <c:v>0.21999999999999992</c:v>
              </c:pt>
              <c:pt idx="70">
                <c:v>0.19999999999999998</c:v>
              </c:pt>
              <c:pt idx="71">
                <c:v>0.18000000000000005</c:v>
              </c:pt>
              <c:pt idx="72">
                <c:v>0.15999999999999995</c:v>
              </c:pt>
              <c:pt idx="73">
                <c:v>0.14000000000000004</c:v>
              </c:pt>
              <c:pt idx="74">
                <c:v>0.11999999999999991</c:v>
              </c:pt>
              <c:pt idx="75">
                <c:v>0.09999999999999999</c:v>
              </c:pt>
              <c:pt idx="76">
                <c:v>0.08000000000000006</c:v>
              </c:pt>
              <c:pt idx="77">
                <c:v>0.059999999999999956</c:v>
              </c:pt>
              <c:pt idx="78">
                <c:v>0.04000000000000003</c:v>
              </c:pt>
              <c:pt idx="79">
                <c:v>0.019999999999999928</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0.xml><?xml version="1.0" encoding="utf-8"?>
<c:chartSpace xmlns:c="http://schemas.openxmlformats.org/drawingml/2006/chart">
  <c:lang val="en-US"/>
  <c:chart>
    <c:plotArea>
      <c:scatterChart>
        <c:ser>
          <c:idx val="0"/>
          <c:order val="0"/>
          <c:tx>
            <c:v>Convexo</c:v>
          </c:tx>
          <c:spPr>
            <a:ln xmlns:a="http://schemas.openxmlformats.org/drawingml/2006/main" w="28575">
              <a:solidFill>
                <a:srgbClr val="2162A0"/>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0.025000000000000022</c:v>
              </c:pt>
              <c:pt idx="12">
                <c:v>0.04999999999999999</c:v>
              </c:pt>
              <c:pt idx="13">
                <c:v>0.07500000000000001</c:v>
              </c:pt>
              <c:pt idx="14">
                <c:v>0.09999999999999998</c:v>
              </c:pt>
              <c:pt idx="15">
                <c:v>0.125</c:v>
              </c:pt>
              <c:pt idx="16">
                <c:v>0.15000000000000002</c:v>
              </c:pt>
              <c:pt idx="17">
                <c:v>0.175</c:v>
              </c:pt>
              <c:pt idx="18">
                <c:v>0.2</c:v>
              </c:pt>
              <c:pt idx="19">
                <c:v>0.22499999999999998</c:v>
              </c:pt>
              <c:pt idx="20">
                <c:v>0.25</c:v>
              </c:pt>
              <c:pt idx="21">
                <c:v>0.275</c:v>
              </c:pt>
              <c:pt idx="22">
                <c:v>0.30000000000000004</c:v>
              </c:pt>
              <c:pt idx="23">
                <c:v>0.32499999999999996</c:v>
              </c:pt>
              <c:pt idx="24">
                <c:v>0.35</c:v>
              </c:pt>
              <c:pt idx="25">
                <c:v>0.375</c:v>
              </c:pt>
              <c:pt idx="26">
                <c:v>0.4</c:v>
              </c:pt>
              <c:pt idx="27">
                <c:v>0.42500000000000004</c:v>
              </c:pt>
              <c:pt idx="28">
                <c:v>0.44999999999999996</c:v>
              </c:pt>
              <c:pt idx="29">
                <c:v>0.475</c:v>
              </c:pt>
              <c:pt idx="30">
                <c:v>0.5</c:v>
              </c:pt>
              <c:pt idx="31">
                <c:v>0.525</c:v>
              </c:pt>
              <c:pt idx="32">
                <c:v>0.55</c:v>
              </c:pt>
              <c:pt idx="33">
                <c:v>0.575</c:v>
              </c:pt>
              <c:pt idx="34">
                <c:v>0.6</c:v>
              </c:pt>
              <c:pt idx="35">
                <c:v>0.625</c:v>
              </c:pt>
              <c:pt idx="36">
                <c:v>0.65</c:v>
              </c:pt>
              <c:pt idx="37">
                <c:v>0.675</c:v>
              </c:pt>
              <c:pt idx="38">
                <c:v>0.7</c:v>
              </c:pt>
              <c:pt idx="39">
                <c:v>0.725</c:v>
              </c:pt>
              <c:pt idx="40">
                <c:v>0.75</c:v>
              </c:pt>
              <c:pt idx="41">
                <c:v>0.7749999999999999</c:v>
              </c:pt>
              <c:pt idx="42">
                <c:v>0.8</c:v>
              </c:pt>
              <c:pt idx="43">
                <c:v>0.825</c:v>
              </c:pt>
              <c:pt idx="44">
                <c:v>0.8500000000000001</c:v>
              </c:pt>
              <c:pt idx="45">
                <c:v>0.875</c:v>
              </c:pt>
              <c:pt idx="46">
                <c:v>0.8999999999999999</c:v>
              </c:pt>
              <c:pt idx="47">
                <c:v>0.925</c:v>
              </c:pt>
              <c:pt idx="48">
                <c:v>0.95</c:v>
              </c:pt>
              <c:pt idx="49">
                <c:v>0.9750000000000001</c:v>
              </c:pt>
              <c:pt idx="50">
                <c:v>1</c:v>
              </c:pt>
              <c:pt idx="51">
                <c:v>0.9750000000000001</c:v>
              </c:pt>
              <c:pt idx="52">
                <c:v>0.95</c:v>
              </c:pt>
              <c:pt idx="53">
                <c:v>0.925</c:v>
              </c:pt>
              <c:pt idx="54">
                <c:v>0.8999999999999999</c:v>
              </c:pt>
              <c:pt idx="55">
                <c:v>0.875</c:v>
              </c:pt>
              <c:pt idx="56">
                <c:v>0.8500000000000001</c:v>
              </c:pt>
              <c:pt idx="57">
                <c:v>0.825</c:v>
              </c:pt>
              <c:pt idx="58">
                <c:v>0.8</c:v>
              </c:pt>
              <c:pt idx="59">
                <c:v>0.7749999999999999</c:v>
              </c:pt>
              <c:pt idx="60">
                <c:v>0.75</c:v>
              </c:pt>
              <c:pt idx="61">
                <c:v>0.7250000000000001</c:v>
              </c:pt>
              <c:pt idx="62">
                <c:v>0.7</c:v>
              </c:pt>
              <c:pt idx="63">
                <c:v>0.675</c:v>
              </c:pt>
              <c:pt idx="64">
                <c:v>0.6499999999999999</c:v>
              </c:pt>
              <c:pt idx="65">
                <c:v>0.625</c:v>
              </c:pt>
              <c:pt idx="66">
                <c:v>0.6000000000000001</c:v>
              </c:pt>
              <c:pt idx="67">
                <c:v>0.575</c:v>
              </c:pt>
              <c:pt idx="68">
                <c:v>0.55</c:v>
              </c:pt>
              <c:pt idx="69">
                <c:v>0.5249999999999999</c:v>
              </c:pt>
              <c:pt idx="70">
                <c:v>0.5</c:v>
              </c:pt>
              <c:pt idx="71">
                <c:v>0.4750000000000001</c:v>
              </c:pt>
              <c:pt idx="72">
                <c:v>0.44999999999999996</c:v>
              </c:pt>
              <c:pt idx="73">
                <c:v>0.42500000000000004</c:v>
              </c:pt>
              <c:pt idx="74">
                <c:v>0.3999999999999999</c:v>
              </c:pt>
              <c:pt idx="75">
                <c:v>0.375</c:v>
              </c:pt>
              <c:pt idx="76">
                <c:v>0.3500000000000001</c:v>
              </c:pt>
              <c:pt idx="77">
                <c:v>0.32499999999999996</c:v>
              </c:pt>
              <c:pt idx="78">
                <c:v>0.30000000000000004</c:v>
              </c:pt>
              <c:pt idx="79">
                <c:v>0.2749999999999999</c:v>
              </c:pt>
              <c:pt idx="80">
                <c:v>0.25</c:v>
              </c:pt>
              <c:pt idx="81">
                <c:v>0.2250000000000001</c:v>
              </c:pt>
              <c:pt idx="82">
                <c:v>0.20000000000000018</c:v>
              </c:pt>
              <c:pt idx="83">
                <c:v>0.17499999999999982</c:v>
              </c:pt>
              <c:pt idx="84">
                <c:v>0.1499999999999999</c:v>
              </c:pt>
              <c:pt idx="85">
                <c:v>0.125</c:v>
              </c:pt>
              <c:pt idx="86">
                <c:v>0.10000000000000009</c:v>
              </c:pt>
              <c:pt idx="87">
                <c:v>0.07500000000000018</c:v>
              </c:pt>
              <c:pt idx="88">
                <c:v>0.04999999999999982</c:v>
              </c:pt>
              <c:pt idx="89">
                <c:v>0.02499999999999991</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1.xml><?xml version="1.0" encoding="utf-8"?>
<c:chartSpace xmlns:c="http://schemas.openxmlformats.org/drawingml/2006/chart">
  <c:lang val="en-US"/>
  <c:chart>
    <c:plotArea>
      <c:scatterChart>
        <c:ser>
          <c:idx val="0"/>
          <c:order val="0"/>
          <c:tx>
            <c:v>Unión</c:v>
          </c:tx>
          <c:spPr>
            <a:ln xmlns:a="http://schemas.openxmlformats.org/drawingml/2006/main" w="28575">
              <a:solidFill>
                <a:srgbClr val="D96B18"/>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pt idx="21">
                <c:v>0.95</c:v>
              </c:pt>
              <c:pt idx="22">
                <c:v>0.8999999999999999</c:v>
              </c:pt>
              <c:pt idx="23">
                <c:v>0.8500000000000001</c:v>
              </c:pt>
              <c:pt idx="24">
                <c:v>0.8</c:v>
              </c:pt>
              <c:pt idx="25">
                <c:v>0.75</c:v>
              </c:pt>
              <c:pt idx="26">
                <c:v>0.7</c:v>
              </c:pt>
              <c:pt idx="27">
                <c:v>0.6499999999999999</c:v>
              </c:pt>
              <c:pt idx="28">
                <c:v>0.6000000000000001</c:v>
              </c:pt>
              <c:pt idx="29">
                <c:v>0.55</c:v>
              </c:pt>
              <c:pt idx="30">
                <c:v>0.5</c:v>
              </c:pt>
              <c:pt idx="31">
                <c:v>0.44999999999999996</c:v>
              </c:pt>
              <c:pt idx="32">
                <c:v>0.3999999999999999</c:v>
              </c:pt>
              <c:pt idx="33">
                <c:v>0.3500000000000001</c:v>
              </c:pt>
              <c:pt idx="34">
                <c:v>0.30000000000000004</c:v>
              </c:pt>
              <c:pt idx="35">
                <c:v>0.25</c:v>
              </c:pt>
              <c:pt idx="36">
                <c:v>0.19999999999999996</c:v>
              </c:pt>
              <c:pt idx="37">
                <c:v>0.1499999999999999</c:v>
              </c:pt>
              <c:pt idx="38">
                <c:v>0.10000000000000009</c:v>
              </c:pt>
              <c:pt idx="39">
                <c:v>0.050000000000000044</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0.04999999999999982</c:v>
              </c:pt>
              <c:pt idx="62">
                <c:v>0.10000000000000009</c:v>
              </c:pt>
              <c:pt idx="63">
                <c:v>0.1499999999999999</c:v>
              </c:pt>
              <c:pt idx="64">
                <c:v>0.20000000000000018</c:v>
              </c:pt>
              <c:pt idx="65">
                <c:v>0.25</c:v>
              </c:pt>
              <c:pt idx="66">
                <c:v>0.2999999999999998</c:v>
              </c:pt>
              <c:pt idx="67">
                <c:v>0.3500000000000001</c:v>
              </c:pt>
              <c:pt idx="68">
                <c:v>0.3999999999999999</c:v>
              </c:pt>
              <c:pt idx="69">
                <c:v>0.4500000000000002</c:v>
              </c:pt>
              <c:pt idx="70">
                <c:v>0.5</c:v>
              </c:pt>
              <c:pt idx="71">
                <c:v>0.5499999999999998</c:v>
              </c:pt>
              <c:pt idx="72">
                <c:v>0.6000000000000001</c:v>
              </c:pt>
              <c:pt idx="73">
                <c:v>0.6499999999999999</c:v>
              </c:pt>
              <c:pt idx="74">
                <c:v>0.7000000000000002</c:v>
              </c:pt>
              <c:pt idx="75">
                <c:v>0.75</c:v>
              </c:pt>
              <c:pt idx="76">
                <c:v>0.7999999999999998</c:v>
              </c:pt>
              <c:pt idx="77">
                <c:v>0.8500000000000001</c:v>
              </c:pt>
              <c:pt idx="78">
                <c:v>0.8999999999999999</c:v>
              </c:pt>
              <c:pt idx="79">
                <c:v>0.9500000000000002</c:v>
              </c:pt>
              <c:pt idx="80">
                <c:v>1</c:v>
              </c:pt>
              <c:pt idx="81">
                <c:v>0.9500000000000002</c:v>
              </c:pt>
              <c:pt idx="82">
                <c:v>0.9000000000000004</c:v>
              </c:pt>
              <c:pt idx="83">
                <c:v>0.8499999999999996</c:v>
              </c:pt>
              <c:pt idx="84">
                <c:v>0.7999999999999998</c:v>
              </c:pt>
              <c:pt idx="85">
                <c:v>0.75</c:v>
              </c:pt>
              <c:pt idx="86">
                <c:v>0.7000000000000002</c:v>
              </c:pt>
              <c:pt idx="87">
                <c:v>0.6500000000000004</c:v>
              </c:pt>
              <c:pt idx="88">
                <c:v>0.5999999999999996</c:v>
              </c:pt>
              <c:pt idx="89">
                <c:v>0.5499999999999998</c:v>
              </c:pt>
              <c:pt idx="90">
                <c:v>0.5</c:v>
              </c:pt>
              <c:pt idx="91">
                <c:v>0.4500000000000002</c:v>
              </c:pt>
              <c:pt idx="92">
                <c:v>0.40000000000000036</c:v>
              </c:pt>
              <c:pt idx="93">
                <c:v>0.34999999999999964</c:v>
              </c:pt>
              <c:pt idx="94">
                <c:v>0.2999999999999998</c:v>
              </c:pt>
              <c:pt idx="95">
                <c:v>0.25</c:v>
              </c:pt>
              <c:pt idx="96">
                <c:v>0.20000000000000018</c:v>
              </c:pt>
              <c:pt idx="97">
                <c:v>0.15000000000000036</c:v>
              </c:pt>
              <c:pt idx="98">
                <c:v>0.09999999999999964</c:v>
              </c:pt>
              <c:pt idx="99">
                <c:v>0.04999999999999982</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2.xml><?xml version="1.0" encoding="utf-8"?>
<c:chartSpace xmlns:c="http://schemas.openxmlformats.org/drawingml/2006/chart">
  <c:lang val="en-US"/>
  <c:chart>
    <c:plotArea>
      <c:scatterChart>
        <c:ser>
          <c:idx val="0"/>
          <c:order val="0"/>
          <c:tx>
            <c:v>Templada</c:v>
          </c:tx>
          <c:spPr>
            <a:ln xmlns:a="http://schemas.openxmlformats.org/drawingml/2006/main" w="28575">
              <a:solidFill>
                <a:srgbClr val="2162A0"/>
              </a:solidFill>
            </a:ln>
          </c:spPr>
          <c:marker>
            <c:symbol val="none"/>
            <c:size val="5"/>
          </c:marker>
          <c:xVal>
            <c:numLit>
              <c:formatCode>General</c:formatCode>
              <c:ptCount val="101"/>
              <c:pt idx="0">
                <c:v>16</c:v>
              </c:pt>
              <c:pt idx="1">
                <c:v>16.12</c:v>
              </c:pt>
              <c:pt idx="2">
                <c:v>16.24</c:v>
              </c:pt>
              <c:pt idx="3">
                <c:v>16.36</c:v>
              </c:pt>
              <c:pt idx="4">
                <c:v>16.48</c:v>
              </c:pt>
              <c:pt idx="5">
                <c:v>16.6</c:v>
              </c:pt>
              <c:pt idx="6">
                <c:v>16.72</c:v>
              </c:pt>
              <c:pt idx="7">
                <c:v>16.84</c:v>
              </c:pt>
              <c:pt idx="8">
                <c:v>16.96</c:v>
              </c:pt>
              <c:pt idx="9">
                <c:v>17.08</c:v>
              </c:pt>
              <c:pt idx="10">
                <c:v>17.2</c:v>
              </c:pt>
              <c:pt idx="11">
                <c:v>17.32</c:v>
              </c:pt>
              <c:pt idx="12">
                <c:v>17.44</c:v>
              </c:pt>
              <c:pt idx="13">
                <c:v>17.56</c:v>
              </c:pt>
              <c:pt idx="14">
                <c:v>17.68</c:v>
              </c:pt>
              <c:pt idx="15">
                <c:v>17.8</c:v>
              </c:pt>
              <c:pt idx="16">
                <c:v>17.92</c:v>
              </c:pt>
              <c:pt idx="17">
                <c:v>18.04</c:v>
              </c:pt>
              <c:pt idx="18">
                <c:v>18.16</c:v>
              </c:pt>
              <c:pt idx="19">
                <c:v>18.28</c:v>
              </c:pt>
              <c:pt idx="20">
                <c:v>18.4</c:v>
              </c:pt>
              <c:pt idx="21">
                <c:v>18.52</c:v>
              </c:pt>
              <c:pt idx="22">
                <c:v>18.64</c:v>
              </c:pt>
              <c:pt idx="23">
                <c:v>18.759999999999998</c:v>
              </c:pt>
              <c:pt idx="24">
                <c:v>18.88</c:v>
              </c:pt>
              <c:pt idx="25">
                <c:v>19</c:v>
              </c:pt>
              <c:pt idx="26">
                <c:v>19.12</c:v>
              </c:pt>
              <c:pt idx="27">
                <c:v>19.240000000000002</c:v>
              </c:pt>
              <c:pt idx="28">
                <c:v>19.36</c:v>
              </c:pt>
              <c:pt idx="29">
                <c:v>19.48</c:v>
              </c:pt>
              <c:pt idx="30">
                <c:v>19.6</c:v>
              </c:pt>
              <c:pt idx="31">
                <c:v>19.72</c:v>
              </c:pt>
              <c:pt idx="32">
                <c:v>19.84</c:v>
              </c:pt>
              <c:pt idx="33">
                <c:v>19.96</c:v>
              </c:pt>
              <c:pt idx="34">
                <c:v>20.08</c:v>
              </c:pt>
              <c:pt idx="35">
                <c:v>20.2</c:v>
              </c:pt>
              <c:pt idx="36">
                <c:v>20.32</c:v>
              </c:pt>
              <c:pt idx="37">
                <c:v>20.44</c:v>
              </c:pt>
              <c:pt idx="38">
                <c:v>20.56</c:v>
              </c:pt>
              <c:pt idx="39">
                <c:v>20.68</c:v>
              </c:pt>
              <c:pt idx="40">
                <c:v>20.8</c:v>
              </c:pt>
              <c:pt idx="41">
                <c:v>20.92</c:v>
              </c:pt>
              <c:pt idx="42">
                <c:v>21.04</c:v>
              </c:pt>
              <c:pt idx="43">
                <c:v>21.16</c:v>
              </c:pt>
              <c:pt idx="44">
                <c:v>21.28</c:v>
              </c:pt>
              <c:pt idx="45">
                <c:v>21.4</c:v>
              </c:pt>
              <c:pt idx="46">
                <c:v>21.52</c:v>
              </c:pt>
              <c:pt idx="47">
                <c:v>21.64</c:v>
              </c:pt>
              <c:pt idx="48">
                <c:v>21.759999999999998</c:v>
              </c:pt>
              <c:pt idx="49">
                <c:v>21.88</c:v>
              </c:pt>
              <c:pt idx="50">
                <c:v>22</c:v>
              </c:pt>
              <c:pt idx="51">
                <c:v>22.12</c:v>
              </c:pt>
              <c:pt idx="52">
                <c:v>22.240000000000002</c:v>
              </c:pt>
              <c:pt idx="53">
                <c:v>22.36</c:v>
              </c:pt>
              <c:pt idx="54">
                <c:v>22.48</c:v>
              </c:pt>
              <c:pt idx="55">
                <c:v>22.6</c:v>
              </c:pt>
              <c:pt idx="56">
                <c:v>22.72</c:v>
              </c:pt>
              <c:pt idx="57">
                <c:v>22.84</c:v>
              </c:pt>
              <c:pt idx="58">
                <c:v>22.96</c:v>
              </c:pt>
              <c:pt idx="59">
                <c:v>23.08</c:v>
              </c:pt>
              <c:pt idx="60">
                <c:v>23.2</c:v>
              </c:pt>
              <c:pt idx="61">
                <c:v>23.32</c:v>
              </c:pt>
              <c:pt idx="62">
                <c:v>23.44</c:v>
              </c:pt>
              <c:pt idx="63">
                <c:v>23.56</c:v>
              </c:pt>
              <c:pt idx="64">
                <c:v>23.68</c:v>
              </c:pt>
              <c:pt idx="65">
                <c:v>23.8</c:v>
              </c:pt>
              <c:pt idx="66">
                <c:v>23.92</c:v>
              </c:pt>
              <c:pt idx="67">
                <c:v>24.04</c:v>
              </c:pt>
              <c:pt idx="68">
                <c:v>24.16</c:v>
              </c:pt>
              <c:pt idx="69">
                <c:v>24.28</c:v>
              </c:pt>
              <c:pt idx="70">
                <c:v>24.4</c:v>
              </c:pt>
              <c:pt idx="71">
                <c:v>24.52</c:v>
              </c:pt>
              <c:pt idx="72">
                <c:v>24.64</c:v>
              </c:pt>
              <c:pt idx="73">
                <c:v>24.759999999999998</c:v>
              </c:pt>
              <c:pt idx="74">
                <c:v>24.880000000000003</c:v>
              </c:pt>
              <c:pt idx="75">
                <c:v>25</c:v>
              </c:pt>
              <c:pt idx="76">
                <c:v>25.119999999999997</c:v>
              </c:pt>
              <c:pt idx="77">
                <c:v>25.240000000000002</c:v>
              </c:pt>
              <c:pt idx="78">
                <c:v>25.36</c:v>
              </c:pt>
              <c:pt idx="79">
                <c:v>25.48</c:v>
              </c:pt>
              <c:pt idx="80">
                <c:v>25.6</c:v>
              </c:pt>
              <c:pt idx="81">
                <c:v>25.72</c:v>
              </c:pt>
              <c:pt idx="82">
                <c:v>25.84</c:v>
              </c:pt>
              <c:pt idx="83">
                <c:v>25.96</c:v>
              </c:pt>
              <c:pt idx="84">
                <c:v>26.08</c:v>
              </c:pt>
              <c:pt idx="85">
                <c:v>26.2</c:v>
              </c:pt>
              <c:pt idx="86">
                <c:v>26.32</c:v>
              </c:pt>
              <c:pt idx="87">
                <c:v>26.439999999999998</c:v>
              </c:pt>
              <c:pt idx="88">
                <c:v>26.560000000000002</c:v>
              </c:pt>
              <c:pt idx="89">
                <c:v>26.68</c:v>
              </c:pt>
              <c:pt idx="90">
                <c:v>26.8</c:v>
              </c:pt>
              <c:pt idx="91">
                <c:v>26.92</c:v>
              </c:pt>
              <c:pt idx="92">
                <c:v>27.04</c:v>
              </c:pt>
              <c:pt idx="93">
                <c:v>27.16</c:v>
              </c:pt>
              <c:pt idx="94">
                <c:v>27.28</c:v>
              </c:pt>
              <c:pt idx="95">
                <c:v>27.4</c:v>
              </c:pt>
              <c:pt idx="96">
                <c:v>27.52</c:v>
              </c:pt>
              <c:pt idx="97">
                <c:v>27.64</c:v>
              </c:pt>
              <c:pt idx="98">
                <c:v>27.759999999999998</c:v>
              </c:pt>
              <c:pt idx="99">
                <c:v>27.880000000000003</c:v>
              </c:pt>
              <c:pt idx="100">
                <c:v>28</c:v>
              </c:pt>
            </c:numLit>
          </c:xVal>
          <c:yVal>
            <c:numLit>
              <c:formatCode>General</c:formatCode>
              <c:ptCount val="101"/>
              <c:pt idx="0">
                <c:v>0</c:v>
              </c:pt>
              <c:pt idx="1">
                <c:v>0.020000000000000167</c:v>
              </c:pt>
              <c:pt idx="2">
                <c:v>0.03999999999999974</c:v>
              </c:pt>
              <c:pt idx="3">
                <c:v>0.05999999999999991</c:v>
              </c:pt>
              <c:pt idx="4">
                <c:v>0.08000000000000007</c:v>
              </c:pt>
              <c:pt idx="5">
                <c:v>0.10000000000000024</c:v>
              </c:pt>
              <c:pt idx="6">
                <c:v>0.11999999999999982</c:v>
              </c:pt>
              <c:pt idx="7">
                <c:v>0.13999999999999999</c:v>
              </c:pt>
              <c:pt idx="8">
                <c:v>0.16000000000000014</c:v>
              </c:pt>
              <c:pt idx="9">
                <c:v>0.17999999999999972</c:v>
              </c:pt>
              <c:pt idx="10">
                <c:v>0.19999999999999987</c:v>
              </c:pt>
              <c:pt idx="11">
                <c:v>0.22000000000000006</c:v>
              </c:pt>
              <c:pt idx="12">
                <c:v>0.2400000000000002</c:v>
              </c:pt>
              <c:pt idx="13">
                <c:v>0.2599999999999998</c:v>
              </c:pt>
              <c:pt idx="14">
                <c:v>0.27999999999999997</c:v>
              </c:pt>
              <c:pt idx="15">
                <c:v>0.3000000000000001</c:v>
              </c:pt>
              <c:pt idx="16">
                <c:v>0.3200000000000003</c:v>
              </c:pt>
              <c:pt idx="17">
                <c:v>0.33999999999999986</c:v>
              </c:pt>
              <c:pt idx="18">
                <c:v>0.36000000000000004</c:v>
              </c:pt>
              <c:pt idx="19">
                <c:v>0.38000000000000017</c:v>
              </c:pt>
              <c:pt idx="20">
                <c:v>0.39999999999999974</c:v>
              </c:pt>
              <c:pt idx="21">
                <c:v>0.41999999999999993</c:v>
              </c:pt>
              <c:pt idx="22">
                <c:v>0.4400000000000001</c:v>
              </c:pt>
              <c:pt idx="23">
                <c:v>0.4599999999999997</c:v>
              </c:pt>
              <c:pt idx="24">
                <c:v>0.4799999999999998</c:v>
              </c:pt>
              <c:pt idx="25">
                <c:v>0.5</c:v>
              </c:pt>
              <c:pt idx="26">
                <c:v>0.5200000000000001</c:v>
              </c:pt>
              <c:pt idx="27">
                <c:v>0.5400000000000004</c:v>
              </c:pt>
              <c:pt idx="28">
                <c:v>0.5599999999999999</c:v>
              </c:pt>
              <c:pt idx="29">
                <c:v>0.5800000000000001</c:v>
              </c:pt>
              <c:pt idx="30">
                <c:v>0.6000000000000002</c:v>
              </c:pt>
              <c:pt idx="31">
                <c:v>0.6199999999999998</c:v>
              </c:pt>
              <c:pt idx="32">
                <c:v>0.64</c:v>
              </c:pt>
              <c:pt idx="33">
                <c:v>0.6600000000000001</c:v>
              </c:pt>
              <c:pt idx="34">
                <c:v>0.6799999999999997</c:v>
              </c:pt>
              <c:pt idx="35">
                <c:v>0.6999999999999998</c:v>
              </c:pt>
              <c:pt idx="36">
                <c:v>0.7200000000000001</c:v>
              </c:pt>
              <c:pt idx="37">
                <c:v>0.7400000000000002</c:v>
              </c:pt>
              <c:pt idx="38">
                <c:v>0.7599999999999998</c:v>
              </c:pt>
              <c:pt idx="39">
                <c:v>0.7799999999999999</c:v>
              </c:pt>
              <c:pt idx="40">
                <c:v>0.8000000000000002</c:v>
              </c:pt>
              <c:pt idx="41">
                <c:v>0.8200000000000003</c:v>
              </c:pt>
              <c:pt idx="42">
                <c:v>0.8399999999999999</c:v>
              </c:pt>
              <c:pt idx="43">
                <c:v>0.86</c:v>
              </c:pt>
              <c:pt idx="44">
                <c:v>0.8800000000000002</c:v>
              </c:pt>
              <c:pt idx="45">
                <c:v>0.8999999999999998</c:v>
              </c:pt>
              <c:pt idx="46">
                <c:v>0.9199999999999999</c:v>
              </c:pt>
              <c:pt idx="47">
                <c:v>0.9400000000000001</c:v>
              </c:pt>
              <c:pt idx="48">
                <c:v>0.9599999999999996</c:v>
              </c:pt>
              <c:pt idx="49">
                <c:v>0.9799999999999999</c:v>
              </c:pt>
              <c:pt idx="50">
                <c:v>1</c:v>
              </c:pt>
              <c:pt idx="51">
                <c:v>0.9799999999999999</c:v>
              </c:pt>
              <c:pt idx="52">
                <c:v>0.9599999999999996</c:v>
              </c:pt>
              <c:pt idx="53">
                <c:v>0.9400000000000001</c:v>
              </c:pt>
              <c:pt idx="54">
                <c:v>0.9199999999999999</c:v>
              </c:pt>
              <c:pt idx="55">
                <c:v>0.8999999999999998</c:v>
              </c:pt>
              <c:pt idx="56">
                <c:v>0.8800000000000002</c:v>
              </c:pt>
              <c:pt idx="57">
                <c:v>0.86</c:v>
              </c:pt>
              <c:pt idx="58">
                <c:v>0.8399999999999999</c:v>
              </c:pt>
              <c:pt idx="59">
                <c:v>0.8200000000000003</c:v>
              </c:pt>
              <c:pt idx="60">
                <c:v>0.8000000000000002</c:v>
              </c:pt>
              <c:pt idx="61">
                <c:v>0.7799999999999999</c:v>
              </c:pt>
              <c:pt idx="62">
                <c:v>0.7599999999999998</c:v>
              </c:pt>
              <c:pt idx="63">
                <c:v>0.7400000000000002</c:v>
              </c:pt>
              <c:pt idx="64">
                <c:v>0.7200000000000001</c:v>
              </c:pt>
              <c:pt idx="65">
                <c:v>0.6999999999999998</c:v>
              </c:pt>
              <c:pt idx="66">
                <c:v>0.6799999999999997</c:v>
              </c:pt>
              <c:pt idx="67">
                <c:v>0.6600000000000001</c:v>
              </c:pt>
              <c:pt idx="68">
                <c:v>0.64</c:v>
              </c:pt>
              <c:pt idx="69">
                <c:v>0.6199999999999998</c:v>
              </c:pt>
              <c:pt idx="70">
                <c:v>0.6000000000000002</c:v>
              </c:pt>
              <c:pt idx="71">
                <c:v>0.5800000000000001</c:v>
              </c:pt>
              <c:pt idx="72">
                <c:v>0.5599999999999999</c:v>
              </c:pt>
              <c:pt idx="73">
                <c:v>0.5400000000000004</c:v>
              </c:pt>
              <c:pt idx="74">
                <c:v>0.5199999999999996</c:v>
              </c:pt>
              <c:pt idx="75">
                <c:v>0.5</c:v>
              </c:pt>
              <c:pt idx="76">
                <c:v>0.4800000000000004</c:v>
              </c:pt>
              <c:pt idx="77">
                <c:v>0.4599999999999997</c:v>
              </c:pt>
              <c:pt idx="78">
                <c:v>0.4400000000000001</c:v>
              </c:pt>
              <c:pt idx="79">
                <c:v>0.41999999999999993</c:v>
              </c:pt>
              <c:pt idx="80">
                <c:v>0.39999999999999974</c:v>
              </c:pt>
              <c:pt idx="81">
                <c:v>0.38000000000000017</c:v>
              </c:pt>
              <c:pt idx="82">
                <c:v>0.36000000000000004</c:v>
              </c:pt>
              <c:pt idx="83">
                <c:v>0.33999999999999986</c:v>
              </c:pt>
              <c:pt idx="84">
                <c:v>0.3200000000000003</c:v>
              </c:pt>
              <c:pt idx="85">
                <c:v>0.3000000000000001</c:v>
              </c:pt>
              <c:pt idx="86">
                <c:v>0.27999999999999997</c:v>
              </c:pt>
              <c:pt idx="87">
                <c:v>0.2600000000000004</c:v>
              </c:pt>
              <c:pt idx="88">
                <c:v>0.23999999999999963</c:v>
              </c:pt>
              <c:pt idx="89">
                <c:v>0.22000000000000006</c:v>
              </c:pt>
              <c:pt idx="90">
                <c:v>0.19999999999999987</c:v>
              </c:pt>
              <c:pt idx="91">
                <c:v>0.17999999999999972</c:v>
              </c:pt>
              <c:pt idx="92">
                <c:v>0.16000000000000014</c:v>
              </c:pt>
              <c:pt idx="93">
                <c:v>0.13999999999999999</c:v>
              </c:pt>
              <c:pt idx="94">
                <c:v>0.11999999999999982</c:v>
              </c:pt>
              <c:pt idx="95">
                <c:v>0.10000000000000024</c:v>
              </c:pt>
              <c:pt idx="96">
                <c:v>0.08000000000000007</c:v>
              </c:pt>
              <c:pt idx="97">
                <c:v>0.05999999999999991</c:v>
              </c:pt>
              <c:pt idx="98">
                <c:v>0.040000000000000334</c:v>
              </c:pt>
              <c:pt idx="99">
                <c:v>0.019999999999999574</c:v>
              </c:pt>
              <c:pt idx="100">
                <c:v>0</c:v>
              </c:pt>
            </c:numLit>
          </c:yVal>
        </c:ser>
        <c:ser>
          <c:idx val="1"/>
          <c:order val="1"/>
          <c:tx>
            <c:v>Caliente</c:v>
          </c:tx>
          <c:spPr>
            <a:ln xmlns:a="http://schemas.openxmlformats.org/drawingml/2006/main" w="28575">
              <a:solidFill>
                <a:srgbClr val="D96B18"/>
              </a:solidFill>
            </a:ln>
          </c:spPr>
          <c:marker>
            <c:symbol val="none"/>
            <c:size val="5"/>
          </c:marker>
          <c:xVal>
            <c:numLit>
              <c:formatCode>General</c:formatCode>
              <c:ptCount val="101"/>
              <c:pt idx="0">
                <c:v>16</c:v>
              </c:pt>
              <c:pt idx="1">
                <c:v>16.12</c:v>
              </c:pt>
              <c:pt idx="2">
                <c:v>16.24</c:v>
              </c:pt>
              <c:pt idx="3">
                <c:v>16.36</c:v>
              </c:pt>
              <c:pt idx="4">
                <c:v>16.48</c:v>
              </c:pt>
              <c:pt idx="5">
                <c:v>16.6</c:v>
              </c:pt>
              <c:pt idx="6">
                <c:v>16.72</c:v>
              </c:pt>
              <c:pt idx="7">
                <c:v>16.84</c:v>
              </c:pt>
              <c:pt idx="8">
                <c:v>16.96</c:v>
              </c:pt>
              <c:pt idx="9">
                <c:v>17.08</c:v>
              </c:pt>
              <c:pt idx="10">
                <c:v>17.2</c:v>
              </c:pt>
              <c:pt idx="11">
                <c:v>17.32</c:v>
              </c:pt>
              <c:pt idx="12">
                <c:v>17.44</c:v>
              </c:pt>
              <c:pt idx="13">
                <c:v>17.56</c:v>
              </c:pt>
              <c:pt idx="14">
                <c:v>17.68</c:v>
              </c:pt>
              <c:pt idx="15">
                <c:v>17.8</c:v>
              </c:pt>
              <c:pt idx="16">
                <c:v>17.92</c:v>
              </c:pt>
              <c:pt idx="17">
                <c:v>18.04</c:v>
              </c:pt>
              <c:pt idx="18">
                <c:v>18.16</c:v>
              </c:pt>
              <c:pt idx="19">
                <c:v>18.28</c:v>
              </c:pt>
              <c:pt idx="20">
                <c:v>18.4</c:v>
              </c:pt>
              <c:pt idx="21">
                <c:v>18.52</c:v>
              </c:pt>
              <c:pt idx="22">
                <c:v>18.64</c:v>
              </c:pt>
              <c:pt idx="23">
                <c:v>18.759999999999998</c:v>
              </c:pt>
              <c:pt idx="24">
                <c:v>18.88</c:v>
              </c:pt>
              <c:pt idx="25">
                <c:v>19</c:v>
              </c:pt>
              <c:pt idx="26">
                <c:v>19.12</c:v>
              </c:pt>
              <c:pt idx="27">
                <c:v>19.240000000000002</c:v>
              </c:pt>
              <c:pt idx="28">
                <c:v>19.36</c:v>
              </c:pt>
              <c:pt idx="29">
                <c:v>19.48</c:v>
              </c:pt>
              <c:pt idx="30">
                <c:v>19.6</c:v>
              </c:pt>
              <c:pt idx="31">
                <c:v>19.72</c:v>
              </c:pt>
              <c:pt idx="32">
                <c:v>19.84</c:v>
              </c:pt>
              <c:pt idx="33">
                <c:v>19.96</c:v>
              </c:pt>
              <c:pt idx="34">
                <c:v>20.08</c:v>
              </c:pt>
              <c:pt idx="35">
                <c:v>20.2</c:v>
              </c:pt>
              <c:pt idx="36">
                <c:v>20.32</c:v>
              </c:pt>
              <c:pt idx="37">
                <c:v>20.44</c:v>
              </c:pt>
              <c:pt idx="38">
                <c:v>20.56</c:v>
              </c:pt>
              <c:pt idx="39">
                <c:v>20.68</c:v>
              </c:pt>
              <c:pt idx="40">
                <c:v>20.8</c:v>
              </c:pt>
              <c:pt idx="41">
                <c:v>20.92</c:v>
              </c:pt>
              <c:pt idx="42">
                <c:v>21.04</c:v>
              </c:pt>
              <c:pt idx="43">
                <c:v>21.16</c:v>
              </c:pt>
              <c:pt idx="44">
                <c:v>21.28</c:v>
              </c:pt>
              <c:pt idx="45">
                <c:v>21.4</c:v>
              </c:pt>
              <c:pt idx="46">
                <c:v>21.52</c:v>
              </c:pt>
              <c:pt idx="47">
                <c:v>21.64</c:v>
              </c:pt>
              <c:pt idx="48">
                <c:v>21.759999999999998</c:v>
              </c:pt>
              <c:pt idx="49">
                <c:v>21.88</c:v>
              </c:pt>
              <c:pt idx="50">
                <c:v>22</c:v>
              </c:pt>
              <c:pt idx="51">
                <c:v>22.12</c:v>
              </c:pt>
              <c:pt idx="52">
                <c:v>22.240000000000002</c:v>
              </c:pt>
              <c:pt idx="53">
                <c:v>22.36</c:v>
              </c:pt>
              <c:pt idx="54">
                <c:v>22.48</c:v>
              </c:pt>
              <c:pt idx="55">
                <c:v>22.6</c:v>
              </c:pt>
              <c:pt idx="56">
                <c:v>22.72</c:v>
              </c:pt>
              <c:pt idx="57">
                <c:v>22.84</c:v>
              </c:pt>
              <c:pt idx="58">
                <c:v>22.96</c:v>
              </c:pt>
              <c:pt idx="59">
                <c:v>23.08</c:v>
              </c:pt>
              <c:pt idx="60">
                <c:v>23.2</c:v>
              </c:pt>
              <c:pt idx="61">
                <c:v>23.32</c:v>
              </c:pt>
              <c:pt idx="62">
                <c:v>23.44</c:v>
              </c:pt>
              <c:pt idx="63">
                <c:v>23.56</c:v>
              </c:pt>
              <c:pt idx="64">
                <c:v>23.68</c:v>
              </c:pt>
              <c:pt idx="65">
                <c:v>23.8</c:v>
              </c:pt>
              <c:pt idx="66">
                <c:v>23.92</c:v>
              </c:pt>
              <c:pt idx="67">
                <c:v>24.04</c:v>
              </c:pt>
              <c:pt idx="68">
                <c:v>24.16</c:v>
              </c:pt>
              <c:pt idx="69">
                <c:v>24.28</c:v>
              </c:pt>
              <c:pt idx="70">
                <c:v>24.4</c:v>
              </c:pt>
              <c:pt idx="71">
                <c:v>24.52</c:v>
              </c:pt>
              <c:pt idx="72">
                <c:v>24.64</c:v>
              </c:pt>
              <c:pt idx="73">
                <c:v>24.759999999999998</c:v>
              </c:pt>
              <c:pt idx="74">
                <c:v>24.880000000000003</c:v>
              </c:pt>
              <c:pt idx="75">
                <c:v>25</c:v>
              </c:pt>
              <c:pt idx="76">
                <c:v>25.119999999999997</c:v>
              </c:pt>
              <c:pt idx="77">
                <c:v>25.240000000000002</c:v>
              </c:pt>
              <c:pt idx="78">
                <c:v>25.36</c:v>
              </c:pt>
              <c:pt idx="79">
                <c:v>25.48</c:v>
              </c:pt>
              <c:pt idx="80">
                <c:v>25.6</c:v>
              </c:pt>
              <c:pt idx="81">
                <c:v>25.72</c:v>
              </c:pt>
              <c:pt idx="82">
                <c:v>25.84</c:v>
              </c:pt>
              <c:pt idx="83">
                <c:v>25.96</c:v>
              </c:pt>
              <c:pt idx="84">
                <c:v>26.08</c:v>
              </c:pt>
              <c:pt idx="85">
                <c:v>26.2</c:v>
              </c:pt>
              <c:pt idx="86">
                <c:v>26.32</c:v>
              </c:pt>
              <c:pt idx="87">
                <c:v>26.439999999999998</c:v>
              </c:pt>
              <c:pt idx="88">
                <c:v>26.560000000000002</c:v>
              </c:pt>
              <c:pt idx="89">
                <c:v>26.68</c:v>
              </c:pt>
              <c:pt idx="90">
                <c:v>26.8</c:v>
              </c:pt>
              <c:pt idx="91">
                <c:v>26.92</c:v>
              </c:pt>
              <c:pt idx="92">
                <c:v>27.04</c:v>
              </c:pt>
              <c:pt idx="93">
                <c:v>27.16</c:v>
              </c:pt>
              <c:pt idx="94">
                <c:v>27.28</c:v>
              </c:pt>
              <c:pt idx="95">
                <c:v>27.4</c:v>
              </c:pt>
              <c:pt idx="96">
                <c:v>27.52</c:v>
              </c:pt>
              <c:pt idx="97">
                <c:v>27.64</c:v>
              </c:pt>
              <c:pt idx="98">
                <c:v>27.759999999999998</c:v>
              </c:pt>
              <c:pt idx="99">
                <c:v>27.880000000000003</c:v>
              </c:pt>
              <c:pt idx="100">
                <c:v>28</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0.020000000000000167</c:v>
              </c:pt>
              <c:pt idx="52">
                <c:v>0.040000000000000334</c:v>
              </c:pt>
              <c:pt idx="53">
                <c:v>0.05999999999999991</c:v>
              </c:pt>
              <c:pt idx="54">
                <c:v>0.08000000000000007</c:v>
              </c:pt>
              <c:pt idx="55">
                <c:v>0.10000000000000024</c:v>
              </c:pt>
              <c:pt idx="56">
                <c:v>0.11999999999999982</c:v>
              </c:pt>
              <c:pt idx="57">
                <c:v>0.13999999999999999</c:v>
              </c:pt>
              <c:pt idx="58">
                <c:v>0.16000000000000014</c:v>
              </c:pt>
              <c:pt idx="59">
                <c:v>0.17999999999999972</c:v>
              </c:pt>
              <c:pt idx="60">
                <c:v>0.19999999999999987</c:v>
              </c:pt>
              <c:pt idx="61">
                <c:v>0.22000000000000006</c:v>
              </c:pt>
              <c:pt idx="62">
                <c:v>0.2400000000000002</c:v>
              </c:pt>
              <c:pt idx="63">
                <c:v>0.2599999999999998</c:v>
              </c:pt>
              <c:pt idx="64">
                <c:v>0.27999999999999997</c:v>
              </c:pt>
              <c:pt idx="65">
                <c:v>0.3000000000000001</c:v>
              </c:pt>
              <c:pt idx="66">
                <c:v>0.3200000000000003</c:v>
              </c:pt>
              <c:pt idx="67">
                <c:v>0.33999999999999986</c:v>
              </c:pt>
              <c:pt idx="68">
                <c:v>0.36000000000000004</c:v>
              </c:pt>
              <c:pt idx="69">
                <c:v>0.38000000000000017</c:v>
              </c:pt>
              <c:pt idx="70">
                <c:v>0.39999999999999974</c:v>
              </c:pt>
              <c:pt idx="71">
                <c:v>0.41999999999999993</c:v>
              </c:pt>
              <c:pt idx="72">
                <c:v>0.4400000000000001</c:v>
              </c:pt>
              <c:pt idx="73">
                <c:v>0.4599999999999997</c:v>
              </c:pt>
              <c:pt idx="74">
                <c:v>0.4800000000000004</c:v>
              </c:pt>
              <c:pt idx="75">
                <c:v>0.5</c:v>
              </c:pt>
              <c:pt idx="76">
                <c:v>0.5199999999999996</c:v>
              </c:pt>
              <c:pt idx="77">
                <c:v>0.5400000000000004</c:v>
              </c:pt>
              <c:pt idx="78">
                <c:v>0.5599999999999999</c:v>
              </c:pt>
              <c:pt idx="79">
                <c:v>0.5800000000000001</c:v>
              </c:pt>
              <c:pt idx="80">
                <c:v>0.6000000000000002</c:v>
              </c:pt>
              <c:pt idx="81">
                <c:v>0.6199999999999998</c:v>
              </c:pt>
              <c:pt idx="82">
                <c:v>0.64</c:v>
              </c:pt>
              <c:pt idx="83">
                <c:v>0.6600000000000001</c:v>
              </c:pt>
              <c:pt idx="84">
                <c:v>0.6799999999999997</c:v>
              </c:pt>
              <c:pt idx="85">
                <c:v>0.6999999999999998</c:v>
              </c:pt>
              <c:pt idx="86">
                <c:v>0.7200000000000001</c:v>
              </c:pt>
              <c:pt idx="87">
                <c:v>0.7399999999999997</c:v>
              </c:pt>
              <c:pt idx="88">
                <c:v>0.7600000000000003</c:v>
              </c:pt>
              <c:pt idx="89">
                <c:v>0.7799999999999999</c:v>
              </c:pt>
              <c:pt idx="90">
                <c:v>0.8000000000000002</c:v>
              </c:pt>
              <c:pt idx="91">
                <c:v>0.8200000000000003</c:v>
              </c:pt>
              <c:pt idx="92">
                <c:v>0.8399999999999999</c:v>
              </c:pt>
              <c:pt idx="93">
                <c:v>0.86</c:v>
              </c:pt>
              <c:pt idx="94">
                <c:v>0.8800000000000002</c:v>
              </c:pt>
              <c:pt idx="95">
                <c:v>0.8999999999999998</c:v>
              </c:pt>
              <c:pt idx="96">
                <c:v>0.9199999999999999</c:v>
              </c:pt>
              <c:pt idx="97">
                <c:v>0.9400000000000001</c:v>
              </c:pt>
              <c:pt idx="98">
                <c:v>0.9599999999999996</c:v>
              </c:pt>
              <c:pt idx="99">
                <c:v>0.9800000000000004</c:v>
              </c:pt>
              <c:pt idx="100">
                <c:v>1</c:v>
              </c:pt>
            </c:numLit>
          </c:yVal>
        </c:ser>
        <c:ser>
          <c:idx val="2"/>
          <c:order val="2"/>
          <c:tx>
            <c:v>Lectura</c:v>
          </c:tx>
          <c:spPr>
            <a:ln xmlns:a="http://schemas.openxmlformats.org/drawingml/2006/main" w="28575">
              <a:solidFill>
                <a:srgbClr val="73808A"/>
              </a:solidFill>
            </a:ln>
          </c:spPr>
          <c:marker>
            <c:symbol val="none"/>
            <c:size val="5"/>
          </c:marker>
          <c:xVal>
            <c:numLit>
              <c:formatCode>General</c:formatCode>
              <c:ptCount val="2"/>
              <c:pt idx="0">
                <c:v>25</c:v>
              </c:pt>
              <c:pt idx="1">
                <c:v>25</c:v>
              </c:pt>
            </c:numLit>
          </c:xVal>
          <c:yVal>
            <c:numLit>
              <c:formatCode>General</c:formatCode>
              <c:ptCount val="2"/>
              <c:pt idx="0">
                <c:v>0</c:v>
              </c:pt>
              <c:pt idx="1">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28"/>
          <c:min val="16"/>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3.xml><?xml version="1.0" encoding="utf-8"?>
<c:chartSpace xmlns:c="http://schemas.openxmlformats.org/drawingml/2006/chart">
  <c:lang val="en-US"/>
  <c:chart>
    <c:plotArea>
      <c:scatterChart>
        <c:ser>
          <c:idx val="0"/>
          <c:order val="0"/>
          <c:tx>
            <c:v>Lectura aproximada</c:v>
          </c:tx>
          <c:spPr>
            <a:ln xmlns:a="http://schemas.openxmlformats.org/drawingml/2006/main" w="28575">
              <a:solidFill>
                <a:srgbClr val="2162A0"/>
              </a:solidFill>
            </a:ln>
          </c:spPr>
          <c:marker>
            <c:symbol val="none"/>
            <c:size val="5"/>
          </c:marker>
          <c:xVal>
            <c:numLit>
              <c:formatCode>General</c:formatCode>
              <c:ptCount val="101"/>
              <c:pt idx="0">
                <c:v>9.85</c:v>
              </c:pt>
              <c:pt idx="1">
                <c:v>9.853</c:v>
              </c:pt>
              <c:pt idx="2">
                <c:v>9.856</c:v>
              </c:pt>
              <c:pt idx="3">
                <c:v>9.859</c:v>
              </c:pt>
              <c:pt idx="4">
                <c:v>9.862</c:v>
              </c:pt>
              <c:pt idx="5">
                <c:v>9.865</c:v>
              </c:pt>
              <c:pt idx="6">
                <c:v>9.868</c:v>
              </c:pt>
              <c:pt idx="7">
                <c:v>9.871</c:v>
              </c:pt>
              <c:pt idx="8">
                <c:v>9.874</c:v>
              </c:pt>
              <c:pt idx="9">
                <c:v>9.876999999999999</c:v>
              </c:pt>
              <c:pt idx="10">
                <c:v>9.879999999999999</c:v>
              </c:pt>
              <c:pt idx="11">
                <c:v>9.883</c:v>
              </c:pt>
              <c:pt idx="12">
                <c:v>9.886</c:v>
              </c:pt>
              <c:pt idx="13">
                <c:v>9.889</c:v>
              </c:pt>
              <c:pt idx="14">
                <c:v>9.892</c:v>
              </c:pt>
              <c:pt idx="15">
                <c:v>9.895</c:v>
              </c:pt>
              <c:pt idx="16">
                <c:v>9.898</c:v>
              </c:pt>
              <c:pt idx="17">
                <c:v>9.901</c:v>
              </c:pt>
              <c:pt idx="18">
                <c:v>9.904</c:v>
              </c:pt>
              <c:pt idx="19">
                <c:v>9.907</c:v>
              </c:pt>
              <c:pt idx="20">
                <c:v>9.91</c:v>
              </c:pt>
              <c:pt idx="21">
                <c:v>9.913</c:v>
              </c:pt>
              <c:pt idx="22">
                <c:v>9.916</c:v>
              </c:pt>
              <c:pt idx="23">
                <c:v>9.919</c:v>
              </c:pt>
              <c:pt idx="24">
                <c:v>9.922</c:v>
              </c:pt>
              <c:pt idx="25">
                <c:v>9.925</c:v>
              </c:pt>
              <c:pt idx="26">
                <c:v>9.927999999999999</c:v>
              </c:pt>
              <c:pt idx="27">
                <c:v>9.931</c:v>
              </c:pt>
              <c:pt idx="28">
                <c:v>9.934</c:v>
              </c:pt>
              <c:pt idx="29">
                <c:v>9.937</c:v>
              </c:pt>
              <c:pt idx="30">
                <c:v>9.94</c:v>
              </c:pt>
              <c:pt idx="31">
                <c:v>9.943</c:v>
              </c:pt>
              <c:pt idx="32">
                <c:v>9.946</c:v>
              </c:pt>
              <c:pt idx="33">
                <c:v>9.949</c:v>
              </c:pt>
              <c:pt idx="34">
                <c:v>9.952</c:v>
              </c:pt>
              <c:pt idx="35">
                <c:v>9.955</c:v>
              </c:pt>
              <c:pt idx="36">
                <c:v>9.958</c:v>
              </c:pt>
              <c:pt idx="37">
                <c:v>9.961</c:v>
              </c:pt>
              <c:pt idx="38">
                <c:v>9.964</c:v>
              </c:pt>
              <c:pt idx="39">
                <c:v>9.967</c:v>
              </c:pt>
              <c:pt idx="40">
                <c:v>9.97</c:v>
              </c:pt>
              <c:pt idx="41">
                <c:v>9.973</c:v>
              </c:pt>
              <c:pt idx="42">
                <c:v>9.975999999999999</c:v>
              </c:pt>
              <c:pt idx="43">
                <c:v>9.979</c:v>
              </c:pt>
              <c:pt idx="44">
                <c:v>9.982</c:v>
              </c:pt>
              <c:pt idx="45">
                <c:v>9.985</c:v>
              </c:pt>
              <c:pt idx="46">
                <c:v>9.988</c:v>
              </c:pt>
              <c:pt idx="47">
                <c:v>9.991</c:v>
              </c:pt>
              <c:pt idx="48">
                <c:v>9.994</c:v>
              </c:pt>
              <c:pt idx="49">
                <c:v>9.997</c:v>
              </c:pt>
              <c:pt idx="50">
                <c:v>10</c:v>
              </c:pt>
              <c:pt idx="51">
                <c:v>10.003</c:v>
              </c:pt>
              <c:pt idx="52">
                <c:v>10.006</c:v>
              </c:pt>
              <c:pt idx="53">
                <c:v>10.009</c:v>
              </c:pt>
              <c:pt idx="54">
                <c:v>10.012</c:v>
              </c:pt>
              <c:pt idx="55">
                <c:v>10.015</c:v>
              </c:pt>
              <c:pt idx="56">
                <c:v>10.018</c:v>
              </c:pt>
              <c:pt idx="57">
                <c:v>10.021</c:v>
              </c:pt>
              <c:pt idx="58">
                <c:v>10.024000000000001</c:v>
              </c:pt>
              <c:pt idx="59">
                <c:v>10.027</c:v>
              </c:pt>
              <c:pt idx="60">
                <c:v>10.03</c:v>
              </c:pt>
              <c:pt idx="61">
                <c:v>10.033</c:v>
              </c:pt>
              <c:pt idx="62">
                <c:v>10.036</c:v>
              </c:pt>
              <c:pt idx="63">
                <c:v>10.039</c:v>
              </c:pt>
              <c:pt idx="64">
                <c:v>10.042</c:v>
              </c:pt>
              <c:pt idx="65">
                <c:v>10.045</c:v>
              </c:pt>
              <c:pt idx="66">
                <c:v>10.048</c:v>
              </c:pt>
              <c:pt idx="67">
                <c:v>10.051</c:v>
              </c:pt>
              <c:pt idx="68">
                <c:v>10.054</c:v>
              </c:pt>
              <c:pt idx="69">
                <c:v>10.057</c:v>
              </c:pt>
              <c:pt idx="70">
                <c:v>10.06</c:v>
              </c:pt>
              <c:pt idx="71">
                <c:v>10.063</c:v>
              </c:pt>
              <c:pt idx="72">
                <c:v>10.066</c:v>
              </c:pt>
              <c:pt idx="73">
                <c:v>10.069</c:v>
              </c:pt>
              <c:pt idx="74">
                <c:v>10.072000000000001</c:v>
              </c:pt>
              <c:pt idx="75">
                <c:v>10.075</c:v>
              </c:pt>
              <c:pt idx="76">
                <c:v>10.078</c:v>
              </c:pt>
              <c:pt idx="77">
                <c:v>10.081</c:v>
              </c:pt>
              <c:pt idx="78">
                <c:v>10.084</c:v>
              </c:pt>
              <c:pt idx="79">
                <c:v>10.087</c:v>
              </c:pt>
              <c:pt idx="80">
                <c:v>10.09</c:v>
              </c:pt>
              <c:pt idx="81">
                <c:v>10.093</c:v>
              </c:pt>
              <c:pt idx="82">
                <c:v>10.096</c:v>
              </c:pt>
              <c:pt idx="83">
                <c:v>10.099</c:v>
              </c:pt>
              <c:pt idx="84">
                <c:v>10.102</c:v>
              </c:pt>
              <c:pt idx="85">
                <c:v>10.105</c:v>
              </c:pt>
              <c:pt idx="86">
                <c:v>10.108</c:v>
              </c:pt>
              <c:pt idx="87">
                <c:v>10.111</c:v>
              </c:pt>
              <c:pt idx="88">
                <c:v>10.114</c:v>
              </c:pt>
              <c:pt idx="89">
                <c:v>10.117</c:v>
              </c:pt>
              <c:pt idx="90">
                <c:v>10.120000000000001</c:v>
              </c:pt>
              <c:pt idx="91">
                <c:v>10.123000000000001</c:v>
              </c:pt>
              <c:pt idx="92">
                <c:v>10.126</c:v>
              </c:pt>
              <c:pt idx="93">
                <c:v>10.129</c:v>
              </c:pt>
              <c:pt idx="94">
                <c:v>10.132</c:v>
              </c:pt>
              <c:pt idx="95">
                <c:v>10.135</c:v>
              </c:pt>
              <c:pt idx="96">
                <c:v>10.138</c:v>
              </c:pt>
              <c:pt idx="97">
                <c:v>10.141</c:v>
              </c:pt>
              <c:pt idx="98">
                <c:v>10.144</c:v>
              </c:pt>
              <c:pt idx="99">
                <c:v>10.147</c:v>
              </c:pt>
              <c:pt idx="100">
                <c:v>10.15</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0.009999999999994492</c:v>
              </c:pt>
              <c:pt idx="18">
                <c:v>0.03999999999999573</c:v>
              </c:pt>
              <c:pt idx="19">
                <c:v>0.06999999999999698</c:v>
              </c:pt>
              <c:pt idx="20">
                <c:v>0.09999999999999823</c:v>
              </c:pt>
              <c:pt idx="21">
                <c:v>0.12999999999999948</c:v>
              </c:pt>
              <c:pt idx="22">
                <c:v>0.1600000000000007</c:v>
              </c:pt>
              <c:pt idx="23">
                <c:v>0.19000000000000195</c:v>
              </c:pt>
              <c:pt idx="24">
                <c:v>0.2200000000000032</c:v>
              </c:pt>
              <c:pt idx="25">
                <c:v>0.25000000000000444</c:v>
              </c:pt>
              <c:pt idx="26">
                <c:v>0.2799999999999879</c:v>
              </c:pt>
              <c:pt idx="27">
                <c:v>0.3099999999999892</c:v>
              </c:pt>
              <c:pt idx="28">
                <c:v>0.3399999999999904</c:v>
              </c:pt>
              <c:pt idx="29">
                <c:v>0.36999999999999167</c:v>
              </c:pt>
              <c:pt idx="30">
                <c:v>0.3999999999999929</c:v>
              </c:pt>
              <c:pt idx="31">
                <c:v>0.42999999999999416</c:v>
              </c:pt>
              <c:pt idx="32">
                <c:v>0.45999999999999536</c:v>
              </c:pt>
              <c:pt idx="33">
                <c:v>0.4899999999999966</c:v>
              </c:pt>
              <c:pt idx="34">
                <c:v>0.5199999999999979</c:v>
              </c:pt>
              <c:pt idx="35">
                <c:v>0.5499999999999992</c:v>
              </c:pt>
              <c:pt idx="36">
                <c:v>0.5800000000000004</c:v>
              </c:pt>
              <c:pt idx="37">
                <c:v>0.6100000000000017</c:v>
              </c:pt>
              <c:pt idx="38">
                <c:v>0.6400000000000028</c:v>
              </c:pt>
              <c:pt idx="39">
                <c:v>0.670000000000004</c:v>
              </c:pt>
              <c:pt idx="40">
                <c:v>0.7000000000000053</c:v>
              </c:pt>
              <c:pt idx="41">
                <c:v>0.7300000000000065</c:v>
              </c:pt>
              <c:pt idx="42">
                <c:v>0.75999999999999</c:v>
              </c:pt>
              <c:pt idx="43">
                <c:v>0.7899999999999913</c:v>
              </c:pt>
              <c:pt idx="44">
                <c:v>0.8199999999999925</c:v>
              </c:pt>
              <c:pt idx="45">
                <c:v>0.8499999999999938</c:v>
              </c:pt>
              <c:pt idx="46">
                <c:v>0.879999999999995</c:v>
              </c:pt>
              <c:pt idx="47">
                <c:v>0.9099999999999963</c:v>
              </c:pt>
              <c:pt idx="48">
                <c:v>0.9399999999999975</c:v>
              </c:pt>
              <c:pt idx="49">
                <c:v>0.9699999999999988</c:v>
              </c:pt>
              <c:pt idx="50">
                <c:v>1</c:v>
              </c:pt>
              <c:pt idx="51">
                <c:v>0.9699999999999988</c:v>
              </c:pt>
              <c:pt idx="52">
                <c:v>0.9399999999999975</c:v>
              </c:pt>
              <c:pt idx="53">
                <c:v>0.9099999999999963</c:v>
              </c:pt>
              <c:pt idx="54">
                <c:v>0.879999999999995</c:v>
              </c:pt>
              <c:pt idx="55">
                <c:v>0.8499999999999938</c:v>
              </c:pt>
              <c:pt idx="56">
                <c:v>0.8199999999999925</c:v>
              </c:pt>
              <c:pt idx="57">
                <c:v>0.7899999999999913</c:v>
              </c:pt>
              <c:pt idx="58">
                <c:v>0.75999999999999</c:v>
              </c:pt>
              <c:pt idx="59">
                <c:v>0.7300000000000065</c:v>
              </c:pt>
              <c:pt idx="60">
                <c:v>0.7000000000000053</c:v>
              </c:pt>
              <c:pt idx="61">
                <c:v>0.670000000000004</c:v>
              </c:pt>
              <c:pt idx="62">
                <c:v>0.6400000000000028</c:v>
              </c:pt>
              <c:pt idx="63">
                <c:v>0.6100000000000017</c:v>
              </c:pt>
              <c:pt idx="64">
                <c:v>0.5800000000000004</c:v>
              </c:pt>
              <c:pt idx="65">
                <c:v>0.5499999999999992</c:v>
              </c:pt>
              <c:pt idx="66">
                <c:v>0.5199999999999979</c:v>
              </c:pt>
              <c:pt idx="67">
                <c:v>0.4899999999999966</c:v>
              </c:pt>
              <c:pt idx="68">
                <c:v>0.45999999999999536</c:v>
              </c:pt>
              <c:pt idx="69">
                <c:v>0.42999999999999416</c:v>
              </c:pt>
              <c:pt idx="70">
                <c:v>0.3999999999999929</c:v>
              </c:pt>
              <c:pt idx="71">
                <c:v>0.36999999999999167</c:v>
              </c:pt>
              <c:pt idx="72">
                <c:v>0.3399999999999904</c:v>
              </c:pt>
              <c:pt idx="73">
                <c:v>0.3099999999999892</c:v>
              </c:pt>
              <c:pt idx="74">
                <c:v>0.2799999999999879</c:v>
              </c:pt>
              <c:pt idx="75">
                <c:v>0.25000000000000444</c:v>
              </c:pt>
              <c:pt idx="76">
                <c:v>0.2200000000000032</c:v>
              </c:pt>
              <c:pt idx="77">
                <c:v>0.19000000000000195</c:v>
              </c:pt>
              <c:pt idx="78">
                <c:v>0.1600000000000007</c:v>
              </c:pt>
              <c:pt idx="79">
                <c:v>0.12999999999999948</c:v>
              </c:pt>
              <c:pt idx="80">
                <c:v>0.09999999999999823</c:v>
              </c:pt>
              <c:pt idx="81">
                <c:v>0.06999999999999698</c:v>
              </c:pt>
              <c:pt idx="82">
                <c:v>0.03999999999999573</c:v>
              </c:pt>
              <c:pt idx="83">
                <c:v>0.009999999999994492</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15"/>
          <c:min val="9.85"/>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Voltaje (V)</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0.1"/>
      </c:valAx>
    </c:plotArea>
    <c:plotVisOnly val="1"/>
  </c:chart>
  <c:spPr>
    <a:solidFill xmlns:a="http://schemas.openxmlformats.org/drawingml/2006/main">
      <a:srgbClr val="FFFFFF"/>
    </a:solidFill>
  </c:spPr>
</c:chartSpace>
</file>

<file path=ppt/slides/charts/chart14.xml><?xml version="1.0" encoding="utf-8"?>
<c:chartSpace xmlns:c="http://schemas.openxmlformats.org/drawingml/2006/chart">
  <c:lang val="en-US"/>
  <c:chart>
    <c:plotArea>
      <c:scatterChart>
        <c:scatterStyle val="line"/>
        <c:ser>
          <c:idx val="0"/>
          <c:order val="0"/>
          <c:tx>
            <c:v>Triangular · a &lt; b &lt; c</c:v>
          </c:tx>
          <c:spPr>
            <a:ln xmlns:a="http://schemas.openxmlformats.org/drawingml/2006/main" w="28575">
              <a:solidFill>
                <a:srgbClr val="2162A0"/>
              </a:solidFill>
            </a:ln>
          </c:spPr>
          <c:marker>
            <c:symbol val="none"/>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0.03333333333333336</c:v>
              </c:pt>
              <c:pt idx="22">
                <c:v>0.06666666666666672</c:v>
              </c:pt>
              <c:pt idx="23">
                <c:v>0.09999999999999994</c:v>
              </c:pt>
              <c:pt idx="24">
                <c:v>0.1333333333333333</c:v>
              </c:pt>
              <c:pt idx="25">
                <c:v>0.16666666666666666</c:v>
              </c:pt>
              <c:pt idx="26">
                <c:v>0.20000000000000004</c:v>
              </c:pt>
              <c:pt idx="27">
                <c:v>0.2333333333333334</c:v>
              </c:pt>
              <c:pt idx="28">
                <c:v>0.2666666666666666</c:v>
              </c:pt>
              <c:pt idx="29">
                <c:v>0.3</c:v>
              </c:pt>
              <c:pt idx="30">
                <c:v>0.3333333333333333</c:v>
              </c:pt>
              <c:pt idx="31">
                <c:v>0.3666666666666667</c:v>
              </c:pt>
              <c:pt idx="32">
                <c:v>0.4000000000000001</c:v>
              </c:pt>
              <c:pt idx="33">
                <c:v>0.4333333333333333</c:v>
              </c:pt>
              <c:pt idx="34">
                <c:v>0.4666666666666666</c:v>
              </c:pt>
              <c:pt idx="35">
                <c:v>0.5</c:v>
              </c:pt>
              <c:pt idx="36">
                <c:v>0.5333333333333333</c:v>
              </c:pt>
              <c:pt idx="37">
                <c:v>0.5666666666666668</c:v>
              </c:pt>
              <c:pt idx="38">
                <c:v>0.6</c:v>
              </c:pt>
              <c:pt idx="39">
                <c:v>0.6333333333333333</c:v>
              </c:pt>
              <c:pt idx="40">
                <c:v>0.6666666666666666</c:v>
              </c:pt>
              <c:pt idx="41">
                <c:v>0.6999999999999998</c:v>
              </c:pt>
              <c:pt idx="42">
                <c:v>0.7333333333333334</c:v>
              </c:pt>
              <c:pt idx="43">
                <c:v>0.7666666666666666</c:v>
              </c:pt>
              <c:pt idx="44">
                <c:v>0.8000000000000002</c:v>
              </c:pt>
              <c:pt idx="45">
                <c:v>0.8333333333333334</c:v>
              </c:pt>
              <c:pt idx="46">
                <c:v>0.8666666666666666</c:v>
              </c:pt>
              <c:pt idx="47">
                <c:v>0.9</c:v>
              </c:pt>
              <c:pt idx="48">
                <c:v>0.9333333333333332</c:v>
              </c:pt>
              <c:pt idx="49">
                <c:v>0.9666666666666668</c:v>
              </c:pt>
              <c:pt idx="50">
                <c:v>1</c:v>
              </c:pt>
              <c:pt idx="51">
                <c:v>0.9666666666666668</c:v>
              </c:pt>
              <c:pt idx="52">
                <c:v>0.9333333333333332</c:v>
              </c:pt>
              <c:pt idx="53">
                <c:v>0.9</c:v>
              </c:pt>
              <c:pt idx="54">
                <c:v>0.8666666666666666</c:v>
              </c:pt>
              <c:pt idx="55">
                <c:v>0.8333333333333334</c:v>
              </c:pt>
              <c:pt idx="56">
                <c:v>0.8000000000000002</c:v>
              </c:pt>
              <c:pt idx="57">
                <c:v>0.7666666666666666</c:v>
              </c:pt>
              <c:pt idx="58">
                <c:v>0.7333333333333334</c:v>
              </c:pt>
              <c:pt idx="59">
                <c:v>0.6999999999999998</c:v>
              </c:pt>
              <c:pt idx="60">
                <c:v>0.6666666666666666</c:v>
              </c:pt>
              <c:pt idx="61">
                <c:v>0.6333333333333334</c:v>
              </c:pt>
              <c:pt idx="62">
                <c:v>0.6</c:v>
              </c:pt>
              <c:pt idx="63">
                <c:v>0.5666666666666668</c:v>
              </c:pt>
              <c:pt idx="64">
                <c:v>0.5333333333333332</c:v>
              </c:pt>
              <c:pt idx="65">
                <c:v>0.5</c:v>
              </c:pt>
              <c:pt idx="66">
                <c:v>0.4666666666666668</c:v>
              </c:pt>
              <c:pt idx="67">
                <c:v>0.4333333333333333</c:v>
              </c:pt>
              <c:pt idx="68">
                <c:v>0.4000000000000001</c:v>
              </c:pt>
              <c:pt idx="69">
                <c:v>0.36666666666666653</c:v>
              </c:pt>
              <c:pt idx="70">
                <c:v>0.3333333333333333</c:v>
              </c:pt>
              <c:pt idx="71">
                <c:v>0.3000000000000001</c:v>
              </c:pt>
              <c:pt idx="72">
                <c:v>0.2666666666666666</c:v>
              </c:pt>
              <c:pt idx="73">
                <c:v>0.2333333333333334</c:v>
              </c:pt>
              <c:pt idx="74">
                <c:v>0.19999999999999987</c:v>
              </c:pt>
              <c:pt idx="75">
                <c:v>0.16666666666666666</c:v>
              </c:pt>
              <c:pt idx="76">
                <c:v>0.13333333333333344</c:v>
              </c:pt>
              <c:pt idx="77">
                <c:v>0.09999999999999994</c:v>
              </c:pt>
              <c:pt idx="78">
                <c:v>0.06666666666666672</c:v>
              </c:pt>
              <c:pt idx="79">
                <c:v>0.033333333333333215</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1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0"/>
          <c:min val="0"/>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2"/>
      </c:valAx>
    </c:plotArea>
    <c:plotVisOnly val="1"/>
  </c:chart>
  <c:spPr>
    <a:solidFill xmlns:a="http://schemas.openxmlformats.org/drawingml/2006/main">
      <a:srgbClr val="FFFFFF"/>
    </a:solidFill>
  </c:spPr>
</c:chartSpace>
</file>

<file path=ppt/slides/charts/chart15.xml><?xml version="1.0" encoding="utf-8"?>
<c:chartSpace xmlns:c="http://schemas.openxmlformats.org/drawingml/2006/chart">
  <c:lang val="en-US"/>
  <c:chart>
    <c:plotArea>
      <c:scatterChart>
        <c:scatterStyle val="line"/>
        <c:ser>
          <c:idx val="0"/>
          <c:order val="0"/>
          <c:tx>
            <c:v>Trapezoidal · a &lt; b ≤ c &lt; d</c:v>
          </c:tx>
          <c:spPr>
            <a:ln xmlns:a="http://schemas.openxmlformats.org/drawingml/2006/main" w="28575">
              <a:solidFill>
                <a:srgbClr val="2162A0"/>
              </a:solidFill>
            </a:ln>
          </c:spPr>
          <c:marker>
            <c:symbol val="none"/>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0.050000000000000044</c:v>
              </c:pt>
              <c:pt idx="12">
                <c:v>0.09999999999999998</c:v>
              </c:pt>
              <c:pt idx="13">
                <c:v>0.15000000000000002</c:v>
              </c:pt>
              <c:pt idx="14">
                <c:v>0.19999999999999996</c:v>
              </c:pt>
              <c:pt idx="15">
                <c:v>0.25</c:v>
              </c:pt>
              <c:pt idx="16">
                <c:v>0.30000000000000004</c:v>
              </c:pt>
              <c:pt idx="17">
                <c:v>0.35</c:v>
              </c:pt>
              <c:pt idx="18">
                <c:v>0.4</c:v>
              </c:pt>
              <c:pt idx="19">
                <c:v>0.44999999999999996</c:v>
              </c:pt>
              <c:pt idx="20">
                <c:v>0.5</c:v>
              </c:pt>
              <c:pt idx="21">
                <c:v>0.55</c:v>
              </c:pt>
              <c:pt idx="22">
                <c:v>0.6000000000000001</c:v>
              </c:pt>
              <c:pt idx="23">
                <c:v>0.6499999999999999</c:v>
              </c:pt>
              <c:pt idx="24">
                <c:v>0.7</c:v>
              </c:pt>
              <c:pt idx="25">
                <c:v>0.75</c:v>
              </c:pt>
              <c:pt idx="26">
                <c:v>0.8</c:v>
              </c:pt>
              <c:pt idx="27">
                <c:v>0.8500000000000001</c:v>
              </c:pt>
              <c:pt idx="28">
                <c:v>0.8999999999999999</c:v>
              </c:pt>
              <c:pt idx="29">
                <c:v>0.95</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1</c:v>
              </c:pt>
              <c:pt idx="61">
                <c:v>1</c:v>
              </c:pt>
              <c:pt idx="62">
                <c:v>1</c:v>
              </c:pt>
              <c:pt idx="63">
                <c:v>1</c:v>
              </c:pt>
              <c:pt idx="64">
                <c:v>1</c:v>
              </c:pt>
              <c:pt idx="65">
                <c:v>1</c:v>
              </c:pt>
              <c:pt idx="66">
                <c:v>1</c:v>
              </c:pt>
              <c:pt idx="67">
                <c:v>1</c:v>
              </c:pt>
              <c:pt idx="68">
                <c:v>1</c:v>
              </c:pt>
              <c:pt idx="69">
                <c:v>1</c:v>
              </c:pt>
              <c:pt idx="70">
                <c:v>1</c:v>
              </c:pt>
              <c:pt idx="71">
                <c:v>0.9500000000000002</c:v>
              </c:pt>
              <c:pt idx="72">
                <c:v>0.8999999999999999</c:v>
              </c:pt>
              <c:pt idx="73">
                <c:v>0.8500000000000001</c:v>
              </c:pt>
              <c:pt idx="74">
                <c:v>0.7999999999999998</c:v>
              </c:pt>
              <c:pt idx="75">
                <c:v>0.75</c:v>
              </c:pt>
              <c:pt idx="76">
                <c:v>0.7000000000000002</c:v>
              </c:pt>
              <c:pt idx="77">
                <c:v>0.6499999999999999</c:v>
              </c:pt>
              <c:pt idx="78">
                <c:v>0.6000000000000001</c:v>
              </c:pt>
              <c:pt idx="79">
                <c:v>0.5499999999999998</c:v>
              </c:pt>
              <c:pt idx="80">
                <c:v>0.5</c:v>
              </c:pt>
              <c:pt idx="81">
                <c:v>0.4500000000000002</c:v>
              </c:pt>
              <c:pt idx="82">
                <c:v>0.40000000000000036</c:v>
              </c:pt>
              <c:pt idx="83">
                <c:v>0.34999999999999964</c:v>
              </c:pt>
              <c:pt idx="84">
                <c:v>0.2999999999999998</c:v>
              </c:pt>
              <c:pt idx="85">
                <c:v>0.25</c:v>
              </c:pt>
              <c:pt idx="86">
                <c:v>0.20000000000000018</c:v>
              </c:pt>
              <c:pt idx="87">
                <c:v>0.15000000000000036</c:v>
              </c:pt>
              <c:pt idx="88">
                <c:v>0.09999999999999964</c:v>
              </c:pt>
              <c:pt idx="89">
                <c:v>0.04999999999999982</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1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0"/>
          <c:min val="0"/>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2"/>
      </c:valAx>
    </c:plotArea>
    <c:plotVisOnly val="1"/>
  </c:chart>
  <c:spPr>
    <a:solidFill xmlns:a="http://schemas.openxmlformats.org/drawingml/2006/main">
      <a:srgbClr val="FFFFFF"/>
    </a:solidFill>
  </c:spPr>
</c:chartSpace>
</file>

<file path=ppt/slides/charts/chart16.xml><?xml version="1.0" encoding="utf-8"?>
<c:chartSpace xmlns:c="http://schemas.openxmlformats.org/drawingml/2006/chart">
  <c:lang val="en-US"/>
  <c:chart>
    <c:plotArea>
      <c:scatterChart>
        <c:scatterStyle val="line"/>
        <c:ser>
          <c:idx val="0"/>
          <c:order val="0"/>
          <c:tx>
            <c:v>Gaussiana · sigma &gt; 0</c:v>
          </c:tx>
          <c:spPr>
            <a:ln xmlns:a="http://schemas.openxmlformats.org/drawingml/2006/main" w="28575">
              <a:solidFill>
                <a:srgbClr val="2162A0"/>
              </a:solidFill>
            </a:ln>
          </c:spPr>
          <c:marker>
            <c:symbol val="none"/>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0.0006134267461370622</c:v>
              </c:pt>
              <c:pt idx="1">
                <c:v>0.000822180750585008</c:v>
              </c:pt>
              <c:pt idx="2">
                <c:v>0.0010954740934747866</c:v>
              </c:pt>
              <c:pt idx="3">
                <c:v>0.0014509990517721071</c:v>
              </c:pt>
              <c:pt idx="4">
                <c:v>0.0019105673682673003</c:v>
              </c:pt>
              <c:pt idx="5">
                <c:v>0.0025008508616426468</c:v>
              </c:pt>
              <c:pt idx="6">
                <c:v>0.003254194006977994</c:v>
              </c:pt>
              <c:pt idx="7">
                <c:v>0.004209488221848627</c:v>
              </c:pt>
              <c:pt idx="8">
                <c:v>0.00541309148006536</c:v>
              </c:pt>
              <c:pt idx="9">
                <c:v>0.006919769763579508</c:v>
              </c:pt>
              <c:pt idx="10">
                <c:v>0.008793628879684868</c:v>
              </c:pt>
              <c:pt idx="11">
                <c:v>0.011108996538242306</c:v>
              </c:pt>
              <c:pt idx="12">
                <c:v>0.013951205633448241</c:v>
              </c:pt>
              <c:pt idx="13">
                <c:v>0.01741722085321561</c:v>
              </c:pt>
              <c:pt idx="14">
                <c:v>0.02161604260814102</c:v>
              </c:pt>
              <c:pt idx="15">
                <c:v>0.026668815498487194</c:v>
              </c:pt>
              <c:pt idx="16">
                <c:v>0.0327085638740058</c:v>
              </c:pt>
              <c:pt idx="17">
                <c:v>0.039879475292889724</c:v>
              </c:pt>
              <c:pt idx="18">
                <c:v>0.048335654665708876</c:v>
              </c:pt>
              <c:pt idx="19">
                <c:v>0.058239278342236266</c:v>
              </c:pt>
              <c:pt idx="20">
                <c:v>0.06975808901308159</c:v>
              </c:pt>
              <c:pt idx="21">
                <c:v>0.08306218951588741</c:v>
              </c:pt>
              <c:pt idx="22">
                <c:v>0.09832011665728238</c:v>
              </c:pt>
              <c:pt idx="23">
                <c:v>0.1156942048541658</c:v>
              </c:pt>
              <c:pt idx="24">
                <c:v>0.1353352832366127</c:v>
              </c:pt>
              <c:pt idx="25">
                <c:v>0.15737678788176732</c:v>
              </c:pt>
              <c:pt idx="26">
                <c:v>0.18192841165599005</c:v>
              </c:pt>
              <c:pt idx="27">
                <c:v>0.20906945588916526</c:v>
              </c:pt>
              <c:pt idx="28">
                <c:v>0.23884208856496578</c:v>
              </c:pt>
              <c:pt idx="29">
                <c:v>0.2712447503642366</c:v>
              </c:pt>
              <c:pt idx="30">
                <c:v>0.3062259800580424</c:v>
              </c:pt>
              <c:pt idx="31">
                <c:v>0.3436789517169686</c:v>
              </c:pt>
              <c:pt idx="32">
                <c:v>0.38343702546575154</c:v>
              </c:pt>
              <c:pt idx="33">
                <c:v>0.4252706089254702</c:v>
              </c:pt>
              <c:pt idx="34">
                <c:v>0.46888560648317157</c:v>
              </c:pt>
              <c:pt idx="35">
                <c:v>0.5139236973033376</c:v>
              </c:pt>
              <c:pt idx="36">
                <c:v>0.5599646306480001</c:v>
              </c:pt>
              <c:pt idx="37">
                <c:v>0.6065306597126335</c:v>
              </c:pt>
              <c:pt idx="38">
                <c:v>0.653093154969842</c:v>
              </c:pt>
              <c:pt idx="39">
                <c:v>0.699081348109621</c:v>
              </c:pt>
              <c:pt idx="40">
                <c:v>0.7438930621376465</c:v>
              </c:pt>
              <c:pt idx="41">
                <c:v>0.7869071868117634</c:v>
              </c:pt>
              <c:pt idx="42">
                <c:v>0.8274975665783693</c:v>
              </c:pt>
              <c:pt idx="43">
                <c:v>0.8650478858648663</c:v>
              </c:pt>
              <c:pt idx="44">
                <c:v>0.8989670691281667</c:v>
              </c:pt>
              <c:pt idx="45">
                <c:v>0.9287046650192516</c:v>
              </c:pt>
              <c:pt idx="46">
                <c:v>0.953765659060199</c:v>
              </c:pt>
              <c:pt idx="47">
                <c:v>0.9737241598049973</c:v>
              </c:pt>
              <c:pt idx="48">
                <c:v>0.9882354306130865</c:v>
              </c:pt>
              <c:pt idx="49">
                <c:v>0.9970457924028208</c:v>
              </c:pt>
              <c:pt idx="50">
                <c:v>1</c:v>
              </c:pt>
              <c:pt idx="51">
                <c:v>0.9970457924028208</c:v>
              </c:pt>
              <c:pt idx="52">
                <c:v>0.9882354306130865</c:v>
              </c:pt>
              <c:pt idx="53">
                <c:v>0.9737241598049973</c:v>
              </c:pt>
              <c:pt idx="54">
                <c:v>0.953765659060199</c:v>
              </c:pt>
              <c:pt idx="55">
                <c:v>0.9287046650192516</c:v>
              </c:pt>
              <c:pt idx="56">
                <c:v>0.8989670691281667</c:v>
              </c:pt>
              <c:pt idx="57">
                <c:v>0.8650478858648663</c:v>
              </c:pt>
              <c:pt idx="58">
                <c:v>0.8274975665783693</c:v>
              </c:pt>
              <c:pt idx="59">
                <c:v>0.7869071868117634</c:v>
              </c:pt>
              <c:pt idx="60">
                <c:v>0.7438930621376465</c:v>
              </c:pt>
              <c:pt idx="61">
                <c:v>0.6990813481096212</c:v>
              </c:pt>
              <c:pt idx="62">
                <c:v>0.653093154969842</c:v>
              </c:pt>
              <c:pt idx="63">
                <c:v>0.6065306597126335</c:v>
              </c:pt>
              <c:pt idx="64">
                <c:v>0.559964630648</c:v>
              </c:pt>
              <c:pt idx="65">
                <c:v>0.5139236973033376</c:v>
              </c:pt>
              <c:pt idx="66">
                <c:v>0.4688856064831718</c:v>
              </c:pt>
              <c:pt idx="67">
                <c:v>0.4252706089254702</c:v>
              </c:pt>
              <c:pt idx="68">
                <c:v>0.38343702546575154</c:v>
              </c:pt>
              <c:pt idx="69">
                <c:v>0.3436789517169685</c:v>
              </c:pt>
              <c:pt idx="70">
                <c:v>0.3062259800580424</c:v>
              </c:pt>
              <c:pt idx="71">
                <c:v>0.2712447503642368</c:v>
              </c:pt>
              <c:pt idx="72">
                <c:v>0.23884208856496578</c:v>
              </c:pt>
              <c:pt idx="73">
                <c:v>0.20906945588916526</c:v>
              </c:pt>
              <c:pt idx="74">
                <c:v>0.18192841165598994</c:v>
              </c:pt>
              <c:pt idx="75">
                <c:v>0.15737678788176732</c:v>
              </c:pt>
              <c:pt idx="76">
                <c:v>0.1353352832366128</c:v>
              </c:pt>
              <c:pt idx="77">
                <c:v>0.1156942048541658</c:v>
              </c:pt>
              <c:pt idx="78">
                <c:v>0.09832011665728238</c:v>
              </c:pt>
              <c:pt idx="79">
                <c:v>0.08306218951588741</c:v>
              </c:pt>
              <c:pt idx="80">
                <c:v>0.06975808901308159</c:v>
              </c:pt>
              <c:pt idx="81">
                <c:v>0.05823927834223634</c:v>
              </c:pt>
              <c:pt idx="82">
                <c:v>0.04833565466570899</c:v>
              </c:pt>
              <c:pt idx="83">
                <c:v>0.03987947529288969</c:v>
              </c:pt>
              <c:pt idx="84">
                <c:v>0.0327085638740058</c:v>
              </c:pt>
              <c:pt idx="85">
                <c:v>0.026668815498487194</c:v>
              </c:pt>
              <c:pt idx="86">
                <c:v>0.021616042608141036</c:v>
              </c:pt>
              <c:pt idx="87">
                <c:v>0.017417220853215655</c:v>
              </c:pt>
              <c:pt idx="88">
                <c:v>0.013951205633448215</c:v>
              </c:pt>
              <c:pt idx="89">
                <c:v>0.011108996538242306</c:v>
              </c:pt>
              <c:pt idx="90">
                <c:v>0.008793628879684868</c:v>
              </c:pt>
              <c:pt idx="91">
                <c:v>0.006919769763579508</c:v>
              </c:pt>
              <c:pt idx="92">
                <c:v>0.005413091480065375</c:v>
              </c:pt>
              <c:pt idx="93">
                <c:v>0.004209488221848624</c:v>
              </c:pt>
              <c:pt idx="94">
                <c:v>0.003254194006977994</c:v>
              </c:pt>
              <c:pt idx="95">
                <c:v>0.0025008508616426468</c:v>
              </c:pt>
              <c:pt idx="96">
                <c:v>0.0019105673682673003</c:v>
              </c:pt>
              <c:pt idx="97">
                <c:v>0.001450999051772111</c:v>
              </c:pt>
              <c:pt idx="98">
                <c:v>0.0010954740934747847</c:v>
              </c:pt>
              <c:pt idx="99">
                <c:v>0.000822180750585008</c:v>
              </c:pt>
              <c:pt idx="100">
                <c:v>0.0006134267461370622</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1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0"/>
          <c:min val="0"/>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2"/>
      </c:valAx>
    </c:plotArea>
    <c:plotVisOnly val="1"/>
  </c:chart>
  <c:spPr>
    <a:solidFill xmlns:a="http://schemas.openxmlformats.org/drawingml/2006/main">
      <a:srgbClr val="FFFFFF"/>
    </a:solidFill>
  </c:spPr>
</c:chartSpace>
</file>

<file path=ppt/slides/charts/chart17.xml><?xml version="1.0" encoding="utf-8"?>
<c:chartSpace xmlns:c="http://schemas.openxmlformats.org/drawingml/2006/chart">
  <c:lang val="en-US"/>
  <c:chart>
    <c:plotArea>
      <c:scatterChart>
        <c:ser>
          <c:idx val="0"/>
          <c:order val="0"/>
          <c:tx>
            <c:v>Salida fuzzy</c:v>
          </c:tx>
          <c:spPr>
            <a:ln xmlns:a="http://schemas.openxmlformats.org/drawingml/2006/main" w="28575">
              <a:solidFill>
                <a:srgbClr val="2162A0"/>
              </a:solidFill>
            </a:ln>
          </c:spPr>
          <c:marker>
            <c:symbol val="none"/>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0.0</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t>Pertenencia μ</a:t>
                </a:r>
              </a:p>
            </c:rich>
          </c:tx>
          <c:overlay val="0"/>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t>Potencia (%)</a:t>
                </a:r>
              </a:p>
            </c:rich>
          </c:tx>
          <c:overlay val="0"/>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8.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Máximos</c:v>
          </c:tx>
          <c:spPr>
            <a:ln xmlns:a="http://schemas.openxmlformats.org/drawingml/2006/main" w="76200">
              <a:solidFill>
                <a:srgbClr val="D96B18"/>
              </a:solidFill>
            </a:ln>
          </c:spPr>
          <c:marker>
            <c:symbol val="none"/>
            <c:size val="5"/>
          </c:marker>
          <c:xVal>
            <c:numLit>
              <c:formatCode>General</c:formatCode>
              <c:ptCount val="2"/>
              <c:pt idx="0">
                <c:v>15</c:v>
              </c:pt>
              <c:pt idx="1">
                <c:v>35</c:v>
              </c:pt>
            </c:numLit>
          </c:xVal>
          <c:yVal>
            <c:numLit>
              <c:formatCode>General</c:formatCode>
              <c:ptCount val="2"/>
              <c:pt idx="0">
                <c:v>0.6</c:v>
              </c:pt>
              <c:pt idx="1">
                <c:v>0.6</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19.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Centroide</c:v>
          </c:tx>
          <c:spPr>
            <a:ln xmlns:a="http://schemas.openxmlformats.org/drawingml/2006/main" w="28575">
              <a:solidFill>
                <a:srgbClr val="D96B18"/>
              </a:solidFill>
            </a:ln>
          </c:spPr>
          <c:marker>
            <c:symbol val="none"/>
            <c:size val="5"/>
          </c:marker>
          <c:xVal>
            <c:numLit>
              <c:formatCode>General</c:formatCode>
              <c:ptCount val="2"/>
              <c:pt idx="0">
                <c:v>43.888888888888886</c:v>
              </c:pt>
              <c:pt idx="1">
                <c:v>43.888888888888886</c:v>
              </c:pt>
            </c:numLit>
          </c:xVal>
          <c:yVal>
            <c:numLit>
              <c:formatCode>General</c:formatCode>
              <c:ptCount val="2"/>
              <c:pt idx="0">
                <c:v>0</c:v>
              </c:pt>
              <c:pt idx="1">
                <c:v>0.8</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20.xml><?xml version="1.0" encoding="utf-8"?>
<c:chartSpace xmlns:c="http://schemas.openxmlformats.org/drawingml/2006/chart">
  <c:lang val="en-US"/>
  <c:chart>
    <c:plotArea>
      <c:scatterChart>
        <c:ser>
          <c:idx val="0"/>
          <c:order val="0"/>
          <c:tx>
            <c:v>Salida 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u = 41.6666667</c:v>
          </c:tx>
          <c:spPr>
            <a:ln xmlns:a="http://schemas.openxmlformats.org/drawingml/2006/main" w="28575">
              <a:solidFill>
                <a:srgbClr val="087F79"/>
              </a:solidFill>
            </a:ln>
          </c:spPr>
          <c:marker>
            <c:symbol val="none"/>
            <c:size val="5"/>
          </c:marker>
          <c:xVal>
            <c:numLit>
              <c:formatCode>General</c:formatCode>
              <c:ptCount val="2"/>
              <c:pt idx="0">
                <c:v>41.6666667</c:v>
              </c:pt>
              <c:pt idx="1">
                <c:v>41.6666667</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1.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Meseta</c:v>
          </c:tx>
          <c:spPr>
            <a:ln xmlns:a="http://schemas.openxmlformats.org/drawingml/2006/main" w="66675">
              <a:solidFill>
                <a:srgbClr val="D96B18"/>
              </a:solidFill>
            </a:ln>
          </c:spPr>
          <c:marker>
            <c:symbol val="none"/>
            <c:size val="5"/>
          </c:marker>
          <c:xVal>
            <c:numLit>
              <c:formatCode>General</c:formatCode>
              <c:ptCount val="2"/>
              <c:pt idx="0">
                <c:v>15</c:v>
              </c:pt>
              <c:pt idx="1">
                <c:v>35</c:v>
              </c:pt>
            </c:numLit>
          </c:xVal>
          <c:yVal>
            <c:numLit>
              <c:formatCode>General</c:formatCode>
              <c:ptCount val="2"/>
              <c:pt idx="0">
                <c:v>0.6</c:v>
              </c:pt>
              <c:pt idx="1">
                <c:v>0.6</c:v>
              </c:pt>
            </c:numLit>
          </c:yVal>
        </c:ser>
        <c:ser>
          <c:idx val="2"/>
          <c:order val="2"/>
          <c:tx>
            <c:v>u = 25</c:v>
          </c:tx>
          <c:spPr>
            <a:ln xmlns:a="http://schemas.openxmlformats.org/drawingml/2006/main" w="28575">
              <a:solidFill>
                <a:srgbClr val="087F79"/>
              </a:solidFill>
            </a:ln>
          </c:spPr>
          <c:marker>
            <c:symbol val="none"/>
            <c:size val="5"/>
          </c:marker>
          <c:xVal>
            <c:numLit>
              <c:formatCode>General</c:formatCode>
              <c:ptCount val="2"/>
              <c:pt idx="0">
                <c:v>25</c:v>
              </c:pt>
              <c:pt idx="1">
                <c:v>25</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2.xml><?xml version="1.0" encoding="utf-8"?>
<c:chartSpace xmlns:c="http://schemas.openxmlformats.org/drawingml/2006/chart">
  <c:lang val="en-US"/>
  <c:chart>
    <c:plotArea>
      <c:scatterChart>
        <c:ser>
          <c:idx val="0"/>
          <c:order val="0"/>
          <c:tx>
            <c:v>Unión max</c:v>
          </c:tx>
          <c:spPr>
            <a:ln xmlns:a="http://schemas.openxmlformats.org/drawingml/2006/main" w="28575">
              <a:solidFill>
                <a:srgbClr val="2162A0"/>
              </a:solidFill>
            </a:ln>
          </c:spPr>
          <c:marker>
            <c:symbol val="none"/>
            <c:size val="5"/>
          </c:marker>
          <c:xVal>
            <c:numLit>
              <c:formatCode>General</c:formatCode>
              <c:ptCount val="501"/>
              <c:pt idx="0">
                <c:v>0</c:v>
              </c:pt>
              <c:pt idx="1">
                <c:v>0.2</c:v>
              </c:pt>
              <c:pt idx="2">
                <c:v>0.4</c:v>
              </c:pt>
              <c:pt idx="3">
                <c:v>0.6</c:v>
              </c:pt>
              <c:pt idx="4">
                <c:v>0.8</c:v>
              </c:pt>
              <c:pt idx="5">
                <c:v>1</c:v>
              </c:pt>
              <c:pt idx="6">
                <c:v>1.2</c:v>
              </c:pt>
              <c:pt idx="7">
                <c:v>1.4</c:v>
              </c:pt>
              <c:pt idx="8">
                <c:v>1.6</c:v>
              </c:pt>
              <c:pt idx="9">
                <c:v>1.8</c:v>
              </c:pt>
              <c:pt idx="10">
                <c:v>2</c:v>
              </c:pt>
              <c:pt idx="11">
                <c:v>2.2</c:v>
              </c:pt>
              <c:pt idx="12">
                <c:v>2.4</c:v>
              </c:pt>
              <c:pt idx="13">
                <c:v>2.6</c:v>
              </c:pt>
              <c:pt idx="14">
                <c:v>2.8</c:v>
              </c:pt>
              <c:pt idx="15">
                <c:v>3</c:v>
              </c:pt>
              <c:pt idx="16">
                <c:v>3.2</c:v>
              </c:pt>
              <c:pt idx="17">
                <c:v>3.4</c:v>
              </c:pt>
              <c:pt idx="18">
                <c:v>3.6</c:v>
              </c:pt>
              <c:pt idx="19">
                <c:v>3.8</c:v>
              </c:pt>
              <c:pt idx="20">
                <c:v>4</c:v>
              </c:pt>
              <c:pt idx="21">
                <c:v>4.2</c:v>
              </c:pt>
              <c:pt idx="22">
                <c:v>4.4</c:v>
              </c:pt>
              <c:pt idx="23">
                <c:v>4.6</c:v>
              </c:pt>
              <c:pt idx="24">
                <c:v>4.8</c:v>
              </c:pt>
              <c:pt idx="25">
                <c:v>5</c:v>
              </c:pt>
              <c:pt idx="26">
                <c:v>5.2</c:v>
              </c:pt>
              <c:pt idx="27">
                <c:v>5.4</c:v>
              </c:pt>
              <c:pt idx="28">
                <c:v>5.6</c:v>
              </c:pt>
              <c:pt idx="29">
                <c:v>5.8</c:v>
              </c:pt>
              <c:pt idx="30">
                <c:v>6</c:v>
              </c:pt>
              <c:pt idx="31">
                <c:v>6.2</c:v>
              </c:pt>
              <c:pt idx="32">
                <c:v>6.4</c:v>
              </c:pt>
              <c:pt idx="33">
                <c:v>6.6</c:v>
              </c:pt>
              <c:pt idx="34">
                <c:v>6.8</c:v>
              </c:pt>
              <c:pt idx="35">
                <c:v>7</c:v>
              </c:pt>
              <c:pt idx="36">
                <c:v>7.2</c:v>
              </c:pt>
              <c:pt idx="37">
                <c:v>7.4</c:v>
              </c:pt>
              <c:pt idx="38">
                <c:v>7.6</c:v>
              </c:pt>
              <c:pt idx="39">
                <c:v>7.8</c:v>
              </c:pt>
              <c:pt idx="40">
                <c:v>8</c:v>
              </c:pt>
              <c:pt idx="41">
                <c:v>8.2</c:v>
              </c:pt>
              <c:pt idx="42">
                <c:v>8.4</c:v>
              </c:pt>
              <c:pt idx="43">
                <c:v>8.6</c:v>
              </c:pt>
              <c:pt idx="44">
                <c:v>8.8</c:v>
              </c:pt>
              <c:pt idx="45">
                <c:v>9</c:v>
              </c:pt>
              <c:pt idx="46">
                <c:v>9.2</c:v>
              </c:pt>
              <c:pt idx="47">
                <c:v>9.4</c:v>
              </c:pt>
              <c:pt idx="48">
                <c:v>9.6</c:v>
              </c:pt>
              <c:pt idx="49">
                <c:v>9.8</c:v>
              </c:pt>
              <c:pt idx="50">
                <c:v>10</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20</c:v>
              </c:pt>
              <c:pt idx="101">
                <c:v>20.2</c:v>
              </c:pt>
              <c:pt idx="102">
                <c:v>20.4</c:v>
              </c:pt>
              <c:pt idx="103">
                <c:v>20.6</c:v>
              </c:pt>
              <c:pt idx="104">
                <c:v>20.8</c:v>
              </c:pt>
              <c:pt idx="105">
                <c:v>21</c:v>
              </c:pt>
              <c:pt idx="106">
                <c:v>21.2</c:v>
              </c:pt>
              <c:pt idx="107">
                <c:v>21.4</c:v>
              </c:pt>
              <c:pt idx="108">
                <c:v>21.6</c:v>
              </c:pt>
              <c:pt idx="109">
                <c:v>21.8</c:v>
              </c:pt>
              <c:pt idx="110">
                <c:v>22</c:v>
              </c:pt>
              <c:pt idx="111">
                <c:v>22.2</c:v>
              </c:pt>
              <c:pt idx="112">
                <c:v>22.4</c:v>
              </c:pt>
              <c:pt idx="113">
                <c:v>22.6</c:v>
              </c:pt>
              <c:pt idx="114">
                <c:v>22.8</c:v>
              </c:pt>
              <c:pt idx="115">
                <c:v>23</c:v>
              </c:pt>
              <c:pt idx="116">
                <c:v>23.2</c:v>
              </c:pt>
              <c:pt idx="117">
                <c:v>23.4</c:v>
              </c:pt>
              <c:pt idx="118">
                <c:v>23.6</c:v>
              </c:pt>
              <c:pt idx="119">
                <c:v>23.8</c:v>
              </c:pt>
              <c:pt idx="120">
                <c:v>24</c:v>
              </c:pt>
              <c:pt idx="121">
                <c:v>24.2</c:v>
              </c:pt>
              <c:pt idx="122">
                <c:v>24.4</c:v>
              </c:pt>
              <c:pt idx="123">
                <c:v>24.6</c:v>
              </c:pt>
              <c:pt idx="124">
                <c:v>24.8</c:v>
              </c:pt>
              <c:pt idx="125">
                <c:v>25</c:v>
              </c:pt>
              <c:pt idx="126">
                <c:v>25.2</c:v>
              </c:pt>
              <c:pt idx="127">
                <c:v>25.4</c:v>
              </c:pt>
              <c:pt idx="128">
                <c:v>25.6</c:v>
              </c:pt>
              <c:pt idx="129">
                <c:v>25.8</c:v>
              </c:pt>
              <c:pt idx="130">
                <c:v>26</c:v>
              </c:pt>
              <c:pt idx="131">
                <c:v>26.2</c:v>
              </c:pt>
              <c:pt idx="132">
                <c:v>26.4</c:v>
              </c:pt>
              <c:pt idx="133">
                <c:v>26.6</c:v>
              </c:pt>
              <c:pt idx="134">
                <c:v>26.8</c:v>
              </c:pt>
              <c:pt idx="135">
                <c:v>27</c:v>
              </c:pt>
              <c:pt idx="136">
                <c:v>27.2</c:v>
              </c:pt>
              <c:pt idx="137">
                <c:v>27.4</c:v>
              </c:pt>
              <c:pt idx="138">
                <c:v>27.6</c:v>
              </c:pt>
              <c:pt idx="139">
                <c:v>27.8</c:v>
              </c:pt>
              <c:pt idx="140">
                <c:v>28</c:v>
              </c:pt>
              <c:pt idx="141">
                <c:v>28.2</c:v>
              </c:pt>
              <c:pt idx="142">
                <c:v>28.4</c:v>
              </c:pt>
              <c:pt idx="143">
                <c:v>28.6</c:v>
              </c:pt>
              <c:pt idx="144">
                <c:v>28.8</c:v>
              </c:pt>
              <c:pt idx="145">
                <c:v>29</c:v>
              </c:pt>
              <c:pt idx="146">
                <c:v>29.2</c:v>
              </c:pt>
              <c:pt idx="147">
                <c:v>29.4</c:v>
              </c:pt>
              <c:pt idx="148">
                <c:v>29.6</c:v>
              </c:pt>
              <c:pt idx="149">
                <c:v>29.8</c:v>
              </c:pt>
              <c:pt idx="150">
                <c:v>30</c:v>
              </c:pt>
              <c:pt idx="151">
                <c:v>30.2</c:v>
              </c:pt>
              <c:pt idx="152">
                <c:v>30.4</c:v>
              </c:pt>
              <c:pt idx="153">
                <c:v>30.6</c:v>
              </c:pt>
              <c:pt idx="154">
                <c:v>30.8</c:v>
              </c:pt>
              <c:pt idx="155">
                <c:v>31</c:v>
              </c:pt>
              <c:pt idx="156">
                <c:v>31.2</c:v>
              </c:pt>
              <c:pt idx="157">
                <c:v>31.4</c:v>
              </c:pt>
              <c:pt idx="158">
                <c:v>31.6</c:v>
              </c:pt>
              <c:pt idx="159">
                <c:v>31.8</c:v>
              </c:pt>
              <c:pt idx="160">
                <c:v>32</c:v>
              </c:pt>
              <c:pt idx="161">
                <c:v>32.2</c:v>
              </c:pt>
              <c:pt idx="162">
                <c:v>32.4</c:v>
              </c:pt>
              <c:pt idx="163">
                <c:v>32.6</c:v>
              </c:pt>
              <c:pt idx="164">
                <c:v>32.8</c:v>
              </c:pt>
              <c:pt idx="165">
                <c:v>33</c:v>
              </c:pt>
              <c:pt idx="166">
                <c:v>33.2</c:v>
              </c:pt>
              <c:pt idx="167">
                <c:v>33.4</c:v>
              </c:pt>
              <c:pt idx="168">
                <c:v>33.6</c:v>
              </c:pt>
              <c:pt idx="169">
                <c:v>33.8</c:v>
              </c:pt>
              <c:pt idx="170">
                <c:v>34</c:v>
              </c:pt>
              <c:pt idx="171">
                <c:v>34.2</c:v>
              </c:pt>
              <c:pt idx="172">
                <c:v>34.4</c:v>
              </c:pt>
              <c:pt idx="173">
                <c:v>34.6</c:v>
              </c:pt>
              <c:pt idx="174">
                <c:v>34.8</c:v>
              </c:pt>
              <c:pt idx="175">
                <c:v>35</c:v>
              </c:pt>
              <c:pt idx="176">
                <c:v>35.2</c:v>
              </c:pt>
              <c:pt idx="177">
                <c:v>35.4</c:v>
              </c:pt>
              <c:pt idx="178">
                <c:v>35.6</c:v>
              </c:pt>
              <c:pt idx="179">
                <c:v>35.8</c:v>
              </c:pt>
              <c:pt idx="180">
                <c:v>36</c:v>
              </c:pt>
              <c:pt idx="181">
                <c:v>36.2</c:v>
              </c:pt>
              <c:pt idx="182">
                <c:v>36.4</c:v>
              </c:pt>
              <c:pt idx="183">
                <c:v>36.6</c:v>
              </c:pt>
              <c:pt idx="184">
                <c:v>36.8</c:v>
              </c:pt>
              <c:pt idx="185">
                <c:v>37</c:v>
              </c:pt>
              <c:pt idx="186">
                <c:v>37.2</c:v>
              </c:pt>
              <c:pt idx="187">
                <c:v>37.4</c:v>
              </c:pt>
              <c:pt idx="188">
                <c:v>37.6</c:v>
              </c:pt>
              <c:pt idx="189">
                <c:v>37.8</c:v>
              </c:pt>
              <c:pt idx="190">
                <c:v>38</c:v>
              </c:pt>
              <c:pt idx="191">
                <c:v>38.2</c:v>
              </c:pt>
              <c:pt idx="192">
                <c:v>38.4</c:v>
              </c:pt>
              <c:pt idx="193">
                <c:v>38.6</c:v>
              </c:pt>
              <c:pt idx="194">
                <c:v>38.8</c:v>
              </c:pt>
              <c:pt idx="195">
                <c:v>39</c:v>
              </c:pt>
              <c:pt idx="196">
                <c:v>39.2</c:v>
              </c:pt>
              <c:pt idx="197">
                <c:v>39.4</c:v>
              </c:pt>
              <c:pt idx="198">
                <c:v>39.6</c:v>
              </c:pt>
              <c:pt idx="199">
                <c:v>39.8</c:v>
              </c:pt>
              <c:pt idx="200">
                <c:v>40</c:v>
              </c:pt>
              <c:pt idx="201">
                <c:v>40.2</c:v>
              </c:pt>
              <c:pt idx="202">
                <c:v>40.4</c:v>
              </c:pt>
              <c:pt idx="203">
                <c:v>40.6</c:v>
              </c:pt>
              <c:pt idx="204">
                <c:v>40.8</c:v>
              </c:pt>
              <c:pt idx="205">
                <c:v>41</c:v>
              </c:pt>
              <c:pt idx="206">
                <c:v>41.2</c:v>
              </c:pt>
              <c:pt idx="207">
                <c:v>41.4</c:v>
              </c:pt>
              <c:pt idx="208">
                <c:v>41.6</c:v>
              </c:pt>
              <c:pt idx="209">
                <c:v>41.8</c:v>
              </c:pt>
              <c:pt idx="210">
                <c:v>42</c:v>
              </c:pt>
              <c:pt idx="211">
                <c:v>42.2</c:v>
              </c:pt>
              <c:pt idx="212">
                <c:v>42.4</c:v>
              </c:pt>
              <c:pt idx="213">
                <c:v>42.6</c:v>
              </c:pt>
              <c:pt idx="214">
                <c:v>42.8</c:v>
              </c:pt>
              <c:pt idx="215">
                <c:v>43</c:v>
              </c:pt>
              <c:pt idx="216">
                <c:v>43.2</c:v>
              </c:pt>
              <c:pt idx="217">
                <c:v>43.4</c:v>
              </c:pt>
              <c:pt idx="218">
                <c:v>43.6</c:v>
              </c:pt>
              <c:pt idx="219">
                <c:v>43.8</c:v>
              </c:pt>
              <c:pt idx="220">
                <c:v>44</c:v>
              </c:pt>
              <c:pt idx="221">
                <c:v>44.2</c:v>
              </c:pt>
              <c:pt idx="222">
                <c:v>44.4</c:v>
              </c:pt>
              <c:pt idx="223">
                <c:v>44.6</c:v>
              </c:pt>
              <c:pt idx="224">
                <c:v>44.8</c:v>
              </c:pt>
              <c:pt idx="225">
                <c:v>45</c:v>
              </c:pt>
              <c:pt idx="226">
                <c:v>45.2</c:v>
              </c:pt>
              <c:pt idx="227">
                <c:v>45.4</c:v>
              </c:pt>
              <c:pt idx="228">
                <c:v>45.6</c:v>
              </c:pt>
              <c:pt idx="229">
                <c:v>45.8</c:v>
              </c:pt>
              <c:pt idx="230">
                <c:v>46</c:v>
              </c:pt>
              <c:pt idx="231">
                <c:v>46.2</c:v>
              </c:pt>
              <c:pt idx="232">
                <c:v>46.4</c:v>
              </c:pt>
              <c:pt idx="233">
                <c:v>46.6</c:v>
              </c:pt>
              <c:pt idx="234">
                <c:v>46.8</c:v>
              </c:pt>
              <c:pt idx="235">
                <c:v>47</c:v>
              </c:pt>
              <c:pt idx="236">
                <c:v>47.2</c:v>
              </c:pt>
              <c:pt idx="237">
                <c:v>47.4</c:v>
              </c:pt>
              <c:pt idx="238">
                <c:v>47.6</c:v>
              </c:pt>
              <c:pt idx="239">
                <c:v>47.8</c:v>
              </c:pt>
              <c:pt idx="240">
                <c:v>48</c:v>
              </c:pt>
              <c:pt idx="241">
                <c:v>48.2</c:v>
              </c:pt>
              <c:pt idx="242">
                <c:v>48.4</c:v>
              </c:pt>
              <c:pt idx="243">
                <c:v>48.6</c:v>
              </c:pt>
              <c:pt idx="244">
                <c:v>48.8</c:v>
              </c:pt>
              <c:pt idx="245">
                <c:v>49</c:v>
              </c:pt>
              <c:pt idx="246">
                <c:v>49.2</c:v>
              </c:pt>
              <c:pt idx="247">
                <c:v>49.4</c:v>
              </c:pt>
              <c:pt idx="248">
                <c:v>49.6</c:v>
              </c:pt>
              <c:pt idx="249">
                <c:v>49.8</c:v>
              </c:pt>
              <c:pt idx="250">
                <c:v>50</c:v>
              </c:pt>
              <c:pt idx="251">
                <c:v>50.2</c:v>
              </c:pt>
              <c:pt idx="252">
                <c:v>50.4</c:v>
              </c:pt>
              <c:pt idx="253">
                <c:v>50.6</c:v>
              </c:pt>
              <c:pt idx="254">
                <c:v>50.8</c:v>
              </c:pt>
              <c:pt idx="255">
                <c:v>51</c:v>
              </c:pt>
              <c:pt idx="256">
                <c:v>51.2</c:v>
              </c:pt>
              <c:pt idx="257">
                <c:v>51.4</c:v>
              </c:pt>
              <c:pt idx="258">
                <c:v>51.6</c:v>
              </c:pt>
              <c:pt idx="259">
                <c:v>51.8</c:v>
              </c:pt>
              <c:pt idx="260">
                <c:v>52</c:v>
              </c:pt>
              <c:pt idx="261">
                <c:v>52.2</c:v>
              </c:pt>
              <c:pt idx="262">
                <c:v>52.4</c:v>
              </c:pt>
              <c:pt idx="263">
                <c:v>52.6</c:v>
              </c:pt>
              <c:pt idx="264">
                <c:v>52.8</c:v>
              </c:pt>
              <c:pt idx="265">
                <c:v>53</c:v>
              </c:pt>
              <c:pt idx="266">
                <c:v>53.2</c:v>
              </c:pt>
              <c:pt idx="267">
                <c:v>53.4</c:v>
              </c:pt>
              <c:pt idx="268">
                <c:v>53.6</c:v>
              </c:pt>
              <c:pt idx="269">
                <c:v>53.8</c:v>
              </c:pt>
              <c:pt idx="270">
                <c:v>54</c:v>
              </c:pt>
              <c:pt idx="271">
                <c:v>54.2</c:v>
              </c:pt>
              <c:pt idx="272">
                <c:v>54.4</c:v>
              </c:pt>
              <c:pt idx="273">
                <c:v>54.6</c:v>
              </c:pt>
              <c:pt idx="274">
                <c:v>54.8</c:v>
              </c:pt>
              <c:pt idx="275">
                <c:v>55</c:v>
              </c:pt>
              <c:pt idx="276">
                <c:v>55.2</c:v>
              </c:pt>
              <c:pt idx="277">
                <c:v>55.4</c:v>
              </c:pt>
              <c:pt idx="278">
                <c:v>55.6</c:v>
              </c:pt>
              <c:pt idx="279">
                <c:v>55.8</c:v>
              </c:pt>
              <c:pt idx="280">
                <c:v>56</c:v>
              </c:pt>
              <c:pt idx="281">
                <c:v>56.2</c:v>
              </c:pt>
              <c:pt idx="282">
                <c:v>56.4</c:v>
              </c:pt>
              <c:pt idx="283">
                <c:v>56.6</c:v>
              </c:pt>
              <c:pt idx="284">
                <c:v>56.8</c:v>
              </c:pt>
              <c:pt idx="285">
                <c:v>57</c:v>
              </c:pt>
              <c:pt idx="286">
                <c:v>57.2</c:v>
              </c:pt>
              <c:pt idx="287">
                <c:v>57.4</c:v>
              </c:pt>
              <c:pt idx="288">
                <c:v>57.6</c:v>
              </c:pt>
              <c:pt idx="289">
                <c:v>57.8</c:v>
              </c:pt>
              <c:pt idx="290">
                <c:v>58</c:v>
              </c:pt>
              <c:pt idx="291">
                <c:v>58.2</c:v>
              </c:pt>
              <c:pt idx="292">
                <c:v>58.4</c:v>
              </c:pt>
              <c:pt idx="293">
                <c:v>58.6</c:v>
              </c:pt>
              <c:pt idx="294">
                <c:v>58.8</c:v>
              </c:pt>
              <c:pt idx="295">
                <c:v>59</c:v>
              </c:pt>
              <c:pt idx="296">
                <c:v>59.2</c:v>
              </c:pt>
              <c:pt idx="297">
                <c:v>59.4</c:v>
              </c:pt>
              <c:pt idx="298">
                <c:v>59.6</c:v>
              </c:pt>
              <c:pt idx="299">
                <c:v>59.8</c:v>
              </c:pt>
              <c:pt idx="300">
                <c:v>60</c:v>
              </c:pt>
              <c:pt idx="301">
                <c:v>60.2</c:v>
              </c:pt>
              <c:pt idx="302">
                <c:v>60.4</c:v>
              </c:pt>
              <c:pt idx="303">
                <c:v>60.6</c:v>
              </c:pt>
              <c:pt idx="304">
                <c:v>60.8</c:v>
              </c:pt>
              <c:pt idx="305">
                <c:v>61</c:v>
              </c:pt>
              <c:pt idx="306">
                <c:v>61.2</c:v>
              </c:pt>
              <c:pt idx="307">
                <c:v>61.4</c:v>
              </c:pt>
              <c:pt idx="308">
                <c:v>61.6</c:v>
              </c:pt>
              <c:pt idx="309">
                <c:v>61.8</c:v>
              </c:pt>
              <c:pt idx="310">
                <c:v>62</c:v>
              </c:pt>
              <c:pt idx="311">
                <c:v>62.2</c:v>
              </c:pt>
              <c:pt idx="312">
                <c:v>62.4</c:v>
              </c:pt>
              <c:pt idx="313">
                <c:v>62.6</c:v>
              </c:pt>
              <c:pt idx="314">
                <c:v>62.8</c:v>
              </c:pt>
              <c:pt idx="315">
                <c:v>63</c:v>
              </c:pt>
              <c:pt idx="316">
                <c:v>63.2</c:v>
              </c:pt>
              <c:pt idx="317">
                <c:v>63.4</c:v>
              </c:pt>
              <c:pt idx="318">
                <c:v>63.6</c:v>
              </c:pt>
              <c:pt idx="319">
                <c:v>63.8</c:v>
              </c:pt>
              <c:pt idx="320">
                <c:v>64</c:v>
              </c:pt>
              <c:pt idx="321">
                <c:v>64.2</c:v>
              </c:pt>
              <c:pt idx="322">
                <c:v>64.4</c:v>
              </c:pt>
              <c:pt idx="323">
                <c:v>64.6</c:v>
              </c:pt>
              <c:pt idx="324">
                <c:v>64.8</c:v>
              </c:pt>
              <c:pt idx="325">
                <c:v>65</c:v>
              </c:pt>
              <c:pt idx="326">
                <c:v>65.2</c:v>
              </c:pt>
              <c:pt idx="327">
                <c:v>65.4</c:v>
              </c:pt>
              <c:pt idx="328">
                <c:v>65.6</c:v>
              </c:pt>
              <c:pt idx="329">
                <c:v>65.8</c:v>
              </c:pt>
              <c:pt idx="330">
                <c:v>66</c:v>
              </c:pt>
              <c:pt idx="331">
                <c:v>66.2</c:v>
              </c:pt>
              <c:pt idx="332">
                <c:v>66.4</c:v>
              </c:pt>
              <c:pt idx="333">
                <c:v>66.6</c:v>
              </c:pt>
              <c:pt idx="334">
                <c:v>66.8</c:v>
              </c:pt>
              <c:pt idx="335">
                <c:v>67</c:v>
              </c:pt>
              <c:pt idx="336">
                <c:v>67.2</c:v>
              </c:pt>
              <c:pt idx="337">
                <c:v>67.4</c:v>
              </c:pt>
              <c:pt idx="338">
                <c:v>67.6</c:v>
              </c:pt>
              <c:pt idx="339">
                <c:v>67.8</c:v>
              </c:pt>
              <c:pt idx="340">
                <c:v>68</c:v>
              </c:pt>
              <c:pt idx="341">
                <c:v>68.2</c:v>
              </c:pt>
              <c:pt idx="342">
                <c:v>68.4</c:v>
              </c:pt>
              <c:pt idx="343">
                <c:v>68.6</c:v>
              </c:pt>
              <c:pt idx="344">
                <c:v>68.8</c:v>
              </c:pt>
              <c:pt idx="345">
                <c:v>69</c:v>
              </c:pt>
              <c:pt idx="346">
                <c:v>69.2</c:v>
              </c:pt>
              <c:pt idx="347">
                <c:v>69.4</c:v>
              </c:pt>
              <c:pt idx="348">
                <c:v>69.6</c:v>
              </c:pt>
              <c:pt idx="349">
                <c:v>69.8</c:v>
              </c:pt>
              <c:pt idx="350">
                <c:v>70</c:v>
              </c:pt>
              <c:pt idx="351">
                <c:v>70.2</c:v>
              </c:pt>
              <c:pt idx="352">
                <c:v>70.4</c:v>
              </c:pt>
              <c:pt idx="353">
                <c:v>70.6</c:v>
              </c:pt>
              <c:pt idx="354">
                <c:v>70.8</c:v>
              </c:pt>
              <c:pt idx="355">
                <c:v>71</c:v>
              </c:pt>
              <c:pt idx="356">
                <c:v>71.2</c:v>
              </c:pt>
              <c:pt idx="357">
                <c:v>71.4</c:v>
              </c:pt>
              <c:pt idx="358">
                <c:v>71.6</c:v>
              </c:pt>
              <c:pt idx="359">
                <c:v>71.8</c:v>
              </c:pt>
              <c:pt idx="360">
                <c:v>72</c:v>
              </c:pt>
              <c:pt idx="361">
                <c:v>72.2</c:v>
              </c:pt>
              <c:pt idx="362">
                <c:v>72.4</c:v>
              </c:pt>
              <c:pt idx="363">
                <c:v>72.6</c:v>
              </c:pt>
              <c:pt idx="364">
                <c:v>72.8</c:v>
              </c:pt>
              <c:pt idx="365">
                <c:v>73</c:v>
              </c:pt>
              <c:pt idx="366">
                <c:v>73.2</c:v>
              </c:pt>
              <c:pt idx="367">
                <c:v>73.4</c:v>
              </c:pt>
              <c:pt idx="368">
                <c:v>73.6</c:v>
              </c:pt>
              <c:pt idx="369">
                <c:v>73.8</c:v>
              </c:pt>
              <c:pt idx="370">
                <c:v>74</c:v>
              </c:pt>
              <c:pt idx="371">
                <c:v>74.2</c:v>
              </c:pt>
              <c:pt idx="372">
                <c:v>74.4</c:v>
              </c:pt>
              <c:pt idx="373">
                <c:v>74.6</c:v>
              </c:pt>
              <c:pt idx="374">
                <c:v>74.8</c:v>
              </c:pt>
              <c:pt idx="375">
                <c:v>75</c:v>
              </c:pt>
              <c:pt idx="376">
                <c:v>75.2</c:v>
              </c:pt>
              <c:pt idx="377">
                <c:v>75.4</c:v>
              </c:pt>
              <c:pt idx="378">
                <c:v>75.6</c:v>
              </c:pt>
              <c:pt idx="379">
                <c:v>75.8</c:v>
              </c:pt>
              <c:pt idx="380">
                <c:v>76</c:v>
              </c:pt>
              <c:pt idx="381">
                <c:v>76.2</c:v>
              </c:pt>
              <c:pt idx="382">
                <c:v>76.4</c:v>
              </c:pt>
              <c:pt idx="383">
                <c:v>76.6</c:v>
              </c:pt>
              <c:pt idx="384">
                <c:v>76.8</c:v>
              </c:pt>
              <c:pt idx="385">
                <c:v>77</c:v>
              </c:pt>
              <c:pt idx="386">
                <c:v>77.2</c:v>
              </c:pt>
              <c:pt idx="387">
                <c:v>77.4</c:v>
              </c:pt>
              <c:pt idx="388">
                <c:v>77.6</c:v>
              </c:pt>
              <c:pt idx="389">
                <c:v>77.8</c:v>
              </c:pt>
              <c:pt idx="390">
                <c:v>78</c:v>
              </c:pt>
              <c:pt idx="391">
                <c:v>78.2</c:v>
              </c:pt>
              <c:pt idx="392">
                <c:v>78.4</c:v>
              </c:pt>
              <c:pt idx="393">
                <c:v>78.6</c:v>
              </c:pt>
              <c:pt idx="394">
                <c:v>78.8</c:v>
              </c:pt>
              <c:pt idx="395">
                <c:v>79</c:v>
              </c:pt>
              <c:pt idx="396">
                <c:v>79.2</c:v>
              </c:pt>
              <c:pt idx="397">
                <c:v>79.4</c:v>
              </c:pt>
              <c:pt idx="398">
                <c:v>79.6</c:v>
              </c:pt>
              <c:pt idx="399">
                <c:v>79.8</c:v>
              </c:pt>
              <c:pt idx="400">
                <c:v>80</c:v>
              </c:pt>
              <c:pt idx="401">
                <c:v>80.2</c:v>
              </c:pt>
              <c:pt idx="402">
                <c:v>80.4</c:v>
              </c:pt>
              <c:pt idx="403">
                <c:v>80.6</c:v>
              </c:pt>
              <c:pt idx="404">
                <c:v>80.8</c:v>
              </c:pt>
              <c:pt idx="405">
                <c:v>81</c:v>
              </c:pt>
              <c:pt idx="406">
                <c:v>81.2</c:v>
              </c:pt>
              <c:pt idx="407">
                <c:v>81.4</c:v>
              </c:pt>
              <c:pt idx="408">
                <c:v>81.6</c:v>
              </c:pt>
              <c:pt idx="409">
                <c:v>81.8</c:v>
              </c:pt>
              <c:pt idx="410">
                <c:v>82</c:v>
              </c:pt>
              <c:pt idx="411">
                <c:v>82.2</c:v>
              </c:pt>
              <c:pt idx="412">
                <c:v>82.4</c:v>
              </c:pt>
              <c:pt idx="413">
                <c:v>82.6</c:v>
              </c:pt>
              <c:pt idx="414">
                <c:v>82.8</c:v>
              </c:pt>
              <c:pt idx="415">
                <c:v>83</c:v>
              </c:pt>
              <c:pt idx="416">
                <c:v>83.2</c:v>
              </c:pt>
              <c:pt idx="417">
                <c:v>83.4</c:v>
              </c:pt>
              <c:pt idx="418">
                <c:v>83.6</c:v>
              </c:pt>
              <c:pt idx="419">
                <c:v>83.8</c:v>
              </c:pt>
              <c:pt idx="420">
                <c:v>84</c:v>
              </c:pt>
              <c:pt idx="421">
                <c:v>84.2</c:v>
              </c:pt>
              <c:pt idx="422">
                <c:v>84.4</c:v>
              </c:pt>
              <c:pt idx="423">
                <c:v>84.6</c:v>
              </c:pt>
              <c:pt idx="424">
                <c:v>84.8</c:v>
              </c:pt>
              <c:pt idx="425">
                <c:v>85</c:v>
              </c:pt>
              <c:pt idx="426">
                <c:v>85.2</c:v>
              </c:pt>
              <c:pt idx="427">
                <c:v>85.4</c:v>
              </c:pt>
              <c:pt idx="428">
                <c:v>85.6</c:v>
              </c:pt>
              <c:pt idx="429">
                <c:v>85.8</c:v>
              </c:pt>
              <c:pt idx="430">
                <c:v>86</c:v>
              </c:pt>
              <c:pt idx="431">
                <c:v>86.2</c:v>
              </c:pt>
              <c:pt idx="432">
                <c:v>86.4</c:v>
              </c:pt>
              <c:pt idx="433">
                <c:v>86.6</c:v>
              </c:pt>
              <c:pt idx="434">
                <c:v>86.8</c:v>
              </c:pt>
              <c:pt idx="435">
                <c:v>87</c:v>
              </c:pt>
              <c:pt idx="436">
                <c:v>87.2</c:v>
              </c:pt>
              <c:pt idx="437">
                <c:v>87.4</c:v>
              </c:pt>
              <c:pt idx="438">
                <c:v>87.6</c:v>
              </c:pt>
              <c:pt idx="439">
                <c:v>87.8</c:v>
              </c:pt>
              <c:pt idx="440">
                <c:v>88</c:v>
              </c:pt>
              <c:pt idx="441">
                <c:v>88.2</c:v>
              </c:pt>
              <c:pt idx="442">
                <c:v>88.4</c:v>
              </c:pt>
              <c:pt idx="443">
                <c:v>88.6</c:v>
              </c:pt>
              <c:pt idx="444">
                <c:v>88.8</c:v>
              </c:pt>
              <c:pt idx="445">
                <c:v>89</c:v>
              </c:pt>
              <c:pt idx="446">
                <c:v>89.2</c:v>
              </c:pt>
              <c:pt idx="447">
                <c:v>89.4</c:v>
              </c:pt>
              <c:pt idx="448">
                <c:v>89.6</c:v>
              </c:pt>
              <c:pt idx="449">
                <c:v>89.8</c:v>
              </c:pt>
              <c:pt idx="450">
                <c:v>90</c:v>
              </c:pt>
              <c:pt idx="451">
                <c:v>90.2</c:v>
              </c:pt>
              <c:pt idx="452">
                <c:v>90.4</c:v>
              </c:pt>
              <c:pt idx="453">
                <c:v>90.6</c:v>
              </c:pt>
              <c:pt idx="454">
                <c:v>90.8</c:v>
              </c:pt>
              <c:pt idx="455">
                <c:v>91</c:v>
              </c:pt>
              <c:pt idx="456">
                <c:v>91.2</c:v>
              </c:pt>
              <c:pt idx="457">
                <c:v>91.4</c:v>
              </c:pt>
              <c:pt idx="458">
                <c:v>91.6</c:v>
              </c:pt>
              <c:pt idx="459">
                <c:v>91.8</c:v>
              </c:pt>
              <c:pt idx="460">
                <c:v>92</c:v>
              </c:pt>
              <c:pt idx="461">
                <c:v>92.2</c:v>
              </c:pt>
              <c:pt idx="462">
                <c:v>92.4</c:v>
              </c:pt>
              <c:pt idx="463">
                <c:v>92.6</c:v>
              </c:pt>
              <c:pt idx="464">
                <c:v>92.8</c:v>
              </c:pt>
              <c:pt idx="465">
                <c:v>93</c:v>
              </c:pt>
              <c:pt idx="466">
                <c:v>93.2</c:v>
              </c:pt>
              <c:pt idx="467">
                <c:v>93.4</c:v>
              </c:pt>
              <c:pt idx="468">
                <c:v>93.6</c:v>
              </c:pt>
              <c:pt idx="469">
                <c:v>93.8</c:v>
              </c:pt>
              <c:pt idx="470">
                <c:v>94</c:v>
              </c:pt>
              <c:pt idx="471">
                <c:v>94.2</c:v>
              </c:pt>
              <c:pt idx="472">
                <c:v>94.4</c:v>
              </c:pt>
              <c:pt idx="473">
                <c:v>94.6</c:v>
              </c:pt>
              <c:pt idx="474">
                <c:v>94.8</c:v>
              </c:pt>
              <c:pt idx="475">
                <c:v>95</c:v>
              </c:pt>
              <c:pt idx="476">
                <c:v>95.2</c:v>
              </c:pt>
              <c:pt idx="477">
                <c:v>95.4</c:v>
              </c:pt>
              <c:pt idx="478">
                <c:v>95.6</c:v>
              </c:pt>
              <c:pt idx="479">
                <c:v>95.8</c:v>
              </c:pt>
              <c:pt idx="480">
                <c:v>96</c:v>
              </c:pt>
              <c:pt idx="481">
                <c:v>96.2</c:v>
              </c:pt>
              <c:pt idx="482">
                <c:v>96.4</c:v>
              </c:pt>
              <c:pt idx="483">
                <c:v>96.6</c:v>
              </c:pt>
              <c:pt idx="484">
                <c:v>96.8</c:v>
              </c:pt>
              <c:pt idx="485">
                <c:v>97</c:v>
              </c:pt>
              <c:pt idx="486">
                <c:v>97.2</c:v>
              </c:pt>
              <c:pt idx="487">
                <c:v>97.4</c:v>
              </c:pt>
              <c:pt idx="488">
                <c:v>97.6</c:v>
              </c:pt>
              <c:pt idx="489">
                <c:v>97.8</c:v>
              </c:pt>
              <c:pt idx="490">
                <c:v>98</c:v>
              </c:pt>
              <c:pt idx="491">
                <c:v>98.2</c:v>
              </c:pt>
              <c:pt idx="492">
                <c:v>98.4</c:v>
              </c:pt>
              <c:pt idx="493">
                <c:v>98.6</c:v>
              </c:pt>
              <c:pt idx="494">
                <c:v>98.8</c:v>
              </c:pt>
              <c:pt idx="495">
                <c:v>99</c:v>
              </c:pt>
              <c:pt idx="496">
                <c:v>99.2</c:v>
              </c:pt>
              <c:pt idx="497">
                <c:v>99.4</c:v>
              </c:pt>
              <c:pt idx="498">
                <c:v>99.6</c:v>
              </c:pt>
              <c:pt idx="499">
                <c:v>99.8</c:v>
              </c:pt>
              <c:pt idx="500">
                <c:v>100</c:v>
              </c:pt>
            </c:numLit>
          </c:xVal>
          <c:yVal>
            <c:numLit>
              <c:formatCode>General</c:formatCode>
              <c:ptCount val="501"/>
              <c:pt idx="0">
                <c:v>0</c:v>
              </c:pt>
              <c:pt idx="1">
                <c:v>0.006666666666666667</c:v>
              </c:pt>
              <c:pt idx="2">
                <c:v>0.013333333333333334</c:v>
              </c:pt>
              <c:pt idx="3">
                <c:v>0.02</c:v>
              </c:pt>
              <c:pt idx="4">
                <c:v>0.02666666666666667</c:v>
              </c:pt>
              <c:pt idx="5">
                <c:v>0.03333333333333333</c:v>
              </c:pt>
              <c:pt idx="6">
                <c:v>0.04</c:v>
              </c:pt>
              <c:pt idx="7">
                <c:v>0.04666666666666666</c:v>
              </c:pt>
              <c:pt idx="8">
                <c:v>0.05333333333333334</c:v>
              </c:pt>
              <c:pt idx="9">
                <c:v>0.060000000000000005</c:v>
              </c:pt>
              <c:pt idx="10">
                <c:v>0.06666666666666667</c:v>
              </c:pt>
              <c:pt idx="11">
                <c:v>0.07333333333333333</c:v>
              </c:pt>
              <c:pt idx="12">
                <c:v>0.08</c:v>
              </c:pt>
              <c:pt idx="13">
                <c:v>0.08666666666666667</c:v>
              </c:pt>
              <c:pt idx="14">
                <c:v>0.09333333333333332</c:v>
              </c:pt>
              <c:pt idx="15">
                <c:v>0.1</c:v>
              </c:pt>
              <c:pt idx="16">
                <c:v>0.10666666666666667</c:v>
              </c:pt>
              <c:pt idx="17">
                <c:v>0.11333333333333333</c:v>
              </c:pt>
              <c:pt idx="18">
                <c:v>0.12000000000000001</c:v>
              </c:pt>
              <c:pt idx="19">
                <c:v>0.12666666666666665</c:v>
              </c:pt>
              <c:pt idx="20">
                <c:v>0.13333333333333333</c:v>
              </c:pt>
              <c:pt idx="21">
                <c:v>0.14</c:v>
              </c:pt>
              <c:pt idx="22">
                <c:v>0.14666666666666667</c:v>
              </c:pt>
              <c:pt idx="23">
                <c:v>0.15333333333333332</c:v>
              </c:pt>
              <c:pt idx="24">
                <c:v>0.16</c:v>
              </c:pt>
              <c:pt idx="25">
                <c:v>0.16666666666666666</c:v>
              </c:pt>
              <c:pt idx="26">
                <c:v>0.17333333333333334</c:v>
              </c:pt>
              <c:pt idx="27">
                <c:v>0.18000000000000002</c:v>
              </c:pt>
              <c:pt idx="28">
                <c:v>0.18666666666666665</c:v>
              </c:pt>
              <c:pt idx="29">
                <c:v>0.19333333333333333</c:v>
              </c:pt>
              <c:pt idx="30">
                <c:v>0.2</c:v>
              </c:pt>
              <c:pt idx="31">
                <c:v>0.20666666666666667</c:v>
              </c:pt>
              <c:pt idx="32">
                <c:v>0.21333333333333335</c:v>
              </c:pt>
              <c:pt idx="33">
                <c:v>0.22</c:v>
              </c:pt>
              <c:pt idx="34">
                <c:v>0.22666666666666666</c:v>
              </c:pt>
              <c:pt idx="35">
                <c:v>0.23333333333333334</c:v>
              </c:pt>
              <c:pt idx="36">
                <c:v>0.24000000000000002</c:v>
              </c:pt>
              <c:pt idx="37">
                <c:v>0.24666666666666667</c:v>
              </c:pt>
              <c:pt idx="38">
                <c:v>0.2533333333333333</c:v>
              </c:pt>
              <c:pt idx="39">
                <c:v>0.26</c:v>
              </c:pt>
              <c:pt idx="40">
                <c:v>0.26666666666666666</c:v>
              </c:pt>
              <c:pt idx="41">
                <c:v>0.2733333333333333</c:v>
              </c:pt>
              <c:pt idx="42">
                <c:v>0.28</c:v>
              </c:pt>
              <c:pt idx="43">
                <c:v>0.2866666666666667</c:v>
              </c:pt>
              <c:pt idx="44">
                <c:v>0.29333333333333333</c:v>
              </c:pt>
              <c:pt idx="45">
                <c:v>0.3</c:v>
              </c:pt>
              <c:pt idx="46">
                <c:v>0.30666666666666664</c:v>
              </c:pt>
              <c:pt idx="47">
                <c:v>0.31333333333333335</c:v>
              </c:pt>
              <c:pt idx="48">
                <c:v>0.32</c:v>
              </c:pt>
              <c:pt idx="49">
                <c:v>0.3266666666666667</c:v>
              </c:pt>
              <c:pt idx="50">
                <c:v>0.3333333333333333</c:v>
              </c:pt>
              <c:pt idx="51">
                <c:v>0.33999999999999997</c:v>
              </c:pt>
              <c:pt idx="52">
                <c:v>0.3466666666666667</c:v>
              </c:pt>
              <c:pt idx="53">
                <c:v>0.35333333333333333</c:v>
              </c:pt>
              <c:pt idx="54">
                <c:v>0.36000000000000004</c:v>
              </c:pt>
              <c:pt idx="55">
                <c:v>0.36666666666666664</c:v>
              </c:pt>
              <c:pt idx="56">
                <c:v>0.3733333333333333</c:v>
              </c:pt>
              <c:pt idx="57">
                <c:v>0.38</c:v>
              </c:pt>
              <c:pt idx="58">
                <c:v>0.38666666666666666</c:v>
              </c:pt>
              <c:pt idx="59">
                <c:v>0.39333333333333337</c:v>
              </c:pt>
              <c:pt idx="60">
                <c:v>0.4</c:v>
              </c:pt>
              <c:pt idx="61">
                <c:v>0.4066666666666666</c:v>
              </c:pt>
              <c:pt idx="62">
                <c:v>0.41333333333333333</c:v>
              </c:pt>
              <c:pt idx="63">
                <c:v>0.42</c:v>
              </c:pt>
              <c:pt idx="64">
                <c:v>0.4266666666666667</c:v>
              </c:pt>
              <c:pt idx="65">
                <c:v>0.43333333333333335</c:v>
              </c:pt>
              <c:pt idx="66">
                <c:v>0.44</c:v>
              </c:pt>
              <c:pt idx="67">
                <c:v>0.44666666666666666</c:v>
              </c:pt>
              <c:pt idx="68">
                <c:v>0.4533333333333333</c:v>
              </c:pt>
              <c:pt idx="69">
                <c:v>0.46</c:v>
              </c:pt>
              <c:pt idx="70">
                <c:v>0.4666666666666667</c:v>
              </c:pt>
              <c:pt idx="71">
                <c:v>0.47333333333333333</c:v>
              </c:pt>
              <c:pt idx="72">
                <c:v>0.48000000000000004</c:v>
              </c:pt>
              <c:pt idx="73">
                <c:v>0.48666666666666664</c:v>
              </c:pt>
              <c:pt idx="74">
                <c:v>0.49333333333333335</c:v>
              </c:pt>
              <c:pt idx="75">
                <c:v>0.5</c:v>
              </c:pt>
              <c:pt idx="76">
                <c:v>0.5066666666666666</c:v>
              </c:pt>
              <c:pt idx="77">
                <c:v>0.5133333333333333</c:v>
              </c:pt>
              <c:pt idx="78">
                <c:v>0.52</c:v>
              </c:pt>
              <c:pt idx="79">
                <c:v>0.5266666666666667</c:v>
              </c:pt>
              <c:pt idx="80">
                <c:v>0.5333333333333333</c:v>
              </c:pt>
              <c:pt idx="81">
                <c:v>0.5399999999999999</c:v>
              </c:pt>
              <c:pt idx="82">
                <c:v>0.5466666666666666</c:v>
              </c:pt>
              <c:pt idx="83">
                <c:v>0.5533333333333333</c:v>
              </c:pt>
              <c:pt idx="84">
                <c:v>0.56</c:v>
              </c:pt>
              <c:pt idx="85">
                <c:v>0.5666666666666667</c:v>
              </c:pt>
              <c:pt idx="86">
                <c:v>0.5733333333333334</c:v>
              </c:pt>
              <c:pt idx="87">
                <c:v>0.58</c:v>
              </c:pt>
              <c:pt idx="88">
                <c:v>0.5866666666666667</c:v>
              </c:pt>
              <c:pt idx="89">
                <c:v>0.5933333333333334</c:v>
              </c:pt>
              <c:pt idx="90">
                <c:v>0.6</c:v>
              </c:pt>
              <c:pt idx="91">
                <c:v>0.6</c:v>
              </c:pt>
              <c:pt idx="92">
                <c:v>0.6</c:v>
              </c:pt>
              <c:pt idx="93">
                <c:v>0.6</c:v>
              </c:pt>
              <c:pt idx="94">
                <c:v>0.6</c:v>
              </c:pt>
              <c:pt idx="95">
                <c:v>0.6</c:v>
              </c:pt>
              <c:pt idx="96">
                <c:v>0.6</c:v>
              </c:pt>
              <c:pt idx="97">
                <c:v>0.6</c:v>
              </c:pt>
              <c:pt idx="98">
                <c:v>0.6</c:v>
              </c:pt>
              <c:pt idx="99">
                <c:v>0.6</c:v>
              </c:pt>
              <c:pt idx="100">
                <c:v>0.6</c:v>
              </c:pt>
              <c:pt idx="101">
                <c:v>0.6</c:v>
              </c:pt>
              <c:pt idx="102">
                <c:v>0.6</c:v>
              </c:pt>
              <c:pt idx="103">
                <c:v>0.6</c:v>
              </c:pt>
              <c:pt idx="104">
                <c:v>0.6</c:v>
              </c:pt>
              <c:pt idx="105">
                <c:v>0.6</c:v>
              </c:pt>
              <c:pt idx="106">
                <c:v>0.6</c:v>
              </c:pt>
              <c:pt idx="107">
                <c:v>0.6</c:v>
              </c:pt>
              <c:pt idx="108">
                <c:v>0.6</c:v>
              </c:pt>
              <c:pt idx="109">
                <c:v>0.6</c:v>
              </c:pt>
              <c:pt idx="110">
                <c:v>0.6</c:v>
              </c:pt>
              <c:pt idx="111">
                <c:v>0.6</c:v>
              </c:pt>
              <c:pt idx="112">
                <c:v>0.6</c:v>
              </c:pt>
              <c:pt idx="113">
                <c:v>0.6</c:v>
              </c:pt>
              <c:pt idx="114">
                <c:v>0.6</c:v>
              </c:pt>
              <c:pt idx="115">
                <c:v>0.6</c:v>
              </c:pt>
              <c:pt idx="116">
                <c:v>0.6</c:v>
              </c:pt>
              <c:pt idx="117">
                <c:v>0.6</c:v>
              </c:pt>
              <c:pt idx="118">
                <c:v>0.6</c:v>
              </c:pt>
              <c:pt idx="119">
                <c:v>0.6</c:v>
              </c:pt>
              <c:pt idx="120">
                <c:v>0.6</c:v>
              </c:pt>
              <c:pt idx="121">
                <c:v>0.6</c:v>
              </c:pt>
              <c:pt idx="122">
                <c:v>0.6</c:v>
              </c:pt>
              <c:pt idx="123">
                <c:v>0.6</c:v>
              </c:pt>
              <c:pt idx="124">
                <c:v>0.6</c:v>
              </c:pt>
              <c:pt idx="125">
                <c:v>0.6</c:v>
              </c:pt>
              <c:pt idx="126">
                <c:v>0.6</c:v>
              </c:pt>
              <c:pt idx="127">
                <c:v>0.6</c:v>
              </c:pt>
              <c:pt idx="128">
                <c:v>0.6</c:v>
              </c:pt>
              <c:pt idx="129">
                <c:v>0.6</c:v>
              </c:pt>
              <c:pt idx="130">
                <c:v>0.6</c:v>
              </c:pt>
              <c:pt idx="131">
                <c:v>0.6</c:v>
              </c:pt>
              <c:pt idx="132">
                <c:v>0.6</c:v>
              </c:pt>
              <c:pt idx="133">
                <c:v>0.6</c:v>
              </c:pt>
              <c:pt idx="134">
                <c:v>0.6</c:v>
              </c:pt>
              <c:pt idx="135">
                <c:v>0.6</c:v>
              </c:pt>
              <c:pt idx="136">
                <c:v>0.6</c:v>
              </c:pt>
              <c:pt idx="137">
                <c:v>0.6</c:v>
              </c:pt>
              <c:pt idx="138">
                <c:v>0.6</c:v>
              </c:pt>
              <c:pt idx="139">
                <c:v>0.6</c:v>
              </c:pt>
              <c:pt idx="140">
                <c:v>0.6</c:v>
              </c:pt>
              <c:pt idx="141">
                <c:v>0.6</c:v>
              </c:pt>
              <c:pt idx="142">
                <c:v>0.6</c:v>
              </c:pt>
              <c:pt idx="143">
                <c:v>0.6</c:v>
              </c:pt>
              <c:pt idx="144">
                <c:v>0.6</c:v>
              </c:pt>
              <c:pt idx="145">
                <c:v>0.6</c:v>
              </c:pt>
              <c:pt idx="146">
                <c:v>0.6</c:v>
              </c:pt>
              <c:pt idx="147">
                <c:v>0.6</c:v>
              </c:pt>
              <c:pt idx="148">
                <c:v>0.6</c:v>
              </c:pt>
              <c:pt idx="149">
                <c:v>0.6</c:v>
              </c:pt>
              <c:pt idx="150">
                <c:v>0.6</c:v>
              </c:pt>
              <c:pt idx="151">
                <c:v>0.6</c:v>
              </c:pt>
              <c:pt idx="152">
                <c:v>0.6</c:v>
              </c:pt>
              <c:pt idx="153">
                <c:v>0.6</c:v>
              </c:pt>
              <c:pt idx="154">
                <c:v>0.6</c:v>
              </c:pt>
              <c:pt idx="155">
                <c:v>0.6</c:v>
              </c:pt>
              <c:pt idx="156">
                <c:v>0.6</c:v>
              </c:pt>
              <c:pt idx="157">
                <c:v>0.6</c:v>
              </c:pt>
              <c:pt idx="158">
                <c:v>0.6</c:v>
              </c:pt>
              <c:pt idx="159">
                <c:v>0.6</c:v>
              </c:pt>
              <c:pt idx="160">
                <c:v>0.6</c:v>
              </c:pt>
              <c:pt idx="161">
                <c:v>0.6</c:v>
              </c:pt>
              <c:pt idx="162">
                <c:v>0.6</c:v>
              </c:pt>
              <c:pt idx="163">
                <c:v>0.6</c:v>
              </c:pt>
              <c:pt idx="164">
                <c:v>0.6</c:v>
              </c:pt>
              <c:pt idx="165">
                <c:v>0.6</c:v>
              </c:pt>
              <c:pt idx="166">
                <c:v>0.6</c:v>
              </c:pt>
              <c:pt idx="167">
                <c:v>0.6</c:v>
              </c:pt>
              <c:pt idx="168">
                <c:v>0.6</c:v>
              </c:pt>
              <c:pt idx="169">
                <c:v>0.6</c:v>
              </c:pt>
              <c:pt idx="170">
                <c:v>0.6</c:v>
              </c:pt>
              <c:pt idx="171">
                <c:v>0.6</c:v>
              </c:pt>
              <c:pt idx="172">
                <c:v>0.6</c:v>
              </c:pt>
              <c:pt idx="173">
                <c:v>0.6</c:v>
              </c:pt>
              <c:pt idx="174">
                <c:v>0.6</c:v>
              </c:pt>
              <c:pt idx="175">
                <c:v>0.6</c:v>
              </c:pt>
              <c:pt idx="176">
                <c:v>0.6</c:v>
              </c:pt>
              <c:pt idx="177">
                <c:v>0.6</c:v>
              </c:pt>
              <c:pt idx="178">
                <c:v>0.6</c:v>
              </c:pt>
              <c:pt idx="179">
                <c:v>0.6</c:v>
              </c:pt>
              <c:pt idx="180">
                <c:v>0.6</c:v>
              </c:pt>
              <c:pt idx="181">
                <c:v>0.6</c:v>
              </c:pt>
              <c:pt idx="182">
                <c:v>0.6</c:v>
              </c:pt>
              <c:pt idx="183">
                <c:v>0.6</c:v>
              </c:pt>
              <c:pt idx="184">
                <c:v>0.6</c:v>
              </c:pt>
              <c:pt idx="185">
                <c:v>0.6</c:v>
              </c:pt>
              <c:pt idx="186">
                <c:v>0.6</c:v>
              </c:pt>
              <c:pt idx="187">
                <c:v>0.6</c:v>
              </c:pt>
              <c:pt idx="188">
                <c:v>0.6</c:v>
              </c:pt>
              <c:pt idx="189">
                <c:v>0.6</c:v>
              </c:pt>
              <c:pt idx="190">
                <c:v>0.6</c:v>
              </c:pt>
              <c:pt idx="191">
                <c:v>0.6</c:v>
              </c:pt>
              <c:pt idx="192">
                <c:v>0.6</c:v>
              </c:pt>
              <c:pt idx="193">
                <c:v>0.6</c:v>
              </c:pt>
              <c:pt idx="194">
                <c:v>0.6</c:v>
              </c:pt>
              <c:pt idx="195">
                <c:v>0.6</c:v>
              </c:pt>
              <c:pt idx="196">
                <c:v>0.6</c:v>
              </c:pt>
              <c:pt idx="197">
                <c:v>0.6</c:v>
              </c:pt>
              <c:pt idx="198">
                <c:v>0.6</c:v>
              </c:pt>
              <c:pt idx="199">
                <c:v>0.6</c:v>
              </c:pt>
              <c:pt idx="200">
                <c:v>0.6</c:v>
              </c:pt>
              <c:pt idx="201">
                <c:v>0.6</c:v>
              </c:pt>
              <c:pt idx="202">
                <c:v>0.6</c:v>
              </c:pt>
              <c:pt idx="203">
                <c:v>0.6</c:v>
              </c:pt>
              <c:pt idx="204">
                <c:v>0.6</c:v>
              </c:pt>
              <c:pt idx="205">
                <c:v>0.6</c:v>
              </c:pt>
              <c:pt idx="206">
                <c:v>0.6</c:v>
              </c:pt>
              <c:pt idx="207">
                <c:v>0.6</c:v>
              </c:pt>
              <c:pt idx="208">
                <c:v>0.6</c:v>
              </c:pt>
              <c:pt idx="209">
                <c:v>0.6</c:v>
              </c:pt>
              <c:pt idx="210">
                <c:v>0.6</c:v>
              </c:pt>
              <c:pt idx="211">
                <c:v>0.5933333333333333</c:v>
              </c:pt>
              <c:pt idx="212">
                <c:v>0.5866666666666667</c:v>
              </c:pt>
              <c:pt idx="213">
                <c:v>0.58</c:v>
              </c:pt>
              <c:pt idx="214">
                <c:v>0.5733333333333335</c:v>
              </c:pt>
              <c:pt idx="215">
                <c:v>0.5666666666666667</c:v>
              </c:pt>
              <c:pt idx="216">
                <c:v>0.5599999999999999</c:v>
              </c:pt>
              <c:pt idx="217">
                <c:v>0.5533333333333333</c:v>
              </c:pt>
              <c:pt idx="218">
                <c:v>0.5466666666666666</c:v>
              </c:pt>
              <c:pt idx="219">
                <c:v>0.5400000000000001</c:v>
              </c:pt>
              <c:pt idx="220">
                <c:v>0.5333333333333333</c:v>
              </c:pt>
              <c:pt idx="221">
                <c:v>0.5266666666666666</c:v>
              </c:pt>
              <c:pt idx="222">
                <c:v>0.52</c:v>
              </c:pt>
              <c:pt idx="223">
                <c:v>0.5133333333333333</c:v>
              </c:pt>
              <c:pt idx="224">
                <c:v>0.5066666666666667</c:v>
              </c:pt>
              <c:pt idx="225">
                <c:v>0.5</c:v>
              </c:pt>
              <c:pt idx="226">
                <c:v>0.49333333333333323</c:v>
              </c:pt>
              <c:pt idx="227">
                <c:v>0.4866666666666667</c:v>
              </c:pt>
              <c:pt idx="228">
                <c:v>0.4799999999999999</c:v>
              </c:pt>
              <c:pt idx="229">
                <c:v>0.47333333333333344</c:v>
              </c:pt>
              <c:pt idx="230">
                <c:v>0.4666666666666667</c:v>
              </c:pt>
              <c:pt idx="231">
                <c:v>0.4599999999999999</c:v>
              </c:pt>
              <c:pt idx="232">
                <c:v>0.45333333333333337</c:v>
              </c:pt>
              <c:pt idx="233">
                <c:v>0.4466666666666666</c:v>
              </c:pt>
              <c:pt idx="234">
                <c:v>0.4400000000000001</c:v>
              </c:pt>
              <c:pt idx="235">
                <c:v>0.43333333333333335</c:v>
              </c:pt>
              <c:pt idx="236">
                <c:v>0.4266666666666666</c:v>
              </c:pt>
              <c:pt idx="237">
                <c:v>0.42000000000000004</c:v>
              </c:pt>
              <c:pt idx="238">
                <c:v>0.4133333333333333</c:v>
              </c:pt>
              <c:pt idx="239">
                <c:v>0.4066666666666668</c:v>
              </c:pt>
              <c:pt idx="240">
                <c:v>0.4</c:v>
              </c:pt>
              <c:pt idx="241">
                <c:v>0.39333333333333326</c:v>
              </c:pt>
              <c:pt idx="242">
                <c:v>0.3866666666666667</c:v>
              </c:pt>
              <c:pt idx="243">
                <c:v>0.37999999999999995</c:v>
              </c:pt>
              <c:pt idx="244">
                <c:v>0.3733333333333334</c:v>
              </c:pt>
              <c:pt idx="245">
                <c:v>0.36666666666666664</c:v>
              </c:pt>
              <c:pt idx="246">
                <c:v>0.35999999999999993</c:v>
              </c:pt>
              <c:pt idx="247">
                <c:v>0.3533333333333334</c:v>
              </c:pt>
              <c:pt idx="248">
                <c:v>0.3466666666666666</c:v>
              </c:pt>
              <c:pt idx="249">
                <c:v>0.3400000000000001</c:v>
              </c:pt>
              <c:pt idx="250">
                <c:v>0.3333333333333333</c:v>
              </c:pt>
              <c:pt idx="251">
                <c:v>0.32666666666666655</c:v>
              </c:pt>
              <c:pt idx="252">
                <c:v>0.32000000000000006</c:v>
              </c:pt>
              <c:pt idx="253">
                <c:v>0.3133333333333333</c:v>
              </c:pt>
              <c:pt idx="254">
                <c:v>0.30666666666666675</c:v>
              </c:pt>
              <c:pt idx="255">
                <c:v>0.3</c:v>
              </c:pt>
              <c:pt idx="256">
                <c:v>0.3</c:v>
              </c:pt>
              <c:pt idx="257">
                <c:v>0.3</c:v>
              </c:pt>
              <c:pt idx="258">
                <c:v>0.3</c:v>
              </c:pt>
              <c:pt idx="259">
                <c:v>0.3</c:v>
              </c:pt>
              <c:pt idx="260">
                <c:v>0.3</c:v>
              </c:pt>
              <c:pt idx="261">
                <c:v>0.3</c:v>
              </c:pt>
              <c:pt idx="262">
                <c:v>0.3</c:v>
              </c:pt>
              <c:pt idx="263">
                <c:v>0.3</c:v>
              </c:pt>
              <c:pt idx="264">
                <c:v>0.3</c:v>
              </c:pt>
              <c:pt idx="265">
                <c:v>0.3</c:v>
              </c:pt>
              <c:pt idx="266">
                <c:v>0.3</c:v>
              </c:pt>
              <c:pt idx="267">
                <c:v>0.3</c:v>
              </c:pt>
              <c:pt idx="268">
                <c:v>0.3</c:v>
              </c:pt>
              <c:pt idx="269">
                <c:v>0.3</c:v>
              </c:pt>
              <c:pt idx="270">
                <c:v>0.3</c:v>
              </c:pt>
              <c:pt idx="271">
                <c:v>0.3</c:v>
              </c:pt>
              <c:pt idx="272">
                <c:v>0.3</c:v>
              </c:pt>
              <c:pt idx="273">
                <c:v>0.3</c:v>
              </c:pt>
              <c:pt idx="274">
                <c:v>0.3</c:v>
              </c:pt>
              <c:pt idx="275">
                <c:v>0.3</c:v>
              </c:pt>
              <c:pt idx="276">
                <c:v>0.3</c:v>
              </c:pt>
              <c:pt idx="277">
                <c:v>0.3</c:v>
              </c:pt>
              <c:pt idx="278">
                <c:v>0.3</c:v>
              </c:pt>
              <c:pt idx="279">
                <c:v>0.3</c:v>
              </c:pt>
              <c:pt idx="280">
                <c:v>0.3</c:v>
              </c:pt>
              <c:pt idx="281">
                <c:v>0.3</c:v>
              </c:pt>
              <c:pt idx="282">
                <c:v>0.3</c:v>
              </c:pt>
              <c:pt idx="283">
                <c:v>0.3</c:v>
              </c:pt>
              <c:pt idx="284">
                <c:v>0.3</c:v>
              </c:pt>
              <c:pt idx="285">
                <c:v>0.3</c:v>
              </c:pt>
              <c:pt idx="286">
                <c:v>0.3</c:v>
              </c:pt>
              <c:pt idx="287">
                <c:v>0.3</c:v>
              </c:pt>
              <c:pt idx="288">
                <c:v>0.3</c:v>
              </c:pt>
              <c:pt idx="289">
                <c:v>0.3</c:v>
              </c:pt>
              <c:pt idx="290">
                <c:v>0.3</c:v>
              </c:pt>
              <c:pt idx="291">
                <c:v>0.3</c:v>
              </c:pt>
              <c:pt idx="292">
                <c:v>0.3</c:v>
              </c:pt>
              <c:pt idx="293">
                <c:v>0.3</c:v>
              </c:pt>
              <c:pt idx="294">
                <c:v>0.3</c:v>
              </c:pt>
              <c:pt idx="295">
                <c:v>0.3</c:v>
              </c:pt>
              <c:pt idx="296">
                <c:v>0.3</c:v>
              </c:pt>
              <c:pt idx="297">
                <c:v>0.3</c:v>
              </c:pt>
              <c:pt idx="298">
                <c:v>0.3</c:v>
              </c:pt>
              <c:pt idx="299">
                <c:v>0.3</c:v>
              </c:pt>
              <c:pt idx="300">
                <c:v>0.3</c:v>
              </c:pt>
              <c:pt idx="301">
                <c:v>0.3</c:v>
              </c:pt>
              <c:pt idx="302">
                <c:v>0.3</c:v>
              </c:pt>
              <c:pt idx="303">
                <c:v>0.3</c:v>
              </c:pt>
              <c:pt idx="304">
                <c:v>0.3</c:v>
              </c:pt>
              <c:pt idx="305">
                <c:v>0.3</c:v>
              </c:pt>
              <c:pt idx="306">
                <c:v>0.3</c:v>
              </c:pt>
              <c:pt idx="307">
                <c:v>0.3</c:v>
              </c:pt>
              <c:pt idx="308">
                <c:v>0.3</c:v>
              </c:pt>
              <c:pt idx="309">
                <c:v>0.3</c:v>
              </c:pt>
              <c:pt idx="310">
                <c:v>0.3</c:v>
              </c:pt>
              <c:pt idx="311">
                <c:v>0.3</c:v>
              </c:pt>
              <c:pt idx="312">
                <c:v>0.3</c:v>
              </c:pt>
              <c:pt idx="313">
                <c:v>0.3</c:v>
              </c:pt>
              <c:pt idx="314">
                <c:v>0.3</c:v>
              </c:pt>
              <c:pt idx="315">
                <c:v>0.3</c:v>
              </c:pt>
              <c:pt idx="316">
                <c:v>0.3</c:v>
              </c:pt>
              <c:pt idx="317">
                <c:v>0.3</c:v>
              </c:pt>
              <c:pt idx="318">
                <c:v>0.3</c:v>
              </c:pt>
              <c:pt idx="319">
                <c:v>0.3</c:v>
              </c:pt>
              <c:pt idx="320">
                <c:v>0.3</c:v>
              </c:pt>
              <c:pt idx="321">
                <c:v>0.3</c:v>
              </c:pt>
              <c:pt idx="322">
                <c:v>0.3</c:v>
              </c:pt>
              <c:pt idx="323">
                <c:v>0.3</c:v>
              </c:pt>
              <c:pt idx="324">
                <c:v>0.3</c:v>
              </c:pt>
              <c:pt idx="325">
                <c:v>0.3</c:v>
              </c:pt>
              <c:pt idx="326">
                <c:v>0.3</c:v>
              </c:pt>
              <c:pt idx="327">
                <c:v>0.3</c:v>
              </c:pt>
              <c:pt idx="328">
                <c:v>0.3</c:v>
              </c:pt>
              <c:pt idx="329">
                <c:v>0.3</c:v>
              </c:pt>
              <c:pt idx="330">
                <c:v>0.3</c:v>
              </c:pt>
              <c:pt idx="331">
                <c:v>0.3</c:v>
              </c:pt>
              <c:pt idx="332">
                <c:v>0.3</c:v>
              </c:pt>
              <c:pt idx="333">
                <c:v>0.3</c:v>
              </c:pt>
              <c:pt idx="334">
                <c:v>0.3</c:v>
              </c:pt>
              <c:pt idx="335">
                <c:v>0.3</c:v>
              </c:pt>
              <c:pt idx="336">
                <c:v>0.3</c:v>
              </c:pt>
              <c:pt idx="337">
                <c:v>0.3</c:v>
              </c:pt>
              <c:pt idx="338">
                <c:v>0.3</c:v>
              </c:pt>
              <c:pt idx="339">
                <c:v>0.3</c:v>
              </c:pt>
              <c:pt idx="340">
                <c:v>0.3</c:v>
              </c:pt>
              <c:pt idx="341">
                <c:v>0.3</c:v>
              </c:pt>
              <c:pt idx="342">
                <c:v>0.3</c:v>
              </c:pt>
              <c:pt idx="343">
                <c:v>0.3</c:v>
              </c:pt>
              <c:pt idx="344">
                <c:v>0.3</c:v>
              </c:pt>
              <c:pt idx="345">
                <c:v>0.3</c:v>
              </c:pt>
              <c:pt idx="346">
                <c:v>0.3</c:v>
              </c:pt>
              <c:pt idx="347">
                <c:v>0.3</c:v>
              </c:pt>
              <c:pt idx="348">
                <c:v>0.3</c:v>
              </c:pt>
              <c:pt idx="349">
                <c:v>0.3</c:v>
              </c:pt>
              <c:pt idx="350">
                <c:v>0.3</c:v>
              </c:pt>
              <c:pt idx="351">
                <c:v>0.3</c:v>
              </c:pt>
              <c:pt idx="352">
                <c:v>0.3</c:v>
              </c:pt>
              <c:pt idx="353">
                <c:v>0.3</c:v>
              </c:pt>
              <c:pt idx="354">
                <c:v>0.3</c:v>
              </c:pt>
              <c:pt idx="355">
                <c:v>0.3</c:v>
              </c:pt>
              <c:pt idx="356">
                <c:v>0.3</c:v>
              </c:pt>
              <c:pt idx="357">
                <c:v>0.3</c:v>
              </c:pt>
              <c:pt idx="358">
                <c:v>0.3</c:v>
              </c:pt>
              <c:pt idx="359">
                <c:v>0.3</c:v>
              </c:pt>
              <c:pt idx="360">
                <c:v>0.3</c:v>
              </c:pt>
              <c:pt idx="361">
                <c:v>0.3</c:v>
              </c:pt>
              <c:pt idx="362">
                <c:v>0.3</c:v>
              </c:pt>
              <c:pt idx="363">
                <c:v>0.3</c:v>
              </c:pt>
              <c:pt idx="364">
                <c:v>0.3</c:v>
              </c:pt>
              <c:pt idx="365">
                <c:v>0.3</c:v>
              </c:pt>
              <c:pt idx="366">
                <c:v>0.3</c:v>
              </c:pt>
              <c:pt idx="367">
                <c:v>0.3</c:v>
              </c:pt>
              <c:pt idx="368">
                <c:v>0.3</c:v>
              </c:pt>
              <c:pt idx="369">
                <c:v>0.3</c:v>
              </c:pt>
              <c:pt idx="370">
                <c:v>0.3</c:v>
              </c:pt>
              <c:pt idx="371">
                <c:v>0.3</c:v>
              </c:pt>
              <c:pt idx="372">
                <c:v>0.3</c:v>
              </c:pt>
              <c:pt idx="373">
                <c:v>0.3</c:v>
              </c:pt>
              <c:pt idx="374">
                <c:v>0.3</c:v>
              </c:pt>
              <c:pt idx="375">
                <c:v>0.3</c:v>
              </c:pt>
              <c:pt idx="376">
                <c:v>0.3</c:v>
              </c:pt>
              <c:pt idx="377">
                <c:v>0.3</c:v>
              </c:pt>
              <c:pt idx="378">
                <c:v>0.3</c:v>
              </c:pt>
              <c:pt idx="379">
                <c:v>0.3</c:v>
              </c:pt>
              <c:pt idx="380">
                <c:v>0.3</c:v>
              </c:pt>
              <c:pt idx="381">
                <c:v>0.3</c:v>
              </c:pt>
              <c:pt idx="382">
                <c:v>0.3</c:v>
              </c:pt>
              <c:pt idx="383">
                <c:v>0.3</c:v>
              </c:pt>
              <c:pt idx="384">
                <c:v>0.3</c:v>
              </c:pt>
              <c:pt idx="385">
                <c:v>0.3</c:v>
              </c:pt>
              <c:pt idx="386">
                <c:v>0.3</c:v>
              </c:pt>
              <c:pt idx="387">
                <c:v>0.3</c:v>
              </c:pt>
              <c:pt idx="388">
                <c:v>0.3</c:v>
              </c:pt>
              <c:pt idx="389">
                <c:v>0.3</c:v>
              </c:pt>
              <c:pt idx="390">
                <c:v>0.3</c:v>
              </c:pt>
              <c:pt idx="391">
                <c:v>0.3</c:v>
              </c:pt>
              <c:pt idx="392">
                <c:v>0.3</c:v>
              </c:pt>
              <c:pt idx="393">
                <c:v>0.3</c:v>
              </c:pt>
              <c:pt idx="394">
                <c:v>0.3</c:v>
              </c:pt>
              <c:pt idx="395">
                <c:v>0.3</c:v>
              </c:pt>
              <c:pt idx="396">
                <c:v>0.3</c:v>
              </c:pt>
              <c:pt idx="397">
                <c:v>0.3</c:v>
              </c:pt>
              <c:pt idx="398">
                <c:v>0.3</c:v>
              </c:pt>
              <c:pt idx="399">
                <c:v>0.3</c:v>
              </c:pt>
              <c:pt idx="400">
                <c:v>0.3</c:v>
              </c:pt>
              <c:pt idx="401">
                <c:v>0.3</c:v>
              </c:pt>
              <c:pt idx="402">
                <c:v>0.3</c:v>
              </c:pt>
              <c:pt idx="403">
                <c:v>0.3</c:v>
              </c:pt>
              <c:pt idx="404">
                <c:v>0.3</c:v>
              </c:pt>
              <c:pt idx="405">
                <c:v>0.3</c:v>
              </c:pt>
              <c:pt idx="406">
                <c:v>0.2933333333333332</c:v>
              </c:pt>
              <c:pt idx="407">
                <c:v>0.28666666666666646</c:v>
              </c:pt>
              <c:pt idx="408">
                <c:v>0.2800000000000002</c:v>
              </c:pt>
              <c:pt idx="409">
                <c:v>0.27333333333333343</c:v>
              </c:pt>
              <c:pt idx="410">
                <c:v>0.26666666666666666</c:v>
              </c:pt>
              <c:pt idx="411">
                <c:v>0.2599999999999999</c:v>
              </c:pt>
              <c:pt idx="412">
                <c:v>0.25333333333333313</c:v>
              </c:pt>
              <c:pt idx="413">
                <c:v>0.24666666666666687</c:v>
              </c:pt>
              <c:pt idx="414">
                <c:v>0.2400000000000001</c:v>
              </c:pt>
              <c:pt idx="415">
                <c:v>0.23333333333333334</c:v>
              </c:pt>
              <c:pt idx="416">
                <c:v>0.22666666666666657</c:v>
              </c:pt>
              <c:pt idx="417">
                <c:v>0.2199999999999998</c:v>
              </c:pt>
              <c:pt idx="418">
                <c:v>0.2133333333333335</c:v>
              </c:pt>
              <c:pt idx="419">
                <c:v>0.20666666666666675</c:v>
              </c:pt>
              <c:pt idx="420">
                <c:v>0.2</c:v>
              </c:pt>
              <c:pt idx="421">
                <c:v>0.19333333333333325</c:v>
              </c:pt>
              <c:pt idx="422">
                <c:v>0.18666666666666648</c:v>
              </c:pt>
              <c:pt idx="423">
                <c:v>0.1800000000000002</c:v>
              </c:pt>
              <c:pt idx="424">
                <c:v>0.17333333333333342</c:v>
              </c:pt>
              <c:pt idx="425">
                <c:v>0.16666666666666666</c:v>
              </c:pt>
              <c:pt idx="426">
                <c:v>0.1599999999999999</c:v>
              </c:pt>
              <c:pt idx="427">
                <c:v>0.15333333333333315</c:v>
              </c:pt>
              <c:pt idx="428">
                <c:v>0.14666666666666686</c:v>
              </c:pt>
              <c:pt idx="429">
                <c:v>0.1400000000000001</c:v>
              </c:pt>
              <c:pt idx="430">
                <c:v>0.13333333333333333</c:v>
              </c:pt>
              <c:pt idx="431">
                <c:v>0.12666666666666657</c:v>
              </c:pt>
              <c:pt idx="432">
                <c:v>0.11999999999999982</c:v>
              </c:pt>
              <c:pt idx="433">
                <c:v>0.11333333333333352</c:v>
              </c:pt>
              <c:pt idx="434">
                <c:v>0.10666666666666676</c:v>
              </c:pt>
              <c:pt idx="435">
                <c:v>0.1</c:v>
              </c:pt>
              <c:pt idx="436">
                <c:v>0.09333333333333324</c:v>
              </c:pt>
              <c:pt idx="437">
                <c:v>0.08666666666666648</c:v>
              </c:pt>
              <c:pt idx="438">
                <c:v>0.0800000000000002</c:v>
              </c:pt>
              <c:pt idx="439">
                <c:v>0.07333333333333343</c:v>
              </c:pt>
              <c:pt idx="440">
                <c:v>0.06666666666666667</c:v>
              </c:pt>
              <c:pt idx="441">
                <c:v>0.05999999999999991</c:v>
              </c:pt>
              <c:pt idx="442">
                <c:v>0.05333333333333314</c:v>
              </c:pt>
              <c:pt idx="443">
                <c:v>0.046666666666666856</c:v>
              </c:pt>
              <c:pt idx="444">
                <c:v>0.0400000000000001</c:v>
              </c:pt>
              <c:pt idx="445">
                <c:v>0.03333333333333333</c:v>
              </c:pt>
              <c:pt idx="446">
                <c:v>0.02666666666666657</c:v>
              </c:pt>
              <c:pt idx="447">
                <c:v>0.01999999999999981</c:v>
              </c:pt>
              <c:pt idx="448">
                <c:v>0.013333333333333523</c:v>
              </c:pt>
              <c:pt idx="449">
                <c:v>0.006666666666666762</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numLit>
          </c:yVal>
        </c:ser>
        <c:ser>
          <c:idx val="1"/>
          <c:order val="1"/>
          <c:tx>
            <c:v>Suma</c:v>
          </c:tx>
          <c:spPr>
            <a:ln xmlns:a="http://schemas.openxmlformats.org/drawingml/2006/main" w="28575">
              <a:solidFill>
                <a:srgbClr val="D96B18"/>
              </a:solidFill>
            </a:ln>
          </c:spPr>
          <c:marker>
            <c:symbol val="none"/>
            <c:size val="5"/>
          </c:marker>
          <c:xVal>
            <c:numLit>
              <c:formatCode>General</c:formatCode>
              <c:ptCount val="501"/>
              <c:pt idx="0">
                <c:v>0</c:v>
              </c:pt>
              <c:pt idx="1">
                <c:v>0.2</c:v>
              </c:pt>
              <c:pt idx="2">
                <c:v>0.4</c:v>
              </c:pt>
              <c:pt idx="3">
                <c:v>0.6</c:v>
              </c:pt>
              <c:pt idx="4">
                <c:v>0.8</c:v>
              </c:pt>
              <c:pt idx="5">
                <c:v>1</c:v>
              </c:pt>
              <c:pt idx="6">
                <c:v>1.2</c:v>
              </c:pt>
              <c:pt idx="7">
                <c:v>1.4</c:v>
              </c:pt>
              <c:pt idx="8">
                <c:v>1.6</c:v>
              </c:pt>
              <c:pt idx="9">
                <c:v>1.8</c:v>
              </c:pt>
              <c:pt idx="10">
                <c:v>2</c:v>
              </c:pt>
              <c:pt idx="11">
                <c:v>2.2</c:v>
              </c:pt>
              <c:pt idx="12">
                <c:v>2.4</c:v>
              </c:pt>
              <c:pt idx="13">
                <c:v>2.6</c:v>
              </c:pt>
              <c:pt idx="14">
                <c:v>2.8</c:v>
              </c:pt>
              <c:pt idx="15">
                <c:v>3</c:v>
              </c:pt>
              <c:pt idx="16">
                <c:v>3.2</c:v>
              </c:pt>
              <c:pt idx="17">
                <c:v>3.4</c:v>
              </c:pt>
              <c:pt idx="18">
                <c:v>3.6</c:v>
              </c:pt>
              <c:pt idx="19">
                <c:v>3.8</c:v>
              </c:pt>
              <c:pt idx="20">
                <c:v>4</c:v>
              </c:pt>
              <c:pt idx="21">
                <c:v>4.2</c:v>
              </c:pt>
              <c:pt idx="22">
                <c:v>4.4</c:v>
              </c:pt>
              <c:pt idx="23">
                <c:v>4.6</c:v>
              </c:pt>
              <c:pt idx="24">
                <c:v>4.8</c:v>
              </c:pt>
              <c:pt idx="25">
                <c:v>5</c:v>
              </c:pt>
              <c:pt idx="26">
                <c:v>5.2</c:v>
              </c:pt>
              <c:pt idx="27">
                <c:v>5.4</c:v>
              </c:pt>
              <c:pt idx="28">
                <c:v>5.6</c:v>
              </c:pt>
              <c:pt idx="29">
                <c:v>5.8</c:v>
              </c:pt>
              <c:pt idx="30">
                <c:v>6</c:v>
              </c:pt>
              <c:pt idx="31">
                <c:v>6.2</c:v>
              </c:pt>
              <c:pt idx="32">
                <c:v>6.4</c:v>
              </c:pt>
              <c:pt idx="33">
                <c:v>6.6</c:v>
              </c:pt>
              <c:pt idx="34">
                <c:v>6.8</c:v>
              </c:pt>
              <c:pt idx="35">
                <c:v>7</c:v>
              </c:pt>
              <c:pt idx="36">
                <c:v>7.2</c:v>
              </c:pt>
              <c:pt idx="37">
                <c:v>7.4</c:v>
              </c:pt>
              <c:pt idx="38">
                <c:v>7.6</c:v>
              </c:pt>
              <c:pt idx="39">
                <c:v>7.8</c:v>
              </c:pt>
              <c:pt idx="40">
                <c:v>8</c:v>
              </c:pt>
              <c:pt idx="41">
                <c:v>8.2</c:v>
              </c:pt>
              <c:pt idx="42">
                <c:v>8.4</c:v>
              </c:pt>
              <c:pt idx="43">
                <c:v>8.6</c:v>
              </c:pt>
              <c:pt idx="44">
                <c:v>8.8</c:v>
              </c:pt>
              <c:pt idx="45">
                <c:v>9</c:v>
              </c:pt>
              <c:pt idx="46">
                <c:v>9.2</c:v>
              </c:pt>
              <c:pt idx="47">
                <c:v>9.4</c:v>
              </c:pt>
              <c:pt idx="48">
                <c:v>9.6</c:v>
              </c:pt>
              <c:pt idx="49">
                <c:v>9.8</c:v>
              </c:pt>
              <c:pt idx="50">
                <c:v>10</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20</c:v>
              </c:pt>
              <c:pt idx="101">
                <c:v>20.2</c:v>
              </c:pt>
              <c:pt idx="102">
                <c:v>20.4</c:v>
              </c:pt>
              <c:pt idx="103">
                <c:v>20.6</c:v>
              </c:pt>
              <c:pt idx="104">
                <c:v>20.8</c:v>
              </c:pt>
              <c:pt idx="105">
                <c:v>21</c:v>
              </c:pt>
              <c:pt idx="106">
                <c:v>21.2</c:v>
              </c:pt>
              <c:pt idx="107">
                <c:v>21.4</c:v>
              </c:pt>
              <c:pt idx="108">
                <c:v>21.6</c:v>
              </c:pt>
              <c:pt idx="109">
                <c:v>21.8</c:v>
              </c:pt>
              <c:pt idx="110">
                <c:v>22</c:v>
              </c:pt>
              <c:pt idx="111">
                <c:v>22.2</c:v>
              </c:pt>
              <c:pt idx="112">
                <c:v>22.4</c:v>
              </c:pt>
              <c:pt idx="113">
                <c:v>22.6</c:v>
              </c:pt>
              <c:pt idx="114">
                <c:v>22.8</c:v>
              </c:pt>
              <c:pt idx="115">
                <c:v>23</c:v>
              </c:pt>
              <c:pt idx="116">
                <c:v>23.2</c:v>
              </c:pt>
              <c:pt idx="117">
                <c:v>23.4</c:v>
              </c:pt>
              <c:pt idx="118">
                <c:v>23.6</c:v>
              </c:pt>
              <c:pt idx="119">
                <c:v>23.8</c:v>
              </c:pt>
              <c:pt idx="120">
                <c:v>24</c:v>
              </c:pt>
              <c:pt idx="121">
                <c:v>24.2</c:v>
              </c:pt>
              <c:pt idx="122">
                <c:v>24.4</c:v>
              </c:pt>
              <c:pt idx="123">
                <c:v>24.6</c:v>
              </c:pt>
              <c:pt idx="124">
                <c:v>24.8</c:v>
              </c:pt>
              <c:pt idx="125">
                <c:v>25</c:v>
              </c:pt>
              <c:pt idx="126">
                <c:v>25.2</c:v>
              </c:pt>
              <c:pt idx="127">
                <c:v>25.4</c:v>
              </c:pt>
              <c:pt idx="128">
                <c:v>25.6</c:v>
              </c:pt>
              <c:pt idx="129">
                <c:v>25.8</c:v>
              </c:pt>
              <c:pt idx="130">
                <c:v>26</c:v>
              </c:pt>
              <c:pt idx="131">
                <c:v>26.2</c:v>
              </c:pt>
              <c:pt idx="132">
                <c:v>26.4</c:v>
              </c:pt>
              <c:pt idx="133">
                <c:v>26.6</c:v>
              </c:pt>
              <c:pt idx="134">
                <c:v>26.8</c:v>
              </c:pt>
              <c:pt idx="135">
                <c:v>27</c:v>
              </c:pt>
              <c:pt idx="136">
                <c:v>27.2</c:v>
              </c:pt>
              <c:pt idx="137">
                <c:v>27.4</c:v>
              </c:pt>
              <c:pt idx="138">
                <c:v>27.6</c:v>
              </c:pt>
              <c:pt idx="139">
                <c:v>27.8</c:v>
              </c:pt>
              <c:pt idx="140">
                <c:v>28</c:v>
              </c:pt>
              <c:pt idx="141">
                <c:v>28.2</c:v>
              </c:pt>
              <c:pt idx="142">
                <c:v>28.4</c:v>
              </c:pt>
              <c:pt idx="143">
                <c:v>28.6</c:v>
              </c:pt>
              <c:pt idx="144">
                <c:v>28.8</c:v>
              </c:pt>
              <c:pt idx="145">
                <c:v>29</c:v>
              </c:pt>
              <c:pt idx="146">
                <c:v>29.2</c:v>
              </c:pt>
              <c:pt idx="147">
                <c:v>29.4</c:v>
              </c:pt>
              <c:pt idx="148">
                <c:v>29.6</c:v>
              </c:pt>
              <c:pt idx="149">
                <c:v>29.8</c:v>
              </c:pt>
              <c:pt idx="150">
                <c:v>30</c:v>
              </c:pt>
              <c:pt idx="151">
                <c:v>30.2</c:v>
              </c:pt>
              <c:pt idx="152">
                <c:v>30.4</c:v>
              </c:pt>
              <c:pt idx="153">
                <c:v>30.6</c:v>
              </c:pt>
              <c:pt idx="154">
                <c:v>30.8</c:v>
              </c:pt>
              <c:pt idx="155">
                <c:v>31</c:v>
              </c:pt>
              <c:pt idx="156">
                <c:v>31.2</c:v>
              </c:pt>
              <c:pt idx="157">
                <c:v>31.4</c:v>
              </c:pt>
              <c:pt idx="158">
                <c:v>31.6</c:v>
              </c:pt>
              <c:pt idx="159">
                <c:v>31.8</c:v>
              </c:pt>
              <c:pt idx="160">
                <c:v>32</c:v>
              </c:pt>
              <c:pt idx="161">
                <c:v>32.2</c:v>
              </c:pt>
              <c:pt idx="162">
                <c:v>32.4</c:v>
              </c:pt>
              <c:pt idx="163">
                <c:v>32.6</c:v>
              </c:pt>
              <c:pt idx="164">
                <c:v>32.8</c:v>
              </c:pt>
              <c:pt idx="165">
                <c:v>33</c:v>
              </c:pt>
              <c:pt idx="166">
                <c:v>33.2</c:v>
              </c:pt>
              <c:pt idx="167">
                <c:v>33.4</c:v>
              </c:pt>
              <c:pt idx="168">
                <c:v>33.6</c:v>
              </c:pt>
              <c:pt idx="169">
                <c:v>33.8</c:v>
              </c:pt>
              <c:pt idx="170">
                <c:v>34</c:v>
              </c:pt>
              <c:pt idx="171">
                <c:v>34.2</c:v>
              </c:pt>
              <c:pt idx="172">
                <c:v>34.4</c:v>
              </c:pt>
              <c:pt idx="173">
                <c:v>34.6</c:v>
              </c:pt>
              <c:pt idx="174">
                <c:v>34.8</c:v>
              </c:pt>
              <c:pt idx="175">
                <c:v>35</c:v>
              </c:pt>
              <c:pt idx="176">
                <c:v>35.2</c:v>
              </c:pt>
              <c:pt idx="177">
                <c:v>35.4</c:v>
              </c:pt>
              <c:pt idx="178">
                <c:v>35.6</c:v>
              </c:pt>
              <c:pt idx="179">
                <c:v>35.8</c:v>
              </c:pt>
              <c:pt idx="180">
                <c:v>36</c:v>
              </c:pt>
              <c:pt idx="181">
                <c:v>36.2</c:v>
              </c:pt>
              <c:pt idx="182">
                <c:v>36.4</c:v>
              </c:pt>
              <c:pt idx="183">
                <c:v>36.6</c:v>
              </c:pt>
              <c:pt idx="184">
                <c:v>36.8</c:v>
              </c:pt>
              <c:pt idx="185">
                <c:v>37</c:v>
              </c:pt>
              <c:pt idx="186">
                <c:v>37.2</c:v>
              </c:pt>
              <c:pt idx="187">
                <c:v>37.4</c:v>
              </c:pt>
              <c:pt idx="188">
                <c:v>37.6</c:v>
              </c:pt>
              <c:pt idx="189">
                <c:v>37.8</c:v>
              </c:pt>
              <c:pt idx="190">
                <c:v>38</c:v>
              </c:pt>
              <c:pt idx="191">
                <c:v>38.2</c:v>
              </c:pt>
              <c:pt idx="192">
                <c:v>38.4</c:v>
              </c:pt>
              <c:pt idx="193">
                <c:v>38.6</c:v>
              </c:pt>
              <c:pt idx="194">
                <c:v>38.8</c:v>
              </c:pt>
              <c:pt idx="195">
                <c:v>39</c:v>
              </c:pt>
              <c:pt idx="196">
                <c:v>39.2</c:v>
              </c:pt>
              <c:pt idx="197">
                <c:v>39.4</c:v>
              </c:pt>
              <c:pt idx="198">
                <c:v>39.6</c:v>
              </c:pt>
              <c:pt idx="199">
                <c:v>39.8</c:v>
              </c:pt>
              <c:pt idx="200">
                <c:v>40</c:v>
              </c:pt>
              <c:pt idx="201">
                <c:v>40.2</c:v>
              </c:pt>
              <c:pt idx="202">
                <c:v>40.4</c:v>
              </c:pt>
              <c:pt idx="203">
                <c:v>40.6</c:v>
              </c:pt>
              <c:pt idx="204">
                <c:v>40.8</c:v>
              </c:pt>
              <c:pt idx="205">
                <c:v>41</c:v>
              </c:pt>
              <c:pt idx="206">
                <c:v>41.2</c:v>
              </c:pt>
              <c:pt idx="207">
                <c:v>41.4</c:v>
              </c:pt>
              <c:pt idx="208">
                <c:v>41.6</c:v>
              </c:pt>
              <c:pt idx="209">
                <c:v>41.8</c:v>
              </c:pt>
              <c:pt idx="210">
                <c:v>42</c:v>
              </c:pt>
              <c:pt idx="211">
                <c:v>42.2</c:v>
              </c:pt>
              <c:pt idx="212">
                <c:v>42.4</c:v>
              </c:pt>
              <c:pt idx="213">
                <c:v>42.6</c:v>
              </c:pt>
              <c:pt idx="214">
                <c:v>42.8</c:v>
              </c:pt>
              <c:pt idx="215">
                <c:v>43</c:v>
              </c:pt>
              <c:pt idx="216">
                <c:v>43.2</c:v>
              </c:pt>
              <c:pt idx="217">
                <c:v>43.4</c:v>
              </c:pt>
              <c:pt idx="218">
                <c:v>43.6</c:v>
              </c:pt>
              <c:pt idx="219">
                <c:v>43.8</c:v>
              </c:pt>
              <c:pt idx="220">
                <c:v>44</c:v>
              </c:pt>
              <c:pt idx="221">
                <c:v>44.2</c:v>
              </c:pt>
              <c:pt idx="222">
                <c:v>44.4</c:v>
              </c:pt>
              <c:pt idx="223">
                <c:v>44.6</c:v>
              </c:pt>
              <c:pt idx="224">
                <c:v>44.8</c:v>
              </c:pt>
              <c:pt idx="225">
                <c:v>45</c:v>
              </c:pt>
              <c:pt idx="226">
                <c:v>45.2</c:v>
              </c:pt>
              <c:pt idx="227">
                <c:v>45.4</c:v>
              </c:pt>
              <c:pt idx="228">
                <c:v>45.6</c:v>
              </c:pt>
              <c:pt idx="229">
                <c:v>45.8</c:v>
              </c:pt>
              <c:pt idx="230">
                <c:v>46</c:v>
              </c:pt>
              <c:pt idx="231">
                <c:v>46.2</c:v>
              </c:pt>
              <c:pt idx="232">
                <c:v>46.4</c:v>
              </c:pt>
              <c:pt idx="233">
                <c:v>46.6</c:v>
              </c:pt>
              <c:pt idx="234">
                <c:v>46.8</c:v>
              </c:pt>
              <c:pt idx="235">
                <c:v>47</c:v>
              </c:pt>
              <c:pt idx="236">
                <c:v>47.2</c:v>
              </c:pt>
              <c:pt idx="237">
                <c:v>47.4</c:v>
              </c:pt>
              <c:pt idx="238">
                <c:v>47.6</c:v>
              </c:pt>
              <c:pt idx="239">
                <c:v>47.8</c:v>
              </c:pt>
              <c:pt idx="240">
                <c:v>48</c:v>
              </c:pt>
              <c:pt idx="241">
                <c:v>48.2</c:v>
              </c:pt>
              <c:pt idx="242">
                <c:v>48.4</c:v>
              </c:pt>
              <c:pt idx="243">
                <c:v>48.6</c:v>
              </c:pt>
              <c:pt idx="244">
                <c:v>48.8</c:v>
              </c:pt>
              <c:pt idx="245">
                <c:v>49</c:v>
              </c:pt>
              <c:pt idx="246">
                <c:v>49.2</c:v>
              </c:pt>
              <c:pt idx="247">
                <c:v>49.4</c:v>
              </c:pt>
              <c:pt idx="248">
                <c:v>49.6</c:v>
              </c:pt>
              <c:pt idx="249">
                <c:v>49.8</c:v>
              </c:pt>
              <c:pt idx="250">
                <c:v>50</c:v>
              </c:pt>
              <c:pt idx="251">
                <c:v>50.2</c:v>
              </c:pt>
              <c:pt idx="252">
                <c:v>50.4</c:v>
              </c:pt>
              <c:pt idx="253">
                <c:v>50.6</c:v>
              </c:pt>
              <c:pt idx="254">
                <c:v>50.8</c:v>
              </c:pt>
              <c:pt idx="255">
                <c:v>51</c:v>
              </c:pt>
              <c:pt idx="256">
                <c:v>51.2</c:v>
              </c:pt>
              <c:pt idx="257">
                <c:v>51.4</c:v>
              </c:pt>
              <c:pt idx="258">
                <c:v>51.6</c:v>
              </c:pt>
              <c:pt idx="259">
                <c:v>51.8</c:v>
              </c:pt>
              <c:pt idx="260">
                <c:v>52</c:v>
              </c:pt>
              <c:pt idx="261">
                <c:v>52.2</c:v>
              </c:pt>
              <c:pt idx="262">
                <c:v>52.4</c:v>
              </c:pt>
              <c:pt idx="263">
                <c:v>52.6</c:v>
              </c:pt>
              <c:pt idx="264">
                <c:v>52.8</c:v>
              </c:pt>
              <c:pt idx="265">
                <c:v>53</c:v>
              </c:pt>
              <c:pt idx="266">
                <c:v>53.2</c:v>
              </c:pt>
              <c:pt idx="267">
                <c:v>53.4</c:v>
              </c:pt>
              <c:pt idx="268">
                <c:v>53.6</c:v>
              </c:pt>
              <c:pt idx="269">
                <c:v>53.8</c:v>
              </c:pt>
              <c:pt idx="270">
                <c:v>54</c:v>
              </c:pt>
              <c:pt idx="271">
                <c:v>54.2</c:v>
              </c:pt>
              <c:pt idx="272">
                <c:v>54.4</c:v>
              </c:pt>
              <c:pt idx="273">
                <c:v>54.6</c:v>
              </c:pt>
              <c:pt idx="274">
                <c:v>54.8</c:v>
              </c:pt>
              <c:pt idx="275">
                <c:v>55</c:v>
              </c:pt>
              <c:pt idx="276">
                <c:v>55.2</c:v>
              </c:pt>
              <c:pt idx="277">
                <c:v>55.4</c:v>
              </c:pt>
              <c:pt idx="278">
                <c:v>55.6</c:v>
              </c:pt>
              <c:pt idx="279">
                <c:v>55.8</c:v>
              </c:pt>
              <c:pt idx="280">
                <c:v>56</c:v>
              </c:pt>
              <c:pt idx="281">
                <c:v>56.2</c:v>
              </c:pt>
              <c:pt idx="282">
                <c:v>56.4</c:v>
              </c:pt>
              <c:pt idx="283">
                <c:v>56.6</c:v>
              </c:pt>
              <c:pt idx="284">
                <c:v>56.8</c:v>
              </c:pt>
              <c:pt idx="285">
                <c:v>57</c:v>
              </c:pt>
              <c:pt idx="286">
                <c:v>57.2</c:v>
              </c:pt>
              <c:pt idx="287">
                <c:v>57.4</c:v>
              </c:pt>
              <c:pt idx="288">
                <c:v>57.6</c:v>
              </c:pt>
              <c:pt idx="289">
                <c:v>57.8</c:v>
              </c:pt>
              <c:pt idx="290">
                <c:v>58</c:v>
              </c:pt>
              <c:pt idx="291">
                <c:v>58.2</c:v>
              </c:pt>
              <c:pt idx="292">
                <c:v>58.4</c:v>
              </c:pt>
              <c:pt idx="293">
                <c:v>58.6</c:v>
              </c:pt>
              <c:pt idx="294">
                <c:v>58.8</c:v>
              </c:pt>
              <c:pt idx="295">
                <c:v>59</c:v>
              </c:pt>
              <c:pt idx="296">
                <c:v>59.2</c:v>
              </c:pt>
              <c:pt idx="297">
                <c:v>59.4</c:v>
              </c:pt>
              <c:pt idx="298">
                <c:v>59.6</c:v>
              </c:pt>
              <c:pt idx="299">
                <c:v>59.8</c:v>
              </c:pt>
              <c:pt idx="300">
                <c:v>60</c:v>
              </c:pt>
              <c:pt idx="301">
                <c:v>60.2</c:v>
              </c:pt>
              <c:pt idx="302">
                <c:v>60.4</c:v>
              </c:pt>
              <c:pt idx="303">
                <c:v>60.6</c:v>
              </c:pt>
              <c:pt idx="304">
                <c:v>60.8</c:v>
              </c:pt>
              <c:pt idx="305">
                <c:v>61</c:v>
              </c:pt>
              <c:pt idx="306">
                <c:v>61.2</c:v>
              </c:pt>
              <c:pt idx="307">
                <c:v>61.4</c:v>
              </c:pt>
              <c:pt idx="308">
                <c:v>61.6</c:v>
              </c:pt>
              <c:pt idx="309">
                <c:v>61.8</c:v>
              </c:pt>
              <c:pt idx="310">
                <c:v>62</c:v>
              </c:pt>
              <c:pt idx="311">
                <c:v>62.2</c:v>
              </c:pt>
              <c:pt idx="312">
                <c:v>62.4</c:v>
              </c:pt>
              <c:pt idx="313">
                <c:v>62.6</c:v>
              </c:pt>
              <c:pt idx="314">
                <c:v>62.8</c:v>
              </c:pt>
              <c:pt idx="315">
                <c:v>63</c:v>
              </c:pt>
              <c:pt idx="316">
                <c:v>63.2</c:v>
              </c:pt>
              <c:pt idx="317">
                <c:v>63.4</c:v>
              </c:pt>
              <c:pt idx="318">
                <c:v>63.6</c:v>
              </c:pt>
              <c:pt idx="319">
                <c:v>63.8</c:v>
              </c:pt>
              <c:pt idx="320">
                <c:v>64</c:v>
              </c:pt>
              <c:pt idx="321">
                <c:v>64.2</c:v>
              </c:pt>
              <c:pt idx="322">
                <c:v>64.4</c:v>
              </c:pt>
              <c:pt idx="323">
                <c:v>64.6</c:v>
              </c:pt>
              <c:pt idx="324">
                <c:v>64.8</c:v>
              </c:pt>
              <c:pt idx="325">
                <c:v>65</c:v>
              </c:pt>
              <c:pt idx="326">
                <c:v>65.2</c:v>
              </c:pt>
              <c:pt idx="327">
                <c:v>65.4</c:v>
              </c:pt>
              <c:pt idx="328">
                <c:v>65.6</c:v>
              </c:pt>
              <c:pt idx="329">
                <c:v>65.8</c:v>
              </c:pt>
              <c:pt idx="330">
                <c:v>66</c:v>
              </c:pt>
              <c:pt idx="331">
                <c:v>66.2</c:v>
              </c:pt>
              <c:pt idx="332">
                <c:v>66.4</c:v>
              </c:pt>
              <c:pt idx="333">
                <c:v>66.6</c:v>
              </c:pt>
              <c:pt idx="334">
                <c:v>66.8</c:v>
              </c:pt>
              <c:pt idx="335">
                <c:v>67</c:v>
              </c:pt>
              <c:pt idx="336">
                <c:v>67.2</c:v>
              </c:pt>
              <c:pt idx="337">
                <c:v>67.4</c:v>
              </c:pt>
              <c:pt idx="338">
                <c:v>67.6</c:v>
              </c:pt>
              <c:pt idx="339">
                <c:v>67.8</c:v>
              </c:pt>
              <c:pt idx="340">
                <c:v>68</c:v>
              </c:pt>
              <c:pt idx="341">
                <c:v>68.2</c:v>
              </c:pt>
              <c:pt idx="342">
                <c:v>68.4</c:v>
              </c:pt>
              <c:pt idx="343">
                <c:v>68.6</c:v>
              </c:pt>
              <c:pt idx="344">
                <c:v>68.8</c:v>
              </c:pt>
              <c:pt idx="345">
                <c:v>69</c:v>
              </c:pt>
              <c:pt idx="346">
                <c:v>69.2</c:v>
              </c:pt>
              <c:pt idx="347">
                <c:v>69.4</c:v>
              </c:pt>
              <c:pt idx="348">
                <c:v>69.6</c:v>
              </c:pt>
              <c:pt idx="349">
                <c:v>69.8</c:v>
              </c:pt>
              <c:pt idx="350">
                <c:v>70</c:v>
              </c:pt>
              <c:pt idx="351">
                <c:v>70.2</c:v>
              </c:pt>
              <c:pt idx="352">
                <c:v>70.4</c:v>
              </c:pt>
              <c:pt idx="353">
                <c:v>70.6</c:v>
              </c:pt>
              <c:pt idx="354">
                <c:v>70.8</c:v>
              </c:pt>
              <c:pt idx="355">
                <c:v>71</c:v>
              </c:pt>
              <c:pt idx="356">
                <c:v>71.2</c:v>
              </c:pt>
              <c:pt idx="357">
                <c:v>71.4</c:v>
              </c:pt>
              <c:pt idx="358">
                <c:v>71.6</c:v>
              </c:pt>
              <c:pt idx="359">
                <c:v>71.8</c:v>
              </c:pt>
              <c:pt idx="360">
                <c:v>72</c:v>
              </c:pt>
              <c:pt idx="361">
                <c:v>72.2</c:v>
              </c:pt>
              <c:pt idx="362">
                <c:v>72.4</c:v>
              </c:pt>
              <c:pt idx="363">
                <c:v>72.6</c:v>
              </c:pt>
              <c:pt idx="364">
                <c:v>72.8</c:v>
              </c:pt>
              <c:pt idx="365">
                <c:v>73</c:v>
              </c:pt>
              <c:pt idx="366">
                <c:v>73.2</c:v>
              </c:pt>
              <c:pt idx="367">
                <c:v>73.4</c:v>
              </c:pt>
              <c:pt idx="368">
                <c:v>73.6</c:v>
              </c:pt>
              <c:pt idx="369">
                <c:v>73.8</c:v>
              </c:pt>
              <c:pt idx="370">
                <c:v>74</c:v>
              </c:pt>
              <c:pt idx="371">
                <c:v>74.2</c:v>
              </c:pt>
              <c:pt idx="372">
                <c:v>74.4</c:v>
              </c:pt>
              <c:pt idx="373">
                <c:v>74.6</c:v>
              </c:pt>
              <c:pt idx="374">
                <c:v>74.8</c:v>
              </c:pt>
              <c:pt idx="375">
                <c:v>75</c:v>
              </c:pt>
              <c:pt idx="376">
                <c:v>75.2</c:v>
              </c:pt>
              <c:pt idx="377">
                <c:v>75.4</c:v>
              </c:pt>
              <c:pt idx="378">
                <c:v>75.6</c:v>
              </c:pt>
              <c:pt idx="379">
                <c:v>75.8</c:v>
              </c:pt>
              <c:pt idx="380">
                <c:v>76</c:v>
              </c:pt>
              <c:pt idx="381">
                <c:v>76.2</c:v>
              </c:pt>
              <c:pt idx="382">
                <c:v>76.4</c:v>
              </c:pt>
              <c:pt idx="383">
                <c:v>76.6</c:v>
              </c:pt>
              <c:pt idx="384">
                <c:v>76.8</c:v>
              </c:pt>
              <c:pt idx="385">
                <c:v>77</c:v>
              </c:pt>
              <c:pt idx="386">
                <c:v>77.2</c:v>
              </c:pt>
              <c:pt idx="387">
                <c:v>77.4</c:v>
              </c:pt>
              <c:pt idx="388">
                <c:v>77.6</c:v>
              </c:pt>
              <c:pt idx="389">
                <c:v>77.8</c:v>
              </c:pt>
              <c:pt idx="390">
                <c:v>78</c:v>
              </c:pt>
              <c:pt idx="391">
                <c:v>78.2</c:v>
              </c:pt>
              <c:pt idx="392">
                <c:v>78.4</c:v>
              </c:pt>
              <c:pt idx="393">
                <c:v>78.6</c:v>
              </c:pt>
              <c:pt idx="394">
                <c:v>78.8</c:v>
              </c:pt>
              <c:pt idx="395">
                <c:v>79</c:v>
              </c:pt>
              <c:pt idx="396">
                <c:v>79.2</c:v>
              </c:pt>
              <c:pt idx="397">
                <c:v>79.4</c:v>
              </c:pt>
              <c:pt idx="398">
                <c:v>79.6</c:v>
              </c:pt>
              <c:pt idx="399">
                <c:v>79.8</c:v>
              </c:pt>
              <c:pt idx="400">
                <c:v>80</c:v>
              </c:pt>
              <c:pt idx="401">
                <c:v>80.2</c:v>
              </c:pt>
              <c:pt idx="402">
                <c:v>80.4</c:v>
              </c:pt>
              <c:pt idx="403">
                <c:v>80.6</c:v>
              </c:pt>
              <c:pt idx="404">
                <c:v>80.8</c:v>
              </c:pt>
              <c:pt idx="405">
                <c:v>81</c:v>
              </c:pt>
              <c:pt idx="406">
                <c:v>81.2</c:v>
              </c:pt>
              <c:pt idx="407">
                <c:v>81.4</c:v>
              </c:pt>
              <c:pt idx="408">
                <c:v>81.6</c:v>
              </c:pt>
              <c:pt idx="409">
                <c:v>81.8</c:v>
              </c:pt>
              <c:pt idx="410">
                <c:v>82</c:v>
              </c:pt>
              <c:pt idx="411">
                <c:v>82.2</c:v>
              </c:pt>
              <c:pt idx="412">
                <c:v>82.4</c:v>
              </c:pt>
              <c:pt idx="413">
                <c:v>82.6</c:v>
              </c:pt>
              <c:pt idx="414">
                <c:v>82.8</c:v>
              </c:pt>
              <c:pt idx="415">
                <c:v>83</c:v>
              </c:pt>
              <c:pt idx="416">
                <c:v>83.2</c:v>
              </c:pt>
              <c:pt idx="417">
                <c:v>83.4</c:v>
              </c:pt>
              <c:pt idx="418">
                <c:v>83.6</c:v>
              </c:pt>
              <c:pt idx="419">
                <c:v>83.8</c:v>
              </c:pt>
              <c:pt idx="420">
                <c:v>84</c:v>
              </c:pt>
              <c:pt idx="421">
                <c:v>84.2</c:v>
              </c:pt>
              <c:pt idx="422">
                <c:v>84.4</c:v>
              </c:pt>
              <c:pt idx="423">
                <c:v>84.6</c:v>
              </c:pt>
              <c:pt idx="424">
                <c:v>84.8</c:v>
              </c:pt>
              <c:pt idx="425">
                <c:v>85</c:v>
              </c:pt>
              <c:pt idx="426">
                <c:v>85.2</c:v>
              </c:pt>
              <c:pt idx="427">
                <c:v>85.4</c:v>
              </c:pt>
              <c:pt idx="428">
                <c:v>85.6</c:v>
              </c:pt>
              <c:pt idx="429">
                <c:v>85.8</c:v>
              </c:pt>
              <c:pt idx="430">
                <c:v>86</c:v>
              </c:pt>
              <c:pt idx="431">
                <c:v>86.2</c:v>
              </c:pt>
              <c:pt idx="432">
                <c:v>86.4</c:v>
              </c:pt>
              <c:pt idx="433">
                <c:v>86.6</c:v>
              </c:pt>
              <c:pt idx="434">
                <c:v>86.8</c:v>
              </c:pt>
              <c:pt idx="435">
                <c:v>87</c:v>
              </c:pt>
              <c:pt idx="436">
                <c:v>87.2</c:v>
              </c:pt>
              <c:pt idx="437">
                <c:v>87.4</c:v>
              </c:pt>
              <c:pt idx="438">
                <c:v>87.6</c:v>
              </c:pt>
              <c:pt idx="439">
                <c:v>87.8</c:v>
              </c:pt>
              <c:pt idx="440">
                <c:v>88</c:v>
              </c:pt>
              <c:pt idx="441">
                <c:v>88.2</c:v>
              </c:pt>
              <c:pt idx="442">
                <c:v>88.4</c:v>
              </c:pt>
              <c:pt idx="443">
                <c:v>88.6</c:v>
              </c:pt>
              <c:pt idx="444">
                <c:v>88.8</c:v>
              </c:pt>
              <c:pt idx="445">
                <c:v>89</c:v>
              </c:pt>
              <c:pt idx="446">
                <c:v>89.2</c:v>
              </c:pt>
              <c:pt idx="447">
                <c:v>89.4</c:v>
              </c:pt>
              <c:pt idx="448">
                <c:v>89.6</c:v>
              </c:pt>
              <c:pt idx="449">
                <c:v>89.8</c:v>
              </c:pt>
              <c:pt idx="450">
                <c:v>90</c:v>
              </c:pt>
              <c:pt idx="451">
                <c:v>90.2</c:v>
              </c:pt>
              <c:pt idx="452">
                <c:v>90.4</c:v>
              </c:pt>
              <c:pt idx="453">
                <c:v>90.6</c:v>
              </c:pt>
              <c:pt idx="454">
                <c:v>90.8</c:v>
              </c:pt>
              <c:pt idx="455">
                <c:v>91</c:v>
              </c:pt>
              <c:pt idx="456">
                <c:v>91.2</c:v>
              </c:pt>
              <c:pt idx="457">
                <c:v>91.4</c:v>
              </c:pt>
              <c:pt idx="458">
                <c:v>91.6</c:v>
              </c:pt>
              <c:pt idx="459">
                <c:v>91.8</c:v>
              </c:pt>
              <c:pt idx="460">
                <c:v>92</c:v>
              </c:pt>
              <c:pt idx="461">
                <c:v>92.2</c:v>
              </c:pt>
              <c:pt idx="462">
                <c:v>92.4</c:v>
              </c:pt>
              <c:pt idx="463">
                <c:v>92.6</c:v>
              </c:pt>
              <c:pt idx="464">
                <c:v>92.8</c:v>
              </c:pt>
              <c:pt idx="465">
                <c:v>93</c:v>
              </c:pt>
              <c:pt idx="466">
                <c:v>93.2</c:v>
              </c:pt>
              <c:pt idx="467">
                <c:v>93.4</c:v>
              </c:pt>
              <c:pt idx="468">
                <c:v>93.6</c:v>
              </c:pt>
              <c:pt idx="469">
                <c:v>93.8</c:v>
              </c:pt>
              <c:pt idx="470">
                <c:v>94</c:v>
              </c:pt>
              <c:pt idx="471">
                <c:v>94.2</c:v>
              </c:pt>
              <c:pt idx="472">
                <c:v>94.4</c:v>
              </c:pt>
              <c:pt idx="473">
                <c:v>94.6</c:v>
              </c:pt>
              <c:pt idx="474">
                <c:v>94.8</c:v>
              </c:pt>
              <c:pt idx="475">
                <c:v>95</c:v>
              </c:pt>
              <c:pt idx="476">
                <c:v>95.2</c:v>
              </c:pt>
              <c:pt idx="477">
                <c:v>95.4</c:v>
              </c:pt>
              <c:pt idx="478">
                <c:v>95.6</c:v>
              </c:pt>
              <c:pt idx="479">
                <c:v>95.8</c:v>
              </c:pt>
              <c:pt idx="480">
                <c:v>96</c:v>
              </c:pt>
              <c:pt idx="481">
                <c:v>96.2</c:v>
              </c:pt>
              <c:pt idx="482">
                <c:v>96.4</c:v>
              </c:pt>
              <c:pt idx="483">
                <c:v>96.6</c:v>
              </c:pt>
              <c:pt idx="484">
                <c:v>96.8</c:v>
              </c:pt>
              <c:pt idx="485">
                <c:v>97</c:v>
              </c:pt>
              <c:pt idx="486">
                <c:v>97.2</c:v>
              </c:pt>
              <c:pt idx="487">
                <c:v>97.4</c:v>
              </c:pt>
              <c:pt idx="488">
                <c:v>97.6</c:v>
              </c:pt>
              <c:pt idx="489">
                <c:v>97.8</c:v>
              </c:pt>
              <c:pt idx="490">
                <c:v>98</c:v>
              </c:pt>
              <c:pt idx="491">
                <c:v>98.2</c:v>
              </c:pt>
              <c:pt idx="492">
                <c:v>98.4</c:v>
              </c:pt>
              <c:pt idx="493">
                <c:v>98.6</c:v>
              </c:pt>
              <c:pt idx="494">
                <c:v>98.8</c:v>
              </c:pt>
              <c:pt idx="495">
                <c:v>99</c:v>
              </c:pt>
              <c:pt idx="496">
                <c:v>99.2</c:v>
              </c:pt>
              <c:pt idx="497">
                <c:v>99.4</c:v>
              </c:pt>
              <c:pt idx="498">
                <c:v>99.6</c:v>
              </c:pt>
              <c:pt idx="499">
                <c:v>99.8</c:v>
              </c:pt>
              <c:pt idx="500">
                <c:v>100</c:v>
              </c:pt>
            </c:numLit>
          </c:xVal>
          <c:yVal>
            <c:numLit>
              <c:formatCode>General</c:formatCode>
              <c:ptCount val="501"/>
              <c:pt idx="0">
                <c:v>0</c:v>
              </c:pt>
              <c:pt idx="1">
                <c:v>0.006666666666666667</c:v>
              </c:pt>
              <c:pt idx="2">
                <c:v>0.013333333333333334</c:v>
              </c:pt>
              <c:pt idx="3">
                <c:v>0.02</c:v>
              </c:pt>
              <c:pt idx="4">
                <c:v>0.02666666666666667</c:v>
              </c:pt>
              <c:pt idx="5">
                <c:v>0.03333333333333333</c:v>
              </c:pt>
              <c:pt idx="6">
                <c:v>0.04</c:v>
              </c:pt>
              <c:pt idx="7">
                <c:v>0.04666666666666666</c:v>
              </c:pt>
              <c:pt idx="8">
                <c:v>0.05333333333333334</c:v>
              </c:pt>
              <c:pt idx="9">
                <c:v>0.060000000000000005</c:v>
              </c:pt>
              <c:pt idx="10">
                <c:v>0.06666666666666667</c:v>
              </c:pt>
              <c:pt idx="11">
                <c:v>0.07333333333333333</c:v>
              </c:pt>
              <c:pt idx="12">
                <c:v>0.08</c:v>
              </c:pt>
              <c:pt idx="13">
                <c:v>0.08666666666666667</c:v>
              </c:pt>
              <c:pt idx="14">
                <c:v>0.09333333333333332</c:v>
              </c:pt>
              <c:pt idx="15">
                <c:v>0.1</c:v>
              </c:pt>
              <c:pt idx="16">
                <c:v>0.10666666666666667</c:v>
              </c:pt>
              <c:pt idx="17">
                <c:v>0.11333333333333333</c:v>
              </c:pt>
              <c:pt idx="18">
                <c:v>0.12000000000000001</c:v>
              </c:pt>
              <c:pt idx="19">
                <c:v>0.12666666666666665</c:v>
              </c:pt>
              <c:pt idx="20">
                <c:v>0.13333333333333333</c:v>
              </c:pt>
              <c:pt idx="21">
                <c:v>0.14</c:v>
              </c:pt>
              <c:pt idx="22">
                <c:v>0.14666666666666667</c:v>
              </c:pt>
              <c:pt idx="23">
                <c:v>0.15333333333333332</c:v>
              </c:pt>
              <c:pt idx="24">
                <c:v>0.16</c:v>
              </c:pt>
              <c:pt idx="25">
                <c:v>0.16666666666666666</c:v>
              </c:pt>
              <c:pt idx="26">
                <c:v>0.17333333333333334</c:v>
              </c:pt>
              <c:pt idx="27">
                <c:v>0.18000000000000002</c:v>
              </c:pt>
              <c:pt idx="28">
                <c:v>0.18666666666666665</c:v>
              </c:pt>
              <c:pt idx="29">
                <c:v>0.19333333333333333</c:v>
              </c:pt>
              <c:pt idx="30">
                <c:v>0.2</c:v>
              </c:pt>
              <c:pt idx="31">
                <c:v>0.20666666666666667</c:v>
              </c:pt>
              <c:pt idx="32">
                <c:v>0.21333333333333335</c:v>
              </c:pt>
              <c:pt idx="33">
                <c:v>0.22</c:v>
              </c:pt>
              <c:pt idx="34">
                <c:v>0.22666666666666666</c:v>
              </c:pt>
              <c:pt idx="35">
                <c:v>0.23333333333333334</c:v>
              </c:pt>
              <c:pt idx="36">
                <c:v>0.24000000000000002</c:v>
              </c:pt>
              <c:pt idx="37">
                <c:v>0.24666666666666667</c:v>
              </c:pt>
              <c:pt idx="38">
                <c:v>0.2533333333333333</c:v>
              </c:pt>
              <c:pt idx="39">
                <c:v>0.26</c:v>
              </c:pt>
              <c:pt idx="40">
                <c:v>0.26666666666666666</c:v>
              </c:pt>
              <c:pt idx="41">
                <c:v>0.2733333333333333</c:v>
              </c:pt>
              <c:pt idx="42">
                <c:v>0.28</c:v>
              </c:pt>
              <c:pt idx="43">
                <c:v>0.2866666666666667</c:v>
              </c:pt>
              <c:pt idx="44">
                <c:v>0.29333333333333333</c:v>
              </c:pt>
              <c:pt idx="45">
                <c:v>0.3</c:v>
              </c:pt>
              <c:pt idx="46">
                <c:v>0.30666666666666664</c:v>
              </c:pt>
              <c:pt idx="47">
                <c:v>0.31333333333333335</c:v>
              </c:pt>
              <c:pt idx="48">
                <c:v>0.32</c:v>
              </c:pt>
              <c:pt idx="49">
                <c:v>0.3266666666666667</c:v>
              </c:pt>
              <c:pt idx="50">
                <c:v>0.3333333333333333</c:v>
              </c:pt>
              <c:pt idx="51">
                <c:v>0.33999999999999997</c:v>
              </c:pt>
              <c:pt idx="52">
                <c:v>0.3466666666666667</c:v>
              </c:pt>
              <c:pt idx="53">
                <c:v>0.35333333333333333</c:v>
              </c:pt>
              <c:pt idx="54">
                <c:v>0.36000000000000004</c:v>
              </c:pt>
              <c:pt idx="55">
                <c:v>0.36666666666666664</c:v>
              </c:pt>
              <c:pt idx="56">
                <c:v>0.3733333333333333</c:v>
              </c:pt>
              <c:pt idx="57">
                <c:v>0.38</c:v>
              </c:pt>
              <c:pt idx="58">
                <c:v>0.38666666666666666</c:v>
              </c:pt>
              <c:pt idx="59">
                <c:v>0.39333333333333337</c:v>
              </c:pt>
              <c:pt idx="60">
                <c:v>0.4</c:v>
              </c:pt>
              <c:pt idx="61">
                <c:v>0.4066666666666666</c:v>
              </c:pt>
              <c:pt idx="62">
                <c:v>0.41333333333333333</c:v>
              </c:pt>
              <c:pt idx="63">
                <c:v>0.42</c:v>
              </c:pt>
              <c:pt idx="64">
                <c:v>0.4266666666666667</c:v>
              </c:pt>
              <c:pt idx="65">
                <c:v>0.43333333333333335</c:v>
              </c:pt>
              <c:pt idx="66">
                <c:v>0.44</c:v>
              </c:pt>
              <c:pt idx="67">
                <c:v>0.44666666666666666</c:v>
              </c:pt>
              <c:pt idx="68">
                <c:v>0.4533333333333333</c:v>
              </c:pt>
              <c:pt idx="69">
                <c:v>0.46</c:v>
              </c:pt>
              <c:pt idx="70">
                <c:v>0.4666666666666667</c:v>
              </c:pt>
              <c:pt idx="71">
                <c:v>0.47333333333333333</c:v>
              </c:pt>
              <c:pt idx="72">
                <c:v>0.48000000000000004</c:v>
              </c:pt>
              <c:pt idx="73">
                <c:v>0.48666666666666664</c:v>
              </c:pt>
              <c:pt idx="74">
                <c:v>0.49333333333333335</c:v>
              </c:pt>
              <c:pt idx="75">
                <c:v>0.5</c:v>
              </c:pt>
              <c:pt idx="76">
                <c:v>0.5066666666666666</c:v>
              </c:pt>
              <c:pt idx="77">
                <c:v>0.5133333333333333</c:v>
              </c:pt>
              <c:pt idx="78">
                <c:v>0.52</c:v>
              </c:pt>
              <c:pt idx="79">
                <c:v>0.5266666666666667</c:v>
              </c:pt>
              <c:pt idx="80">
                <c:v>0.5333333333333333</c:v>
              </c:pt>
              <c:pt idx="81">
                <c:v>0.5399999999999999</c:v>
              </c:pt>
              <c:pt idx="82">
                <c:v>0.5466666666666666</c:v>
              </c:pt>
              <c:pt idx="83">
                <c:v>0.5533333333333333</c:v>
              </c:pt>
              <c:pt idx="84">
                <c:v>0.56</c:v>
              </c:pt>
              <c:pt idx="85">
                <c:v>0.5666666666666667</c:v>
              </c:pt>
              <c:pt idx="86">
                <c:v>0.5733333333333334</c:v>
              </c:pt>
              <c:pt idx="87">
                <c:v>0.58</c:v>
              </c:pt>
              <c:pt idx="88">
                <c:v>0.5866666666666667</c:v>
              </c:pt>
              <c:pt idx="89">
                <c:v>0.5933333333333334</c:v>
              </c:pt>
              <c:pt idx="90">
                <c:v>0.6</c:v>
              </c:pt>
              <c:pt idx="91">
                <c:v>0.6</c:v>
              </c:pt>
              <c:pt idx="92">
                <c:v>0.6</c:v>
              </c:pt>
              <c:pt idx="93">
                <c:v>0.6</c:v>
              </c:pt>
              <c:pt idx="94">
                <c:v>0.6</c:v>
              </c:pt>
              <c:pt idx="95">
                <c:v>0.6</c:v>
              </c:pt>
              <c:pt idx="96">
                <c:v>0.6</c:v>
              </c:pt>
              <c:pt idx="97">
                <c:v>0.6</c:v>
              </c:pt>
              <c:pt idx="98">
                <c:v>0.6</c:v>
              </c:pt>
              <c:pt idx="99">
                <c:v>0.6</c:v>
              </c:pt>
              <c:pt idx="100">
                <c:v>0.6</c:v>
              </c:pt>
              <c:pt idx="101">
                <c:v>0.6</c:v>
              </c:pt>
              <c:pt idx="102">
                <c:v>0.6</c:v>
              </c:pt>
              <c:pt idx="103">
                <c:v>0.6</c:v>
              </c:pt>
              <c:pt idx="104">
                <c:v>0.6</c:v>
              </c:pt>
              <c:pt idx="105">
                <c:v>0.6</c:v>
              </c:pt>
              <c:pt idx="106">
                <c:v>0.6</c:v>
              </c:pt>
              <c:pt idx="107">
                <c:v>0.6</c:v>
              </c:pt>
              <c:pt idx="108">
                <c:v>0.6</c:v>
              </c:pt>
              <c:pt idx="109">
                <c:v>0.6</c:v>
              </c:pt>
              <c:pt idx="110">
                <c:v>0.6</c:v>
              </c:pt>
              <c:pt idx="111">
                <c:v>0.6</c:v>
              </c:pt>
              <c:pt idx="112">
                <c:v>0.6</c:v>
              </c:pt>
              <c:pt idx="113">
                <c:v>0.6</c:v>
              </c:pt>
              <c:pt idx="114">
                <c:v>0.6</c:v>
              </c:pt>
              <c:pt idx="115">
                <c:v>0.6</c:v>
              </c:pt>
              <c:pt idx="116">
                <c:v>0.6</c:v>
              </c:pt>
              <c:pt idx="117">
                <c:v>0.6</c:v>
              </c:pt>
              <c:pt idx="118">
                <c:v>0.6</c:v>
              </c:pt>
              <c:pt idx="119">
                <c:v>0.6</c:v>
              </c:pt>
              <c:pt idx="120">
                <c:v>0.6</c:v>
              </c:pt>
              <c:pt idx="121">
                <c:v>0.6</c:v>
              </c:pt>
              <c:pt idx="122">
                <c:v>0.6</c:v>
              </c:pt>
              <c:pt idx="123">
                <c:v>0.6</c:v>
              </c:pt>
              <c:pt idx="124">
                <c:v>0.6</c:v>
              </c:pt>
              <c:pt idx="125">
                <c:v>0.6</c:v>
              </c:pt>
              <c:pt idx="126">
                <c:v>0.6</c:v>
              </c:pt>
              <c:pt idx="127">
                <c:v>0.6</c:v>
              </c:pt>
              <c:pt idx="128">
                <c:v>0.6</c:v>
              </c:pt>
              <c:pt idx="129">
                <c:v>0.6</c:v>
              </c:pt>
              <c:pt idx="130">
                <c:v>0.6</c:v>
              </c:pt>
              <c:pt idx="131">
                <c:v>0.6</c:v>
              </c:pt>
              <c:pt idx="132">
                <c:v>0.6</c:v>
              </c:pt>
              <c:pt idx="133">
                <c:v>0.6</c:v>
              </c:pt>
              <c:pt idx="134">
                <c:v>0.6</c:v>
              </c:pt>
              <c:pt idx="135">
                <c:v>0.6</c:v>
              </c:pt>
              <c:pt idx="136">
                <c:v>0.6</c:v>
              </c:pt>
              <c:pt idx="137">
                <c:v>0.6</c:v>
              </c:pt>
              <c:pt idx="138">
                <c:v>0.6</c:v>
              </c:pt>
              <c:pt idx="139">
                <c:v>0.6</c:v>
              </c:pt>
              <c:pt idx="140">
                <c:v>0.6</c:v>
              </c:pt>
              <c:pt idx="141">
                <c:v>0.6</c:v>
              </c:pt>
              <c:pt idx="142">
                <c:v>0.6</c:v>
              </c:pt>
              <c:pt idx="143">
                <c:v>0.6</c:v>
              </c:pt>
              <c:pt idx="144">
                <c:v>0.6</c:v>
              </c:pt>
              <c:pt idx="145">
                <c:v>0.6</c:v>
              </c:pt>
              <c:pt idx="146">
                <c:v>0.6</c:v>
              </c:pt>
              <c:pt idx="147">
                <c:v>0.6</c:v>
              </c:pt>
              <c:pt idx="148">
                <c:v>0.6</c:v>
              </c:pt>
              <c:pt idx="149">
                <c:v>0.6</c:v>
              </c:pt>
              <c:pt idx="150">
                <c:v>0.6</c:v>
              </c:pt>
              <c:pt idx="151">
                <c:v>0.6066666666666666</c:v>
              </c:pt>
              <c:pt idx="152">
                <c:v>0.6133333333333333</c:v>
              </c:pt>
              <c:pt idx="153">
                <c:v>0.62</c:v>
              </c:pt>
              <c:pt idx="154">
                <c:v>0.6266666666666667</c:v>
              </c:pt>
              <c:pt idx="155">
                <c:v>0.6333333333333333</c:v>
              </c:pt>
              <c:pt idx="156">
                <c:v>0.6399999999999999</c:v>
              </c:pt>
              <c:pt idx="157">
                <c:v>0.6466666666666666</c:v>
              </c:pt>
              <c:pt idx="158">
                <c:v>0.6533333333333333</c:v>
              </c:pt>
              <c:pt idx="159">
                <c:v>0.66</c:v>
              </c:pt>
              <c:pt idx="160">
                <c:v>0.6666666666666666</c:v>
              </c:pt>
              <c:pt idx="161">
                <c:v>0.6733333333333335</c:v>
              </c:pt>
              <c:pt idx="162">
                <c:v>0.6799999999999999</c:v>
              </c:pt>
              <c:pt idx="163">
                <c:v>0.6866666666666666</c:v>
              </c:pt>
              <c:pt idx="164">
                <c:v>0.6933333333333332</c:v>
              </c:pt>
              <c:pt idx="165">
                <c:v>0.7</c:v>
              </c:pt>
              <c:pt idx="166">
                <c:v>0.7066666666666668</c:v>
              </c:pt>
              <c:pt idx="167">
                <c:v>0.7133333333333333</c:v>
              </c:pt>
              <c:pt idx="168">
                <c:v>0.72</c:v>
              </c:pt>
              <c:pt idx="169">
                <c:v>0.7266666666666666</c:v>
              </c:pt>
              <c:pt idx="170">
                <c:v>0.7333333333333333</c:v>
              </c:pt>
              <c:pt idx="171">
                <c:v>0.7400000000000001</c:v>
              </c:pt>
              <c:pt idx="172">
                <c:v>0.7466666666666666</c:v>
              </c:pt>
              <c:pt idx="173">
                <c:v>0.7533333333333334</c:v>
              </c:pt>
              <c:pt idx="174">
                <c:v>0.7599999999999999</c:v>
              </c:pt>
              <c:pt idx="175">
                <c:v>0.7666666666666666</c:v>
              </c:pt>
              <c:pt idx="176">
                <c:v>0.7733333333333334</c:v>
              </c:pt>
              <c:pt idx="177">
                <c:v>0.7799999999999999</c:v>
              </c:pt>
              <c:pt idx="178">
                <c:v>0.7866666666666666</c:v>
              </c:pt>
              <c:pt idx="179">
                <c:v>0.7933333333333332</c:v>
              </c:pt>
              <c:pt idx="180">
                <c:v>0.8</c:v>
              </c:pt>
              <c:pt idx="181">
                <c:v>0.8066666666666668</c:v>
              </c:pt>
              <c:pt idx="182">
                <c:v>0.8133333333333332</c:v>
              </c:pt>
              <c:pt idx="183">
                <c:v>0.8200000000000001</c:v>
              </c:pt>
              <c:pt idx="184">
                <c:v>0.8266666666666665</c:v>
              </c:pt>
              <c:pt idx="185">
                <c:v>0.8333333333333333</c:v>
              </c:pt>
              <c:pt idx="186">
                <c:v>0.8400000000000001</c:v>
              </c:pt>
              <c:pt idx="187">
                <c:v>0.8466666666666666</c:v>
              </c:pt>
              <c:pt idx="188">
                <c:v>0.8533333333333333</c:v>
              </c:pt>
              <c:pt idx="189">
                <c:v>0.8599999999999999</c:v>
              </c:pt>
              <c:pt idx="190">
                <c:v>0.8666666666666667</c:v>
              </c:pt>
              <c:pt idx="191">
                <c:v>0.8733333333333334</c:v>
              </c:pt>
              <c:pt idx="192">
                <c:v>0.8799999999999999</c:v>
              </c:pt>
              <c:pt idx="193">
                <c:v>0.8866666666666667</c:v>
              </c:pt>
              <c:pt idx="194">
                <c:v>0.8933333333333332</c:v>
              </c:pt>
              <c:pt idx="195">
                <c:v>0.8999999999999999</c:v>
              </c:pt>
              <c:pt idx="196">
                <c:v>0.8999999999999999</c:v>
              </c:pt>
              <c:pt idx="197">
                <c:v>0.8999999999999999</c:v>
              </c:pt>
              <c:pt idx="198">
                <c:v>0.8999999999999999</c:v>
              </c:pt>
              <c:pt idx="199">
                <c:v>0.8999999999999999</c:v>
              </c:pt>
              <c:pt idx="200">
                <c:v>0.8999999999999999</c:v>
              </c:pt>
              <c:pt idx="201">
                <c:v>0.8999999999999999</c:v>
              </c:pt>
              <c:pt idx="202">
                <c:v>0.8999999999999999</c:v>
              </c:pt>
              <c:pt idx="203">
                <c:v>0.8999999999999999</c:v>
              </c:pt>
              <c:pt idx="204">
                <c:v>0.8999999999999999</c:v>
              </c:pt>
              <c:pt idx="205">
                <c:v>0.8999999999999999</c:v>
              </c:pt>
              <c:pt idx="206">
                <c:v>0.8999999999999999</c:v>
              </c:pt>
              <c:pt idx="207">
                <c:v>0.8999999999999999</c:v>
              </c:pt>
              <c:pt idx="208">
                <c:v>0.8999999999999999</c:v>
              </c:pt>
              <c:pt idx="209">
                <c:v>0.8999999999999999</c:v>
              </c:pt>
              <c:pt idx="210">
                <c:v>0.8999999999999999</c:v>
              </c:pt>
              <c:pt idx="211">
                <c:v>0.8933333333333333</c:v>
              </c:pt>
              <c:pt idx="212">
                <c:v>0.8866666666666667</c:v>
              </c:pt>
              <c:pt idx="213">
                <c:v>0.8799999999999999</c:v>
              </c:pt>
              <c:pt idx="214">
                <c:v>0.8733333333333335</c:v>
              </c:pt>
              <c:pt idx="215">
                <c:v>0.8666666666666667</c:v>
              </c:pt>
              <c:pt idx="216">
                <c:v>0.8599999999999999</c:v>
              </c:pt>
              <c:pt idx="217">
                <c:v>0.8533333333333333</c:v>
              </c:pt>
              <c:pt idx="218">
                <c:v>0.8466666666666667</c:v>
              </c:pt>
              <c:pt idx="219">
                <c:v>0.8400000000000001</c:v>
              </c:pt>
              <c:pt idx="220">
                <c:v>0.8333333333333333</c:v>
              </c:pt>
              <c:pt idx="221">
                <c:v>0.8266666666666667</c:v>
              </c:pt>
              <c:pt idx="222">
                <c:v>0.8200000000000001</c:v>
              </c:pt>
              <c:pt idx="223">
                <c:v>0.8133333333333332</c:v>
              </c:pt>
              <c:pt idx="224">
                <c:v>0.8066666666666666</c:v>
              </c:pt>
              <c:pt idx="225">
                <c:v>0.8</c:v>
              </c:pt>
              <c:pt idx="226">
                <c:v>0.7933333333333332</c:v>
              </c:pt>
              <c:pt idx="227">
                <c:v>0.7866666666666666</c:v>
              </c:pt>
              <c:pt idx="228">
                <c:v>0.7799999999999999</c:v>
              </c:pt>
              <c:pt idx="229">
                <c:v>0.7733333333333334</c:v>
              </c:pt>
              <c:pt idx="230">
                <c:v>0.7666666666666666</c:v>
              </c:pt>
              <c:pt idx="231">
                <c:v>0.7599999999999999</c:v>
              </c:pt>
              <c:pt idx="232">
                <c:v>0.7533333333333334</c:v>
              </c:pt>
              <c:pt idx="233">
                <c:v>0.7466666666666666</c:v>
              </c:pt>
              <c:pt idx="234">
                <c:v>0.7400000000000001</c:v>
              </c:pt>
              <c:pt idx="235">
                <c:v>0.7333333333333334</c:v>
              </c:pt>
              <c:pt idx="236">
                <c:v>0.7266666666666666</c:v>
              </c:pt>
              <c:pt idx="237">
                <c:v>0.72</c:v>
              </c:pt>
              <c:pt idx="238">
                <c:v>0.7133333333333333</c:v>
              </c:pt>
              <c:pt idx="239">
                <c:v>0.7066666666666668</c:v>
              </c:pt>
              <c:pt idx="240">
                <c:v>0.7</c:v>
              </c:pt>
              <c:pt idx="241">
                <c:v>0.6933333333333332</c:v>
              </c:pt>
              <c:pt idx="242">
                <c:v>0.6866666666666668</c:v>
              </c:pt>
              <c:pt idx="243">
                <c:v>0.6799999999999999</c:v>
              </c:pt>
              <c:pt idx="244">
                <c:v>0.6733333333333333</c:v>
              </c:pt>
              <c:pt idx="245">
                <c:v>0.6666666666666666</c:v>
              </c:pt>
              <c:pt idx="246">
                <c:v>0.6599999999999999</c:v>
              </c:pt>
              <c:pt idx="247">
                <c:v>0.6533333333333333</c:v>
              </c:pt>
              <c:pt idx="248">
                <c:v>0.6466666666666666</c:v>
              </c:pt>
              <c:pt idx="249">
                <c:v>0.6400000000000001</c:v>
              </c:pt>
              <c:pt idx="250">
                <c:v>0.6333333333333333</c:v>
              </c:pt>
              <c:pt idx="251">
                <c:v>0.6266666666666665</c:v>
              </c:pt>
              <c:pt idx="252">
                <c:v>0.6200000000000001</c:v>
              </c:pt>
              <c:pt idx="253">
                <c:v>0.6133333333333333</c:v>
              </c:pt>
              <c:pt idx="254">
                <c:v>0.6066666666666667</c:v>
              </c:pt>
              <c:pt idx="255">
                <c:v>0.6</c:v>
              </c:pt>
              <c:pt idx="256">
                <c:v>0.5933333333333333</c:v>
              </c:pt>
              <c:pt idx="257">
                <c:v>0.5866666666666667</c:v>
              </c:pt>
              <c:pt idx="258">
                <c:v>0.58</c:v>
              </c:pt>
              <c:pt idx="259">
                <c:v>0.5733333333333335</c:v>
              </c:pt>
              <c:pt idx="260">
                <c:v>0.5666666666666667</c:v>
              </c:pt>
              <c:pt idx="261">
                <c:v>0.5599999999999998</c:v>
              </c:pt>
              <c:pt idx="262">
                <c:v>0.5533333333333333</c:v>
              </c:pt>
              <c:pt idx="263">
                <c:v>0.5466666666666666</c:v>
              </c:pt>
              <c:pt idx="264">
                <c:v>0.54</c:v>
              </c:pt>
              <c:pt idx="265">
                <c:v>0.5333333333333333</c:v>
              </c:pt>
              <c:pt idx="266">
                <c:v>0.5266666666666666</c:v>
              </c:pt>
              <c:pt idx="267">
                <c:v>0.52</c:v>
              </c:pt>
              <c:pt idx="268">
                <c:v>0.5133333333333333</c:v>
              </c:pt>
              <c:pt idx="269">
                <c:v>0.5066666666666667</c:v>
              </c:pt>
              <c:pt idx="270">
                <c:v>0.5</c:v>
              </c:pt>
              <c:pt idx="271">
                <c:v>0.49333333333333323</c:v>
              </c:pt>
              <c:pt idx="272">
                <c:v>0.4866666666666667</c:v>
              </c:pt>
              <c:pt idx="273">
                <c:v>0.48</c:v>
              </c:pt>
              <c:pt idx="274">
                <c:v>0.4733333333333334</c:v>
              </c:pt>
              <c:pt idx="275">
                <c:v>0.4666666666666667</c:v>
              </c:pt>
              <c:pt idx="276">
                <c:v>0.45999999999999985</c:v>
              </c:pt>
              <c:pt idx="277">
                <c:v>0.45333333333333337</c:v>
              </c:pt>
              <c:pt idx="278">
                <c:v>0.4466666666666666</c:v>
              </c:pt>
              <c:pt idx="279">
                <c:v>0.44000000000000006</c:v>
              </c:pt>
              <c:pt idx="280">
                <c:v>0.43333333333333335</c:v>
              </c:pt>
              <c:pt idx="281">
                <c:v>0.4266666666666665</c:v>
              </c:pt>
              <c:pt idx="282">
                <c:v>0.42000000000000004</c:v>
              </c:pt>
              <c:pt idx="283">
                <c:v>0.4133333333333333</c:v>
              </c:pt>
              <c:pt idx="284">
                <c:v>0.40666666666666673</c:v>
              </c:pt>
              <c:pt idx="285">
                <c:v>0.4</c:v>
              </c:pt>
              <c:pt idx="286">
                <c:v>0.3933333333333332</c:v>
              </c:pt>
              <c:pt idx="287">
                <c:v>0.3866666666666667</c:v>
              </c:pt>
              <c:pt idx="288">
                <c:v>0.37999999999999995</c:v>
              </c:pt>
              <c:pt idx="289">
                <c:v>0.3733333333333334</c:v>
              </c:pt>
              <c:pt idx="290">
                <c:v>0.36666666666666664</c:v>
              </c:pt>
              <c:pt idx="291">
                <c:v>0.3599999999999999</c:v>
              </c:pt>
              <c:pt idx="292">
                <c:v>0.3533333333333334</c:v>
              </c:pt>
              <c:pt idx="293">
                <c:v>0.3466666666666666</c:v>
              </c:pt>
              <c:pt idx="294">
                <c:v>0.3400000000000001</c:v>
              </c:pt>
              <c:pt idx="295">
                <c:v>0.3333333333333333</c:v>
              </c:pt>
              <c:pt idx="296">
                <c:v>0.32666666666666655</c:v>
              </c:pt>
              <c:pt idx="297">
                <c:v>0.32000000000000006</c:v>
              </c:pt>
              <c:pt idx="298">
                <c:v>0.3133333333333333</c:v>
              </c:pt>
              <c:pt idx="299">
                <c:v>0.30666666666666675</c:v>
              </c:pt>
              <c:pt idx="300">
                <c:v>0.3</c:v>
              </c:pt>
              <c:pt idx="301">
                <c:v>0.3</c:v>
              </c:pt>
              <c:pt idx="302">
                <c:v>0.3</c:v>
              </c:pt>
              <c:pt idx="303">
                <c:v>0.3</c:v>
              </c:pt>
              <c:pt idx="304">
                <c:v>0.3</c:v>
              </c:pt>
              <c:pt idx="305">
                <c:v>0.3</c:v>
              </c:pt>
              <c:pt idx="306">
                <c:v>0.3</c:v>
              </c:pt>
              <c:pt idx="307">
                <c:v>0.3</c:v>
              </c:pt>
              <c:pt idx="308">
                <c:v>0.3</c:v>
              </c:pt>
              <c:pt idx="309">
                <c:v>0.3</c:v>
              </c:pt>
              <c:pt idx="310">
                <c:v>0.3</c:v>
              </c:pt>
              <c:pt idx="311">
                <c:v>0.3</c:v>
              </c:pt>
              <c:pt idx="312">
                <c:v>0.3</c:v>
              </c:pt>
              <c:pt idx="313">
                <c:v>0.3</c:v>
              </c:pt>
              <c:pt idx="314">
                <c:v>0.3</c:v>
              </c:pt>
              <c:pt idx="315">
                <c:v>0.3</c:v>
              </c:pt>
              <c:pt idx="316">
                <c:v>0.3</c:v>
              </c:pt>
              <c:pt idx="317">
                <c:v>0.3</c:v>
              </c:pt>
              <c:pt idx="318">
                <c:v>0.3</c:v>
              </c:pt>
              <c:pt idx="319">
                <c:v>0.3</c:v>
              </c:pt>
              <c:pt idx="320">
                <c:v>0.3</c:v>
              </c:pt>
              <c:pt idx="321">
                <c:v>0.3</c:v>
              </c:pt>
              <c:pt idx="322">
                <c:v>0.3</c:v>
              </c:pt>
              <c:pt idx="323">
                <c:v>0.3</c:v>
              </c:pt>
              <c:pt idx="324">
                <c:v>0.3</c:v>
              </c:pt>
              <c:pt idx="325">
                <c:v>0.3</c:v>
              </c:pt>
              <c:pt idx="326">
                <c:v>0.3</c:v>
              </c:pt>
              <c:pt idx="327">
                <c:v>0.3</c:v>
              </c:pt>
              <c:pt idx="328">
                <c:v>0.3</c:v>
              </c:pt>
              <c:pt idx="329">
                <c:v>0.3</c:v>
              </c:pt>
              <c:pt idx="330">
                <c:v>0.3</c:v>
              </c:pt>
              <c:pt idx="331">
                <c:v>0.3</c:v>
              </c:pt>
              <c:pt idx="332">
                <c:v>0.3</c:v>
              </c:pt>
              <c:pt idx="333">
                <c:v>0.3</c:v>
              </c:pt>
              <c:pt idx="334">
                <c:v>0.3</c:v>
              </c:pt>
              <c:pt idx="335">
                <c:v>0.3</c:v>
              </c:pt>
              <c:pt idx="336">
                <c:v>0.3</c:v>
              </c:pt>
              <c:pt idx="337">
                <c:v>0.3</c:v>
              </c:pt>
              <c:pt idx="338">
                <c:v>0.3</c:v>
              </c:pt>
              <c:pt idx="339">
                <c:v>0.3</c:v>
              </c:pt>
              <c:pt idx="340">
                <c:v>0.3</c:v>
              </c:pt>
              <c:pt idx="341">
                <c:v>0.3</c:v>
              </c:pt>
              <c:pt idx="342">
                <c:v>0.3</c:v>
              </c:pt>
              <c:pt idx="343">
                <c:v>0.3</c:v>
              </c:pt>
              <c:pt idx="344">
                <c:v>0.3</c:v>
              </c:pt>
              <c:pt idx="345">
                <c:v>0.3</c:v>
              </c:pt>
              <c:pt idx="346">
                <c:v>0.3</c:v>
              </c:pt>
              <c:pt idx="347">
                <c:v>0.3</c:v>
              </c:pt>
              <c:pt idx="348">
                <c:v>0.3</c:v>
              </c:pt>
              <c:pt idx="349">
                <c:v>0.3</c:v>
              </c:pt>
              <c:pt idx="350">
                <c:v>0.3</c:v>
              </c:pt>
              <c:pt idx="351">
                <c:v>0.3</c:v>
              </c:pt>
              <c:pt idx="352">
                <c:v>0.3</c:v>
              </c:pt>
              <c:pt idx="353">
                <c:v>0.3</c:v>
              </c:pt>
              <c:pt idx="354">
                <c:v>0.3</c:v>
              </c:pt>
              <c:pt idx="355">
                <c:v>0.3</c:v>
              </c:pt>
              <c:pt idx="356">
                <c:v>0.3</c:v>
              </c:pt>
              <c:pt idx="357">
                <c:v>0.3</c:v>
              </c:pt>
              <c:pt idx="358">
                <c:v>0.3</c:v>
              </c:pt>
              <c:pt idx="359">
                <c:v>0.3</c:v>
              </c:pt>
              <c:pt idx="360">
                <c:v>0.3</c:v>
              </c:pt>
              <c:pt idx="361">
                <c:v>0.3</c:v>
              </c:pt>
              <c:pt idx="362">
                <c:v>0.3</c:v>
              </c:pt>
              <c:pt idx="363">
                <c:v>0.3</c:v>
              </c:pt>
              <c:pt idx="364">
                <c:v>0.3</c:v>
              </c:pt>
              <c:pt idx="365">
                <c:v>0.3</c:v>
              </c:pt>
              <c:pt idx="366">
                <c:v>0.3</c:v>
              </c:pt>
              <c:pt idx="367">
                <c:v>0.3</c:v>
              </c:pt>
              <c:pt idx="368">
                <c:v>0.3</c:v>
              </c:pt>
              <c:pt idx="369">
                <c:v>0.3</c:v>
              </c:pt>
              <c:pt idx="370">
                <c:v>0.3</c:v>
              </c:pt>
              <c:pt idx="371">
                <c:v>0.3</c:v>
              </c:pt>
              <c:pt idx="372">
                <c:v>0.3</c:v>
              </c:pt>
              <c:pt idx="373">
                <c:v>0.3</c:v>
              </c:pt>
              <c:pt idx="374">
                <c:v>0.3</c:v>
              </c:pt>
              <c:pt idx="375">
                <c:v>0.3</c:v>
              </c:pt>
              <c:pt idx="376">
                <c:v>0.3</c:v>
              </c:pt>
              <c:pt idx="377">
                <c:v>0.3</c:v>
              </c:pt>
              <c:pt idx="378">
                <c:v>0.3</c:v>
              </c:pt>
              <c:pt idx="379">
                <c:v>0.3</c:v>
              </c:pt>
              <c:pt idx="380">
                <c:v>0.3</c:v>
              </c:pt>
              <c:pt idx="381">
                <c:v>0.3</c:v>
              </c:pt>
              <c:pt idx="382">
                <c:v>0.3</c:v>
              </c:pt>
              <c:pt idx="383">
                <c:v>0.3</c:v>
              </c:pt>
              <c:pt idx="384">
                <c:v>0.3</c:v>
              </c:pt>
              <c:pt idx="385">
                <c:v>0.3</c:v>
              </c:pt>
              <c:pt idx="386">
                <c:v>0.3</c:v>
              </c:pt>
              <c:pt idx="387">
                <c:v>0.3</c:v>
              </c:pt>
              <c:pt idx="388">
                <c:v>0.3</c:v>
              </c:pt>
              <c:pt idx="389">
                <c:v>0.3</c:v>
              </c:pt>
              <c:pt idx="390">
                <c:v>0.3</c:v>
              </c:pt>
              <c:pt idx="391">
                <c:v>0.3</c:v>
              </c:pt>
              <c:pt idx="392">
                <c:v>0.3</c:v>
              </c:pt>
              <c:pt idx="393">
                <c:v>0.3</c:v>
              </c:pt>
              <c:pt idx="394">
                <c:v>0.3</c:v>
              </c:pt>
              <c:pt idx="395">
                <c:v>0.3</c:v>
              </c:pt>
              <c:pt idx="396">
                <c:v>0.3</c:v>
              </c:pt>
              <c:pt idx="397">
                <c:v>0.3</c:v>
              </c:pt>
              <c:pt idx="398">
                <c:v>0.3</c:v>
              </c:pt>
              <c:pt idx="399">
                <c:v>0.3</c:v>
              </c:pt>
              <c:pt idx="400">
                <c:v>0.3</c:v>
              </c:pt>
              <c:pt idx="401">
                <c:v>0.3</c:v>
              </c:pt>
              <c:pt idx="402">
                <c:v>0.3</c:v>
              </c:pt>
              <c:pt idx="403">
                <c:v>0.3</c:v>
              </c:pt>
              <c:pt idx="404">
                <c:v>0.3</c:v>
              </c:pt>
              <c:pt idx="405">
                <c:v>0.3</c:v>
              </c:pt>
              <c:pt idx="406">
                <c:v>0.2933333333333332</c:v>
              </c:pt>
              <c:pt idx="407">
                <c:v>0.28666666666666646</c:v>
              </c:pt>
              <c:pt idx="408">
                <c:v>0.2800000000000002</c:v>
              </c:pt>
              <c:pt idx="409">
                <c:v>0.27333333333333343</c:v>
              </c:pt>
              <c:pt idx="410">
                <c:v>0.26666666666666666</c:v>
              </c:pt>
              <c:pt idx="411">
                <c:v>0.2599999999999999</c:v>
              </c:pt>
              <c:pt idx="412">
                <c:v>0.25333333333333313</c:v>
              </c:pt>
              <c:pt idx="413">
                <c:v>0.24666666666666687</c:v>
              </c:pt>
              <c:pt idx="414">
                <c:v>0.2400000000000001</c:v>
              </c:pt>
              <c:pt idx="415">
                <c:v>0.23333333333333334</c:v>
              </c:pt>
              <c:pt idx="416">
                <c:v>0.22666666666666657</c:v>
              </c:pt>
              <c:pt idx="417">
                <c:v>0.2199999999999998</c:v>
              </c:pt>
              <c:pt idx="418">
                <c:v>0.2133333333333335</c:v>
              </c:pt>
              <c:pt idx="419">
                <c:v>0.20666666666666675</c:v>
              </c:pt>
              <c:pt idx="420">
                <c:v>0.2</c:v>
              </c:pt>
              <c:pt idx="421">
                <c:v>0.19333333333333325</c:v>
              </c:pt>
              <c:pt idx="422">
                <c:v>0.18666666666666648</c:v>
              </c:pt>
              <c:pt idx="423">
                <c:v>0.1800000000000002</c:v>
              </c:pt>
              <c:pt idx="424">
                <c:v>0.17333333333333342</c:v>
              </c:pt>
              <c:pt idx="425">
                <c:v>0.16666666666666666</c:v>
              </c:pt>
              <c:pt idx="426">
                <c:v>0.1599999999999999</c:v>
              </c:pt>
              <c:pt idx="427">
                <c:v>0.15333333333333315</c:v>
              </c:pt>
              <c:pt idx="428">
                <c:v>0.14666666666666686</c:v>
              </c:pt>
              <c:pt idx="429">
                <c:v>0.1400000000000001</c:v>
              </c:pt>
              <c:pt idx="430">
                <c:v>0.13333333333333333</c:v>
              </c:pt>
              <c:pt idx="431">
                <c:v>0.12666666666666657</c:v>
              </c:pt>
              <c:pt idx="432">
                <c:v>0.11999999999999982</c:v>
              </c:pt>
              <c:pt idx="433">
                <c:v>0.11333333333333352</c:v>
              </c:pt>
              <c:pt idx="434">
                <c:v>0.10666666666666676</c:v>
              </c:pt>
              <c:pt idx="435">
                <c:v>0.1</c:v>
              </c:pt>
              <c:pt idx="436">
                <c:v>0.09333333333333324</c:v>
              </c:pt>
              <c:pt idx="437">
                <c:v>0.08666666666666648</c:v>
              </c:pt>
              <c:pt idx="438">
                <c:v>0.0800000000000002</c:v>
              </c:pt>
              <c:pt idx="439">
                <c:v>0.07333333333333343</c:v>
              </c:pt>
              <c:pt idx="440">
                <c:v>0.06666666666666667</c:v>
              </c:pt>
              <c:pt idx="441">
                <c:v>0.05999999999999991</c:v>
              </c:pt>
              <c:pt idx="442">
                <c:v>0.05333333333333314</c:v>
              </c:pt>
              <c:pt idx="443">
                <c:v>0.046666666666666856</c:v>
              </c:pt>
              <c:pt idx="444">
                <c:v>0.0400000000000001</c:v>
              </c:pt>
              <c:pt idx="445">
                <c:v>0.03333333333333333</c:v>
              </c:pt>
              <c:pt idx="446">
                <c:v>0.02666666666666657</c:v>
              </c:pt>
              <c:pt idx="447">
                <c:v>0.01999999999999981</c:v>
              </c:pt>
              <c:pt idx="448">
                <c:v>0.013333333333333523</c:v>
              </c:pt>
              <c:pt idx="449">
                <c:v>0.006666666666666762</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23.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73808A"/>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Región elegida</c:v>
          </c:tx>
          <c:spPr>
            <a:ln xmlns:a="http://schemas.openxmlformats.org/drawingml/2006/main" w="4762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2"/>
          <c:order val="2"/>
          <c:tx>
            <c:v>u = 25</c:v>
          </c:tx>
          <c:spPr>
            <a:ln xmlns:a="http://schemas.openxmlformats.org/drawingml/2006/main" w="28575">
              <a:solidFill>
                <a:srgbClr val="087F79"/>
              </a:solidFill>
            </a:ln>
          </c:spPr>
          <c:marker>
            <c:symbol val="none"/>
            <c:size val="5"/>
          </c:marker>
          <c:xVal>
            <c:numLit>
              <c:formatCode>General</c:formatCode>
              <c:ptCount val="2"/>
              <c:pt idx="0">
                <c:v>25</c:v>
              </c:pt>
              <c:pt idx="1">
                <c:v>25</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4.xml><?xml version="1.0" encoding="utf-8"?>
<c:chartSpace xmlns:c="http://schemas.openxmlformats.org/drawingml/2006/chart">
  <c:lang val="en-US"/>
  <c:chart>
    <c:plotArea>
      <c:scatterChart>
        <c:ser>
          <c:idx val="0"/>
          <c:order val="0"/>
          <c:tx>
            <c:v>Salida 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u = 15</c:v>
          </c:tx>
          <c:spPr>
            <a:ln xmlns:a="http://schemas.openxmlformats.org/drawingml/2006/main" w="28575">
              <a:solidFill>
                <a:srgbClr val="D96B18"/>
              </a:solidFill>
            </a:ln>
          </c:spPr>
          <c:marker>
            <c:symbol val="none"/>
            <c:size val="5"/>
          </c:marker>
          <c:xVal>
            <c:numLit>
              <c:formatCode>General</c:formatCode>
              <c:ptCount val="2"/>
              <c:pt idx="0">
                <c:v>15</c:v>
              </c:pt>
              <c:pt idx="1">
                <c:v>15</c:v>
              </c:pt>
            </c:numLit>
          </c:xVal>
          <c:yVal>
            <c:numLit>
              <c:formatCode>General</c:formatCode>
              <c:ptCount val="2"/>
              <c:pt idx="0">
                <c:v>0</c:v>
              </c:pt>
              <c:pt idx="1">
                <c:v>0.85</c:v>
              </c:pt>
            </c:numLit>
          </c:yVal>
        </c:ser>
        <c:ser>
          <c:idx val="2"/>
          <c:order val="2"/>
          <c:tx>
            <c:v>u = 35</c:v>
          </c:tx>
          <c:spPr>
            <a:ln xmlns:a="http://schemas.openxmlformats.org/drawingml/2006/main" w="28575">
              <a:solidFill>
                <a:srgbClr val="087F79"/>
              </a:solidFill>
            </a:ln>
          </c:spPr>
          <c:marker>
            <c:symbol val="none"/>
            <c:size val="5"/>
          </c:marker>
          <c:xVal>
            <c:numLit>
              <c:formatCode>General</c:formatCode>
              <c:ptCount val="2"/>
              <c:pt idx="0">
                <c:v>35</c:v>
              </c:pt>
              <c:pt idx="1">
                <c:v>35</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5.xml><?xml version="1.0" encoding="utf-8"?>
<c:chartSpace xmlns:c="http://schemas.openxmlformats.org/drawingml/2006/chart">
  <c:lang val="en-US"/>
  <c:chart>
    <c:plotArea>
      <c:scatterChart>
        <c:ser>
          <c:idx val="0"/>
          <c:order val="0"/>
          <c:tx>
            <c:v>Antes</c:v>
          </c:tx>
          <c:spPr>
            <a:ln xmlns:a="http://schemas.openxmlformats.org/drawingml/2006/main" w="28575">
              <a:solidFill>
                <a:srgbClr val="2162A0"/>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0.012750000000000001</c:v>
              </c:pt>
              <c:pt idx="2">
                <c:v>0.025500000000000002</c:v>
              </c:pt>
              <c:pt idx="3">
                <c:v>0.03825</c:v>
              </c:pt>
              <c:pt idx="4">
                <c:v>0.051000000000000004</c:v>
              </c:pt>
              <c:pt idx="5">
                <c:v>0.06375</c:v>
              </c:pt>
              <c:pt idx="6">
                <c:v>0.0765</c:v>
              </c:pt>
              <c:pt idx="7">
                <c:v>0.08925</c:v>
              </c:pt>
              <c:pt idx="8">
                <c:v>0.10200000000000001</c:v>
              </c:pt>
              <c:pt idx="9">
                <c:v>0.11475</c:v>
              </c:pt>
              <c:pt idx="10">
                <c:v>0.1275</c:v>
              </c:pt>
              <c:pt idx="11">
                <c:v>0.14025</c:v>
              </c:pt>
              <c:pt idx="12">
                <c:v>0.153</c:v>
              </c:pt>
              <c:pt idx="13">
                <c:v>0.16575</c:v>
              </c:pt>
              <c:pt idx="14">
                <c:v>0.1785</c:v>
              </c:pt>
              <c:pt idx="15">
                <c:v>0.19125</c:v>
              </c:pt>
              <c:pt idx="16">
                <c:v>0.20400000000000001</c:v>
              </c:pt>
              <c:pt idx="17">
                <c:v>0.21675</c:v>
              </c:pt>
              <c:pt idx="18">
                <c:v>0.2295</c:v>
              </c:pt>
              <c:pt idx="19">
                <c:v>0.24225</c:v>
              </c:pt>
              <c:pt idx="20">
                <c:v>0.255</c:v>
              </c:pt>
              <c:pt idx="21">
                <c:v>0.26775000000000004</c:v>
              </c:pt>
              <c:pt idx="22">
                <c:v>0.2805</c:v>
              </c:pt>
              <c:pt idx="23">
                <c:v>0.29324999999999996</c:v>
              </c:pt>
              <c:pt idx="24">
                <c:v>0.306</c:v>
              </c:pt>
              <c:pt idx="25">
                <c:v>0.31875</c:v>
              </c:pt>
              <c:pt idx="26">
                <c:v>0.3315</c:v>
              </c:pt>
              <c:pt idx="27">
                <c:v>0.34425000000000006</c:v>
              </c:pt>
              <c:pt idx="28">
                <c:v>0.357</c:v>
              </c:pt>
              <c:pt idx="29">
                <c:v>0.36974999999999997</c:v>
              </c:pt>
              <c:pt idx="30">
                <c:v>0.3825</c:v>
              </c:pt>
              <c:pt idx="31">
                <c:v>0.39525000000000005</c:v>
              </c:pt>
              <c:pt idx="32">
                <c:v>0.40800000000000003</c:v>
              </c:pt>
              <c:pt idx="33">
                <c:v>0.42074999999999996</c:v>
              </c:pt>
              <c:pt idx="34">
                <c:v>0.4335</c:v>
              </c:pt>
              <c:pt idx="35">
                <c:v>0.44625000000000004</c:v>
              </c:pt>
              <c:pt idx="36">
                <c:v>0.459</c:v>
              </c:pt>
              <c:pt idx="37">
                <c:v>0.47175000000000006</c:v>
              </c:pt>
              <c:pt idx="38">
                <c:v>0.4845</c:v>
              </c:pt>
              <c:pt idx="39">
                <c:v>0.49724999999999997</c:v>
              </c:pt>
              <c:pt idx="40">
                <c:v>0.51</c:v>
              </c:pt>
              <c:pt idx="41">
                <c:v>0.49724999999999997</c:v>
              </c:pt>
              <c:pt idx="42">
                <c:v>0.4845</c:v>
              </c:pt>
              <c:pt idx="43">
                <c:v>0.47175000000000006</c:v>
              </c:pt>
              <c:pt idx="44">
                <c:v>0.459</c:v>
              </c:pt>
              <c:pt idx="45">
                <c:v>0.44625000000000004</c:v>
              </c:pt>
              <c:pt idx="46">
                <c:v>0.4335</c:v>
              </c:pt>
              <c:pt idx="47">
                <c:v>0.42074999999999996</c:v>
              </c:pt>
              <c:pt idx="48">
                <c:v>0.40800000000000003</c:v>
              </c:pt>
              <c:pt idx="49">
                <c:v>0.39525000000000005</c:v>
              </c:pt>
              <c:pt idx="50">
                <c:v>0.3825</c:v>
              </c:pt>
              <c:pt idx="51">
                <c:v>0.36974999999999997</c:v>
              </c:pt>
              <c:pt idx="52">
                <c:v>0.357</c:v>
              </c:pt>
              <c:pt idx="53">
                <c:v>0.34425000000000006</c:v>
              </c:pt>
              <c:pt idx="54">
                <c:v>0.3315</c:v>
              </c:pt>
              <c:pt idx="55">
                <c:v>0.31875</c:v>
              </c:pt>
              <c:pt idx="56">
                <c:v>0.306</c:v>
              </c:pt>
              <c:pt idx="57">
                <c:v>0.29324999999999996</c:v>
              </c:pt>
              <c:pt idx="58">
                <c:v>0.2805</c:v>
              </c:pt>
              <c:pt idx="59">
                <c:v>0.26775000000000004</c:v>
              </c:pt>
              <c:pt idx="60">
                <c:v>0.255</c:v>
              </c:pt>
              <c:pt idx="61">
                <c:v>0.24225</c:v>
              </c:pt>
              <c:pt idx="62">
                <c:v>0.2295</c:v>
              </c:pt>
              <c:pt idx="63">
                <c:v>0.21675</c:v>
              </c:pt>
              <c:pt idx="64">
                <c:v>0.20400000000000001</c:v>
              </c:pt>
              <c:pt idx="65">
                <c:v>0.19125</c:v>
              </c:pt>
              <c:pt idx="66">
                <c:v>0.1785</c:v>
              </c:pt>
              <c:pt idx="67">
                <c:v>0.16575</c:v>
              </c:pt>
              <c:pt idx="68">
                <c:v>0.153</c:v>
              </c:pt>
              <c:pt idx="69">
                <c:v>0.14025</c:v>
              </c:pt>
              <c:pt idx="70">
                <c:v>0.1275</c:v>
              </c:pt>
              <c:pt idx="71">
                <c:v>0.11475</c:v>
              </c:pt>
              <c:pt idx="72">
                <c:v>0.10200000000000001</c:v>
              </c:pt>
              <c:pt idx="73">
                <c:v>0.08925</c:v>
              </c:pt>
              <c:pt idx="74">
                <c:v>0.0765</c:v>
              </c:pt>
              <c:pt idx="75">
                <c:v>0.06375</c:v>
              </c:pt>
              <c:pt idx="76">
                <c:v>0.051000000000000004</c:v>
              </c:pt>
              <c:pt idx="77">
                <c:v>0.03825</c:v>
              </c:pt>
              <c:pt idx="78">
                <c:v>0.025500000000000002</c:v>
              </c:pt>
              <c:pt idx="79">
                <c:v>0.012750000000000001</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0.01225</c:v>
              </c:pt>
              <c:pt idx="122">
                <c:v>0.0245</c:v>
              </c:pt>
              <c:pt idx="123">
                <c:v>0.03675</c:v>
              </c:pt>
              <c:pt idx="124">
                <c:v>0.049</c:v>
              </c:pt>
              <c:pt idx="125">
                <c:v>0.06125</c:v>
              </c:pt>
              <c:pt idx="126">
                <c:v>0.0735</c:v>
              </c:pt>
              <c:pt idx="127">
                <c:v>0.08574999999999999</c:v>
              </c:pt>
              <c:pt idx="128">
                <c:v>0.098</c:v>
              </c:pt>
              <c:pt idx="129">
                <c:v>0.11025</c:v>
              </c:pt>
              <c:pt idx="130">
                <c:v>0.1225</c:v>
              </c:pt>
              <c:pt idx="131">
                <c:v>0.13475</c:v>
              </c:pt>
              <c:pt idx="132">
                <c:v>0.147</c:v>
              </c:pt>
              <c:pt idx="133">
                <c:v>0.15925</c:v>
              </c:pt>
              <c:pt idx="134">
                <c:v>0.17149999999999999</c:v>
              </c:pt>
              <c:pt idx="135">
                <c:v>0.18375</c:v>
              </c:pt>
              <c:pt idx="136">
                <c:v>0.196</c:v>
              </c:pt>
              <c:pt idx="137">
                <c:v>0.20825</c:v>
              </c:pt>
              <c:pt idx="138">
                <c:v>0.2205</c:v>
              </c:pt>
              <c:pt idx="139">
                <c:v>0.23274999999999998</c:v>
              </c:pt>
              <c:pt idx="140">
                <c:v>0.245</c:v>
              </c:pt>
              <c:pt idx="141">
                <c:v>0.25725</c:v>
              </c:pt>
              <c:pt idx="142">
                <c:v>0.2695</c:v>
              </c:pt>
              <c:pt idx="143">
                <c:v>0.28175</c:v>
              </c:pt>
              <c:pt idx="144">
                <c:v>0.294</c:v>
              </c:pt>
              <c:pt idx="145">
                <c:v>0.30625</c:v>
              </c:pt>
              <c:pt idx="146">
                <c:v>0.3185</c:v>
              </c:pt>
              <c:pt idx="147">
                <c:v>0.33075</c:v>
              </c:pt>
              <c:pt idx="148">
                <c:v>0.34299999999999997</c:v>
              </c:pt>
              <c:pt idx="149">
                <c:v>0.35525</c:v>
              </c:pt>
              <c:pt idx="150">
                <c:v>0.3675</c:v>
              </c:pt>
              <c:pt idx="151">
                <c:v>0.37975</c:v>
              </c:pt>
              <c:pt idx="152">
                <c:v>0.392</c:v>
              </c:pt>
              <c:pt idx="153">
                <c:v>0.40425</c:v>
              </c:pt>
              <c:pt idx="154">
                <c:v>0.4165</c:v>
              </c:pt>
              <c:pt idx="155">
                <c:v>0.42874999999999996</c:v>
              </c:pt>
              <c:pt idx="156">
                <c:v>0.441</c:v>
              </c:pt>
              <c:pt idx="157">
                <c:v>0.45325</c:v>
              </c:pt>
              <c:pt idx="158">
                <c:v>0.46549999999999997</c:v>
              </c:pt>
              <c:pt idx="159">
                <c:v>0.47775</c:v>
              </c:pt>
              <c:pt idx="160">
                <c:v>0.49</c:v>
              </c:pt>
              <c:pt idx="161">
                <c:v>0.47775</c:v>
              </c:pt>
              <c:pt idx="162">
                <c:v>0.46549999999999997</c:v>
              </c:pt>
              <c:pt idx="163">
                <c:v>0.45325</c:v>
              </c:pt>
              <c:pt idx="164">
                <c:v>0.441</c:v>
              </c:pt>
              <c:pt idx="165">
                <c:v>0.42874999999999996</c:v>
              </c:pt>
              <c:pt idx="166">
                <c:v>0.4165</c:v>
              </c:pt>
              <c:pt idx="167">
                <c:v>0.40425</c:v>
              </c:pt>
              <c:pt idx="168">
                <c:v>0.392</c:v>
              </c:pt>
              <c:pt idx="169">
                <c:v>0.37975</c:v>
              </c:pt>
              <c:pt idx="170">
                <c:v>0.3675</c:v>
              </c:pt>
              <c:pt idx="171">
                <c:v>0.35525</c:v>
              </c:pt>
              <c:pt idx="172">
                <c:v>0.34299999999999997</c:v>
              </c:pt>
              <c:pt idx="173">
                <c:v>0.33075</c:v>
              </c:pt>
              <c:pt idx="174">
                <c:v>0.3185</c:v>
              </c:pt>
              <c:pt idx="175">
                <c:v>0.30625</c:v>
              </c:pt>
              <c:pt idx="176">
                <c:v>0.294</c:v>
              </c:pt>
              <c:pt idx="177">
                <c:v>0.28175</c:v>
              </c:pt>
              <c:pt idx="178">
                <c:v>0.2695</c:v>
              </c:pt>
              <c:pt idx="179">
                <c:v>0.25725</c:v>
              </c:pt>
              <c:pt idx="180">
                <c:v>0.245</c:v>
              </c:pt>
              <c:pt idx="181">
                <c:v>0.23274999999999998</c:v>
              </c:pt>
              <c:pt idx="182">
                <c:v>0.2205</c:v>
              </c:pt>
              <c:pt idx="183">
                <c:v>0.20825</c:v>
              </c:pt>
              <c:pt idx="184">
                <c:v>0.196</c:v>
              </c:pt>
              <c:pt idx="185">
                <c:v>0.18375</c:v>
              </c:pt>
              <c:pt idx="186">
                <c:v>0.17149999999999999</c:v>
              </c:pt>
              <c:pt idx="187">
                <c:v>0.15925</c:v>
              </c:pt>
              <c:pt idx="188">
                <c:v>0.147</c:v>
              </c:pt>
              <c:pt idx="189">
                <c:v>0.13475</c:v>
              </c:pt>
              <c:pt idx="190">
                <c:v>0.1225</c:v>
              </c:pt>
              <c:pt idx="191">
                <c:v>0.11025</c:v>
              </c:pt>
              <c:pt idx="192">
                <c:v>0.098</c:v>
              </c:pt>
              <c:pt idx="193">
                <c:v>0.08574999999999999</c:v>
              </c:pt>
              <c:pt idx="194">
                <c:v>0.0735</c:v>
              </c:pt>
              <c:pt idx="195">
                <c:v>0.06125</c:v>
              </c:pt>
              <c:pt idx="196">
                <c:v>0.049</c:v>
              </c:pt>
              <c:pt idx="197">
                <c:v>0.03675</c:v>
              </c:pt>
              <c:pt idx="198">
                <c:v>0.0245</c:v>
              </c:pt>
              <c:pt idx="199">
                <c:v>0.01225</c:v>
              </c:pt>
              <c:pt idx="2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6.xml><?xml version="1.0" encoding="utf-8"?>
<c:chartSpace xmlns:c="http://schemas.openxmlformats.org/drawingml/2006/chart">
  <c:lang val="en-US"/>
  <c:chart>
    <c:plotArea>
      <c:scatterChart>
        <c:ser>
          <c:idx val="0"/>
          <c:order val="0"/>
          <c:tx>
            <c:v>Después</c:v>
          </c:tx>
          <c:spPr>
            <a:ln xmlns:a="http://schemas.openxmlformats.org/drawingml/2006/main" w="28575">
              <a:solidFill>
                <a:srgbClr val="D96B18"/>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0.01225</c:v>
              </c:pt>
              <c:pt idx="2">
                <c:v>0.0245</c:v>
              </c:pt>
              <c:pt idx="3">
                <c:v>0.03675</c:v>
              </c:pt>
              <c:pt idx="4">
                <c:v>0.049</c:v>
              </c:pt>
              <c:pt idx="5">
                <c:v>0.06125</c:v>
              </c:pt>
              <c:pt idx="6">
                <c:v>0.0735</c:v>
              </c:pt>
              <c:pt idx="7">
                <c:v>0.08574999999999999</c:v>
              </c:pt>
              <c:pt idx="8">
                <c:v>0.098</c:v>
              </c:pt>
              <c:pt idx="9">
                <c:v>0.11025</c:v>
              </c:pt>
              <c:pt idx="10">
                <c:v>0.1225</c:v>
              </c:pt>
              <c:pt idx="11">
                <c:v>0.13475</c:v>
              </c:pt>
              <c:pt idx="12">
                <c:v>0.147</c:v>
              </c:pt>
              <c:pt idx="13">
                <c:v>0.15925</c:v>
              </c:pt>
              <c:pt idx="14">
                <c:v>0.17149999999999999</c:v>
              </c:pt>
              <c:pt idx="15">
                <c:v>0.18375</c:v>
              </c:pt>
              <c:pt idx="16">
                <c:v>0.196</c:v>
              </c:pt>
              <c:pt idx="17">
                <c:v>0.20825</c:v>
              </c:pt>
              <c:pt idx="18">
                <c:v>0.2205</c:v>
              </c:pt>
              <c:pt idx="19">
                <c:v>0.23274999999999998</c:v>
              </c:pt>
              <c:pt idx="20">
                <c:v>0.245</c:v>
              </c:pt>
              <c:pt idx="21">
                <c:v>0.25725</c:v>
              </c:pt>
              <c:pt idx="22">
                <c:v>0.2695</c:v>
              </c:pt>
              <c:pt idx="23">
                <c:v>0.28175</c:v>
              </c:pt>
              <c:pt idx="24">
                <c:v>0.294</c:v>
              </c:pt>
              <c:pt idx="25">
                <c:v>0.30625</c:v>
              </c:pt>
              <c:pt idx="26">
                <c:v>0.3185</c:v>
              </c:pt>
              <c:pt idx="27">
                <c:v>0.33075</c:v>
              </c:pt>
              <c:pt idx="28">
                <c:v>0.34299999999999997</c:v>
              </c:pt>
              <c:pt idx="29">
                <c:v>0.35525</c:v>
              </c:pt>
              <c:pt idx="30">
                <c:v>0.3675</c:v>
              </c:pt>
              <c:pt idx="31">
                <c:v>0.37975</c:v>
              </c:pt>
              <c:pt idx="32">
                <c:v>0.392</c:v>
              </c:pt>
              <c:pt idx="33">
                <c:v>0.40425</c:v>
              </c:pt>
              <c:pt idx="34">
                <c:v>0.4165</c:v>
              </c:pt>
              <c:pt idx="35">
                <c:v>0.42874999999999996</c:v>
              </c:pt>
              <c:pt idx="36">
                <c:v>0.441</c:v>
              </c:pt>
              <c:pt idx="37">
                <c:v>0.45325</c:v>
              </c:pt>
              <c:pt idx="38">
                <c:v>0.46549999999999997</c:v>
              </c:pt>
              <c:pt idx="39">
                <c:v>0.47775</c:v>
              </c:pt>
              <c:pt idx="40">
                <c:v>0.49</c:v>
              </c:pt>
              <c:pt idx="41">
                <c:v>0.47775</c:v>
              </c:pt>
              <c:pt idx="42">
                <c:v>0.46549999999999997</c:v>
              </c:pt>
              <c:pt idx="43">
                <c:v>0.45325</c:v>
              </c:pt>
              <c:pt idx="44">
                <c:v>0.441</c:v>
              </c:pt>
              <c:pt idx="45">
                <c:v>0.42874999999999996</c:v>
              </c:pt>
              <c:pt idx="46">
                <c:v>0.4165</c:v>
              </c:pt>
              <c:pt idx="47">
                <c:v>0.40425</c:v>
              </c:pt>
              <c:pt idx="48">
                <c:v>0.392</c:v>
              </c:pt>
              <c:pt idx="49">
                <c:v>0.37975</c:v>
              </c:pt>
              <c:pt idx="50">
                <c:v>0.3675</c:v>
              </c:pt>
              <c:pt idx="51">
                <c:v>0.35525</c:v>
              </c:pt>
              <c:pt idx="52">
                <c:v>0.34299999999999997</c:v>
              </c:pt>
              <c:pt idx="53">
                <c:v>0.33075</c:v>
              </c:pt>
              <c:pt idx="54">
                <c:v>0.3185</c:v>
              </c:pt>
              <c:pt idx="55">
                <c:v>0.30625</c:v>
              </c:pt>
              <c:pt idx="56">
                <c:v>0.294</c:v>
              </c:pt>
              <c:pt idx="57">
                <c:v>0.28175</c:v>
              </c:pt>
              <c:pt idx="58">
                <c:v>0.2695</c:v>
              </c:pt>
              <c:pt idx="59">
                <c:v>0.25725</c:v>
              </c:pt>
              <c:pt idx="60">
                <c:v>0.245</c:v>
              </c:pt>
              <c:pt idx="61">
                <c:v>0.23274999999999998</c:v>
              </c:pt>
              <c:pt idx="62">
                <c:v>0.2205</c:v>
              </c:pt>
              <c:pt idx="63">
                <c:v>0.20825</c:v>
              </c:pt>
              <c:pt idx="64">
                <c:v>0.196</c:v>
              </c:pt>
              <c:pt idx="65">
                <c:v>0.18375</c:v>
              </c:pt>
              <c:pt idx="66">
                <c:v>0.17149999999999999</c:v>
              </c:pt>
              <c:pt idx="67">
                <c:v>0.15925</c:v>
              </c:pt>
              <c:pt idx="68">
                <c:v>0.147</c:v>
              </c:pt>
              <c:pt idx="69">
                <c:v>0.13475</c:v>
              </c:pt>
              <c:pt idx="70">
                <c:v>0.1225</c:v>
              </c:pt>
              <c:pt idx="71">
                <c:v>0.11025</c:v>
              </c:pt>
              <c:pt idx="72">
                <c:v>0.098</c:v>
              </c:pt>
              <c:pt idx="73">
                <c:v>0.08574999999999999</c:v>
              </c:pt>
              <c:pt idx="74">
                <c:v>0.0735</c:v>
              </c:pt>
              <c:pt idx="75">
                <c:v>0.06125</c:v>
              </c:pt>
              <c:pt idx="76">
                <c:v>0.049</c:v>
              </c:pt>
              <c:pt idx="77">
                <c:v>0.03675</c:v>
              </c:pt>
              <c:pt idx="78">
                <c:v>0.0245</c:v>
              </c:pt>
              <c:pt idx="79">
                <c:v>0.01225</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0.012750000000000001</c:v>
              </c:pt>
              <c:pt idx="122">
                <c:v>0.025500000000000002</c:v>
              </c:pt>
              <c:pt idx="123">
                <c:v>0.03825</c:v>
              </c:pt>
              <c:pt idx="124">
                <c:v>0.051000000000000004</c:v>
              </c:pt>
              <c:pt idx="125">
                <c:v>0.06375</c:v>
              </c:pt>
              <c:pt idx="126">
                <c:v>0.0765</c:v>
              </c:pt>
              <c:pt idx="127">
                <c:v>0.08925</c:v>
              </c:pt>
              <c:pt idx="128">
                <c:v>0.10200000000000001</c:v>
              </c:pt>
              <c:pt idx="129">
                <c:v>0.11475</c:v>
              </c:pt>
              <c:pt idx="130">
                <c:v>0.1275</c:v>
              </c:pt>
              <c:pt idx="131">
                <c:v>0.14025</c:v>
              </c:pt>
              <c:pt idx="132">
                <c:v>0.153</c:v>
              </c:pt>
              <c:pt idx="133">
                <c:v>0.16575</c:v>
              </c:pt>
              <c:pt idx="134">
                <c:v>0.1785</c:v>
              </c:pt>
              <c:pt idx="135">
                <c:v>0.19125</c:v>
              </c:pt>
              <c:pt idx="136">
                <c:v>0.20400000000000001</c:v>
              </c:pt>
              <c:pt idx="137">
                <c:v>0.21675</c:v>
              </c:pt>
              <c:pt idx="138">
                <c:v>0.2295</c:v>
              </c:pt>
              <c:pt idx="139">
                <c:v>0.24225</c:v>
              </c:pt>
              <c:pt idx="140">
                <c:v>0.255</c:v>
              </c:pt>
              <c:pt idx="141">
                <c:v>0.26775000000000004</c:v>
              </c:pt>
              <c:pt idx="142">
                <c:v>0.2805</c:v>
              </c:pt>
              <c:pt idx="143">
                <c:v>0.29324999999999996</c:v>
              </c:pt>
              <c:pt idx="144">
                <c:v>0.306</c:v>
              </c:pt>
              <c:pt idx="145">
                <c:v>0.31875</c:v>
              </c:pt>
              <c:pt idx="146">
                <c:v>0.3315</c:v>
              </c:pt>
              <c:pt idx="147">
                <c:v>0.34425000000000006</c:v>
              </c:pt>
              <c:pt idx="148">
                <c:v>0.357</c:v>
              </c:pt>
              <c:pt idx="149">
                <c:v>0.36974999999999997</c:v>
              </c:pt>
              <c:pt idx="150">
                <c:v>0.3825</c:v>
              </c:pt>
              <c:pt idx="151">
                <c:v>0.39525000000000005</c:v>
              </c:pt>
              <c:pt idx="152">
                <c:v>0.40800000000000003</c:v>
              </c:pt>
              <c:pt idx="153">
                <c:v>0.42074999999999996</c:v>
              </c:pt>
              <c:pt idx="154">
                <c:v>0.4335</c:v>
              </c:pt>
              <c:pt idx="155">
                <c:v>0.44625000000000004</c:v>
              </c:pt>
              <c:pt idx="156">
                <c:v>0.459</c:v>
              </c:pt>
              <c:pt idx="157">
                <c:v>0.47175000000000006</c:v>
              </c:pt>
              <c:pt idx="158">
                <c:v>0.4845</c:v>
              </c:pt>
              <c:pt idx="159">
                <c:v>0.49724999999999997</c:v>
              </c:pt>
              <c:pt idx="160">
                <c:v>0.51</c:v>
              </c:pt>
              <c:pt idx="161">
                <c:v>0.49724999999999997</c:v>
              </c:pt>
              <c:pt idx="162">
                <c:v>0.4845</c:v>
              </c:pt>
              <c:pt idx="163">
                <c:v>0.47175000000000006</c:v>
              </c:pt>
              <c:pt idx="164">
                <c:v>0.459</c:v>
              </c:pt>
              <c:pt idx="165">
                <c:v>0.44625000000000004</c:v>
              </c:pt>
              <c:pt idx="166">
                <c:v>0.4335</c:v>
              </c:pt>
              <c:pt idx="167">
                <c:v>0.42074999999999996</c:v>
              </c:pt>
              <c:pt idx="168">
                <c:v>0.40800000000000003</c:v>
              </c:pt>
              <c:pt idx="169">
                <c:v>0.39525000000000005</c:v>
              </c:pt>
              <c:pt idx="170">
                <c:v>0.3825</c:v>
              </c:pt>
              <c:pt idx="171">
                <c:v>0.36974999999999997</c:v>
              </c:pt>
              <c:pt idx="172">
                <c:v>0.357</c:v>
              </c:pt>
              <c:pt idx="173">
                <c:v>0.34425000000000006</c:v>
              </c:pt>
              <c:pt idx="174">
                <c:v>0.3315</c:v>
              </c:pt>
              <c:pt idx="175">
                <c:v>0.31875</c:v>
              </c:pt>
              <c:pt idx="176">
                <c:v>0.306</c:v>
              </c:pt>
              <c:pt idx="177">
                <c:v>0.29324999999999996</c:v>
              </c:pt>
              <c:pt idx="178">
                <c:v>0.2805</c:v>
              </c:pt>
              <c:pt idx="179">
                <c:v>0.26775000000000004</c:v>
              </c:pt>
              <c:pt idx="180">
                <c:v>0.255</c:v>
              </c:pt>
              <c:pt idx="181">
                <c:v>0.24225</c:v>
              </c:pt>
              <c:pt idx="182">
                <c:v>0.2295</c:v>
              </c:pt>
              <c:pt idx="183">
                <c:v>0.21675</c:v>
              </c:pt>
              <c:pt idx="184">
                <c:v>0.20400000000000001</c:v>
              </c:pt>
              <c:pt idx="185">
                <c:v>0.19125</c:v>
              </c:pt>
              <c:pt idx="186">
                <c:v>0.1785</c:v>
              </c:pt>
              <c:pt idx="187">
                <c:v>0.16575</c:v>
              </c:pt>
              <c:pt idx="188">
                <c:v>0.153</c:v>
              </c:pt>
              <c:pt idx="189">
                <c:v>0.14025</c:v>
              </c:pt>
              <c:pt idx="190">
                <c:v>0.1275</c:v>
              </c:pt>
              <c:pt idx="191">
                <c:v>0.11475</c:v>
              </c:pt>
              <c:pt idx="192">
                <c:v>0.10200000000000001</c:v>
              </c:pt>
              <c:pt idx="193">
                <c:v>0.08925</c:v>
              </c:pt>
              <c:pt idx="194">
                <c:v>0.0765</c:v>
              </c:pt>
              <c:pt idx="195">
                <c:v>0.06375</c:v>
              </c:pt>
              <c:pt idx="196">
                <c:v>0.051000000000000004</c:v>
              </c:pt>
              <c:pt idx="197">
                <c:v>0.03825</c:v>
              </c:pt>
              <c:pt idx="198">
                <c:v>0.025500000000000002</c:v>
              </c:pt>
              <c:pt idx="199">
                <c:v>0.012750000000000001</c:v>
              </c:pt>
              <c:pt idx="2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7.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0.025</c:v>
              </c:pt>
              <c:pt idx="2">
                <c:v>0.05</c:v>
              </c:pt>
              <c:pt idx="3">
                <c:v>0.075</c:v>
              </c:pt>
              <c:pt idx="4">
                <c:v>0.1</c:v>
              </c:pt>
              <c:pt idx="5">
                <c:v>0.125</c:v>
              </c:pt>
              <c:pt idx="6">
                <c:v>0.15</c:v>
              </c:pt>
              <c:pt idx="7">
                <c:v>0.175</c:v>
              </c:pt>
              <c:pt idx="8">
                <c:v>0.2</c:v>
              </c:pt>
              <c:pt idx="9">
                <c:v>0.225</c:v>
              </c:pt>
              <c:pt idx="10">
                <c:v>0.25</c:v>
              </c:pt>
              <c:pt idx="11">
                <c:v>0.275</c:v>
              </c:pt>
              <c:pt idx="12">
                <c:v>0.3</c:v>
              </c:pt>
              <c:pt idx="13">
                <c:v>0.325</c:v>
              </c:pt>
              <c:pt idx="14">
                <c:v>0.35</c:v>
              </c:pt>
              <c:pt idx="15">
                <c:v>0.375</c:v>
              </c:pt>
              <c:pt idx="16">
                <c:v>0.4</c:v>
              </c:pt>
              <c:pt idx="17">
                <c:v>0.425</c:v>
              </c:pt>
              <c:pt idx="18">
                <c:v>0.45</c:v>
              </c:pt>
              <c:pt idx="19">
                <c:v>0.475</c:v>
              </c:pt>
              <c:pt idx="20">
                <c:v>0.5</c:v>
              </c:pt>
              <c:pt idx="21">
                <c:v>0.525</c:v>
              </c:pt>
              <c:pt idx="22">
                <c:v>0.55</c:v>
              </c:pt>
              <c:pt idx="23">
                <c:v>0.575</c:v>
              </c:pt>
              <c:pt idx="24">
                <c:v>0.6</c:v>
              </c:pt>
              <c:pt idx="25">
                <c:v>0.625</c:v>
              </c:pt>
              <c:pt idx="26">
                <c:v>0.65</c:v>
              </c:pt>
              <c:pt idx="27">
                <c:v>0.675</c:v>
              </c:pt>
              <c:pt idx="28">
                <c:v>0.7</c:v>
              </c:pt>
              <c:pt idx="29">
                <c:v>0.725</c:v>
              </c:pt>
              <c:pt idx="30">
                <c:v>0.75</c:v>
              </c:pt>
              <c:pt idx="31">
                <c:v>0.775</c:v>
              </c:pt>
              <c:pt idx="32">
                <c:v>0.8</c:v>
              </c:pt>
              <c:pt idx="33">
                <c:v>0.825</c:v>
              </c:pt>
              <c:pt idx="34">
                <c:v>0.85</c:v>
              </c:pt>
              <c:pt idx="35">
                <c:v>0.875</c:v>
              </c:pt>
              <c:pt idx="36">
                <c:v>0.9</c:v>
              </c:pt>
              <c:pt idx="37">
                <c:v>0.925</c:v>
              </c:pt>
              <c:pt idx="38">
                <c:v>0.95</c:v>
              </c:pt>
              <c:pt idx="39">
                <c:v>0.975</c:v>
              </c:pt>
              <c:pt idx="40">
                <c:v>1</c:v>
              </c:pt>
              <c:pt idx="41">
                <c:v>0.975</c:v>
              </c:pt>
              <c:pt idx="42">
                <c:v>0.95</c:v>
              </c:pt>
              <c:pt idx="43">
                <c:v>0.925</c:v>
              </c:pt>
              <c:pt idx="44">
                <c:v>0.9</c:v>
              </c:pt>
              <c:pt idx="45">
                <c:v>0.875</c:v>
              </c:pt>
              <c:pt idx="46">
                <c:v>0.85</c:v>
              </c:pt>
              <c:pt idx="47">
                <c:v>0.825</c:v>
              </c:pt>
              <c:pt idx="48">
                <c:v>0.8</c:v>
              </c:pt>
              <c:pt idx="49">
                <c:v>0.775</c:v>
              </c:pt>
              <c:pt idx="50">
                <c:v>0.75</c:v>
              </c:pt>
              <c:pt idx="51">
                <c:v>0.725</c:v>
              </c:pt>
              <c:pt idx="52">
                <c:v>0.7</c:v>
              </c:pt>
              <c:pt idx="53">
                <c:v>0.675</c:v>
              </c:pt>
              <c:pt idx="54">
                <c:v>0.65</c:v>
              </c:pt>
              <c:pt idx="55">
                <c:v>0.625</c:v>
              </c:pt>
              <c:pt idx="56">
                <c:v>0.6</c:v>
              </c:pt>
              <c:pt idx="57">
                <c:v>0.575</c:v>
              </c:pt>
              <c:pt idx="58">
                <c:v>0.55</c:v>
              </c:pt>
              <c:pt idx="59">
                <c:v>0.525</c:v>
              </c:pt>
              <c:pt idx="60">
                <c:v>0.5</c:v>
              </c:pt>
              <c:pt idx="61">
                <c:v>0.475</c:v>
              </c:pt>
              <c:pt idx="62">
                <c:v>0.45</c:v>
              </c:pt>
              <c:pt idx="63">
                <c:v>0.425</c:v>
              </c:pt>
              <c:pt idx="64">
                <c:v>0.4</c:v>
              </c:pt>
              <c:pt idx="65">
                <c:v>0.375</c:v>
              </c:pt>
              <c:pt idx="66">
                <c:v>0.35</c:v>
              </c:pt>
              <c:pt idx="67">
                <c:v>0.325</c:v>
              </c:pt>
              <c:pt idx="68">
                <c:v>0.3</c:v>
              </c:pt>
              <c:pt idx="69">
                <c:v>0.275</c:v>
              </c:pt>
              <c:pt idx="70">
                <c:v>0.25</c:v>
              </c:pt>
              <c:pt idx="71">
                <c:v>0.225</c:v>
              </c:pt>
              <c:pt idx="72">
                <c:v>0.2</c:v>
              </c:pt>
              <c:pt idx="73">
                <c:v>0.175</c:v>
              </c:pt>
              <c:pt idx="74">
                <c:v>0.15</c:v>
              </c:pt>
              <c:pt idx="75">
                <c:v>0.125</c:v>
              </c:pt>
              <c:pt idx="76">
                <c:v>0.1</c:v>
              </c:pt>
              <c:pt idx="77">
                <c:v>0.075</c:v>
              </c:pt>
              <c:pt idx="78">
                <c:v>0.05</c:v>
              </c:pt>
              <c:pt idx="79">
                <c:v>0.025</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0.025</c:v>
              </c:pt>
              <c:pt idx="122">
                <c:v>0.05</c:v>
              </c:pt>
              <c:pt idx="123">
                <c:v>0.075</c:v>
              </c:pt>
              <c:pt idx="124">
                <c:v>0.1</c:v>
              </c:pt>
              <c:pt idx="125">
                <c:v>0.125</c:v>
              </c:pt>
              <c:pt idx="126">
                <c:v>0.15</c:v>
              </c:pt>
              <c:pt idx="127">
                <c:v>0.175</c:v>
              </c:pt>
              <c:pt idx="128">
                <c:v>0.2</c:v>
              </c:pt>
              <c:pt idx="129">
                <c:v>0.225</c:v>
              </c:pt>
              <c:pt idx="130">
                <c:v>0.25</c:v>
              </c:pt>
              <c:pt idx="131">
                <c:v>0.275</c:v>
              </c:pt>
              <c:pt idx="132">
                <c:v>0.3</c:v>
              </c:pt>
              <c:pt idx="133">
                <c:v>0.325</c:v>
              </c:pt>
              <c:pt idx="134">
                <c:v>0.35</c:v>
              </c:pt>
              <c:pt idx="135">
                <c:v>0.375</c:v>
              </c:pt>
              <c:pt idx="136">
                <c:v>0.4</c:v>
              </c:pt>
              <c:pt idx="137">
                <c:v>0.425</c:v>
              </c:pt>
              <c:pt idx="138">
                <c:v>0.45</c:v>
              </c:pt>
              <c:pt idx="139">
                <c:v>0.475</c:v>
              </c:pt>
              <c:pt idx="140">
                <c:v>0.5</c:v>
              </c:pt>
              <c:pt idx="141">
                <c:v>0.525</c:v>
              </c:pt>
              <c:pt idx="142">
                <c:v>0.55</c:v>
              </c:pt>
              <c:pt idx="143">
                <c:v>0.575</c:v>
              </c:pt>
              <c:pt idx="144">
                <c:v>0.6</c:v>
              </c:pt>
              <c:pt idx="145">
                <c:v>0.625</c:v>
              </c:pt>
              <c:pt idx="146">
                <c:v>0.65</c:v>
              </c:pt>
              <c:pt idx="147">
                <c:v>0.675</c:v>
              </c:pt>
              <c:pt idx="148">
                <c:v>0.7</c:v>
              </c:pt>
              <c:pt idx="149">
                <c:v>0.725</c:v>
              </c:pt>
              <c:pt idx="150">
                <c:v>0.75</c:v>
              </c:pt>
              <c:pt idx="151">
                <c:v>0.775</c:v>
              </c:pt>
              <c:pt idx="152">
                <c:v>0.8</c:v>
              </c:pt>
              <c:pt idx="153">
                <c:v>0.825</c:v>
              </c:pt>
              <c:pt idx="154">
                <c:v>0.85</c:v>
              </c:pt>
              <c:pt idx="155">
                <c:v>0.875</c:v>
              </c:pt>
              <c:pt idx="156">
                <c:v>0.9</c:v>
              </c:pt>
              <c:pt idx="157">
                <c:v>0.925</c:v>
              </c:pt>
              <c:pt idx="158">
                <c:v>0.95</c:v>
              </c:pt>
              <c:pt idx="159">
                <c:v>0.975</c:v>
              </c:pt>
              <c:pt idx="160">
                <c:v>1</c:v>
              </c:pt>
              <c:pt idx="161">
                <c:v>0.975</c:v>
              </c:pt>
              <c:pt idx="162">
                <c:v>0.95</c:v>
              </c:pt>
              <c:pt idx="163">
                <c:v>0.925</c:v>
              </c:pt>
              <c:pt idx="164">
                <c:v>0.9</c:v>
              </c:pt>
              <c:pt idx="165">
                <c:v>0.875</c:v>
              </c:pt>
              <c:pt idx="166">
                <c:v>0.85</c:v>
              </c:pt>
              <c:pt idx="167">
                <c:v>0.825</c:v>
              </c:pt>
              <c:pt idx="168">
                <c:v>0.8</c:v>
              </c:pt>
              <c:pt idx="169">
                <c:v>0.775</c:v>
              </c:pt>
              <c:pt idx="170">
                <c:v>0.75</c:v>
              </c:pt>
              <c:pt idx="171">
                <c:v>0.725</c:v>
              </c:pt>
              <c:pt idx="172">
                <c:v>0.7</c:v>
              </c:pt>
              <c:pt idx="173">
                <c:v>0.675</c:v>
              </c:pt>
              <c:pt idx="174">
                <c:v>0.65</c:v>
              </c:pt>
              <c:pt idx="175">
                <c:v>0.625</c:v>
              </c:pt>
              <c:pt idx="176">
                <c:v>0.6</c:v>
              </c:pt>
              <c:pt idx="177">
                <c:v>0.575</c:v>
              </c:pt>
              <c:pt idx="178">
                <c:v>0.55</c:v>
              </c:pt>
              <c:pt idx="179">
                <c:v>0.525</c:v>
              </c:pt>
              <c:pt idx="180">
                <c:v>0.5</c:v>
              </c:pt>
              <c:pt idx="181">
                <c:v>0.475</c:v>
              </c:pt>
              <c:pt idx="182">
                <c:v>0.45</c:v>
              </c:pt>
              <c:pt idx="183">
                <c:v>0.425</c:v>
              </c:pt>
              <c:pt idx="184">
                <c:v>0.4</c:v>
              </c:pt>
              <c:pt idx="185">
                <c:v>0.375</c:v>
              </c:pt>
              <c:pt idx="186">
                <c:v>0.35</c:v>
              </c:pt>
              <c:pt idx="187">
                <c:v>0.325</c:v>
              </c:pt>
              <c:pt idx="188">
                <c:v>0.3</c:v>
              </c:pt>
              <c:pt idx="189">
                <c:v>0.275</c:v>
              </c:pt>
              <c:pt idx="190">
                <c:v>0.25</c:v>
              </c:pt>
              <c:pt idx="191">
                <c:v>0.225</c:v>
              </c:pt>
              <c:pt idx="192">
                <c:v>0.2</c:v>
              </c:pt>
              <c:pt idx="193">
                <c:v>0.175</c:v>
              </c:pt>
              <c:pt idx="194">
                <c:v>0.15</c:v>
              </c:pt>
              <c:pt idx="195">
                <c:v>0.125</c:v>
              </c:pt>
              <c:pt idx="196">
                <c:v>0.1</c:v>
              </c:pt>
              <c:pt idx="197">
                <c:v>0.075</c:v>
              </c:pt>
              <c:pt idx="198">
                <c:v>0.05</c:v>
              </c:pt>
              <c:pt idx="199">
                <c:v>0.025</c:v>
              </c:pt>
              <c:pt idx="200">
                <c:v>0</c:v>
              </c:pt>
            </c:numLit>
          </c:yVal>
        </c:ser>
        <c:ser>
          <c:idx val="1"/>
          <c:order val="1"/>
          <c:tx>
            <c:v>Centroide</c:v>
          </c:tx>
          <c:spPr>
            <a:ln xmlns:a="http://schemas.openxmlformats.org/drawingml/2006/main" w="28575">
              <a:solidFill>
                <a:srgbClr val="D96B18"/>
              </a:solidFill>
            </a:ln>
          </c:spPr>
          <c:marker>
            <c:symbol val="none"/>
            <c:size val="5"/>
          </c:marker>
          <c:xVal>
            <c:numLit>
              <c:formatCode>General</c:formatCode>
              <c:ptCount val="2"/>
              <c:pt idx="0">
                <c:v>50</c:v>
              </c:pt>
              <c:pt idx="1">
                <c:v>50</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8.xml><?xml version="1.0" encoding="utf-8"?>
<c:chartSpace xmlns:c="http://schemas.openxmlformats.org/drawingml/2006/chart">
  <c:lang val="en-US"/>
  <c:chart>
    <c:plotArea>
      <c:scatterChart>
        <c:ser>
          <c:idx val="0"/>
          <c:order val="0"/>
          <c:tx>
            <c:v>Estrecha</c:v>
          </c:tx>
          <c:spPr>
            <a:ln xmlns:a="http://schemas.openxmlformats.org/drawingml/2006/main" w="28575">
              <a:solidFill>
                <a:srgbClr val="2162A0"/>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0.04000000000000001</c:v>
              </c:pt>
              <c:pt idx="22">
                <c:v>0.08000000000000002</c:v>
              </c:pt>
              <c:pt idx="23">
                <c:v>0.12</c:v>
              </c:pt>
              <c:pt idx="24">
                <c:v>0.16000000000000003</c:v>
              </c:pt>
              <c:pt idx="25">
                <c:v>0.2</c:v>
              </c:pt>
              <c:pt idx="26">
                <c:v>0.24</c:v>
              </c:pt>
              <c:pt idx="27">
                <c:v>0.27999999999999997</c:v>
              </c:pt>
              <c:pt idx="28">
                <c:v>0.32000000000000006</c:v>
              </c:pt>
              <c:pt idx="29">
                <c:v>0.36000000000000004</c:v>
              </c:pt>
              <c:pt idx="30">
                <c:v>0.4</c:v>
              </c:pt>
              <c:pt idx="31">
                <c:v>0.44000000000000006</c:v>
              </c:pt>
              <c:pt idx="32">
                <c:v>0.48</c:v>
              </c:pt>
              <c:pt idx="33">
                <c:v>0.52</c:v>
              </c:pt>
              <c:pt idx="34">
                <c:v>0.5599999999999999</c:v>
              </c:pt>
              <c:pt idx="35">
                <c:v>0.6000000000000001</c:v>
              </c:pt>
              <c:pt idx="36">
                <c:v>0.6400000000000001</c:v>
              </c:pt>
              <c:pt idx="37">
                <c:v>0.68</c:v>
              </c:pt>
              <c:pt idx="38">
                <c:v>0.7200000000000001</c:v>
              </c:pt>
              <c:pt idx="39">
                <c:v>0.76</c:v>
              </c:pt>
              <c:pt idx="40">
                <c:v>0.8</c:v>
              </c:pt>
              <c:pt idx="41">
                <c:v>0.76</c:v>
              </c:pt>
              <c:pt idx="42">
                <c:v>0.7200000000000001</c:v>
              </c:pt>
              <c:pt idx="43">
                <c:v>0.68</c:v>
              </c:pt>
              <c:pt idx="44">
                <c:v>0.6400000000000001</c:v>
              </c:pt>
              <c:pt idx="45">
                <c:v>0.6000000000000001</c:v>
              </c:pt>
              <c:pt idx="46">
                <c:v>0.5599999999999999</c:v>
              </c:pt>
              <c:pt idx="47">
                <c:v>0.52</c:v>
              </c:pt>
              <c:pt idx="48">
                <c:v>0.48</c:v>
              </c:pt>
              <c:pt idx="49">
                <c:v>0.44000000000000006</c:v>
              </c:pt>
              <c:pt idx="50">
                <c:v>0.4</c:v>
              </c:pt>
              <c:pt idx="51">
                <c:v>0.36000000000000004</c:v>
              </c:pt>
              <c:pt idx="52">
                <c:v>0.32000000000000006</c:v>
              </c:pt>
              <c:pt idx="53">
                <c:v>0.27999999999999997</c:v>
              </c:pt>
              <c:pt idx="54">
                <c:v>0.24</c:v>
              </c:pt>
              <c:pt idx="55">
                <c:v>0.2</c:v>
              </c:pt>
              <c:pt idx="56">
                <c:v>0.16000000000000003</c:v>
              </c:pt>
              <c:pt idx="57">
                <c:v>0.12</c:v>
              </c:pt>
              <c:pt idx="58">
                <c:v>0.08000000000000002</c:v>
              </c:pt>
              <c:pt idx="59">
                <c:v>0.04000000000000001</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numLit>
          </c:yVal>
        </c:ser>
        <c:ser>
          <c:idx val="1"/>
          <c:order val="1"/>
          <c:tx>
            <c:v>Ancha</c:v>
          </c:tx>
          <c:spPr>
            <a:ln xmlns:a="http://schemas.openxmlformats.org/drawingml/2006/main" w="28575">
              <a:solidFill>
                <a:srgbClr val="D96B18"/>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0.013333333333333334</c:v>
              </c:pt>
              <c:pt idx="82">
                <c:v>0.02666666666666667</c:v>
              </c:pt>
              <c:pt idx="83">
                <c:v>0.04000000000000001</c:v>
              </c:pt>
              <c:pt idx="84">
                <c:v>0.05333333333333334</c:v>
              </c:pt>
              <c:pt idx="85">
                <c:v>0.06666666666666667</c:v>
              </c:pt>
              <c:pt idx="86">
                <c:v>0.08000000000000002</c:v>
              </c:pt>
              <c:pt idx="87">
                <c:v>0.09333333333333334</c:v>
              </c:pt>
              <c:pt idx="88">
                <c:v>0.10666666666666667</c:v>
              </c:pt>
              <c:pt idx="89">
                <c:v>0.12</c:v>
              </c:pt>
              <c:pt idx="90">
                <c:v>0.13333333333333333</c:v>
              </c:pt>
              <c:pt idx="91">
                <c:v>0.14666666666666667</c:v>
              </c:pt>
              <c:pt idx="92">
                <c:v>0.16000000000000003</c:v>
              </c:pt>
              <c:pt idx="93">
                <c:v>0.17333333333333334</c:v>
              </c:pt>
              <c:pt idx="94">
                <c:v>0.18666666666666668</c:v>
              </c:pt>
              <c:pt idx="95">
                <c:v>0.2</c:v>
              </c:pt>
              <c:pt idx="96">
                <c:v>0.21333333333333335</c:v>
              </c:pt>
              <c:pt idx="97">
                <c:v>0.22666666666666668</c:v>
              </c:pt>
              <c:pt idx="98">
                <c:v>0.24</c:v>
              </c:pt>
              <c:pt idx="99">
                <c:v>0.25333333333333335</c:v>
              </c:pt>
              <c:pt idx="100">
                <c:v>0.26666666666666666</c:v>
              </c:pt>
              <c:pt idx="101">
                <c:v>0.27999999999999997</c:v>
              </c:pt>
              <c:pt idx="102">
                <c:v>0.29333333333333333</c:v>
              </c:pt>
              <c:pt idx="103">
                <c:v>0.3066666666666667</c:v>
              </c:pt>
              <c:pt idx="104">
                <c:v>0.32000000000000006</c:v>
              </c:pt>
              <c:pt idx="105">
                <c:v>0.33333333333333337</c:v>
              </c:pt>
              <c:pt idx="106">
                <c:v>0.3466666666666667</c:v>
              </c:pt>
              <c:pt idx="107">
                <c:v>0.36000000000000004</c:v>
              </c:pt>
              <c:pt idx="108">
                <c:v>0.37333333333333335</c:v>
              </c:pt>
              <c:pt idx="109">
                <c:v>0.3866666666666667</c:v>
              </c:pt>
              <c:pt idx="110">
                <c:v>0.4</c:v>
              </c:pt>
              <c:pt idx="111">
                <c:v>0.4133333333333334</c:v>
              </c:pt>
              <c:pt idx="112">
                <c:v>0.4266666666666667</c:v>
              </c:pt>
              <c:pt idx="113">
                <c:v>0.44000000000000006</c:v>
              </c:pt>
              <c:pt idx="114">
                <c:v>0.45333333333333337</c:v>
              </c:pt>
              <c:pt idx="115">
                <c:v>0.46666666666666673</c:v>
              </c:pt>
              <c:pt idx="116">
                <c:v>0.48</c:v>
              </c:pt>
              <c:pt idx="117">
                <c:v>0.4933333333333334</c:v>
              </c:pt>
              <c:pt idx="118">
                <c:v>0.5066666666666667</c:v>
              </c:pt>
              <c:pt idx="119">
                <c:v>0.52</c:v>
              </c:pt>
              <c:pt idx="120">
                <c:v>0.5333333333333333</c:v>
              </c:pt>
              <c:pt idx="121">
                <c:v>0.5466666666666667</c:v>
              </c:pt>
              <c:pt idx="122">
                <c:v>0.5599999999999999</c:v>
              </c:pt>
              <c:pt idx="123">
                <c:v>0.5733333333333334</c:v>
              </c:pt>
              <c:pt idx="124">
                <c:v>0.5866666666666667</c:v>
              </c:pt>
              <c:pt idx="125">
                <c:v>0.6000000000000001</c:v>
              </c:pt>
              <c:pt idx="126">
                <c:v>0.6133333333333334</c:v>
              </c:pt>
              <c:pt idx="127">
                <c:v>0.6266666666666667</c:v>
              </c:pt>
              <c:pt idx="128">
                <c:v>0.6400000000000001</c:v>
              </c:pt>
              <c:pt idx="129">
                <c:v>0.6533333333333333</c:v>
              </c:pt>
              <c:pt idx="130">
                <c:v>0.6666666666666667</c:v>
              </c:pt>
              <c:pt idx="131">
                <c:v>0.68</c:v>
              </c:pt>
              <c:pt idx="132">
                <c:v>0.6933333333333334</c:v>
              </c:pt>
              <c:pt idx="133">
                <c:v>0.7066666666666667</c:v>
              </c:pt>
              <c:pt idx="134">
                <c:v>0.7200000000000001</c:v>
              </c:pt>
              <c:pt idx="135">
                <c:v>0.7333333333333334</c:v>
              </c:pt>
              <c:pt idx="136">
                <c:v>0.7466666666666667</c:v>
              </c:pt>
              <c:pt idx="137">
                <c:v>0.76</c:v>
              </c:pt>
              <c:pt idx="138">
                <c:v>0.7733333333333334</c:v>
              </c:pt>
              <c:pt idx="139">
                <c:v>0.7866666666666666</c:v>
              </c:pt>
              <c:pt idx="140">
                <c:v>0.8</c:v>
              </c:pt>
              <c:pt idx="141">
                <c:v>0.7866666666666666</c:v>
              </c:pt>
              <c:pt idx="142">
                <c:v>0.7733333333333334</c:v>
              </c:pt>
              <c:pt idx="143">
                <c:v>0.76</c:v>
              </c:pt>
              <c:pt idx="144">
                <c:v>0.7466666666666667</c:v>
              </c:pt>
              <c:pt idx="145">
                <c:v>0.7333333333333334</c:v>
              </c:pt>
              <c:pt idx="146">
                <c:v>0.7200000000000001</c:v>
              </c:pt>
              <c:pt idx="147">
                <c:v>0.7066666666666667</c:v>
              </c:pt>
              <c:pt idx="148">
                <c:v>0.6933333333333334</c:v>
              </c:pt>
              <c:pt idx="149">
                <c:v>0.68</c:v>
              </c:pt>
              <c:pt idx="150">
                <c:v>0.6666666666666667</c:v>
              </c:pt>
              <c:pt idx="151">
                <c:v>0.6533333333333333</c:v>
              </c:pt>
              <c:pt idx="152">
                <c:v>0.6400000000000001</c:v>
              </c:pt>
              <c:pt idx="153">
                <c:v>0.6266666666666667</c:v>
              </c:pt>
              <c:pt idx="154">
                <c:v>0.6133333333333334</c:v>
              </c:pt>
              <c:pt idx="155">
                <c:v>0.6000000000000001</c:v>
              </c:pt>
              <c:pt idx="156">
                <c:v>0.5866666666666667</c:v>
              </c:pt>
              <c:pt idx="157">
                <c:v>0.5733333333333334</c:v>
              </c:pt>
              <c:pt idx="158">
                <c:v>0.5599999999999999</c:v>
              </c:pt>
              <c:pt idx="159">
                <c:v>0.5466666666666667</c:v>
              </c:pt>
              <c:pt idx="160">
                <c:v>0.5333333333333333</c:v>
              </c:pt>
              <c:pt idx="161">
                <c:v>0.52</c:v>
              </c:pt>
              <c:pt idx="162">
                <c:v>0.5066666666666667</c:v>
              </c:pt>
              <c:pt idx="163">
                <c:v>0.4933333333333334</c:v>
              </c:pt>
              <c:pt idx="164">
                <c:v>0.48</c:v>
              </c:pt>
              <c:pt idx="165">
                <c:v>0.46666666666666673</c:v>
              </c:pt>
              <c:pt idx="166">
                <c:v>0.45333333333333337</c:v>
              </c:pt>
              <c:pt idx="167">
                <c:v>0.44000000000000006</c:v>
              </c:pt>
              <c:pt idx="168">
                <c:v>0.4266666666666667</c:v>
              </c:pt>
              <c:pt idx="169">
                <c:v>0.4133333333333334</c:v>
              </c:pt>
              <c:pt idx="170">
                <c:v>0.4</c:v>
              </c:pt>
              <c:pt idx="171">
                <c:v>0.3866666666666667</c:v>
              </c:pt>
              <c:pt idx="172">
                <c:v>0.37333333333333335</c:v>
              </c:pt>
              <c:pt idx="173">
                <c:v>0.36000000000000004</c:v>
              </c:pt>
              <c:pt idx="174">
                <c:v>0.3466666666666667</c:v>
              </c:pt>
              <c:pt idx="175">
                <c:v>0.33333333333333337</c:v>
              </c:pt>
              <c:pt idx="176">
                <c:v>0.32000000000000006</c:v>
              </c:pt>
              <c:pt idx="177">
                <c:v>0.3066666666666667</c:v>
              </c:pt>
              <c:pt idx="178">
                <c:v>0.29333333333333333</c:v>
              </c:pt>
              <c:pt idx="179">
                <c:v>0.27999999999999997</c:v>
              </c:pt>
              <c:pt idx="180">
                <c:v>0.26666666666666666</c:v>
              </c:pt>
              <c:pt idx="181">
                <c:v>0.25333333333333335</c:v>
              </c:pt>
              <c:pt idx="182">
                <c:v>0.24</c:v>
              </c:pt>
              <c:pt idx="183">
                <c:v>0.22666666666666668</c:v>
              </c:pt>
              <c:pt idx="184">
                <c:v>0.21333333333333335</c:v>
              </c:pt>
              <c:pt idx="185">
                <c:v>0.2</c:v>
              </c:pt>
              <c:pt idx="186">
                <c:v>0.18666666666666668</c:v>
              </c:pt>
              <c:pt idx="187">
                <c:v>0.17333333333333334</c:v>
              </c:pt>
              <c:pt idx="188">
                <c:v>0.16000000000000003</c:v>
              </c:pt>
              <c:pt idx="189">
                <c:v>0.14666666666666667</c:v>
              </c:pt>
              <c:pt idx="190">
                <c:v>0.13333333333333333</c:v>
              </c:pt>
              <c:pt idx="191">
                <c:v>0.12</c:v>
              </c:pt>
              <c:pt idx="192">
                <c:v>0.10666666666666667</c:v>
              </c:pt>
              <c:pt idx="193">
                <c:v>0.09333333333333334</c:v>
              </c:pt>
              <c:pt idx="194">
                <c:v>0.08000000000000002</c:v>
              </c:pt>
              <c:pt idx="195">
                <c:v>0.06666666666666667</c:v>
              </c:pt>
              <c:pt idx="196">
                <c:v>0.05333333333333334</c:v>
              </c:pt>
              <c:pt idx="197">
                <c:v>0.04000000000000001</c:v>
              </c:pt>
              <c:pt idx="198">
                <c:v>0.02666666666666667</c:v>
              </c:pt>
              <c:pt idx="199">
                <c:v>0.013333333333333334</c:v>
              </c:pt>
              <c:pt idx="2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9.xml><?xml version="1.0" encoding="utf-8"?>
<c:chartSpace xmlns:c="http://schemas.openxmlformats.org/drawingml/2006/chart">
  <c:lang val="en-US"/>
  <c:chart>
    <c:plotArea>
      <c:scatterChart>
        <c:ser>
          <c:idx val="0"/>
          <c:order val="0"/>
          <c:tx>
            <c:v>Salida 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u = 35.63859338365493</c:v>
          </c:tx>
          <c:spPr>
            <a:ln xmlns:a="http://schemas.openxmlformats.org/drawingml/2006/main" w="28575">
              <a:solidFill>
                <a:srgbClr val="087F79"/>
              </a:solidFill>
            </a:ln>
          </c:spPr>
          <c:marker>
            <c:symbol val="none"/>
            <c:size val="5"/>
          </c:marker>
          <c:xVal>
            <c:numLit>
              <c:formatCode>General</c:formatCode>
              <c:ptCount val="2"/>
              <c:pt idx="0">
                <c:v>35.63859338365493</c:v>
              </c:pt>
              <c:pt idx="1">
                <c:v>35.63859338365493</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0.xml><?xml version="1.0" encoding="utf-8"?>
<c:chartSpace xmlns:c="http://schemas.openxmlformats.org/drawingml/2006/chart">
  <c:lang val="en-US"/>
  <c:chart>
    <c:plotArea>
      <c:scatterChart>
        <c:ser>
          <c:idx val="0"/>
          <c:order val="0"/>
          <c:tx>
            <c:v>Baja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Alta</c:v>
          </c:tx>
          <c:spPr>
            <a:ln xmlns:a="http://schemas.openxmlformats.org/drawingml/2006/main" w="28575">
              <a:solidFill>
                <a:srgbClr val="D96B18"/>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31.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32.xml><?xml version="1.0" encoding="utf-8"?>
<c:chartSpace xmlns:c="http://schemas.openxmlformats.org/drawingml/2006/chart">
  <c:lang val="en-US"/>
  <c:chart>
    <c:plotArea>
      <c:scatterChart>
        <c:scatterStyle val="line"/>
        <c:ser>
          <c:idx val="0"/>
          <c:order val="0"/>
          <c:tx>
            <c:v>Potencia interpolada</c:v>
          </c:tx>
          <c:spPr>
            <a:ln xmlns:a="http://schemas.openxmlformats.org/drawingml/2006/main" w="28575">
              <a:solidFill>
                <a:srgbClr val="D96B18"/>
              </a:solidFill>
            </a:ln>
          </c:spPr>
          <c:marker>
            <c:symbol val="none"/>
          </c:marker>
          <c:xVal>
            <c:numLit>
              <c:formatCode>General</c:formatCode>
              <c:ptCount val="4"/>
              <c:pt idx="0">
                <c:v>0</c:v>
              </c:pt>
              <c:pt idx="1">
                <c:v>0.49</c:v>
              </c:pt>
              <c:pt idx="2">
                <c:v>0.51</c:v>
              </c:pt>
              <c:pt idx="3">
                <c:v>1</c:v>
              </c:pt>
            </c:numLit>
          </c:xVal>
          <c:yVal>
            <c:numLit>
              <c:formatCode>0</c:formatCode>
              <c:ptCount val="4"/>
              <c:pt idx="0">
                <c:v>20</c:v>
              </c:pt>
              <c:pt idx="1">
                <c:v>49.4</c:v>
              </c:pt>
              <c:pt idx="2">
                <c:v>50.6</c:v>
              </c:pt>
              <c:pt idx="3">
                <c:v>80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20"/>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Error de 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0.25"/>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33.xml><?xml version="1.0" encoding="utf-8"?>
<c:chartSpace xmlns:c="http://schemas.openxmlformats.org/drawingml/2006/chart">
  <c:lang val="en-US"/>
  <c:chart>
    <c:plotArea>
      <c:scatterChart>
        <c:ser>
          <c:idx val="0"/>
          <c:order val="0"/>
          <c:tx>
            <c:v>Negativo</c:v>
          </c:tx>
          <c:spPr>
            <a:ln xmlns:a="http://schemas.openxmlformats.org/drawingml/2006/main" w="28575">
              <a:solidFill>
                <a:srgbClr val="2162A0"/>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Cero</c:v>
          </c:tx>
          <c:spPr>
            <a:ln xmlns:a="http://schemas.openxmlformats.org/drawingml/2006/main" w="28575">
              <a:solidFill>
                <a:srgbClr val="D96B18"/>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0.020000000000000018</c:v>
              </c:pt>
              <c:pt idx="2">
                <c:v>0.040000000000000036</c:v>
              </c:pt>
              <c:pt idx="3">
                <c:v>0.06000000000000005</c:v>
              </c:pt>
              <c:pt idx="4">
                <c:v>0.07999999999999996</c:v>
              </c:pt>
              <c:pt idx="5">
                <c:v>0.09999999999999998</c:v>
              </c:pt>
              <c:pt idx="6">
                <c:v>0.12</c:v>
              </c:pt>
              <c:pt idx="7">
                <c:v>0.14</c:v>
              </c:pt>
              <c:pt idx="8">
                <c:v>0.16000000000000003</c:v>
              </c:pt>
              <c:pt idx="9">
                <c:v>0.17999999999999994</c:v>
              </c:pt>
              <c:pt idx="10">
                <c:v>0.19999999999999996</c:v>
              </c:pt>
              <c:pt idx="11">
                <c:v>0.21999999999999997</c:v>
              </c:pt>
              <c:pt idx="12">
                <c:v>0.24</c:v>
              </c:pt>
              <c:pt idx="13">
                <c:v>0.26</c:v>
              </c:pt>
              <c:pt idx="14">
                <c:v>0.28</c:v>
              </c:pt>
              <c:pt idx="15">
                <c:v>0.30000000000000004</c:v>
              </c:pt>
              <c:pt idx="16">
                <c:v>0.32000000000000006</c:v>
              </c:pt>
              <c:pt idx="17">
                <c:v>0.3400000000000001</c:v>
              </c:pt>
              <c:pt idx="18">
                <c:v>0.36</c:v>
              </c:pt>
              <c:pt idx="19">
                <c:v>0.38</c:v>
              </c:pt>
              <c:pt idx="20">
                <c:v>0.4</c:v>
              </c:pt>
              <c:pt idx="21">
                <c:v>0.41999999999999993</c:v>
              </c:pt>
              <c:pt idx="22">
                <c:v>0.43999999999999995</c:v>
              </c:pt>
              <c:pt idx="23">
                <c:v>0.45999999999999996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0.98</c:v>
              </c:pt>
              <c:pt idx="52">
                <c:v>0.96</c:v>
              </c:pt>
              <c:pt idx="53">
                <c:v>0.94</c:v>
              </c:pt>
              <c:pt idx="54">
                <c:v>0.9199999999999999</c:v>
              </c:pt>
              <c:pt idx="55">
                <c:v>0.8999999999999999</c:v>
              </c:pt>
              <c:pt idx="56">
                <c:v>0.8799999999999999</c:v>
              </c:pt>
              <c:pt idx="57">
                <c:v>0.8600000000000001</c:v>
              </c:pt>
              <c:pt idx="58">
                <c:v>0.8400000000000001</c:v>
              </c:pt>
              <c:pt idx="59">
                <c:v>0.8200000000000001</c:v>
              </c:pt>
              <c:pt idx="60">
                <c:v>0.8</c:v>
              </c:pt>
              <c:pt idx="61">
                <c:v>0.78</c:v>
              </c:pt>
              <c:pt idx="62">
                <c:v>0.76</c:v>
              </c:pt>
              <c:pt idx="63">
                <c:v>0.74</c:v>
              </c:pt>
              <c:pt idx="64">
                <c:v>0.72</c:v>
              </c:pt>
              <c:pt idx="65">
                <c:v>0.7</c:v>
              </c:pt>
              <c:pt idx="66">
                <c:v>0.6799999999999999</c:v>
              </c:pt>
              <c:pt idx="67">
                <c:v>0.6599999999999999</c:v>
              </c:pt>
              <c:pt idx="68">
                <c:v>0.6399999999999999</c:v>
              </c:pt>
              <c:pt idx="69">
                <c:v>0.6200000000000001</c:v>
              </c:pt>
              <c:pt idx="70">
                <c:v>0.6000000000000001</c:v>
              </c:pt>
              <c:pt idx="71">
                <c:v>0.5800000000000001</c:v>
              </c:pt>
              <c:pt idx="72">
                <c:v>0.56</c:v>
              </c:pt>
              <c:pt idx="73">
                <c:v>0.54</c:v>
              </c:pt>
              <c:pt idx="74">
                <c:v>0.52</c:v>
              </c:pt>
              <c:pt idx="75">
                <c:v>0.5</c:v>
              </c:pt>
              <c:pt idx="76">
                <c:v>0.48</c:v>
              </c:pt>
              <c:pt idx="77">
                <c:v>0.45999999999999996</c:v>
              </c:pt>
              <c:pt idx="78">
                <c:v>0.43999999999999995</c:v>
              </c:pt>
              <c:pt idx="79">
                <c:v>0.41999999999999993</c:v>
              </c:pt>
              <c:pt idx="80">
                <c:v>0.3999999999999999</c:v>
              </c:pt>
              <c:pt idx="81">
                <c:v>0.3799999999999999</c:v>
              </c:pt>
              <c:pt idx="82">
                <c:v>0.3600000000000001</c:v>
              </c:pt>
              <c:pt idx="83">
                <c:v>0.3400000000000001</c:v>
              </c:pt>
              <c:pt idx="84">
                <c:v>0.32000000000000006</c:v>
              </c:pt>
              <c:pt idx="85">
                <c:v>0.30000000000000004</c:v>
              </c:pt>
              <c:pt idx="86">
                <c:v>0.28</c:v>
              </c:pt>
              <c:pt idx="87">
                <c:v>0.26</c:v>
              </c:pt>
              <c:pt idx="88">
                <c:v>0.24</c:v>
              </c:pt>
              <c:pt idx="89">
                <c:v>0.21999999999999997</c:v>
              </c:pt>
              <c:pt idx="90">
                <c:v>0.19999999999999996</c:v>
              </c:pt>
              <c:pt idx="91">
                <c:v>0.17999999999999994</c:v>
              </c:pt>
              <c:pt idx="92">
                <c:v>0.15999999999999992</c:v>
              </c:pt>
              <c:pt idx="93">
                <c:v>0.1399999999999999</c:v>
              </c:pt>
              <c:pt idx="94">
                <c:v>0.1200000000000001</c:v>
              </c:pt>
              <c:pt idx="95">
                <c:v>0.10000000000000009</c:v>
              </c:pt>
              <c:pt idx="96">
                <c:v>0.08000000000000007</c:v>
              </c:pt>
              <c:pt idx="97">
                <c:v>0.06000000000000005</c:v>
              </c:pt>
              <c:pt idx="98">
                <c:v>0.040000000000000036</c:v>
              </c:pt>
              <c:pt idx="99">
                <c:v>0.020000000000000018</c:v>
              </c:pt>
              <c:pt idx="100">
                <c:v>0</c:v>
              </c:pt>
            </c:numLit>
          </c:yVal>
        </c:ser>
        <c:ser>
          <c:idx val="2"/>
          <c:order val="2"/>
          <c:tx>
            <c:v>Positivo</c:v>
          </c:tx>
          <c:spPr>
            <a:ln xmlns:a="http://schemas.openxmlformats.org/drawingml/2006/main" w="28575">
              <a:solidFill>
                <a:srgbClr val="60863D"/>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yVal>
        </c:ser>
        <c:ser>
          <c:idx val="3"/>
          <c:order val="3"/>
          <c:tx>
            <c:v>E</c:v>
          </c:tx>
          <c:spPr>
            <a:ln xmlns:a="http://schemas.openxmlformats.org/drawingml/2006/main" w="28575">
              <a:solidFill>
                <a:srgbClr val="73808A"/>
              </a:solidFill>
            </a:ln>
          </c:spPr>
          <c:marker>
            <c:symbol val="none"/>
            <c:size val="5"/>
          </c:marker>
          <c:xVal>
            <c:numLit>
              <c:formatCode>General</c:formatCode>
              <c:ptCount val="2"/>
              <c:pt idx="0">
                <c:v>0.5</c:v>
              </c:pt>
              <c:pt idx="1">
                <c:v>0.5</c:v>
              </c:pt>
            </c:numLit>
          </c:xVal>
          <c:yVal>
            <c:numLit>
              <c:formatCode>General</c:formatCode>
              <c:ptCount val="2"/>
              <c:pt idx="0">
                <c:v>0</c:v>
              </c:pt>
              <c:pt idx="1">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
          <c:min val="-1"/>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Error normalizado E</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0.5"/>
      </c:valAx>
    </c:plotArea>
    <c:plotVisOnly val="1"/>
  </c:chart>
  <c:spPr>
    <a:solidFill xmlns:a="http://schemas.openxmlformats.org/drawingml/2006/main">
      <a:srgbClr val="FFFFFF"/>
    </a:solidFill>
  </c:spPr>
</c:chartSpace>
</file>

<file path=ppt/slides/charts/chart34.xml><?xml version="1.0" encoding="utf-8"?>
<c:chartSpace xmlns:c="http://schemas.openxmlformats.org/drawingml/2006/chart">
  <c:lang val="en-US"/>
  <c:chart>
    <c:plotArea>
      <c:scatterChart>
        <c:ser>
          <c:idx val="0"/>
          <c:order val="0"/>
          <c:tx>
            <c:v>Negativo</c:v>
          </c:tx>
          <c:spPr>
            <a:ln xmlns:a="http://schemas.openxmlformats.org/drawingml/2006/main" w="28575">
              <a:solidFill>
                <a:srgbClr val="2162A0"/>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Cero</c:v>
          </c:tx>
          <c:spPr>
            <a:ln xmlns:a="http://schemas.openxmlformats.org/drawingml/2006/main" w="28575">
              <a:solidFill>
                <a:srgbClr val="D96B18"/>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0.020000000000000018</c:v>
              </c:pt>
              <c:pt idx="2">
                <c:v>0.040000000000000036</c:v>
              </c:pt>
              <c:pt idx="3">
                <c:v>0.06000000000000005</c:v>
              </c:pt>
              <c:pt idx="4">
                <c:v>0.07999999999999996</c:v>
              </c:pt>
              <c:pt idx="5">
                <c:v>0.09999999999999998</c:v>
              </c:pt>
              <c:pt idx="6">
                <c:v>0.12</c:v>
              </c:pt>
              <c:pt idx="7">
                <c:v>0.14</c:v>
              </c:pt>
              <c:pt idx="8">
                <c:v>0.16000000000000003</c:v>
              </c:pt>
              <c:pt idx="9">
                <c:v>0.17999999999999994</c:v>
              </c:pt>
              <c:pt idx="10">
                <c:v>0.19999999999999996</c:v>
              </c:pt>
              <c:pt idx="11">
                <c:v>0.21999999999999997</c:v>
              </c:pt>
              <c:pt idx="12">
                <c:v>0.24</c:v>
              </c:pt>
              <c:pt idx="13">
                <c:v>0.26</c:v>
              </c:pt>
              <c:pt idx="14">
                <c:v>0.28</c:v>
              </c:pt>
              <c:pt idx="15">
                <c:v>0.30000000000000004</c:v>
              </c:pt>
              <c:pt idx="16">
                <c:v>0.32000000000000006</c:v>
              </c:pt>
              <c:pt idx="17">
                <c:v>0.3400000000000001</c:v>
              </c:pt>
              <c:pt idx="18">
                <c:v>0.36</c:v>
              </c:pt>
              <c:pt idx="19">
                <c:v>0.38</c:v>
              </c:pt>
              <c:pt idx="20">
                <c:v>0.4</c:v>
              </c:pt>
              <c:pt idx="21">
                <c:v>0.41999999999999993</c:v>
              </c:pt>
              <c:pt idx="22">
                <c:v>0.43999999999999995</c:v>
              </c:pt>
              <c:pt idx="23">
                <c:v>0.45999999999999996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0.98</c:v>
              </c:pt>
              <c:pt idx="52">
                <c:v>0.96</c:v>
              </c:pt>
              <c:pt idx="53">
                <c:v>0.94</c:v>
              </c:pt>
              <c:pt idx="54">
                <c:v>0.9199999999999999</c:v>
              </c:pt>
              <c:pt idx="55">
                <c:v>0.8999999999999999</c:v>
              </c:pt>
              <c:pt idx="56">
                <c:v>0.8799999999999999</c:v>
              </c:pt>
              <c:pt idx="57">
                <c:v>0.8600000000000001</c:v>
              </c:pt>
              <c:pt idx="58">
                <c:v>0.8400000000000001</c:v>
              </c:pt>
              <c:pt idx="59">
                <c:v>0.8200000000000001</c:v>
              </c:pt>
              <c:pt idx="60">
                <c:v>0.8</c:v>
              </c:pt>
              <c:pt idx="61">
                <c:v>0.78</c:v>
              </c:pt>
              <c:pt idx="62">
                <c:v>0.76</c:v>
              </c:pt>
              <c:pt idx="63">
                <c:v>0.74</c:v>
              </c:pt>
              <c:pt idx="64">
                <c:v>0.72</c:v>
              </c:pt>
              <c:pt idx="65">
                <c:v>0.7</c:v>
              </c:pt>
              <c:pt idx="66">
                <c:v>0.6799999999999999</c:v>
              </c:pt>
              <c:pt idx="67">
                <c:v>0.6599999999999999</c:v>
              </c:pt>
              <c:pt idx="68">
                <c:v>0.6399999999999999</c:v>
              </c:pt>
              <c:pt idx="69">
                <c:v>0.6200000000000001</c:v>
              </c:pt>
              <c:pt idx="70">
                <c:v>0.6000000000000001</c:v>
              </c:pt>
              <c:pt idx="71">
                <c:v>0.5800000000000001</c:v>
              </c:pt>
              <c:pt idx="72">
                <c:v>0.56</c:v>
              </c:pt>
              <c:pt idx="73">
                <c:v>0.54</c:v>
              </c:pt>
              <c:pt idx="74">
                <c:v>0.52</c:v>
              </c:pt>
              <c:pt idx="75">
                <c:v>0.5</c:v>
              </c:pt>
              <c:pt idx="76">
                <c:v>0.48</c:v>
              </c:pt>
              <c:pt idx="77">
                <c:v>0.45999999999999996</c:v>
              </c:pt>
              <c:pt idx="78">
                <c:v>0.43999999999999995</c:v>
              </c:pt>
              <c:pt idx="79">
                <c:v>0.41999999999999993</c:v>
              </c:pt>
              <c:pt idx="80">
                <c:v>0.3999999999999999</c:v>
              </c:pt>
              <c:pt idx="81">
                <c:v>0.3799999999999999</c:v>
              </c:pt>
              <c:pt idx="82">
                <c:v>0.3600000000000001</c:v>
              </c:pt>
              <c:pt idx="83">
                <c:v>0.3400000000000001</c:v>
              </c:pt>
              <c:pt idx="84">
                <c:v>0.32000000000000006</c:v>
              </c:pt>
              <c:pt idx="85">
                <c:v>0.30000000000000004</c:v>
              </c:pt>
              <c:pt idx="86">
                <c:v>0.28</c:v>
              </c:pt>
              <c:pt idx="87">
                <c:v>0.26</c:v>
              </c:pt>
              <c:pt idx="88">
                <c:v>0.24</c:v>
              </c:pt>
              <c:pt idx="89">
                <c:v>0.21999999999999997</c:v>
              </c:pt>
              <c:pt idx="90">
                <c:v>0.19999999999999996</c:v>
              </c:pt>
              <c:pt idx="91">
                <c:v>0.17999999999999994</c:v>
              </c:pt>
              <c:pt idx="92">
                <c:v>0.15999999999999992</c:v>
              </c:pt>
              <c:pt idx="93">
                <c:v>0.1399999999999999</c:v>
              </c:pt>
              <c:pt idx="94">
                <c:v>0.1200000000000001</c:v>
              </c:pt>
              <c:pt idx="95">
                <c:v>0.10000000000000009</c:v>
              </c:pt>
              <c:pt idx="96">
                <c:v>0.08000000000000007</c:v>
              </c:pt>
              <c:pt idx="97">
                <c:v>0.06000000000000005</c:v>
              </c:pt>
              <c:pt idx="98">
                <c:v>0.040000000000000036</c:v>
              </c:pt>
              <c:pt idx="99">
                <c:v>0.020000000000000018</c:v>
              </c:pt>
              <c:pt idx="100">
                <c:v>0</c:v>
              </c:pt>
            </c:numLit>
          </c:yVal>
        </c:ser>
        <c:ser>
          <c:idx val="2"/>
          <c:order val="2"/>
          <c:tx>
            <c:v>Positivo</c:v>
          </c:tx>
          <c:spPr>
            <a:ln xmlns:a="http://schemas.openxmlformats.org/drawingml/2006/main" w="28575">
              <a:solidFill>
                <a:srgbClr val="60863D"/>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yVal>
        </c:ser>
        <c:ser>
          <c:idx val="3"/>
          <c:order val="3"/>
          <c:tx>
            <c:v>D</c:v>
          </c:tx>
          <c:spPr>
            <a:ln xmlns:a="http://schemas.openxmlformats.org/drawingml/2006/main" w="28575">
              <a:solidFill>
                <a:srgbClr val="73808A"/>
              </a:solidFill>
            </a:ln>
          </c:spPr>
          <c:marker>
            <c:symbol val="none"/>
            <c:size val="5"/>
          </c:marker>
          <c:xVal>
            <c:numLit>
              <c:formatCode>General</c:formatCode>
              <c:ptCount val="2"/>
              <c:pt idx="0">
                <c:v>0.2</c:v>
              </c:pt>
              <c:pt idx="1">
                <c:v>0.2</c:v>
              </c:pt>
            </c:numLit>
          </c:xVal>
          <c:yVal>
            <c:numLit>
              <c:formatCode>General</c:formatCode>
              <c:ptCount val="2"/>
              <c:pt idx="0">
                <c:v>0</c:v>
              </c:pt>
              <c:pt idx="1">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
          <c:min val="-1"/>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Variación normalizada D</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0.5"/>
      </c:valAx>
    </c:plotArea>
    <c:plotVisOnly val="1"/>
  </c:chart>
  <c:spPr>
    <a:solidFill xmlns:a="http://schemas.openxmlformats.org/drawingml/2006/main">
      <a:srgbClr val="FFFFFF"/>
    </a:solidFill>
  </c:spPr>
</c:chartSpace>
</file>

<file path=ppt/slides/charts/chart35.xml><?xml version="1.0" encoding="utf-8"?>
<c:chartSpace xmlns:c="http://schemas.openxmlformats.org/drawingml/2006/chart">
  <c:lang val="en-US"/>
  <c:chart>
    <c:plotArea>
      <c:barChart>
        <c:barDir val="col"/>
        <c:grouping val="clustered"/>
        <c:varyColors val="0"/>
        <c:ser>
          <c:idx val="0"/>
          <c:order val="0"/>
          <c:tx>
            <c:v>Aportación w · z</c:v>
          </c:tx>
          <c:spPr>
            <a:solidFill xmlns:a="http://schemas.openxmlformats.org/drawingml/2006/main">
              <a:srgbClr val="D96B18"/>
            </a:solidFill>
          </c:spPr>
          <c:cat>
            <c:strLit>
              <c:ptCount val="4"/>
              <c:pt idx="0">
                <c:v>R1</c:v>
              </c:pt>
              <c:pt idx="1">
                <c:v>R2</c:v>
              </c:pt>
              <c:pt idx="2">
                <c:v>R3</c:v>
              </c:pt>
              <c:pt idx="3">
                <c:v>R4</c:v>
              </c:pt>
            </c:strLit>
          </c:cat>
          <c:val>
            <c:numLit>
              <c:formatCode>General</c:formatCode>
              <c:ptCount val="4"/>
              <c:pt idx="0">
                <c:v>8</c:v>
              </c:pt>
              <c:pt idx="1">
                <c:v>6</c:v>
              </c:pt>
              <c:pt idx="2">
                <c:v>24</c:v>
              </c:pt>
              <c:pt idx="3">
                <c:v>10</c:v>
              </c:pt>
            </c:numLit>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Regla activa</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max val="30"/>
          <c:min val="0"/>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Aportación w · z</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plotVisOnly val="1"/>
  </c:chart>
  <c:spPr>
    <a:solidFill xmlns:a="http://schemas.openxmlformats.org/drawingml/2006/main">
      <a:srgbClr val="FFFFFF"/>
    </a:solidFill>
  </c:spPr>
</c:chartSpace>
</file>

<file path=ppt/slides/charts/chart36.xml><?xml version="1.0" encoding="utf-8"?>
<c:chartSpace xmlns:c="http://schemas.openxmlformats.org/drawingml/2006/chart">
  <c:lang val="en-US"/>
  <c:chart>
    <c:plotArea>
      <c:scatterChart>
        <c:ser>
          <c:idx val="0"/>
          <c:order val="0"/>
          <c:tx>
            <c:v>T</c:v>
          </c:tx>
          <c:spPr>
            <a:ln xmlns:a="http://schemas.openxmlformats.org/drawingml/2006/main" w="28575">
              <a:solidFill>
                <a:srgbClr val="2162A0"/>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18.365267</c:v>
              </c:pt>
              <c:pt idx="2">
                <c:v>18.65749</c:v>
              </c:pt>
              <c:pt idx="3">
                <c:v>18.938601</c:v>
              </c:pt>
              <c:pt idx="4">
                <c:v>19.19817</c:v>
              </c:pt>
              <c:pt idx="5">
                <c:v>19.439542</c:v>
              </c:pt>
              <c:pt idx="6">
                <c:v>19.663073</c:v>
              </c:pt>
              <c:pt idx="7">
                <c:v>19.869711</c:v>
              </c:pt>
              <c:pt idx="8">
                <c:v>20.060332</c:v>
              </c:pt>
              <c:pt idx="9">
                <c:v>20.235833</c:v>
              </c:pt>
              <c:pt idx="10">
                <c:v>20.397112</c:v>
              </c:pt>
              <c:pt idx="11">
                <c:v>20.545058</c:v>
              </c:pt>
              <c:pt idx="12">
                <c:v>20.680544</c:v>
              </c:pt>
              <c:pt idx="13">
                <c:v>20.804424</c:v>
              </c:pt>
              <c:pt idx="14">
                <c:v>20.917523</c:v>
              </c:pt>
              <c:pt idx="15">
                <c:v>21.020635</c:v>
              </c:pt>
              <c:pt idx="16">
                <c:v>21.114521</c:v>
              </c:pt>
              <c:pt idx="17">
                <c:v>21.199903</c:v>
              </c:pt>
              <c:pt idx="18">
                <c:v>21.277464</c:v>
              </c:pt>
              <c:pt idx="19">
                <c:v>21.347847</c:v>
              </c:pt>
              <c:pt idx="20">
                <c:v>21.411657</c:v>
              </c:pt>
              <c:pt idx="21">
                <c:v>21.469456</c:v>
              </c:pt>
              <c:pt idx="22">
                <c:v>21.521768</c:v>
              </c:pt>
              <c:pt idx="23">
                <c:v>21.56908</c:v>
              </c:pt>
              <c:pt idx="24">
                <c:v>21.61184</c:v>
              </c:pt>
              <c:pt idx="25">
                <c:v>21.650463</c:v>
              </c:pt>
              <c:pt idx="26">
                <c:v>21.685329</c:v>
              </c:pt>
              <c:pt idx="27">
                <c:v>21.716787</c:v>
              </c:pt>
              <c:pt idx="28">
                <c:v>21.745159</c:v>
              </c:pt>
              <c:pt idx="29">
                <c:v>21.770734</c:v>
              </c:pt>
              <c:pt idx="30">
                <c:v>21.793782</c:v>
              </c:pt>
              <c:pt idx="31">
                <c:v>21.814543</c:v>
              </c:pt>
              <c:pt idx="32">
                <c:v>21.833239</c:v>
              </c:pt>
              <c:pt idx="33">
                <c:v>21.850071</c:v>
              </c:pt>
              <c:pt idx="34">
                <c:v>21.865221</c:v>
              </c:pt>
              <c:pt idx="35">
                <c:v>21.878853</c:v>
              </c:pt>
              <c:pt idx="36">
                <c:v>21.891118</c:v>
              </c:pt>
              <c:pt idx="37">
                <c:v>21.902149</c:v>
              </c:pt>
              <c:pt idx="38">
                <c:v>21.91207</c:v>
              </c:pt>
              <c:pt idx="39">
                <c:v>21.920991</c:v>
              </c:pt>
              <c:pt idx="40">
                <c:v>21.929012</c:v>
              </c:pt>
              <c:pt idx="41">
                <c:v>21.936222</c:v>
              </c:pt>
              <c:pt idx="42">
                <c:v>21.942703</c:v>
              </c:pt>
              <c:pt idx="43">
                <c:v>21.948527</c:v>
              </c:pt>
              <c:pt idx="44">
                <c:v>21.953762</c:v>
              </c:pt>
              <c:pt idx="45">
                <c:v>21.958466</c:v>
              </c:pt>
              <c:pt idx="46">
                <c:v>21.962692</c:v>
              </c:pt>
              <c:pt idx="47">
                <c:v>21.96649</c:v>
              </c:pt>
              <c:pt idx="48">
                <c:v>21.969902</c:v>
              </c:pt>
              <c:pt idx="49">
                <c:v>21.972967</c:v>
              </c:pt>
              <c:pt idx="50">
                <c:v>21.975721</c:v>
              </c:pt>
              <c:pt idx="51">
                <c:v>21.978194</c:v>
              </c:pt>
              <c:pt idx="52">
                <c:v>21.980416</c:v>
              </c:pt>
              <c:pt idx="53">
                <c:v>21.982412</c:v>
              </c:pt>
              <c:pt idx="54">
                <c:v>21.984205</c:v>
              </c:pt>
              <c:pt idx="55">
                <c:v>21.985815</c:v>
              </c:pt>
              <c:pt idx="56">
                <c:v>21.987261</c:v>
              </c:pt>
              <c:pt idx="57">
                <c:v>21.98856</c:v>
              </c:pt>
              <c:pt idx="58">
                <c:v>21.989726</c:v>
              </c:pt>
              <c:pt idx="59">
                <c:v>21.990774</c:v>
              </c:pt>
              <c:pt idx="60">
                <c:v>21.991715</c:v>
              </c:pt>
              <c:pt idx="61">
                <c:v>21.99256</c:v>
              </c:pt>
              <c:pt idx="62">
                <c:v>21.993319</c:v>
              </c:pt>
              <c:pt idx="63">
                <c:v>21.994</c:v>
              </c:pt>
              <c:pt idx="64">
                <c:v>21.994612</c:v>
              </c:pt>
              <c:pt idx="65">
                <c:v>21.995162</c:v>
              </c:pt>
              <c:pt idx="66">
                <c:v>21.995655</c:v>
              </c:pt>
              <c:pt idx="67">
                <c:v>21.996098</c:v>
              </c:pt>
              <c:pt idx="68">
                <c:v>21.996496</c:v>
              </c:pt>
              <c:pt idx="69">
                <c:v>21.996854</c:v>
              </c:pt>
              <c:pt idx="70">
                <c:v>21.997175</c:v>
              </c:pt>
              <c:pt idx="71">
                <c:v>21.997463</c:v>
              </c:pt>
              <c:pt idx="72">
                <c:v>21.997722</c:v>
              </c:pt>
              <c:pt idx="73">
                <c:v>21.997954</c:v>
              </c:pt>
              <c:pt idx="74">
                <c:v>21.998163</c:v>
              </c:pt>
              <c:pt idx="75">
                <c:v>21.99835</c:v>
              </c:pt>
              <c:pt idx="76">
                <c:v>21.998519</c:v>
              </c:pt>
              <c:pt idx="77">
                <c:v>21.99867</c:v>
              </c:pt>
              <c:pt idx="78">
                <c:v>21.998806</c:v>
              </c:pt>
              <c:pt idx="79">
                <c:v>21.998927</c:v>
              </c:pt>
              <c:pt idx="80">
                <c:v>21.999037</c:v>
              </c:pt>
              <c:pt idx="81">
                <c:v>21.999135</c:v>
              </c:pt>
              <c:pt idx="82">
                <c:v>21.999223</c:v>
              </c:pt>
              <c:pt idx="83">
                <c:v>21.999303</c:v>
              </c:pt>
              <c:pt idx="84">
                <c:v>21.999374</c:v>
              </c:pt>
              <c:pt idx="85">
                <c:v>21.999438</c:v>
              </c:pt>
              <c:pt idx="86">
                <c:v>21.999495</c:v>
              </c:pt>
              <c:pt idx="87">
                <c:v>21.999547</c:v>
              </c:pt>
              <c:pt idx="88">
                <c:v>21.999593</c:v>
              </c:pt>
              <c:pt idx="89">
                <c:v>21.999634</c:v>
              </c:pt>
              <c:pt idx="90">
                <c:v>21.999672</c:v>
              </c:pt>
              <c:pt idx="91">
                <c:v>21.999705</c:v>
              </c:pt>
              <c:pt idx="92">
                <c:v>21.999735</c:v>
              </c:pt>
              <c:pt idx="93">
                <c:v>21.999762</c:v>
              </c:pt>
              <c:pt idx="94">
                <c:v>21.999787</c:v>
              </c:pt>
              <c:pt idx="95">
                <c:v>21.999808</c:v>
              </c:pt>
              <c:pt idx="96">
                <c:v>21.999828</c:v>
              </c:pt>
              <c:pt idx="97">
                <c:v>21.999845</c:v>
              </c:pt>
              <c:pt idx="98">
                <c:v>21.999861</c:v>
              </c:pt>
              <c:pt idx="99">
                <c:v>21.999875</c:v>
              </c:pt>
              <c:pt idx="100">
                <c:v>21.999888</c:v>
              </c:pt>
              <c:pt idx="101">
                <c:v>21.9999</c:v>
              </c:pt>
              <c:pt idx="102">
                <c:v>21.99991</c:v>
              </c:pt>
              <c:pt idx="103">
                <c:v>21.999919</c:v>
              </c:pt>
              <c:pt idx="104">
                <c:v>21.999927</c:v>
              </c:pt>
              <c:pt idx="105">
                <c:v>21.999935</c:v>
              </c:pt>
              <c:pt idx="106">
                <c:v>21.999941</c:v>
              </c:pt>
              <c:pt idx="107">
                <c:v>21.999947</c:v>
              </c:pt>
              <c:pt idx="108">
                <c:v>21.999953</c:v>
              </c:pt>
              <c:pt idx="109">
                <c:v>21.999958</c:v>
              </c:pt>
              <c:pt idx="110">
                <c:v>21.999962</c:v>
              </c:pt>
              <c:pt idx="111">
                <c:v>21.999966</c:v>
              </c:pt>
              <c:pt idx="112">
                <c:v>21.999969</c:v>
              </c:pt>
              <c:pt idx="113">
                <c:v>21.999972</c:v>
              </c:pt>
              <c:pt idx="114">
                <c:v>21.999975</c:v>
              </c:pt>
              <c:pt idx="115">
                <c:v>21.999978</c:v>
              </c:pt>
              <c:pt idx="116">
                <c:v>21.99998</c:v>
              </c:pt>
              <c:pt idx="117">
                <c:v>21.999982</c:v>
              </c:pt>
              <c:pt idx="118">
                <c:v>21.999984</c:v>
              </c:pt>
              <c:pt idx="119">
                <c:v>21.999986</c:v>
              </c:pt>
              <c:pt idx="120">
                <c:v>21.999987</c:v>
              </c:pt>
            </c:numLit>
          </c:yVal>
        </c:ser>
        <c:ser>
          <c:idx val="1"/>
          <c:order val="1"/>
          <c:tx>
            <c:v>r</c:v>
          </c:tx>
          <c:spPr>
            <a:ln xmlns:a="http://schemas.openxmlformats.org/drawingml/2006/main" w="28575">
              <a:solidFill>
                <a:srgbClr val="73808A"/>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22</c:v>
              </c:pt>
              <c:pt idx="1">
                <c:v>22</c:v>
              </c:pt>
              <c:pt idx="2">
                <c:v>22</c:v>
              </c:pt>
              <c:pt idx="3">
                <c:v>22</c:v>
              </c:pt>
              <c:pt idx="4">
                <c:v>22</c:v>
              </c:pt>
              <c:pt idx="5">
                <c:v>22</c:v>
              </c:pt>
              <c:pt idx="6">
                <c:v>22</c:v>
              </c:pt>
              <c:pt idx="7">
                <c:v>22</c:v>
              </c:pt>
              <c:pt idx="8">
                <c:v>22</c:v>
              </c:pt>
              <c:pt idx="9">
                <c:v>22</c:v>
              </c:pt>
              <c:pt idx="10">
                <c:v>22</c:v>
              </c:pt>
              <c:pt idx="11">
                <c:v>22</c:v>
              </c:pt>
              <c:pt idx="12">
                <c:v>22</c:v>
              </c:pt>
              <c:pt idx="13">
                <c:v>22</c:v>
              </c:pt>
              <c:pt idx="14">
                <c:v>22</c:v>
              </c:pt>
              <c:pt idx="15">
                <c:v>22</c:v>
              </c:pt>
              <c:pt idx="16">
                <c:v>22</c:v>
              </c:pt>
              <c:pt idx="17">
                <c:v>22</c:v>
              </c:pt>
              <c:pt idx="18">
                <c:v>22</c:v>
              </c:pt>
              <c:pt idx="19">
                <c:v>22</c:v>
              </c:pt>
              <c:pt idx="20">
                <c:v>22</c:v>
              </c:pt>
              <c:pt idx="21">
                <c:v>22</c:v>
              </c:pt>
              <c:pt idx="22">
                <c:v>22</c:v>
              </c:pt>
              <c:pt idx="23">
                <c:v>22</c:v>
              </c:pt>
              <c:pt idx="24">
                <c:v>22</c:v>
              </c:pt>
              <c:pt idx="25">
                <c:v>22</c:v>
              </c:pt>
              <c:pt idx="26">
                <c:v>22</c:v>
              </c:pt>
              <c:pt idx="27">
                <c:v>22</c:v>
              </c:pt>
              <c:pt idx="28">
                <c:v>22</c:v>
              </c:pt>
              <c:pt idx="29">
                <c:v>22</c:v>
              </c:pt>
              <c:pt idx="30">
                <c:v>22</c:v>
              </c:pt>
              <c:pt idx="31">
                <c:v>22</c:v>
              </c:pt>
              <c:pt idx="32">
                <c:v>22</c:v>
              </c:pt>
              <c:pt idx="33">
                <c:v>22</c:v>
              </c:pt>
              <c:pt idx="34">
                <c:v>22</c:v>
              </c:pt>
              <c:pt idx="35">
                <c:v>22</c:v>
              </c:pt>
              <c:pt idx="36">
                <c:v>22</c:v>
              </c:pt>
              <c:pt idx="37">
                <c:v>22</c:v>
              </c:pt>
              <c:pt idx="38">
                <c:v>22</c:v>
              </c:pt>
              <c:pt idx="39">
                <c:v>22</c:v>
              </c:pt>
              <c:pt idx="40">
                <c:v>22</c:v>
              </c:pt>
              <c:pt idx="41">
                <c:v>22</c:v>
              </c:pt>
              <c:pt idx="42">
                <c:v>22</c:v>
              </c:pt>
              <c:pt idx="43">
                <c:v>22</c:v>
              </c:pt>
              <c:pt idx="44">
                <c:v>22</c:v>
              </c:pt>
              <c:pt idx="45">
                <c:v>22</c:v>
              </c:pt>
              <c:pt idx="46">
                <c:v>22</c:v>
              </c:pt>
              <c:pt idx="47">
                <c:v>22</c:v>
              </c:pt>
              <c:pt idx="48">
                <c:v>22</c:v>
              </c:pt>
              <c:pt idx="49">
                <c:v>22</c:v>
              </c:pt>
              <c:pt idx="50">
                <c:v>22</c:v>
              </c:pt>
              <c:pt idx="51">
                <c:v>22</c:v>
              </c:pt>
              <c:pt idx="52">
                <c:v>22</c:v>
              </c:pt>
              <c:pt idx="53">
                <c:v>22</c:v>
              </c:pt>
              <c:pt idx="54">
                <c:v>22</c:v>
              </c:pt>
              <c:pt idx="55">
                <c:v>22</c:v>
              </c:pt>
              <c:pt idx="56">
                <c:v>22</c:v>
              </c:pt>
              <c:pt idx="57">
                <c:v>22</c:v>
              </c:pt>
              <c:pt idx="58">
                <c:v>22</c:v>
              </c:pt>
              <c:pt idx="59">
                <c:v>22</c:v>
              </c:pt>
              <c:pt idx="60">
                <c:v>22</c:v>
              </c:pt>
              <c:pt idx="61">
                <c:v>22</c:v>
              </c:pt>
              <c:pt idx="62">
                <c:v>22</c:v>
              </c:pt>
              <c:pt idx="63">
                <c:v>22</c:v>
              </c:pt>
              <c:pt idx="64">
                <c:v>22</c:v>
              </c:pt>
              <c:pt idx="65">
                <c:v>22</c:v>
              </c:pt>
              <c:pt idx="66">
                <c:v>22</c:v>
              </c:pt>
              <c:pt idx="67">
                <c:v>22</c:v>
              </c:pt>
              <c:pt idx="68">
                <c:v>22</c:v>
              </c:pt>
              <c:pt idx="69">
                <c:v>22</c:v>
              </c:pt>
              <c:pt idx="70">
                <c:v>22</c:v>
              </c:pt>
              <c:pt idx="71">
                <c:v>22</c:v>
              </c:pt>
              <c:pt idx="72">
                <c:v>22</c:v>
              </c:pt>
              <c:pt idx="73">
                <c:v>22</c:v>
              </c:pt>
              <c:pt idx="74">
                <c:v>22</c:v>
              </c:pt>
              <c:pt idx="75">
                <c:v>22</c:v>
              </c:pt>
              <c:pt idx="76">
                <c:v>22</c:v>
              </c:pt>
              <c:pt idx="77">
                <c:v>22</c:v>
              </c:pt>
              <c:pt idx="78">
                <c:v>22</c:v>
              </c:pt>
              <c:pt idx="79">
                <c:v>22</c:v>
              </c:pt>
              <c:pt idx="80">
                <c:v>22</c:v>
              </c:pt>
              <c:pt idx="81">
                <c:v>22</c:v>
              </c:pt>
              <c:pt idx="82">
                <c:v>22</c:v>
              </c:pt>
              <c:pt idx="83">
                <c:v>22</c:v>
              </c:pt>
              <c:pt idx="84">
                <c:v>22</c:v>
              </c:pt>
              <c:pt idx="85">
                <c:v>22</c:v>
              </c:pt>
              <c:pt idx="86">
                <c:v>22</c:v>
              </c:pt>
              <c:pt idx="87">
                <c:v>22</c:v>
              </c:pt>
              <c:pt idx="88">
                <c:v>22</c:v>
              </c:pt>
              <c:pt idx="89">
                <c:v>22</c:v>
              </c:pt>
              <c:pt idx="90">
                <c:v>22</c:v>
              </c:pt>
              <c:pt idx="91">
                <c:v>22</c:v>
              </c:pt>
              <c:pt idx="92">
                <c:v>22</c:v>
              </c:pt>
              <c:pt idx="93">
                <c:v>22</c:v>
              </c:pt>
              <c:pt idx="94">
                <c:v>22</c:v>
              </c:pt>
              <c:pt idx="95">
                <c:v>22</c:v>
              </c:pt>
              <c:pt idx="96">
                <c:v>22</c:v>
              </c:pt>
              <c:pt idx="97">
                <c:v>22</c:v>
              </c:pt>
              <c:pt idx="98">
                <c:v>22</c:v>
              </c:pt>
              <c:pt idx="99">
                <c:v>22</c:v>
              </c:pt>
              <c:pt idx="100">
                <c:v>22</c:v>
              </c:pt>
              <c:pt idx="101">
                <c:v>22</c:v>
              </c:pt>
              <c:pt idx="102">
                <c:v>22</c:v>
              </c:pt>
              <c:pt idx="103">
                <c:v>22</c:v>
              </c:pt>
              <c:pt idx="104">
                <c:v>22</c:v>
              </c:pt>
              <c:pt idx="105">
                <c:v>22</c:v>
              </c:pt>
              <c:pt idx="106">
                <c:v>22</c:v>
              </c:pt>
              <c:pt idx="107">
                <c:v>22</c:v>
              </c:pt>
              <c:pt idx="108">
                <c:v>22</c:v>
              </c:pt>
              <c:pt idx="109">
                <c:v>22</c:v>
              </c:pt>
              <c:pt idx="110">
                <c:v>22</c:v>
              </c:pt>
              <c:pt idx="111">
                <c:v>22</c:v>
              </c:pt>
              <c:pt idx="112">
                <c:v>22</c:v>
              </c:pt>
              <c:pt idx="113">
                <c:v>22</c:v>
              </c:pt>
              <c:pt idx="114">
                <c:v>22</c:v>
              </c:pt>
              <c:pt idx="115">
                <c:v>22</c:v>
              </c:pt>
              <c:pt idx="116">
                <c:v>22</c:v>
              </c:pt>
              <c:pt idx="117">
                <c:v>22</c:v>
              </c:pt>
              <c:pt idx="118">
                <c:v>22</c:v>
              </c:pt>
              <c:pt idx="119">
                <c:v>22</c:v>
              </c:pt>
              <c:pt idx="120">
                <c:v>22</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3"/>
          <c:min val="18"/>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37.xml><?xml version="1.0" encoding="utf-8"?>
<c:chartSpace xmlns:c="http://schemas.openxmlformats.org/drawingml/2006/chart">
  <c:lang val="en-US"/>
  <c:chart>
    <c:plotArea>
      <c:scatterChart>
        <c:ser>
          <c:idx val="0"/>
          <c:order val="0"/>
          <c:tx>
            <c:v>u</c:v>
          </c:tx>
          <c:spPr>
            <a:ln xmlns:a="http://schemas.openxmlformats.org/drawingml/2006/main" w="28575">
              <a:solidFill>
                <a:srgbClr val="D96B18"/>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60</c:v>
              </c:pt>
              <c:pt idx="1">
                <c:v>27.440988</c:v>
              </c:pt>
              <c:pt idx="2">
                <c:v>33.293565</c:v>
              </c:pt>
              <c:pt idx="3">
                <c:v>31.189495</c:v>
              </c:pt>
              <c:pt idx="4">
                <c:v>30.897261</c:v>
              </c:pt>
              <c:pt idx="5">
                <c:v>30.24267</c:v>
              </c:pt>
              <c:pt idx="6">
                <c:v>29.641799</c:v>
              </c:pt>
              <c:pt idx="7">
                <c:v>29.036885</c:v>
              </c:pt>
              <c:pt idx="8">
                <c:v>28.442204</c:v>
              </c:pt>
              <c:pt idx="9">
                <c:v>27.861652</c:v>
              </c:pt>
              <c:pt idx="10">
                <c:v>27.299343</c:v>
              </c:pt>
              <c:pt idx="11">
                <c:v>26.758486</c:v>
              </c:pt>
              <c:pt idx="12">
                <c:v>26.241545</c:v>
              </c:pt>
              <c:pt idx="13">
                <c:v>25.750298</c:v>
              </c:pt>
              <c:pt idx="14">
                <c:v>25.285907</c:v>
              </c:pt>
              <c:pt idx="15">
                <c:v>24.848994</c:v>
              </c:pt>
              <c:pt idx="16">
                <c:v>24.439717</c:v>
              </c:pt>
              <c:pt idx="17">
                <c:v>24.057845</c:v>
              </c:pt>
              <c:pt idx="18">
                <c:v>23.702829</c:v>
              </c:pt>
              <c:pt idx="19">
                <c:v>23.373862</c:v>
              </c:pt>
              <c:pt idx="20">
                <c:v>23.069946</c:v>
              </c:pt>
              <c:pt idx="21">
                <c:v>22.789935</c:v>
              </c:pt>
              <c:pt idx="22">
                <c:v>22.532588</c:v>
              </c:pt>
              <c:pt idx="23">
                <c:v>22.2966</c:v>
              </c:pt>
              <c:pt idx="24">
                <c:v>22.08064</c:v>
              </c:pt>
              <c:pt idx="25">
                <c:v>21.883373</c:v>
              </c:pt>
              <c:pt idx="26">
                <c:v>21.703482</c:v>
              </c:pt>
              <c:pt idx="27">
                <c:v>21.539686</c:v>
              </c:pt>
              <c:pt idx="28">
                <c:v>21.390749</c:v>
              </c:pt>
              <c:pt idx="29">
                <c:v>21.25549</c:v>
              </c:pt>
              <c:pt idx="30">
                <c:v>21.132792</c:v>
              </c:pt>
              <c:pt idx="31">
                <c:v>21.0216</c:v>
              </c:pt>
              <c:pt idx="32">
                <c:v>20.920928</c:v>
              </c:pt>
              <c:pt idx="33">
                <c:v>20.829854</c:v>
              </c:pt>
              <c:pt idx="34">
                <c:v>20.747526</c:v>
              </c:pt>
              <c:pt idx="35">
                <c:v>20.673154</c:v>
              </c:pt>
              <c:pt idx="36">
                <c:v>20.606008</c:v>
              </c:pt>
              <c:pt idx="37">
                <c:v>20.545421</c:v>
              </c:pt>
              <c:pt idx="38">
                <c:v>20.490777</c:v>
              </c:pt>
              <c:pt idx="39">
                <c:v>20.441517</c:v>
              </c:pt>
              <c:pt idx="40">
                <c:v>20.397126</c:v>
              </c:pt>
              <c:pt idx="41">
                <c:v>20.357138</c:v>
              </c:pt>
              <c:pt idx="42">
                <c:v>20.321128</c:v>
              </c:pt>
              <c:pt idx="43">
                <c:v>20.28871</c:v>
              </c:pt>
              <c:pt idx="44">
                <c:v>20.259532</c:v>
              </c:pt>
              <c:pt idx="45">
                <c:v>20.233277</c:v>
              </c:pt>
              <c:pt idx="46">
                <c:v>20.209658</c:v>
              </c:pt>
              <c:pt idx="47">
                <c:v>20.188413</c:v>
              </c:pt>
              <c:pt idx="48">
                <c:v>20.169307</c:v>
              </c:pt>
              <c:pt idx="49">
                <c:v>20.152128</c:v>
              </c:pt>
              <c:pt idx="50">
                <c:v>20.136683</c:v>
              </c:pt>
              <c:pt idx="51">
                <c:v>20.122799</c:v>
              </c:pt>
              <c:pt idx="52">
                <c:v>20.110319</c:v>
              </c:pt>
              <c:pt idx="53">
                <c:v>20.099103</c:v>
              </c:pt>
              <c:pt idx="54">
                <c:v>20.089024</c:v>
              </c:pt>
              <c:pt idx="55">
                <c:v>20.079967</c:v>
              </c:pt>
              <c:pt idx="56">
                <c:v>20.071828</c:v>
              </c:pt>
              <c:pt idx="57">
                <c:v>20.064516</c:v>
              </c:pt>
              <c:pt idx="58">
                <c:v>20.057947</c:v>
              </c:pt>
              <c:pt idx="59">
                <c:v>20.052045</c:v>
              </c:pt>
              <c:pt idx="60">
                <c:v>20.046744</c:v>
              </c:pt>
              <c:pt idx="61">
                <c:v>20.041981</c:v>
              </c:pt>
              <c:pt idx="62">
                <c:v>20.037704</c:v>
              </c:pt>
              <c:pt idx="63">
                <c:v>20.033861</c:v>
              </c:pt>
              <c:pt idx="64">
                <c:v>20.03041</c:v>
              </c:pt>
              <c:pt idx="65">
                <c:v>20.02731</c:v>
              </c:pt>
              <c:pt idx="66">
                <c:v>20.024526</c:v>
              </c:pt>
              <c:pt idx="67">
                <c:v>20.022025</c:v>
              </c:pt>
              <c:pt idx="68">
                <c:v>20.019779</c:v>
              </c:pt>
              <c:pt idx="69">
                <c:v>20.017762</c:v>
              </c:pt>
              <c:pt idx="70">
                <c:v>20.015951</c:v>
              </c:pt>
              <c:pt idx="71">
                <c:v>20.014324</c:v>
              </c:pt>
              <c:pt idx="72">
                <c:v>20.012863</c:v>
              </c:pt>
              <c:pt idx="73">
                <c:v>20.011551</c:v>
              </c:pt>
              <c:pt idx="74">
                <c:v>20.010373</c:v>
              </c:pt>
              <c:pt idx="75">
                <c:v>20.009315</c:v>
              </c:pt>
              <c:pt idx="76">
                <c:v>20.008365</c:v>
              </c:pt>
              <c:pt idx="77">
                <c:v>20.007511</c:v>
              </c:pt>
              <c:pt idx="78">
                <c:v>20.006745</c:v>
              </c:pt>
              <c:pt idx="79">
                <c:v>20.006057</c:v>
              </c:pt>
              <c:pt idx="80">
                <c:v>20.005439</c:v>
              </c:pt>
              <c:pt idx="81">
                <c:v>20.004884</c:v>
              </c:pt>
              <c:pt idx="82">
                <c:v>20.004386</c:v>
              </c:pt>
              <c:pt idx="83">
                <c:v>20.003938</c:v>
              </c:pt>
              <c:pt idx="84">
                <c:v>20.003536</c:v>
              </c:pt>
              <c:pt idx="85">
                <c:v>20.003176</c:v>
              </c:pt>
              <c:pt idx="86">
                <c:v>20.002852</c:v>
              </c:pt>
              <c:pt idx="87">
                <c:v>20.002561</c:v>
              </c:pt>
              <c:pt idx="88">
                <c:v>20.002299</c:v>
              </c:pt>
              <c:pt idx="89">
                <c:v>20.002065</c:v>
              </c:pt>
              <c:pt idx="90">
                <c:v>20.001854</c:v>
              </c:pt>
              <c:pt idx="91">
                <c:v>20.001665</c:v>
              </c:pt>
              <c:pt idx="92">
                <c:v>20.001495</c:v>
              </c:pt>
              <c:pt idx="93">
                <c:v>20.001343</c:v>
              </c:pt>
              <c:pt idx="94">
                <c:v>20.001206</c:v>
              </c:pt>
              <c:pt idx="95">
                <c:v>20.001083</c:v>
              </c:pt>
              <c:pt idx="96">
                <c:v>20.000972</c:v>
              </c:pt>
              <c:pt idx="97">
                <c:v>20.000873</c:v>
              </c:pt>
              <c:pt idx="98">
                <c:v>20.000784</c:v>
              </c:pt>
              <c:pt idx="99">
                <c:v>20.000704</c:v>
              </c:pt>
              <c:pt idx="100">
                <c:v>20.000632</c:v>
              </c:pt>
              <c:pt idx="101">
                <c:v>20.000568</c:v>
              </c:pt>
              <c:pt idx="102">
                <c:v>20.00051</c:v>
              </c:pt>
              <c:pt idx="103">
                <c:v>20.000458</c:v>
              </c:pt>
              <c:pt idx="104">
                <c:v>20.000411</c:v>
              </c:pt>
              <c:pt idx="105">
                <c:v>20.000369</c:v>
              </c:pt>
              <c:pt idx="106">
                <c:v>20.000331</c:v>
              </c:pt>
              <c:pt idx="107">
                <c:v>20.000298</c:v>
              </c:pt>
              <c:pt idx="108">
                <c:v>20.000267</c:v>
              </c:pt>
              <c:pt idx="109">
                <c:v>20.00024</c:v>
              </c:pt>
              <c:pt idx="110">
                <c:v>20.000215</c:v>
              </c:pt>
              <c:pt idx="111">
                <c:v>20.000193</c:v>
              </c:pt>
              <c:pt idx="112">
                <c:v>20.000174</c:v>
              </c:pt>
              <c:pt idx="113">
                <c:v>20.000156</c:v>
              </c:pt>
              <c:pt idx="114">
                <c:v>20.00014</c:v>
              </c:pt>
              <c:pt idx="115">
                <c:v>20.000126</c:v>
              </c:pt>
              <c:pt idx="116">
                <c:v>20.000113</c:v>
              </c:pt>
              <c:pt idx="117">
                <c:v>20.000101</c:v>
              </c:pt>
              <c:pt idx="118">
                <c:v>20.000091</c:v>
              </c:pt>
              <c:pt idx="119">
                <c:v>20.000082</c:v>
              </c:pt>
              <c:pt idx="120">
                <c:v>20.000073</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38.xml><?xml version="1.0" encoding="utf-8"?>
<c:chartSpace xmlns:c="http://schemas.openxmlformats.org/drawingml/2006/chart">
  <c:lang val="en-US"/>
  <c:chart>
    <c:plotArea>
      <c:scatterChart>
        <c:ser>
          <c:idx val="0"/>
          <c:order val="0"/>
          <c:tx>
            <c:v>T</c:v>
          </c:tx>
          <c:spPr>
            <a:ln xmlns:a="http://schemas.openxmlformats.org/drawingml/2006/main" w="28575">
              <a:solidFill>
                <a:srgbClr val="2162A0"/>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18.365267</c:v>
              </c:pt>
              <c:pt idx="2">
                <c:v>18.65749</c:v>
              </c:pt>
              <c:pt idx="3">
                <c:v>18.938601</c:v>
              </c:pt>
              <c:pt idx="4">
                <c:v>19.19817</c:v>
              </c:pt>
              <c:pt idx="5">
                <c:v>19.439542</c:v>
              </c:pt>
              <c:pt idx="6">
                <c:v>19.663073</c:v>
              </c:pt>
              <c:pt idx="7">
                <c:v>19.869711</c:v>
              </c:pt>
              <c:pt idx="8">
                <c:v>20.060332</c:v>
              </c:pt>
              <c:pt idx="9">
                <c:v>20.235833</c:v>
              </c:pt>
              <c:pt idx="10">
                <c:v>20.397112</c:v>
              </c:pt>
              <c:pt idx="11">
                <c:v>20.545058</c:v>
              </c:pt>
              <c:pt idx="12">
                <c:v>20.680544</c:v>
              </c:pt>
              <c:pt idx="13">
                <c:v>20.804424</c:v>
              </c:pt>
              <c:pt idx="14">
                <c:v>20.917523</c:v>
              </c:pt>
              <c:pt idx="15">
                <c:v>21.020635</c:v>
              </c:pt>
              <c:pt idx="16">
                <c:v>21.114521</c:v>
              </c:pt>
              <c:pt idx="17">
                <c:v>21.199903</c:v>
              </c:pt>
              <c:pt idx="18">
                <c:v>21.277464</c:v>
              </c:pt>
              <c:pt idx="19">
                <c:v>21.347847</c:v>
              </c:pt>
              <c:pt idx="20">
                <c:v>21.411657</c:v>
              </c:pt>
              <c:pt idx="21">
                <c:v>21.469456</c:v>
              </c:pt>
              <c:pt idx="22">
                <c:v>21.521768</c:v>
              </c:pt>
              <c:pt idx="23">
                <c:v>21.56908</c:v>
              </c:pt>
              <c:pt idx="24">
                <c:v>21.61184</c:v>
              </c:pt>
              <c:pt idx="25">
                <c:v>21.650463</c:v>
              </c:pt>
              <c:pt idx="26">
                <c:v>21.685329</c:v>
              </c:pt>
              <c:pt idx="27">
                <c:v>21.716787</c:v>
              </c:pt>
              <c:pt idx="28">
                <c:v>21.745159</c:v>
              </c:pt>
              <c:pt idx="29">
                <c:v>21.770734</c:v>
              </c:pt>
              <c:pt idx="30">
                <c:v>21.793782</c:v>
              </c:pt>
              <c:pt idx="31">
                <c:v>21.814543</c:v>
              </c:pt>
              <c:pt idx="32">
                <c:v>21.833239</c:v>
              </c:pt>
              <c:pt idx="33">
                <c:v>21.850071</c:v>
              </c:pt>
              <c:pt idx="34">
                <c:v>21.865221</c:v>
              </c:pt>
              <c:pt idx="35">
                <c:v>21.878853</c:v>
              </c:pt>
              <c:pt idx="36">
                <c:v>21.891118</c:v>
              </c:pt>
              <c:pt idx="37">
                <c:v>21.902149</c:v>
              </c:pt>
              <c:pt idx="38">
                <c:v>21.91207</c:v>
              </c:pt>
              <c:pt idx="39">
                <c:v>21.920991</c:v>
              </c:pt>
              <c:pt idx="40">
                <c:v>21.929012</c:v>
              </c:pt>
              <c:pt idx="41">
                <c:v>21.875206</c:v>
              </c:pt>
              <c:pt idx="42">
                <c:v>21.83403</c:v>
              </c:pt>
              <c:pt idx="43">
                <c:v>21.793184</c:v>
              </c:pt>
              <c:pt idx="44">
                <c:v>21.756663</c:v>
              </c:pt>
              <c:pt idx="45">
                <c:v>21.722688</c:v>
              </c:pt>
              <c:pt idx="46">
                <c:v>21.691566</c:v>
              </c:pt>
              <c:pt idx="47">
                <c:v>21.662886</c:v>
              </c:pt>
              <c:pt idx="48">
                <c:v>21.636519</c:v>
              </c:pt>
              <c:pt idx="49">
                <c:v>21.612255</c:v>
              </c:pt>
              <c:pt idx="50">
                <c:v>21.589936</c:v>
              </c:pt>
              <c:pt idx="51">
                <c:v>21.569401</c:v>
              </c:pt>
              <c:pt idx="52">
                <c:v>21.55051</c:v>
              </c:pt>
              <c:pt idx="53">
                <c:v>21.533131</c:v>
              </c:pt>
              <c:pt idx="54">
                <c:v>21.517143</c:v>
              </c:pt>
              <c:pt idx="55">
                <c:v>21.502434</c:v>
              </c:pt>
              <c:pt idx="56">
                <c:v>21.488902</c:v>
              </c:pt>
              <c:pt idx="57">
                <c:v>21.476453</c:v>
              </c:pt>
              <c:pt idx="58">
                <c:v>21.465</c:v>
              </c:pt>
              <c:pt idx="59">
                <c:v>21.454464</c:v>
              </c:pt>
              <c:pt idx="60">
                <c:v>21.44477</c:v>
              </c:pt>
              <c:pt idx="61">
                <c:v>21.435853</c:v>
              </c:pt>
              <c:pt idx="62">
                <c:v>21.427649</c:v>
              </c:pt>
              <c:pt idx="63">
                <c:v>21.420101</c:v>
              </c:pt>
              <c:pt idx="64">
                <c:v>21.413158</c:v>
              </c:pt>
              <c:pt idx="65">
                <c:v>21.40677</c:v>
              </c:pt>
              <c:pt idx="66">
                <c:v>21.400894</c:v>
              </c:pt>
              <c:pt idx="67">
                <c:v>21.395487</c:v>
              </c:pt>
              <c:pt idx="68">
                <c:v>21.390513</c:v>
              </c:pt>
              <c:pt idx="69">
                <c:v>21.385938</c:v>
              </c:pt>
              <c:pt idx="70">
                <c:v>21.381728</c:v>
              </c:pt>
              <c:pt idx="71">
                <c:v>21.377855</c:v>
              </c:pt>
              <c:pt idx="72">
                <c:v>21.374293</c:v>
              </c:pt>
              <c:pt idx="73">
                <c:v>21.371015</c:v>
              </c:pt>
              <c:pt idx="74">
                <c:v>21.368</c:v>
              </c:pt>
              <c:pt idx="75">
                <c:v>21.365225</c:v>
              </c:pt>
              <c:pt idx="76">
                <c:v>21.362673</c:v>
              </c:pt>
              <c:pt idx="77">
                <c:v>21.360325</c:v>
              </c:pt>
              <c:pt idx="78">
                <c:v>21.358165</c:v>
              </c:pt>
              <c:pt idx="79">
                <c:v>21.356178</c:v>
              </c:pt>
              <c:pt idx="80">
                <c:v>21.35435</c:v>
              </c:pt>
              <c:pt idx="81">
                <c:v>21.352668</c:v>
              </c:pt>
              <c:pt idx="82">
                <c:v>21.351121</c:v>
              </c:pt>
              <c:pt idx="83">
                <c:v>21.349698</c:v>
              </c:pt>
              <c:pt idx="84">
                <c:v>21.348388</c:v>
              </c:pt>
              <c:pt idx="85">
                <c:v>21.347183</c:v>
              </c:pt>
              <c:pt idx="86">
                <c:v>21.346075</c:v>
              </c:pt>
              <c:pt idx="87">
                <c:v>21.345055</c:v>
              </c:pt>
              <c:pt idx="88">
                <c:v>21.344117</c:v>
              </c:pt>
              <c:pt idx="89">
                <c:v>21.343254</c:v>
              </c:pt>
              <c:pt idx="90">
                <c:v>21.342461</c:v>
              </c:pt>
              <c:pt idx="91">
                <c:v>21.34173</c:v>
              </c:pt>
              <c:pt idx="92">
                <c:v>21.341058</c:v>
              </c:pt>
              <c:pt idx="93">
                <c:v>21.34044</c:v>
              </c:pt>
              <c:pt idx="94">
                <c:v>21.339871</c:v>
              </c:pt>
              <c:pt idx="95">
                <c:v>21.339348</c:v>
              </c:pt>
              <c:pt idx="96">
                <c:v>21.338867</c:v>
              </c:pt>
              <c:pt idx="97">
                <c:v>21.338424</c:v>
              </c:pt>
              <c:pt idx="98">
                <c:v>21.338017</c:v>
              </c:pt>
              <c:pt idx="99">
                <c:v>21.337642</c:v>
              </c:pt>
              <c:pt idx="100">
                <c:v>21.337297</c:v>
              </c:pt>
              <c:pt idx="101">
                <c:v>21.33698</c:v>
              </c:pt>
              <c:pt idx="102">
                <c:v>21.336688</c:v>
              </c:pt>
              <c:pt idx="103">
                <c:v>21.33642</c:v>
              </c:pt>
              <c:pt idx="104">
                <c:v>21.336173</c:v>
              </c:pt>
              <c:pt idx="105">
                <c:v>21.335945</c:v>
              </c:pt>
              <c:pt idx="106">
                <c:v>21.335736</c:v>
              </c:pt>
              <c:pt idx="107">
                <c:v>21.335544</c:v>
              </c:pt>
              <c:pt idx="108">
                <c:v>21.335367</c:v>
              </c:pt>
              <c:pt idx="109">
                <c:v>21.335204</c:v>
              </c:pt>
              <c:pt idx="110">
                <c:v>21.335055</c:v>
              </c:pt>
              <c:pt idx="111">
                <c:v>21.334917</c:v>
              </c:pt>
              <c:pt idx="112">
                <c:v>21.33479</c:v>
              </c:pt>
              <c:pt idx="113">
                <c:v>21.334674</c:v>
              </c:pt>
              <c:pt idx="114">
                <c:v>21.334566</c:v>
              </c:pt>
              <c:pt idx="115">
                <c:v>21.334468</c:v>
              </c:pt>
              <c:pt idx="116">
                <c:v>21.334377</c:v>
              </c:pt>
              <c:pt idx="117">
                <c:v>21.334293</c:v>
              </c:pt>
              <c:pt idx="118">
                <c:v>21.334217</c:v>
              </c:pt>
              <c:pt idx="119">
                <c:v>21.334146</c:v>
              </c:pt>
              <c:pt idx="120">
                <c:v>21.334081</c:v>
              </c:pt>
            </c:numLit>
          </c:yVal>
        </c:ser>
        <c:ser>
          <c:idx val="1"/>
          <c:order val="1"/>
          <c:tx>
            <c:v>r</c:v>
          </c:tx>
          <c:spPr>
            <a:ln xmlns:a="http://schemas.openxmlformats.org/drawingml/2006/main" w="28575">
              <a:solidFill>
                <a:srgbClr val="D96B18"/>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22</c:v>
              </c:pt>
              <c:pt idx="1">
                <c:v>22</c:v>
              </c:pt>
              <c:pt idx="2">
                <c:v>22</c:v>
              </c:pt>
              <c:pt idx="3">
                <c:v>22</c:v>
              </c:pt>
              <c:pt idx="4">
                <c:v>22</c:v>
              </c:pt>
              <c:pt idx="5">
                <c:v>22</c:v>
              </c:pt>
              <c:pt idx="6">
                <c:v>22</c:v>
              </c:pt>
              <c:pt idx="7">
                <c:v>22</c:v>
              </c:pt>
              <c:pt idx="8">
                <c:v>22</c:v>
              </c:pt>
              <c:pt idx="9">
                <c:v>22</c:v>
              </c:pt>
              <c:pt idx="10">
                <c:v>22</c:v>
              </c:pt>
              <c:pt idx="11">
                <c:v>22</c:v>
              </c:pt>
              <c:pt idx="12">
                <c:v>22</c:v>
              </c:pt>
              <c:pt idx="13">
                <c:v>22</c:v>
              </c:pt>
              <c:pt idx="14">
                <c:v>22</c:v>
              </c:pt>
              <c:pt idx="15">
                <c:v>22</c:v>
              </c:pt>
              <c:pt idx="16">
                <c:v>22</c:v>
              </c:pt>
              <c:pt idx="17">
                <c:v>22</c:v>
              </c:pt>
              <c:pt idx="18">
                <c:v>22</c:v>
              </c:pt>
              <c:pt idx="19">
                <c:v>22</c:v>
              </c:pt>
              <c:pt idx="20">
                <c:v>22</c:v>
              </c:pt>
              <c:pt idx="21">
                <c:v>22</c:v>
              </c:pt>
              <c:pt idx="22">
                <c:v>22</c:v>
              </c:pt>
              <c:pt idx="23">
                <c:v>22</c:v>
              </c:pt>
              <c:pt idx="24">
                <c:v>22</c:v>
              </c:pt>
              <c:pt idx="25">
                <c:v>22</c:v>
              </c:pt>
              <c:pt idx="26">
                <c:v>22</c:v>
              </c:pt>
              <c:pt idx="27">
                <c:v>22</c:v>
              </c:pt>
              <c:pt idx="28">
                <c:v>22</c:v>
              </c:pt>
              <c:pt idx="29">
                <c:v>22</c:v>
              </c:pt>
              <c:pt idx="30">
                <c:v>22</c:v>
              </c:pt>
              <c:pt idx="31">
                <c:v>22</c:v>
              </c:pt>
              <c:pt idx="32">
                <c:v>22</c:v>
              </c:pt>
              <c:pt idx="33">
                <c:v>22</c:v>
              </c:pt>
              <c:pt idx="34">
                <c:v>22</c:v>
              </c:pt>
              <c:pt idx="35">
                <c:v>22</c:v>
              </c:pt>
              <c:pt idx="36">
                <c:v>22</c:v>
              </c:pt>
              <c:pt idx="37">
                <c:v>22</c:v>
              </c:pt>
              <c:pt idx="38">
                <c:v>22</c:v>
              </c:pt>
              <c:pt idx="39">
                <c:v>22</c:v>
              </c:pt>
              <c:pt idx="40">
                <c:v>22</c:v>
              </c:pt>
              <c:pt idx="41">
                <c:v>22</c:v>
              </c:pt>
              <c:pt idx="42">
                <c:v>22</c:v>
              </c:pt>
              <c:pt idx="43">
                <c:v>22</c:v>
              </c:pt>
              <c:pt idx="44">
                <c:v>22</c:v>
              </c:pt>
              <c:pt idx="45">
                <c:v>22</c:v>
              </c:pt>
              <c:pt idx="46">
                <c:v>22</c:v>
              </c:pt>
              <c:pt idx="47">
                <c:v>22</c:v>
              </c:pt>
              <c:pt idx="48">
                <c:v>22</c:v>
              </c:pt>
              <c:pt idx="49">
                <c:v>22</c:v>
              </c:pt>
              <c:pt idx="50">
                <c:v>22</c:v>
              </c:pt>
              <c:pt idx="51">
                <c:v>22</c:v>
              </c:pt>
              <c:pt idx="52">
                <c:v>22</c:v>
              </c:pt>
              <c:pt idx="53">
                <c:v>22</c:v>
              </c:pt>
              <c:pt idx="54">
                <c:v>22</c:v>
              </c:pt>
              <c:pt idx="55">
                <c:v>22</c:v>
              </c:pt>
              <c:pt idx="56">
                <c:v>22</c:v>
              </c:pt>
              <c:pt idx="57">
                <c:v>22</c:v>
              </c:pt>
              <c:pt idx="58">
                <c:v>22</c:v>
              </c:pt>
              <c:pt idx="59">
                <c:v>22</c:v>
              </c:pt>
              <c:pt idx="60">
                <c:v>22</c:v>
              </c:pt>
              <c:pt idx="61">
                <c:v>22</c:v>
              </c:pt>
              <c:pt idx="62">
                <c:v>22</c:v>
              </c:pt>
              <c:pt idx="63">
                <c:v>22</c:v>
              </c:pt>
              <c:pt idx="64">
                <c:v>22</c:v>
              </c:pt>
              <c:pt idx="65">
                <c:v>22</c:v>
              </c:pt>
              <c:pt idx="66">
                <c:v>22</c:v>
              </c:pt>
              <c:pt idx="67">
                <c:v>22</c:v>
              </c:pt>
              <c:pt idx="68">
                <c:v>22</c:v>
              </c:pt>
              <c:pt idx="69">
                <c:v>22</c:v>
              </c:pt>
              <c:pt idx="70">
                <c:v>22</c:v>
              </c:pt>
              <c:pt idx="71">
                <c:v>22</c:v>
              </c:pt>
              <c:pt idx="72">
                <c:v>22</c:v>
              </c:pt>
              <c:pt idx="73">
                <c:v>22</c:v>
              </c:pt>
              <c:pt idx="74">
                <c:v>22</c:v>
              </c:pt>
              <c:pt idx="75">
                <c:v>22</c:v>
              </c:pt>
              <c:pt idx="76">
                <c:v>22</c:v>
              </c:pt>
              <c:pt idx="77">
                <c:v>22</c:v>
              </c:pt>
              <c:pt idx="78">
                <c:v>22</c:v>
              </c:pt>
              <c:pt idx="79">
                <c:v>22</c:v>
              </c:pt>
              <c:pt idx="80">
                <c:v>22</c:v>
              </c:pt>
              <c:pt idx="81">
                <c:v>22</c:v>
              </c:pt>
              <c:pt idx="82">
                <c:v>22</c:v>
              </c:pt>
              <c:pt idx="83">
                <c:v>22</c:v>
              </c:pt>
              <c:pt idx="84">
                <c:v>22</c:v>
              </c:pt>
              <c:pt idx="85">
                <c:v>22</c:v>
              </c:pt>
              <c:pt idx="86">
                <c:v>22</c:v>
              </c:pt>
              <c:pt idx="87">
                <c:v>22</c:v>
              </c:pt>
              <c:pt idx="88">
                <c:v>22</c:v>
              </c:pt>
              <c:pt idx="89">
                <c:v>22</c:v>
              </c:pt>
              <c:pt idx="90">
                <c:v>22</c:v>
              </c:pt>
              <c:pt idx="91">
                <c:v>22</c:v>
              </c:pt>
              <c:pt idx="92">
                <c:v>22</c:v>
              </c:pt>
              <c:pt idx="93">
                <c:v>22</c:v>
              </c:pt>
              <c:pt idx="94">
                <c:v>22</c:v>
              </c:pt>
              <c:pt idx="95">
                <c:v>22</c:v>
              </c:pt>
              <c:pt idx="96">
                <c:v>22</c:v>
              </c:pt>
              <c:pt idx="97">
                <c:v>22</c:v>
              </c:pt>
              <c:pt idx="98">
                <c:v>22</c:v>
              </c:pt>
              <c:pt idx="99">
                <c:v>22</c:v>
              </c:pt>
              <c:pt idx="100">
                <c:v>22</c:v>
              </c:pt>
              <c:pt idx="101">
                <c:v>22</c:v>
              </c:pt>
              <c:pt idx="102">
                <c:v>22</c:v>
              </c:pt>
              <c:pt idx="103">
                <c:v>22</c:v>
              </c:pt>
              <c:pt idx="104">
                <c:v>22</c:v>
              </c:pt>
              <c:pt idx="105">
                <c:v>22</c:v>
              </c:pt>
              <c:pt idx="106">
                <c:v>22</c:v>
              </c:pt>
              <c:pt idx="107">
                <c:v>22</c:v>
              </c:pt>
              <c:pt idx="108">
                <c:v>22</c:v>
              </c:pt>
              <c:pt idx="109">
                <c:v>22</c:v>
              </c:pt>
              <c:pt idx="110">
                <c:v>22</c:v>
              </c:pt>
              <c:pt idx="111">
                <c:v>22</c:v>
              </c:pt>
              <c:pt idx="112">
                <c:v>22</c:v>
              </c:pt>
              <c:pt idx="113">
                <c:v>22</c:v>
              </c:pt>
              <c:pt idx="114">
                <c:v>22</c:v>
              </c:pt>
              <c:pt idx="115">
                <c:v>22</c:v>
              </c:pt>
              <c:pt idx="116">
                <c:v>22</c:v>
              </c:pt>
              <c:pt idx="117">
                <c:v>22</c:v>
              </c:pt>
              <c:pt idx="118">
                <c:v>22</c:v>
              </c:pt>
              <c:pt idx="119">
                <c:v>22</c:v>
              </c:pt>
              <c:pt idx="120">
                <c:v>22</c:v>
              </c:pt>
            </c:numLit>
          </c:yVal>
        </c:ser>
        <c:ser>
          <c:idx val="2"/>
          <c:order val="2"/>
          <c:tx>
            <c:v>Ta</c:v>
          </c:tx>
          <c:spPr>
            <a:ln xmlns:a="http://schemas.openxmlformats.org/drawingml/2006/main" w="28575">
              <a:solidFill>
                <a:srgbClr val="60863D"/>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c:v>
              </c:pt>
              <c:pt idx="2">
                <c:v>18</c:v>
              </c:pt>
              <c:pt idx="3">
                <c:v>18</c:v>
              </c:pt>
              <c:pt idx="4">
                <c:v>18</c:v>
              </c:pt>
              <c:pt idx="5">
                <c:v>18</c:v>
              </c:pt>
              <c:pt idx="6">
                <c:v>18</c:v>
              </c:pt>
              <c:pt idx="7">
                <c:v>18</c:v>
              </c:pt>
              <c:pt idx="8">
                <c:v>18</c:v>
              </c:pt>
              <c:pt idx="9">
                <c:v>18</c:v>
              </c:pt>
              <c:pt idx="10">
                <c:v>18</c:v>
              </c:pt>
              <c:pt idx="11">
                <c:v>18</c:v>
              </c:pt>
              <c:pt idx="12">
                <c:v>18</c:v>
              </c:pt>
              <c:pt idx="13">
                <c:v>18</c:v>
              </c:pt>
              <c:pt idx="14">
                <c:v>18</c:v>
              </c:pt>
              <c:pt idx="15">
                <c:v>18</c:v>
              </c:pt>
              <c:pt idx="16">
                <c:v>18</c:v>
              </c:pt>
              <c:pt idx="17">
                <c:v>18</c:v>
              </c:pt>
              <c:pt idx="18">
                <c:v>18</c:v>
              </c:pt>
              <c:pt idx="19">
                <c:v>18</c:v>
              </c:pt>
              <c:pt idx="20">
                <c:v>18</c:v>
              </c:pt>
              <c:pt idx="21">
                <c:v>18</c:v>
              </c:pt>
              <c:pt idx="22">
                <c:v>18</c:v>
              </c:pt>
              <c:pt idx="23">
                <c:v>18</c:v>
              </c:pt>
              <c:pt idx="24">
                <c:v>18</c:v>
              </c:pt>
              <c:pt idx="25">
                <c:v>18</c:v>
              </c:pt>
              <c:pt idx="26">
                <c:v>18</c:v>
              </c:pt>
              <c:pt idx="27">
                <c:v>18</c:v>
              </c:pt>
              <c:pt idx="28">
                <c:v>18</c:v>
              </c:pt>
              <c:pt idx="29">
                <c:v>18</c:v>
              </c:pt>
              <c:pt idx="30">
                <c:v>18</c:v>
              </c:pt>
              <c:pt idx="31">
                <c:v>18</c:v>
              </c:pt>
              <c:pt idx="32">
                <c:v>18</c:v>
              </c:pt>
              <c:pt idx="33">
                <c:v>18</c:v>
              </c:pt>
              <c:pt idx="34">
                <c:v>18</c:v>
              </c:pt>
              <c:pt idx="35">
                <c:v>18</c:v>
              </c:pt>
              <c:pt idx="36">
                <c:v>18</c:v>
              </c:pt>
              <c:pt idx="37">
                <c:v>18</c:v>
              </c:pt>
              <c:pt idx="38">
                <c:v>18</c:v>
              </c:pt>
              <c:pt idx="39">
                <c:v>18</c:v>
              </c:pt>
              <c:pt idx="40">
                <c:v>16</c:v>
              </c:pt>
              <c:pt idx="41">
                <c:v>16</c:v>
              </c:pt>
              <c:pt idx="42">
                <c:v>16</c:v>
              </c:pt>
              <c:pt idx="43">
                <c:v>16</c:v>
              </c:pt>
              <c:pt idx="44">
                <c:v>16</c:v>
              </c:pt>
              <c:pt idx="45">
                <c:v>16</c:v>
              </c:pt>
              <c:pt idx="46">
                <c:v>16</c:v>
              </c:pt>
              <c:pt idx="47">
                <c:v>16</c:v>
              </c:pt>
              <c:pt idx="48">
                <c:v>16</c:v>
              </c:pt>
              <c:pt idx="49">
                <c:v>16</c:v>
              </c:pt>
              <c:pt idx="50">
                <c:v>16</c:v>
              </c:pt>
              <c:pt idx="51">
                <c:v>16</c:v>
              </c:pt>
              <c:pt idx="52">
                <c:v>16</c:v>
              </c:pt>
              <c:pt idx="53">
                <c:v>16</c:v>
              </c:pt>
              <c:pt idx="54">
                <c:v>16</c:v>
              </c:pt>
              <c:pt idx="55">
                <c:v>16</c:v>
              </c:pt>
              <c:pt idx="56">
                <c:v>16</c:v>
              </c:pt>
              <c:pt idx="57">
                <c:v>16</c:v>
              </c:pt>
              <c:pt idx="58">
                <c:v>16</c:v>
              </c:pt>
              <c:pt idx="59">
                <c:v>16</c:v>
              </c:pt>
              <c:pt idx="60">
                <c:v>16</c:v>
              </c:pt>
              <c:pt idx="61">
                <c:v>16</c:v>
              </c:pt>
              <c:pt idx="62">
                <c:v>16</c:v>
              </c:pt>
              <c:pt idx="63">
                <c:v>16</c:v>
              </c:pt>
              <c:pt idx="64">
                <c:v>16</c:v>
              </c:pt>
              <c:pt idx="65">
                <c:v>16</c:v>
              </c:pt>
              <c:pt idx="66">
                <c:v>16</c:v>
              </c:pt>
              <c:pt idx="67">
                <c:v>16</c:v>
              </c:pt>
              <c:pt idx="68">
                <c:v>16</c:v>
              </c:pt>
              <c:pt idx="69">
                <c:v>16</c:v>
              </c:pt>
              <c:pt idx="70">
                <c:v>16</c:v>
              </c:pt>
              <c:pt idx="71">
                <c:v>16</c:v>
              </c:pt>
              <c:pt idx="72">
                <c:v>16</c:v>
              </c:pt>
              <c:pt idx="73">
                <c:v>16</c:v>
              </c:pt>
              <c:pt idx="74">
                <c:v>16</c:v>
              </c:pt>
              <c:pt idx="75">
                <c:v>16</c:v>
              </c:pt>
              <c:pt idx="76">
                <c:v>16</c:v>
              </c:pt>
              <c:pt idx="77">
                <c:v>16</c:v>
              </c:pt>
              <c:pt idx="78">
                <c:v>16</c:v>
              </c:pt>
              <c:pt idx="79">
                <c:v>16</c:v>
              </c:pt>
              <c:pt idx="80">
                <c:v>16</c:v>
              </c:pt>
              <c:pt idx="81">
                <c:v>16</c:v>
              </c:pt>
              <c:pt idx="82">
                <c:v>16</c:v>
              </c:pt>
              <c:pt idx="83">
                <c:v>16</c:v>
              </c:pt>
              <c:pt idx="84">
                <c:v>16</c:v>
              </c:pt>
              <c:pt idx="85">
                <c:v>16</c:v>
              </c:pt>
              <c:pt idx="86">
                <c:v>16</c:v>
              </c:pt>
              <c:pt idx="87">
                <c:v>16</c:v>
              </c:pt>
              <c:pt idx="88">
                <c:v>16</c:v>
              </c:pt>
              <c:pt idx="89">
                <c:v>16</c:v>
              </c:pt>
              <c:pt idx="90">
                <c:v>16</c:v>
              </c:pt>
              <c:pt idx="91">
                <c:v>16</c:v>
              </c:pt>
              <c:pt idx="92">
                <c:v>16</c:v>
              </c:pt>
              <c:pt idx="93">
                <c:v>16</c:v>
              </c:pt>
              <c:pt idx="94">
                <c:v>16</c:v>
              </c:pt>
              <c:pt idx="95">
                <c:v>16</c:v>
              </c:pt>
              <c:pt idx="96">
                <c:v>16</c:v>
              </c:pt>
              <c:pt idx="97">
                <c:v>16</c:v>
              </c:pt>
              <c:pt idx="98">
                <c:v>16</c:v>
              </c:pt>
              <c:pt idx="99">
                <c:v>16</c:v>
              </c:pt>
              <c:pt idx="100">
                <c:v>16</c:v>
              </c:pt>
              <c:pt idx="101">
                <c:v>16</c:v>
              </c:pt>
              <c:pt idx="102">
                <c:v>16</c:v>
              </c:pt>
              <c:pt idx="103">
                <c:v>16</c:v>
              </c:pt>
              <c:pt idx="104">
                <c:v>16</c:v>
              </c:pt>
              <c:pt idx="105">
                <c:v>16</c:v>
              </c:pt>
              <c:pt idx="106">
                <c:v>16</c:v>
              </c:pt>
              <c:pt idx="107">
                <c:v>16</c:v>
              </c:pt>
              <c:pt idx="108">
                <c:v>16</c:v>
              </c:pt>
              <c:pt idx="109">
                <c:v>16</c:v>
              </c:pt>
              <c:pt idx="110">
                <c:v>16</c:v>
              </c:pt>
              <c:pt idx="111">
                <c:v>16</c:v>
              </c:pt>
              <c:pt idx="112">
                <c:v>16</c:v>
              </c:pt>
              <c:pt idx="113">
                <c:v>16</c:v>
              </c:pt>
              <c:pt idx="114">
                <c:v>16</c:v>
              </c:pt>
              <c:pt idx="115">
                <c:v>16</c:v>
              </c:pt>
              <c:pt idx="116">
                <c:v>16</c:v>
              </c:pt>
              <c:pt idx="117">
                <c:v>16</c:v>
              </c:pt>
              <c:pt idx="118">
                <c:v>16</c:v>
              </c:pt>
              <c:pt idx="119">
                <c:v>16</c:v>
              </c:pt>
              <c:pt idx="120">
                <c:v>16</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3"/>
          <c:min val="15"/>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39.xml><?xml version="1.0" encoding="utf-8"?>
<c:chartSpace xmlns:c="http://schemas.openxmlformats.org/drawingml/2006/chart">
  <c:lang val="en-US"/>
  <c:chart>
    <c:plotArea>
      <c:scatterChart>
        <c:ser>
          <c:idx val="0"/>
          <c:order val="0"/>
          <c:tx>
            <c:v>Sin filtro</c:v>
          </c:tx>
          <c:spPr>
            <a:ln xmlns:a="http://schemas.openxmlformats.org/drawingml/2006/main" w="28575">
              <a:solidFill>
                <a:srgbClr val="2162A0"/>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18.475048</c:v>
              </c:pt>
              <c:pt idx="2">
                <c:v>18.774466</c:v>
              </c:pt>
              <c:pt idx="3">
                <c:v>19.062137</c:v>
              </c:pt>
              <c:pt idx="4">
                <c:v>19.391891</c:v>
              </c:pt>
              <c:pt idx="5">
                <c:v>19.632535</c:v>
              </c:pt>
              <c:pt idx="6">
                <c:v>19.846195</c:v>
              </c:pt>
              <c:pt idx="7">
                <c:v>20.064673</c:v>
              </c:pt>
              <c:pt idx="8">
                <c:v>20.242817</c:v>
              </c:pt>
              <c:pt idx="9">
                <c:v>20.451089</c:v>
              </c:pt>
              <c:pt idx="10">
                <c:v>20.605734</c:v>
              </c:pt>
              <c:pt idx="11">
                <c:v>20.779487</c:v>
              </c:pt>
              <c:pt idx="12">
                <c:v>20.893544</c:v>
              </c:pt>
              <c:pt idx="13">
                <c:v>21.044109</c:v>
              </c:pt>
              <c:pt idx="14">
                <c:v>21.187696</c:v>
              </c:pt>
              <c:pt idx="15">
                <c:v>21.264522</c:v>
              </c:pt>
              <c:pt idx="16">
                <c:v>21.364945</c:v>
              </c:pt>
              <c:pt idx="17">
                <c:v>21.45941</c:v>
              </c:pt>
              <c:pt idx="18">
                <c:v>21.505841</c:v>
              </c:pt>
              <c:pt idx="19">
                <c:v>21.635707</c:v>
              </c:pt>
              <c:pt idx="20">
                <c:v>21.691677</c:v>
              </c:pt>
              <c:pt idx="21">
                <c:v>21.787718</c:v>
              </c:pt>
              <c:pt idx="22">
                <c:v>21.867721</c:v>
              </c:pt>
              <c:pt idx="23">
                <c:v>21.874637</c:v>
              </c:pt>
              <c:pt idx="24">
                <c:v>21.981551</c:v>
              </c:pt>
              <c:pt idx="25">
                <c:v>21.978102</c:v>
              </c:pt>
              <c:pt idx="26">
                <c:v>22.038497</c:v>
              </c:pt>
              <c:pt idx="27">
                <c:v>22.095952</c:v>
              </c:pt>
              <c:pt idx="28">
                <c:v>22.025768</c:v>
              </c:pt>
              <c:pt idx="29">
                <c:v>22.18099</c:v>
              </c:pt>
              <c:pt idx="30">
                <c:v>22.18086</c:v>
              </c:pt>
              <c:pt idx="31">
                <c:v>22.176015</c:v>
              </c:pt>
              <c:pt idx="32">
                <c:v>22.227275</c:v>
              </c:pt>
              <c:pt idx="33">
                <c:v>22.211056</c:v>
              </c:pt>
              <c:pt idx="34">
                <c:v>22.278831</c:v>
              </c:pt>
              <c:pt idx="35">
                <c:v>22.313078</c:v>
              </c:pt>
              <c:pt idx="36">
                <c:v>22.295714</c:v>
              </c:pt>
              <c:pt idx="37">
                <c:v>22.325083</c:v>
              </c:pt>
              <c:pt idx="38">
                <c:v>22.308186</c:v>
              </c:pt>
              <c:pt idx="39">
                <c:v>22.396879</c:v>
              </c:pt>
              <c:pt idx="40">
                <c:v>22.379086</c:v>
              </c:pt>
              <c:pt idx="41">
                <c:v>22.425956</c:v>
              </c:pt>
              <c:pt idx="42">
                <c:v>22.396274</c:v>
              </c:pt>
              <c:pt idx="43">
                <c:v>22.415206</c:v>
              </c:pt>
              <c:pt idx="44">
                <c:v>22.431783</c:v>
              </c:pt>
              <c:pt idx="45">
                <c:v>22.408011</c:v>
              </c:pt>
              <c:pt idx="46">
                <c:v>22.449881</c:v>
              </c:pt>
              <c:pt idx="47">
                <c:v>22.507861</c:v>
              </c:pt>
              <c:pt idx="48">
                <c:v>22.513862</c:v>
              </c:pt>
              <c:pt idx="49">
                <c:v>22.493428</c:v>
              </c:pt>
              <c:pt idx="50">
                <c:v>22.530964</c:v>
              </c:pt>
              <c:pt idx="51">
                <c:v>22.472003</c:v>
              </c:pt>
              <c:pt idx="52">
                <c:v>22.51867</c:v>
              </c:pt>
              <c:pt idx="53">
                <c:v>22.470398</c:v>
              </c:pt>
              <c:pt idx="54">
                <c:v>22.475111</c:v>
              </c:pt>
              <c:pt idx="55">
                <c:v>22.499511</c:v>
              </c:pt>
              <c:pt idx="56">
                <c:v>22.532423</c:v>
              </c:pt>
              <c:pt idx="57">
                <c:v>22.576884</c:v>
              </c:pt>
              <c:pt idx="58">
                <c:v>22.525943</c:v>
              </c:pt>
              <c:pt idx="59">
                <c:v>22.506966</c:v>
              </c:pt>
              <c:pt idx="60">
                <c:v>22.503672</c:v>
              </c:pt>
              <c:pt idx="61">
                <c:v>22.532694</c:v>
              </c:pt>
              <c:pt idx="62">
                <c:v>22.512474</c:v>
              </c:pt>
              <c:pt idx="63">
                <c:v>22.533164</c:v>
              </c:pt>
              <c:pt idx="64">
                <c:v>22.620309</c:v>
              </c:pt>
              <c:pt idx="65">
                <c:v>22.581171</c:v>
              </c:pt>
              <c:pt idx="66">
                <c:v>22.640717</c:v>
              </c:pt>
              <c:pt idx="67">
                <c:v>22.62309</c:v>
              </c:pt>
              <c:pt idx="68">
                <c:v>22.624568</c:v>
              </c:pt>
              <c:pt idx="69">
                <c:v>22.618379</c:v>
              </c:pt>
              <c:pt idx="70">
                <c:v>22.63421</c:v>
              </c:pt>
              <c:pt idx="71">
                <c:v>22.67794</c:v>
              </c:pt>
              <c:pt idx="72">
                <c:v>22.662177</c:v>
              </c:pt>
              <c:pt idx="73">
                <c:v>22.64894</c:v>
              </c:pt>
              <c:pt idx="74">
                <c:v>22.616827</c:v>
              </c:pt>
              <c:pt idx="75">
                <c:v>22.632092</c:v>
              </c:pt>
              <c:pt idx="76">
                <c:v>22.672354</c:v>
              </c:pt>
              <c:pt idx="77">
                <c:v>22.664293</c:v>
              </c:pt>
              <c:pt idx="78">
                <c:v>22.65716</c:v>
              </c:pt>
              <c:pt idx="79">
                <c:v>22.605509</c:v>
              </c:pt>
              <c:pt idx="80">
                <c:v>22.636511</c:v>
              </c:pt>
              <c:pt idx="81">
                <c:v>22.582484</c:v>
              </c:pt>
              <c:pt idx="82">
                <c:v>22.602281</c:v>
              </c:pt>
              <c:pt idx="83">
                <c:v>22.612029</c:v>
              </c:pt>
              <c:pt idx="84">
                <c:v>22.554031</c:v>
              </c:pt>
              <c:pt idx="85">
                <c:v>22.588184</c:v>
              </c:pt>
              <c:pt idx="86">
                <c:v>22.553196</c:v>
              </c:pt>
              <c:pt idx="87">
                <c:v>22.588705</c:v>
              </c:pt>
              <c:pt idx="88">
                <c:v>22.59918</c:v>
              </c:pt>
              <c:pt idx="89">
                <c:v>22.635494</c:v>
              </c:pt>
              <c:pt idx="90">
                <c:v>22.641042</c:v>
              </c:pt>
              <c:pt idx="91">
                <c:v>22.636685</c:v>
              </c:pt>
              <c:pt idx="92">
                <c:v>22.638981</c:v>
              </c:pt>
              <c:pt idx="93">
                <c:v>22.628149</c:v>
              </c:pt>
              <c:pt idx="94">
                <c:v>22.639694</c:v>
              </c:pt>
              <c:pt idx="95">
                <c:v>22.589434</c:v>
              </c:pt>
              <c:pt idx="96">
                <c:v>22.556984</c:v>
              </c:pt>
              <c:pt idx="97">
                <c:v>22.637393</c:v>
              </c:pt>
              <c:pt idx="98">
                <c:v>22.614872</c:v>
              </c:pt>
              <c:pt idx="99">
                <c:v>22.644215</c:v>
              </c:pt>
              <c:pt idx="100">
                <c:v>22.636284</c:v>
              </c:pt>
              <c:pt idx="101">
                <c:v>22.6917</c:v>
              </c:pt>
              <c:pt idx="102">
                <c:v>22.618495</c:v>
              </c:pt>
              <c:pt idx="103">
                <c:v>22.606722</c:v>
              </c:pt>
              <c:pt idx="104">
                <c:v>22.608253</c:v>
              </c:pt>
              <c:pt idx="105">
                <c:v>22.612809</c:v>
              </c:pt>
              <c:pt idx="106">
                <c:v>22.62963</c:v>
              </c:pt>
              <c:pt idx="107">
                <c:v>22.69241</c:v>
              </c:pt>
              <c:pt idx="108">
                <c:v>22.674978</c:v>
              </c:pt>
              <c:pt idx="109">
                <c:v>22.664911</c:v>
              </c:pt>
              <c:pt idx="110">
                <c:v>22.664513</c:v>
              </c:pt>
              <c:pt idx="111">
                <c:v>22.66192</c:v>
              </c:pt>
              <c:pt idx="112">
                <c:v>22.628259</c:v>
              </c:pt>
              <c:pt idx="113">
                <c:v>22.572254</c:v>
              </c:pt>
              <c:pt idx="114">
                <c:v>22.599389</c:v>
              </c:pt>
              <c:pt idx="115">
                <c:v>22.578289</c:v>
              </c:pt>
              <c:pt idx="116">
                <c:v>22.613942</c:v>
              </c:pt>
              <c:pt idx="117">
                <c:v>22.599219</c:v>
              </c:pt>
              <c:pt idx="118">
                <c:v>22.557557</c:v>
              </c:pt>
              <c:pt idx="119">
                <c:v>22.577154</c:v>
              </c:pt>
              <c:pt idx="120">
                <c:v>22.606156</c:v>
              </c:pt>
            </c:numLit>
          </c:yVal>
        </c:ser>
        <c:ser>
          <c:idx val="1"/>
          <c:order val="1"/>
          <c:tx>
            <c:v>Con filtro</c:v>
          </c:tx>
          <c:spPr>
            <a:ln xmlns:a="http://schemas.openxmlformats.org/drawingml/2006/main" w="28575">
              <a:solidFill>
                <a:srgbClr val="D96B18"/>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18.539704</c:v>
              </c:pt>
              <c:pt idx="2">
                <c:v>18.917553</c:v>
              </c:pt>
              <c:pt idx="3">
                <c:v>19.183715</c:v>
              </c:pt>
              <c:pt idx="4">
                <c:v>19.418336</c:v>
              </c:pt>
              <c:pt idx="5">
                <c:v>19.633248</c:v>
              </c:pt>
              <c:pt idx="6">
                <c:v>19.830316</c:v>
              </c:pt>
              <c:pt idx="7">
                <c:v>20.012595</c:v>
              </c:pt>
              <c:pt idx="8">
                <c:v>20.185836</c:v>
              </c:pt>
              <c:pt idx="9">
                <c:v>20.342826</c:v>
              </c:pt>
              <c:pt idx="10">
                <c:v>20.484949</c:v>
              </c:pt>
              <c:pt idx="11">
                <c:v>20.622151</c:v>
              </c:pt>
              <c:pt idx="12">
                <c:v>20.746996</c:v>
              </c:pt>
              <c:pt idx="13">
                <c:v>20.860721</c:v>
              </c:pt>
              <c:pt idx="14">
                <c:v>20.960829</c:v>
              </c:pt>
              <c:pt idx="15">
                <c:v>21.061615</c:v>
              </c:pt>
              <c:pt idx="16">
                <c:v>21.145095</c:v>
              </c:pt>
              <c:pt idx="17">
                <c:v>21.225973</c:v>
              </c:pt>
              <c:pt idx="18">
                <c:v>21.297566</c:v>
              </c:pt>
              <c:pt idx="19">
                <c:v>21.36253</c:v>
              </c:pt>
              <c:pt idx="20">
                <c:v>21.431434</c:v>
              </c:pt>
              <c:pt idx="21">
                <c:v>21.481824</c:v>
              </c:pt>
              <c:pt idx="22">
                <c:v>21.531682</c:v>
              </c:pt>
              <c:pt idx="23">
                <c:v>21.577365</c:v>
              </c:pt>
              <c:pt idx="24">
                <c:v>21.614513</c:v>
              </c:pt>
              <c:pt idx="25">
                <c:v>21.647128</c:v>
              </c:pt>
              <c:pt idx="26">
                <c:v>21.679151</c:v>
              </c:pt>
              <c:pt idx="27">
                <c:v>21.716498</c:v>
              </c:pt>
              <c:pt idx="28">
                <c:v>21.739012</c:v>
              </c:pt>
              <c:pt idx="29">
                <c:v>21.763725</c:v>
              </c:pt>
              <c:pt idx="30">
                <c:v>21.789109</c:v>
              </c:pt>
              <c:pt idx="31">
                <c:v>21.814327</c:v>
              </c:pt>
              <c:pt idx="32">
                <c:v>21.828225</c:v>
              </c:pt>
              <c:pt idx="33">
                <c:v>21.845051</c:v>
              </c:pt>
              <c:pt idx="34">
                <c:v>21.857906</c:v>
              </c:pt>
              <c:pt idx="35">
                <c:v>21.875747</c:v>
              </c:pt>
              <c:pt idx="36">
                <c:v>21.88593</c:v>
              </c:pt>
              <c:pt idx="37">
                <c:v>21.891648</c:v>
              </c:pt>
              <c:pt idx="38">
                <c:v>21.901636</c:v>
              </c:pt>
              <c:pt idx="39">
                <c:v>21.908757</c:v>
              </c:pt>
              <c:pt idx="40">
                <c:v>21.921415</c:v>
              </c:pt>
              <c:pt idx="41">
                <c:v>21.928</c:v>
              </c:pt>
              <c:pt idx="42">
                <c:v>21.944427</c:v>
              </c:pt>
              <c:pt idx="43">
                <c:v>21.951836</c:v>
              </c:pt>
              <c:pt idx="44">
                <c:v>21.950635</c:v>
              </c:pt>
              <c:pt idx="45">
                <c:v>21.956024</c:v>
              </c:pt>
              <c:pt idx="46">
                <c:v>21.953775</c:v>
              </c:pt>
              <c:pt idx="47">
                <c:v>21.962783</c:v>
              </c:pt>
              <c:pt idx="48">
                <c:v>21.977902</c:v>
              </c:pt>
              <c:pt idx="49">
                <c:v>21.986506</c:v>
              </c:pt>
              <c:pt idx="50">
                <c:v>21.981508</c:v>
              </c:pt>
              <c:pt idx="51">
                <c:v>21.978561</c:v>
              </c:pt>
              <c:pt idx="52">
                <c:v>21.9814</c:v>
              </c:pt>
              <c:pt idx="53">
                <c:v>21.98736</c:v>
              </c:pt>
              <c:pt idx="54">
                <c:v>21.984859</c:v>
              </c:pt>
              <c:pt idx="55">
                <c:v>21.983249</c:v>
              </c:pt>
              <c:pt idx="56">
                <c:v>21.984203</c:v>
              </c:pt>
              <c:pt idx="57">
                <c:v>21.989473</c:v>
              </c:pt>
              <c:pt idx="58">
                <c:v>21.994163</c:v>
              </c:pt>
              <c:pt idx="59">
                <c:v>21.997871</c:v>
              </c:pt>
              <c:pt idx="60">
                <c:v>22.001644</c:v>
              </c:pt>
              <c:pt idx="61">
                <c:v>21.999456</c:v>
              </c:pt>
              <c:pt idx="62">
                <c:v>21.997398</c:v>
              </c:pt>
              <c:pt idx="63">
                <c:v>21.988888</c:v>
              </c:pt>
              <c:pt idx="64">
                <c:v>21.994034</c:v>
              </c:pt>
              <c:pt idx="65">
                <c:v>21.993565</c:v>
              </c:pt>
              <c:pt idx="66">
                <c:v>22.000986</c:v>
              </c:pt>
              <c:pt idx="67">
                <c:v>22.003889</c:v>
              </c:pt>
              <c:pt idx="68">
                <c:v>22.007294</c:v>
              </c:pt>
              <c:pt idx="69">
                <c:v>22.006737</c:v>
              </c:pt>
              <c:pt idx="70">
                <c:v>22.009438</c:v>
              </c:pt>
              <c:pt idx="71">
                <c:v>22.004197</c:v>
              </c:pt>
              <c:pt idx="72">
                <c:v>22.003534</c:v>
              </c:pt>
              <c:pt idx="73">
                <c:v>22.005626</c:v>
              </c:pt>
              <c:pt idx="74">
                <c:v>22.006305</c:v>
              </c:pt>
              <c:pt idx="75">
                <c:v>22.000745</c:v>
              </c:pt>
              <c:pt idx="76">
                <c:v>22.000508</c:v>
              </c:pt>
              <c:pt idx="77">
                <c:v>22.011267</c:v>
              </c:pt>
              <c:pt idx="78">
                <c:v>22.016679</c:v>
              </c:pt>
              <c:pt idx="79">
                <c:v>22.020479</c:v>
              </c:pt>
              <c:pt idx="80">
                <c:v>22.013515</c:v>
              </c:pt>
              <c:pt idx="81">
                <c:v>22.010379</c:v>
              </c:pt>
              <c:pt idx="82">
                <c:v>22.01476</c:v>
              </c:pt>
              <c:pt idx="83">
                <c:v>22.027748</c:v>
              </c:pt>
              <c:pt idx="84">
                <c:v>22.017545</c:v>
              </c:pt>
              <c:pt idx="85">
                <c:v>22.019616</c:v>
              </c:pt>
              <c:pt idx="86">
                <c:v>22.017932</c:v>
              </c:pt>
              <c:pt idx="87">
                <c:v>22.019285</c:v>
              </c:pt>
              <c:pt idx="88">
                <c:v>22.022469</c:v>
              </c:pt>
              <c:pt idx="89">
                <c:v>22.016899</c:v>
              </c:pt>
              <c:pt idx="90">
                <c:v>22.013746</c:v>
              </c:pt>
              <c:pt idx="91">
                <c:v>22.006097</c:v>
              </c:pt>
              <c:pt idx="92">
                <c:v>22.006251</c:v>
              </c:pt>
              <c:pt idx="93">
                <c:v>22.023441</c:v>
              </c:pt>
              <c:pt idx="94">
                <c:v>22.023793</c:v>
              </c:pt>
              <c:pt idx="95">
                <c:v>22.01945</c:v>
              </c:pt>
              <c:pt idx="96">
                <c:v>22.015252</c:v>
              </c:pt>
              <c:pt idx="97">
                <c:v>22.008725</c:v>
              </c:pt>
              <c:pt idx="98">
                <c:v>22.013909</c:v>
              </c:pt>
              <c:pt idx="99">
                <c:v>22.012253</c:v>
              </c:pt>
              <c:pt idx="100">
                <c:v>22.024263</c:v>
              </c:pt>
              <c:pt idx="101">
                <c:v>22.028984</c:v>
              </c:pt>
              <c:pt idx="102">
                <c:v>22.025645</c:v>
              </c:pt>
              <c:pt idx="103">
                <c:v>22.022817</c:v>
              </c:pt>
              <c:pt idx="104">
                <c:v>22.015766</c:v>
              </c:pt>
              <c:pt idx="105">
                <c:v>22.013196</c:v>
              </c:pt>
              <c:pt idx="106">
                <c:v>22.008555</c:v>
              </c:pt>
              <c:pt idx="107">
                <c:v>22.015295</c:v>
              </c:pt>
              <c:pt idx="108">
                <c:v>22.022338</c:v>
              </c:pt>
              <c:pt idx="109">
                <c:v>22.028893</c:v>
              </c:pt>
              <c:pt idx="110">
                <c:v>22.023989</c:v>
              </c:pt>
              <c:pt idx="111">
                <c:v>22.014816</c:v>
              </c:pt>
              <c:pt idx="112">
                <c:v>22.022328</c:v>
              </c:pt>
              <c:pt idx="113">
                <c:v>22.023034</c:v>
              </c:pt>
              <c:pt idx="114">
                <c:v>22.018583</c:v>
              </c:pt>
              <c:pt idx="115">
                <c:v>22.020726</c:v>
              </c:pt>
              <c:pt idx="116">
                <c:v>22.017732</c:v>
              </c:pt>
              <c:pt idx="117">
                <c:v>22.026177</c:v>
              </c:pt>
              <c:pt idx="118">
                <c:v>22.020863</c:v>
              </c:pt>
              <c:pt idx="119">
                <c:v>22.019477</c:v>
              </c:pt>
              <c:pt idx="120">
                <c:v>22.02241</c:v>
              </c:pt>
            </c:numLit>
          </c:yVal>
        </c:ser>
        <c:ser>
          <c:idx val="2"/>
          <c:order val="2"/>
          <c:tx>
            <c:v>r</c:v>
          </c:tx>
          <c:spPr>
            <a:ln xmlns:a="http://schemas.openxmlformats.org/drawingml/2006/main" w="28575">
              <a:solidFill>
                <a:srgbClr val="60863D"/>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22</c:v>
              </c:pt>
              <c:pt idx="1">
                <c:v>22</c:v>
              </c:pt>
              <c:pt idx="2">
                <c:v>22</c:v>
              </c:pt>
              <c:pt idx="3">
                <c:v>22</c:v>
              </c:pt>
              <c:pt idx="4">
                <c:v>22</c:v>
              </c:pt>
              <c:pt idx="5">
                <c:v>22</c:v>
              </c:pt>
              <c:pt idx="6">
                <c:v>22</c:v>
              </c:pt>
              <c:pt idx="7">
                <c:v>22</c:v>
              </c:pt>
              <c:pt idx="8">
                <c:v>22</c:v>
              </c:pt>
              <c:pt idx="9">
                <c:v>22</c:v>
              </c:pt>
              <c:pt idx="10">
                <c:v>22</c:v>
              </c:pt>
              <c:pt idx="11">
                <c:v>22</c:v>
              </c:pt>
              <c:pt idx="12">
                <c:v>22</c:v>
              </c:pt>
              <c:pt idx="13">
                <c:v>22</c:v>
              </c:pt>
              <c:pt idx="14">
                <c:v>22</c:v>
              </c:pt>
              <c:pt idx="15">
                <c:v>22</c:v>
              </c:pt>
              <c:pt idx="16">
                <c:v>22</c:v>
              </c:pt>
              <c:pt idx="17">
                <c:v>22</c:v>
              </c:pt>
              <c:pt idx="18">
                <c:v>22</c:v>
              </c:pt>
              <c:pt idx="19">
                <c:v>22</c:v>
              </c:pt>
              <c:pt idx="20">
                <c:v>22</c:v>
              </c:pt>
              <c:pt idx="21">
                <c:v>22</c:v>
              </c:pt>
              <c:pt idx="22">
                <c:v>22</c:v>
              </c:pt>
              <c:pt idx="23">
                <c:v>22</c:v>
              </c:pt>
              <c:pt idx="24">
                <c:v>22</c:v>
              </c:pt>
              <c:pt idx="25">
                <c:v>22</c:v>
              </c:pt>
              <c:pt idx="26">
                <c:v>22</c:v>
              </c:pt>
              <c:pt idx="27">
                <c:v>22</c:v>
              </c:pt>
              <c:pt idx="28">
                <c:v>22</c:v>
              </c:pt>
              <c:pt idx="29">
                <c:v>22</c:v>
              </c:pt>
              <c:pt idx="30">
                <c:v>22</c:v>
              </c:pt>
              <c:pt idx="31">
                <c:v>22</c:v>
              </c:pt>
              <c:pt idx="32">
                <c:v>22</c:v>
              </c:pt>
              <c:pt idx="33">
                <c:v>22</c:v>
              </c:pt>
              <c:pt idx="34">
                <c:v>22</c:v>
              </c:pt>
              <c:pt idx="35">
                <c:v>22</c:v>
              </c:pt>
              <c:pt idx="36">
                <c:v>22</c:v>
              </c:pt>
              <c:pt idx="37">
                <c:v>22</c:v>
              </c:pt>
              <c:pt idx="38">
                <c:v>22</c:v>
              </c:pt>
              <c:pt idx="39">
                <c:v>22</c:v>
              </c:pt>
              <c:pt idx="40">
                <c:v>22</c:v>
              </c:pt>
              <c:pt idx="41">
                <c:v>22</c:v>
              </c:pt>
              <c:pt idx="42">
                <c:v>22</c:v>
              </c:pt>
              <c:pt idx="43">
                <c:v>22</c:v>
              </c:pt>
              <c:pt idx="44">
                <c:v>22</c:v>
              </c:pt>
              <c:pt idx="45">
                <c:v>22</c:v>
              </c:pt>
              <c:pt idx="46">
                <c:v>22</c:v>
              </c:pt>
              <c:pt idx="47">
                <c:v>22</c:v>
              </c:pt>
              <c:pt idx="48">
                <c:v>22</c:v>
              </c:pt>
              <c:pt idx="49">
                <c:v>22</c:v>
              </c:pt>
              <c:pt idx="50">
                <c:v>22</c:v>
              </c:pt>
              <c:pt idx="51">
                <c:v>22</c:v>
              </c:pt>
              <c:pt idx="52">
                <c:v>22</c:v>
              </c:pt>
              <c:pt idx="53">
                <c:v>22</c:v>
              </c:pt>
              <c:pt idx="54">
                <c:v>22</c:v>
              </c:pt>
              <c:pt idx="55">
                <c:v>22</c:v>
              </c:pt>
              <c:pt idx="56">
                <c:v>22</c:v>
              </c:pt>
              <c:pt idx="57">
                <c:v>22</c:v>
              </c:pt>
              <c:pt idx="58">
                <c:v>22</c:v>
              </c:pt>
              <c:pt idx="59">
                <c:v>22</c:v>
              </c:pt>
              <c:pt idx="60">
                <c:v>22</c:v>
              </c:pt>
              <c:pt idx="61">
                <c:v>22</c:v>
              </c:pt>
              <c:pt idx="62">
                <c:v>22</c:v>
              </c:pt>
              <c:pt idx="63">
                <c:v>22</c:v>
              </c:pt>
              <c:pt idx="64">
                <c:v>22</c:v>
              </c:pt>
              <c:pt idx="65">
                <c:v>22</c:v>
              </c:pt>
              <c:pt idx="66">
                <c:v>22</c:v>
              </c:pt>
              <c:pt idx="67">
                <c:v>22</c:v>
              </c:pt>
              <c:pt idx="68">
                <c:v>22</c:v>
              </c:pt>
              <c:pt idx="69">
                <c:v>22</c:v>
              </c:pt>
              <c:pt idx="70">
                <c:v>22</c:v>
              </c:pt>
              <c:pt idx="71">
                <c:v>22</c:v>
              </c:pt>
              <c:pt idx="72">
                <c:v>22</c:v>
              </c:pt>
              <c:pt idx="73">
                <c:v>22</c:v>
              </c:pt>
              <c:pt idx="74">
                <c:v>22</c:v>
              </c:pt>
              <c:pt idx="75">
                <c:v>22</c:v>
              </c:pt>
              <c:pt idx="76">
                <c:v>22</c:v>
              </c:pt>
              <c:pt idx="77">
                <c:v>22</c:v>
              </c:pt>
              <c:pt idx="78">
                <c:v>22</c:v>
              </c:pt>
              <c:pt idx="79">
                <c:v>22</c:v>
              </c:pt>
              <c:pt idx="80">
                <c:v>22</c:v>
              </c:pt>
              <c:pt idx="81">
                <c:v>22</c:v>
              </c:pt>
              <c:pt idx="82">
                <c:v>22</c:v>
              </c:pt>
              <c:pt idx="83">
                <c:v>22</c:v>
              </c:pt>
              <c:pt idx="84">
                <c:v>22</c:v>
              </c:pt>
              <c:pt idx="85">
                <c:v>22</c:v>
              </c:pt>
              <c:pt idx="86">
                <c:v>22</c:v>
              </c:pt>
              <c:pt idx="87">
                <c:v>22</c:v>
              </c:pt>
              <c:pt idx="88">
                <c:v>22</c:v>
              </c:pt>
              <c:pt idx="89">
                <c:v>22</c:v>
              </c:pt>
              <c:pt idx="90">
                <c:v>22</c:v>
              </c:pt>
              <c:pt idx="91">
                <c:v>22</c:v>
              </c:pt>
              <c:pt idx="92">
                <c:v>22</c:v>
              </c:pt>
              <c:pt idx="93">
                <c:v>22</c:v>
              </c:pt>
              <c:pt idx="94">
                <c:v>22</c:v>
              </c:pt>
              <c:pt idx="95">
                <c:v>22</c:v>
              </c:pt>
              <c:pt idx="96">
                <c:v>22</c:v>
              </c:pt>
              <c:pt idx="97">
                <c:v>22</c:v>
              </c:pt>
              <c:pt idx="98">
                <c:v>22</c:v>
              </c:pt>
              <c:pt idx="99">
                <c:v>22</c:v>
              </c:pt>
              <c:pt idx="100">
                <c:v>22</c:v>
              </c:pt>
              <c:pt idx="101">
                <c:v>22</c:v>
              </c:pt>
              <c:pt idx="102">
                <c:v>22</c:v>
              </c:pt>
              <c:pt idx="103">
                <c:v>22</c:v>
              </c:pt>
              <c:pt idx="104">
                <c:v>22</c:v>
              </c:pt>
              <c:pt idx="105">
                <c:v>22</c:v>
              </c:pt>
              <c:pt idx="106">
                <c:v>22</c:v>
              </c:pt>
              <c:pt idx="107">
                <c:v>22</c:v>
              </c:pt>
              <c:pt idx="108">
                <c:v>22</c:v>
              </c:pt>
              <c:pt idx="109">
                <c:v>22</c:v>
              </c:pt>
              <c:pt idx="110">
                <c:v>22</c:v>
              </c:pt>
              <c:pt idx="111">
                <c:v>22</c:v>
              </c:pt>
              <c:pt idx="112">
                <c:v>22</c:v>
              </c:pt>
              <c:pt idx="113">
                <c:v>22</c:v>
              </c:pt>
              <c:pt idx="114">
                <c:v>22</c:v>
              </c:pt>
              <c:pt idx="115">
                <c:v>22</c:v>
              </c:pt>
              <c:pt idx="116">
                <c:v>22</c:v>
              </c:pt>
              <c:pt idx="117">
                <c:v>22</c:v>
              </c:pt>
              <c:pt idx="118">
                <c:v>22</c:v>
              </c:pt>
              <c:pt idx="119">
                <c:v>22</c:v>
              </c:pt>
              <c:pt idx="120">
                <c:v>22</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3"/>
          <c:min val="18"/>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Temperatura real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925" b="0">
                <a:solidFill>
                  <a:srgbClr val="D96B18"/>
                </a:solidFill>
                <a:latin typeface="Arial"/>
                <a:ea typeface="Arial"/>
                <a:cs typeface="Arial"/>
              </a:defRPr>
            </a:pPr>
            <a:r>
              <a:rPr sz="2925" b="0">
                <a:solidFill>
                  <a:srgbClr val="D96B18"/>
                </a:solidFill>
                <a:latin typeface="Arial"/>
                <a:ea typeface="Arial"/>
                <a:cs typeface="Arial"/>
              </a:rPr>
              <a:t>Razonamiento con Incertidumbre (RAIN)</a:t>
            </a:r>
          </a:p>
        </p:txBody>
      </p:sp>
      <p:sp>
        <p:nvSpPr>
          <p:cNvPr id="9" name="">
            <a:extLst xmlns:a="http://schemas.openxmlformats.org/drawingml/2006/main">
              <a:ext uri="{FF2B5EF4-FFF2-40B4-BE49-F238E27FC236}">
                <a16:creationId xmlns:a16="http://schemas.microsoft.com/office/drawing/2014/main" id="{F47782F4-1D30-4800-91ED-F8B8F9B994B6}"/>
              </a:ext>
            </a:extLst>
          </p:cNvPr>
          <p:cNvSpPr>
            <a:spLocks xmlns:a="http://schemas.openxmlformats.org/drawingml/2006/main" noGrp="1"/>
          </p:cNvSpPr>
          <p:nvPr/>
        </p:nvSpPr>
        <p:spPr>
          <a:xfrm xmlns:a="http://schemas.openxmlformats.org/drawingml/2006/main">
            <a:off x="838200" y="25717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675" b="1">
                <a:solidFill>
                  <a:srgbClr val="233746"/>
                </a:solidFill>
                <a:latin typeface="Arial"/>
                <a:ea typeface="Arial"/>
                <a:cs typeface="Arial"/>
              </a:defRPr>
            </a:pPr>
            <a:r>
              <a:rPr sz="3675" b="1">
                <a:solidFill>
                  <a:srgbClr val="233746"/>
                </a:solidFill>
                <a:latin typeface="Arial"/>
                <a:ea typeface="Arial"/>
                <a:cs typeface="Arial"/>
              </a:rPr>
              <a:t>Sistemas de control Fuzzy</a:t>
            </a:r>
          </a:p>
        </p:txBody>
      </p:sp>
      <p:sp>
        <p:nvSpPr>
          <p:cNvPr id="10" name="">
            <a:extLst xmlns:a="http://schemas.openxmlformats.org/drawingml/2006/main">
              <a:ext uri="{FF2B5EF4-FFF2-40B4-BE49-F238E27FC236}">
                <a16:creationId xmlns:a16="http://schemas.microsoft.com/office/drawing/2014/main" id="{A381DDA9-9F3D-45BD-A014-4D7B635B2363}"/>
              </a:ext>
            </a:extLst>
          </p:cNvPr>
          <p:cNvSpPr>
            <a:spLocks xmlns:a="http://schemas.openxmlformats.org/drawingml/2006/main" noGrp="1"/>
          </p:cNvSpPr>
          <p:nvPr/>
        </p:nvSpPr>
        <p:spPr>
          <a:xfrm xmlns:a="http://schemas.openxmlformats.org/drawingml/2006/main">
            <a:off x="838200" y="35623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D96B18"/>
                </a:solidFill>
                <a:latin typeface="Arial"/>
                <a:ea typeface="Arial"/>
                <a:cs typeface="Arial"/>
              </a:defRPr>
            </a:pPr>
            <a:r>
              <a:rPr sz="2100" b="0">
                <a:solidFill>
                  <a:srgbClr val="D96B18"/>
                </a:solidFill>
                <a:latin typeface="Arial"/>
                <a:ea typeface="Arial"/>
                <a:cs typeface="Arial"/>
              </a:rPr>
              <a:t>Conceptos, inferencia, diseño y simulación</a:t>
            </a:r>
          </a:p>
        </p:txBody>
      </p:sp>
      <p:sp>
        <p:nvSpPr>
          <p:cNvPr id="11" name="">
            <a:extLst xmlns:a="http://schemas.openxmlformats.org/drawingml/2006/main">
              <a:ext uri="{FF2B5EF4-FFF2-40B4-BE49-F238E27FC236}">
                <a16:creationId xmlns:a16="http://schemas.microsoft.com/office/drawing/2014/main" id="{CD182264-99C3-43BC-BBA5-47F6269DA0AA}"/>
              </a:ext>
            </a:extLst>
          </p:cNvPr>
          <p:cNvSpPr>
            <a:spLocks xmlns:a="http://schemas.openxmlformats.org/drawingml/2006/main" noGrp="1"/>
          </p:cNvSpPr>
          <p:nvPr/>
        </p:nvSpPr>
        <p:spPr>
          <a:xfrm xmlns:a="http://schemas.openxmlformats.org/drawingml/2006/main">
            <a:off x="838200" y="44386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233746"/>
                </a:solidFill>
                <a:latin typeface="Arial"/>
                <a:ea typeface="Arial"/>
                <a:cs typeface="Arial"/>
              </a:defRPr>
            </a:pPr>
            <a:r>
              <a:rPr sz="2250" b="1">
                <a:solidFill>
                  <a:srgbClr val="233746"/>
                </a:solidFill>
                <a:latin typeface="Arial"/>
                <a:ea typeface="Arial"/>
                <a:cs typeface="Arial"/>
              </a:rPr>
              <a:t>Erik Figueiral Alonso</a:t>
            </a:r>
          </a:p>
        </p:txBody>
      </p:sp>
      <p:sp>
        <p:nvSpPr>
          <p:cNvPr id="12" name="">
            <a:extLst xmlns:a="http://schemas.openxmlformats.org/drawingml/2006/main">
              <a:ext uri="{FF2B5EF4-FFF2-40B4-BE49-F238E27FC236}">
                <a16:creationId xmlns:a16="http://schemas.microsoft.com/office/drawing/2014/main" id="{0A6AE5E6-CDC7-46BF-8C8A-DE3740A34118}"/>
              </a:ext>
            </a:extLst>
          </p:cNvPr>
          <p:cNvSpPr>
            <a:spLocks xmlns:a="http://schemas.openxmlformats.org/drawingml/2006/main" noGrp="1"/>
          </p:cNvSpPr>
          <p:nvPr/>
        </p:nvSpPr>
        <p:spPr>
          <a:xfrm xmlns:a="http://schemas.openxmlformats.org/drawingml/2006/main">
            <a:off x="838200" y="49053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162A0"/>
                </a:solidFill>
                <a:latin typeface="Arial"/>
                <a:ea typeface="Arial"/>
                <a:cs typeface="Arial"/>
              </a:defRPr>
            </a:pPr>
            <a:r>
              <a:rPr sz="1875" b="0">
                <a:solidFill>
                  <a:srgbClr val="2162A0"/>
                </a:solidFill>
                <a:latin typeface="Arial"/>
                <a:ea typeface="Arial"/>
                <a:cs typeface="Arial"/>
              </a:rPr>
              <a:t>erik.figueiral.alonso@uvigo.gal</a:t>
            </a:r>
          </a:p>
        </p:txBody>
      </p:sp>
      <p:sp>
        <p:nvSpPr>
          <p:cNvPr id="13" name="">
            <a:extLst xmlns:a="http://schemas.openxmlformats.org/drawingml/2006/main">
              <a:ext uri="{FF2B5EF4-FFF2-40B4-BE49-F238E27FC236}">
                <a16:creationId xmlns:a16="http://schemas.microsoft.com/office/drawing/2014/main" id="{52981A01-C798-4F2C-9EE0-D9D23C737415}"/>
              </a:ext>
            </a:extLst>
          </p:cNvPr>
          <p:cNvSpPr>
            <a:spLocks xmlns:a="http://schemas.openxmlformats.org/drawingml/2006/main" noGrp="1"/>
          </p:cNvSpPr>
          <p:nvPr/>
        </p:nvSpPr>
        <p:spPr>
          <a:xfrm xmlns:a="http://schemas.openxmlformats.org/drawingml/2006/main">
            <a:off x="838200" y="58007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233746"/>
                </a:solidFill>
                <a:latin typeface="Arial"/>
                <a:ea typeface="Arial"/>
                <a:cs typeface="Arial"/>
              </a:defRPr>
            </a:pPr>
            <a:r>
              <a:rPr sz="1425" b="0">
                <a:solidFill>
                  <a:srgbClr val="233746"/>
                </a:solidFill>
                <a:latin typeface="Arial"/>
                <a:ea typeface="Arial"/>
                <a:cs typeface="Arial"/>
              </a:rPr>
              <a:t>Referencia: Timothy J. Ross · 3.ª edición</a:t>
            </a:r>
          </a:p>
        </p:txBody>
      </p:sp>
    </p:spTree>
    <p:extLst>
      <p:ext uri="{BB962C8B-B14F-4D97-AF65-F5344CB8AC3E}">
        <p14:creationId xmlns:p14="http://schemas.microsoft.com/office/powerpoint/2010/main" val="172189652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Guion: de los conceptos al sistema de control</a:t>
            </a:r>
          </a:p>
        </p:txBody>
      </p:sp>
      <p:sp>
        <p:nvSpPr>
          <p:cNvPr id="9" name="">
            <a:extLst xmlns:a="http://schemas.openxmlformats.org/drawingml/2006/main">
              <a:ext uri="{FF2B5EF4-FFF2-40B4-BE49-F238E27FC236}">
                <a16:creationId xmlns:a16="http://schemas.microsoft.com/office/drawing/2014/main" id="{17128EA0-8EDD-49A5-8406-42136D8BF60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57A2552-04CC-4DBC-A34E-1C025C2467F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Capítulos 1–3 · conceptos y pertenencia</a:t>
            </a:r>
          </a:p>
        </p:txBody>
      </p:sp>
      <p:sp>
        <p:nvSpPr>
          <p:cNvPr id="11" name="">
            <a:extLst xmlns:a="http://schemas.openxmlformats.org/drawingml/2006/main">
              <a:ext uri="{FF2B5EF4-FFF2-40B4-BE49-F238E27FC236}">
                <a16:creationId xmlns:a16="http://schemas.microsoft.com/office/drawing/2014/main" id="{79A1D6AB-8823-40D3-A1FB-D92606FA47D8}"/>
              </a:ext>
            </a:extLst>
          </p:cNvPr>
          <p:cNvSpPr>
            <a:spLocks xmlns:a="http://schemas.openxmlformats.org/drawingml/2006/main" noGrp="1"/>
          </p:cNvSpPr>
          <p:nvPr/>
        </p:nvSpPr>
        <p:spPr>
          <a:xfrm xmlns:a="http://schemas.openxmlformats.org/drawingml/2006/main">
            <a:off x="762000" y="1619250"/>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BD5810"/>
                </a:solidFill>
                <a:latin typeface="Arial"/>
                <a:ea typeface="Arial"/>
                <a:cs typeface="Arial"/>
              </a:defRPr>
            </a:pPr>
            <a:r>
              <a:rPr sz="2400" b="1">
                <a:solidFill>
                  <a:srgbClr val="BD5810"/>
                </a:solidFill>
                <a:latin typeface="Arial"/>
                <a:ea typeface="Arial"/>
                <a:cs typeface="Arial"/>
              </a:rPr>
              <a:t>01</a:t>
            </a:r>
          </a:p>
        </p:txBody>
      </p:sp>
      <p:sp>
        <p:nvSpPr>
          <p:cNvPr id="12" name="">
            <a:extLst xmlns:a="http://schemas.openxmlformats.org/drawingml/2006/main">
              <a:ext uri="{FF2B5EF4-FFF2-40B4-BE49-F238E27FC236}">
                <a16:creationId xmlns:a16="http://schemas.microsoft.com/office/drawing/2014/main" id="{516FDBD8-999C-4E5A-B8D4-5F34F25191BA}"/>
              </a:ext>
            </a:extLst>
          </p:cNvPr>
          <p:cNvSpPr>
            <a:spLocks xmlns:a="http://schemas.openxmlformats.org/drawingml/2006/main" noGrp="1"/>
          </p:cNvSpPr>
          <p:nvPr/>
        </p:nvSpPr>
        <p:spPr>
          <a:xfrm xmlns:a="http://schemas.openxmlformats.org/drawingml/2006/main">
            <a:off x="1619250" y="1619250"/>
            <a:ext cx="4048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BD5810"/>
                </a:solidFill>
                <a:latin typeface="Arial"/>
                <a:ea typeface="Arial"/>
                <a:cs typeface="Arial"/>
              </a:defRPr>
            </a:pPr>
            <a:r>
              <a:rPr sz="2100" b="1">
                <a:solidFill>
                  <a:srgbClr val="BD5810"/>
                </a:solidFill>
                <a:latin typeface="Arial"/>
                <a:ea typeface="Arial"/>
                <a:cs typeface="Arial"/>
              </a:rPr>
              <a:t>Contexto fuzzy</a:t>
            </a:r>
          </a:p>
        </p:txBody>
      </p:sp>
      <p:sp>
        <p:nvSpPr>
          <p:cNvPr id="13" name="">
            <a:extLst xmlns:a="http://schemas.openxmlformats.org/drawingml/2006/main">
              <a:ext uri="{FF2B5EF4-FFF2-40B4-BE49-F238E27FC236}">
                <a16:creationId xmlns:a16="http://schemas.microsoft.com/office/drawing/2014/main" id="{08A2B791-331E-4FFC-BDC6-A23B6DA0ECCB}"/>
              </a:ext>
            </a:extLst>
          </p:cNvPr>
          <p:cNvSpPr>
            <a:spLocks xmlns:a="http://schemas.openxmlformats.org/drawingml/2006/main" noGrp="1"/>
          </p:cNvSpPr>
          <p:nvPr/>
        </p:nvSpPr>
        <p:spPr>
          <a:xfrm xmlns:a="http://schemas.openxmlformats.org/drawingml/2006/main">
            <a:off x="5905500" y="1619250"/>
            <a:ext cx="552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233746"/>
                </a:solidFill>
                <a:latin typeface="Arial"/>
                <a:ea typeface="Arial"/>
                <a:cs typeface="Arial"/>
              </a:defRPr>
            </a:pPr>
            <a:r>
              <a:rPr sz="1875" b="0">
                <a:solidFill>
                  <a:srgbClr val="233746"/>
                </a:solidFill>
                <a:latin typeface="Arial"/>
                <a:ea typeface="Arial"/>
                <a:cs typeface="Arial"/>
              </a:rPr>
              <a:t>Capítulos 1–3 · conceptos y pertenencia</a:t>
            </a:r>
          </a:p>
        </p:txBody>
      </p:sp>
      <p:sp>
        <p:nvSpPr>
          <p:cNvPr id="14" name="">
            <a:extLst xmlns:a="http://schemas.openxmlformats.org/drawingml/2006/main">
              <a:ext uri="{FF2B5EF4-FFF2-40B4-BE49-F238E27FC236}">
                <a16:creationId xmlns:a16="http://schemas.microsoft.com/office/drawing/2014/main" id="{452DE62D-697F-4669-99A4-4293B4D6986F}"/>
              </a:ext>
            </a:extLst>
          </p:cNvPr>
          <p:cNvSpPr>
            <a:spLocks xmlns:a="http://schemas.openxmlformats.org/drawingml/2006/main" noGrp="1"/>
          </p:cNvSpPr>
          <p:nvPr/>
        </p:nvSpPr>
        <p:spPr>
          <a:xfrm xmlns:a="http://schemas.openxmlformats.org/drawingml/2006/main">
            <a:off x="762000" y="23336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087F79"/>
                </a:solidFill>
                <a:latin typeface="Arial"/>
                <a:ea typeface="Arial"/>
                <a:cs typeface="Arial"/>
              </a:defRPr>
            </a:pPr>
            <a:r>
              <a:rPr sz="2400" b="1">
                <a:solidFill>
                  <a:srgbClr val="087F79"/>
                </a:solidFill>
                <a:latin typeface="Arial"/>
                <a:ea typeface="Arial"/>
                <a:cs typeface="Arial"/>
              </a:rPr>
              <a:t>02</a:t>
            </a:r>
          </a:p>
        </p:txBody>
      </p:sp>
      <p:sp>
        <p:nvSpPr>
          <p:cNvPr id="15" name="">
            <a:extLst xmlns:a="http://schemas.openxmlformats.org/drawingml/2006/main">
              <a:ext uri="{FF2B5EF4-FFF2-40B4-BE49-F238E27FC236}">
                <a16:creationId xmlns:a16="http://schemas.microsoft.com/office/drawing/2014/main" id="{6DB759BA-1CA4-4DEA-992D-665919969BE6}"/>
              </a:ext>
            </a:extLst>
          </p:cNvPr>
          <p:cNvSpPr>
            <a:spLocks xmlns:a="http://schemas.openxmlformats.org/drawingml/2006/main" noGrp="1"/>
          </p:cNvSpPr>
          <p:nvPr/>
        </p:nvSpPr>
        <p:spPr>
          <a:xfrm xmlns:a="http://schemas.openxmlformats.org/drawingml/2006/main">
            <a:off x="1619250" y="2333625"/>
            <a:ext cx="4048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087F79"/>
                </a:solidFill>
                <a:latin typeface="Arial"/>
                <a:ea typeface="Arial"/>
                <a:cs typeface="Arial"/>
              </a:defRPr>
            </a:pPr>
            <a:r>
              <a:rPr sz="2100" b="1">
                <a:solidFill>
                  <a:srgbClr val="087F79"/>
                </a:solidFill>
                <a:latin typeface="Arial"/>
                <a:ea typeface="Arial"/>
                <a:cs typeface="Arial"/>
              </a:rPr>
              <a:t>Fuzzificar y desdifusificar</a:t>
            </a:r>
          </a:p>
        </p:txBody>
      </p:sp>
      <p:sp>
        <p:nvSpPr>
          <p:cNvPr id="16" name="">
            <a:extLst xmlns:a="http://schemas.openxmlformats.org/drawingml/2006/main">
              <a:ext uri="{FF2B5EF4-FFF2-40B4-BE49-F238E27FC236}">
                <a16:creationId xmlns:a16="http://schemas.microsoft.com/office/drawing/2014/main" id="{7E7C1187-371C-40CB-A79B-E33F5847F501}"/>
              </a:ext>
            </a:extLst>
          </p:cNvPr>
          <p:cNvSpPr>
            <a:spLocks xmlns:a="http://schemas.openxmlformats.org/drawingml/2006/main" noGrp="1"/>
          </p:cNvSpPr>
          <p:nvPr/>
        </p:nvSpPr>
        <p:spPr>
          <a:xfrm xmlns:a="http://schemas.openxmlformats.org/drawingml/2006/main">
            <a:off x="5905500" y="2333625"/>
            <a:ext cx="552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233746"/>
                </a:solidFill>
                <a:latin typeface="Arial"/>
                <a:ea typeface="Arial"/>
                <a:cs typeface="Arial"/>
              </a:defRPr>
            </a:pPr>
            <a:r>
              <a:rPr sz="1875" b="0">
                <a:solidFill>
                  <a:srgbClr val="233746"/>
                </a:solidFill>
                <a:latin typeface="Arial"/>
                <a:ea typeface="Arial"/>
                <a:cs typeface="Arial"/>
              </a:rPr>
              <a:t>Capítulo 4 · representar y obtener un escalar</a:t>
            </a:r>
          </a:p>
        </p:txBody>
      </p:sp>
      <p:sp>
        <p:nvSpPr>
          <p:cNvPr id="17" name="">
            <a:extLst xmlns:a="http://schemas.openxmlformats.org/drawingml/2006/main">
              <a:ext uri="{FF2B5EF4-FFF2-40B4-BE49-F238E27FC236}">
                <a16:creationId xmlns:a16="http://schemas.microsoft.com/office/drawing/2014/main" id="{51D51CE0-753D-41FB-AD55-B89B020C37A5}"/>
              </a:ext>
            </a:extLst>
          </p:cNvPr>
          <p:cNvSpPr>
            <a:spLocks xmlns:a="http://schemas.openxmlformats.org/drawingml/2006/main" noGrp="1"/>
          </p:cNvSpPr>
          <p:nvPr/>
        </p:nvSpPr>
        <p:spPr>
          <a:xfrm xmlns:a="http://schemas.openxmlformats.org/drawingml/2006/main">
            <a:off x="762000" y="3048000"/>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7950A0"/>
                </a:solidFill>
                <a:latin typeface="Arial"/>
                <a:ea typeface="Arial"/>
                <a:cs typeface="Arial"/>
              </a:defRPr>
            </a:pPr>
            <a:r>
              <a:rPr sz="2400" b="1">
                <a:solidFill>
                  <a:srgbClr val="7950A0"/>
                </a:solidFill>
                <a:latin typeface="Arial"/>
                <a:ea typeface="Arial"/>
                <a:cs typeface="Arial"/>
              </a:rPr>
              <a:t>03</a:t>
            </a:r>
          </a:p>
        </p:txBody>
      </p:sp>
      <p:sp>
        <p:nvSpPr>
          <p:cNvPr id="18" name="">
            <a:extLst xmlns:a="http://schemas.openxmlformats.org/drawingml/2006/main">
              <a:ext uri="{FF2B5EF4-FFF2-40B4-BE49-F238E27FC236}">
                <a16:creationId xmlns:a16="http://schemas.microsoft.com/office/drawing/2014/main" id="{DFA6CB02-D838-4FAA-9CC0-544F6E1B5D3B}"/>
              </a:ext>
            </a:extLst>
          </p:cNvPr>
          <p:cNvSpPr>
            <a:spLocks xmlns:a="http://schemas.openxmlformats.org/drawingml/2006/main" noGrp="1"/>
          </p:cNvSpPr>
          <p:nvPr/>
        </p:nvSpPr>
        <p:spPr>
          <a:xfrm xmlns:a="http://schemas.openxmlformats.org/drawingml/2006/main">
            <a:off x="1619250" y="3048000"/>
            <a:ext cx="4048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7950A0"/>
                </a:solidFill>
                <a:latin typeface="Arial"/>
                <a:ea typeface="Arial"/>
                <a:cs typeface="Arial"/>
              </a:defRPr>
            </a:pPr>
            <a:r>
              <a:rPr sz="2100" b="1">
                <a:solidFill>
                  <a:srgbClr val="7950A0"/>
                </a:solidFill>
                <a:latin typeface="Arial"/>
                <a:ea typeface="Arial"/>
                <a:cs typeface="Arial"/>
              </a:rPr>
              <a:t>Reglas e inferencia</a:t>
            </a:r>
          </a:p>
        </p:txBody>
      </p:sp>
      <p:sp>
        <p:nvSpPr>
          <p:cNvPr id="19" name="">
            <a:extLst xmlns:a="http://schemas.openxmlformats.org/drawingml/2006/main">
              <a:ext uri="{FF2B5EF4-FFF2-40B4-BE49-F238E27FC236}">
                <a16:creationId xmlns:a16="http://schemas.microsoft.com/office/drawing/2014/main" id="{358D6F13-78C7-4AB3-A5E7-6E2292CE3CC2}"/>
              </a:ext>
            </a:extLst>
          </p:cNvPr>
          <p:cNvSpPr>
            <a:spLocks xmlns:a="http://schemas.openxmlformats.org/drawingml/2006/main" noGrp="1"/>
          </p:cNvSpPr>
          <p:nvPr/>
        </p:nvSpPr>
        <p:spPr>
          <a:xfrm xmlns:a="http://schemas.openxmlformats.org/drawingml/2006/main">
            <a:off x="5905500" y="3048000"/>
            <a:ext cx="552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233746"/>
                </a:solidFill>
                <a:latin typeface="Arial"/>
                <a:ea typeface="Arial"/>
                <a:cs typeface="Arial"/>
              </a:defRPr>
            </a:pPr>
            <a:r>
              <a:rPr sz="1875" b="0">
                <a:solidFill>
                  <a:srgbClr val="233746"/>
                </a:solidFill>
                <a:latin typeface="Arial"/>
                <a:ea typeface="Arial"/>
                <a:cs typeface="Arial"/>
              </a:rPr>
              <a:t>Capítulo 5 · condiciones y consecuencias</a:t>
            </a:r>
          </a:p>
        </p:txBody>
      </p:sp>
      <p:sp>
        <p:nvSpPr>
          <p:cNvPr id="20" name="">
            <a:extLst xmlns:a="http://schemas.openxmlformats.org/drawingml/2006/main">
              <a:ext uri="{FF2B5EF4-FFF2-40B4-BE49-F238E27FC236}">
                <a16:creationId xmlns:a16="http://schemas.microsoft.com/office/drawing/2014/main" id="{AA514CF7-C99C-4338-9279-AFC069EB9411}"/>
              </a:ext>
            </a:extLst>
          </p:cNvPr>
          <p:cNvSpPr>
            <a:spLocks xmlns:a="http://schemas.openxmlformats.org/drawingml/2006/main" noGrp="1"/>
          </p:cNvSpPr>
          <p:nvPr/>
        </p:nvSpPr>
        <p:spPr>
          <a:xfrm xmlns:a="http://schemas.openxmlformats.org/drawingml/2006/main">
            <a:off x="762000" y="376237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2162A0"/>
                </a:solidFill>
                <a:latin typeface="Arial"/>
                <a:ea typeface="Arial"/>
                <a:cs typeface="Arial"/>
              </a:defRPr>
            </a:pPr>
            <a:r>
              <a:rPr sz="2400" b="1">
                <a:solidFill>
                  <a:srgbClr val="2162A0"/>
                </a:solidFill>
                <a:latin typeface="Arial"/>
                <a:ea typeface="Arial"/>
                <a:cs typeface="Arial"/>
              </a:rPr>
              <a:t>04</a:t>
            </a:r>
          </a:p>
        </p:txBody>
      </p:sp>
      <p:sp>
        <p:nvSpPr>
          <p:cNvPr id="21" name="">
            <a:extLst xmlns:a="http://schemas.openxmlformats.org/drawingml/2006/main">
              <a:ext uri="{FF2B5EF4-FFF2-40B4-BE49-F238E27FC236}">
                <a16:creationId xmlns:a16="http://schemas.microsoft.com/office/drawing/2014/main" id="{C46932C1-D7DA-4219-BA74-ED09E9D17255}"/>
              </a:ext>
            </a:extLst>
          </p:cNvPr>
          <p:cNvSpPr>
            <a:spLocks xmlns:a="http://schemas.openxmlformats.org/drawingml/2006/main" noGrp="1"/>
          </p:cNvSpPr>
          <p:nvPr/>
        </p:nvSpPr>
        <p:spPr>
          <a:xfrm xmlns:a="http://schemas.openxmlformats.org/drawingml/2006/main">
            <a:off x="1619250" y="3762375"/>
            <a:ext cx="4048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2162A0"/>
                </a:solidFill>
                <a:latin typeface="Arial"/>
                <a:ea typeface="Arial"/>
                <a:cs typeface="Arial"/>
              </a:defRPr>
            </a:pPr>
            <a:r>
              <a:rPr sz="2100" b="1">
                <a:solidFill>
                  <a:srgbClr val="2162A0"/>
                </a:solidFill>
                <a:latin typeface="Arial"/>
                <a:ea typeface="Arial"/>
                <a:cs typeface="Arial"/>
              </a:rPr>
              <a:t>Modelado y simulación</a:t>
            </a:r>
          </a:p>
        </p:txBody>
      </p:sp>
      <p:sp>
        <p:nvSpPr>
          <p:cNvPr id="22" name="">
            <a:extLst xmlns:a="http://schemas.openxmlformats.org/drawingml/2006/main">
              <a:ext uri="{FF2B5EF4-FFF2-40B4-BE49-F238E27FC236}">
                <a16:creationId xmlns:a16="http://schemas.microsoft.com/office/drawing/2014/main" id="{854F8CAD-D35E-4A81-875F-2F8937FAC677}"/>
              </a:ext>
            </a:extLst>
          </p:cNvPr>
          <p:cNvSpPr>
            <a:spLocks xmlns:a="http://schemas.openxmlformats.org/drawingml/2006/main" noGrp="1"/>
          </p:cNvSpPr>
          <p:nvPr/>
        </p:nvSpPr>
        <p:spPr>
          <a:xfrm xmlns:a="http://schemas.openxmlformats.org/drawingml/2006/main">
            <a:off x="5905500" y="3762375"/>
            <a:ext cx="552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233746"/>
                </a:solidFill>
                <a:latin typeface="Arial"/>
                <a:ea typeface="Arial"/>
                <a:cs typeface="Arial"/>
              </a:defRPr>
            </a:pPr>
            <a:r>
              <a:rPr sz="1875" b="0">
                <a:solidFill>
                  <a:srgbClr val="233746"/>
                </a:solidFill>
                <a:latin typeface="Arial"/>
                <a:ea typeface="Arial"/>
                <a:cs typeface="Arial"/>
              </a:rPr>
              <a:t>Capítulo 8 · aproximar comportamientos</a:t>
            </a:r>
          </a:p>
        </p:txBody>
      </p:sp>
      <p:sp>
        <p:nvSpPr>
          <p:cNvPr id="23" name="">
            <a:extLst xmlns:a="http://schemas.openxmlformats.org/drawingml/2006/main">
              <a:ext uri="{FF2B5EF4-FFF2-40B4-BE49-F238E27FC236}">
                <a16:creationId xmlns:a16="http://schemas.microsoft.com/office/drawing/2014/main" id="{2E0DBB9E-5595-4765-B362-C8899D079F69}"/>
              </a:ext>
            </a:extLst>
          </p:cNvPr>
          <p:cNvSpPr>
            <a:spLocks xmlns:a="http://schemas.openxmlformats.org/drawingml/2006/main" noGrp="1"/>
          </p:cNvSpPr>
          <p:nvPr/>
        </p:nvSpPr>
        <p:spPr>
          <a:xfrm xmlns:a="http://schemas.openxmlformats.org/drawingml/2006/main">
            <a:off x="762000" y="4476750"/>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AD414C"/>
                </a:solidFill>
                <a:latin typeface="Arial"/>
                <a:ea typeface="Arial"/>
                <a:cs typeface="Arial"/>
              </a:defRPr>
            </a:pPr>
            <a:r>
              <a:rPr sz="2400" b="1">
                <a:solidFill>
                  <a:srgbClr val="AD414C"/>
                </a:solidFill>
                <a:latin typeface="Arial"/>
                <a:ea typeface="Arial"/>
                <a:cs typeface="Arial"/>
              </a:rPr>
              <a:t>05</a:t>
            </a:r>
          </a:p>
        </p:txBody>
      </p:sp>
      <p:sp>
        <p:nvSpPr>
          <p:cNvPr id="24" name="">
            <a:extLst xmlns:a="http://schemas.openxmlformats.org/drawingml/2006/main">
              <a:ext uri="{FF2B5EF4-FFF2-40B4-BE49-F238E27FC236}">
                <a16:creationId xmlns:a16="http://schemas.microsoft.com/office/drawing/2014/main" id="{52AE13F8-CC19-42A9-92B7-3D7F20D84AEA}"/>
              </a:ext>
            </a:extLst>
          </p:cNvPr>
          <p:cNvSpPr>
            <a:spLocks xmlns:a="http://schemas.openxmlformats.org/drawingml/2006/main" noGrp="1"/>
          </p:cNvSpPr>
          <p:nvPr/>
        </p:nvSpPr>
        <p:spPr>
          <a:xfrm xmlns:a="http://schemas.openxmlformats.org/drawingml/2006/main">
            <a:off x="1619250" y="4476750"/>
            <a:ext cx="4048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AD414C"/>
                </a:solidFill>
                <a:latin typeface="Arial"/>
                <a:ea typeface="Arial"/>
                <a:cs typeface="Arial"/>
              </a:defRPr>
            </a:pPr>
            <a:r>
              <a:rPr sz="2100" b="1">
                <a:solidFill>
                  <a:srgbClr val="AD414C"/>
                </a:solidFill>
                <a:latin typeface="Arial"/>
                <a:ea typeface="Arial"/>
                <a:cs typeface="Arial"/>
              </a:rPr>
              <a:t>Sistemas de control</a:t>
            </a:r>
          </a:p>
        </p:txBody>
      </p:sp>
      <p:sp>
        <p:nvSpPr>
          <p:cNvPr id="25" name="">
            <a:extLst xmlns:a="http://schemas.openxmlformats.org/drawingml/2006/main">
              <a:ext uri="{FF2B5EF4-FFF2-40B4-BE49-F238E27FC236}">
                <a16:creationId xmlns:a16="http://schemas.microsoft.com/office/drawing/2014/main" id="{64F17A80-3336-4EB8-9665-F639D6A49863}"/>
              </a:ext>
            </a:extLst>
          </p:cNvPr>
          <p:cNvSpPr>
            <a:spLocks xmlns:a="http://schemas.openxmlformats.org/drawingml/2006/main" noGrp="1"/>
          </p:cNvSpPr>
          <p:nvPr/>
        </p:nvSpPr>
        <p:spPr>
          <a:xfrm xmlns:a="http://schemas.openxmlformats.org/drawingml/2006/main">
            <a:off x="5905500" y="4476750"/>
            <a:ext cx="552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233746"/>
                </a:solidFill>
                <a:latin typeface="Arial"/>
                <a:ea typeface="Arial"/>
                <a:cs typeface="Arial"/>
              </a:defRPr>
            </a:pPr>
            <a:r>
              <a:rPr sz="1875" b="0">
                <a:solidFill>
                  <a:srgbClr val="233746"/>
                </a:solidFill>
                <a:latin typeface="Arial"/>
                <a:ea typeface="Arial"/>
                <a:cs typeface="Arial"/>
              </a:rPr>
              <a:t>Capítulo 13 · diseñar y comprobar</a:t>
            </a:r>
          </a:p>
        </p:txBody>
      </p:sp>
      <p:sp>
        <p:nvSpPr>
          <p:cNvPr id="26" name="">
            <a:extLst xmlns:a="http://schemas.openxmlformats.org/drawingml/2006/main">
              <a:ext uri="{FF2B5EF4-FFF2-40B4-BE49-F238E27FC236}">
                <a16:creationId xmlns:a16="http://schemas.microsoft.com/office/drawing/2014/main" id="{F9CD5B99-EC4E-430D-B1A4-68643EE15CDB}"/>
              </a:ext>
            </a:extLst>
          </p:cNvPr>
          <p:cNvSpPr>
            <a:spLocks xmlns:a="http://schemas.openxmlformats.org/drawingml/2006/main" noGrp="1"/>
          </p:cNvSpPr>
          <p:nvPr/>
        </p:nvSpPr>
        <p:spPr>
          <a:xfrm xmlns:a="http://schemas.openxmlformats.org/drawingml/2006/main">
            <a:off x="762000" y="51911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4C6375"/>
                </a:solidFill>
                <a:latin typeface="Arial"/>
                <a:ea typeface="Arial"/>
                <a:cs typeface="Arial"/>
              </a:defRPr>
            </a:pPr>
            <a:r>
              <a:rPr sz="2400" b="1">
                <a:solidFill>
                  <a:srgbClr val="4C6375"/>
                </a:solidFill>
                <a:latin typeface="Arial"/>
                <a:ea typeface="Arial"/>
                <a:cs typeface="Arial"/>
              </a:rPr>
              <a:t>06</a:t>
            </a:r>
          </a:p>
        </p:txBody>
      </p:sp>
      <p:sp>
        <p:nvSpPr>
          <p:cNvPr id="27" name="">
            <a:extLst xmlns:a="http://schemas.openxmlformats.org/drawingml/2006/main">
              <a:ext uri="{FF2B5EF4-FFF2-40B4-BE49-F238E27FC236}">
                <a16:creationId xmlns:a16="http://schemas.microsoft.com/office/drawing/2014/main" id="{A9E94885-6670-4D50-A167-B64D846A3BC6}"/>
              </a:ext>
            </a:extLst>
          </p:cNvPr>
          <p:cNvSpPr>
            <a:spLocks xmlns:a="http://schemas.openxmlformats.org/drawingml/2006/main" noGrp="1"/>
          </p:cNvSpPr>
          <p:nvPr/>
        </p:nvSpPr>
        <p:spPr>
          <a:xfrm xmlns:a="http://schemas.openxmlformats.org/drawingml/2006/main">
            <a:off x="1619250" y="5191125"/>
            <a:ext cx="4048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4C6375"/>
                </a:solidFill>
                <a:latin typeface="Arial"/>
                <a:ea typeface="Arial"/>
                <a:cs typeface="Arial"/>
              </a:defRPr>
            </a:pPr>
            <a:r>
              <a:rPr sz="2100" b="1">
                <a:solidFill>
                  <a:srgbClr val="4C6375"/>
                </a:solidFill>
                <a:latin typeface="Arial"/>
                <a:ea typeface="Arial"/>
                <a:cs typeface="Arial"/>
              </a:rPr>
              <a:t>Ejemplo guiado</a:t>
            </a:r>
          </a:p>
        </p:txBody>
      </p:sp>
      <p:sp>
        <p:nvSpPr>
          <p:cNvPr id="28" name="">
            <a:extLst xmlns:a="http://schemas.openxmlformats.org/drawingml/2006/main">
              <a:ext uri="{FF2B5EF4-FFF2-40B4-BE49-F238E27FC236}">
                <a16:creationId xmlns:a16="http://schemas.microsoft.com/office/drawing/2014/main" id="{22D0F544-8FBF-46EC-B959-8A36676B007E}"/>
              </a:ext>
            </a:extLst>
          </p:cNvPr>
          <p:cNvSpPr>
            <a:spLocks xmlns:a="http://schemas.openxmlformats.org/drawingml/2006/main" noGrp="1"/>
          </p:cNvSpPr>
          <p:nvPr/>
        </p:nvSpPr>
        <p:spPr>
          <a:xfrm xmlns:a="http://schemas.openxmlformats.org/drawingml/2006/main">
            <a:off x="5905500" y="5191125"/>
            <a:ext cx="552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233746"/>
                </a:solidFill>
                <a:latin typeface="Arial"/>
                <a:ea typeface="Arial"/>
                <a:cs typeface="Arial"/>
              </a:defRPr>
            </a:pPr>
            <a:r>
              <a:rPr sz="1875" b="0">
                <a:solidFill>
                  <a:srgbClr val="233746"/>
                </a:solidFill>
                <a:latin typeface="Arial"/>
                <a:ea typeface="Arial"/>
                <a:cs typeface="Arial"/>
              </a:rPr>
              <a:t>Control térmico · del diseño a la simulación</a:t>
            </a:r>
          </a:p>
        </p:txBody>
      </p:sp>
    </p:spTree>
    <p:extLst>
      <p:ext uri="{BB962C8B-B14F-4D97-AF65-F5344CB8AC3E}">
        <p14:creationId xmlns:p14="http://schemas.microsoft.com/office/powerpoint/2010/main" val="172189652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La lógica clásica y los límites de la precisión</a:t>
            </a:r>
          </a:p>
        </p:txBody>
      </p:sp>
      <p:sp>
        <p:nvSpPr>
          <p:cNvPr id="9" name="">
            <a:extLst xmlns:a="http://schemas.openxmlformats.org/drawingml/2006/main">
              <a:ext uri="{FF2B5EF4-FFF2-40B4-BE49-F238E27FC236}">
                <a16:creationId xmlns:a16="http://schemas.microsoft.com/office/drawing/2014/main" id="{4E578BE4-3CDD-4CA3-AEE0-9BC6E80B2CC7}"/>
              </a:ext>
            </a:extLst>
          </p:cNvPr>
          <p:cNvSpPr>
            <a:spLocks xmlns:a="http://schemas.openxmlformats.org/drawingml/2006/main" noGrp="1"/>
          </p:cNvSpPr>
          <p:nvPr/>
        </p:nvSpPr>
        <p:spPr>
          <a:xfrm xmlns:a="http://schemas.openxmlformats.org/drawingml/2006/main">
            <a:off x="762000" y="152400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Lógica clásica bivalente</a:t>
            </a:r>
          </a:p>
        </p:txBody>
      </p:sp>
      <p:sp>
        <p:nvSpPr>
          <p:cNvPr id="10" name="">
            <a:extLst xmlns:a="http://schemas.openxmlformats.org/drawingml/2006/main">
              <a:ext uri="{FF2B5EF4-FFF2-40B4-BE49-F238E27FC236}">
                <a16:creationId xmlns:a16="http://schemas.microsoft.com/office/drawing/2014/main" id="{FA168F0E-35CD-4692-BFEA-98B1218A3269}"/>
              </a:ext>
            </a:extLst>
          </p:cNvPr>
          <p:cNvSpPr>
            <a:spLocks xmlns:a="http://schemas.openxmlformats.org/drawingml/2006/main" noGrp="1"/>
          </p:cNvSpPr>
          <p:nvPr/>
        </p:nvSpPr>
        <p:spPr>
          <a:xfrm xmlns:a="http://schemas.openxmlformats.org/drawingml/2006/main">
            <a:off x="762000" y="2114550"/>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850" b="1">
                <a:solidFill>
                  <a:srgbClr val="233746"/>
                </a:solidFill>
                <a:latin typeface="Arial"/>
                <a:ea typeface="Arial"/>
                <a:cs typeface="Arial"/>
              </a:defRPr>
            </a:pPr>
            <a:r>
              <a:rPr sz="2850" b="1">
                <a:solidFill>
                  <a:srgbClr val="233746"/>
                </a:solidFill>
                <a:latin typeface="Arial"/>
                <a:ea typeface="Arial"/>
                <a:cs typeface="Arial"/>
              </a:rPr>
              <a:t>FALSO = 0                         VERDADERO = 1</a:t>
            </a:r>
          </a:p>
        </p:txBody>
      </p:sp>
      <p:sp>
        <p:nvSpPr>
          <p:cNvPr id="11" name="">
            <a:extLst xmlns:a="http://schemas.openxmlformats.org/drawingml/2006/main">
              <a:ext uri="{FF2B5EF4-FFF2-40B4-BE49-F238E27FC236}">
                <a16:creationId xmlns:a16="http://schemas.microsoft.com/office/drawing/2014/main" id="{6DFFEE11-8269-4C15-A833-82F4CA0FB3FE}"/>
              </a:ext>
            </a:extLst>
          </p:cNvPr>
          <p:cNvSpPr>
            <a:spLocks xmlns:a="http://schemas.openxmlformats.org/drawingml/2006/main" noGrp="1"/>
          </p:cNvSpPr>
          <p:nvPr/>
        </p:nvSpPr>
        <p:spPr>
          <a:xfrm xmlns:a="http://schemas.openxmlformats.org/drawingml/2006/main">
            <a:off x="762000" y="2886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No admite grados de verdad entre ambos extremos.</a:t>
            </a:r>
          </a:p>
        </p:txBody>
      </p:sp>
      <p:sp>
        <p:nvSpPr>
          <p:cNvPr id="12" name="">
            <a:extLst xmlns:a="http://schemas.openxmlformats.org/drawingml/2006/main">
              <a:ext uri="{FF2B5EF4-FFF2-40B4-BE49-F238E27FC236}">
                <a16:creationId xmlns:a16="http://schemas.microsoft.com/office/drawing/2014/main" id="{C7525F7B-5314-4018-96EB-591A6B040323}"/>
              </a:ext>
            </a:extLst>
          </p:cNvPr>
          <p:cNvSpPr>
            <a:spLocks xmlns:a="http://schemas.openxmlformats.org/drawingml/2006/main" noGrp="1"/>
          </p:cNvSpPr>
          <p:nvPr/>
        </p:nvSpPr>
        <p:spPr>
          <a:xfrm xmlns:a="http://schemas.openxmlformats.org/drawingml/2006/main">
            <a:off x="762000" y="3762375"/>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75" b="1">
                <a:solidFill>
                  <a:srgbClr val="D96B18"/>
                </a:solidFill>
                <a:latin typeface="Arial"/>
                <a:ea typeface="Arial"/>
                <a:cs typeface="Arial"/>
              </a:defRPr>
            </a:pPr>
            <a:r>
              <a:rPr sz="2475" b="1">
                <a:solidFill>
                  <a:srgbClr val="D96B18"/>
                </a:solidFill>
                <a:latin typeface="Arial"/>
                <a:ea typeface="Arial"/>
                <a:cs typeface="Arial"/>
              </a:rPr>
              <a:t>La precisión debe ajustarse a lo que la naturaleza del problema permite.</a:t>
            </a:r>
          </a:p>
        </p:txBody>
      </p:sp>
      <p:sp>
        <p:nvSpPr>
          <p:cNvPr id="13" name="">
            <a:extLst xmlns:a="http://schemas.openxmlformats.org/drawingml/2006/main">
              <a:ext uri="{FF2B5EF4-FFF2-40B4-BE49-F238E27FC236}">
                <a16:creationId xmlns:a16="http://schemas.microsoft.com/office/drawing/2014/main" id="{1F3735C2-8BDD-4CEE-AF60-2DF454ABD0B8}"/>
              </a:ext>
            </a:extLst>
          </p:cNvPr>
          <p:cNvSpPr>
            <a:spLocks xmlns:a="http://schemas.openxmlformats.org/drawingml/2006/main" noGrp="1"/>
          </p:cNvSpPr>
          <p:nvPr/>
        </p:nvSpPr>
        <p:spPr>
          <a:xfrm xmlns:a="http://schemas.openxmlformats.org/drawingml/2006/main">
            <a:off x="762000" y="46863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233746"/>
                </a:solidFill>
                <a:latin typeface="Arial"/>
                <a:ea typeface="Arial"/>
                <a:cs typeface="Arial"/>
              </a:defRPr>
            </a:pPr>
            <a:r>
              <a:rPr sz="1350" b="0">
                <a:solidFill>
                  <a:srgbClr val="233746"/>
                </a:solidFill>
                <a:latin typeface="Arial"/>
                <a:ea typeface="Arial"/>
                <a:cs typeface="Arial"/>
              </a:rPr>
              <a:t>Aristóteles, idea recogida por Ross (paráfrasis).</a:t>
            </a:r>
          </a:p>
        </p:txBody>
      </p:sp>
      <p:sp>
        <p:nvSpPr>
          <p:cNvPr id="14" name="">
            <a:extLst xmlns:a="http://schemas.openxmlformats.org/drawingml/2006/main">
              <a:ext uri="{FF2B5EF4-FFF2-40B4-BE49-F238E27FC236}">
                <a16:creationId xmlns:a16="http://schemas.microsoft.com/office/drawing/2014/main" id="{0D4C8C69-43E6-40B2-BF48-B7E105878B4B}"/>
              </a:ext>
            </a:extLst>
          </p:cNvPr>
          <p:cNvSpPr>
            <a:spLocks xmlns:a="http://schemas.openxmlformats.org/drawingml/2006/main" noGrp="1"/>
          </p:cNvSpPr>
          <p:nvPr/>
        </p:nvSpPr>
        <p:spPr>
          <a:xfrm xmlns:a="http://schemas.openxmlformats.org/drawingml/2006/main">
            <a:off x="762000" y="5286375"/>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En sistemas complejos, aceptar imprecisión permite aprovechar información que sí tenemos.</a:t>
            </a:r>
          </a:p>
        </p:txBody>
      </p:sp>
      <p:sp>
        <p:nvSpPr>
          <p:cNvPr id="15" name="">
            <a:extLst xmlns:a="http://schemas.openxmlformats.org/drawingml/2006/main">
              <a:ext uri="{FF2B5EF4-FFF2-40B4-BE49-F238E27FC236}">
                <a16:creationId xmlns:a16="http://schemas.microsoft.com/office/drawing/2014/main" id="{83B928BD-E205-46FC-B919-05D618D7843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30CAF5D-4B03-4AD2-9505-4A5639D0CC7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Capítulos 1–3 · conceptos y pertenencia</a:t>
            </a:r>
          </a:p>
        </p:txBody>
      </p:sp>
    </p:spTree>
    <p:extLst>
      <p:ext uri="{BB962C8B-B14F-4D97-AF65-F5344CB8AC3E}">
        <p14:creationId xmlns:p14="http://schemas.microsoft.com/office/powerpoint/2010/main" val="172189652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Concepto vago y concepto fuzzy</a:t>
            </a:r>
          </a:p>
        </p:txBody>
      </p:sp>
      <p:sp>
        <p:nvSpPr>
          <p:cNvPr id="9" name="">
            <a:extLst xmlns:a="http://schemas.openxmlformats.org/drawingml/2006/main">
              <a:ext uri="{FF2B5EF4-FFF2-40B4-BE49-F238E27FC236}">
                <a16:creationId xmlns:a16="http://schemas.microsoft.com/office/drawing/2014/main" id="{37BD5151-CDD7-4B1A-9671-896E1B6E4414}"/>
              </a:ext>
            </a:extLst>
          </p:cNvPr>
          <p:cNvSpPr>
            <a:spLocks xmlns:a="http://schemas.openxmlformats.org/drawingml/2006/main" noGrp="1"/>
          </p:cNvSpPr>
          <p:nvPr/>
        </p:nvSpPr>
        <p:spPr>
          <a:xfrm xmlns:a="http://schemas.openxmlformats.org/drawingml/2006/main">
            <a:off x="762000" y="1504950"/>
            <a:ext cx="438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VAGO</a:t>
            </a:r>
          </a:p>
        </p:txBody>
      </p:sp>
      <p:sp>
        <p:nvSpPr>
          <p:cNvPr id="10" name="">
            <a:extLst xmlns:a="http://schemas.openxmlformats.org/drawingml/2006/main">
              <a:ext uri="{FF2B5EF4-FFF2-40B4-BE49-F238E27FC236}">
                <a16:creationId xmlns:a16="http://schemas.microsoft.com/office/drawing/2014/main" id="{D2B176C9-317B-47AF-8E7D-E0ACDDCE7C55}"/>
              </a:ext>
            </a:extLst>
          </p:cNvPr>
          <p:cNvSpPr>
            <a:spLocks xmlns:a="http://schemas.openxmlformats.org/drawingml/2006/main" noGrp="1"/>
          </p:cNvSpPr>
          <p:nvPr/>
        </p:nvSpPr>
        <p:spPr>
          <a:xfrm xmlns:a="http://schemas.openxmlformats.org/drawingml/2006/main">
            <a:off x="762000" y="2133600"/>
            <a:ext cx="4572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625" b="1">
                <a:solidFill>
                  <a:srgbClr val="233746"/>
                </a:solidFill>
                <a:latin typeface="Arial"/>
                <a:ea typeface="Arial"/>
                <a:cs typeface="Arial"/>
              </a:defRPr>
            </a:pPr>
            <a:r>
              <a:rPr sz="2625" b="1">
                <a:solidFill>
                  <a:srgbClr val="233746"/>
                </a:solidFill>
                <a:latin typeface="Arial"/>
                <a:ea typeface="Arial"/>
                <a:cs typeface="Arial"/>
              </a:rPr>
              <a:t>«Volveré pronto»</a:t>
            </a:r>
          </a:p>
        </p:txBody>
      </p:sp>
      <p:sp>
        <p:nvSpPr>
          <p:cNvPr id="11" name="">
            <a:extLst xmlns:a="http://schemas.openxmlformats.org/drawingml/2006/main">
              <a:ext uri="{FF2B5EF4-FFF2-40B4-BE49-F238E27FC236}">
                <a16:creationId xmlns:a16="http://schemas.microsoft.com/office/drawing/2014/main" id="{65506CC9-0D0D-47C4-ADCD-A85842CDF8A0}"/>
              </a:ext>
            </a:extLst>
          </p:cNvPr>
          <p:cNvSpPr>
            <a:spLocks xmlns:a="http://schemas.openxmlformats.org/drawingml/2006/main" noGrp="1"/>
          </p:cNvSpPr>
          <p:nvPr/>
        </p:nvSpPr>
        <p:spPr>
          <a:xfrm xmlns:a="http://schemas.openxmlformats.org/drawingml/2006/main">
            <a:off x="762000" y="3133725"/>
            <a:ext cx="4476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Falta concreción: ¿segundos, minutos u horas?</a:t>
            </a:r>
          </a:p>
        </p:txBody>
      </p:sp>
      <p:sp>
        <p:nvSpPr>
          <p:cNvPr id="12" name="">
            <a:extLst xmlns:a="http://schemas.openxmlformats.org/drawingml/2006/main">
              <a:ext uri="{FF2B5EF4-FFF2-40B4-BE49-F238E27FC236}">
                <a16:creationId xmlns:a16="http://schemas.microsoft.com/office/drawing/2014/main" id="{AA2DBBEE-A6A4-4892-82D1-2169A17920A8}"/>
              </a:ext>
            </a:extLst>
          </p:cNvPr>
          <p:cNvSpPr>
            <a:spLocks xmlns:a="http://schemas.openxmlformats.org/drawingml/2006/main" noGrp="1"/>
          </p:cNvSpPr>
          <p:nvPr/>
        </p:nvSpPr>
        <p:spPr>
          <a:xfrm xmlns:a="http://schemas.openxmlformats.org/drawingml/2006/main">
            <a:off x="6334125" y="15049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FUZZY</a:t>
            </a:r>
          </a:p>
        </p:txBody>
      </p:sp>
      <p:sp>
        <p:nvSpPr>
          <p:cNvPr id="13" name="">
            <a:extLst xmlns:a="http://schemas.openxmlformats.org/drawingml/2006/main">
              <a:ext uri="{FF2B5EF4-FFF2-40B4-BE49-F238E27FC236}">
                <a16:creationId xmlns:a16="http://schemas.microsoft.com/office/drawing/2014/main" id="{2C80D8A4-DF03-412A-99BB-5BDE647CD4AF}"/>
              </a:ext>
            </a:extLst>
          </p:cNvPr>
          <p:cNvSpPr>
            <a:spLocks xmlns:a="http://schemas.openxmlformats.org/drawingml/2006/main" noGrp="1"/>
          </p:cNvSpPr>
          <p:nvPr/>
        </p:nvSpPr>
        <p:spPr>
          <a:xfrm xmlns:a="http://schemas.openxmlformats.org/drawingml/2006/main">
            <a:off x="6334125" y="2095500"/>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«Volveré en aproximadamente</a:t>
            </a:r>
          </a:p>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2 minutos»</a:t>
            </a:r>
          </a:p>
        </p:txBody>
      </p:sp>
      <p:graphicFrame>
        <p:nvGraphicFramePr>
          <p:cNvPr id="33" name="Chart"/>
          <p:cNvGraphicFramePr/>
          <p:nvPr/>
        </p:nvGraphicFramePr>
        <p:xfrm>
          <a:off xmlns:a="http://schemas.openxmlformats.org/drawingml/2006/main" x="6286500" y="3286125"/>
          <a:ext xmlns:a="http://schemas.openxmlformats.org/drawingml/2006/main" cx="5143500" cy="2286000"/>
        </p:xfrm>
        <a:graphic xmlns:a="http://schemas.openxmlformats.org/drawingml/2006/main">
          <a:graphicData uri="http://schemas.openxmlformats.org/drawingml/2006/chart">
            <c:chart xmlns:r="http://schemas.openxmlformats.org/officeDocument/2006/relationships" xmlns:c="http://schemas.openxmlformats.org/drawingml/2006/chart" r:id="Rf27f066ae84c4a72"/>
          </a:graphicData>
        </a:graphic>
      </p:graphicFrame>
      <p:sp>
        <p:nvSpPr>
          <p:cNvPr id="15" name="">
            <a:extLst xmlns:a="http://schemas.openxmlformats.org/drawingml/2006/main">
              <a:ext uri="{FF2B5EF4-FFF2-40B4-BE49-F238E27FC236}">
                <a16:creationId xmlns:a16="http://schemas.microsoft.com/office/drawing/2014/main" id="{BAE7CD32-F497-495D-ADB0-FE09C428B0E8}"/>
              </a:ext>
            </a:extLst>
          </p:cNvPr>
          <p:cNvSpPr>
            <a:spLocks xmlns:a="http://schemas.openxmlformats.org/drawingml/2006/main" noGrp="1"/>
          </p:cNvSpPr>
          <p:nvPr/>
        </p:nvSpPr>
        <p:spPr>
          <a:xfrm xmlns:a="http://schemas.openxmlformats.org/drawingml/2006/main">
            <a:off x="762000" y="58007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Hay una referencia concreta, con límites graduales alrededor de 2 minutos.</a:t>
            </a:r>
          </a:p>
        </p:txBody>
      </p:sp>
      <p:sp>
        <p:nvSpPr>
          <p:cNvPr id="20" name="">
            <a:extLst xmlns:a="http://schemas.openxmlformats.org/drawingml/2006/main">
              <a:ext uri="{FF2B5EF4-FFF2-40B4-BE49-F238E27FC236}">
                <a16:creationId xmlns:a16="http://schemas.microsoft.com/office/drawing/2014/main" id="{37BDC8D8-AD0B-43BF-9418-AA32C60443C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A8AD340-FA10-4EB6-AB23-35F682579A4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Capítulos 1–3 · conceptos y pertenencia</a:t>
            </a:r>
          </a:p>
        </p:txBody>
      </p:sp>
    </p:spTree>
    <p:extLst>
      <p:ext uri="{BB962C8B-B14F-4D97-AF65-F5344CB8AC3E}">
        <p14:creationId xmlns:p14="http://schemas.microsoft.com/office/powerpoint/2010/main" val="17218965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Crisp y fuzzy: el concepto «estatura media»</a:t>
            </a:r>
          </a:p>
        </p:txBody>
      </p:sp>
      <p:sp>
        <p:nvSpPr>
          <p:cNvPr id="9" name="">
            <a:extLst xmlns:a="http://schemas.openxmlformats.org/drawingml/2006/main">
              <a:ext uri="{FF2B5EF4-FFF2-40B4-BE49-F238E27FC236}">
                <a16:creationId xmlns:a16="http://schemas.microsoft.com/office/drawing/2014/main" id="{F7171C38-E5E3-4E82-A44F-71ADB1BFA891}"/>
              </a:ext>
            </a:extLst>
          </p:cNvPr>
          <p:cNvSpPr>
            <a:spLocks xmlns:a="http://schemas.openxmlformats.org/drawingml/2006/main" noGrp="1"/>
          </p:cNvSpPr>
          <p:nvPr/>
        </p:nvSpPr>
        <p:spPr>
          <a:xfrm xmlns:a="http://schemas.openxmlformats.org/drawingml/2006/main">
            <a:off x="762000" y="15049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Conjunto crisp: pertenece o no</a:t>
            </a:r>
          </a:p>
        </p:txBody>
      </p:sp>
      <p:sp>
        <p:nvSpPr>
          <p:cNvPr id="10" name="">
            <a:extLst xmlns:a="http://schemas.openxmlformats.org/drawingml/2006/main">
              <a:ext uri="{FF2B5EF4-FFF2-40B4-BE49-F238E27FC236}">
                <a16:creationId xmlns:a16="http://schemas.microsoft.com/office/drawing/2014/main" id="{BB394D59-05BF-4E43-9C41-2C4A5B832EA9}"/>
              </a:ext>
            </a:extLst>
          </p:cNvPr>
          <p:cNvSpPr>
            <a:spLocks xmlns:a="http://schemas.openxmlformats.org/drawingml/2006/main" noGrp="1"/>
          </p:cNvSpPr>
          <p:nvPr/>
        </p:nvSpPr>
        <p:spPr>
          <a:xfrm xmlns:a="http://schemas.openxmlformats.org/drawingml/2006/main">
            <a:off x="6381750" y="15049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Conjunto fuzzy: pertenencia gradual</a:t>
            </a:r>
          </a:p>
        </p:txBody>
      </p:sp>
      <p:graphicFrame>
        <p:nvGraphicFramePr>
          <p:cNvPr id="33" name="Chart"/>
          <p:cNvGraphicFramePr/>
          <p:nvPr/>
        </p:nvGraphicFramePr>
        <p:xfrm>
          <a:off xmlns:a="http://schemas.openxmlformats.org/drawingml/2006/main" x="619125" y="2143125"/>
          <a:ext xmlns:a="http://schemas.openxmlformats.org/drawingml/2006/main" cx="5143500" cy="2857500"/>
        </p:xfrm>
        <a:graphic xmlns:a="http://schemas.openxmlformats.org/drawingml/2006/main">
          <a:graphicData uri="http://schemas.openxmlformats.org/drawingml/2006/chart">
            <c:chart xmlns:r="http://schemas.openxmlformats.org/officeDocument/2006/relationships" xmlns:c="http://schemas.openxmlformats.org/drawingml/2006/chart" r:id="R8bdd027a8134455b"/>
          </a:graphicData>
        </a:graphic>
      </p:graphicFrame>
      <p:graphicFrame>
        <p:nvGraphicFramePr>
          <p:cNvPr id="34" name="Chart"/>
          <p:cNvGraphicFramePr/>
          <p:nvPr/>
        </p:nvGraphicFramePr>
        <p:xfrm>
          <a:off xmlns:a="http://schemas.openxmlformats.org/drawingml/2006/main" x="6238875" y="2143125"/>
          <a:ext xmlns:a="http://schemas.openxmlformats.org/drawingml/2006/main" cx="5143500" cy="2857500"/>
        </p:xfrm>
        <a:graphic xmlns:a="http://schemas.openxmlformats.org/drawingml/2006/main">
          <a:graphicData uri="http://schemas.openxmlformats.org/drawingml/2006/chart">
            <c:chart xmlns:r="http://schemas.openxmlformats.org/officeDocument/2006/relationships" xmlns:c="http://schemas.openxmlformats.org/drawingml/2006/chart" r:id="R6c66d4fa991448cd"/>
          </a:graphicData>
        </a:graphic>
      </p:graphicFrame>
      <p:sp>
        <p:nvSpPr>
          <p:cNvPr id="13" name="">
            <a:extLst xmlns:a="http://schemas.openxmlformats.org/drawingml/2006/main">
              <a:ext uri="{FF2B5EF4-FFF2-40B4-BE49-F238E27FC236}">
                <a16:creationId xmlns:a16="http://schemas.microsoft.com/office/drawing/2014/main" id="{59F125FF-C075-4B2B-BD0E-F82631F67967}"/>
              </a:ext>
            </a:extLst>
          </p:cNvPr>
          <p:cNvSpPr>
            <a:spLocks xmlns:a="http://schemas.openxmlformats.org/drawingml/2006/main" noGrp="1"/>
          </p:cNvSpPr>
          <p:nvPr/>
        </p:nvSpPr>
        <p:spPr>
          <a:xfrm xmlns:a="http://schemas.openxmlformats.org/drawingml/2006/main">
            <a:off x="762000" y="5133975"/>
            <a:ext cx="519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2162A0"/>
                </a:solidFill>
                <a:latin typeface="Arial"/>
                <a:ea typeface="Arial"/>
                <a:cs typeface="Arial"/>
              </a:defRPr>
            </a:pPr>
            <a:r>
              <a:rPr sz="1950" b="1">
                <a:solidFill>
                  <a:srgbClr val="2162A0"/>
                </a:solidFill>
                <a:latin typeface="Arial"/>
                <a:ea typeface="Arial"/>
                <a:cs typeface="Arial"/>
              </a:rPr>
              <a:t>1 si 1,70 ≤ x ≤ 1,80 m; 0 fuera.</a:t>
            </a:r>
          </a:p>
        </p:txBody>
      </p:sp>
      <p:sp>
        <p:nvSpPr>
          <p:cNvPr id="14" name="">
            <a:extLst xmlns:a="http://schemas.openxmlformats.org/drawingml/2006/main">
              <a:ext uri="{FF2B5EF4-FFF2-40B4-BE49-F238E27FC236}">
                <a16:creationId xmlns:a16="http://schemas.microsoft.com/office/drawing/2014/main" id="{DF8D8160-2C61-4346-AD9A-285C5BD263B1}"/>
              </a:ext>
            </a:extLst>
          </p:cNvPr>
          <p:cNvSpPr>
            <a:spLocks xmlns:a="http://schemas.openxmlformats.org/drawingml/2006/main" noGrp="1"/>
          </p:cNvSpPr>
          <p:nvPr/>
        </p:nvSpPr>
        <p:spPr>
          <a:xfrm xmlns:a="http://schemas.openxmlformats.org/drawingml/2006/main">
            <a:off x="6381750" y="513397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Máximo en 1,75 m; disminuye</a:t>
            </a:r>
          </a:p>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hasta 0 en 1,60 y 1,90 m.</a:t>
            </a:r>
          </a:p>
        </p:txBody>
      </p:sp>
      <p:sp>
        <p:nvSpPr>
          <p:cNvPr id="15" name="">
            <a:extLst xmlns:a="http://schemas.openxmlformats.org/drawingml/2006/main">
              <a:ext uri="{FF2B5EF4-FFF2-40B4-BE49-F238E27FC236}">
                <a16:creationId xmlns:a16="http://schemas.microsoft.com/office/drawing/2014/main" id="{9E426139-31A1-49B0-A8B9-A968174F4E6D}"/>
              </a:ext>
            </a:extLst>
          </p:cNvPr>
          <p:cNvSpPr>
            <a:spLocks xmlns:a="http://schemas.openxmlformats.org/drawingml/2006/main" noGrp="1"/>
          </p:cNvSpPr>
          <p:nvPr/>
        </p:nvSpPr>
        <p:spPr>
          <a:xfrm xmlns:a="http://schemas.openxmlformats.org/drawingml/2006/main">
            <a:off x="762000" y="59436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233746"/>
                </a:solidFill>
                <a:latin typeface="Arial"/>
                <a:ea typeface="Arial"/>
                <a:cs typeface="Arial"/>
              </a:defRPr>
            </a:pPr>
            <a:r>
              <a:rPr sz="2025" b="1">
                <a:solidFill>
                  <a:srgbClr val="233746"/>
                </a:solidFill>
                <a:latin typeface="Arial"/>
                <a:ea typeface="Arial"/>
                <a:cs typeface="Arial"/>
              </a:rPr>
              <a:t>Crisp: solo 0 o 1. Fuzzy: infinitos grados posibles entre 0 y 1.</a:t>
            </a:r>
          </a:p>
        </p:txBody>
      </p:sp>
      <p:sp>
        <p:nvSpPr>
          <p:cNvPr id="16" name="">
            <a:extLst xmlns:a="http://schemas.openxmlformats.org/drawingml/2006/main">
              <a:ext uri="{FF2B5EF4-FFF2-40B4-BE49-F238E27FC236}">
                <a16:creationId xmlns:a16="http://schemas.microsoft.com/office/drawing/2014/main" id="{0F52D795-0B7C-4DE9-8A7A-F438EB3AB8C2}"/>
              </a:ext>
            </a:extLst>
          </p:cNvPr>
          <p:cNvSpPr>
            <a:spLocks xmlns:a="http://schemas.openxmlformats.org/drawingml/2006/main" noGrp="1"/>
          </p:cNvSpPr>
          <p:nvPr/>
        </p:nvSpPr>
        <p:spPr>
          <a:xfrm xmlns:a="http://schemas.openxmlformats.org/drawingml/2006/main">
            <a:off x="762000" y="6334125"/>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200" b="0">
                <a:solidFill>
                  <a:srgbClr val="233746"/>
                </a:solidFill>
                <a:latin typeface="Arial"/>
                <a:ea typeface="Arial"/>
                <a:cs typeface="Arial"/>
              </a:defRPr>
            </a:pPr>
            <a:r>
              <a:rPr sz="1200" b="0">
                <a:solidFill>
                  <a:srgbClr val="233746"/>
                </a:solidFill>
                <a:latin typeface="Arial"/>
                <a:ea typeface="Arial"/>
                <a:cs typeface="Arial"/>
              </a:rPr>
              <a:t>Cada conjunto tiene una función de pertenencia. Límites de altura ilustrativos.</a:t>
            </a:r>
          </a:p>
        </p:txBody>
      </p:sp>
      <p:sp>
        <p:nvSpPr>
          <p:cNvPr id="23" name="">
            <a:extLst xmlns:a="http://schemas.openxmlformats.org/drawingml/2006/main">
              <a:ext uri="{FF2B5EF4-FFF2-40B4-BE49-F238E27FC236}">
                <a16:creationId xmlns:a16="http://schemas.microsoft.com/office/drawing/2014/main" id="{26D14634-1D5A-48D8-B2EE-152602666959}"/>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9E9EC24B-2D22-4DD7-82C3-0CF11689356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Capítulos 1–3 · conceptos y pertenencia</a:t>
            </a:r>
          </a:p>
        </p:txBody>
      </p:sp>
    </p:spTree>
    <p:extLst>
      <p:ext uri="{BB962C8B-B14F-4D97-AF65-F5344CB8AC3E}">
        <p14:creationId xmlns:p14="http://schemas.microsoft.com/office/powerpoint/2010/main" val="172189652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Conjuntos difusos: grados de pertenencia</a:t>
            </a:r>
          </a:p>
        </p:txBody>
      </p:sp>
      <p:sp>
        <p:nvSpPr>
          <p:cNvPr id="9" name="">
            <a:extLst xmlns:a="http://schemas.openxmlformats.org/drawingml/2006/main">
              <a:ext uri="{FF2B5EF4-FFF2-40B4-BE49-F238E27FC236}">
                <a16:creationId xmlns:a16="http://schemas.microsoft.com/office/drawing/2014/main" id="{BA4806F5-03D4-4C0B-BAFF-C1662266D97E}"/>
              </a:ext>
            </a:extLst>
          </p:cNvPr>
          <p:cNvSpPr>
            <a:spLocks xmlns:a="http://schemas.openxmlformats.org/drawingml/2006/main" noGrp="1"/>
          </p:cNvSpPr>
          <p:nvPr/>
        </p:nvSpPr>
        <p:spPr>
          <a:xfrm xmlns:a="http://schemas.openxmlformats.org/drawingml/2006/main">
            <a:off x="762000"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Pertenencia clásica: χA(x) ∈ {0, 1}     Pertenencia difusa: μA(x) ∈ [0, 1]</a:t>
            </a:r>
          </a:p>
        </p:txBody>
      </p:sp>
      <p:graphicFrame>
        <p:nvGraphicFramePr>
          <p:cNvPr id="28" name="Chart"/>
          <p:cNvGraphicFramePr/>
          <p:nvPr/>
        </p:nvGraphicFramePr>
        <p:xfrm>
          <a:off xmlns:a="http://schemas.openxmlformats.org/drawingml/2006/main" x="619125" y="2238375"/>
          <a:ext xmlns:a="http://schemas.openxmlformats.org/drawingml/2006/main" cx="6667500" cy="3429000"/>
        </p:xfrm>
        <a:graphic xmlns:a="http://schemas.openxmlformats.org/drawingml/2006/main">
          <a:graphicData uri="http://schemas.openxmlformats.org/drawingml/2006/chart">
            <c:chart xmlns:r="http://schemas.openxmlformats.org/officeDocument/2006/relationships" xmlns:c="http://schemas.openxmlformats.org/drawingml/2006/chart" r:id="Rd257f574ef534966"/>
          </a:graphicData>
        </a:graphic>
      </p:graphicFrame>
      <p:sp>
        <p:nvSpPr>
          <p:cNvPr id="11" name="">
            <a:extLst xmlns:a="http://schemas.openxmlformats.org/drawingml/2006/main">
              <a:ext uri="{FF2B5EF4-FFF2-40B4-BE49-F238E27FC236}">
                <a16:creationId xmlns:a16="http://schemas.microsoft.com/office/drawing/2014/main" id="{C4F4B82A-065C-446D-94BC-106FBB1C0D95}"/>
              </a:ext>
            </a:extLst>
          </p:cNvPr>
          <p:cNvSpPr>
            <a:spLocks xmlns:a="http://schemas.openxmlformats.org/drawingml/2006/main" noGrp="1"/>
          </p:cNvSpPr>
          <p:nvPr/>
        </p:nvSpPr>
        <p:spPr>
          <a:xfrm xmlns:a="http://schemas.openxmlformats.org/drawingml/2006/main">
            <a:off x="7715250" y="2419350"/>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A 25 °C</a:t>
            </a:r>
          </a:p>
        </p:txBody>
      </p:sp>
      <p:sp>
        <p:nvSpPr>
          <p:cNvPr id="12" name="">
            <a:extLst xmlns:a="http://schemas.openxmlformats.org/drawingml/2006/main">
              <a:ext uri="{FF2B5EF4-FFF2-40B4-BE49-F238E27FC236}">
                <a16:creationId xmlns:a16="http://schemas.microsoft.com/office/drawing/2014/main" id="{5E211193-2FB4-4F50-B17A-86D488B5AAF2}"/>
              </a:ext>
            </a:extLst>
          </p:cNvPr>
          <p:cNvSpPr>
            <a:spLocks xmlns:a="http://schemas.openxmlformats.org/drawingml/2006/main" noGrp="1"/>
          </p:cNvSpPr>
          <p:nvPr/>
        </p:nvSpPr>
        <p:spPr>
          <a:xfrm xmlns:a="http://schemas.openxmlformats.org/drawingml/2006/main">
            <a:off x="7715250" y="3076575"/>
            <a:ext cx="352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Templada: 0,5</a:t>
            </a:r>
          </a:p>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Caliente: 0,5</a:t>
            </a:r>
          </a:p>
        </p:txBody>
      </p:sp>
      <p:sp>
        <p:nvSpPr>
          <p:cNvPr id="13" name="">
            <a:extLst xmlns:a="http://schemas.openxmlformats.org/drawingml/2006/main">
              <a:ext uri="{FF2B5EF4-FFF2-40B4-BE49-F238E27FC236}">
                <a16:creationId xmlns:a16="http://schemas.microsoft.com/office/drawing/2014/main" id="{D79194AE-33CC-4DF1-A361-42C94611528F}"/>
              </a:ext>
            </a:extLst>
          </p:cNvPr>
          <p:cNvSpPr>
            <a:spLocks xmlns:a="http://schemas.openxmlformats.org/drawingml/2006/main" noGrp="1"/>
          </p:cNvSpPr>
          <p:nvPr/>
        </p:nvSpPr>
        <p:spPr>
          <a:xfrm xmlns:a="http://schemas.openxmlformats.org/drawingml/2006/main">
            <a:off x="7715250" y="4276725"/>
            <a:ext cx="3476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El valor expresa cuánto encaja la temperatura en cada concepto.</a:t>
            </a:r>
          </a:p>
        </p:txBody>
      </p:sp>
      <p:sp>
        <p:nvSpPr>
          <p:cNvPr id="14" name="">
            <a:extLst xmlns:a="http://schemas.openxmlformats.org/drawingml/2006/main">
              <a:ext uri="{FF2B5EF4-FFF2-40B4-BE49-F238E27FC236}">
                <a16:creationId xmlns:a16="http://schemas.microsoft.com/office/drawing/2014/main" id="{374EE721-C819-4960-9141-394FAF73E508}"/>
              </a:ext>
            </a:extLst>
          </p:cNvPr>
          <p:cNvSpPr>
            <a:spLocks xmlns:a="http://schemas.openxmlformats.org/drawingml/2006/main" noGrp="1"/>
          </p:cNvSpPr>
          <p:nvPr/>
        </p:nvSpPr>
        <p:spPr>
          <a:xfrm xmlns:a="http://schemas.openxmlformats.org/drawingml/2006/main">
            <a:off x="762000" y="58769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Una pertenencia de 0,5 no significa una probabilidad del 50 %.</a:t>
            </a:r>
          </a:p>
        </p:txBody>
      </p:sp>
      <p:sp>
        <p:nvSpPr>
          <p:cNvPr id="19" name="">
            <a:extLst xmlns:a="http://schemas.openxmlformats.org/drawingml/2006/main">
              <a:ext uri="{FF2B5EF4-FFF2-40B4-BE49-F238E27FC236}">
                <a16:creationId xmlns:a16="http://schemas.microsoft.com/office/drawing/2014/main" id="{931ABEAA-AE4B-4064-A089-E3B4F7E761B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3206D67-2791-4122-95D2-006DF9A5D25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Capítulos 1–3 · conceptos y pertenencia</a:t>
            </a:r>
          </a:p>
        </p:txBody>
      </p:sp>
    </p:spTree>
    <p:extLst>
      <p:ext uri="{BB962C8B-B14F-4D97-AF65-F5344CB8AC3E}">
        <p14:creationId xmlns:p14="http://schemas.microsoft.com/office/powerpoint/2010/main" val="172189652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El cubo: tres conceptos, tres grados</a:t>
            </a:r>
          </a:p>
        </p:txBody>
      </p:sp>
      <p:sp>
        <p:nvSpPr>
          <p:cNvPr id="9" name="">
            <a:extLst xmlns:a="http://schemas.openxmlformats.org/drawingml/2006/main">
              <a:ext uri="{FF2B5EF4-FFF2-40B4-BE49-F238E27FC236}">
                <a16:creationId xmlns:a16="http://schemas.microsoft.com/office/drawing/2014/main" id="{D291EB66-9C44-4369-B774-A038DE7656CA}"/>
              </a:ext>
            </a:extLst>
          </p:cNvPr>
          <p:cNvSpPr>
            <a:spLocks xmlns:a="http://schemas.openxmlformats.org/drawingml/2006/main" noGrp="1"/>
          </p:cNvSpPr>
          <p:nvPr/>
        </p:nvSpPr>
        <p:spPr>
          <a:xfrm xmlns:a="http://schemas.openxmlformats.org/drawingml/2006/main">
            <a:off x="762000" y="1466850"/>
            <a:ext cx="10715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Evaluamos a Ana en tres conjuntos: «altos», «guapos» y «jóvenes».</a:t>
            </a:r>
          </a:p>
        </p:txBody>
      </p:sp>
      <p:graphicFrame>
        <p:nvGraphicFramePr>
          <p:cNvPr id="36" name="Chart"/>
          <p:cNvGraphicFramePr/>
          <p:nvPr/>
        </p:nvGraphicFramePr>
        <p:xfrm>
          <a:off xmlns:a="http://schemas.openxmlformats.org/drawingml/2006/main" x="1019175" y="2266950"/>
          <a:ext xmlns:a="http://schemas.openxmlformats.org/drawingml/2006/main" cx="4476750" cy="3133725"/>
        </p:xfrm>
        <a:graphic xmlns:a="http://schemas.openxmlformats.org/drawingml/2006/main">
          <a:graphicData uri="http://schemas.openxmlformats.org/drawingml/2006/chart">
            <c:chart xmlns:r="http://schemas.openxmlformats.org/officeDocument/2006/relationships" xmlns:c="http://schemas.openxmlformats.org/drawingml/2006/chart" r:id="Rffc4726eeadd4edb"/>
          </a:graphicData>
        </a:graphic>
      </p:graphicFrame>
      <p:sp>
        <p:nvSpPr>
          <p:cNvPr id="11" name="">
            <a:extLst xmlns:a="http://schemas.openxmlformats.org/drawingml/2006/main">
              <a:ext uri="{FF2B5EF4-FFF2-40B4-BE49-F238E27FC236}">
                <a16:creationId xmlns:a16="http://schemas.microsoft.com/office/drawing/2014/main" id="{4E812066-8039-4B76-9213-0031E29416F2}"/>
              </a:ext>
            </a:extLst>
          </p:cNvPr>
          <p:cNvSpPr>
            <a:spLocks xmlns:a="http://schemas.openxmlformats.org/drawingml/2006/main" noGrp="1"/>
          </p:cNvSpPr>
          <p:nvPr/>
        </p:nvSpPr>
        <p:spPr>
          <a:xfrm xmlns:a="http://schemas.openxmlformats.org/drawingml/2006/main">
            <a:off x="3238500" y="5429250"/>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162A0"/>
                </a:solidFill>
                <a:latin typeface="Arial"/>
                <a:ea typeface="Arial"/>
                <a:cs typeface="Arial"/>
              </a:defRPr>
            </a:pPr>
            <a:r>
              <a:rPr sz="1725" b="1">
                <a:solidFill>
                  <a:srgbClr val="2162A0"/>
                </a:solidFill>
                <a:latin typeface="Arial"/>
                <a:ea typeface="Arial"/>
                <a:cs typeface="Arial"/>
              </a:rPr>
              <a:t>μAlto</a:t>
            </a:r>
          </a:p>
        </p:txBody>
      </p:sp>
      <p:sp>
        <p:nvSpPr>
          <p:cNvPr id="12" name="">
            <a:extLst xmlns:a="http://schemas.openxmlformats.org/drawingml/2006/main">
              <a:ext uri="{FF2B5EF4-FFF2-40B4-BE49-F238E27FC236}">
                <a16:creationId xmlns:a16="http://schemas.microsoft.com/office/drawing/2014/main" id="{9967D7B8-DEC5-4290-9822-9FBE51AC5C3A}"/>
              </a:ext>
            </a:extLst>
          </p:cNvPr>
          <p:cNvSpPr>
            <a:spLocks xmlns:a="http://schemas.openxmlformats.org/drawingml/2006/main" noGrp="1"/>
          </p:cNvSpPr>
          <p:nvPr/>
        </p:nvSpPr>
        <p:spPr>
          <a:xfrm xmlns:a="http://schemas.openxmlformats.org/drawingml/2006/main">
            <a:off x="4124325" y="4762500"/>
            <a:ext cx="190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162A0"/>
                </a:solidFill>
                <a:latin typeface="Arial"/>
                <a:ea typeface="Arial"/>
                <a:cs typeface="Arial"/>
              </a:defRPr>
            </a:pPr>
            <a:r>
              <a:rPr sz="1725" b="1">
                <a:solidFill>
                  <a:srgbClr val="2162A0"/>
                </a:solidFill>
                <a:latin typeface="Arial"/>
                <a:ea typeface="Arial"/>
                <a:cs typeface="Arial"/>
              </a:rPr>
              <a:t>μGuapo</a:t>
            </a:r>
          </a:p>
        </p:txBody>
      </p:sp>
      <p:sp>
        <p:nvSpPr>
          <p:cNvPr id="13" name="">
            <a:extLst xmlns:a="http://schemas.openxmlformats.org/drawingml/2006/main">
              <a:ext uri="{FF2B5EF4-FFF2-40B4-BE49-F238E27FC236}">
                <a16:creationId xmlns:a16="http://schemas.microsoft.com/office/drawing/2014/main" id="{8FA439FE-7F76-4E19-8317-FD0B452B9AC8}"/>
              </a:ext>
            </a:extLst>
          </p:cNvPr>
          <p:cNvSpPr>
            <a:spLocks xmlns:a="http://schemas.openxmlformats.org/drawingml/2006/main" noGrp="1"/>
          </p:cNvSpPr>
          <p:nvPr/>
        </p:nvSpPr>
        <p:spPr>
          <a:xfrm xmlns:a="http://schemas.openxmlformats.org/drawingml/2006/main">
            <a:off x="762000" y="22098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162A0"/>
                </a:solidFill>
                <a:latin typeface="Arial"/>
                <a:ea typeface="Arial"/>
                <a:cs typeface="Arial"/>
              </a:defRPr>
            </a:pPr>
            <a:r>
              <a:rPr sz="1725" b="1">
                <a:solidFill>
                  <a:srgbClr val="2162A0"/>
                </a:solidFill>
                <a:latin typeface="Arial"/>
                <a:ea typeface="Arial"/>
                <a:cs typeface="Arial"/>
              </a:rPr>
              <a:t>μJoven</a:t>
            </a:r>
          </a:p>
        </p:txBody>
      </p:sp>
      <p:sp>
        <p:nvSpPr>
          <p:cNvPr id="14" name="">
            <a:extLst xmlns:a="http://schemas.openxmlformats.org/drawingml/2006/main">
              <a:ext uri="{FF2B5EF4-FFF2-40B4-BE49-F238E27FC236}">
                <a16:creationId xmlns:a16="http://schemas.microsoft.com/office/drawing/2014/main" id="{A7CD3E60-71DA-4DFB-BF6C-57ECAC9B10D4}"/>
              </a:ext>
            </a:extLst>
          </p:cNvPr>
          <p:cNvSpPr>
            <a:spLocks xmlns:a="http://schemas.openxmlformats.org/drawingml/2006/main" noGrp="1"/>
          </p:cNvSpPr>
          <p:nvPr/>
        </p:nvSpPr>
        <p:spPr>
          <a:xfrm xmlns:a="http://schemas.openxmlformats.org/drawingml/2006/main">
            <a:off x="904875" y="5286375"/>
            <a:ext cx="171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0">
                <a:solidFill>
                  <a:srgbClr val="233746"/>
                </a:solidFill>
                <a:latin typeface="Arial"/>
                <a:ea typeface="Arial"/>
                <a:cs typeface="Arial"/>
              </a:defRPr>
            </a:pPr>
            <a:r>
              <a:rPr sz="1575" b="0">
                <a:solidFill>
                  <a:srgbClr val="233746"/>
                </a:solidFill>
                <a:latin typeface="Arial"/>
                <a:ea typeface="Arial"/>
                <a:cs typeface="Arial"/>
              </a:rPr>
              <a:t>(0, 0, 0)</a:t>
            </a:r>
          </a:p>
        </p:txBody>
      </p:sp>
      <p:sp>
        <p:nvSpPr>
          <p:cNvPr id="15" name="">
            <a:extLst xmlns:a="http://schemas.openxmlformats.org/drawingml/2006/main">
              <a:ext uri="{FF2B5EF4-FFF2-40B4-BE49-F238E27FC236}">
                <a16:creationId xmlns:a16="http://schemas.microsoft.com/office/drawing/2014/main" id="{067B3750-48A5-40A6-BD04-EA32082F3404}"/>
              </a:ext>
            </a:extLst>
          </p:cNvPr>
          <p:cNvSpPr>
            <a:spLocks xmlns:a="http://schemas.openxmlformats.org/drawingml/2006/main" noGrp="1"/>
          </p:cNvSpPr>
          <p:nvPr/>
        </p:nvSpPr>
        <p:spPr>
          <a:xfrm xmlns:a="http://schemas.openxmlformats.org/drawingml/2006/main">
            <a:off x="6477000" y="2266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Un punto = el perfil de Ana</a:t>
            </a:r>
          </a:p>
        </p:txBody>
      </p:sp>
      <p:sp>
        <p:nvSpPr>
          <p:cNvPr id="16" name="">
            <a:extLst xmlns:a="http://schemas.openxmlformats.org/drawingml/2006/main">
              <a:ext uri="{FF2B5EF4-FFF2-40B4-BE49-F238E27FC236}">
                <a16:creationId xmlns:a16="http://schemas.microsoft.com/office/drawing/2014/main" id="{546C8436-F11D-4905-8230-6696C72A2C8A}"/>
              </a:ext>
            </a:extLst>
          </p:cNvPr>
          <p:cNvSpPr>
            <a:spLocks xmlns:a="http://schemas.openxmlformats.org/drawingml/2006/main" noGrp="1"/>
          </p:cNvSpPr>
          <p:nvPr/>
        </p:nvSpPr>
        <p:spPr>
          <a:xfrm xmlns:a="http://schemas.openxmlformats.org/drawingml/2006/main">
            <a:off x="6477000" y="278130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(μAlto(Ana), μGuapo(Ana),</a:t>
            </a:r>
          </a:p>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μJoven(Ana))</a:t>
            </a:r>
          </a:p>
        </p:txBody>
      </p:sp>
      <p:sp>
        <p:nvSpPr>
          <p:cNvPr id="17" name="">
            <a:extLst xmlns:a="http://schemas.openxmlformats.org/drawingml/2006/main">
              <a:ext uri="{FF2B5EF4-FFF2-40B4-BE49-F238E27FC236}">
                <a16:creationId xmlns:a16="http://schemas.microsoft.com/office/drawing/2014/main" id="{72AE05CB-C659-4805-9A2E-3D3DEA85F741}"/>
              </a:ext>
            </a:extLst>
          </p:cNvPr>
          <p:cNvSpPr>
            <a:spLocks xmlns:a="http://schemas.openxmlformats.org/drawingml/2006/main" noGrp="1"/>
          </p:cNvSpPr>
          <p:nvPr/>
        </p:nvSpPr>
        <p:spPr>
          <a:xfrm xmlns:a="http://schemas.openxmlformats.org/drawingml/2006/main">
            <a:off x="6477000" y="3752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Crisp: 0 o 1 en cada concepto</a:t>
            </a:r>
          </a:p>
        </p:txBody>
      </p:sp>
      <p:sp>
        <p:nvSpPr>
          <p:cNvPr id="18" name="">
            <a:extLst xmlns:a="http://schemas.openxmlformats.org/drawingml/2006/main">
              <a:ext uri="{FF2B5EF4-FFF2-40B4-BE49-F238E27FC236}">
                <a16:creationId xmlns:a16="http://schemas.microsoft.com/office/drawing/2014/main" id="{EB7AB1E9-2F3E-4BE4-92C4-6A5E5C0B1351}"/>
              </a:ext>
            </a:extLst>
          </p:cNvPr>
          <p:cNvSpPr>
            <a:spLocks xmlns:a="http://schemas.openxmlformats.org/drawingml/2006/main" noGrp="1"/>
          </p:cNvSpPr>
          <p:nvPr/>
        </p:nvSpPr>
        <p:spPr>
          <a:xfrm xmlns:a="http://schemas.openxmlformats.org/drawingml/2006/main">
            <a:off x="6477000" y="42195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Los 8 vértices son perfiles de sí/no.</a:t>
            </a:r>
          </a:p>
        </p:txBody>
      </p:sp>
      <p:sp>
        <p:nvSpPr>
          <p:cNvPr id="19" name="">
            <a:extLst xmlns:a="http://schemas.openxmlformats.org/drawingml/2006/main">
              <a:ext uri="{FF2B5EF4-FFF2-40B4-BE49-F238E27FC236}">
                <a16:creationId xmlns:a16="http://schemas.microsoft.com/office/drawing/2014/main" id="{A49AC018-579B-4891-95BA-D3A02C1E0BA6}"/>
              </a:ext>
            </a:extLst>
          </p:cNvPr>
          <p:cNvSpPr>
            <a:spLocks xmlns:a="http://schemas.openxmlformats.org/drawingml/2006/main" noGrp="1"/>
          </p:cNvSpPr>
          <p:nvPr/>
        </p:nvSpPr>
        <p:spPr>
          <a:xfrm xmlns:a="http://schemas.openxmlformats.org/drawingml/2006/main">
            <a:off x="6477000" y="4838700"/>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Fuzzy: también grados intermedios</a:t>
            </a:r>
          </a:p>
        </p:txBody>
      </p:sp>
      <p:sp>
        <p:nvSpPr>
          <p:cNvPr id="20" name="">
            <a:extLst xmlns:a="http://schemas.openxmlformats.org/drawingml/2006/main">
              <a:ext uri="{FF2B5EF4-FFF2-40B4-BE49-F238E27FC236}">
                <a16:creationId xmlns:a16="http://schemas.microsoft.com/office/drawing/2014/main" id="{160C9702-0FF0-40B0-B894-4D5CEC63C28F}"/>
              </a:ext>
            </a:extLst>
          </p:cNvPr>
          <p:cNvSpPr>
            <a:spLocks xmlns:a="http://schemas.openxmlformats.org/drawingml/2006/main" noGrp="1"/>
          </p:cNvSpPr>
          <p:nvPr/>
        </p:nvSpPr>
        <p:spPr>
          <a:xfrm xmlns:a="http://schemas.openxmlformats.org/drawingml/2006/main">
            <a:off x="6477000" y="5305425"/>
            <a:ext cx="4953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Ejemplo de perfil: (0,8; 0,3; 0,6).</a:t>
            </a:r>
          </a:p>
        </p:txBody>
      </p:sp>
      <p:sp>
        <p:nvSpPr>
          <p:cNvPr id="21" name="">
            <a:extLst xmlns:a="http://schemas.openxmlformats.org/drawingml/2006/main">
              <a:ext uri="{FF2B5EF4-FFF2-40B4-BE49-F238E27FC236}">
                <a16:creationId xmlns:a16="http://schemas.microsoft.com/office/drawing/2014/main" id="{7779A50E-9F3B-419A-8145-0F648C81608D}"/>
              </a:ext>
            </a:extLst>
          </p:cNvPr>
          <p:cNvSpPr>
            <a:spLocks xmlns:a="http://schemas.openxmlformats.org/drawingml/2006/main" noGrp="1"/>
          </p:cNvSpPr>
          <p:nvPr/>
        </p:nvSpPr>
        <p:spPr>
          <a:xfrm xmlns:a="http://schemas.openxmlformats.org/drawingml/2006/main">
            <a:off x="762000" y="5943600"/>
            <a:ext cx="10715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Centro (0,5; 0,5; 0,5): máxima difusidad en los tres conceptos.</a:t>
            </a:r>
          </a:p>
        </p:txBody>
      </p:sp>
      <p:sp>
        <p:nvSpPr>
          <p:cNvPr id="22" name="">
            <a:extLst xmlns:a="http://schemas.openxmlformats.org/drawingml/2006/main">
              <a:ext uri="{FF2B5EF4-FFF2-40B4-BE49-F238E27FC236}">
                <a16:creationId xmlns:a16="http://schemas.microsoft.com/office/drawing/2014/main" id="{E4A9B223-F4E0-47AF-9A25-789FA160AE6E}"/>
              </a:ext>
            </a:extLst>
          </p:cNvPr>
          <p:cNvSpPr>
            <a:spLocks xmlns:a="http://schemas.openxmlformats.org/drawingml/2006/main" noGrp="1"/>
          </p:cNvSpPr>
          <p:nvPr/>
        </p:nvSpPr>
        <p:spPr>
          <a:xfrm xmlns:a="http://schemas.openxmlformats.org/drawingml/2006/main">
            <a:off x="762000" y="637222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0">
                <a:solidFill>
                  <a:srgbClr val="233746"/>
                </a:solidFill>
                <a:latin typeface="Arial"/>
                <a:ea typeface="Arial"/>
                <a:cs typeface="Arial"/>
              </a:defRPr>
            </a:pPr>
            <a:r>
              <a:rPr sz="1575" b="0">
                <a:solidFill>
                  <a:srgbClr val="233746"/>
                </a:solidFill>
                <a:latin typeface="Arial"/>
                <a:ea typeface="Arial"/>
                <a:cs typeface="Arial"/>
              </a:rPr>
              <a:t>Son grados de pertenencia: no tienen que sumar 1.</a:t>
            </a:r>
          </a:p>
        </p:txBody>
      </p:sp>
      <p:sp>
        <p:nvSpPr>
          <p:cNvPr id="27" name="">
            <a:extLst xmlns:a="http://schemas.openxmlformats.org/drawingml/2006/main">
              <a:ext uri="{FF2B5EF4-FFF2-40B4-BE49-F238E27FC236}">
                <a16:creationId xmlns:a16="http://schemas.microsoft.com/office/drawing/2014/main" id="{5323B623-13A5-43F4-99B0-1CC43E0D6AA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CA6EF252-94E2-4FC3-9B1E-B99908660CD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Capítulos 1–3 · conceptos y pertenencia</a:t>
            </a:r>
          </a:p>
        </p:txBody>
      </p:sp>
    </p:spTree>
    <p:extLst>
      <p:ext uri="{BB962C8B-B14F-4D97-AF65-F5344CB8AC3E}">
        <p14:creationId xmlns:p14="http://schemas.microsoft.com/office/powerpoint/2010/main" val="172189652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Dos vasos: probabilidad y pertenencia fuzzy</a:t>
            </a:r>
          </a:p>
        </p:txBody>
      </p:sp>
      <p:sp>
        <p:nvSpPr>
          <p:cNvPr id="9" name="">
            <a:extLst xmlns:a="http://schemas.openxmlformats.org/drawingml/2006/main">
              <a:ext uri="{FF2B5EF4-FFF2-40B4-BE49-F238E27FC236}">
                <a16:creationId xmlns:a16="http://schemas.microsoft.com/office/drawing/2014/main" id="{FA1F9CC6-D118-45CD-82C3-BCE88A141E8E}"/>
              </a:ext>
            </a:extLst>
          </p:cNvPr>
          <p:cNvSpPr>
            <a:spLocks xmlns:a="http://schemas.openxmlformats.org/drawingml/2006/main" noGrp="1"/>
          </p:cNvSpPr>
          <p:nvPr/>
        </p:nvSpPr>
        <p:spPr>
          <a:xfrm xmlns:a="http://schemas.openxmlformats.org/drawingml/2006/main">
            <a:off x="762000" y="14763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2162A0"/>
                </a:solidFill>
                <a:latin typeface="Arial"/>
                <a:ea typeface="Arial"/>
                <a:cs typeface="Arial"/>
              </a:defRPr>
            </a:pPr>
            <a:r>
              <a:rPr sz="2250" b="1">
                <a:solidFill>
                  <a:srgbClr val="2162A0"/>
                </a:solidFill>
                <a:latin typeface="Arial"/>
                <a:ea typeface="Arial"/>
                <a:cs typeface="Arial"/>
              </a:rPr>
              <a:t>Vaso A: probabilidad</a:t>
            </a:r>
          </a:p>
        </p:txBody>
      </p:sp>
      <p:sp>
        <p:nvSpPr>
          <p:cNvPr id="10" name="">
            <a:extLst xmlns:a="http://schemas.openxmlformats.org/drawingml/2006/main">
              <a:ext uri="{FF2B5EF4-FFF2-40B4-BE49-F238E27FC236}">
                <a16:creationId xmlns:a16="http://schemas.microsoft.com/office/drawing/2014/main" id="{60B7937A-B70F-49C7-9127-3715E8AE8093}"/>
              </a:ext>
            </a:extLst>
          </p:cNvPr>
          <p:cNvSpPr>
            <a:spLocks xmlns:a="http://schemas.openxmlformats.org/drawingml/2006/main" noGrp="1"/>
          </p:cNvSpPr>
          <p:nvPr/>
        </p:nvSpPr>
        <p:spPr>
          <a:xfrm xmlns:a="http://schemas.openxmlformats.org/drawingml/2006/main">
            <a:off x="6381750" y="1476375"/>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Vaso B: pertenencia fuzzy</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4693286c62314277"/>
          <a:srcRect xmlns:a="http://schemas.openxmlformats.org/drawingml/2006/main" l="0" t="12289" r="0" b="12289"/>
          <a:stretch xmlns:a="http://schemas.openxmlformats.org/drawingml/2006/main">
            <a:fillRect l="0" t="0" r="0" b="0"/>
          </a:stretch>
        </p:blipFill>
        <p:spPr>
          <a:xfrm xmlns:a="http://schemas.openxmlformats.org/drawingml/2006/main">
            <a:off x="1333500" y="1828800"/>
            <a:ext cx="9525000" cy="24765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7781B77C-8C0B-47FD-9F48-408B9075221E}"/>
              </a:ext>
            </a:extLst>
          </p:cNvPr>
          <p:cNvSpPr>
            <a:spLocks xmlns:a="http://schemas.openxmlformats.org/drawingml/2006/main" noGrp="1"/>
          </p:cNvSpPr>
          <p:nvPr/>
        </p:nvSpPr>
        <p:spPr>
          <a:xfrm xmlns:a="http://schemas.openxmlformats.org/drawingml/2006/main">
            <a:off x="762000" y="433387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95 % de probabilidad de estar sano</a:t>
            </a:r>
          </a:p>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5 % de estar envenenado</a:t>
            </a:r>
          </a:p>
        </p:txBody>
      </p:sp>
      <p:sp>
        <p:nvSpPr>
          <p:cNvPr id="13" name="">
            <a:extLst xmlns:a="http://schemas.openxmlformats.org/drawingml/2006/main">
              <a:ext uri="{FF2B5EF4-FFF2-40B4-BE49-F238E27FC236}">
                <a16:creationId xmlns:a16="http://schemas.microsoft.com/office/drawing/2014/main" id="{1FC15B68-C7DB-4B35-A97E-5C93B443D6BE}"/>
              </a:ext>
            </a:extLst>
          </p:cNvPr>
          <p:cNvSpPr>
            <a:spLocks xmlns:a="http://schemas.openxmlformats.org/drawingml/2006/main" noGrp="1"/>
          </p:cNvSpPr>
          <p:nvPr/>
        </p:nvSpPr>
        <p:spPr>
          <a:xfrm xmlns:a="http://schemas.openxmlformats.org/drawingml/2006/main">
            <a:off x="6381750" y="433387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Pertenencia a «bueno»: 0,95</a:t>
            </a:r>
          </a:p>
        </p:txBody>
      </p:sp>
      <p:sp>
        <p:nvSpPr>
          <p:cNvPr id="14" name="">
            <a:extLst xmlns:a="http://schemas.openxmlformats.org/drawingml/2006/main">
              <a:ext uri="{FF2B5EF4-FFF2-40B4-BE49-F238E27FC236}">
                <a16:creationId xmlns:a16="http://schemas.microsoft.com/office/drawing/2014/main" id="{991B3A71-5AAD-4F9D-B420-CFE39B7681BA}"/>
              </a:ext>
            </a:extLst>
          </p:cNvPr>
          <p:cNvSpPr>
            <a:spLocks xmlns:a="http://schemas.openxmlformats.org/drawingml/2006/main" noGrp="1"/>
          </p:cNvSpPr>
          <p:nvPr/>
        </p:nvSpPr>
        <p:spPr>
          <a:xfrm xmlns:a="http://schemas.openxmlformats.org/drawingml/2006/main">
            <a:off x="762000" y="5114925"/>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No sabemos si está sano o envenenado.</a:t>
            </a:r>
          </a:p>
        </p:txBody>
      </p:sp>
      <p:sp>
        <p:nvSpPr>
          <p:cNvPr id="15" name="">
            <a:extLst xmlns:a="http://schemas.openxmlformats.org/drawingml/2006/main">
              <a:ext uri="{FF2B5EF4-FFF2-40B4-BE49-F238E27FC236}">
                <a16:creationId xmlns:a16="http://schemas.microsoft.com/office/drawing/2014/main" id="{94250CDD-6629-40C8-AD1B-3C9300B022FB}"/>
              </a:ext>
            </a:extLst>
          </p:cNvPr>
          <p:cNvSpPr>
            <a:spLocks xmlns:a="http://schemas.openxmlformats.org/drawingml/2006/main" noGrp="1"/>
          </p:cNvSpPr>
          <p:nvPr/>
        </p:nvSpPr>
        <p:spPr>
          <a:xfrm xmlns:a="http://schemas.openxmlformats.org/drawingml/2006/main">
            <a:off x="6381750" y="5114925"/>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Grado de «bueno», no probabilidad.</a:t>
            </a:r>
          </a:p>
        </p:txBody>
      </p:sp>
      <p:sp>
        <p:nvSpPr>
          <p:cNvPr id="16" name="">
            <a:extLst xmlns:a="http://schemas.openxmlformats.org/drawingml/2006/main">
              <a:ext uri="{FF2B5EF4-FFF2-40B4-BE49-F238E27FC236}">
                <a16:creationId xmlns:a16="http://schemas.microsoft.com/office/drawing/2014/main" id="{685EBD34-4928-4C9B-B00C-99A1BAE2A9AD}"/>
              </a:ext>
            </a:extLst>
          </p:cNvPr>
          <p:cNvSpPr>
            <a:spLocks xmlns:a="http://schemas.openxmlformats.org/drawingml/2006/main" noGrp="1"/>
          </p:cNvSpPr>
          <p:nvPr/>
        </p:nvSpPr>
        <p:spPr>
          <a:xfrm xmlns:a="http://schemas.openxmlformats.org/drawingml/2006/main">
            <a:off x="762000" y="55054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33746"/>
                </a:solidFill>
                <a:latin typeface="Arial"/>
                <a:ea typeface="Arial"/>
                <a:cs typeface="Arial"/>
              </a:defRPr>
            </a:pPr>
            <a:r>
              <a:rPr sz="1725" b="1">
                <a:solidFill>
                  <a:srgbClr val="233746"/>
                </a:solidFill>
                <a:latin typeface="Arial"/>
                <a:ea typeface="Arial"/>
                <a:cs typeface="Arial"/>
              </a:rPr>
              <a:t>Al analizarlo, resolvemos la duda:</a:t>
            </a:r>
          </a:p>
          <a:p xmlns:a="http://schemas.openxmlformats.org/drawingml/2006/main">
            <a:pPr>
              <a:buNone/>
              <a:defRPr sz="1725" b="1">
                <a:solidFill>
                  <a:srgbClr val="233746"/>
                </a:solidFill>
                <a:latin typeface="Arial"/>
                <a:ea typeface="Arial"/>
                <a:cs typeface="Arial"/>
              </a:defRPr>
            </a:pPr>
            <a:r>
              <a:rPr sz="1725" b="1">
                <a:solidFill>
                  <a:srgbClr val="233746"/>
                </a:solidFill>
                <a:latin typeface="Arial"/>
                <a:ea typeface="Arial"/>
                <a:cs typeface="Arial"/>
              </a:rPr>
              <a:t>está sano o está envenenado.</a:t>
            </a:r>
          </a:p>
        </p:txBody>
      </p:sp>
      <p:sp>
        <p:nvSpPr>
          <p:cNvPr id="17" name="">
            <a:extLst xmlns:a="http://schemas.openxmlformats.org/drawingml/2006/main">
              <a:ext uri="{FF2B5EF4-FFF2-40B4-BE49-F238E27FC236}">
                <a16:creationId xmlns:a16="http://schemas.microsoft.com/office/drawing/2014/main" id="{42040B7B-DDE5-472A-B999-DE8157BE7226}"/>
              </a:ext>
            </a:extLst>
          </p:cNvPr>
          <p:cNvSpPr>
            <a:spLocks xmlns:a="http://schemas.openxmlformats.org/drawingml/2006/main" noGrp="1"/>
          </p:cNvSpPr>
          <p:nvPr/>
        </p:nvSpPr>
        <p:spPr>
          <a:xfrm xmlns:a="http://schemas.openxmlformats.org/drawingml/2006/main">
            <a:off x="6381750" y="55054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33746"/>
                </a:solidFill>
                <a:latin typeface="Arial"/>
                <a:ea typeface="Arial"/>
                <a:cs typeface="Arial"/>
              </a:defRPr>
            </a:pPr>
            <a:r>
              <a:rPr sz="1725" b="1">
                <a:solidFill>
                  <a:srgbClr val="233746"/>
                </a:solidFill>
                <a:latin typeface="Arial"/>
                <a:ea typeface="Arial"/>
                <a:cs typeface="Arial"/>
              </a:rPr>
              <a:t>Al conocerlo, la pertenencia puede</a:t>
            </a:r>
          </a:p>
          <a:p xmlns:a="http://schemas.openxmlformats.org/drawingml/2006/main">
            <a:pPr>
              <a:buNone/>
              <a:defRPr sz="1725" b="1">
                <a:solidFill>
                  <a:srgbClr val="233746"/>
                </a:solidFill>
                <a:latin typeface="Arial"/>
                <a:ea typeface="Arial"/>
                <a:cs typeface="Arial"/>
              </a:defRPr>
            </a:pPr>
            <a:r>
              <a:rPr sz="1725" b="1">
                <a:solidFill>
                  <a:srgbClr val="233746"/>
                </a:solidFill>
                <a:latin typeface="Arial"/>
                <a:ea typeface="Arial"/>
                <a:cs typeface="Arial"/>
              </a:rPr>
              <a:t>seguir siendo 0,95: el criterio es gradual.</a:t>
            </a:r>
          </a:p>
        </p:txBody>
      </p:sp>
      <p:sp>
        <p:nvSpPr>
          <p:cNvPr id="18" name="">
            <a:extLst xmlns:a="http://schemas.openxmlformats.org/drawingml/2006/main">
              <a:ext uri="{FF2B5EF4-FFF2-40B4-BE49-F238E27FC236}">
                <a16:creationId xmlns:a16="http://schemas.microsoft.com/office/drawing/2014/main" id="{D4ABE310-DD53-4304-93AA-D52FFEA1E45C}"/>
              </a:ext>
            </a:extLst>
          </p:cNvPr>
          <p:cNvSpPr>
            <a:spLocks xmlns:a="http://schemas.openxmlformats.org/drawingml/2006/main" noGrp="1"/>
          </p:cNvSpPr>
          <p:nvPr/>
        </p:nvSpPr>
        <p:spPr>
          <a:xfrm xmlns:a="http://schemas.openxmlformats.org/drawingml/2006/main">
            <a:off x="762000" y="6257925"/>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233746"/>
                </a:solidFill>
                <a:latin typeface="Arial"/>
                <a:ea typeface="Arial"/>
                <a:cs typeface="Arial"/>
              </a:defRPr>
            </a:pPr>
            <a:r>
              <a:rPr sz="1425" b="0">
                <a:solidFill>
                  <a:srgbClr val="233746"/>
                </a:solidFill>
                <a:latin typeface="Arial"/>
                <a:ea typeface="Arial"/>
                <a:cs typeface="Arial"/>
              </a:rPr>
              <a:t>0,95 fuzzy no significa «95 % agua y 5 % veneno» ni garantiza que sea seguro beberlo.</a:t>
            </a:r>
          </a:p>
        </p:txBody>
      </p:sp>
      <p:sp>
        <p:nvSpPr>
          <p:cNvPr id="23" name="">
            <a:extLst xmlns:a="http://schemas.openxmlformats.org/drawingml/2006/main">
              <a:ext uri="{FF2B5EF4-FFF2-40B4-BE49-F238E27FC236}">
                <a16:creationId xmlns:a16="http://schemas.microsoft.com/office/drawing/2014/main" id="{18F1EA31-4F70-4DBB-91A6-60557C4809B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3CCEBAF-2674-4F04-B84B-CD7A7AEB5BE4}"/>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Capítulos 1–3 · conceptos y pertenencia</a:t>
            </a:r>
          </a:p>
        </p:txBody>
      </p:sp>
    </p:spTree>
    <p:extLst>
      <p:ext uri="{BB962C8B-B14F-4D97-AF65-F5344CB8AC3E}">
        <p14:creationId xmlns:p14="http://schemas.microsoft.com/office/powerpoint/2010/main" val="17218965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¿Qué fuentes de incertidumbre aborda fuzzy?</a:t>
            </a:r>
          </a:p>
        </p:txBody>
      </p:sp>
      <p:graphicFrame>
        <p:nvGraphicFramePr>
          <p:cNvPr id="23" name=""/>
          <p:cNvGraphicFramePr/>
          <p:nvPr/>
        </p:nvGraphicFramePr>
        <p:xfrm>
          <a:off xmlns:a="http://schemas.openxmlformats.org/drawingml/2006/main" x="762000" y="1638300"/>
          <a:ext xmlns:a="http://schemas.openxmlformats.org/drawingml/2006/main" cx="10668000" cy="3943350"/>
        </p:xfrm>
        <a:graphic xmlns:a="http://schemas.openxmlformats.org/drawingml/2006/main">
          <a:graphicData uri="http://schemas.openxmlformats.org/drawingml/2006/table">
            <a:tbl>
              <a:tblPr/>
              <a:tblGrid>
                <a:gridCol w="3476625"/>
                <a:gridCol w="7191375"/>
              </a:tblGrid>
              <a:tr h="552450">
                <a:tc>
                  <a:txBody>
                    <a:bodyPr lIns="133350" tIns="95250" rIns="133350" bIns="95250"/>
                    <a:lstStyle/>
                    <a:p>
                      <a:r>
                        <a:rPr sz="2025" b="1">
                          <a:solidFill>
                            <a:srgbClr val="FFFFFF"/>
                          </a:solidFill>
                          <a:latin typeface="Arial"/>
                          <a:ea typeface="Arial"/>
                          <a:cs typeface="Arial"/>
                        </a:rPr>
                        <a:t>Fuente de incertidumbre</a:t>
                      </a:r>
                    </a:p>
                  </a:txBody>
                  <a:tcPr marL="91440" marR="91440" marT="45720" marB="45720" anchor="ctr">
                    <a:solidFill>
                      <a:srgbClr val="D96B18"/>
                    </a:solidFill>
                  </a:tcPr>
                </a:tc>
                <a:tc>
                  <a:txBody>
                    <a:bodyPr lIns="133350" tIns="95250" rIns="133350" bIns="95250"/>
                    <a:lstStyle/>
                    <a:p>
                      <a:r>
                        <a:rPr sz="2025" b="1">
                          <a:solidFill>
                            <a:srgbClr val="FFFFFF"/>
                          </a:solidFill>
                          <a:latin typeface="Arial"/>
                          <a:ea typeface="Arial"/>
                          <a:cs typeface="Arial"/>
                        </a:rPr>
                        <a:t>¿Qué aporta fuzzy?</a:t>
                      </a:r>
                    </a:p>
                  </a:txBody>
                  <a:tcPr marL="91440" marR="91440" marT="45720" marB="45720" anchor="ctr">
                    <a:solidFill>
                      <a:srgbClr val="D96B18"/>
                    </a:solidFill>
                  </a:tcPr>
                </a:tc>
              </a:tr>
              <a:tr h="847725">
                <a:tc>
                  <a:txBody>
                    <a:bodyPr lIns="133350" tIns="95250" rIns="133350" bIns="95250"/>
                    <a:lstStyle/>
                    <a:p>
                      <a:r>
                        <a:rPr sz="1875" b="1">
                          <a:solidFill>
                            <a:srgbClr val="233746"/>
                          </a:solidFill>
                          <a:latin typeface="Arial"/>
                          <a:ea typeface="Arial"/>
                          <a:cs typeface="Arial"/>
                        </a:rPr>
                        <a:t>Vaguedad del lenguaje</a:t>
                      </a:r>
                    </a:p>
                    <a:p>
                      <a:r>
                        <a:rPr sz="1875" b="1">
                          <a:solidFill>
                            <a:srgbClr val="233746"/>
                          </a:solidFill>
                          <a:latin typeface="Arial"/>
                          <a:ea typeface="Arial"/>
                          <a:cs typeface="Arial"/>
                        </a:rPr>
                        <a:t>(no aleatoria)</a:t>
                      </a:r>
                    </a:p>
                  </a:txBody>
                  <a:tcPr marL="91440" marR="91440" marT="45720" marB="45720" anchor="ctr">
                    <a:solidFill>
                      <a:srgbClr val="FFF3E8"/>
                    </a:solidFill>
                  </a:tcPr>
                </a:tc>
                <a:tc>
                  <a:txBody>
                    <a:bodyPr lIns="133350" tIns="95250" rIns="133350" bIns="95250"/>
                    <a:lstStyle/>
                    <a:p>
                      <a:r>
                        <a:rPr sz="1875" b="0">
                          <a:solidFill>
                            <a:srgbClr val="233746"/>
                          </a:solidFill>
                          <a:latin typeface="Arial"/>
                          <a:ea typeface="Arial"/>
                          <a:cs typeface="Arial"/>
                        </a:rPr>
                        <a:t>«Temperatura agradable»: representamos</a:t>
                      </a:r>
                    </a:p>
                    <a:p>
                      <a:r>
                        <a:rPr sz="1875" b="0">
                          <a:solidFill>
                            <a:srgbClr val="233746"/>
                          </a:solidFill>
                          <a:latin typeface="Arial"/>
                          <a:ea typeface="Arial"/>
                          <a:cs typeface="Arial"/>
                        </a:rPr>
                        <a:t>su vaguedad con grados de pertenencia.</a:t>
                      </a:r>
                    </a:p>
                  </a:txBody>
                  <a:tcPr marL="91440" marR="91440" marT="45720" marB="45720" anchor="ctr">
                    <a:solidFill>
                      <a:srgbClr val="FFF3E8"/>
                    </a:solidFill>
                  </a:tcPr>
                </a:tc>
              </a:tr>
              <a:tr h="847725">
                <a:tc>
                  <a:txBody>
                    <a:bodyPr lIns="133350" tIns="95250" rIns="133350" bIns="95250"/>
                    <a:lstStyle/>
                    <a:p>
                      <a:r>
                        <a:rPr sz="1875" b="1">
                          <a:solidFill>
                            <a:srgbClr val="233746"/>
                          </a:solidFill>
                          <a:latin typeface="Arial"/>
                          <a:ea typeface="Arial"/>
                          <a:cs typeface="Arial"/>
                        </a:rPr>
                        <a:t>Aleatoriedad</a:t>
                      </a:r>
                    </a:p>
                    <a:p>
                      <a:r>
                        <a:rPr sz="1875" b="1">
                          <a:solidFill>
                            <a:srgbClr val="233746"/>
                          </a:solidFill>
                          <a:latin typeface="Arial"/>
                          <a:ea typeface="Arial"/>
                          <a:cs typeface="Arial"/>
                        </a:rPr>
                        <a:t>Ruido en un sensor</a:t>
                      </a:r>
                    </a:p>
                  </a:txBody>
                  <a:tcPr marL="91440" marR="91440" marT="45720" marB="45720" anchor="ctr">
                    <a:solidFill>
                      <a:srgbClr val="FFFFFF"/>
                    </a:solidFill>
                  </a:tcPr>
                </a:tc>
                <a:tc>
                  <a:txBody>
                    <a:bodyPr lIns="133350" tIns="95250" rIns="133350" bIns="95250"/>
                    <a:lstStyle/>
                    <a:p>
                      <a:r>
                        <a:rPr sz="1875" b="0">
                          <a:solidFill>
                            <a:srgbClr val="233746"/>
                          </a:solidFill>
                          <a:latin typeface="Arial"/>
                          <a:ea typeface="Arial"/>
                          <a:cs typeface="Arial"/>
                        </a:rPr>
                        <a:t>La probabilidad modela el ruido aleatorio.</a:t>
                      </a:r>
                    </a:p>
                    <a:p>
                      <a:r>
                        <a:rPr sz="1875" b="0">
                          <a:solidFill>
                            <a:srgbClr val="233746"/>
                          </a:solidFill>
                          <a:latin typeface="Arial"/>
                          <a:ea typeface="Arial"/>
                          <a:cs typeface="Arial"/>
                        </a:rPr>
                        <a:t>Puede combinarse con un sistema fuzzy.</a:t>
                      </a:r>
                    </a:p>
                  </a:txBody>
                  <a:tcPr marL="91440" marR="91440" marT="45720" marB="45720" anchor="ctr">
                    <a:solidFill>
                      <a:srgbClr val="FFFFFF"/>
                    </a:solidFill>
                  </a:tcPr>
                </a:tc>
              </a:tr>
              <a:tr h="847725">
                <a:tc>
                  <a:txBody>
                    <a:bodyPr lIns="133350" tIns="95250" rIns="133350" bIns="95250"/>
                    <a:lstStyle/>
                    <a:p>
                      <a:r>
                        <a:rPr sz="1875" b="1">
                          <a:solidFill>
                            <a:srgbClr val="233746"/>
                          </a:solidFill>
                          <a:latin typeface="Arial"/>
                          <a:ea typeface="Arial"/>
                          <a:cs typeface="Arial"/>
                        </a:rPr>
                        <a:t>Complejidad</a:t>
                      </a:r>
                    </a:p>
                    <a:p>
                      <a:r>
                        <a:rPr sz="1875" b="1">
                          <a:solidFill>
                            <a:srgbClr val="233746"/>
                          </a:solidFill>
                          <a:latin typeface="Arial"/>
                          <a:ea typeface="Arial"/>
                          <a:cs typeface="Arial"/>
                        </a:rPr>
                        <a:t>Sin una ecuación manejable</a:t>
                      </a:r>
                    </a:p>
                  </a:txBody>
                  <a:tcPr marL="91440" marR="91440" marT="45720" marB="45720" anchor="ctr">
                    <a:solidFill>
                      <a:srgbClr val="FFF3E8"/>
                    </a:solidFill>
                  </a:tcPr>
                </a:tc>
                <a:tc>
                  <a:txBody>
                    <a:bodyPr lIns="133350" tIns="95250" rIns="133350" bIns="95250"/>
                    <a:lstStyle/>
                    <a:p>
                      <a:r>
                        <a:rPr sz="1875" b="0">
                          <a:solidFill>
                            <a:srgbClr val="233746"/>
                          </a:solidFill>
                          <a:latin typeface="Arial"/>
                          <a:ea typeface="Arial"/>
                          <a:cs typeface="Arial"/>
                        </a:rPr>
                        <a:t>Aproxima el comportamiento usando</a:t>
                      </a:r>
                    </a:p>
                    <a:p>
                      <a:r>
                        <a:rPr sz="1875" b="0">
                          <a:solidFill>
                            <a:srgbClr val="233746"/>
                          </a:solidFill>
                          <a:latin typeface="Arial"/>
                          <a:ea typeface="Arial"/>
                          <a:cs typeface="Arial"/>
                        </a:rPr>
                        <a:t>reglas de expertos o datos disponibles.</a:t>
                      </a:r>
                    </a:p>
                  </a:txBody>
                  <a:tcPr marL="91440" marR="91440" marT="45720" marB="45720" anchor="ctr">
                    <a:solidFill>
                      <a:srgbClr val="FFF3E8"/>
                    </a:solidFill>
                  </a:tcPr>
                </a:tc>
              </a:tr>
              <a:tr h="847725">
                <a:tc>
                  <a:txBody>
                    <a:bodyPr lIns="133350" tIns="95250" rIns="133350" bIns="95250"/>
                    <a:lstStyle/>
                    <a:p>
                      <a:r>
                        <a:rPr sz="1875" b="1">
                          <a:solidFill>
                            <a:srgbClr val="233746"/>
                          </a:solidFill>
                          <a:latin typeface="Arial"/>
                          <a:ea typeface="Arial"/>
                          <a:cs typeface="Arial"/>
                        </a:rPr>
                        <a:t>Ignorancia o falta de conocimiento</a:t>
                      </a:r>
                    </a:p>
                  </a:txBody>
                  <a:tcPr marL="91440" marR="91440" marT="45720" marB="45720" anchor="ctr">
                    <a:solidFill>
                      <a:srgbClr val="FFFFFF"/>
                    </a:solidFill>
                  </a:tcPr>
                </a:tc>
                <a:tc>
                  <a:txBody>
                    <a:bodyPr lIns="133350" tIns="95250" rIns="133350" bIns="95250"/>
                    <a:lstStyle/>
                    <a:p>
                      <a:r>
                        <a:rPr sz="1875" b="0">
                          <a:solidFill>
                            <a:srgbClr val="233746"/>
                          </a:solidFill>
                          <a:latin typeface="Arial"/>
                          <a:ea typeface="Arial"/>
                          <a:cs typeface="Arial"/>
                        </a:rPr>
                        <a:t>Aprovecha lo que sí sabemos, pero necesita</a:t>
                      </a:r>
                    </a:p>
                    <a:p>
                      <a:r>
                        <a:rPr sz="1875" b="0">
                          <a:solidFill>
                            <a:srgbClr val="233746"/>
                          </a:solidFill>
                          <a:latin typeface="Arial"/>
                          <a:ea typeface="Arial"/>
                          <a:cs typeface="Arial"/>
                        </a:rPr>
                        <a:t>información para construir las reglas.</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9CA84916-0712-4F03-8F31-B414E13FF8C8}"/>
              </a:ext>
            </a:extLst>
          </p:cNvPr>
          <p:cNvSpPr>
            <a:spLocks xmlns:a="http://schemas.openxmlformats.org/drawingml/2006/main" noGrp="1"/>
          </p:cNvSpPr>
          <p:nvPr/>
        </p:nvSpPr>
        <p:spPr>
          <a:xfrm xmlns:a="http://schemas.openxmlformats.org/drawingml/2006/main">
            <a:off x="762000" y="58007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Bellman y Zadeh (1970): los grados de pertenencia permiten</a:t>
            </a:r>
          </a:p>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valorar objetivos y restricciones para tomar decisiones.</a:t>
            </a:r>
          </a:p>
        </p:txBody>
      </p:sp>
      <p:sp>
        <p:nvSpPr>
          <p:cNvPr id="15" name="">
            <a:extLst xmlns:a="http://schemas.openxmlformats.org/drawingml/2006/main">
              <a:ext uri="{FF2B5EF4-FFF2-40B4-BE49-F238E27FC236}">
                <a16:creationId xmlns:a16="http://schemas.microsoft.com/office/drawing/2014/main" id="{88E12F13-FE81-45B1-A43A-E369BAD485E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D0FAA2D-2029-4BA4-963C-29B14F211C8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Capítulos 1–3 · conceptos y pertenencia</a:t>
            </a:r>
          </a:p>
        </p:txBody>
      </p:sp>
    </p:spTree>
    <p:extLst>
      <p:ext uri="{BB962C8B-B14F-4D97-AF65-F5344CB8AC3E}">
        <p14:creationId xmlns:p14="http://schemas.microsoft.com/office/powerpoint/2010/main" val="172189652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Conjuntos fuzzy, reglas y aproximación</a:t>
            </a:r>
          </a:p>
        </p:txBody>
      </p:sp>
      <p:sp>
        <p:nvSpPr>
          <p:cNvPr id="9" name="">
            <a:extLst xmlns:a="http://schemas.openxmlformats.org/drawingml/2006/main">
              <a:ext uri="{FF2B5EF4-FFF2-40B4-BE49-F238E27FC236}">
                <a16:creationId xmlns:a16="http://schemas.microsoft.com/office/drawing/2014/main" id="{C952A55D-6437-4C7B-842F-62F62C9C3F12}"/>
              </a:ext>
            </a:extLst>
          </p:cNvPr>
          <p:cNvSpPr>
            <a:spLocks xmlns:a="http://schemas.openxmlformats.org/drawingml/2006/main" noGrp="1"/>
          </p:cNvSpPr>
          <p:nvPr/>
        </p:nvSpPr>
        <p:spPr>
          <a:xfrm xmlns:a="http://schemas.openxmlformats.org/drawingml/2006/main">
            <a:off x="762000" y="1409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D96B18"/>
                </a:solidFill>
                <a:latin typeface="Arial"/>
                <a:ea typeface="Arial"/>
                <a:cs typeface="Arial"/>
              </a:defRPr>
            </a:pPr>
            <a:r>
              <a:rPr sz="1875" b="1">
                <a:solidFill>
                  <a:srgbClr val="D96B18"/>
                </a:solidFill>
                <a:latin typeface="Arial"/>
                <a:ea typeface="Arial"/>
                <a:cs typeface="Arial"/>
              </a:rPr>
              <a:t>Conjuntos de entrada</a:t>
            </a:r>
          </a:p>
        </p:txBody>
      </p:sp>
      <p:sp>
        <p:nvSpPr>
          <p:cNvPr id="10" name="">
            <a:extLst xmlns:a="http://schemas.openxmlformats.org/drawingml/2006/main">
              <a:ext uri="{FF2B5EF4-FFF2-40B4-BE49-F238E27FC236}">
                <a16:creationId xmlns:a16="http://schemas.microsoft.com/office/drawing/2014/main" id="{0FC056BD-D020-452E-A397-1FB9BFE18930}"/>
              </a:ext>
            </a:extLst>
          </p:cNvPr>
          <p:cNvSpPr>
            <a:spLocks xmlns:a="http://schemas.openxmlformats.org/drawingml/2006/main" noGrp="1"/>
          </p:cNvSpPr>
          <p:nvPr/>
        </p:nvSpPr>
        <p:spPr>
          <a:xfrm xmlns:a="http://schemas.openxmlformats.org/drawingml/2006/main">
            <a:off x="6572250" y="1409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D96B18"/>
                </a:solidFill>
                <a:latin typeface="Arial"/>
                <a:ea typeface="Arial"/>
                <a:cs typeface="Arial"/>
              </a:defRPr>
            </a:pPr>
            <a:r>
              <a:rPr sz="1875" b="1">
                <a:solidFill>
                  <a:srgbClr val="D96B18"/>
                </a:solidFill>
                <a:latin typeface="Arial"/>
                <a:ea typeface="Arial"/>
                <a:cs typeface="Arial"/>
              </a:rPr>
              <a:t>Función y aproximación</a:t>
            </a:r>
          </a:p>
        </p:txBody>
      </p:sp>
      <p:graphicFrame>
        <p:nvGraphicFramePr>
          <p:cNvPr id="33" name="Chart"/>
          <p:cNvGraphicFramePr/>
          <p:nvPr/>
        </p:nvGraphicFramePr>
        <p:xfrm>
          <a:off xmlns:a="http://schemas.openxmlformats.org/drawingml/2006/main" x="619125" y="1857375"/>
          <a:ext xmlns:a="http://schemas.openxmlformats.org/drawingml/2006/main" cx="5143500" cy="2476500"/>
        </p:xfrm>
        <a:graphic xmlns:a="http://schemas.openxmlformats.org/drawingml/2006/main">
          <a:graphicData uri="http://schemas.openxmlformats.org/drawingml/2006/chart">
            <c:chart xmlns:r="http://schemas.openxmlformats.org/officeDocument/2006/relationships" xmlns:c="http://schemas.openxmlformats.org/drawingml/2006/chart" r:id="R4f68b7f0f16244d1"/>
          </a:graphicData>
        </a:graphic>
      </p:graphicFrame>
      <p:graphicFrame>
        <p:nvGraphicFramePr>
          <p:cNvPr id="34" name="Chart"/>
          <p:cNvGraphicFramePr/>
          <p:nvPr/>
        </p:nvGraphicFramePr>
        <p:xfrm>
          <a:off xmlns:a="http://schemas.openxmlformats.org/drawingml/2006/main" x="6429375" y="1857375"/>
          <a:ext xmlns:a="http://schemas.openxmlformats.org/drawingml/2006/main" cx="5048250" cy="2476500"/>
        </p:xfrm>
        <a:graphic xmlns:a="http://schemas.openxmlformats.org/drawingml/2006/main">
          <a:graphicData uri="http://schemas.openxmlformats.org/drawingml/2006/chart">
            <c:chart xmlns:r="http://schemas.openxmlformats.org/officeDocument/2006/relationships" xmlns:c="http://schemas.openxmlformats.org/drawingml/2006/chart" r:id="R9d97871956de4d49"/>
          </a:graphicData>
        </a:graphic>
      </p:graphicFrame>
      <p:sp>
        <p:nvSpPr>
          <p:cNvPr id="13" name="">
            <a:extLst xmlns:a="http://schemas.openxmlformats.org/drawingml/2006/main">
              <a:ext uri="{FF2B5EF4-FFF2-40B4-BE49-F238E27FC236}">
                <a16:creationId xmlns:a16="http://schemas.microsoft.com/office/drawing/2014/main" id="{E9B68262-9B77-4065-96E7-6032CB8AB27D}"/>
              </a:ext>
            </a:extLst>
          </p:cNvPr>
          <p:cNvSpPr>
            <a:spLocks xmlns:a="http://schemas.openxmlformats.org/drawingml/2006/main" noGrp="1"/>
          </p:cNvSpPr>
          <p:nvPr/>
        </p:nvSpPr>
        <p:spPr>
          <a:xfrm xmlns:a="http://schemas.openxmlformats.org/drawingml/2006/main">
            <a:off x="762000" y="4667250"/>
            <a:ext cx="5381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233746"/>
                </a:solidFill>
                <a:latin typeface="Arial"/>
                <a:ea typeface="Arial"/>
                <a:cs typeface="Arial"/>
              </a:defRPr>
            </a:pPr>
            <a:r>
              <a:rPr sz="1950" b="1">
                <a:solidFill>
                  <a:srgbClr val="233746"/>
                </a:solidFill>
                <a:latin typeface="Arial"/>
                <a:ea typeface="Arial"/>
                <a:cs typeface="Arial"/>
              </a:rPr>
              <a:t>SI x es Bajo, ENTONCES y = 0</a:t>
            </a:r>
          </a:p>
          <a:p xmlns:a="http://schemas.openxmlformats.org/drawingml/2006/main">
            <a:pPr>
              <a:buNone/>
              <a:defRPr sz="1950" b="1">
                <a:solidFill>
                  <a:srgbClr val="233746"/>
                </a:solidFill>
                <a:latin typeface="Arial"/>
                <a:ea typeface="Arial"/>
                <a:cs typeface="Arial"/>
              </a:defRPr>
            </a:pPr>
            <a:r>
              <a:rPr sz="1950" b="1">
                <a:solidFill>
                  <a:srgbClr val="233746"/>
                </a:solidFill>
                <a:latin typeface="Arial"/>
                <a:ea typeface="Arial"/>
                <a:cs typeface="Arial"/>
              </a:rPr>
              <a:t>SI x es Medio, ENTONCES y = 0,25</a:t>
            </a:r>
          </a:p>
          <a:p xmlns:a="http://schemas.openxmlformats.org/drawingml/2006/main">
            <a:pPr>
              <a:buNone/>
              <a:defRPr sz="1950" b="1">
                <a:solidFill>
                  <a:srgbClr val="233746"/>
                </a:solidFill>
                <a:latin typeface="Arial"/>
                <a:ea typeface="Arial"/>
                <a:cs typeface="Arial"/>
              </a:defRPr>
            </a:pPr>
            <a:r>
              <a:rPr sz="1950" b="1">
                <a:solidFill>
                  <a:srgbClr val="233746"/>
                </a:solidFill>
                <a:latin typeface="Arial"/>
                <a:ea typeface="Arial"/>
                <a:cs typeface="Arial"/>
              </a:rPr>
              <a:t>SI x es Alto, ENTONCES y = 1</a:t>
            </a:r>
          </a:p>
        </p:txBody>
      </p:sp>
      <p:sp>
        <p:nvSpPr>
          <p:cNvPr id="14" name="">
            <a:extLst xmlns:a="http://schemas.openxmlformats.org/drawingml/2006/main">
              <a:ext uri="{FF2B5EF4-FFF2-40B4-BE49-F238E27FC236}">
                <a16:creationId xmlns:a16="http://schemas.microsoft.com/office/drawing/2014/main" id="{828F2563-994A-4BA3-9F40-31B314799AFD}"/>
              </a:ext>
            </a:extLst>
          </p:cNvPr>
          <p:cNvSpPr>
            <a:spLocks xmlns:a="http://schemas.openxmlformats.org/drawingml/2006/main" noGrp="1"/>
          </p:cNvSpPr>
          <p:nvPr/>
        </p:nvSpPr>
        <p:spPr>
          <a:xfrm xmlns:a="http://schemas.openxmlformats.org/drawingml/2006/main">
            <a:off x="6572250" y="46672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233746"/>
                </a:solidFill>
                <a:latin typeface="Arial"/>
                <a:ea typeface="Arial"/>
                <a:cs typeface="Arial"/>
              </a:defRPr>
            </a:pPr>
            <a:r>
              <a:rPr sz="1950" b="1">
                <a:solidFill>
                  <a:srgbClr val="233746"/>
                </a:solidFill>
                <a:latin typeface="Arial"/>
                <a:ea typeface="Arial"/>
                <a:cs typeface="Arial"/>
              </a:rPr>
              <a:t>Para x = 0,25: μB = μM = 0,5</a:t>
            </a:r>
          </a:p>
        </p:txBody>
      </p:sp>
      <p:sp>
        <p:nvSpPr>
          <p:cNvPr id="15" name="">
            <a:extLst xmlns:a="http://schemas.openxmlformats.org/drawingml/2006/main">
              <a:ext uri="{FF2B5EF4-FFF2-40B4-BE49-F238E27FC236}">
                <a16:creationId xmlns:a16="http://schemas.microsoft.com/office/drawing/2014/main" id="{F4852279-458A-4815-A188-36E8D9042BA4}"/>
              </a:ext>
            </a:extLst>
          </p:cNvPr>
          <p:cNvSpPr>
            <a:spLocks xmlns:a="http://schemas.openxmlformats.org/drawingml/2006/main" noGrp="1"/>
          </p:cNvSpPr>
          <p:nvPr/>
        </p:nvSpPr>
        <p:spPr>
          <a:xfrm xmlns:a="http://schemas.openxmlformats.org/drawingml/2006/main">
            <a:off x="6572250" y="5267325"/>
            <a:ext cx="4905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ŷ = (0,5 · 0 + 0,5 · 0,25) / 1 = 0,125</a:t>
            </a:r>
          </a:p>
        </p:txBody>
      </p:sp>
      <p:sp>
        <p:nvSpPr>
          <p:cNvPr id="16" name="">
            <a:extLst xmlns:a="http://schemas.openxmlformats.org/drawingml/2006/main">
              <a:ext uri="{FF2B5EF4-FFF2-40B4-BE49-F238E27FC236}">
                <a16:creationId xmlns:a16="http://schemas.microsoft.com/office/drawing/2014/main" id="{CEA13A04-751D-4543-BBEC-CC8FF600FB28}"/>
              </a:ext>
            </a:extLst>
          </p:cNvPr>
          <p:cNvSpPr>
            <a:spLocks xmlns:a="http://schemas.openxmlformats.org/drawingml/2006/main" noGrp="1"/>
          </p:cNvSpPr>
          <p:nvPr/>
        </p:nvSpPr>
        <p:spPr>
          <a:xfrm xmlns:a="http://schemas.openxmlformats.org/drawingml/2006/main">
            <a:off x="762000" y="603885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Las reglas se combinan según su grado de activación.</a:t>
            </a:r>
          </a:p>
        </p:txBody>
      </p:sp>
      <p:sp>
        <p:nvSpPr>
          <p:cNvPr id="23" name="">
            <a:extLst xmlns:a="http://schemas.openxmlformats.org/drawingml/2006/main">
              <a:ext uri="{FF2B5EF4-FFF2-40B4-BE49-F238E27FC236}">
                <a16:creationId xmlns:a16="http://schemas.microsoft.com/office/drawing/2014/main" id="{A747A504-97C0-4B5E-919C-6A5656C3436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B05EF1A-4E51-4854-9C6B-2B8C3C416E9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Capítulos 1–3 · conceptos y pertenencia</a:t>
            </a:r>
          </a:p>
        </p:txBody>
      </p:sp>
    </p:spTree>
    <p:extLst>
      <p:ext uri="{BB962C8B-B14F-4D97-AF65-F5344CB8AC3E}">
        <p14:creationId xmlns:p14="http://schemas.microsoft.com/office/powerpoint/2010/main" val="172189652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Aproximar una función desconocida con reglas</a:t>
            </a:r>
          </a:p>
        </p:txBody>
      </p:sp>
      <p:sp>
        <p:nvSpPr>
          <p:cNvPr id="9" name="">
            <a:extLst xmlns:a="http://schemas.openxmlformats.org/drawingml/2006/main">
              <a:ext uri="{FF2B5EF4-FFF2-40B4-BE49-F238E27FC236}">
                <a16:creationId xmlns:a16="http://schemas.microsoft.com/office/drawing/2014/main" id="{721847DF-D7E8-4FBF-A96D-C3B73109306F}"/>
              </a:ext>
            </a:extLst>
          </p:cNvPr>
          <p:cNvSpPr>
            <a:spLocks xmlns:a="http://schemas.openxmlformats.org/drawingml/2006/main" noGrp="1"/>
          </p:cNvSpPr>
          <p:nvPr/>
        </p:nvSpPr>
        <p:spPr>
          <a:xfrm xmlns:a="http://schemas.openxmlformats.org/drawingml/2006/main">
            <a:off x="762000" y="1476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233746"/>
                </a:solidFill>
                <a:latin typeface="Arial"/>
                <a:ea typeface="Arial"/>
                <a:cs typeface="Arial"/>
              </a:defRPr>
            </a:pPr>
            <a:r>
              <a:rPr sz="2550" b="1">
                <a:solidFill>
                  <a:srgbClr val="233746"/>
                </a:solidFill>
                <a:latin typeface="Arial"/>
                <a:ea typeface="Arial"/>
                <a:cs typeface="Arial"/>
              </a:rPr>
              <a:t>u = f(parámetro₁, …, parámetroₙ) desconocida</a:t>
            </a:r>
          </a:p>
        </p:txBody>
      </p:sp>
      <p:sp>
        <p:nvSpPr>
          <p:cNvPr id="10" name="">
            <a:extLst xmlns:a="http://schemas.openxmlformats.org/drawingml/2006/main">
              <a:ext uri="{FF2B5EF4-FFF2-40B4-BE49-F238E27FC236}">
                <a16:creationId xmlns:a16="http://schemas.microsoft.com/office/drawing/2014/main" id="{E1709501-F085-4180-A7CC-9172183074F8}"/>
              </a:ext>
            </a:extLst>
          </p:cNvPr>
          <p:cNvSpPr>
            <a:spLocks xmlns:a="http://schemas.openxmlformats.org/drawingml/2006/main" noGrp="1"/>
          </p:cNvSpPr>
          <p:nvPr/>
        </p:nvSpPr>
        <p:spPr>
          <a:xfrm xmlns:a="http://schemas.openxmlformats.org/drawingml/2006/main">
            <a:off x="762000" y="21145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D96B18"/>
                </a:solidFill>
                <a:latin typeface="Arial"/>
                <a:ea typeface="Arial"/>
                <a:cs typeface="Arial"/>
              </a:defRPr>
            </a:pPr>
            <a:r>
              <a:rPr sz="2025" b="1">
                <a:solidFill>
                  <a:srgbClr val="D96B18"/>
                </a:solidFill>
                <a:latin typeface="Arial"/>
                <a:ea typeface="Arial"/>
                <a:cs typeface="Arial"/>
              </a:rPr>
              <a:t>Ejemplo: potencia de calefacción u ≈ f̂(error, ritmo de calentamiento)</a:t>
            </a:r>
          </a:p>
        </p:txBody>
      </p:sp>
      <p:sp>
        <p:nvSpPr>
          <p:cNvPr id="11" name="">
            <a:extLst xmlns:a="http://schemas.openxmlformats.org/drawingml/2006/main">
              <a:ext uri="{FF2B5EF4-FFF2-40B4-BE49-F238E27FC236}">
                <a16:creationId xmlns:a16="http://schemas.microsoft.com/office/drawing/2014/main" id="{6118BA9D-1445-435A-A371-BE3F231DE0B4}"/>
              </a:ext>
            </a:extLst>
          </p:cNvPr>
          <p:cNvSpPr>
            <a:spLocks xmlns:a="http://schemas.openxmlformats.org/drawingml/2006/main" noGrp="1"/>
          </p:cNvSpPr>
          <p:nvPr/>
        </p:nvSpPr>
        <p:spPr>
          <a:xfrm xmlns:a="http://schemas.openxmlformats.org/drawingml/2006/main">
            <a:off x="762000" y="28575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Entradas y conjuntos fuzzy</a:t>
            </a:r>
          </a:p>
        </p:txBody>
      </p:sp>
      <p:sp>
        <p:nvSpPr>
          <p:cNvPr id="12" name="">
            <a:extLst xmlns:a="http://schemas.openxmlformats.org/drawingml/2006/main">
              <a:ext uri="{FF2B5EF4-FFF2-40B4-BE49-F238E27FC236}">
                <a16:creationId xmlns:a16="http://schemas.microsoft.com/office/drawing/2014/main" id="{C3022831-D50F-4190-9686-26B5EB67BA66}"/>
              </a:ext>
            </a:extLst>
          </p:cNvPr>
          <p:cNvSpPr>
            <a:spLocks xmlns:a="http://schemas.openxmlformats.org/drawingml/2006/main" noGrp="1"/>
          </p:cNvSpPr>
          <p:nvPr/>
        </p:nvSpPr>
        <p:spPr>
          <a:xfrm xmlns:a="http://schemas.openxmlformats.org/drawingml/2006/main">
            <a:off x="762000" y="34575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233746"/>
                </a:solidFill>
                <a:latin typeface="Arial"/>
                <a:ea typeface="Arial"/>
                <a:cs typeface="Arial"/>
              </a:defRPr>
            </a:pPr>
            <a:r>
              <a:rPr sz="2025" b="1">
                <a:solidFill>
                  <a:srgbClr val="233746"/>
                </a:solidFill>
                <a:latin typeface="Arial"/>
                <a:ea typeface="Arial"/>
                <a:cs typeface="Arial"/>
              </a:rPr>
              <a:t>Error = 3 °C</a:t>
            </a:r>
          </a:p>
        </p:txBody>
      </p:sp>
      <p:sp>
        <p:nvSpPr>
          <p:cNvPr id="13" name="">
            <a:extLst xmlns:a="http://schemas.openxmlformats.org/drawingml/2006/main">
              <a:ext uri="{FF2B5EF4-FFF2-40B4-BE49-F238E27FC236}">
                <a16:creationId xmlns:a16="http://schemas.microsoft.com/office/drawing/2014/main" id="{B003855E-D999-4950-879F-04E09B479EBD}"/>
              </a:ext>
            </a:extLst>
          </p:cNvPr>
          <p:cNvSpPr>
            <a:spLocks xmlns:a="http://schemas.openxmlformats.org/drawingml/2006/main" noGrp="1"/>
          </p:cNvSpPr>
          <p:nvPr/>
        </p:nvSpPr>
        <p:spPr>
          <a:xfrm xmlns:a="http://schemas.openxmlformats.org/drawingml/2006/main">
            <a:off x="762000" y="38766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μMedio = 0,5     μGrande = 0,5</a:t>
            </a:r>
          </a:p>
        </p:txBody>
      </p:sp>
      <p:sp>
        <p:nvSpPr>
          <p:cNvPr id="14" name="">
            <a:extLst xmlns:a="http://schemas.openxmlformats.org/drawingml/2006/main">
              <a:ext uri="{FF2B5EF4-FFF2-40B4-BE49-F238E27FC236}">
                <a16:creationId xmlns:a16="http://schemas.microsoft.com/office/drawing/2014/main" id="{521CA2DF-FD9E-49CC-BB77-0944096CD966}"/>
              </a:ext>
            </a:extLst>
          </p:cNvPr>
          <p:cNvSpPr>
            <a:spLocks xmlns:a="http://schemas.openxmlformats.org/drawingml/2006/main" noGrp="1"/>
          </p:cNvSpPr>
          <p:nvPr/>
        </p:nvSpPr>
        <p:spPr>
          <a:xfrm xmlns:a="http://schemas.openxmlformats.org/drawingml/2006/main">
            <a:off x="762000" y="45434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233746"/>
                </a:solidFill>
                <a:latin typeface="Arial"/>
                <a:ea typeface="Arial"/>
                <a:cs typeface="Arial"/>
              </a:defRPr>
            </a:pPr>
            <a:r>
              <a:rPr sz="2025" b="1">
                <a:solidFill>
                  <a:srgbClr val="233746"/>
                </a:solidFill>
                <a:latin typeface="Arial"/>
                <a:ea typeface="Arial"/>
                <a:cs typeface="Arial"/>
              </a:rPr>
              <a:t>Calentamiento = 0,2 °C/min</a:t>
            </a:r>
          </a:p>
        </p:txBody>
      </p:sp>
      <p:sp>
        <p:nvSpPr>
          <p:cNvPr id="15" name="">
            <a:extLst xmlns:a="http://schemas.openxmlformats.org/drawingml/2006/main">
              <a:ext uri="{FF2B5EF4-FFF2-40B4-BE49-F238E27FC236}">
                <a16:creationId xmlns:a16="http://schemas.microsoft.com/office/drawing/2014/main" id="{CCC242A2-242B-4384-A3D0-B7C3FBD77752}"/>
              </a:ext>
            </a:extLst>
          </p:cNvPr>
          <p:cNvSpPr>
            <a:spLocks xmlns:a="http://schemas.openxmlformats.org/drawingml/2006/main" noGrp="1"/>
          </p:cNvSpPr>
          <p:nvPr/>
        </p:nvSpPr>
        <p:spPr>
          <a:xfrm xmlns:a="http://schemas.openxmlformats.org/drawingml/2006/main">
            <a:off x="762000" y="4972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μLento = 0,8</a:t>
            </a:r>
          </a:p>
        </p:txBody>
      </p:sp>
      <p:sp>
        <p:nvSpPr>
          <p:cNvPr id="16" name="">
            <a:extLst xmlns:a="http://schemas.openxmlformats.org/drawingml/2006/main">
              <a:ext uri="{FF2B5EF4-FFF2-40B4-BE49-F238E27FC236}">
                <a16:creationId xmlns:a16="http://schemas.microsoft.com/office/drawing/2014/main" id="{4106C7FD-045F-4762-AC62-E83DFD317F47}"/>
              </a:ext>
            </a:extLst>
          </p:cNvPr>
          <p:cNvSpPr>
            <a:spLocks xmlns:a="http://schemas.openxmlformats.org/drawingml/2006/main" noGrp="1"/>
          </p:cNvSpPr>
          <p:nvPr/>
        </p:nvSpPr>
        <p:spPr>
          <a:xfrm xmlns:a="http://schemas.openxmlformats.org/drawingml/2006/main">
            <a:off x="6477000" y="285750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Reglas del experto</a:t>
            </a:r>
          </a:p>
        </p:txBody>
      </p:sp>
      <p:sp>
        <p:nvSpPr>
          <p:cNvPr id="17" name="">
            <a:extLst xmlns:a="http://schemas.openxmlformats.org/drawingml/2006/main">
              <a:ext uri="{FF2B5EF4-FFF2-40B4-BE49-F238E27FC236}">
                <a16:creationId xmlns:a16="http://schemas.microsoft.com/office/drawing/2014/main" id="{1114B955-FB9B-4116-B5CB-FFB30538C77F}"/>
              </a:ext>
            </a:extLst>
          </p:cNvPr>
          <p:cNvSpPr>
            <a:spLocks xmlns:a="http://schemas.openxmlformats.org/drawingml/2006/main" noGrp="1"/>
          </p:cNvSpPr>
          <p:nvPr/>
        </p:nvSpPr>
        <p:spPr>
          <a:xfrm xmlns:a="http://schemas.openxmlformats.org/drawingml/2006/main">
            <a:off x="6477000" y="3457575"/>
            <a:ext cx="5048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SI error Medio Y calentamiento Lento,</a:t>
            </a:r>
          </a:p>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ENTONCES potencia = 40 %.</a:t>
            </a:r>
          </a:p>
        </p:txBody>
      </p:sp>
      <p:sp>
        <p:nvSpPr>
          <p:cNvPr id="18" name="">
            <a:extLst xmlns:a="http://schemas.openxmlformats.org/drawingml/2006/main">
              <a:ext uri="{FF2B5EF4-FFF2-40B4-BE49-F238E27FC236}">
                <a16:creationId xmlns:a16="http://schemas.microsoft.com/office/drawing/2014/main" id="{1429112A-D3E9-43AE-ADD1-A400C9D753EA}"/>
              </a:ext>
            </a:extLst>
          </p:cNvPr>
          <p:cNvSpPr>
            <a:spLocks xmlns:a="http://schemas.openxmlformats.org/drawingml/2006/main" noGrp="1"/>
          </p:cNvSpPr>
          <p:nvPr/>
        </p:nvSpPr>
        <p:spPr>
          <a:xfrm xmlns:a="http://schemas.openxmlformats.org/drawingml/2006/main">
            <a:off x="6477000" y="4457700"/>
            <a:ext cx="5048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SI error Grande Y calentamiento Lento,</a:t>
            </a:r>
          </a:p>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ENTONCES potencia = 90 %.</a:t>
            </a:r>
          </a:p>
        </p:txBody>
      </p:sp>
      <p:sp>
        <p:nvSpPr>
          <p:cNvPr id="19" name="">
            <a:extLst xmlns:a="http://schemas.openxmlformats.org/drawingml/2006/main">
              <a:ext uri="{FF2B5EF4-FFF2-40B4-BE49-F238E27FC236}">
                <a16:creationId xmlns:a16="http://schemas.microsoft.com/office/drawing/2014/main" id="{34FF1E01-183E-4DAA-8A6D-E40D5BA2CF84}"/>
              </a:ext>
            </a:extLst>
          </p:cNvPr>
          <p:cNvSpPr>
            <a:spLocks xmlns:a="http://schemas.openxmlformats.org/drawingml/2006/main" noGrp="1"/>
          </p:cNvSpPr>
          <p:nvPr/>
        </p:nvSpPr>
        <p:spPr>
          <a:xfrm xmlns:a="http://schemas.openxmlformats.org/drawingml/2006/main">
            <a:off x="762000" y="55816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Activación con Y = mínimo: ambas reglas valen 0,5.</a:t>
            </a:r>
          </a:p>
        </p:txBody>
      </p:sp>
      <p:sp>
        <p:nvSpPr>
          <p:cNvPr id="20" name="">
            <a:extLst xmlns:a="http://schemas.openxmlformats.org/drawingml/2006/main">
              <a:ext uri="{FF2B5EF4-FFF2-40B4-BE49-F238E27FC236}">
                <a16:creationId xmlns:a16="http://schemas.microsoft.com/office/drawing/2014/main" id="{52331AF5-2E9A-45D1-9A6F-EF794EE717DF}"/>
              </a:ext>
            </a:extLst>
          </p:cNvPr>
          <p:cNvSpPr>
            <a:spLocks xmlns:a="http://schemas.openxmlformats.org/drawingml/2006/main" noGrp="1"/>
          </p:cNvSpPr>
          <p:nvPr/>
        </p:nvSpPr>
        <p:spPr>
          <a:xfrm xmlns:a="http://schemas.openxmlformats.org/drawingml/2006/main">
            <a:off x="762000" y="60388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Potencia = (0,5 · 40 + 0,5 · 90) / (0,5 + 0,5) = 65 %</a:t>
            </a:r>
          </a:p>
        </p:txBody>
      </p:sp>
      <p:sp>
        <p:nvSpPr>
          <p:cNvPr id="21" name="">
            <a:extLst xmlns:a="http://schemas.openxmlformats.org/drawingml/2006/main">
              <a:ext uri="{FF2B5EF4-FFF2-40B4-BE49-F238E27FC236}">
                <a16:creationId xmlns:a16="http://schemas.microsoft.com/office/drawing/2014/main" id="{FADD4207-D06F-47DE-8DC5-D0CA6934FC9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99EFF949-7A9C-4495-A065-3BA4A7803C6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Capítulos 1–3 · conceptos y pertenencia</a:t>
            </a:r>
          </a:p>
        </p:txBody>
      </p:sp>
    </p:spTree>
    <p:extLst>
      <p:ext uri="{BB962C8B-B14F-4D97-AF65-F5344CB8AC3E}">
        <p14:creationId xmlns:p14="http://schemas.microsoft.com/office/powerpoint/2010/main" val="172189652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Núcleo, soporte y frontera de un conjunto</a:t>
            </a:r>
          </a:p>
        </p:txBody>
      </p:sp>
      <p:sp>
        <p:nvSpPr>
          <p:cNvPr id="9" name="">
            <a:extLst xmlns:a="http://schemas.openxmlformats.org/drawingml/2006/main">
              <a:ext uri="{FF2B5EF4-FFF2-40B4-BE49-F238E27FC236}">
                <a16:creationId xmlns:a16="http://schemas.microsoft.com/office/drawing/2014/main" id="{21DF4336-59F4-4A32-9498-F479C5AE88AD}"/>
              </a:ext>
            </a:extLst>
          </p:cNvPr>
          <p:cNvSpPr>
            <a:spLocks xmlns:a="http://schemas.openxmlformats.org/drawingml/2006/main" noGrp="1"/>
          </p:cNvSpPr>
          <p:nvPr/>
        </p:nvSpPr>
        <p:spPr>
          <a:xfrm xmlns:a="http://schemas.openxmlformats.org/drawingml/2006/main">
            <a:off x="762000" y="1666875"/>
            <a:ext cx="1057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Ejemplo: «temperatura confortable»</a:t>
            </a:r>
          </a:p>
        </p:txBody>
      </p:sp>
      <p:graphicFrame>
        <p:nvGraphicFramePr>
          <p:cNvPr id="31" name="Chart"/>
          <p:cNvGraphicFramePr/>
          <p:nvPr/>
        </p:nvGraphicFramePr>
        <p:xfrm>
          <a:off xmlns:a="http://schemas.openxmlformats.org/drawingml/2006/main" x="762000" y="2324100"/>
          <a:ext xmlns:a="http://schemas.openxmlformats.org/drawingml/2006/main" cx="5524500" cy="3190875"/>
        </p:xfrm>
        <a:graphic xmlns:a="http://schemas.openxmlformats.org/drawingml/2006/main">
          <a:graphicData uri="http://schemas.openxmlformats.org/drawingml/2006/chart">
            <c:chart xmlns:r="http://schemas.openxmlformats.org/officeDocument/2006/relationships" xmlns:c="http://schemas.openxmlformats.org/drawingml/2006/chart" r:id="R2f123115368b4775"/>
          </a:graphicData>
        </a:graphic>
      </p:graphicFrame>
      <p:sp>
        <p:nvSpPr>
          <p:cNvPr id="11" name="">
            <a:extLst xmlns:a="http://schemas.openxmlformats.org/drawingml/2006/main">
              <a:ext uri="{FF2B5EF4-FFF2-40B4-BE49-F238E27FC236}">
                <a16:creationId xmlns:a16="http://schemas.microsoft.com/office/drawing/2014/main" id="{0F77128C-333D-4498-95A6-FC3963CB3C5A}"/>
              </a:ext>
            </a:extLst>
          </p:cNvPr>
          <p:cNvSpPr>
            <a:spLocks xmlns:a="http://schemas.openxmlformats.org/drawingml/2006/main" noGrp="1"/>
          </p:cNvSpPr>
          <p:nvPr/>
        </p:nvSpPr>
        <p:spPr>
          <a:xfrm xmlns:a="http://schemas.openxmlformats.org/drawingml/2006/main">
            <a:off x="6762750" y="22574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Núcleo (core): μA(x) = 1</a:t>
            </a:r>
          </a:p>
        </p:txBody>
      </p:sp>
      <p:sp>
        <p:nvSpPr>
          <p:cNvPr id="12" name="">
            <a:extLst xmlns:a="http://schemas.openxmlformats.org/drawingml/2006/main">
              <a:ext uri="{FF2B5EF4-FFF2-40B4-BE49-F238E27FC236}">
                <a16:creationId xmlns:a16="http://schemas.microsoft.com/office/drawing/2014/main" id="{B904740A-DF8B-47E8-A362-230E148DF991}"/>
              </a:ext>
            </a:extLst>
          </p:cNvPr>
          <p:cNvSpPr>
            <a:spLocks xmlns:a="http://schemas.openxmlformats.org/drawingml/2006/main" noGrp="1"/>
          </p:cNvSpPr>
          <p:nvPr/>
        </p:nvSpPr>
        <p:spPr>
          <a:xfrm xmlns:a="http://schemas.openxmlformats.org/drawingml/2006/main">
            <a:off x="6762750" y="273367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En el ejemplo: [4, 6].</a:t>
            </a:r>
          </a:p>
        </p:txBody>
      </p:sp>
      <p:sp>
        <p:nvSpPr>
          <p:cNvPr id="13" name="">
            <a:extLst xmlns:a="http://schemas.openxmlformats.org/drawingml/2006/main">
              <a:ext uri="{FF2B5EF4-FFF2-40B4-BE49-F238E27FC236}">
                <a16:creationId xmlns:a16="http://schemas.microsoft.com/office/drawing/2014/main" id="{9839E9B0-A035-4AD3-94B2-818E7B511FD6}"/>
              </a:ext>
            </a:extLst>
          </p:cNvPr>
          <p:cNvSpPr>
            <a:spLocks xmlns:a="http://schemas.openxmlformats.org/drawingml/2006/main" noGrp="1"/>
          </p:cNvSpPr>
          <p:nvPr/>
        </p:nvSpPr>
        <p:spPr>
          <a:xfrm xmlns:a="http://schemas.openxmlformats.org/drawingml/2006/main">
            <a:off x="6762750" y="345757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162A0"/>
                </a:solidFill>
                <a:latin typeface="Arial"/>
                <a:ea typeface="Arial"/>
                <a:cs typeface="Arial"/>
              </a:defRPr>
            </a:pPr>
            <a:r>
              <a:rPr sz="2175" b="1">
                <a:solidFill>
                  <a:srgbClr val="2162A0"/>
                </a:solidFill>
                <a:latin typeface="Arial"/>
                <a:ea typeface="Arial"/>
                <a:cs typeface="Arial"/>
              </a:rPr>
              <a:t>Soporte: μA(x) &gt; 0</a:t>
            </a:r>
          </a:p>
        </p:txBody>
      </p:sp>
      <p:sp>
        <p:nvSpPr>
          <p:cNvPr id="14" name="">
            <a:extLst xmlns:a="http://schemas.openxmlformats.org/drawingml/2006/main">
              <a:ext uri="{FF2B5EF4-FFF2-40B4-BE49-F238E27FC236}">
                <a16:creationId xmlns:a16="http://schemas.microsoft.com/office/drawing/2014/main" id="{6FC44E0D-D1BC-4BB6-86DD-26EA3461E2C2}"/>
              </a:ext>
            </a:extLst>
          </p:cNvPr>
          <p:cNvSpPr>
            <a:spLocks xmlns:a="http://schemas.openxmlformats.org/drawingml/2006/main" noGrp="1"/>
          </p:cNvSpPr>
          <p:nvPr/>
        </p:nvSpPr>
        <p:spPr>
          <a:xfrm xmlns:a="http://schemas.openxmlformats.org/drawingml/2006/main">
            <a:off x="6762750" y="39338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En el ejemplo: (2, 8).</a:t>
            </a:r>
          </a:p>
        </p:txBody>
      </p:sp>
      <p:sp>
        <p:nvSpPr>
          <p:cNvPr id="15" name="">
            <a:extLst xmlns:a="http://schemas.openxmlformats.org/drawingml/2006/main">
              <a:ext uri="{FF2B5EF4-FFF2-40B4-BE49-F238E27FC236}">
                <a16:creationId xmlns:a16="http://schemas.microsoft.com/office/drawing/2014/main" id="{88EF5539-8399-4781-A624-25ABAB0D232F}"/>
              </a:ext>
            </a:extLst>
          </p:cNvPr>
          <p:cNvSpPr>
            <a:spLocks xmlns:a="http://schemas.openxmlformats.org/drawingml/2006/main" noGrp="1"/>
          </p:cNvSpPr>
          <p:nvPr/>
        </p:nvSpPr>
        <p:spPr>
          <a:xfrm xmlns:a="http://schemas.openxmlformats.org/drawingml/2006/main">
            <a:off x="6762750" y="46577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60863D"/>
                </a:solidFill>
                <a:latin typeface="Arial"/>
                <a:ea typeface="Arial"/>
                <a:cs typeface="Arial"/>
              </a:defRPr>
            </a:pPr>
            <a:r>
              <a:rPr sz="2175" b="1">
                <a:solidFill>
                  <a:srgbClr val="60863D"/>
                </a:solidFill>
                <a:latin typeface="Arial"/>
                <a:ea typeface="Arial"/>
                <a:cs typeface="Arial"/>
              </a:rPr>
              <a:t>Frontera: 0 &lt; μA(x) &lt; 1</a:t>
            </a:r>
          </a:p>
        </p:txBody>
      </p:sp>
      <p:sp>
        <p:nvSpPr>
          <p:cNvPr id="16" name="">
            <a:extLst xmlns:a="http://schemas.openxmlformats.org/drawingml/2006/main">
              <a:ext uri="{FF2B5EF4-FFF2-40B4-BE49-F238E27FC236}">
                <a16:creationId xmlns:a16="http://schemas.microsoft.com/office/drawing/2014/main" id="{CB648910-391F-4F97-88A5-B77A6AC3E52D}"/>
              </a:ext>
            </a:extLst>
          </p:cNvPr>
          <p:cNvSpPr>
            <a:spLocks xmlns:a="http://schemas.openxmlformats.org/drawingml/2006/main" noGrp="1"/>
          </p:cNvSpPr>
          <p:nvPr/>
        </p:nvSpPr>
        <p:spPr>
          <a:xfrm xmlns:a="http://schemas.openxmlformats.org/drawingml/2006/main">
            <a:off x="6762750" y="513397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(2, 4) y (6, 8).</a:t>
            </a:r>
          </a:p>
        </p:txBody>
      </p:sp>
      <p:sp>
        <p:nvSpPr>
          <p:cNvPr id="17" name="">
            <a:extLst xmlns:a="http://schemas.openxmlformats.org/drawingml/2006/main">
              <a:ext uri="{FF2B5EF4-FFF2-40B4-BE49-F238E27FC236}">
                <a16:creationId xmlns:a16="http://schemas.microsoft.com/office/drawing/2014/main" id="{40B11D23-5D49-4D45-B77F-94A73C38AA91}"/>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Estas regiones están en el dominio x; μ indica cuánto pertenece cada valor.</a:t>
            </a:r>
          </a:p>
        </p:txBody>
      </p:sp>
      <p:sp>
        <p:nvSpPr>
          <p:cNvPr id="22" name="">
            <a:extLst xmlns:a="http://schemas.openxmlformats.org/drawingml/2006/main">
              <a:ext uri="{FF2B5EF4-FFF2-40B4-BE49-F238E27FC236}">
                <a16:creationId xmlns:a16="http://schemas.microsoft.com/office/drawing/2014/main" id="{84E5860C-257B-42E8-BCB0-BB44F90C73D9}"/>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C47F817-46B4-42BA-9C71-AB493A5D06E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Altura, normalidad, prototipo y cruces</a:t>
            </a:r>
          </a:p>
        </p:txBody>
      </p:sp>
      <p:sp>
        <p:nvSpPr>
          <p:cNvPr id="9" name="">
            <a:extLst xmlns:a="http://schemas.openxmlformats.org/drawingml/2006/main">
              <a:ext uri="{FF2B5EF4-FFF2-40B4-BE49-F238E27FC236}">
                <a16:creationId xmlns:a16="http://schemas.microsoft.com/office/drawing/2014/main" id="{81C37E3A-CAA0-4D91-8251-5B9B70701D3B}"/>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Normal: máximo 1</a:t>
            </a:r>
          </a:p>
        </p:txBody>
      </p:sp>
      <p:sp>
        <p:nvSpPr>
          <p:cNvPr id="10" name="">
            <a:extLst xmlns:a="http://schemas.openxmlformats.org/drawingml/2006/main">
              <a:ext uri="{FF2B5EF4-FFF2-40B4-BE49-F238E27FC236}">
                <a16:creationId xmlns:a16="http://schemas.microsoft.com/office/drawing/2014/main" id="{A82ED66A-7B23-4187-B621-381E09392D6A}"/>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Subnormal: máximo 0,6</a:t>
            </a:r>
          </a:p>
        </p:txBody>
      </p:sp>
      <p:graphicFrame>
        <p:nvGraphicFramePr>
          <p:cNvPr id="32" name="Chart"/>
          <p:cNvGraphicFramePr/>
          <p:nvPr/>
        </p:nvGraphicFramePr>
        <p:xfrm>
          <a:off xmlns:a="http://schemas.openxmlformats.org/drawingml/2006/main" x="762000" y="2276475"/>
          <a:ext xmlns:a="http://schemas.openxmlformats.org/drawingml/2006/main" cx="5524500" cy="3238500"/>
        </p:xfrm>
        <a:graphic xmlns:a="http://schemas.openxmlformats.org/drawingml/2006/main">
          <a:graphicData uri="http://schemas.openxmlformats.org/drawingml/2006/chart">
            <c:chart xmlns:r="http://schemas.openxmlformats.org/officeDocument/2006/relationships" xmlns:c="http://schemas.openxmlformats.org/drawingml/2006/chart" r:id="R7821b83fc2ae48a2"/>
          </a:graphicData>
        </a:graphic>
      </p:graphicFrame>
      <p:sp>
        <p:nvSpPr>
          <p:cNvPr id="12" name="">
            <a:extLst xmlns:a="http://schemas.openxmlformats.org/drawingml/2006/main">
              <a:ext uri="{FF2B5EF4-FFF2-40B4-BE49-F238E27FC236}">
                <a16:creationId xmlns:a16="http://schemas.microsoft.com/office/drawing/2014/main" id="{0A8F19B6-D3D7-41F2-9C57-CCC61D650757}"/>
              </a:ext>
            </a:extLst>
          </p:cNvPr>
          <p:cNvSpPr>
            <a:spLocks xmlns:a="http://schemas.openxmlformats.org/drawingml/2006/main" noGrp="1"/>
          </p:cNvSpPr>
          <p:nvPr/>
        </p:nvSpPr>
        <p:spPr>
          <a:xfrm xmlns:a="http://schemas.openxmlformats.org/drawingml/2006/main">
            <a:off x="6762750" y="2228850"/>
            <a:ext cx="4714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Altura = máximo de μ.</a:t>
            </a:r>
          </a:p>
        </p:txBody>
      </p:sp>
      <p:sp>
        <p:nvSpPr>
          <p:cNvPr id="13" name="">
            <a:extLst xmlns:a="http://schemas.openxmlformats.org/drawingml/2006/main">
              <a:ext uri="{FF2B5EF4-FFF2-40B4-BE49-F238E27FC236}">
                <a16:creationId xmlns:a16="http://schemas.microsoft.com/office/drawing/2014/main" id="{E8C26CF9-9151-4C71-9C4F-C67F3BF30885}"/>
              </a:ext>
            </a:extLst>
          </p:cNvPr>
          <p:cNvSpPr>
            <a:spLocks xmlns:a="http://schemas.openxmlformats.org/drawingml/2006/main" noGrp="1"/>
          </p:cNvSpPr>
          <p:nvPr/>
        </p:nvSpPr>
        <p:spPr>
          <a:xfrm xmlns:a="http://schemas.openxmlformats.org/drawingml/2006/main">
            <a:off x="6762750" y="2790825"/>
            <a:ext cx="47148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Normal: alcanza 1.</a:t>
            </a:r>
          </a:p>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Subnormal: máximo menor que 1.</a:t>
            </a:r>
          </a:p>
        </p:txBody>
      </p:sp>
      <p:sp>
        <p:nvSpPr>
          <p:cNvPr id="14" name="">
            <a:extLst xmlns:a="http://schemas.openxmlformats.org/drawingml/2006/main">
              <a:ext uri="{FF2B5EF4-FFF2-40B4-BE49-F238E27FC236}">
                <a16:creationId xmlns:a16="http://schemas.microsoft.com/office/drawing/2014/main" id="{477D818C-9AB6-48BD-BBCE-04AC8BB90C87}"/>
              </a:ext>
            </a:extLst>
          </p:cNvPr>
          <p:cNvSpPr>
            <a:spLocks xmlns:a="http://schemas.openxmlformats.org/drawingml/2006/main" noGrp="1"/>
          </p:cNvSpPr>
          <p:nvPr/>
        </p:nvSpPr>
        <p:spPr>
          <a:xfrm xmlns:a="http://schemas.openxmlformats.org/drawingml/2006/main">
            <a:off x="6762750" y="3895725"/>
            <a:ext cx="4714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Prototipo: x = 5</a:t>
            </a:r>
          </a:p>
        </p:txBody>
      </p:sp>
      <p:sp>
        <p:nvSpPr>
          <p:cNvPr id="15" name="">
            <a:extLst xmlns:a="http://schemas.openxmlformats.org/drawingml/2006/main">
              <a:ext uri="{FF2B5EF4-FFF2-40B4-BE49-F238E27FC236}">
                <a16:creationId xmlns:a16="http://schemas.microsoft.com/office/drawing/2014/main" id="{CC61DD62-4492-4D73-A92C-0AE3C3CC6420}"/>
              </a:ext>
            </a:extLst>
          </p:cNvPr>
          <p:cNvSpPr>
            <a:spLocks xmlns:a="http://schemas.openxmlformats.org/drawingml/2006/main" noGrp="1"/>
          </p:cNvSpPr>
          <p:nvPr/>
        </p:nvSpPr>
        <p:spPr>
          <a:xfrm xmlns:a="http://schemas.openxmlformats.org/drawingml/2006/main">
            <a:off x="6762750" y="4362450"/>
            <a:ext cx="471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Aquí es el único punto con μ = 1.</a:t>
            </a:r>
          </a:p>
        </p:txBody>
      </p:sp>
      <p:sp>
        <p:nvSpPr>
          <p:cNvPr id="16" name="">
            <a:extLst xmlns:a="http://schemas.openxmlformats.org/drawingml/2006/main">
              <a:ext uri="{FF2B5EF4-FFF2-40B4-BE49-F238E27FC236}">
                <a16:creationId xmlns:a16="http://schemas.microsoft.com/office/drawing/2014/main" id="{A287DC50-C00A-4DB2-B8CD-C1428E9FE038}"/>
              </a:ext>
            </a:extLst>
          </p:cNvPr>
          <p:cNvSpPr>
            <a:spLocks xmlns:a="http://schemas.openxmlformats.org/drawingml/2006/main" noGrp="1"/>
          </p:cNvSpPr>
          <p:nvPr/>
        </p:nvSpPr>
        <p:spPr>
          <a:xfrm xmlns:a="http://schemas.openxmlformats.org/drawingml/2006/main">
            <a:off x="6762750" y="5238750"/>
            <a:ext cx="4714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Cruces: μ = 0,5</a:t>
            </a:r>
          </a:p>
        </p:txBody>
      </p:sp>
      <p:sp>
        <p:nvSpPr>
          <p:cNvPr id="17" name="">
            <a:extLst xmlns:a="http://schemas.openxmlformats.org/drawingml/2006/main">
              <a:ext uri="{FF2B5EF4-FFF2-40B4-BE49-F238E27FC236}">
                <a16:creationId xmlns:a16="http://schemas.microsoft.com/office/drawing/2014/main" id="{92183AC4-2F7E-4750-AEB8-4C73B612353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el triángulo normal, los puntos de cruce son x = 3,5 y x = 6,5.</a:t>
            </a:r>
          </a:p>
        </p:txBody>
      </p:sp>
      <p:sp>
        <p:nvSpPr>
          <p:cNvPr id="22" name="">
            <a:extLst xmlns:a="http://schemas.openxmlformats.org/drawingml/2006/main">
              <a:ext uri="{FF2B5EF4-FFF2-40B4-BE49-F238E27FC236}">
                <a16:creationId xmlns:a16="http://schemas.microsoft.com/office/drawing/2014/main" id="{D2ACBD12-2454-4008-AEC6-A0B28A69665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12BC4F4-D22A-4B39-B493-2F2D819891C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Convexidad: una sola región por nivel</a:t>
            </a:r>
          </a:p>
        </p:txBody>
      </p:sp>
      <p:sp>
        <p:nvSpPr>
          <p:cNvPr id="9" name="">
            <a:extLst xmlns:a="http://schemas.openxmlformats.org/drawingml/2006/main">
              <a:ext uri="{FF2B5EF4-FFF2-40B4-BE49-F238E27FC236}">
                <a16:creationId xmlns:a16="http://schemas.microsoft.com/office/drawing/2014/main" id="{605F13D2-2610-4242-80F4-10B41E4879F0}"/>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Convexo: triángulo</a:t>
            </a:r>
          </a:p>
        </p:txBody>
      </p:sp>
      <p:sp>
        <p:nvSpPr>
          <p:cNvPr id="10" name="">
            <a:extLst xmlns:a="http://schemas.openxmlformats.org/drawingml/2006/main">
              <a:ext uri="{FF2B5EF4-FFF2-40B4-BE49-F238E27FC236}">
                <a16:creationId xmlns:a16="http://schemas.microsoft.com/office/drawing/2014/main" id="{8080B5DA-89D0-4540-B7A4-569E10841C1A}"/>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No convexo: dos zonas separadas</a:t>
            </a:r>
          </a:p>
        </p:txBody>
      </p:sp>
      <p:graphicFrame>
        <p:nvGraphicFramePr>
          <p:cNvPr id="30" name="Chart"/>
          <p:cNvGraphicFramePr/>
          <p:nvPr/>
        </p:nvGraphicFramePr>
        <p:xfrm>
          <a:off xmlns:a="http://schemas.openxmlformats.org/drawingml/2006/main" x="762000" y="2286000"/>
          <a:ext xmlns:a="http://schemas.openxmlformats.org/drawingml/2006/main" cx="4953000" cy="3190875"/>
        </p:xfrm>
        <a:graphic xmlns:a="http://schemas.openxmlformats.org/drawingml/2006/main">
          <a:graphicData uri="http://schemas.openxmlformats.org/drawingml/2006/chart">
            <c:chart xmlns:r="http://schemas.openxmlformats.org/officeDocument/2006/relationships" xmlns:c="http://schemas.openxmlformats.org/drawingml/2006/chart" r:id="R6f02dd949b1b4313"/>
          </a:graphicData>
        </a:graphic>
      </p:graphicFrame>
      <p:graphicFrame>
        <p:nvGraphicFramePr>
          <p:cNvPr id="31" name="Chart"/>
          <p:cNvGraphicFramePr/>
          <p:nvPr/>
        </p:nvGraphicFramePr>
        <p:xfrm>
          <a:off xmlns:a="http://schemas.openxmlformats.org/drawingml/2006/main" x="6429375" y="2286000"/>
          <a:ext xmlns:a="http://schemas.openxmlformats.org/drawingml/2006/main" cx="4953000" cy="3190875"/>
        </p:xfrm>
        <a:graphic xmlns:a="http://schemas.openxmlformats.org/drawingml/2006/main">
          <a:graphicData uri="http://schemas.openxmlformats.org/drawingml/2006/chart">
            <c:chart xmlns:r="http://schemas.openxmlformats.org/officeDocument/2006/relationships" xmlns:c="http://schemas.openxmlformats.org/drawingml/2006/chart" r:id="Rdebf3705a4b84d53"/>
          </a:graphicData>
        </a:graphic>
      </p:graphicFrame>
      <p:sp>
        <p:nvSpPr>
          <p:cNvPr id="13" name="">
            <a:extLst xmlns:a="http://schemas.openxmlformats.org/drawingml/2006/main">
              <a:ext uri="{FF2B5EF4-FFF2-40B4-BE49-F238E27FC236}">
                <a16:creationId xmlns:a16="http://schemas.microsoft.com/office/drawing/2014/main" id="{2EFC424A-A6B1-4FF3-AD5F-4C6FCA52189B}"/>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Al cortar a una altura α, el convexo deja un intervalo, sin huecos.</a:t>
            </a:r>
          </a:p>
        </p:txBody>
      </p:sp>
      <p:sp>
        <p:nvSpPr>
          <p:cNvPr id="20" name="">
            <a:extLst xmlns:a="http://schemas.openxmlformats.org/drawingml/2006/main">
              <a:ext uri="{FF2B5EF4-FFF2-40B4-BE49-F238E27FC236}">
                <a16:creationId xmlns:a16="http://schemas.microsoft.com/office/drawing/2014/main" id="{CD719459-8A36-4FC0-B0CE-1362CF3EB6E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E0D354B-F5A6-4204-83A5-98901CA256D7}"/>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Fuzzificar una lectura concreta</a:t>
            </a:r>
          </a:p>
        </p:txBody>
      </p:sp>
      <p:sp>
        <p:nvSpPr>
          <p:cNvPr id="9" name="">
            <a:extLst xmlns:a="http://schemas.openxmlformats.org/drawingml/2006/main">
              <a:ext uri="{FF2B5EF4-FFF2-40B4-BE49-F238E27FC236}">
                <a16:creationId xmlns:a16="http://schemas.microsoft.com/office/drawing/2014/main" id="{483BAA5E-F034-460D-BA1E-A60A07F707EB}"/>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Templada</a:t>
            </a:r>
          </a:p>
        </p:txBody>
      </p:sp>
      <p:sp>
        <p:nvSpPr>
          <p:cNvPr id="10" name="">
            <a:extLst xmlns:a="http://schemas.openxmlformats.org/drawingml/2006/main">
              <a:ext uri="{FF2B5EF4-FFF2-40B4-BE49-F238E27FC236}">
                <a16:creationId xmlns:a16="http://schemas.microsoft.com/office/drawing/2014/main" id="{5D1A57A5-4DFB-405A-ACD7-02C8AE98BA3E}"/>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Caliente</a:t>
            </a:r>
          </a:p>
        </p:txBody>
      </p:sp>
      <p:graphicFrame>
        <p:nvGraphicFramePr>
          <p:cNvPr id="30" name="Chart"/>
          <p:cNvGraphicFramePr/>
          <p:nvPr/>
        </p:nvGraphicFramePr>
        <p:xfrm>
          <a:off xmlns:a="http://schemas.openxmlformats.org/drawingml/2006/main" x="762000" y="2209800"/>
          <a:ext xmlns:a="http://schemas.openxmlformats.org/drawingml/2006/main" cx="6191250" cy="3409950"/>
        </p:xfrm>
        <a:graphic xmlns:a="http://schemas.openxmlformats.org/drawingml/2006/main">
          <a:graphicData uri="http://schemas.openxmlformats.org/drawingml/2006/chart">
            <c:chart xmlns:r="http://schemas.openxmlformats.org/officeDocument/2006/relationships" xmlns:c="http://schemas.openxmlformats.org/drawingml/2006/chart" r:id="Rbf3d009262834f2c"/>
          </a:graphicData>
        </a:graphic>
      </p:graphicFrame>
      <p:sp>
        <p:nvSpPr>
          <p:cNvPr id="12" name="">
            <a:extLst xmlns:a="http://schemas.openxmlformats.org/drawingml/2006/main">
              <a:ext uri="{FF2B5EF4-FFF2-40B4-BE49-F238E27FC236}">
                <a16:creationId xmlns:a16="http://schemas.microsoft.com/office/drawing/2014/main" id="{1083F98B-7A9E-4BED-A1CC-6602AF1D8E25}"/>
              </a:ext>
            </a:extLst>
          </p:cNvPr>
          <p:cNvSpPr>
            <a:spLocks xmlns:a="http://schemas.openxmlformats.org/drawingml/2006/main" noGrp="1"/>
          </p:cNvSpPr>
          <p:nvPr/>
        </p:nvSpPr>
        <p:spPr>
          <a:xfrm xmlns:a="http://schemas.openxmlformats.org/drawingml/2006/main">
            <a:off x="7524750" y="2371725"/>
            <a:ext cx="390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D96B18"/>
                </a:solidFill>
                <a:latin typeface="Arial"/>
                <a:ea typeface="Arial"/>
                <a:cs typeface="Arial"/>
              </a:defRPr>
            </a:pPr>
            <a:r>
              <a:rPr sz="2325" b="1">
                <a:solidFill>
                  <a:srgbClr val="D96B18"/>
                </a:solidFill>
                <a:latin typeface="Arial"/>
                <a:ea typeface="Arial"/>
                <a:cs typeface="Arial"/>
              </a:rPr>
              <a:t>Sensor: T = 25 °C</a:t>
            </a:r>
          </a:p>
        </p:txBody>
      </p:sp>
      <p:sp>
        <p:nvSpPr>
          <p:cNvPr id="13" name="">
            <a:extLst xmlns:a="http://schemas.openxmlformats.org/drawingml/2006/main">
              <a:ext uri="{FF2B5EF4-FFF2-40B4-BE49-F238E27FC236}">
                <a16:creationId xmlns:a16="http://schemas.microsoft.com/office/drawing/2014/main" id="{DCC22814-D86A-45CE-85EE-BF26C37F52AA}"/>
              </a:ext>
            </a:extLst>
          </p:cNvPr>
          <p:cNvSpPr>
            <a:spLocks xmlns:a="http://schemas.openxmlformats.org/drawingml/2006/main" noGrp="1"/>
          </p:cNvSpPr>
          <p:nvPr/>
        </p:nvSpPr>
        <p:spPr>
          <a:xfrm xmlns:a="http://schemas.openxmlformats.org/drawingml/2006/main">
            <a:off x="7524750" y="3267075"/>
            <a:ext cx="3905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μTemplada(25) = 0,5</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μCaliente(25) = 0,5</a:t>
            </a:r>
          </a:p>
        </p:txBody>
      </p:sp>
      <p:sp>
        <p:nvSpPr>
          <p:cNvPr id="14" name="">
            <a:extLst xmlns:a="http://schemas.openxmlformats.org/drawingml/2006/main">
              <a:ext uri="{FF2B5EF4-FFF2-40B4-BE49-F238E27FC236}">
                <a16:creationId xmlns:a16="http://schemas.microsoft.com/office/drawing/2014/main" id="{F1C43331-A86D-4CC0-B16C-F21AC9AE9274}"/>
              </a:ext>
            </a:extLst>
          </p:cNvPr>
          <p:cNvSpPr>
            <a:spLocks xmlns:a="http://schemas.openxmlformats.org/drawingml/2006/main" noGrp="1"/>
          </p:cNvSpPr>
          <p:nvPr/>
        </p:nvSpPr>
        <p:spPr>
          <a:xfrm xmlns:a="http://schemas.openxmlformats.org/drawingml/2006/main">
            <a:off x="7524750" y="4667250"/>
            <a:ext cx="390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Evaluamos las funciones</a:t>
            </a:r>
          </a:p>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en la medida recibida.</a:t>
            </a:r>
          </a:p>
        </p:txBody>
      </p:sp>
      <p:sp>
        <p:nvSpPr>
          <p:cNvPr id="15" name="">
            <a:extLst xmlns:a="http://schemas.openxmlformats.org/drawingml/2006/main">
              <a:ext uri="{FF2B5EF4-FFF2-40B4-BE49-F238E27FC236}">
                <a16:creationId xmlns:a16="http://schemas.microsoft.com/office/drawing/2014/main" id="{AC780BBB-4A5C-4A24-A790-1EC30CCE9063}"/>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Fuzzificación: medida numérica → grados que activarán las reglas.</a:t>
            </a:r>
          </a:p>
        </p:txBody>
      </p:sp>
      <p:sp>
        <p:nvSpPr>
          <p:cNvPr id="20" name="">
            <a:extLst xmlns:a="http://schemas.openxmlformats.org/drawingml/2006/main">
              <a:ext uri="{FF2B5EF4-FFF2-40B4-BE49-F238E27FC236}">
                <a16:creationId xmlns:a16="http://schemas.microsoft.com/office/drawing/2014/main" id="{82AAD110-8CC8-43BE-8B47-7478D53737F9}"/>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132A4EE-A621-4E49-80C1-E34970FA9F0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Si queremos modelar la imprecisión del sensor</a:t>
            </a:r>
          </a:p>
        </p:txBody>
      </p:sp>
      <p:graphicFrame>
        <p:nvGraphicFramePr>
          <p:cNvPr id="27" name="Chart"/>
          <p:cNvGraphicFramePr/>
          <p:nvPr/>
        </p:nvGraphicFramePr>
        <p:xfrm>
          <a:off xmlns:a="http://schemas.openxmlformats.org/drawingml/2006/main" x="762000" y="2333625"/>
          <a:ext xmlns:a="http://schemas.openxmlformats.org/drawingml/2006/main" cx="5334000" cy="2905125"/>
        </p:xfrm>
        <a:graphic xmlns:a="http://schemas.openxmlformats.org/drawingml/2006/main">
          <a:graphicData uri="http://schemas.openxmlformats.org/drawingml/2006/chart">
            <c:chart xmlns:r="http://schemas.openxmlformats.org/officeDocument/2006/relationships" xmlns:c="http://schemas.openxmlformats.org/drawingml/2006/chart" r:id="R45068e19c1b74fdf"/>
          </a:graphicData>
        </a:graphic>
      </p:graphicFrame>
      <p:sp>
        <p:nvSpPr>
          <p:cNvPr id="10" name="">
            <a:extLst xmlns:a="http://schemas.openxmlformats.org/drawingml/2006/main">
              <a:ext uri="{FF2B5EF4-FFF2-40B4-BE49-F238E27FC236}">
                <a16:creationId xmlns:a16="http://schemas.microsoft.com/office/drawing/2014/main" id="{34041026-8A2D-4A0B-95BE-4E20942580E3}"/>
              </a:ext>
            </a:extLst>
          </p:cNvPr>
          <p:cNvSpPr>
            <a:spLocks xmlns:a="http://schemas.openxmlformats.org/drawingml/2006/main" noGrp="1"/>
          </p:cNvSpPr>
          <p:nvPr/>
        </p:nvSpPr>
        <p:spPr>
          <a:xfrm xmlns:a="http://schemas.openxmlformats.org/drawingml/2006/main">
            <a:off x="6572250" y="1800225"/>
            <a:ext cx="4905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El aparato muestra 10,00 V.</a:t>
            </a:r>
          </a:p>
        </p:txBody>
      </p:sp>
      <p:sp>
        <p:nvSpPr>
          <p:cNvPr id="11" name="">
            <a:extLst xmlns:a="http://schemas.openxmlformats.org/drawingml/2006/main">
              <a:ext uri="{FF2B5EF4-FFF2-40B4-BE49-F238E27FC236}">
                <a16:creationId xmlns:a16="http://schemas.microsoft.com/office/drawing/2014/main" id="{27651794-6E9B-4448-894E-19D8F0A18F16}"/>
              </a:ext>
            </a:extLst>
          </p:cNvPr>
          <p:cNvSpPr>
            <a:spLocks xmlns:a="http://schemas.openxmlformats.org/drawingml/2006/main" noGrp="1"/>
          </p:cNvSpPr>
          <p:nvPr/>
        </p:nvSpPr>
        <p:spPr>
          <a:xfrm xmlns:a="http://schemas.openxmlformats.org/drawingml/2006/main">
            <a:off x="6572250" y="2466975"/>
            <a:ext cx="4857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Un ±1 % alrededor de la lectura</a:t>
            </a:r>
          </a:p>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corresponde a 9,9–10,1 V.</a:t>
            </a:r>
          </a:p>
        </p:txBody>
      </p:sp>
      <p:sp>
        <p:nvSpPr>
          <p:cNvPr id="12" name="">
            <a:extLst xmlns:a="http://schemas.openxmlformats.org/drawingml/2006/main">
              <a:ext uri="{FF2B5EF4-FFF2-40B4-BE49-F238E27FC236}">
                <a16:creationId xmlns:a16="http://schemas.microsoft.com/office/drawing/2014/main" id="{FDBEE015-1CE3-4F90-814E-5A394D4962F5}"/>
              </a:ext>
            </a:extLst>
          </p:cNvPr>
          <p:cNvSpPr>
            <a:spLocks xmlns:a="http://schemas.openxmlformats.org/drawingml/2006/main" noGrp="1"/>
          </p:cNvSpPr>
          <p:nvPr/>
        </p:nvSpPr>
        <p:spPr>
          <a:xfrm xmlns:a="http://schemas.openxmlformats.org/drawingml/2006/main">
            <a:off x="6572250" y="361950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D96B18"/>
                </a:solidFill>
                <a:latin typeface="Arial"/>
                <a:ea typeface="Arial"/>
                <a:cs typeface="Arial"/>
              </a:defRPr>
            </a:pPr>
            <a:r>
              <a:rPr sz="2025" b="1">
                <a:solidFill>
                  <a:srgbClr val="D96B18"/>
                </a:solidFill>
                <a:latin typeface="Arial"/>
                <a:ea typeface="Arial"/>
                <a:cs typeface="Arial"/>
              </a:rPr>
              <a:t>Comparación con una etiqueta A:</a:t>
            </a:r>
          </a:p>
        </p:txBody>
      </p:sp>
      <p:sp>
        <p:nvSpPr>
          <p:cNvPr id="13" name="">
            <a:extLst xmlns:a="http://schemas.openxmlformats.org/drawingml/2006/main">
              <a:ext uri="{FF2B5EF4-FFF2-40B4-BE49-F238E27FC236}">
                <a16:creationId xmlns:a16="http://schemas.microsoft.com/office/drawing/2014/main" id="{1081B399-82F8-45DB-BEFC-C5614D8027D5}"/>
              </a:ext>
            </a:extLst>
          </p:cNvPr>
          <p:cNvSpPr>
            <a:spLocks xmlns:a="http://schemas.openxmlformats.org/drawingml/2006/main" noGrp="1"/>
          </p:cNvSpPr>
          <p:nvPr/>
        </p:nvSpPr>
        <p:spPr>
          <a:xfrm xmlns:a="http://schemas.openxmlformats.org/drawingml/2006/main">
            <a:off x="6572250" y="4191000"/>
            <a:ext cx="48577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Compatibilidad =</a:t>
            </a:r>
          </a:p>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max sobre v de min(μLectura(v), μA(v)).</a:t>
            </a:r>
          </a:p>
        </p:txBody>
      </p:sp>
      <p:sp>
        <p:nvSpPr>
          <p:cNvPr id="14" name="">
            <a:extLst xmlns:a="http://schemas.openxmlformats.org/drawingml/2006/main">
              <a:ext uri="{FF2B5EF4-FFF2-40B4-BE49-F238E27FC236}">
                <a16:creationId xmlns:a16="http://schemas.microsoft.com/office/drawing/2014/main" id="{D06FA7BF-5AC9-4978-A339-8765F1AC174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Es opcional. Para empezar usaremos lecturas crisp, como en la diapositiva anterior.</a:t>
            </a:r>
          </a:p>
        </p:txBody>
      </p:sp>
      <p:sp>
        <p:nvSpPr>
          <p:cNvPr id="19" name="">
            <a:extLst xmlns:a="http://schemas.openxmlformats.org/drawingml/2006/main">
              <a:ext uri="{FF2B5EF4-FFF2-40B4-BE49-F238E27FC236}">
                <a16:creationId xmlns:a16="http://schemas.microsoft.com/office/drawing/2014/main" id="{AC4C83C3-4866-42CD-AD49-7FB4FB292AB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2572C93-804B-41CB-A167-55A5ECE132D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Tres funciones de pertenencia en Python</a:t>
            </a:r>
          </a:p>
        </p:txBody>
      </p:sp>
      <p:sp>
        <p:nvSpPr>
          <p:cNvPr id="9" name="">
            <a:extLst xmlns:a="http://schemas.openxmlformats.org/drawingml/2006/main">
              <a:ext uri="{FF2B5EF4-FFF2-40B4-BE49-F238E27FC236}">
                <a16:creationId xmlns:a16="http://schemas.microsoft.com/office/drawing/2014/main" id="{D51073BB-481C-42A1-9791-F0B2E9ABAFA2}"/>
              </a:ext>
            </a:extLst>
          </p:cNvPr>
          <p:cNvSpPr>
            <a:spLocks xmlns:a="http://schemas.openxmlformats.org/drawingml/2006/main" noGrp="1"/>
          </p:cNvSpPr>
          <p:nvPr/>
        </p:nvSpPr>
        <p:spPr>
          <a:xfrm xmlns:a="http://schemas.openxmlformats.org/drawingml/2006/main">
            <a:off x="762000" y="1428750"/>
            <a:ext cx="10763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Consolas"/>
                <a:ea typeface="Consolas"/>
                <a:cs typeface="Consolas"/>
              </a:defRPr>
            </a:pPr>
            <a:r>
              <a:rPr sz="1800" b="0">
                <a:solidFill>
                  <a:srgbClr val="233746"/>
                </a:solidFill>
                <a:latin typeface="Consolas"/>
                <a:ea typeface="Consolas"/>
                <a:cs typeface="Consolas"/>
              </a:rPr>
              <a:t>import numpy as np</a:t>
            </a:r>
          </a:p>
          <a:p xmlns:a="http://schemas.openxmlformats.org/drawingml/2006/main">
            <a:pPr>
              <a:buNone/>
              <a:defRPr sz="1800" b="0">
                <a:solidFill>
                  <a:srgbClr val="233746"/>
                </a:solidFill>
                <a:latin typeface="Consolas"/>
                <a:ea typeface="Consolas"/>
                <a:cs typeface="Consolas"/>
              </a:defRPr>
            </a:pPr>
            <a:r>
              <a:rPr sz="1800" b="0">
                <a:solidFill>
                  <a:srgbClr val="233746"/>
                </a:solidFill>
                <a:latin typeface="Consolas"/>
                <a:ea typeface="Consolas"/>
                <a:cs typeface="Consolas"/>
              </a:rPr>
              <a:t>x = np.linspace(0, 10, 201)</a:t>
            </a:r>
          </a:p>
        </p:txBody>
      </p:sp>
      <p:sp>
        <p:nvSpPr>
          <p:cNvPr id="10" name="">
            <a:extLst xmlns:a="http://schemas.openxmlformats.org/drawingml/2006/main">
              <a:ext uri="{FF2B5EF4-FFF2-40B4-BE49-F238E27FC236}">
                <a16:creationId xmlns:a16="http://schemas.microsoft.com/office/drawing/2014/main" id="{5C41C8AE-FDFB-47DE-AB25-5E9A840AE826}"/>
              </a:ext>
            </a:extLst>
          </p:cNvPr>
          <p:cNvSpPr>
            <a:spLocks xmlns:a="http://schemas.openxmlformats.org/drawingml/2006/main" noGrp="1"/>
          </p:cNvSpPr>
          <p:nvPr/>
        </p:nvSpPr>
        <p:spPr>
          <a:xfrm xmlns:a="http://schemas.openxmlformats.org/drawingml/2006/main">
            <a:off x="762000" y="2143125"/>
            <a:ext cx="3190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650" b="1">
                <a:solidFill>
                  <a:srgbClr val="D96B18"/>
                </a:solidFill>
                <a:latin typeface="Arial"/>
                <a:ea typeface="Arial"/>
                <a:cs typeface="Arial"/>
              </a:defRPr>
            </a:pPr>
            <a:r>
              <a:rPr sz="1650" b="1">
                <a:solidFill>
                  <a:srgbClr val="D96B18"/>
                </a:solidFill>
                <a:latin typeface="Arial"/>
                <a:ea typeface="Arial"/>
                <a:cs typeface="Arial"/>
              </a:rPr>
              <a:t>Triangular · a &lt; b &lt; c</a:t>
            </a:r>
          </a:p>
        </p:txBody>
      </p:sp>
      <p:graphicFrame>
        <p:nvGraphicFramePr>
          <p:cNvPr id="38" name="Chart"/>
          <p:cNvGraphicFramePr/>
          <p:nvPr/>
        </p:nvGraphicFramePr>
        <p:xfrm>
          <a:off xmlns:a="http://schemas.openxmlformats.org/drawingml/2006/main" x="742950" y="2447925"/>
          <a:ext xmlns:a="http://schemas.openxmlformats.org/drawingml/2006/main" cx="2714625" cy="1047750"/>
        </p:xfrm>
        <a:graphic xmlns:a="http://schemas.openxmlformats.org/drawingml/2006/main">
          <a:graphicData uri="http://schemas.openxmlformats.org/drawingml/2006/chart">
            <c:chart xmlns:r="http://schemas.openxmlformats.org/officeDocument/2006/relationships" xmlns:c="http://schemas.openxmlformats.org/drawingml/2006/chart" r:id="R253ff4aef40046a1"/>
          </a:graphicData>
        </a:graphic>
      </p:graphicFrame>
      <p:sp>
        <p:nvSpPr>
          <p:cNvPr id="12" name="">
            <a:extLst xmlns:a="http://schemas.openxmlformats.org/drawingml/2006/main">
              <a:ext uri="{FF2B5EF4-FFF2-40B4-BE49-F238E27FC236}">
                <a16:creationId xmlns:a16="http://schemas.microsoft.com/office/drawing/2014/main" id="{0CD36324-CC90-4D8F-9018-E3511A5EC024}"/>
              </a:ext>
            </a:extLst>
          </p:cNvPr>
          <p:cNvSpPr>
            <a:spLocks xmlns:a="http://schemas.openxmlformats.org/drawingml/2006/main" noGrp="1"/>
          </p:cNvSpPr>
          <p:nvPr/>
        </p:nvSpPr>
        <p:spPr>
          <a:xfrm xmlns:a="http://schemas.openxmlformats.org/drawingml/2006/main">
            <a:off x="3829050" y="2171700"/>
            <a:ext cx="76676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def triangular(x, a, b, c):</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subida = (x-a)/(b-a)</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bajada = (c-x)/(c-b)</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return np.clip(np.minimum(subida, bajada), 0, 1)</a:t>
            </a:r>
          </a:p>
        </p:txBody>
      </p:sp>
      <p:sp>
        <p:nvSpPr>
          <p:cNvPr id="13" name="">
            <a:extLst xmlns:a="http://schemas.openxmlformats.org/drawingml/2006/main">
              <a:ext uri="{FF2B5EF4-FFF2-40B4-BE49-F238E27FC236}">
                <a16:creationId xmlns:a16="http://schemas.microsoft.com/office/drawing/2014/main" id="{ED488696-8C01-4C53-A47F-40F5A4A1A4B9}"/>
              </a:ext>
            </a:extLst>
          </p:cNvPr>
          <p:cNvSpPr>
            <a:spLocks xmlns:a="http://schemas.openxmlformats.org/drawingml/2006/main" noGrp="1"/>
          </p:cNvSpPr>
          <p:nvPr/>
        </p:nvSpPr>
        <p:spPr>
          <a:xfrm xmlns:a="http://schemas.openxmlformats.org/drawingml/2006/main">
            <a:off x="762000" y="3552825"/>
            <a:ext cx="3190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650" b="1">
                <a:solidFill>
                  <a:srgbClr val="D96B18"/>
                </a:solidFill>
                <a:latin typeface="Arial"/>
                <a:ea typeface="Arial"/>
                <a:cs typeface="Arial"/>
              </a:defRPr>
            </a:pPr>
            <a:r>
              <a:rPr sz="1650" b="1">
                <a:solidFill>
                  <a:srgbClr val="D96B18"/>
                </a:solidFill>
                <a:latin typeface="Arial"/>
                <a:ea typeface="Arial"/>
                <a:cs typeface="Arial"/>
              </a:rPr>
              <a:t>Trapezoidal · a &lt; b ≤ c &lt; d</a:t>
            </a:r>
          </a:p>
        </p:txBody>
      </p:sp>
      <p:graphicFrame>
        <p:nvGraphicFramePr>
          <p:cNvPr id="41" name="Chart"/>
          <p:cNvGraphicFramePr/>
          <p:nvPr/>
        </p:nvGraphicFramePr>
        <p:xfrm>
          <a:off xmlns:a="http://schemas.openxmlformats.org/drawingml/2006/main" x="742950" y="3857625"/>
          <a:ext xmlns:a="http://schemas.openxmlformats.org/drawingml/2006/main" cx="2714625" cy="1047750"/>
        </p:xfrm>
        <a:graphic xmlns:a="http://schemas.openxmlformats.org/drawingml/2006/main">
          <a:graphicData uri="http://schemas.openxmlformats.org/drawingml/2006/chart">
            <c:chart xmlns:r="http://schemas.openxmlformats.org/officeDocument/2006/relationships" xmlns:c="http://schemas.openxmlformats.org/drawingml/2006/chart" r:id="R1971245daa7548cf"/>
          </a:graphicData>
        </a:graphic>
      </p:graphicFrame>
      <p:sp>
        <p:nvSpPr>
          <p:cNvPr id="15" name="">
            <a:extLst xmlns:a="http://schemas.openxmlformats.org/drawingml/2006/main">
              <a:ext uri="{FF2B5EF4-FFF2-40B4-BE49-F238E27FC236}">
                <a16:creationId xmlns:a16="http://schemas.microsoft.com/office/drawing/2014/main" id="{AD79B389-E1B8-4B13-85A1-E65327B7008C}"/>
              </a:ext>
            </a:extLst>
          </p:cNvPr>
          <p:cNvSpPr>
            <a:spLocks xmlns:a="http://schemas.openxmlformats.org/drawingml/2006/main" noGrp="1"/>
          </p:cNvSpPr>
          <p:nvPr/>
        </p:nvSpPr>
        <p:spPr>
          <a:xfrm xmlns:a="http://schemas.openxmlformats.org/drawingml/2006/main">
            <a:off x="3829050" y="3581400"/>
            <a:ext cx="76676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def trapezoidal(x, a, b, c, d):</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subida = (x-a)/(b-a)</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bajada = (d-x)/(d-c)</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return np.clip(np.minimum(subida, bajada), 0, 1)</a:t>
            </a:r>
          </a:p>
        </p:txBody>
      </p:sp>
      <p:sp>
        <p:nvSpPr>
          <p:cNvPr id="16" name="">
            <a:extLst xmlns:a="http://schemas.openxmlformats.org/drawingml/2006/main">
              <a:ext uri="{FF2B5EF4-FFF2-40B4-BE49-F238E27FC236}">
                <a16:creationId xmlns:a16="http://schemas.microsoft.com/office/drawing/2014/main" id="{22DFF483-D70F-4467-A84A-D3B901C7E19F}"/>
              </a:ext>
            </a:extLst>
          </p:cNvPr>
          <p:cNvSpPr>
            <a:spLocks xmlns:a="http://schemas.openxmlformats.org/drawingml/2006/main" noGrp="1"/>
          </p:cNvSpPr>
          <p:nvPr/>
        </p:nvSpPr>
        <p:spPr>
          <a:xfrm xmlns:a="http://schemas.openxmlformats.org/drawingml/2006/main">
            <a:off x="762000" y="4962525"/>
            <a:ext cx="3190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650" b="1">
                <a:solidFill>
                  <a:srgbClr val="D96B18"/>
                </a:solidFill>
                <a:latin typeface="Arial"/>
                <a:ea typeface="Arial"/>
                <a:cs typeface="Arial"/>
              </a:defRPr>
            </a:pPr>
            <a:r>
              <a:rPr sz="1650" b="1">
                <a:solidFill>
                  <a:srgbClr val="D96B18"/>
                </a:solidFill>
                <a:latin typeface="Arial"/>
                <a:ea typeface="Arial"/>
                <a:cs typeface="Arial"/>
              </a:rPr>
              <a:t>Gaussiana · sigma &gt; 0</a:t>
            </a:r>
          </a:p>
        </p:txBody>
      </p:sp>
      <p:graphicFrame>
        <p:nvGraphicFramePr>
          <p:cNvPr id="44" name="Chart"/>
          <p:cNvGraphicFramePr/>
          <p:nvPr/>
        </p:nvGraphicFramePr>
        <p:xfrm>
          <a:off xmlns:a="http://schemas.openxmlformats.org/drawingml/2006/main" x="742950" y="5267325"/>
          <a:ext xmlns:a="http://schemas.openxmlformats.org/drawingml/2006/main" cx="2714625" cy="1047750"/>
        </p:xfrm>
        <a:graphic xmlns:a="http://schemas.openxmlformats.org/drawingml/2006/main">
          <a:graphicData uri="http://schemas.openxmlformats.org/drawingml/2006/chart">
            <c:chart xmlns:r="http://schemas.openxmlformats.org/officeDocument/2006/relationships" xmlns:c="http://schemas.openxmlformats.org/drawingml/2006/chart" r:id="Raa1080cf2114406d"/>
          </a:graphicData>
        </a:graphic>
      </p:graphicFrame>
      <p:sp>
        <p:nvSpPr>
          <p:cNvPr id="18" name="">
            <a:extLst xmlns:a="http://schemas.openxmlformats.org/drawingml/2006/main">
              <a:ext uri="{FF2B5EF4-FFF2-40B4-BE49-F238E27FC236}">
                <a16:creationId xmlns:a16="http://schemas.microsoft.com/office/drawing/2014/main" id="{BD23C15D-51A8-47BF-B86F-9277094EF6E0}"/>
              </a:ext>
            </a:extLst>
          </p:cNvPr>
          <p:cNvSpPr>
            <a:spLocks xmlns:a="http://schemas.openxmlformats.org/drawingml/2006/main" noGrp="1"/>
          </p:cNvSpPr>
          <p:nvPr/>
        </p:nvSpPr>
        <p:spPr>
          <a:xfrm xmlns:a="http://schemas.openxmlformats.org/drawingml/2006/main">
            <a:off x="3829050" y="4991100"/>
            <a:ext cx="76676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def gaussiana(x, c, sigma):</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return np.exp(-0.5 * ((x-c)/sigma)**2)</a:t>
            </a:r>
          </a:p>
        </p:txBody>
      </p:sp>
      <p:sp>
        <p:nvSpPr>
          <p:cNvPr id="19" name="">
            <a:extLst xmlns:a="http://schemas.openxmlformats.org/drawingml/2006/main">
              <a:ext uri="{FF2B5EF4-FFF2-40B4-BE49-F238E27FC236}">
                <a16:creationId xmlns:a16="http://schemas.microsoft.com/office/drawing/2014/main" id="{7E47D539-0B5F-4226-A508-AAB078E3B3C2}"/>
              </a:ext>
            </a:extLst>
          </p:cNvPr>
          <p:cNvSpPr>
            <a:spLocks xmlns:a="http://schemas.openxmlformats.org/drawingml/2006/main" noGrp="1"/>
          </p:cNvSpPr>
          <p:nvPr/>
        </p:nvSpPr>
        <p:spPr>
          <a:xfrm xmlns:a="http://schemas.openxmlformats.org/drawingml/2006/main">
            <a:off x="3829050" y="5905500"/>
            <a:ext cx="7667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0">
                <a:solidFill>
                  <a:srgbClr val="2162A0"/>
                </a:solidFill>
                <a:latin typeface="Consolas"/>
                <a:ea typeface="Consolas"/>
                <a:cs typeface="Consolas"/>
              </a:defRPr>
            </a:pPr>
            <a:r>
              <a:rPr sz="1725" b="0">
                <a:solidFill>
                  <a:srgbClr val="2162A0"/>
                </a:solidFill>
                <a:latin typeface="Consolas"/>
                <a:ea typeface="Consolas"/>
                <a:cs typeface="Consolas"/>
              </a:rPr>
              <a:t>Ejemplo: mu = gaussiana(x, c=5, sigma=1.3)</a:t>
            </a:r>
          </a:p>
        </p:txBody>
      </p:sp>
      <p:sp>
        <p:nvSpPr>
          <p:cNvPr id="28" name="">
            <a:extLst xmlns:a="http://schemas.openxmlformats.org/drawingml/2006/main">
              <a:ext uri="{FF2B5EF4-FFF2-40B4-BE49-F238E27FC236}">
                <a16:creationId xmlns:a16="http://schemas.microsoft.com/office/drawing/2014/main" id="{786344DD-E32D-4A25-8860-ADEC616DEE5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30EB3D7-BC5D-44CE-B4E2-DB61C81B97E7}"/>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Por qué necesitamos desdifusificar</a:t>
            </a:r>
          </a:p>
        </p:txBody>
      </p:sp>
      <p:sp>
        <p:nvSpPr>
          <p:cNvPr id="9" name="">
            <a:extLst xmlns:a="http://schemas.openxmlformats.org/drawingml/2006/main">
              <a:ext uri="{FF2B5EF4-FFF2-40B4-BE49-F238E27FC236}">
                <a16:creationId xmlns:a16="http://schemas.microsoft.com/office/drawing/2014/main" id="{9A89F1E4-D312-45FA-92DE-7BAD8C56EAC7}"/>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El razonamiento admite grados</a:t>
            </a:r>
          </a:p>
        </p:txBody>
      </p:sp>
      <p:sp>
        <p:nvSpPr>
          <p:cNvPr id="10" name="">
            <a:extLst xmlns:a="http://schemas.openxmlformats.org/drawingml/2006/main">
              <a:ext uri="{FF2B5EF4-FFF2-40B4-BE49-F238E27FC236}">
                <a16:creationId xmlns:a16="http://schemas.microsoft.com/office/drawing/2014/main" id="{5D5E9C16-AD85-42AB-87C8-2AC52B44840F}"/>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Podemos activar «potencia baja» y «potencia alta» simultáneamente.</a:t>
            </a:r>
          </a:p>
        </p:txBody>
      </p:sp>
      <p:sp>
        <p:nvSpPr>
          <p:cNvPr id="11" name="">
            <a:extLst xmlns:a="http://schemas.openxmlformats.org/drawingml/2006/main">
              <a:ext uri="{FF2B5EF4-FFF2-40B4-BE49-F238E27FC236}">
                <a16:creationId xmlns:a16="http://schemas.microsoft.com/office/drawing/2014/main" id="{0ED48E2C-9F99-4DBC-895E-CBE5D2A72BF4}"/>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El actuador necesita una orden concreta</a:t>
            </a:r>
          </a:p>
        </p:txBody>
      </p:sp>
      <p:sp>
        <p:nvSpPr>
          <p:cNvPr id="12" name="">
            <a:extLst xmlns:a="http://schemas.openxmlformats.org/drawingml/2006/main">
              <a:ext uri="{FF2B5EF4-FFF2-40B4-BE49-F238E27FC236}">
                <a16:creationId xmlns:a16="http://schemas.microsoft.com/office/drawing/2014/main" id="{EA1D51EF-5313-4CEC-947A-D4B96177C178}"/>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Por ejemplo: aplicar 43,9 % de potencia durante este intervalo de control.</a:t>
            </a:r>
          </a:p>
        </p:txBody>
      </p:sp>
      <p:sp>
        <p:nvSpPr>
          <p:cNvPr id="13" name="">
            <a:extLst xmlns:a="http://schemas.openxmlformats.org/drawingml/2006/main">
              <a:ext uri="{FF2B5EF4-FFF2-40B4-BE49-F238E27FC236}">
                <a16:creationId xmlns:a16="http://schemas.microsoft.com/office/drawing/2014/main" id="{D11583FD-68AD-43A3-9C39-DDA0D70783A4}"/>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Crisp no significa necesariamente binario</a:t>
            </a:r>
          </a:p>
        </p:txBody>
      </p:sp>
      <p:sp>
        <p:nvSpPr>
          <p:cNvPr id="14" name="">
            <a:extLst xmlns:a="http://schemas.openxmlformats.org/drawingml/2006/main">
              <a:ext uri="{FF2B5EF4-FFF2-40B4-BE49-F238E27FC236}">
                <a16:creationId xmlns:a16="http://schemas.microsoft.com/office/drawing/2014/main" id="{A89017C8-93AF-4A2F-86B7-7B1274466816}"/>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ON/OFF es binario; 43,9 % también es crisp porque es un valor determinado.</a:t>
            </a:r>
          </a:p>
        </p:txBody>
      </p:sp>
      <p:sp>
        <p:nvSpPr>
          <p:cNvPr id="15" name="">
            <a:extLst xmlns:a="http://schemas.openxmlformats.org/drawingml/2006/main">
              <a:ext uri="{FF2B5EF4-FFF2-40B4-BE49-F238E27FC236}">
                <a16:creationId xmlns:a16="http://schemas.microsoft.com/office/drawing/2014/main" id="{292CE76D-E014-406A-956A-2C2AD61DB86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Desdifusificar a un escalar: resumir el conjunto de salida en una acción numérica.</a:t>
            </a:r>
          </a:p>
        </p:txBody>
      </p:sp>
      <p:sp>
        <p:nvSpPr>
          <p:cNvPr id="16" name="">
            <a:extLst xmlns:a="http://schemas.openxmlformats.org/drawingml/2006/main">
              <a:ext uri="{FF2B5EF4-FFF2-40B4-BE49-F238E27FC236}">
                <a16:creationId xmlns:a16="http://schemas.microsoft.com/office/drawing/2014/main" id="{977CDCCC-2B19-4C1A-8ACB-48196E9BCAD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04A96FA-EE15-488C-B9DB-ED79349F187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La salida fuzzy que vamos a convertir en un número</a:t>
            </a:r>
          </a:p>
        </p:txBody>
      </p:sp>
      <p:sp>
        <p:nvSpPr>
          <p:cNvPr id="9" name="">
            <a:extLst xmlns:a="http://schemas.openxmlformats.org/drawingml/2006/main">
              <a:ext uri="{FF2B5EF4-FFF2-40B4-BE49-F238E27FC236}">
                <a16:creationId xmlns:a16="http://schemas.microsoft.com/office/drawing/2014/main" id="{6ADC39DE-B754-4512-9B80-737E8ECF6FF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6B0F3A4-DF1A-4657-89C3-6CCA8507EAD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
        <p:nvSpPr>
          <p:cNvPr id="11" name="">
            <a:extLst xmlns:a="http://schemas.openxmlformats.org/drawingml/2006/main">
              <a:ext uri="{FF2B5EF4-FFF2-40B4-BE49-F238E27FC236}">
                <a16:creationId xmlns:a16="http://schemas.microsoft.com/office/drawing/2014/main" id="{517A51A4-AB3E-4653-A9F2-B013B0FB849B}"/>
              </a:ext>
            </a:extLst>
          </p:cNvPr>
          <p:cNvSpPr>
            <a:spLocks xmlns:a="http://schemas.openxmlformats.org/drawingml/2006/main" noGrp="1"/>
          </p:cNvSpPr>
          <p:nvPr/>
        </p:nvSpPr>
        <p:spPr>
          <a:xfrm xmlns:a="http://schemas.openxmlformats.org/drawingml/2006/main">
            <a:off x="762000" y="1552575"/>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Partimos de una curva ya calculada. Más adelante veremos cómo la generan las reglas.</a:t>
            </a:r>
          </a:p>
        </p:txBody>
      </p:sp>
      <p:graphicFrame>
        <p:nvGraphicFramePr>
          <p:cNvPr id="25" name="Chart"/>
          <p:cNvGraphicFramePr/>
          <p:nvPr/>
        </p:nvGraphicFramePr>
        <p:xfrm>
          <a:off xmlns:a="http://schemas.openxmlformats.org/drawingml/2006/main" x="762000" y="2238375"/>
          <a:ext xmlns:a="http://schemas.openxmlformats.org/drawingml/2006/main" cx="6286500" cy="3238500"/>
        </p:xfrm>
        <a:graphic xmlns:a="http://schemas.openxmlformats.org/drawingml/2006/main">
          <a:graphicData uri="http://schemas.openxmlformats.org/drawingml/2006/chart">
            <c:chart xmlns:r="http://schemas.openxmlformats.org/officeDocument/2006/relationships" xmlns:c="http://schemas.openxmlformats.org/drawingml/2006/chart" r:id="Recf191c08f474b7d"/>
          </a:graphicData>
        </a:graphic>
      </p:graphicFrame>
      <p:sp>
        <p:nvSpPr>
          <p:cNvPr id="13" name="">
            <a:extLst xmlns:a="http://schemas.openxmlformats.org/drawingml/2006/main">
              <a:ext uri="{FF2B5EF4-FFF2-40B4-BE49-F238E27FC236}">
                <a16:creationId xmlns:a16="http://schemas.microsoft.com/office/drawing/2014/main" id="{A54B233F-19FF-45A6-9C52-B72D9BF3A19E}"/>
              </a:ext>
            </a:extLst>
          </p:cNvPr>
          <p:cNvSpPr>
            <a:spLocks xmlns:a="http://schemas.openxmlformats.org/drawingml/2006/main" noGrp="1"/>
          </p:cNvSpPr>
          <p:nvPr/>
        </p:nvSpPr>
        <p:spPr>
          <a:xfrm xmlns:a="http://schemas.openxmlformats.org/drawingml/2006/main">
            <a:off x="7620000" y="2371725"/>
            <a:ext cx="381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Eje horizontal</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Potencias posibles, en %.</a:t>
            </a:r>
          </a:p>
          <a:p xmlns:a="http://schemas.openxmlformats.org/drawingml/2006/main">
            <a:r>
              <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Eje vertical</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Grado de pertenencia.</a:t>
            </a:r>
          </a:p>
        </p:txBody>
      </p:sp>
      <p:sp>
        <p:nvSpPr>
          <p:cNvPr id="14" name="">
            <a:extLst xmlns:a="http://schemas.openxmlformats.org/drawingml/2006/main">
              <a:ext uri="{FF2B5EF4-FFF2-40B4-BE49-F238E27FC236}">
                <a16:creationId xmlns:a16="http://schemas.microsoft.com/office/drawing/2014/main" id="{AA807638-C5DD-4282-9ECF-17FEAFAB82B1}"/>
              </a:ext>
            </a:extLst>
          </p:cNvPr>
          <p:cNvSpPr>
            <a:spLocks xmlns:a="http://schemas.openxmlformats.org/drawingml/2006/main" noGrp="1"/>
          </p:cNvSpPr>
          <p:nvPr/>
        </p:nvSpPr>
        <p:spPr>
          <a:xfrm xmlns:a="http://schemas.openxmlformats.org/drawingml/2006/main">
            <a:off x="7620000" y="4972050"/>
            <a:ext cx="3810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087F79"/>
                </a:solidFill>
                <a:latin typeface="Arial"/>
                <a:ea typeface="Arial"/>
                <a:cs typeface="Arial"/>
              </a:defRPr>
            </a:pPr>
            <a:r>
              <a:rPr sz="2100" b="1">
                <a:solidFill>
                  <a:srgbClr val="087F79"/>
                </a:solidFill>
                <a:latin typeface="Arial"/>
                <a:ea typeface="Arial"/>
                <a:cs typeface="Arial"/>
              </a:rPr>
              <a:t>Buscamos una sola potencia</a:t>
            </a:r>
          </a:p>
          <a:p xmlns:a="http://schemas.openxmlformats.org/drawingml/2006/main">
            <a:pPr>
              <a:defRPr sz="2100" b="1">
                <a:solidFill>
                  <a:srgbClr val="087F79"/>
                </a:solidFill>
                <a:latin typeface="Arial"/>
                <a:ea typeface="Arial"/>
                <a:cs typeface="Arial"/>
              </a:defRPr>
            </a:pPr>
            <a:r>
              <a:rPr sz="2100" b="1">
                <a:solidFill>
                  <a:srgbClr val="087F79"/>
                </a:solidFill>
                <a:latin typeface="Arial"/>
                <a:ea typeface="Arial"/>
                <a:cs typeface="Arial"/>
              </a:rPr>
              <a:t>para enviar al actuador.</a:t>
            </a:r>
          </a:p>
        </p:txBody>
      </p:sp>
      <p:sp>
        <p:nvSpPr>
          <p:cNvPr id="15" name="">
            <a:extLst xmlns:a="http://schemas.openxmlformats.org/drawingml/2006/main">
              <a:ext uri="{FF2B5EF4-FFF2-40B4-BE49-F238E27FC236}">
                <a16:creationId xmlns:a16="http://schemas.microsoft.com/office/drawing/2014/main" id="{516570C3-EBC0-4A82-A7A5-C66103F04231}"/>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Primero compararemos varios métodos sobre esta misma curva.</a:t>
            </a:r>
          </a:p>
        </p:txBody>
      </p:sp>
    </p:spTree>
    <p:extLst>
      <p:ext uri="{BB962C8B-B14F-4D97-AF65-F5344CB8AC3E}">
        <p14:creationId xmlns:p14="http://schemas.microsoft.com/office/powerpoint/2010/main" val="172189652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Siete métodos de Ross para elegir ese número</a:t>
            </a:r>
          </a:p>
        </p:txBody>
      </p:sp>
      <p:graphicFrame>
        <p:nvGraphicFramePr>
          <p:cNvPr id="22" name=""/>
          <p:cNvGraphicFramePr/>
          <p:nvPr/>
        </p:nvGraphicFramePr>
        <p:xfrm>
          <a:off xmlns:a="http://schemas.openxmlformats.org/drawingml/2006/main" x="762000" y="1524000"/>
          <a:ext xmlns:a="http://schemas.openxmlformats.org/drawingml/2006/main" cx="10668000" cy="4257675"/>
        </p:xfrm>
        <a:graphic xmlns:a="http://schemas.openxmlformats.org/drawingml/2006/main">
          <a:graphicData uri="http://schemas.openxmlformats.org/drawingml/2006/table">
            <a:tbl>
              <a:tblPr/>
              <a:tblGrid>
                <a:gridCol w="4524375"/>
                <a:gridCol w="6143625"/>
              </a:tblGrid>
              <a:tr h="532209">
                <a:tc>
                  <a:txBody>
                    <a:bodyPr lIns="85725" tIns="76200" rIns="85725" bIns="76200"/>
                    <a:lstStyle/>
                    <a:p>
                      <a:pPr algn="ctr">
                        <a:buNone/>
                      </a:pPr>
                      <a:r>
                        <a:rPr sz="1875" b="1">
                          <a:solidFill>
                            <a:srgbClr val="2162A0"/>
                          </a:solidFill>
                          <a:latin typeface="Arial"/>
                          <a:ea typeface="Arial"/>
                          <a:cs typeface="Arial"/>
                        </a:rPr>
                        <a:t>Método</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Qué utiliza para decidir</a:t>
                      </a:r>
                    </a:p>
                  </a:txBody>
                  <a:tcPr marL="91440" marR="91440" marT="45720" marB="45720" anchor="ctr">
                    <a:solidFill>
                      <a:srgbClr val="E7EFF5"/>
                    </a:solidFill>
                  </a:tcPr>
                </a:tc>
              </a:tr>
              <a:tr h="532209">
                <a:tc>
                  <a:txBody>
                    <a:bodyPr lIns="85725" tIns="76200" rIns="85725" bIns="76200"/>
                    <a:lstStyle/>
                    <a:p>
                      <a:pPr algn="ctr">
                        <a:buNone/>
                      </a:pPr>
                      <a:r>
                        <a:rPr sz="1875" b="0">
                          <a:solidFill>
                            <a:srgbClr val="233746"/>
                          </a:solidFill>
                          <a:latin typeface="Arial"/>
                          <a:ea typeface="Arial"/>
                          <a:cs typeface="Arial"/>
                        </a:rPr>
                        <a:t>1. Máxima pertenencia</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Un punto donde μ alcanza su máximo</a:t>
                      </a:r>
                    </a:p>
                  </a:txBody>
                  <a:tcPr marL="91440" marR="91440" marT="45720" marB="45720" anchor="ctr">
                    <a:solidFill>
                      <a:srgbClr val="FFFFFF"/>
                    </a:solidFill>
                  </a:tcPr>
                </a:tc>
              </a:tr>
              <a:tr h="532209">
                <a:tc>
                  <a:txBody>
                    <a:bodyPr lIns="85725" tIns="76200" rIns="85725" bIns="76200"/>
                    <a:lstStyle/>
                    <a:p>
                      <a:pPr algn="ctr">
                        <a:buNone/>
                      </a:pPr>
                      <a:r>
                        <a:rPr sz="1875" b="0">
                          <a:solidFill>
                            <a:srgbClr val="233746"/>
                          </a:solidFill>
                          <a:latin typeface="Arial"/>
                          <a:ea typeface="Arial"/>
                          <a:cs typeface="Arial"/>
                        </a:rPr>
                        <a:t>2. Centroide</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Toda el área de la salida agregada</a:t>
                      </a:r>
                    </a:p>
                  </a:txBody>
                  <a:tcPr marL="91440" marR="91440" marT="45720" marB="45720" anchor="ctr">
                    <a:solidFill>
                      <a:srgbClr val="F4F7F9"/>
                    </a:solidFill>
                  </a:tcPr>
                </a:tc>
              </a:tr>
              <a:tr h="532209">
                <a:tc>
                  <a:txBody>
                    <a:bodyPr lIns="85725" tIns="76200" rIns="85725" bIns="76200"/>
                    <a:lstStyle/>
                    <a:p>
                      <a:pPr algn="ctr">
                        <a:buNone/>
                      </a:pPr>
                      <a:r>
                        <a:rPr sz="1875" b="0">
                          <a:solidFill>
                            <a:srgbClr val="233746"/>
                          </a:solidFill>
                          <a:latin typeface="Arial"/>
                          <a:ea typeface="Arial"/>
                          <a:cs typeface="Arial"/>
                        </a:rPr>
                        <a:t>3. Media ponderada</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Centros de conjuntos y sus alturas</a:t>
                      </a:r>
                    </a:p>
                  </a:txBody>
                  <a:tcPr marL="91440" marR="91440" marT="45720" marB="45720" anchor="ctr">
                    <a:solidFill>
                      <a:srgbClr val="FFFFFF"/>
                    </a:solidFill>
                  </a:tcPr>
                </a:tc>
              </a:tr>
              <a:tr h="532209">
                <a:tc>
                  <a:txBody>
                    <a:bodyPr lIns="85725" tIns="76200" rIns="85725" bIns="76200"/>
                    <a:lstStyle/>
                    <a:p>
                      <a:pPr algn="ctr">
                        <a:buNone/>
                      </a:pPr>
                      <a:r>
                        <a:rPr sz="1875" b="0">
                          <a:solidFill>
                            <a:srgbClr val="233746"/>
                          </a:solidFill>
                          <a:latin typeface="Arial"/>
                          <a:ea typeface="Arial"/>
                          <a:cs typeface="Arial"/>
                        </a:rPr>
                        <a:t>4. Media de máximos</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El centro de la meseta de máximo</a:t>
                      </a:r>
                    </a:p>
                  </a:txBody>
                  <a:tcPr marL="91440" marR="91440" marT="45720" marB="45720" anchor="ctr">
                    <a:solidFill>
                      <a:srgbClr val="F4F7F9"/>
                    </a:solidFill>
                  </a:tcPr>
                </a:tc>
              </a:tr>
              <a:tr h="532209">
                <a:tc>
                  <a:txBody>
                    <a:bodyPr lIns="85725" tIns="76200" rIns="85725" bIns="76200"/>
                    <a:lstStyle/>
                    <a:p>
                      <a:pPr algn="ctr">
                        <a:buNone/>
                      </a:pPr>
                      <a:r>
                        <a:rPr sz="1875" b="0">
                          <a:solidFill>
                            <a:srgbClr val="233746"/>
                          </a:solidFill>
                          <a:latin typeface="Arial"/>
                          <a:ea typeface="Arial"/>
                          <a:cs typeface="Arial"/>
                        </a:rPr>
                        <a:t>5. Centro de sumas</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Áreas de las salidas de cada regla</a:t>
                      </a:r>
                    </a:p>
                  </a:txBody>
                  <a:tcPr marL="91440" marR="91440" marT="45720" marB="45720" anchor="ctr">
                    <a:solidFill>
                      <a:srgbClr val="FFFFFF"/>
                    </a:solidFill>
                  </a:tcPr>
                </a:tc>
              </a:tr>
              <a:tr h="532209">
                <a:tc>
                  <a:txBody>
                    <a:bodyPr lIns="85725" tIns="76200" rIns="85725" bIns="76200"/>
                    <a:lstStyle/>
                    <a:p>
                      <a:pPr algn="ctr">
                        <a:buNone/>
                      </a:pPr>
                      <a:r>
                        <a:rPr sz="1875" b="0">
                          <a:solidFill>
                            <a:srgbClr val="233746"/>
                          </a:solidFill>
                          <a:latin typeface="Arial"/>
                          <a:ea typeface="Arial"/>
                          <a:cs typeface="Arial"/>
                        </a:rPr>
                        <a:t>6. Centro del área mayor</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La región convexa con mayor área</a:t>
                      </a:r>
                    </a:p>
                  </a:txBody>
                  <a:tcPr marL="91440" marR="91440" marT="45720" marB="45720" anchor="ctr">
                    <a:solidFill>
                      <a:srgbClr val="F4F7F9"/>
                    </a:solidFill>
                  </a:tcPr>
                </a:tc>
              </a:tr>
              <a:tr h="532209">
                <a:tc>
                  <a:txBody>
                    <a:bodyPr lIns="85725" tIns="76200" rIns="85725" bIns="76200"/>
                    <a:lstStyle/>
                    <a:p>
                      <a:pPr algn="ctr">
                        <a:buNone/>
                      </a:pPr>
                      <a:r>
                        <a:rPr sz="1875" b="0">
                          <a:solidFill>
                            <a:srgbClr val="233746"/>
                          </a:solidFill>
                          <a:latin typeface="Arial"/>
                          <a:ea typeface="Arial"/>
                          <a:cs typeface="Arial"/>
                        </a:rPr>
                        <a:t>7. Primero / último de máximos</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Un extremo de los máximos</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64EE6913-33D6-4D0B-9D61-D408215CDD5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la práctica: entender bien el centroide y la media ponderada. Compararemos los siete.</a:t>
            </a:r>
          </a:p>
        </p:txBody>
      </p:sp>
      <p:sp>
        <p:nvSpPr>
          <p:cNvPr id="14" name="">
            <a:extLst xmlns:a="http://schemas.openxmlformats.org/drawingml/2006/main">
              <a:ext uri="{FF2B5EF4-FFF2-40B4-BE49-F238E27FC236}">
                <a16:creationId xmlns:a16="http://schemas.microsoft.com/office/drawing/2014/main" id="{CA969684-4E31-4E94-9472-2CE2540B2A10}"/>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2651A6B-A8CE-42A4-915C-242E778A50E4}"/>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1. Máxima pertenencia: el punto más alto</a:t>
            </a:r>
          </a:p>
        </p:txBody>
      </p:sp>
      <p:graphicFrame>
        <p:nvGraphicFramePr>
          <p:cNvPr id="23"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7116e8b298db4466"/>
          </a:graphicData>
        </a:graphic>
      </p:graphicFrame>
      <p:sp>
        <p:nvSpPr>
          <p:cNvPr id="10" name="">
            <a:extLst xmlns:a="http://schemas.openxmlformats.org/drawingml/2006/main">
              <a:ext uri="{FF2B5EF4-FFF2-40B4-BE49-F238E27FC236}">
                <a16:creationId xmlns:a16="http://schemas.microsoft.com/office/drawing/2014/main" id="{49A02CB0-FBE2-462F-8EAC-9710CF863134}"/>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Buscamos el valor más alto de μ.</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Aquí hay una meseta:</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15 ≤ u ≤ 35.</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El criterio solo no elige un único número.</a:t>
            </a:r>
          </a:p>
        </p:txBody>
      </p:sp>
      <p:sp>
        <p:nvSpPr>
          <p:cNvPr id="11" name="">
            <a:extLst xmlns:a="http://schemas.openxmlformats.org/drawingml/2006/main">
              <a:ext uri="{FF2B5EF4-FFF2-40B4-BE49-F238E27FC236}">
                <a16:creationId xmlns:a16="http://schemas.microsoft.com/office/drawing/2014/main" id="{41BDD615-1E2F-4C8A-9767-313C3B27F4A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Si hay un único pico, queda resuelto. Con una meseta hay que fijar cómo desempatar.</a:t>
            </a:r>
          </a:p>
        </p:txBody>
      </p:sp>
      <p:sp>
        <p:nvSpPr>
          <p:cNvPr id="15" name="">
            <a:extLst xmlns:a="http://schemas.openxmlformats.org/drawingml/2006/main">
              <a:ext uri="{FF2B5EF4-FFF2-40B4-BE49-F238E27FC236}">
                <a16:creationId xmlns:a16="http://schemas.microsoft.com/office/drawing/2014/main" id="{F0DBDF18-9A63-461F-90B6-44306F8FDB88}"/>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85F3447-2F48-4C03-B499-77DF258EC02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2. Centroide: el equilibrio de la salida</a:t>
            </a:r>
          </a:p>
        </p:txBody>
      </p:sp>
      <p:sp>
        <p:nvSpPr>
          <p:cNvPr id="9" name="">
            <a:extLst xmlns:a="http://schemas.openxmlformats.org/drawingml/2006/main">
              <a:ext uri="{FF2B5EF4-FFF2-40B4-BE49-F238E27FC236}">
                <a16:creationId xmlns:a16="http://schemas.microsoft.com/office/drawing/2014/main" id="{A87B851F-B50C-4374-95FD-D7D5AF6485D6}"/>
              </a:ext>
            </a:extLst>
          </p:cNvPr>
          <p:cNvSpPr>
            <a:spLocks xmlns:a="http://schemas.openxmlformats.org/drawingml/2006/main" noGrp="1"/>
          </p:cNvSpPr>
          <p:nvPr/>
        </p:nvSpPr>
        <p:spPr>
          <a:xfrm xmlns:a="http://schemas.openxmlformats.org/drawingml/2006/main">
            <a:off x="762000" y="156210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700" b="1">
                <a:solidFill>
                  <a:srgbClr val="D96B18"/>
                </a:solidFill>
                <a:latin typeface="Arial"/>
                <a:ea typeface="Arial"/>
                <a:cs typeface="Arial"/>
              </a:defRPr>
            </a:pPr>
            <a:r>
              <a:rPr sz="2700" b="1">
                <a:solidFill>
                  <a:srgbClr val="D96B18"/>
                </a:solidFill>
                <a:latin typeface="Arial"/>
                <a:ea typeface="Arial"/>
                <a:cs typeface="Arial"/>
              </a:rPr>
              <a:t>u* = ∫ u · μAgregada(u) du / ∫ μAgregada(u) du</a:t>
            </a:r>
          </a:p>
        </p:txBody>
      </p:sp>
      <p:graphicFrame>
        <p:nvGraphicFramePr>
          <p:cNvPr id="28" name="Chart"/>
          <p:cNvGraphicFramePr/>
          <p:nvPr/>
        </p:nvGraphicFramePr>
        <p:xfrm>
          <a:off xmlns:a="http://schemas.openxmlformats.org/drawingml/2006/main" x="762000" y="2667000"/>
          <a:ext xmlns:a="http://schemas.openxmlformats.org/drawingml/2006/main" cx="5524500" cy="2886075"/>
        </p:xfrm>
        <a:graphic xmlns:a="http://schemas.openxmlformats.org/drawingml/2006/main">
          <a:graphicData uri="http://schemas.openxmlformats.org/drawingml/2006/chart">
            <c:chart xmlns:r="http://schemas.openxmlformats.org/officeDocument/2006/relationships" xmlns:c="http://schemas.openxmlformats.org/drawingml/2006/chart" r:id="Rdf7be50113274bf3"/>
          </a:graphicData>
        </a:graphic>
      </p:graphicFrame>
      <p:sp>
        <p:nvSpPr>
          <p:cNvPr id="11" name="">
            <a:extLst xmlns:a="http://schemas.openxmlformats.org/drawingml/2006/main">
              <a:ext uri="{FF2B5EF4-FFF2-40B4-BE49-F238E27FC236}">
                <a16:creationId xmlns:a16="http://schemas.microsoft.com/office/drawing/2014/main" id="{DC1E68BE-7EE9-47ED-A230-D91187DE1369}"/>
              </a:ext>
            </a:extLst>
          </p:cNvPr>
          <p:cNvSpPr>
            <a:spLocks xmlns:a="http://schemas.openxmlformats.org/drawingml/2006/main" noGrp="1"/>
          </p:cNvSpPr>
          <p:nvPr/>
        </p:nvSpPr>
        <p:spPr>
          <a:xfrm xmlns:a="http://schemas.openxmlformats.org/drawingml/2006/main">
            <a:off x="6762750" y="262890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Área baja = 21; centro = 25.</a:t>
            </a:r>
          </a:p>
        </p:txBody>
      </p:sp>
      <p:sp>
        <p:nvSpPr>
          <p:cNvPr id="12" name="">
            <a:extLst xmlns:a="http://schemas.openxmlformats.org/drawingml/2006/main">
              <a:ext uri="{FF2B5EF4-FFF2-40B4-BE49-F238E27FC236}">
                <a16:creationId xmlns:a16="http://schemas.microsoft.com/office/drawing/2014/main" id="{8B81992F-6E46-4195-A414-2517A6957E7C}"/>
              </a:ext>
            </a:extLst>
          </p:cNvPr>
          <p:cNvSpPr>
            <a:spLocks xmlns:a="http://schemas.openxmlformats.org/drawingml/2006/main" noGrp="1"/>
          </p:cNvSpPr>
          <p:nvPr/>
        </p:nvSpPr>
        <p:spPr>
          <a:xfrm xmlns:a="http://schemas.openxmlformats.org/drawingml/2006/main">
            <a:off x="6762750" y="3352800"/>
            <a:ext cx="466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Área alta = 12,75; centro = 75.</a:t>
            </a:r>
          </a:p>
        </p:txBody>
      </p:sp>
      <p:sp>
        <p:nvSpPr>
          <p:cNvPr id="13" name="">
            <a:extLst xmlns:a="http://schemas.openxmlformats.org/drawingml/2006/main">
              <a:ext uri="{FF2B5EF4-FFF2-40B4-BE49-F238E27FC236}">
                <a16:creationId xmlns:a16="http://schemas.microsoft.com/office/drawing/2014/main" id="{3FB70751-BDEB-4909-A327-AD0D7BBDAD05}"/>
              </a:ext>
            </a:extLst>
          </p:cNvPr>
          <p:cNvSpPr>
            <a:spLocks xmlns:a="http://schemas.openxmlformats.org/drawingml/2006/main" noGrp="1"/>
          </p:cNvSpPr>
          <p:nvPr/>
        </p:nvSpPr>
        <p:spPr>
          <a:xfrm xmlns:a="http://schemas.openxmlformats.org/drawingml/2006/main">
            <a:off x="6762750" y="4314825"/>
            <a:ext cx="4667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u* = (21·25 + 12,75·75)</a:t>
            </a:r>
          </a:p>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       / (21 + 12,75)</a:t>
            </a:r>
          </a:p>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    ≈ 43,89 %</a:t>
            </a:r>
          </a:p>
        </p:txBody>
      </p:sp>
      <p:sp>
        <p:nvSpPr>
          <p:cNvPr id="14" name="">
            <a:extLst xmlns:a="http://schemas.openxmlformats.org/drawingml/2006/main">
              <a:ext uri="{FF2B5EF4-FFF2-40B4-BE49-F238E27FC236}">
                <a16:creationId xmlns:a16="http://schemas.microsoft.com/office/drawing/2014/main" id="{30DD62D3-DB11-4F65-91E8-6175AC96E08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denominador debe ser positivo: si no hay salida activada, hay que resolver la falta de cobertura.</a:t>
            </a:r>
          </a:p>
        </p:txBody>
      </p:sp>
      <p:sp>
        <p:nvSpPr>
          <p:cNvPr id="19" name="">
            <a:extLst xmlns:a="http://schemas.openxmlformats.org/drawingml/2006/main">
              <a:ext uri="{FF2B5EF4-FFF2-40B4-BE49-F238E27FC236}">
                <a16:creationId xmlns:a16="http://schemas.microsoft.com/office/drawing/2014/main" id="{AD3066D1-7BF6-4F73-8229-57181D574FF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6D08D8D-4FE8-4629-BC65-E206D0BDE6A4}"/>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Centroide discreto: de la tabla al número</a:t>
            </a:r>
          </a:p>
        </p:txBody>
      </p:sp>
      <p:sp>
        <p:nvSpPr>
          <p:cNvPr id="9" name="">
            <a:extLst xmlns:a="http://schemas.openxmlformats.org/drawingml/2006/main">
              <a:ext uri="{FF2B5EF4-FFF2-40B4-BE49-F238E27FC236}">
                <a16:creationId xmlns:a16="http://schemas.microsoft.com/office/drawing/2014/main" id="{6D61166B-B223-4EC9-97FA-290FB3CE16CB}"/>
              </a:ext>
            </a:extLst>
          </p:cNvPr>
          <p:cNvSpPr>
            <a:spLocks xmlns:a="http://schemas.openxmlformats.org/drawingml/2006/main" noGrp="1"/>
          </p:cNvSpPr>
          <p:nvPr/>
        </p:nvSpPr>
        <p:spPr>
          <a:xfrm xmlns:a="http://schemas.openxmlformats.org/drawingml/2006/main">
            <a:off x="762000" y="154305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Otro ejemplo: muestreamos una salida agregada en cinco potencias equidistantes.</a:t>
            </a:r>
          </a:p>
        </p:txBody>
      </p:sp>
      <p:graphicFrame>
        <p:nvGraphicFramePr>
          <p:cNvPr id="26" name=""/>
          <p:cNvGraphicFramePr/>
          <p:nvPr/>
        </p:nvGraphicFramePr>
        <p:xfrm>
          <a:off xmlns:a="http://schemas.openxmlformats.org/drawingml/2006/main" x="762000" y="2581275"/>
          <a:ext xmlns:a="http://schemas.openxmlformats.org/drawingml/2006/main" cx="10668000" cy="1409700"/>
        </p:xfrm>
        <a:graphic xmlns:a="http://schemas.openxmlformats.org/drawingml/2006/main">
          <a:graphicData uri="http://schemas.openxmlformats.org/drawingml/2006/table">
            <a:tbl>
              <a:tblPr/>
              <a:tblGrid>
                <a:gridCol w="3048000"/>
                <a:gridCol w="1524000"/>
                <a:gridCol w="1524000"/>
                <a:gridCol w="1524000"/>
                <a:gridCol w="1524000"/>
                <a:gridCol w="1524000"/>
              </a:tblGrid>
              <a:tr h="704850">
                <a:tc>
                  <a:txBody>
                    <a:bodyPr lIns="85725" tIns="76200" rIns="85725" bIns="76200"/>
                    <a:lstStyle/>
                    <a:p>
                      <a:pPr algn="ctr">
                        <a:buNone/>
                      </a:pPr>
                      <a:r>
                        <a:rPr sz="2175" b="1">
                          <a:solidFill>
                            <a:srgbClr val="2162A0"/>
                          </a:solidFill>
                          <a:latin typeface="Arial"/>
                          <a:ea typeface="Arial"/>
                          <a:cs typeface="Arial"/>
                        </a:rPr>
                        <a:t>Potencia ui (%)</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0</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25</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50</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75</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100</a:t>
                      </a:r>
                    </a:p>
                  </a:txBody>
                  <a:tcPr marL="91440" marR="91440" marT="45720" marB="45720" anchor="ctr">
                    <a:solidFill>
                      <a:srgbClr val="E7EFF5"/>
                    </a:solidFill>
                  </a:tcPr>
                </a:tc>
              </a:tr>
              <a:tr h="704850">
                <a:tc>
                  <a:txBody>
                    <a:bodyPr lIns="85725" tIns="76200" rIns="85725" bIns="76200"/>
                    <a:lstStyle/>
                    <a:p>
                      <a:pPr algn="ctr">
                        <a:buNone/>
                      </a:pPr>
                      <a:r>
                        <a:rPr sz="2175" b="0">
                          <a:solidFill>
                            <a:srgbClr val="233746"/>
                          </a:solidFill>
                          <a:latin typeface="Arial"/>
                          <a:ea typeface="Arial"/>
                          <a:cs typeface="Arial"/>
                        </a:rPr>
                        <a:t>μAgregada(ui)</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0,2</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0,6</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0,4</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a:t>
                      </a:r>
                    </a:p>
                  </a:txBody>
                  <a:tcPr marL="91440" marR="91440" marT="45720" marB="45720" anchor="ctr">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56F2EE72-9CD2-4825-90E9-1BCE6D6668D2}"/>
              </a:ext>
            </a:extLst>
          </p:cNvPr>
          <p:cNvSpPr>
            <a:spLocks xmlns:a="http://schemas.openxmlformats.org/drawingml/2006/main" noGrp="1"/>
          </p:cNvSpPr>
          <p:nvPr/>
        </p:nvSpPr>
        <p:spPr>
          <a:xfrm xmlns:a="http://schemas.openxmlformats.org/drawingml/2006/main">
            <a:off x="762000" y="4419600"/>
            <a:ext cx="1066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u* ≈ Σ ui μi / Σ μi</a:t>
            </a:r>
          </a:p>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    = (25·0,2 + 50·0,6 + 75·0,4) / (0,2 + 0,6 + 0,4)</a:t>
            </a:r>
          </a:p>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    ≈ 54,17 %</a:t>
            </a:r>
          </a:p>
        </p:txBody>
      </p:sp>
      <p:sp>
        <p:nvSpPr>
          <p:cNvPr id="12" name="">
            <a:extLst xmlns:a="http://schemas.openxmlformats.org/drawingml/2006/main">
              <a:ext uri="{FF2B5EF4-FFF2-40B4-BE49-F238E27FC236}">
                <a16:creationId xmlns:a16="http://schemas.microsoft.com/office/drawing/2014/main" id="{AD869AAB-9C02-4471-9DA2-F5B226F7005C}"/>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54,17 % es la potencia elegida; 0,6 es un grado de pertenencia, no una potencia.</a:t>
            </a:r>
          </a:p>
        </p:txBody>
      </p:sp>
      <p:sp>
        <p:nvSpPr>
          <p:cNvPr id="17" name="">
            <a:extLst xmlns:a="http://schemas.openxmlformats.org/drawingml/2006/main">
              <a:ext uri="{FF2B5EF4-FFF2-40B4-BE49-F238E27FC236}">
                <a16:creationId xmlns:a16="http://schemas.microsoft.com/office/drawing/2014/main" id="{3968C492-9F94-4AE6-92FB-D206681D9E6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8E4529A-1ECC-4E72-A045-7C94DFB86BE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Programar la desdifusificación a un escalar</a:t>
            </a:r>
          </a:p>
        </p:txBody>
      </p:sp>
      <p:sp>
        <p:nvSpPr>
          <p:cNvPr id="9" name="">
            <a:extLst xmlns:a="http://schemas.openxmlformats.org/drawingml/2006/main">
              <a:ext uri="{FF2B5EF4-FFF2-40B4-BE49-F238E27FC236}">
                <a16:creationId xmlns:a16="http://schemas.microsoft.com/office/drawing/2014/main" id="{0CFEDAC2-C065-4ABC-A58A-30AE19E8E67E}"/>
              </a:ext>
            </a:extLst>
          </p:cNvPr>
          <p:cNvSpPr>
            <a:spLocks xmlns:a="http://schemas.openxmlformats.org/drawingml/2006/main" noGrp="1"/>
          </p:cNvSpPr>
          <p:nvPr/>
        </p:nvSpPr>
        <p:spPr>
          <a:xfrm xmlns:a="http://schemas.openxmlformats.org/drawingml/2006/main">
            <a:off x="762000" y="1943100"/>
            <a:ext cx="106680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 u: malla ordenada de potencias; mu: salida agregada</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area = np.trapezoid(mu, u)</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if area &lt;= 0:</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    raise ValueError("Ninguna regla genera salida")</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momento = np.trapezoid(u * mu, u)</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potencia = momento / area</a:t>
            </a:r>
          </a:p>
        </p:txBody>
      </p:sp>
      <p:sp>
        <p:nvSpPr>
          <p:cNvPr id="10" name="">
            <a:extLst xmlns:a="http://schemas.openxmlformats.org/drawingml/2006/main">
              <a:ext uri="{FF2B5EF4-FFF2-40B4-BE49-F238E27FC236}">
                <a16:creationId xmlns:a16="http://schemas.microsoft.com/office/drawing/2014/main" id="{D249C70D-15DD-4B90-8989-235D89FC070E}"/>
              </a:ext>
            </a:extLst>
          </p:cNvPr>
          <p:cNvSpPr>
            <a:spLocks xmlns:a="http://schemas.openxmlformats.org/drawingml/2006/main" noGrp="1"/>
          </p:cNvSpPr>
          <p:nvPr/>
        </p:nvSpPr>
        <p:spPr>
          <a:xfrm xmlns:a="http://schemas.openxmlformats.org/drawingml/2006/main">
            <a:off x="762000" y="4981575"/>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Antes: fuzzificar → activar → recortar → agregar.</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Después: enviar la potencia al modelo y volver a medir.</a:t>
            </a:r>
          </a:p>
        </p:txBody>
      </p:sp>
      <p:sp>
        <p:nvSpPr>
          <p:cNvPr id="11" name="">
            <a:extLst xmlns:a="http://schemas.openxmlformats.org/drawingml/2006/main">
              <a:ext uri="{FF2B5EF4-FFF2-40B4-BE49-F238E27FC236}">
                <a16:creationId xmlns:a16="http://schemas.microsoft.com/office/drawing/2014/main" id="{B7524D06-EB03-4E38-9BB0-0E95A2EA4921}"/>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Refina la malla hasta que el resultado apenas cambie; comprueba también los límites del actuador.</a:t>
            </a:r>
          </a:p>
        </p:txBody>
      </p:sp>
      <p:sp>
        <p:nvSpPr>
          <p:cNvPr id="12" name="">
            <a:extLst xmlns:a="http://schemas.openxmlformats.org/drawingml/2006/main">
              <a:ext uri="{FF2B5EF4-FFF2-40B4-BE49-F238E27FC236}">
                <a16:creationId xmlns:a16="http://schemas.microsoft.com/office/drawing/2014/main" id="{0EAD4DD0-190C-405A-9842-D5EA8D2B060E}"/>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C74118E-CE42-4387-AA6E-73CA69C94D9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3. Media ponderada: centros y alturas</a:t>
            </a:r>
          </a:p>
        </p:txBody>
      </p:sp>
      <p:graphicFrame>
        <p:nvGraphicFramePr>
          <p:cNvPr id="23"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28ff7dff198147da"/>
          </a:graphicData>
        </a:graphic>
      </p:graphicFrame>
      <p:sp>
        <p:nvSpPr>
          <p:cNvPr id="10" name="">
            <a:extLst xmlns:a="http://schemas.openxmlformats.org/drawingml/2006/main">
              <a:ext uri="{FF2B5EF4-FFF2-40B4-BE49-F238E27FC236}">
                <a16:creationId xmlns:a16="http://schemas.microsoft.com/office/drawing/2014/main" id="{D9626DC3-44B5-4D96-869F-E2C6FC0BBD71}"/>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Centro bajo: 25</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Altura: 0,6</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Centro alto: 75</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Altura: 0,3</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u* = 41,67 %</a:t>
            </a:r>
          </a:p>
        </p:txBody>
      </p:sp>
      <p:sp>
        <p:nvSpPr>
          <p:cNvPr id="11" name="">
            <a:extLst xmlns:a="http://schemas.openxmlformats.org/drawingml/2006/main">
              <a:ext uri="{FF2B5EF4-FFF2-40B4-BE49-F238E27FC236}">
                <a16:creationId xmlns:a16="http://schemas.microsoft.com/office/drawing/2014/main" id="{799D4E9E-20F0-4934-BAA9-80095BDD8FE3}"/>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u* = (25 · 0,6 + 75 · 0,3) / (0,6 + 0,3) = 41,67 %.</a:t>
            </a:r>
          </a:p>
        </p:txBody>
      </p:sp>
      <p:sp>
        <p:nvSpPr>
          <p:cNvPr id="15" name="">
            <a:extLst xmlns:a="http://schemas.openxmlformats.org/drawingml/2006/main">
              <a:ext uri="{FF2B5EF4-FFF2-40B4-BE49-F238E27FC236}">
                <a16:creationId xmlns:a16="http://schemas.microsoft.com/office/drawing/2014/main" id="{44AAEB16-6F85-4FF8-BAF2-F1B54C3FAA5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6315AC0-44F8-4FE1-A800-A5CE61AD294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4. Media de máximos: el centro de la meseta</a:t>
            </a:r>
          </a:p>
        </p:txBody>
      </p:sp>
      <p:graphicFrame>
        <p:nvGraphicFramePr>
          <p:cNvPr id="23"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fc232a2eacac436e"/>
          </a:graphicData>
        </a:graphic>
      </p:graphicFrame>
      <p:sp>
        <p:nvSpPr>
          <p:cNvPr id="10" name="">
            <a:extLst xmlns:a="http://schemas.openxmlformats.org/drawingml/2006/main">
              <a:ext uri="{FF2B5EF4-FFF2-40B4-BE49-F238E27FC236}">
                <a16:creationId xmlns:a16="http://schemas.microsoft.com/office/drawing/2014/main" id="{85BD42DC-6977-468B-9515-57E36DF6FEF9}"/>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La altura máxima es 0,6.</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La meseta va de 15 a 35.</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u* = (15 + 35) / 2</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     = 25 %</a:t>
            </a:r>
          </a:p>
        </p:txBody>
      </p:sp>
      <p:sp>
        <p:nvSpPr>
          <p:cNvPr id="11" name="">
            <a:extLst xmlns:a="http://schemas.openxmlformats.org/drawingml/2006/main">
              <a:ext uri="{FF2B5EF4-FFF2-40B4-BE49-F238E27FC236}">
                <a16:creationId xmlns:a16="http://schemas.microsoft.com/office/drawing/2014/main" id="{F6650EE7-156B-4B03-85CB-48CCE182F3D1}"/>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Solo intervienen los máximos. La región de potencia alta no cambia esta decisión.</a:t>
            </a:r>
          </a:p>
        </p:txBody>
      </p:sp>
      <p:sp>
        <p:nvSpPr>
          <p:cNvPr id="15" name="">
            <a:extLst xmlns:a="http://schemas.openxmlformats.org/drawingml/2006/main">
              <a:ext uri="{FF2B5EF4-FFF2-40B4-BE49-F238E27FC236}">
                <a16:creationId xmlns:a16="http://schemas.microsoft.com/office/drawing/2014/main" id="{D126D7C3-F296-40E5-996A-D97CE025CBE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B9B1506-2607-4659-9350-9ABEE24FE3F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5. Centro de sumas: cada regla conserva su área</a:t>
            </a:r>
          </a:p>
        </p:txBody>
      </p:sp>
      <p:graphicFrame>
        <p:nvGraphicFramePr>
          <p:cNvPr id="25" name="Chart"/>
          <p:cNvGraphicFramePr/>
          <p:nvPr/>
        </p:nvGraphicFramePr>
        <p:xfrm>
          <a:off xmlns:a="http://schemas.openxmlformats.org/drawingml/2006/main" x="666750" y="2314575"/>
          <a:ext xmlns:a="http://schemas.openxmlformats.org/drawingml/2006/main" cx="6524625" cy="3190875"/>
        </p:xfrm>
        <a:graphic xmlns:a="http://schemas.openxmlformats.org/drawingml/2006/main">
          <a:graphicData uri="http://schemas.openxmlformats.org/drawingml/2006/chart">
            <c:chart xmlns:r="http://schemas.openxmlformats.org/officeDocument/2006/relationships" xmlns:c="http://schemas.openxmlformats.org/drawingml/2006/chart" r:id="R01768ae4f5b94ecb"/>
          </a:graphicData>
        </a:graphic>
      </p:graphicFrame>
      <p:sp>
        <p:nvSpPr>
          <p:cNvPr id="10" name="">
            <a:extLst xmlns:a="http://schemas.openxmlformats.org/drawingml/2006/main">
              <a:ext uri="{FF2B5EF4-FFF2-40B4-BE49-F238E27FC236}">
                <a16:creationId xmlns:a16="http://schemas.microsoft.com/office/drawing/2014/main" id="{396A4541-DF20-4DF5-A12C-5B5E79E122F2}"/>
              </a:ext>
            </a:extLst>
          </p:cNvPr>
          <p:cNvSpPr>
            <a:spLocks xmlns:a="http://schemas.openxmlformats.org/drawingml/2006/main" noGrp="1"/>
          </p:cNvSpPr>
          <p:nvPr/>
        </p:nvSpPr>
        <p:spPr>
          <a:xfrm xmlns:a="http://schemas.openxmlformats.org/drawingml/2006/main">
            <a:off x="762000" y="1609725"/>
            <a:ext cx="328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2162A0"/>
                </a:solidFill>
                <a:latin typeface="Arial"/>
                <a:ea typeface="Arial"/>
                <a:cs typeface="Arial"/>
              </a:defRPr>
            </a:pPr>
            <a:r>
              <a:rPr sz="1875" b="1">
                <a:solidFill>
                  <a:srgbClr val="2162A0"/>
                </a:solidFill>
                <a:latin typeface="Arial"/>
                <a:ea typeface="Arial"/>
                <a:cs typeface="Arial"/>
              </a:rPr>
              <a:t>Unión (azul)</a:t>
            </a:r>
          </a:p>
        </p:txBody>
      </p:sp>
      <p:sp>
        <p:nvSpPr>
          <p:cNvPr id="11" name="">
            <a:extLst xmlns:a="http://schemas.openxmlformats.org/drawingml/2006/main">
              <a:ext uri="{FF2B5EF4-FFF2-40B4-BE49-F238E27FC236}">
                <a16:creationId xmlns:a16="http://schemas.microsoft.com/office/drawing/2014/main" id="{12A2BDB7-9FA0-4637-8D76-7A9D37B99245}"/>
              </a:ext>
            </a:extLst>
          </p:cNvPr>
          <p:cNvSpPr>
            <a:spLocks xmlns:a="http://schemas.openxmlformats.org/drawingml/2006/main" noGrp="1"/>
          </p:cNvSpPr>
          <p:nvPr/>
        </p:nvSpPr>
        <p:spPr>
          <a:xfrm xmlns:a="http://schemas.openxmlformats.org/drawingml/2006/main">
            <a:off x="4143375" y="1609725"/>
            <a:ext cx="328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D96B18"/>
                </a:solidFill>
                <a:latin typeface="Arial"/>
                <a:ea typeface="Arial"/>
                <a:cs typeface="Arial"/>
              </a:defRPr>
            </a:pPr>
            <a:r>
              <a:rPr sz="1875" b="1">
                <a:solidFill>
                  <a:srgbClr val="D96B18"/>
                </a:solidFill>
                <a:latin typeface="Arial"/>
                <a:ea typeface="Arial"/>
                <a:cs typeface="Arial"/>
              </a:rPr>
              <a:t>Suma (naranja)</a:t>
            </a:r>
          </a:p>
        </p:txBody>
      </p:sp>
      <p:sp>
        <p:nvSpPr>
          <p:cNvPr id="12" name="">
            <a:extLst xmlns:a="http://schemas.openxmlformats.org/drawingml/2006/main">
              <a:ext uri="{FF2B5EF4-FFF2-40B4-BE49-F238E27FC236}">
                <a16:creationId xmlns:a16="http://schemas.microsoft.com/office/drawing/2014/main" id="{92C0AF10-E0DC-40F2-A67E-B5E02CE28EC3}"/>
              </a:ext>
            </a:extLst>
          </p:cNvPr>
          <p:cNvSpPr>
            <a:spLocks xmlns:a="http://schemas.openxmlformats.org/drawingml/2006/main" noGrp="1"/>
          </p:cNvSpPr>
          <p:nvPr/>
        </p:nvSpPr>
        <p:spPr>
          <a:xfrm xmlns:a="http://schemas.openxmlformats.org/drawingml/2006/main">
            <a:off x="7667625" y="1952625"/>
            <a:ext cx="3714750" cy="3381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Ejemplo con solape</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A1 = 25,2; c1 = 30</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A2 = 15,3; c2 = 60</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u* = Σ Ai ci / Σ Ai</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     ≈ 41,33 %</a:t>
            </a:r>
          </a:p>
        </p:txBody>
      </p:sp>
      <p:sp>
        <p:nvSpPr>
          <p:cNvPr id="13" name="">
            <a:extLst xmlns:a="http://schemas.openxmlformats.org/drawingml/2006/main">
              <a:ext uri="{FF2B5EF4-FFF2-40B4-BE49-F238E27FC236}">
                <a16:creationId xmlns:a16="http://schemas.microsoft.com/office/drawing/2014/main" id="{E61192DC-7D32-41EE-BFB9-4670FCE25B0F}"/>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suma cuenta el solape por cada regla. El centroide de la unión daría ≈ 40,66 %.</a:t>
            </a:r>
          </a:p>
        </p:txBody>
      </p:sp>
      <p:sp>
        <p:nvSpPr>
          <p:cNvPr id="17" name="">
            <a:extLst xmlns:a="http://schemas.openxmlformats.org/drawingml/2006/main">
              <a:ext uri="{FF2B5EF4-FFF2-40B4-BE49-F238E27FC236}">
                <a16:creationId xmlns:a16="http://schemas.microsoft.com/office/drawing/2014/main" id="{866B71ED-B9F5-4912-9650-7067477C3BE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78781B5-16D0-4102-99AA-03AD9C060EF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6. Centro del área mayor: escoger una región</a:t>
            </a:r>
          </a:p>
        </p:txBody>
      </p:sp>
      <p:graphicFrame>
        <p:nvGraphicFramePr>
          <p:cNvPr id="23"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84327a7e5d2f48be"/>
          </a:graphicData>
        </a:graphic>
      </p:graphicFrame>
      <p:sp>
        <p:nvSpPr>
          <p:cNvPr id="10" name="">
            <a:extLst xmlns:a="http://schemas.openxmlformats.org/drawingml/2006/main">
              <a:ext uri="{FF2B5EF4-FFF2-40B4-BE49-F238E27FC236}">
                <a16:creationId xmlns:a16="http://schemas.microsoft.com/office/drawing/2014/main" id="{BF5CD85E-4864-4E17-ABB8-FEF5F954732E}"/>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Volvemos al ejemplo inicial.</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Región baja: área 21.</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Región alta: área 12,75.</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Elegimos la región baja</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y su centroide: 25 %.</a:t>
            </a:r>
          </a:p>
        </p:txBody>
      </p:sp>
      <p:sp>
        <p:nvSpPr>
          <p:cNvPr id="11" name="">
            <a:extLst xmlns:a="http://schemas.openxmlformats.org/drawingml/2006/main">
              <a:ext uri="{FF2B5EF4-FFF2-40B4-BE49-F238E27FC236}">
                <a16:creationId xmlns:a16="http://schemas.microsoft.com/office/drawing/2014/main" id="{A7AB47BF-5C23-4484-8509-3EA72AEB5F6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Mayor área no significa necesariamente mayor pico.</a:t>
            </a:r>
          </a:p>
        </p:txBody>
      </p:sp>
      <p:sp>
        <p:nvSpPr>
          <p:cNvPr id="15" name="">
            <a:extLst xmlns:a="http://schemas.openxmlformats.org/drawingml/2006/main">
              <a:ext uri="{FF2B5EF4-FFF2-40B4-BE49-F238E27FC236}">
                <a16:creationId xmlns:a16="http://schemas.microsoft.com/office/drawing/2014/main" id="{AFE94E4A-F541-4C7C-8FD7-583C62DB1FC9}"/>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E14D28C-5ACE-4182-B0B3-E57203532BE7}"/>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7. Primero o último de los máximos</a:t>
            </a:r>
          </a:p>
        </p:txBody>
      </p:sp>
      <p:graphicFrame>
        <p:nvGraphicFramePr>
          <p:cNvPr id="23"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6af0b27f5df9461b"/>
          </a:graphicData>
        </a:graphic>
      </p:graphicFrame>
      <p:sp>
        <p:nvSpPr>
          <p:cNvPr id="10" name="">
            <a:extLst xmlns:a="http://schemas.openxmlformats.org/drawingml/2006/main">
              <a:ext uri="{FF2B5EF4-FFF2-40B4-BE49-F238E27FC236}">
                <a16:creationId xmlns:a16="http://schemas.microsoft.com/office/drawing/2014/main" id="{9F4EF8C1-57F2-47D7-B453-B858B3B3338C}"/>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Misma meseta: [15, 35].</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Primero: u* = 15 %.</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Último: u* = 35 %.</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Hay que declarar cuál usamos.</a:t>
            </a:r>
          </a:p>
        </p:txBody>
      </p:sp>
      <p:sp>
        <p:nvSpPr>
          <p:cNvPr id="11" name="">
            <a:extLst xmlns:a="http://schemas.openxmlformats.org/drawingml/2006/main">
              <a:ext uri="{FF2B5EF4-FFF2-40B4-BE49-F238E27FC236}">
                <a16:creationId xmlns:a16="http://schemas.microsoft.com/office/drawing/2014/main" id="{FB02BD1E-6C56-4234-AD81-51A75571DE8D}"/>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máximo se busca en vertical. Primero y último se eligen en el eje de potencia.</a:t>
            </a:r>
          </a:p>
        </p:txBody>
      </p:sp>
      <p:sp>
        <p:nvSpPr>
          <p:cNvPr id="15" name="">
            <a:extLst xmlns:a="http://schemas.openxmlformats.org/drawingml/2006/main">
              <a:ext uri="{FF2B5EF4-FFF2-40B4-BE49-F238E27FC236}">
                <a16:creationId xmlns:a16="http://schemas.microsoft.com/office/drawing/2014/main" id="{0F2310F4-6A62-4EC2-A965-442F2D2297DE}"/>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B9BC57A-0DBD-4C1B-BD08-71E44EE2D82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Misma salida fuzzy, decisiones diferentes</a:t>
            </a:r>
          </a:p>
        </p:txBody>
      </p:sp>
      <p:graphicFrame>
        <p:nvGraphicFramePr>
          <p:cNvPr id="22" name=""/>
          <p:cNvGraphicFramePr/>
          <p:nvPr/>
        </p:nvGraphicFramePr>
        <p:xfrm>
          <a:off xmlns:a="http://schemas.openxmlformats.org/drawingml/2006/main" x="762000" y="1562100"/>
          <a:ext xmlns:a="http://schemas.openxmlformats.org/drawingml/2006/main" cx="10668000" cy="4162425"/>
        </p:xfrm>
        <a:graphic xmlns:a="http://schemas.openxmlformats.org/drawingml/2006/main">
          <a:graphicData uri="http://schemas.openxmlformats.org/drawingml/2006/table">
            <a:tbl>
              <a:tblPr/>
              <a:tblGrid>
                <a:gridCol w="4619625"/>
                <a:gridCol w="6048375"/>
              </a:tblGrid>
              <a:tr h="520303">
                <a:tc>
                  <a:txBody>
                    <a:bodyPr lIns="85725" tIns="76200" rIns="85725" bIns="76200"/>
                    <a:lstStyle/>
                    <a:p>
                      <a:pPr algn="ctr">
                        <a:buNone/>
                      </a:pPr>
                      <a:r>
                        <a:rPr sz="1875" b="1">
                          <a:solidFill>
                            <a:srgbClr val="2162A0"/>
                          </a:solidFill>
                          <a:latin typeface="Arial"/>
                          <a:ea typeface="Arial"/>
                          <a:cs typeface="Arial"/>
                        </a:rPr>
                        <a:t>Método</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Potencia resultante</a:t>
                      </a:r>
                    </a:p>
                  </a:txBody>
                  <a:tcPr marL="91440" marR="91440" marT="45720" marB="45720" anchor="ctr">
                    <a:solidFill>
                      <a:srgbClr val="E7EFF5"/>
                    </a:solidFill>
                  </a:tcPr>
                </a:tc>
              </a:tr>
              <a:tr h="520303">
                <a:tc>
                  <a:txBody>
                    <a:bodyPr lIns="85725" tIns="76200" rIns="85725" bIns="76200"/>
                    <a:lstStyle/>
                    <a:p>
                      <a:pPr algn="ctr">
                        <a:buNone/>
                      </a:pPr>
                      <a:r>
                        <a:rPr sz="1875" b="0">
                          <a:solidFill>
                            <a:srgbClr val="233746"/>
                          </a:solidFill>
                          <a:latin typeface="Arial"/>
                          <a:ea typeface="Arial"/>
                          <a:cs typeface="Arial"/>
                        </a:rPr>
                        <a:t>Máxima pertenencia</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Cualquier valor de [15, 35] sin desempate</a:t>
                      </a:r>
                    </a:p>
                  </a:txBody>
                  <a:tcPr marL="91440" marR="91440" marT="45720" marB="45720" anchor="ctr">
                    <a:solidFill>
                      <a:srgbClr val="FFFFFF"/>
                    </a:solidFill>
                  </a:tcPr>
                </a:tc>
              </a:tr>
              <a:tr h="520303">
                <a:tc>
                  <a:txBody>
                    <a:bodyPr lIns="85725" tIns="76200" rIns="85725" bIns="76200"/>
                    <a:lstStyle/>
                    <a:p>
                      <a:pPr algn="ctr">
                        <a:buNone/>
                      </a:pPr>
                      <a:r>
                        <a:rPr sz="1875" b="0">
                          <a:solidFill>
                            <a:srgbClr val="233746"/>
                          </a:solidFill>
                          <a:latin typeface="Arial"/>
                          <a:ea typeface="Arial"/>
                          <a:cs typeface="Arial"/>
                        </a:rPr>
                        <a:t>Centroide</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43,89 %</a:t>
                      </a:r>
                    </a:p>
                  </a:txBody>
                  <a:tcPr marL="91440" marR="91440" marT="45720" marB="45720" anchor="ctr">
                    <a:solidFill>
                      <a:srgbClr val="F4F7F9"/>
                    </a:solidFill>
                  </a:tcPr>
                </a:tc>
              </a:tr>
              <a:tr h="520303">
                <a:tc>
                  <a:txBody>
                    <a:bodyPr lIns="85725" tIns="76200" rIns="85725" bIns="76200"/>
                    <a:lstStyle/>
                    <a:p>
                      <a:pPr algn="ctr">
                        <a:buNone/>
                      </a:pPr>
                      <a:r>
                        <a:rPr sz="1875" b="0">
                          <a:solidFill>
                            <a:srgbClr val="233746"/>
                          </a:solidFill>
                          <a:latin typeface="Arial"/>
                          <a:ea typeface="Arial"/>
                          <a:cs typeface="Arial"/>
                        </a:rPr>
                        <a:t>Media ponderada</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41,67 %</a:t>
                      </a:r>
                    </a:p>
                  </a:txBody>
                  <a:tcPr marL="91440" marR="91440" marT="45720" marB="45720" anchor="ctr">
                    <a:solidFill>
                      <a:srgbClr val="FFFFFF"/>
                    </a:solidFill>
                  </a:tcPr>
                </a:tc>
              </a:tr>
              <a:tr h="520303">
                <a:tc>
                  <a:txBody>
                    <a:bodyPr lIns="85725" tIns="76200" rIns="85725" bIns="76200"/>
                    <a:lstStyle/>
                    <a:p>
                      <a:pPr algn="ctr">
                        <a:buNone/>
                      </a:pPr>
                      <a:r>
                        <a:rPr sz="1875" b="0">
                          <a:solidFill>
                            <a:srgbClr val="233746"/>
                          </a:solidFill>
                          <a:latin typeface="Arial"/>
                          <a:ea typeface="Arial"/>
                          <a:cs typeface="Arial"/>
                        </a:rPr>
                        <a:t>Media de máximos</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25 %</a:t>
                      </a:r>
                    </a:p>
                  </a:txBody>
                  <a:tcPr marL="91440" marR="91440" marT="45720" marB="45720" anchor="ctr">
                    <a:solidFill>
                      <a:srgbClr val="F4F7F9"/>
                    </a:solidFill>
                  </a:tcPr>
                </a:tc>
              </a:tr>
              <a:tr h="520303">
                <a:tc>
                  <a:txBody>
                    <a:bodyPr lIns="85725" tIns="76200" rIns="85725" bIns="76200"/>
                    <a:lstStyle/>
                    <a:p>
                      <a:pPr algn="ctr">
                        <a:buNone/>
                      </a:pPr>
                      <a:r>
                        <a:rPr sz="1875" b="0">
                          <a:solidFill>
                            <a:srgbClr val="233746"/>
                          </a:solidFill>
                          <a:latin typeface="Arial"/>
                          <a:ea typeface="Arial"/>
                          <a:cs typeface="Arial"/>
                        </a:rPr>
                        <a:t>Centro de sumas</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43,89 % en este caso sin solape</a:t>
                      </a:r>
                    </a:p>
                  </a:txBody>
                  <a:tcPr marL="91440" marR="91440" marT="45720" marB="45720" anchor="ctr">
                    <a:solidFill>
                      <a:srgbClr val="FFFFFF"/>
                    </a:solidFill>
                  </a:tcPr>
                </a:tc>
              </a:tr>
              <a:tr h="520303">
                <a:tc>
                  <a:txBody>
                    <a:bodyPr lIns="85725" tIns="76200" rIns="85725" bIns="76200"/>
                    <a:lstStyle/>
                    <a:p>
                      <a:pPr algn="ctr">
                        <a:buNone/>
                      </a:pPr>
                      <a:r>
                        <a:rPr sz="1875" b="0">
                          <a:solidFill>
                            <a:srgbClr val="233746"/>
                          </a:solidFill>
                          <a:latin typeface="Arial"/>
                          <a:ea typeface="Arial"/>
                          <a:cs typeface="Arial"/>
                        </a:rPr>
                        <a:t>Centro del área mayor</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25 %</a:t>
                      </a:r>
                    </a:p>
                  </a:txBody>
                  <a:tcPr marL="91440" marR="91440" marT="45720" marB="45720" anchor="ctr">
                    <a:solidFill>
                      <a:srgbClr val="F4F7F9"/>
                    </a:solidFill>
                  </a:tcPr>
                </a:tc>
              </a:tr>
              <a:tr h="520303">
                <a:tc>
                  <a:txBody>
                    <a:bodyPr lIns="85725" tIns="76200" rIns="85725" bIns="76200"/>
                    <a:lstStyle/>
                    <a:p>
                      <a:pPr algn="ctr">
                        <a:buNone/>
                      </a:pPr>
                      <a:r>
                        <a:rPr sz="1875" b="0">
                          <a:solidFill>
                            <a:srgbClr val="233746"/>
                          </a:solidFill>
                          <a:latin typeface="Arial"/>
                          <a:ea typeface="Arial"/>
                          <a:cs typeface="Arial"/>
                        </a:rPr>
                        <a:t>Primero / último de máximos</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15 % / 35 %</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20334007-A79F-4C16-9373-9ADE6C3A271F}"/>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Elegir el método forma parte del diseño del controlador y debe quedar escrito.</a:t>
            </a:r>
          </a:p>
        </p:txBody>
      </p:sp>
      <p:sp>
        <p:nvSpPr>
          <p:cNvPr id="14" name="">
            <a:extLst xmlns:a="http://schemas.openxmlformats.org/drawingml/2006/main">
              <a:ext uri="{FF2B5EF4-FFF2-40B4-BE49-F238E27FC236}">
                <a16:creationId xmlns:a16="http://schemas.microsoft.com/office/drawing/2014/main" id="{B18DA6E8-1992-4533-9C05-106835CAC1E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68D7B02-2241-4C57-9D5A-18FE2C0991F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Cinco criterios para elegir la desdifusificación</a:t>
            </a:r>
          </a:p>
        </p:txBody>
      </p:sp>
      <p:graphicFrame>
        <p:nvGraphicFramePr>
          <p:cNvPr id="22" name=""/>
          <p:cNvGraphicFramePr/>
          <p:nvPr/>
        </p:nvGraphicFramePr>
        <p:xfrm>
          <a:off xmlns:a="http://schemas.openxmlformats.org/drawingml/2006/main" x="762000" y="1638300"/>
          <a:ext xmlns:a="http://schemas.openxmlformats.org/drawingml/2006/main" cx="10668000" cy="3724275"/>
        </p:xfrm>
        <a:graphic xmlns:a="http://schemas.openxmlformats.org/drawingml/2006/main">
          <a:graphicData uri="http://schemas.openxmlformats.org/drawingml/2006/table">
            <a:tbl>
              <a:tblPr/>
              <a:tblGrid>
                <a:gridCol w="4000500"/>
                <a:gridCol w="6667500"/>
              </a:tblGrid>
              <a:tr h="620713">
                <a:tc>
                  <a:txBody>
                    <a:bodyPr lIns="85725" tIns="76200" rIns="85725" bIns="76200"/>
                    <a:lstStyle/>
                    <a:p>
                      <a:pPr algn="ctr">
                        <a:buNone/>
                      </a:pPr>
                      <a:r>
                        <a:rPr sz="1950" b="1">
                          <a:solidFill>
                            <a:srgbClr val="2162A0"/>
                          </a:solidFill>
                          <a:latin typeface="Arial"/>
                          <a:ea typeface="Arial"/>
                          <a:cs typeface="Arial"/>
                        </a:rPr>
                        <a:t>Criterio de Ross</a:t>
                      </a:r>
                    </a:p>
                  </a:txBody>
                  <a:tcPr marL="91440" marR="91440" marT="45720" marB="45720" anchor="ctr">
                    <a:solidFill>
                      <a:srgbClr val="E7EFF5"/>
                    </a:solidFill>
                  </a:tcPr>
                </a:tc>
                <a:tc>
                  <a:txBody>
                    <a:bodyPr lIns="85725" tIns="76200" rIns="85725" bIns="76200"/>
                    <a:lstStyle/>
                    <a:p>
                      <a:pPr algn="ctr">
                        <a:buNone/>
                      </a:pPr>
                      <a:r>
                        <a:rPr sz="1950" b="1">
                          <a:solidFill>
                            <a:srgbClr val="2162A0"/>
                          </a:solidFill>
                          <a:latin typeface="Arial"/>
                          <a:ea typeface="Arial"/>
                          <a:cs typeface="Arial"/>
                        </a:rPr>
                        <a:t>Qué buscamos en el controlador</a:t>
                      </a:r>
                    </a:p>
                  </a:txBody>
                  <a:tcPr marL="91440" marR="91440" marT="45720" marB="45720" anchor="ctr">
                    <a:solidFill>
                      <a:srgbClr val="E7EFF5"/>
                    </a:solidFill>
                  </a:tcPr>
                </a:tc>
              </a:tr>
              <a:tr h="620713">
                <a:tc>
                  <a:txBody>
                    <a:bodyPr lIns="85725" tIns="76200" rIns="85725" bIns="76200"/>
                    <a:lstStyle/>
                    <a:p>
                      <a:pPr algn="ctr">
                        <a:buNone/>
                      </a:pPr>
                      <a:r>
                        <a:rPr sz="1950" b="0">
                          <a:solidFill>
                            <a:srgbClr val="233746"/>
                          </a:solidFill>
                          <a:latin typeface="Arial"/>
                          <a:ea typeface="Arial"/>
                          <a:cs typeface="Arial"/>
                        </a:rPr>
                        <a:t>1. Continuidad</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Cambios pequeños de entrada producen cambios pequeños de salida</a:t>
                      </a:r>
                    </a:p>
                  </a:txBody>
                  <a:tcPr marL="91440" marR="91440" marT="45720" marB="45720" anchor="ctr">
                    <a:solidFill>
                      <a:srgbClr val="FFFFFF"/>
                    </a:solidFill>
                  </a:tcPr>
                </a:tc>
              </a:tr>
              <a:tr h="620713">
                <a:tc>
                  <a:txBody>
                    <a:bodyPr lIns="85725" tIns="76200" rIns="85725" bIns="76200"/>
                    <a:lstStyle/>
                    <a:p>
                      <a:pPr algn="ctr">
                        <a:buNone/>
                      </a:pPr>
                      <a:r>
                        <a:rPr sz="1950" b="0">
                          <a:solidFill>
                            <a:srgbClr val="233746"/>
                          </a:solidFill>
                          <a:latin typeface="Arial"/>
                          <a:ea typeface="Arial"/>
                          <a:cs typeface="Arial"/>
                        </a:rPr>
                        <a:t>2. Unicidad (disambiguity)</a:t>
                      </a:r>
                    </a:p>
                  </a:txBody>
                  <a:tcPr marL="91440" marR="91440" marT="45720" marB="45720" anchor="ctr">
                    <a:solidFill>
                      <a:srgbClr val="F4F7F9"/>
                    </a:solidFill>
                  </a:tcPr>
                </a:tc>
                <a:tc>
                  <a:txBody>
                    <a:bodyPr lIns="85725" tIns="76200" rIns="85725" bIns="76200"/>
                    <a:lstStyle/>
                    <a:p>
                      <a:pPr algn="ctr">
                        <a:buNone/>
                      </a:pPr>
                      <a:r>
                        <a:rPr sz="1950" b="0">
                          <a:solidFill>
                            <a:srgbClr val="233746"/>
                          </a:solidFill>
                          <a:latin typeface="Arial"/>
                          <a:ea typeface="Arial"/>
                          <a:cs typeface="Arial"/>
                        </a:rPr>
                        <a:t>Obtener un único valor, también cuando hay empates</a:t>
                      </a:r>
                    </a:p>
                  </a:txBody>
                  <a:tcPr marL="91440" marR="91440" marT="45720" marB="45720" anchor="ctr">
                    <a:solidFill>
                      <a:srgbClr val="F4F7F9"/>
                    </a:solidFill>
                  </a:tcPr>
                </a:tc>
              </a:tr>
              <a:tr h="620713">
                <a:tc>
                  <a:txBody>
                    <a:bodyPr lIns="85725" tIns="76200" rIns="85725" bIns="76200"/>
                    <a:lstStyle/>
                    <a:p>
                      <a:pPr algn="ctr">
                        <a:buNone/>
                      </a:pPr>
                      <a:r>
                        <a:rPr sz="1950" b="0">
                          <a:solidFill>
                            <a:srgbClr val="233746"/>
                          </a:solidFill>
                          <a:latin typeface="Arial"/>
                          <a:ea typeface="Arial"/>
                          <a:cs typeface="Arial"/>
                        </a:rPr>
                        <a:t>3. Plausibilidad</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Un valor central en el soporte y con pertenencia alta</a:t>
                      </a:r>
                    </a:p>
                  </a:txBody>
                  <a:tcPr marL="91440" marR="91440" marT="45720" marB="45720" anchor="ctr">
                    <a:solidFill>
                      <a:srgbClr val="FFFFFF"/>
                    </a:solidFill>
                  </a:tcPr>
                </a:tc>
              </a:tr>
              <a:tr h="620713">
                <a:tc>
                  <a:txBody>
                    <a:bodyPr lIns="85725" tIns="76200" rIns="85725" bIns="76200"/>
                    <a:lstStyle/>
                    <a:p>
                      <a:pPr algn="ctr">
                        <a:buNone/>
                      </a:pPr>
                      <a:r>
                        <a:rPr sz="1950" b="0">
                          <a:solidFill>
                            <a:srgbClr val="233746"/>
                          </a:solidFill>
                          <a:latin typeface="Arial"/>
                          <a:ea typeface="Arial"/>
                          <a:cs typeface="Arial"/>
                        </a:rPr>
                        <a:t>4. Simplicidad computacional</a:t>
                      </a:r>
                    </a:p>
                  </a:txBody>
                  <a:tcPr marL="91440" marR="91440" marT="45720" marB="45720" anchor="ctr">
                    <a:solidFill>
                      <a:srgbClr val="F4F7F9"/>
                    </a:solidFill>
                  </a:tcPr>
                </a:tc>
                <a:tc>
                  <a:txBody>
                    <a:bodyPr lIns="85725" tIns="76200" rIns="85725" bIns="76200"/>
                    <a:lstStyle/>
                    <a:p>
                      <a:pPr algn="ctr">
                        <a:buNone/>
                      </a:pPr>
                      <a:r>
                        <a:rPr sz="1950" b="0">
                          <a:solidFill>
                            <a:srgbClr val="233746"/>
                          </a:solidFill>
                          <a:latin typeface="Arial"/>
                          <a:ea typeface="Arial"/>
                          <a:cs typeface="Arial"/>
                        </a:rPr>
                        <a:t>Calcular la acción dentro del tiempo de muestreo</a:t>
                      </a:r>
                    </a:p>
                  </a:txBody>
                  <a:tcPr marL="91440" marR="91440" marT="45720" marB="45720" anchor="ctr">
                    <a:solidFill>
                      <a:srgbClr val="F4F7F9"/>
                    </a:solidFill>
                  </a:tcPr>
                </a:tc>
              </a:tr>
              <a:tr h="620713">
                <a:tc>
                  <a:txBody>
                    <a:bodyPr lIns="85725" tIns="76200" rIns="85725" bIns="76200"/>
                    <a:lstStyle/>
                    <a:p>
                      <a:pPr algn="ctr">
                        <a:buNone/>
                      </a:pPr>
                      <a:r>
                        <a:rPr sz="1950" b="0">
                          <a:solidFill>
                            <a:srgbClr val="233746"/>
                          </a:solidFill>
                          <a:latin typeface="Arial"/>
                          <a:ea typeface="Arial"/>
                          <a:cs typeface="Arial"/>
                        </a:rPr>
                        <a:t>5. Forma de ponderar (weighting)</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Decidir qué influye más: altura, área o curva agregada</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5F9B24A2-1D51-48C9-9321-650DDD4389F7}"/>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Ningún método es el mejor para todos los problemas. La elección depende de la acción física.</a:t>
            </a:r>
          </a:p>
        </p:txBody>
      </p:sp>
      <p:sp>
        <p:nvSpPr>
          <p:cNvPr id="14" name="">
            <a:extLst xmlns:a="http://schemas.openxmlformats.org/drawingml/2006/main">
              <a:ext uri="{FF2B5EF4-FFF2-40B4-BE49-F238E27FC236}">
                <a16:creationId xmlns:a16="http://schemas.microsoft.com/office/drawing/2014/main" id="{128AA75F-B0D2-41E9-AD99-9A4A1F0CFB1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5305D27-E6CA-4273-A57C-00177B4304E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Continuidad y unicidad son propiedades diferentes</a:t>
            </a:r>
          </a:p>
        </p:txBody>
      </p:sp>
      <p:graphicFrame>
        <p:nvGraphicFramePr>
          <p:cNvPr id="28" name="Chart"/>
          <p:cNvGraphicFramePr/>
          <p:nvPr/>
        </p:nvGraphicFramePr>
        <p:xfrm>
          <a:off xmlns:a="http://schemas.openxmlformats.org/drawingml/2006/main" x="762000" y="2181225"/>
          <a:ext xmlns:a="http://schemas.openxmlformats.org/drawingml/2006/main" cx="5095875" cy="2886075"/>
        </p:xfrm>
        <a:graphic xmlns:a="http://schemas.openxmlformats.org/drawingml/2006/main">
          <a:graphicData uri="http://schemas.openxmlformats.org/drawingml/2006/chart">
            <c:chart xmlns:r="http://schemas.openxmlformats.org/officeDocument/2006/relationships" xmlns:c="http://schemas.openxmlformats.org/drawingml/2006/chart" r:id="R3f30d9f365cc4306"/>
          </a:graphicData>
        </a:graphic>
      </p:graphicFrame>
      <p:graphicFrame>
        <p:nvGraphicFramePr>
          <p:cNvPr id="29" name="Chart"/>
          <p:cNvGraphicFramePr/>
          <p:nvPr/>
        </p:nvGraphicFramePr>
        <p:xfrm>
          <a:off xmlns:a="http://schemas.openxmlformats.org/drawingml/2006/main" x="6477000" y="2181225"/>
          <a:ext xmlns:a="http://schemas.openxmlformats.org/drawingml/2006/main" cx="4953000" cy="2886075"/>
        </p:xfrm>
        <a:graphic xmlns:a="http://schemas.openxmlformats.org/drawingml/2006/main">
          <a:graphicData uri="http://schemas.openxmlformats.org/drawingml/2006/chart">
            <c:chart xmlns:r="http://schemas.openxmlformats.org/officeDocument/2006/relationships" xmlns:c="http://schemas.openxmlformats.org/drawingml/2006/chart" r:id="R733ec62fa57341b0"/>
          </a:graphicData>
        </a:graphic>
      </p:graphicFrame>
      <p:sp>
        <p:nvSpPr>
          <p:cNvPr id="11" name="">
            <a:extLst xmlns:a="http://schemas.openxmlformats.org/drawingml/2006/main">
              <a:ext uri="{FF2B5EF4-FFF2-40B4-BE49-F238E27FC236}">
                <a16:creationId xmlns:a16="http://schemas.microsoft.com/office/drawing/2014/main" id="{975B38A2-0C3D-4797-86EE-54DF0FF0CB47}"/>
              </a:ext>
            </a:extLst>
          </p:cNvPr>
          <p:cNvSpPr>
            <a:spLocks xmlns:a="http://schemas.openxmlformats.org/drawingml/2006/main" noGrp="1"/>
          </p:cNvSpPr>
          <p:nvPr/>
        </p:nvSpPr>
        <p:spPr>
          <a:xfrm xmlns:a="http://schemas.openxmlformats.org/drawingml/2006/main">
            <a:off x="762000" y="1571625"/>
            <a:ext cx="5048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2162A0"/>
                </a:solidFill>
                <a:latin typeface="Arial"/>
                <a:ea typeface="Arial"/>
                <a:cs typeface="Arial"/>
              </a:defRPr>
            </a:pPr>
            <a:r>
              <a:rPr sz="2250" b="1">
                <a:solidFill>
                  <a:srgbClr val="2162A0"/>
                </a:solidFill>
                <a:latin typeface="Arial"/>
                <a:ea typeface="Arial"/>
                <a:cs typeface="Arial"/>
              </a:rPr>
              <a:t>Alturas: 0,51 y 0,49</a:t>
            </a:r>
          </a:p>
        </p:txBody>
      </p:sp>
      <p:sp>
        <p:nvSpPr>
          <p:cNvPr id="12" name="">
            <a:extLst xmlns:a="http://schemas.openxmlformats.org/drawingml/2006/main">
              <a:ext uri="{FF2B5EF4-FFF2-40B4-BE49-F238E27FC236}">
                <a16:creationId xmlns:a16="http://schemas.microsoft.com/office/drawing/2014/main" id="{A965CC1B-C082-4FE8-A8EE-E09740F6040E}"/>
              </a:ext>
            </a:extLst>
          </p:cNvPr>
          <p:cNvSpPr>
            <a:spLocks xmlns:a="http://schemas.openxmlformats.org/drawingml/2006/main" noGrp="1"/>
          </p:cNvSpPr>
          <p:nvPr/>
        </p:nvSpPr>
        <p:spPr>
          <a:xfrm xmlns:a="http://schemas.openxmlformats.org/drawingml/2006/main">
            <a:off x="6477000" y="1571625"/>
            <a:ext cx="4953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Alturas: 0,49 y 0,51</a:t>
            </a:r>
          </a:p>
        </p:txBody>
      </p:sp>
      <p:sp>
        <p:nvSpPr>
          <p:cNvPr id="13" name="">
            <a:extLst xmlns:a="http://schemas.openxmlformats.org/drawingml/2006/main">
              <a:ext uri="{FF2B5EF4-FFF2-40B4-BE49-F238E27FC236}">
                <a16:creationId xmlns:a16="http://schemas.microsoft.com/office/drawing/2014/main" id="{0A3AD29E-3DCC-473D-BB08-98C04DDA3D48}"/>
              </a:ext>
            </a:extLst>
          </p:cNvPr>
          <p:cNvSpPr>
            <a:spLocks xmlns:a="http://schemas.openxmlformats.org/drawingml/2006/main" noGrp="1"/>
          </p:cNvSpPr>
          <p:nvPr/>
        </p:nvSpPr>
        <p:spPr>
          <a:xfrm xmlns:a="http://schemas.openxmlformats.org/drawingml/2006/main">
            <a:off x="1524000" y="5162550"/>
            <a:ext cx="4191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Máximo: 20 %</a:t>
            </a:r>
          </a:p>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Centroide: 49,4 %</a:t>
            </a:r>
          </a:p>
        </p:txBody>
      </p:sp>
      <p:sp>
        <p:nvSpPr>
          <p:cNvPr id="14" name="">
            <a:extLst xmlns:a="http://schemas.openxmlformats.org/drawingml/2006/main">
              <a:ext uri="{FF2B5EF4-FFF2-40B4-BE49-F238E27FC236}">
                <a16:creationId xmlns:a16="http://schemas.microsoft.com/office/drawing/2014/main" id="{7D3D30D6-E3CC-4C3B-87B2-6F30862AE17E}"/>
              </a:ext>
            </a:extLst>
          </p:cNvPr>
          <p:cNvSpPr>
            <a:spLocks xmlns:a="http://schemas.openxmlformats.org/drawingml/2006/main" noGrp="1"/>
          </p:cNvSpPr>
          <p:nvPr/>
        </p:nvSpPr>
        <p:spPr>
          <a:xfrm xmlns:a="http://schemas.openxmlformats.org/drawingml/2006/main">
            <a:off x="7239000" y="5162550"/>
            <a:ext cx="4191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Máximo: 80 %</a:t>
            </a:r>
          </a:p>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Centroide: 50,6 %</a:t>
            </a:r>
          </a:p>
        </p:txBody>
      </p:sp>
      <p:sp>
        <p:nvSpPr>
          <p:cNvPr id="15" name="">
            <a:extLst xmlns:a="http://schemas.openxmlformats.org/drawingml/2006/main">
              <a:ext uri="{FF2B5EF4-FFF2-40B4-BE49-F238E27FC236}">
                <a16:creationId xmlns:a16="http://schemas.microsoft.com/office/drawing/2014/main" id="{226E875F-8D9D-47B6-B20C-FDA4CD56656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máximo salta. Si ambas alturas son iguales, además necesita una regla de desempate.</a:t>
            </a:r>
          </a:p>
        </p:txBody>
      </p:sp>
      <p:sp>
        <p:nvSpPr>
          <p:cNvPr id="20" name="">
            <a:extLst xmlns:a="http://schemas.openxmlformats.org/drawingml/2006/main">
              <a:ext uri="{FF2B5EF4-FFF2-40B4-BE49-F238E27FC236}">
                <a16:creationId xmlns:a16="http://schemas.microsoft.com/office/drawing/2014/main" id="{DC3BC902-E169-4035-B00D-605B422ABB88}"/>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9FFE71E-C876-4F7A-925D-F9A3C785D89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Plausibilidad: el punto débil del centroide</a:t>
            </a:r>
          </a:p>
        </p:txBody>
      </p:sp>
      <p:graphicFrame>
        <p:nvGraphicFramePr>
          <p:cNvPr id="24" name="Chart"/>
          <p:cNvGraphicFramePr/>
          <p:nvPr/>
        </p:nvGraphicFramePr>
        <p:xfrm>
          <a:off xmlns:a="http://schemas.openxmlformats.org/drawingml/2006/main" x="762000" y="2276475"/>
          <a:ext xmlns:a="http://schemas.openxmlformats.org/drawingml/2006/main" cx="6286500" cy="3143250"/>
        </p:xfrm>
        <a:graphic xmlns:a="http://schemas.openxmlformats.org/drawingml/2006/main">
          <a:graphicData uri="http://schemas.openxmlformats.org/drawingml/2006/chart">
            <c:chart xmlns:r="http://schemas.openxmlformats.org/officeDocument/2006/relationships" xmlns:c="http://schemas.openxmlformats.org/drawingml/2006/chart" r:id="R4308dd6575894aee"/>
          </a:graphicData>
        </a:graphic>
      </p:graphicFrame>
      <p:sp>
        <p:nvSpPr>
          <p:cNvPr id="10" name="">
            <a:extLst xmlns:a="http://schemas.openxmlformats.org/drawingml/2006/main">
              <a:ext uri="{FF2B5EF4-FFF2-40B4-BE49-F238E27FC236}">
                <a16:creationId xmlns:a16="http://schemas.microsoft.com/office/drawing/2014/main" id="{C5FB496F-D825-49A5-AF2E-C83557FEB132}"/>
              </a:ext>
            </a:extLst>
          </p:cNvPr>
          <p:cNvSpPr>
            <a:spLocks xmlns:a="http://schemas.openxmlformats.org/drawingml/2006/main" noGrp="1"/>
          </p:cNvSpPr>
          <p:nvPr/>
        </p:nvSpPr>
        <p:spPr>
          <a:xfrm xmlns:a="http://schemas.openxmlformats.org/drawingml/2006/main">
            <a:off x="7620000" y="1952625"/>
            <a:ext cx="3810000" cy="2447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0">
                <a:solidFill>
                  <a:srgbClr val="233746"/>
                </a:solidFill>
                <a:latin typeface="Arial"/>
                <a:ea typeface="Arial"/>
                <a:cs typeface="Arial"/>
              </a:defRPr>
            </a:pPr>
            <a:r>
              <a:rPr sz="2325" b="0">
                <a:solidFill>
                  <a:srgbClr val="233746"/>
                </a:solidFill>
                <a:latin typeface="Arial"/>
                <a:ea typeface="Arial"/>
                <a:cs typeface="Arial"/>
              </a:rPr>
              <a:t>Dos regiones iguales:</a:t>
            </a:r>
          </a:p>
          <a:p xmlns:a="http://schemas.openxmlformats.org/drawingml/2006/main">
            <a:pPr>
              <a:buNone/>
              <a:defRPr sz="2325" b="0">
                <a:solidFill>
                  <a:srgbClr val="233746"/>
                </a:solidFill>
                <a:latin typeface="Arial"/>
                <a:ea typeface="Arial"/>
                <a:cs typeface="Arial"/>
              </a:defRPr>
            </a:pPr>
            <a:r>
              <a:rPr sz="2325" b="0">
                <a:solidFill>
                  <a:srgbClr val="233746"/>
                </a:solidFill>
                <a:latin typeface="Arial"/>
                <a:ea typeface="Arial"/>
                <a:cs typeface="Arial"/>
              </a:rPr>
              <a:t>centros 20 y 80.</a:t>
            </a:r>
          </a:p>
          <a:p xmlns:a="http://schemas.openxmlformats.org/drawingml/2006/main">
            <a:r>
              <a:t/>
            </a:r>
          </a:p>
          <a:p xmlns:a="http://schemas.openxmlformats.org/drawingml/2006/main">
            <a:pPr>
              <a:buNone/>
              <a:defRPr sz="2325" b="0">
                <a:solidFill>
                  <a:srgbClr val="233746"/>
                </a:solidFill>
                <a:latin typeface="Arial"/>
                <a:ea typeface="Arial"/>
                <a:cs typeface="Arial"/>
              </a:defRPr>
            </a:pPr>
            <a:r>
              <a:rPr sz="2325" b="0">
                <a:solidFill>
                  <a:srgbClr val="233746"/>
                </a:solidFill>
                <a:latin typeface="Arial"/>
                <a:ea typeface="Arial"/>
                <a:cs typeface="Arial"/>
              </a:rPr>
              <a:t>Centroide = 50 %.</a:t>
            </a:r>
          </a:p>
          <a:p xmlns:a="http://schemas.openxmlformats.org/drawingml/2006/main">
            <a:pPr>
              <a:buNone/>
              <a:defRPr sz="2325" b="0">
                <a:solidFill>
                  <a:srgbClr val="233746"/>
                </a:solidFill>
                <a:latin typeface="Arial"/>
                <a:ea typeface="Arial"/>
                <a:cs typeface="Arial"/>
              </a:defRPr>
            </a:pPr>
            <a:r>
              <a:rPr sz="2325" b="0">
                <a:solidFill>
                  <a:srgbClr val="233746"/>
                </a:solidFill>
                <a:latin typeface="Arial"/>
                <a:ea typeface="Arial"/>
                <a:cs typeface="Arial"/>
              </a:rPr>
              <a:t>Pero μ(50) = 0.</a:t>
            </a:r>
          </a:p>
        </p:txBody>
      </p:sp>
      <p:sp>
        <p:nvSpPr>
          <p:cNvPr id="11" name="">
            <a:extLst xmlns:a="http://schemas.openxmlformats.org/drawingml/2006/main">
              <a:ext uri="{FF2B5EF4-FFF2-40B4-BE49-F238E27FC236}">
                <a16:creationId xmlns:a16="http://schemas.microsoft.com/office/drawing/2014/main" id="{84631F79-7C14-4750-BB4F-8021F3708818}"/>
              </a:ext>
            </a:extLst>
          </p:cNvPr>
          <p:cNvSpPr>
            <a:spLocks xmlns:a="http://schemas.openxmlformats.org/drawingml/2006/main" noGrp="1"/>
          </p:cNvSpPr>
          <p:nvPr/>
        </p:nvSpPr>
        <p:spPr>
          <a:xfrm xmlns:a="http://schemas.openxmlformats.org/drawingml/2006/main">
            <a:off x="7620000" y="4657725"/>
            <a:ext cx="3810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Es central, pero tiene</a:t>
            </a:r>
          </a:p>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pertenencia nula.</a:t>
            </a:r>
          </a:p>
        </p:txBody>
      </p:sp>
      <p:sp>
        <p:nvSpPr>
          <p:cNvPr id="12" name="">
            <a:extLst xmlns:a="http://schemas.openxmlformats.org/drawingml/2006/main">
              <a:ext uri="{FF2B5EF4-FFF2-40B4-BE49-F238E27FC236}">
                <a16:creationId xmlns:a16="http://schemas.microsoft.com/office/drawing/2014/main" id="{52B565A1-2873-4558-BE98-CFEFE5D456DD}"/>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Un compromiso puede servir para potencia continua. Si esa acción no es admisible, hay que cambiar el diseño.</a:t>
            </a:r>
          </a:p>
        </p:txBody>
      </p:sp>
      <p:sp>
        <p:nvSpPr>
          <p:cNvPr id="16" name="">
            <a:extLst xmlns:a="http://schemas.openxmlformats.org/drawingml/2006/main">
              <a:ext uri="{FF2B5EF4-FFF2-40B4-BE49-F238E27FC236}">
                <a16:creationId xmlns:a16="http://schemas.microsoft.com/office/drawing/2014/main" id="{2266935E-02D3-4197-84BC-F2D6FBC0E18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091D34D-0D97-4063-9FC3-AE7C172851E7}"/>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Weighting: qué hace pesar más a una propuesta</a:t>
            </a:r>
          </a:p>
        </p:txBody>
      </p:sp>
      <p:graphicFrame>
        <p:nvGraphicFramePr>
          <p:cNvPr id="25" name="Chart"/>
          <p:cNvGraphicFramePr/>
          <p:nvPr/>
        </p:nvGraphicFramePr>
        <p:xfrm>
          <a:off xmlns:a="http://schemas.openxmlformats.org/drawingml/2006/main" x="762000" y="2352675"/>
          <a:ext xmlns:a="http://schemas.openxmlformats.org/drawingml/2006/main" cx="6286500" cy="3086100"/>
        </p:xfrm>
        <a:graphic xmlns:a="http://schemas.openxmlformats.org/drawingml/2006/main">
          <a:graphicData uri="http://schemas.openxmlformats.org/drawingml/2006/chart">
            <c:chart xmlns:r="http://schemas.openxmlformats.org/officeDocument/2006/relationships" xmlns:c="http://schemas.openxmlformats.org/drawingml/2006/chart" r:id="R844d679596f342a6"/>
          </a:graphicData>
        </a:graphic>
      </p:graphicFrame>
      <p:sp>
        <p:nvSpPr>
          <p:cNvPr id="10" name="">
            <a:extLst xmlns:a="http://schemas.openxmlformats.org/drawingml/2006/main">
              <a:ext uri="{FF2B5EF4-FFF2-40B4-BE49-F238E27FC236}">
                <a16:creationId xmlns:a16="http://schemas.microsoft.com/office/drawing/2014/main" id="{A385A307-0DDE-41FC-9861-4F2176C4031D}"/>
              </a:ext>
            </a:extLst>
          </p:cNvPr>
          <p:cNvSpPr>
            <a:spLocks xmlns:a="http://schemas.openxmlformats.org/drawingml/2006/main" noGrp="1"/>
          </p:cNvSpPr>
          <p:nvPr/>
        </p:nvSpPr>
        <p:spPr>
          <a:xfrm xmlns:a="http://schemas.openxmlformats.org/drawingml/2006/main">
            <a:off x="7620000" y="1724025"/>
            <a:ext cx="3810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Igual altura: 0,8</a:t>
            </a:r>
          </a:p>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Centros: 20 y 70</a:t>
            </a:r>
          </a:p>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Áreas: 8 y 24</a:t>
            </a:r>
          </a:p>
        </p:txBody>
      </p:sp>
      <p:sp>
        <p:nvSpPr>
          <p:cNvPr id="11" name="">
            <a:extLst xmlns:a="http://schemas.openxmlformats.org/drawingml/2006/main">
              <a:ext uri="{FF2B5EF4-FFF2-40B4-BE49-F238E27FC236}">
                <a16:creationId xmlns:a16="http://schemas.microsoft.com/office/drawing/2014/main" id="{90684242-45D7-49A6-A872-BFC85F5BEF36}"/>
              </a:ext>
            </a:extLst>
          </p:cNvPr>
          <p:cNvSpPr>
            <a:spLocks xmlns:a="http://schemas.openxmlformats.org/drawingml/2006/main" noGrp="1"/>
          </p:cNvSpPr>
          <p:nvPr/>
        </p:nvSpPr>
        <p:spPr>
          <a:xfrm xmlns:a="http://schemas.openxmlformats.org/drawingml/2006/main">
            <a:off x="7620000" y="3257550"/>
            <a:ext cx="3810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Pesos = alturas</a:t>
            </a:r>
          </a:p>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(0,8·20 + 0,8·70) / 1,6</a:t>
            </a:r>
          </a:p>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 45 %</a:t>
            </a:r>
          </a:p>
        </p:txBody>
      </p:sp>
      <p:sp>
        <p:nvSpPr>
          <p:cNvPr id="12" name="">
            <a:extLst xmlns:a="http://schemas.openxmlformats.org/drawingml/2006/main">
              <a:ext uri="{FF2B5EF4-FFF2-40B4-BE49-F238E27FC236}">
                <a16:creationId xmlns:a16="http://schemas.microsoft.com/office/drawing/2014/main" id="{CB4F6AD4-333C-49DF-B3A6-FB9E9EA0294A}"/>
              </a:ext>
            </a:extLst>
          </p:cNvPr>
          <p:cNvSpPr>
            <a:spLocks xmlns:a="http://schemas.openxmlformats.org/drawingml/2006/main" noGrp="1"/>
          </p:cNvSpPr>
          <p:nvPr/>
        </p:nvSpPr>
        <p:spPr>
          <a:xfrm xmlns:a="http://schemas.openxmlformats.org/drawingml/2006/main">
            <a:off x="7620000" y="4619625"/>
            <a:ext cx="3810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Pesos = áreas</a:t>
            </a:r>
          </a:p>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(8·20 + 24·70) / 32</a:t>
            </a:r>
          </a:p>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 57,5 %</a:t>
            </a:r>
          </a:p>
        </p:txBody>
      </p:sp>
      <p:sp>
        <p:nvSpPr>
          <p:cNvPr id="13" name="">
            <a:extLst xmlns:a="http://schemas.openxmlformats.org/drawingml/2006/main">
              <a:ext uri="{FF2B5EF4-FFF2-40B4-BE49-F238E27FC236}">
                <a16:creationId xmlns:a16="http://schemas.microsoft.com/office/drawing/2014/main" id="{F9B4C417-221C-4462-B266-2ABB761C22E5}"/>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propuesta ancha pesa más por su área. Debemos decidir si esa anchura debe influir en la acción.</a:t>
            </a:r>
          </a:p>
        </p:txBody>
      </p:sp>
      <p:sp>
        <p:nvSpPr>
          <p:cNvPr id="17" name="">
            <a:extLst xmlns:a="http://schemas.openxmlformats.org/drawingml/2006/main">
              <a:ext uri="{FF2B5EF4-FFF2-40B4-BE49-F238E27FC236}">
                <a16:creationId xmlns:a16="http://schemas.microsoft.com/office/drawing/2014/main" id="{5C65B04B-812F-4D0E-AE0B-38F6AA306E38}"/>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EE66902-3C73-45DF-9CCE-BC5132CEE23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Elección del método de salida</a:t>
            </a:r>
          </a:p>
        </p:txBody>
      </p:sp>
      <p:sp>
        <p:nvSpPr>
          <p:cNvPr id="9" name="">
            <a:extLst xmlns:a="http://schemas.openxmlformats.org/drawingml/2006/main">
              <a:ext uri="{FF2B5EF4-FFF2-40B4-BE49-F238E27FC236}">
                <a16:creationId xmlns:a16="http://schemas.microsoft.com/office/drawing/2014/main" id="{248820D0-ED10-49CE-9CEC-5802EEF015E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1360AED-104A-4664-8C08-FED04443AD34}"/>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
        <p:nvSpPr>
          <p:cNvPr id="11" name="">
            <a:extLst xmlns:a="http://schemas.openxmlformats.org/drawingml/2006/main">
              <a:ext uri="{FF2B5EF4-FFF2-40B4-BE49-F238E27FC236}">
                <a16:creationId xmlns:a16="http://schemas.microsoft.com/office/drawing/2014/main" id="{058D7530-ACC5-4F99-BC3C-9BAEB45DDEEC}"/>
              </a:ext>
            </a:extLst>
          </p:cNvPr>
          <p:cNvSpPr>
            <a:spLocks xmlns:a="http://schemas.openxmlformats.org/drawingml/2006/main" noGrp="1"/>
          </p:cNvSpPr>
          <p:nvPr/>
        </p:nvSpPr>
        <p:spPr>
          <a:xfrm xmlns:a="http://schemas.openxmlformats.org/drawingml/2006/main">
            <a:off x="762000" y="16764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087F79"/>
                </a:solidFill>
                <a:latin typeface="Arial"/>
                <a:ea typeface="Arial"/>
                <a:cs typeface="Arial"/>
              </a:defRPr>
            </a:pPr>
            <a:r>
              <a:rPr sz="2250" b="1">
                <a:solidFill>
                  <a:srgbClr val="087F79"/>
                </a:solidFill>
                <a:latin typeface="Arial"/>
                <a:ea typeface="Arial"/>
                <a:cs typeface="Arial"/>
              </a:rPr>
              <a:t>Si la salida es un conjunto fuzzy</a:t>
            </a:r>
          </a:p>
        </p:txBody>
      </p:sp>
      <p:sp>
        <p:nvSpPr>
          <p:cNvPr id="12" name="">
            <a:extLst xmlns:a="http://schemas.openxmlformats.org/drawingml/2006/main">
              <a:ext uri="{FF2B5EF4-FFF2-40B4-BE49-F238E27FC236}">
                <a16:creationId xmlns:a16="http://schemas.microsoft.com/office/drawing/2014/main" id="{D85D0EBA-ED15-44E3-854F-23B8DDF1189A}"/>
              </a:ext>
            </a:extLst>
          </p:cNvPr>
          <p:cNvSpPr>
            <a:spLocks xmlns:a="http://schemas.openxmlformats.org/drawingml/2006/main" noGrp="1"/>
          </p:cNvSpPr>
          <p:nvPr/>
        </p:nvSpPr>
        <p:spPr>
          <a:xfrm xmlns:a="http://schemas.openxmlformats.org/drawingml/2006/main">
            <a:off x="762000" y="21145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El centroide utiliza toda la curva y da un escalar si el área es positiva.</a:t>
            </a:r>
          </a:p>
        </p:txBody>
      </p:sp>
      <p:sp>
        <p:nvSpPr>
          <p:cNvPr id="13" name="">
            <a:extLst xmlns:a="http://schemas.openxmlformats.org/drawingml/2006/main">
              <a:ext uri="{FF2B5EF4-FFF2-40B4-BE49-F238E27FC236}">
                <a16:creationId xmlns:a16="http://schemas.microsoft.com/office/drawing/2014/main" id="{A54872EA-532F-4102-8544-BC36EFFCBA1C}"/>
              </a:ext>
            </a:extLst>
          </p:cNvPr>
          <p:cNvSpPr>
            <a:spLocks xmlns:a="http://schemas.openxmlformats.org/drawingml/2006/main" noGrp="1"/>
          </p:cNvSpPr>
          <p:nvPr/>
        </p:nvSpPr>
        <p:spPr>
          <a:xfrm xmlns:a="http://schemas.openxmlformats.org/drawingml/2006/main">
            <a:off x="762000" y="29337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087F79"/>
                </a:solidFill>
                <a:latin typeface="Arial"/>
                <a:ea typeface="Arial"/>
                <a:cs typeface="Arial"/>
              </a:defRPr>
            </a:pPr>
            <a:r>
              <a:rPr sz="2250" b="1">
                <a:solidFill>
                  <a:srgbClr val="087F79"/>
                </a:solidFill>
                <a:latin typeface="Arial"/>
                <a:ea typeface="Arial"/>
                <a:cs typeface="Arial"/>
              </a:rPr>
              <a:t>Comprobar la plausibilidad</a:t>
            </a:r>
          </a:p>
        </p:txBody>
      </p:sp>
      <p:sp>
        <p:nvSpPr>
          <p:cNvPr id="14" name="">
            <a:extLst xmlns:a="http://schemas.openxmlformats.org/drawingml/2006/main">
              <a:ext uri="{FF2B5EF4-FFF2-40B4-BE49-F238E27FC236}">
                <a16:creationId xmlns:a16="http://schemas.microsoft.com/office/drawing/2014/main" id="{81724962-B7EA-42FA-BA48-F0D942CD7219}"/>
              </a:ext>
            </a:extLst>
          </p:cNvPr>
          <p:cNvSpPr>
            <a:spLocks xmlns:a="http://schemas.openxmlformats.org/drawingml/2006/main" noGrp="1"/>
          </p:cNvSpPr>
          <p:nvPr/>
        </p:nvSpPr>
        <p:spPr>
          <a:xfrm xmlns:a="http://schemas.openxmlformats.org/drawingml/2006/main">
            <a:off x="762000" y="3371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Puede caer entre dos propuestas, incluso donde la pertenencia es cero.</a:t>
            </a:r>
          </a:p>
        </p:txBody>
      </p:sp>
      <p:sp>
        <p:nvSpPr>
          <p:cNvPr id="15" name="">
            <a:extLst xmlns:a="http://schemas.openxmlformats.org/drawingml/2006/main">
              <a:ext uri="{FF2B5EF4-FFF2-40B4-BE49-F238E27FC236}">
                <a16:creationId xmlns:a16="http://schemas.microsoft.com/office/drawing/2014/main" id="{FC33066E-E450-43EE-B3BA-579C48CA2684}"/>
              </a:ext>
            </a:extLst>
          </p:cNvPr>
          <p:cNvSpPr>
            <a:spLocks xmlns:a="http://schemas.openxmlformats.org/drawingml/2006/main" noGrp="1"/>
          </p:cNvSpPr>
          <p:nvPr/>
        </p:nvSpPr>
        <p:spPr>
          <a:xfrm xmlns:a="http://schemas.openxmlformats.org/drawingml/2006/main">
            <a:off x="762000" y="41910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087F79"/>
                </a:solidFill>
                <a:latin typeface="Arial"/>
                <a:ea typeface="Arial"/>
                <a:cs typeface="Arial"/>
              </a:defRPr>
            </a:pPr>
            <a:r>
              <a:rPr sz="2250" b="1">
                <a:solidFill>
                  <a:srgbClr val="087F79"/>
                </a:solidFill>
                <a:latin typeface="Arial"/>
                <a:ea typeface="Arial"/>
                <a:cs typeface="Arial"/>
              </a:rPr>
              <a:t>Si las propuestas ya son números</a:t>
            </a:r>
          </a:p>
        </p:txBody>
      </p:sp>
      <p:sp>
        <p:nvSpPr>
          <p:cNvPr id="16" name="">
            <a:extLst xmlns:a="http://schemas.openxmlformats.org/drawingml/2006/main">
              <a:ext uri="{FF2B5EF4-FFF2-40B4-BE49-F238E27FC236}">
                <a16:creationId xmlns:a16="http://schemas.microsoft.com/office/drawing/2014/main" id="{0DFFEF86-6331-40A0-A910-FDBEEE4539A0}"/>
              </a:ext>
            </a:extLst>
          </p:cNvPr>
          <p:cNvSpPr>
            <a:spLocks xmlns:a="http://schemas.openxmlformats.org/drawingml/2006/main" noGrp="1"/>
          </p:cNvSpPr>
          <p:nvPr/>
        </p:nvSpPr>
        <p:spPr>
          <a:xfrm xmlns:a="http://schemas.openxmlformats.org/drawingml/2006/main">
            <a:off x="762000" y="46291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Una media ponderada facilita el cálculo. Lo retomaremos al explicar Sugeno.</a:t>
            </a:r>
          </a:p>
        </p:txBody>
      </p:sp>
      <p:sp>
        <p:nvSpPr>
          <p:cNvPr id="17" name="">
            <a:extLst xmlns:a="http://schemas.openxmlformats.org/drawingml/2006/main">
              <a:ext uri="{FF2B5EF4-FFF2-40B4-BE49-F238E27FC236}">
                <a16:creationId xmlns:a16="http://schemas.microsoft.com/office/drawing/2014/main" id="{9D6B2FD6-E217-4167-A366-C87EE96EAE33}"/>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La elección depende del significado de la salida, del coste y de cómo debe variar la decisión.</a:t>
            </a:r>
          </a:p>
        </p:txBody>
      </p:sp>
    </p:spTree>
    <p:extLst>
      <p:ext uri="{BB962C8B-B14F-4D97-AF65-F5344CB8AC3E}">
        <p14:creationId xmlns:p14="http://schemas.microsoft.com/office/powerpoint/2010/main" val="172189652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Ampliación opcional: bisector del área</a:t>
            </a:r>
          </a:p>
        </p:txBody>
      </p:sp>
      <p:graphicFrame>
        <p:nvGraphicFramePr>
          <p:cNvPr id="23"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e5cb06e6ba7d411f"/>
          </a:graphicData>
        </a:graphic>
      </p:graphicFrame>
      <p:sp>
        <p:nvSpPr>
          <p:cNvPr id="10" name="">
            <a:extLst xmlns:a="http://schemas.openxmlformats.org/drawingml/2006/main">
              <a:ext uri="{FF2B5EF4-FFF2-40B4-BE49-F238E27FC236}">
                <a16:creationId xmlns:a16="http://schemas.microsoft.com/office/drawing/2014/main" id="{6E17207D-6C1D-4DDB-82AB-B14422AB526F}"/>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Divide el área total</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en dos mitades.</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Área total: 33,75.</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Cada mitad: 16,875.</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u* ≈ 35,64 %</a:t>
            </a:r>
          </a:p>
        </p:txBody>
      </p:sp>
      <p:sp>
        <p:nvSpPr>
          <p:cNvPr id="11" name="">
            <a:extLst xmlns:a="http://schemas.openxmlformats.org/drawingml/2006/main">
              <a:ext uri="{FF2B5EF4-FFF2-40B4-BE49-F238E27FC236}">
                <a16:creationId xmlns:a16="http://schemas.microsoft.com/office/drawing/2014/main" id="{14D7CE6B-982D-42BF-B7F4-709D306F21C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Es otro criterio. No pertenece a la lista de siete que acabamos de recorrer.</a:t>
            </a:r>
          </a:p>
        </p:txBody>
      </p:sp>
      <p:sp>
        <p:nvSpPr>
          <p:cNvPr id="15" name="">
            <a:extLst xmlns:a="http://schemas.openxmlformats.org/drawingml/2006/main">
              <a:ext uri="{FF2B5EF4-FFF2-40B4-BE49-F238E27FC236}">
                <a16:creationId xmlns:a16="http://schemas.microsoft.com/office/drawing/2014/main" id="{0372AB6F-612B-4500-B3EC-4669E6713A0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4201838-AA6F-4E64-ADBB-99F425F1153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087F79"/>
                </a:solidFill>
                <a:latin typeface="Arial"/>
                <a:ea typeface="Arial"/>
                <a:cs typeface="Arial"/>
              </a:defRPr>
            </a:pPr>
            <a:r>
              <a:rPr sz="1350" b="1">
                <a:solidFill>
                  <a:srgbClr val="087F79"/>
                </a:solidFill>
                <a:latin typeface="Arial"/>
                <a:ea typeface="Arial"/>
                <a:cs typeface="Arial"/>
              </a:rPr>
              <a:t>02  FUZZIFICACIÓN Y DESDIFUSIFICACIÓN    /    Capítulo 4 · representar y obtener un escalar</a:t>
            </a:r>
          </a:p>
        </p:txBody>
      </p:sp>
    </p:spTree>
    <p:extLst>
      <p:ext uri="{BB962C8B-B14F-4D97-AF65-F5344CB8AC3E}">
        <p14:creationId xmlns:p14="http://schemas.microsoft.com/office/powerpoint/2010/main" val="172189652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Una regla conecta entradas con una acción</a:t>
            </a:r>
          </a:p>
        </p:txBody>
      </p:sp>
      <p:sp>
        <p:nvSpPr>
          <p:cNvPr id="9" name="">
            <a:extLst xmlns:a="http://schemas.openxmlformats.org/drawingml/2006/main">
              <a:ext uri="{FF2B5EF4-FFF2-40B4-BE49-F238E27FC236}">
                <a16:creationId xmlns:a16="http://schemas.microsoft.com/office/drawing/2014/main" id="{9D58FF58-E251-4C9A-BA5E-4361FB7F6805}"/>
              </a:ext>
            </a:extLst>
          </p:cNvPr>
          <p:cNvSpPr>
            <a:spLocks xmlns:a="http://schemas.openxmlformats.org/drawingml/2006/main" noGrp="1"/>
          </p:cNvSpPr>
          <p:nvPr/>
        </p:nvSpPr>
        <p:spPr>
          <a:xfrm xmlns:a="http://schemas.openxmlformats.org/drawingml/2006/main">
            <a:off x="762000" y="14954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8655A2"/>
                </a:solidFill>
                <a:latin typeface="Arial"/>
                <a:ea typeface="Arial"/>
                <a:cs typeface="Arial"/>
              </a:defRPr>
            </a:pPr>
            <a:r>
              <a:rPr sz="1725" b="1">
                <a:solidFill>
                  <a:srgbClr val="8655A2"/>
                </a:solidFill>
                <a:latin typeface="Arial"/>
                <a:ea typeface="Arial"/>
                <a:cs typeface="Arial"/>
              </a:rPr>
              <a:t>DENTRO DEL CONTROLADOR: BASE DE REGLAS</a:t>
            </a:r>
          </a:p>
        </p:txBody>
      </p:sp>
      <p:sp>
        <p:nvSpPr>
          <p:cNvPr id="10" name="">
            <a:extLst xmlns:a="http://schemas.openxmlformats.org/drawingml/2006/main">
              <a:ext uri="{FF2B5EF4-FFF2-40B4-BE49-F238E27FC236}">
                <a16:creationId xmlns:a16="http://schemas.microsoft.com/office/drawing/2014/main" id="{7BDCE042-8C5C-4BD0-AA4F-1308676CE9E5}"/>
              </a:ext>
            </a:extLst>
          </p:cNvPr>
          <p:cNvSpPr>
            <a:spLocks xmlns:a="http://schemas.openxmlformats.org/drawingml/2006/main" noGrp="1"/>
          </p:cNvSpPr>
          <p:nvPr/>
        </p:nvSpPr>
        <p:spPr>
          <a:xfrm xmlns:a="http://schemas.openxmlformats.org/drawingml/2006/main">
            <a:off x="762000" y="2181225"/>
            <a:ext cx="647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700" b="1">
                <a:solidFill>
                  <a:srgbClr val="2162A0"/>
                </a:solidFill>
                <a:latin typeface="Arial"/>
                <a:ea typeface="Arial"/>
                <a:cs typeface="Arial"/>
              </a:defRPr>
            </a:pPr>
            <a:r>
              <a:rPr sz="2700" b="1">
                <a:solidFill>
                  <a:srgbClr val="2162A0"/>
                </a:solidFill>
                <a:latin typeface="Arial"/>
                <a:ea typeface="Arial"/>
                <a:cs typeface="Arial"/>
              </a:rPr>
              <a:t>SI el error es Positivo</a:t>
            </a:r>
          </a:p>
        </p:txBody>
      </p:sp>
      <p:sp>
        <p:nvSpPr>
          <p:cNvPr id="11" name="">
            <a:extLst xmlns:a="http://schemas.openxmlformats.org/drawingml/2006/main">
              <a:ext uri="{FF2B5EF4-FFF2-40B4-BE49-F238E27FC236}">
                <a16:creationId xmlns:a16="http://schemas.microsoft.com/office/drawing/2014/main" id="{9E4E910C-87DD-47DF-A59F-A17532E97789}"/>
              </a:ext>
            </a:extLst>
          </p:cNvPr>
          <p:cNvSpPr>
            <a:spLocks xmlns:a="http://schemas.openxmlformats.org/drawingml/2006/main" noGrp="1"/>
          </p:cNvSpPr>
          <p:nvPr/>
        </p:nvSpPr>
        <p:spPr>
          <a:xfrm xmlns:a="http://schemas.openxmlformats.org/drawingml/2006/main">
            <a:off x="762000" y="2838450"/>
            <a:ext cx="647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700" b="1">
                <a:solidFill>
                  <a:srgbClr val="2162A0"/>
                </a:solidFill>
                <a:latin typeface="Arial"/>
                <a:ea typeface="Arial"/>
                <a:cs typeface="Arial"/>
              </a:defRPr>
            </a:pPr>
            <a:r>
              <a:rPr sz="2700" b="1">
                <a:solidFill>
                  <a:srgbClr val="2162A0"/>
                </a:solidFill>
                <a:latin typeface="Arial"/>
                <a:ea typeface="Arial"/>
                <a:cs typeface="Arial"/>
              </a:rPr>
              <a:t>Y el error está Creciendo</a:t>
            </a:r>
          </a:p>
        </p:txBody>
      </p:sp>
      <p:sp>
        <p:nvSpPr>
          <p:cNvPr id="12" name="">
            <a:extLst xmlns:a="http://schemas.openxmlformats.org/drawingml/2006/main">
              <a:ext uri="{FF2B5EF4-FFF2-40B4-BE49-F238E27FC236}">
                <a16:creationId xmlns:a16="http://schemas.microsoft.com/office/drawing/2014/main" id="{F13A33FB-3BA0-4F5B-8779-0C693E1D0698}"/>
              </a:ext>
            </a:extLst>
          </p:cNvPr>
          <p:cNvSpPr>
            <a:spLocks xmlns:a="http://schemas.openxmlformats.org/drawingml/2006/main" noGrp="1"/>
          </p:cNvSpPr>
          <p:nvPr/>
        </p:nvSpPr>
        <p:spPr>
          <a:xfrm xmlns:a="http://schemas.openxmlformats.org/drawingml/2006/main">
            <a:off x="762000" y="38766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850" b="1">
                <a:solidFill>
                  <a:srgbClr val="087F79"/>
                </a:solidFill>
                <a:latin typeface="Arial"/>
                <a:ea typeface="Arial"/>
                <a:cs typeface="Arial"/>
              </a:defRPr>
            </a:pPr>
            <a:r>
              <a:rPr sz="2850" b="1">
                <a:solidFill>
                  <a:srgbClr val="087F79"/>
                </a:solidFill>
                <a:latin typeface="Arial"/>
                <a:ea typeface="Arial"/>
                <a:cs typeface="Arial"/>
              </a:rPr>
              <a:t>ENTONCES la potencia es Alta</a:t>
            </a:r>
          </a:p>
        </p:txBody>
      </p:sp>
      <p:sp>
        <p:nvSpPr>
          <p:cNvPr id="13" name="">
            <a:extLst xmlns:a="http://schemas.openxmlformats.org/drawingml/2006/main">
              <a:ext uri="{FF2B5EF4-FFF2-40B4-BE49-F238E27FC236}">
                <a16:creationId xmlns:a16="http://schemas.microsoft.com/office/drawing/2014/main" id="{2F02E323-BF5E-4775-87AE-E1BCFED21C00}"/>
              </a:ext>
            </a:extLst>
          </p:cNvPr>
          <p:cNvSpPr>
            <a:spLocks xmlns:a="http://schemas.openxmlformats.org/drawingml/2006/main" noGrp="1"/>
          </p:cNvSpPr>
          <p:nvPr/>
        </p:nvSpPr>
        <p:spPr>
          <a:xfrm xmlns:a="http://schemas.openxmlformats.org/drawingml/2006/main">
            <a:off x="7858125" y="2324100"/>
            <a:ext cx="352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162A0"/>
                </a:solidFill>
                <a:latin typeface="Arial"/>
                <a:ea typeface="Arial"/>
                <a:cs typeface="Arial"/>
              </a:defRPr>
            </a:pPr>
            <a:r>
              <a:rPr sz="2175" b="0">
                <a:solidFill>
                  <a:srgbClr val="2162A0"/>
                </a:solidFill>
                <a:latin typeface="Arial"/>
                <a:ea typeface="Arial"/>
                <a:cs typeface="Arial"/>
              </a:rPr>
              <a:t>Antecedente</a:t>
            </a:r>
          </a:p>
          <a:p xmlns:a="http://schemas.openxmlformats.org/drawingml/2006/main">
            <a:pPr>
              <a:buNone/>
              <a:defRPr sz="2175" b="0">
                <a:solidFill>
                  <a:srgbClr val="2162A0"/>
                </a:solidFill>
                <a:latin typeface="Arial"/>
                <a:ea typeface="Arial"/>
                <a:cs typeface="Arial"/>
              </a:defRPr>
            </a:pPr>
            <a:r>
              <a:rPr sz="2175" b="0">
                <a:solidFill>
                  <a:srgbClr val="2162A0"/>
                </a:solidFill>
                <a:latin typeface="Arial"/>
                <a:ea typeface="Arial"/>
                <a:cs typeface="Arial"/>
              </a:rPr>
              <a:t>Describe las entradas.</a:t>
            </a:r>
          </a:p>
        </p:txBody>
      </p:sp>
      <p:sp>
        <p:nvSpPr>
          <p:cNvPr id="14" name="">
            <a:extLst xmlns:a="http://schemas.openxmlformats.org/drawingml/2006/main">
              <a:ext uri="{FF2B5EF4-FFF2-40B4-BE49-F238E27FC236}">
                <a16:creationId xmlns:a16="http://schemas.microsoft.com/office/drawing/2014/main" id="{86CB3EB1-1E7D-4624-90D5-D0780DB454C0}"/>
              </a:ext>
            </a:extLst>
          </p:cNvPr>
          <p:cNvSpPr>
            <a:spLocks xmlns:a="http://schemas.openxmlformats.org/drawingml/2006/main" noGrp="1"/>
          </p:cNvSpPr>
          <p:nvPr/>
        </p:nvSpPr>
        <p:spPr>
          <a:xfrm xmlns:a="http://schemas.openxmlformats.org/drawingml/2006/main">
            <a:off x="7858125" y="4638675"/>
            <a:ext cx="352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087F79"/>
                </a:solidFill>
                <a:latin typeface="Arial"/>
                <a:ea typeface="Arial"/>
                <a:cs typeface="Arial"/>
              </a:defRPr>
            </a:pPr>
            <a:r>
              <a:rPr sz="2175" b="0">
                <a:solidFill>
                  <a:srgbClr val="087F79"/>
                </a:solidFill>
                <a:latin typeface="Arial"/>
                <a:ea typeface="Arial"/>
                <a:cs typeface="Arial"/>
              </a:rPr>
              <a:t>Consecuente</a:t>
            </a:r>
          </a:p>
          <a:p xmlns:a="http://schemas.openxmlformats.org/drawingml/2006/main">
            <a:pPr>
              <a:buNone/>
              <a:defRPr sz="2175" b="0">
                <a:solidFill>
                  <a:srgbClr val="087F79"/>
                </a:solidFill>
                <a:latin typeface="Arial"/>
                <a:ea typeface="Arial"/>
                <a:cs typeface="Arial"/>
              </a:defRPr>
            </a:pPr>
            <a:r>
              <a:rPr sz="2175" b="0">
                <a:solidFill>
                  <a:srgbClr val="087F79"/>
                </a:solidFill>
                <a:latin typeface="Arial"/>
                <a:ea typeface="Arial"/>
                <a:cs typeface="Arial"/>
              </a:rPr>
              <a:t>Propone una salida.</a:t>
            </a:r>
          </a:p>
        </p:txBody>
      </p:sp>
      <p:sp>
        <p:nvSpPr>
          <p:cNvPr id="15" name="">
            <a:extLst xmlns:a="http://schemas.openxmlformats.org/drawingml/2006/main">
              <a:ext uri="{FF2B5EF4-FFF2-40B4-BE49-F238E27FC236}">
                <a16:creationId xmlns:a16="http://schemas.microsoft.com/office/drawing/2014/main" id="{95256057-5998-4D27-8146-E7560E84D492}"/>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regla se guarda al diseñar. Su grado de activación se calcula con cada nueva medida.</a:t>
            </a:r>
          </a:p>
        </p:txBody>
      </p:sp>
      <p:sp>
        <p:nvSpPr>
          <p:cNvPr id="16" name="">
            <a:extLst xmlns:a="http://schemas.openxmlformats.org/drawingml/2006/main">
              <a:ext uri="{FF2B5EF4-FFF2-40B4-BE49-F238E27FC236}">
                <a16:creationId xmlns:a16="http://schemas.microsoft.com/office/drawing/2014/main" id="{D60BF513-6C99-4DB9-9C8E-DF1A4C710CE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509F9C4-4E6A-442B-B9CF-866DB0CB3CF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E INFERENCIA    /    Capítulo 5 · condiciones y consecuencias</a:t>
            </a:r>
          </a:p>
        </p:txBody>
      </p:sp>
    </p:spTree>
    <p:extLst>
      <p:ext uri="{BB962C8B-B14F-4D97-AF65-F5344CB8AC3E}">
        <p14:creationId xmlns:p14="http://schemas.microsoft.com/office/powerpoint/2010/main" val="172189652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Razonamiento deductivo en sistemas fuzzy</a:t>
            </a:r>
          </a:p>
        </p:txBody>
      </p:sp>
      <p:sp>
        <p:nvSpPr>
          <p:cNvPr id="9" name="">
            <a:extLst xmlns:a="http://schemas.openxmlformats.org/drawingml/2006/main">
              <a:ext uri="{FF2B5EF4-FFF2-40B4-BE49-F238E27FC236}">
                <a16:creationId xmlns:a16="http://schemas.microsoft.com/office/drawing/2014/main" id="{DABA2552-DB85-42BC-9B1C-117EC73AAA0F}"/>
              </a:ext>
            </a:extLst>
          </p:cNvPr>
          <p:cNvSpPr>
            <a:spLocks xmlns:a="http://schemas.openxmlformats.org/drawingml/2006/main" noGrp="1"/>
          </p:cNvSpPr>
          <p:nvPr/>
        </p:nvSpPr>
        <p:spPr>
          <a:xfrm xmlns:a="http://schemas.openxmlformats.org/drawingml/2006/main">
            <a:off x="762000" y="15430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1">
                <a:solidFill>
                  <a:srgbClr val="233746"/>
                </a:solidFill>
                <a:latin typeface="Arial"/>
                <a:ea typeface="Arial"/>
                <a:cs typeface="Arial"/>
              </a:defRPr>
            </a:pPr>
            <a:r>
              <a:rPr sz="2400" b="1">
                <a:solidFill>
                  <a:srgbClr val="233746"/>
                </a:solidFill>
                <a:latin typeface="Arial"/>
                <a:ea typeface="Arial"/>
                <a:cs typeface="Arial"/>
              </a:rPr>
              <a:t>Aplicamos reglas generales a una situación particular.</a:t>
            </a:r>
          </a:p>
        </p:txBody>
      </p:sp>
      <p:sp>
        <p:nvSpPr>
          <p:cNvPr id="10" name="">
            <a:extLst xmlns:a="http://schemas.openxmlformats.org/drawingml/2006/main">
              <a:ext uri="{FF2B5EF4-FFF2-40B4-BE49-F238E27FC236}">
                <a16:creationId xmlns:a16="http://schemas.microsoft.com/office/drawing/2014/main" id="{CB737BAC-CC37-4306-AAE6-D75F8C59F2CD}"/>
              </a:ext>
            </a:extLst>
          </p:cNvPr>
          <p:cNvSpPr>
            <a:spLocks xmlns:a="http://schemas.openxmlformats.org/drawingml/2006/main" noGrp="1"/>
          </p:cNvSpPr>
          <p:nvPr/>
        </p:nvSpPr>
        <p:spPr>
          <a:xfrm xmlns:a="http://schemas.openxmlformats.org/drawingml/2006/main">
            <a:off x="762000" y="26289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Regla general</a:t>
            </a:r>
          </a:p>
        </p:txBody>
      </p:sp>
      <p:sp>
        <p:nvSpPr>
          <p:cNvPr id="11" name="">
            <a:extLst xmlns:a="http://schemas.openxmlformats.org/drawingml/2006/main">
              <a:ext uri="{FF2B5EF4-FFF2-40B4-BE49-F238E27FC236}">
                <a16:creationId xmlns:a16="http://schemas.microsoft.com/office/drawing/2014/main" id="{ED52601D-0C2E-4FB2-93D7-D93F8BAD845A}"/>
              </a:ext>
            </a:extLst>
          </p:cNvPr>
          <p:cNvSpPr>
            <a:spLocks xmlns:a="http://schemas.openxmlformats.org/drawingml/2006/main" noGrp="1"/>
          </p:cNvSpPr>
          <p:nvPr/>
        </p:nvSpPr>
        <p:spPr>
          <a:xfrm xmlns:a="http://schemas.openxmlformats.org/drawingml/2006/main">
            <a:off x="4095750" y="2628900"/>
            <a:ext cx="7286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SI hace frío, ENTONCES aumentar la calefacción.</a:t>
            </a:r>
          </a:p>
        </p:txBody>
      </p:sp>
      <p:sp>
        <p:nvSpPr>
          <p:cNvPr id="12" name="">
            <a:extLst xmlns:a="http://schemas.openxmlformats.org/drawingml/2006/main">
              <a:ext uri="{FF2B5EF4-FFF2-40B4-BE49-F238E27FC236}">
                <a16:creationId xmlns:a16="http://schemas.microsoft.com/office/drawing/2014/main" id="{C1C099DC-5343-4BFC-83FD-E7E271A1F638}"/>
              </a:ext>
            </a:extLst>
          </p:cNvPr>
          <p:cNvSpPr>
            <a:spLocks xmlns:a="http://schemas.openxmlformats.org/drawingml/2006/main" noGrp="1"/>
          </p:cNvSpPr>
          <p:nvPr/>
        </p:nvSpPr>
        <p:spPr>
          <a:xfrm xmlns:a="http://schemas.openxmlformats.org/drawingml/2006/main">
            <a:off x="762000" y="36290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Caso particular</a:t>
            </a:r>
          </a:p>
        </p:txBody>
      </p:sp>
      <p:sp>
        <p:nvSpPr>
          <p:cNvPr id="13" name="">
            <a:extLst xmlns:a="http://schemas.openxmlformats.org/drawingml/2006/main">
              <a:ext uri="{FF2B5EF4-FFF2-40B4-BE49-F238E27FC236}">
                <a16:creationId xmlns:a16="http://schemas.microsoft.com/office/drawing/2014/main" id="{577B99C4-99E9-45E5-B908-48EFDCFDA364}"/>
              </a:ext>
            </a:extLst>
          </p:cNvPr>
          <p:cNvSpPr>
            <a:spLocks xmlns:a="http://schemas.openxmlformats.org/drawingml/2006/main" noGrp="1"/>
          </p:cNvSpPr>
          <p:nvPr/>
        </p:nvSpPr>
        <p:spPr>
          <a:xfrm xmlns:a="http://schemas.openxmlformats.org/drawingml/2006/main">
            <a:off x="4095750" y="3629025"/>
            <a:ext cx="7286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La temperatura actual pertenece al conjunto «Frío»</a:t>
            </a:r>
          </a:p>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con cierto grado.</a:t>
            </a:r>
          </a:p>
        </p:txBody>
      </p:sp>
      <p:sp>
        <p:nvSpPr>
          <p:cNvPr id="14" name="">
            <a:extLst xmlns:a="http://schemas.openxmlformats.org/drawingml/2006/main">
              <a:ext uri="{FF2B5EF4-FFF2-40B4-BE49-F238E27FC236}">
                <a16:creationId xmlns:a16="http://schemas.microsoft.com/office/drawing/2014/main" id="{72EDFB79-85CB-40D8-98E7-9395626B39A6}"/>
              </a:ext>
            </a:extLst>
          </p:cNvPr>
          <p:cNvSpPr>
            <a:spLocks xmlns:a="http://schemas.openxmlformats.org/drawingml/2006/main" noGrp="1"/>
          </p:cNvSpPr>
          <p:nvPr/>
        </p:nvSpPr>
        <p:spPr>
          <a:xfrm xmlns:a="http://schemas.openxmlformats.org/drawingml/2006/main">
            <a:off x="762000" y="4686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Deducción fuzzy</a:t>
            </a:r>
          </a:p>
        </p:txBody>
      </p:sp>
      <p:sp>
        <p:nvSpPr>
          <p:cNvPr id="15" name="">
            <a:extLst xmlns:a="http://schemas.openxmlformats.org/drawingml/2006/main">
              <a:ext uri="{FF2B5EF4-FFF2-40B4-BE49-F238E27FC236}">
                <a16:creationId xmlns:a16="http://schemas.microsoft.com/office/drawing/2014/main" id="{EF5B488E-4D0C-4DC5-AF91-F34BB7D58B09}"/>
              </a:ext>
            </a:extLst>
          </p:cNvPr>
          <p:cNvSpPr>
            <a:spLocks xmlns:a="http://schemas.openxmlformats.org/drawingml/2006/main" noGrp="1"/>
          </p:cNvSpPr>
          <p:nvPr/>
        </p:nvSpPr>
        <p:spPr>
          <a:xfrm xmlns:a="http://schemas.openxmlformats.org/drawingml/2006/main">
            <a:off x="4095750" y="4686300"/>
            <a:ext cx="7286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Activamos la regla según ese grado para calcular</a:t>
            </a:r>
          </a:p>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la acción de control.</a:t>
            </a:r>
          </a:p>
        </p:txBody>
      </p:sp>
      <p:sp>
        <p:nvSpPr>
          <p:cNvPr id="16" name="">
            <a:extLst xmlns:a="http://schemas.openxmlformats.org/drawingml/2006/main">
              <a:ext uri="{FF2B5EF4-FFF2-40B4-BE49-F238E27FC236}">
                <a16:creationId xmlns:a16="http://schemas.microsoft.com/office/drawing/2014/main" id="{35D6DF9F-47E8-4685-9993-F0879C71F400}"/>
              </a:ext>
            </a:extLst>
          </p:cNvPr>
          <p:cNvSpPr>
            <a:spLocks xmlns:a="http://schemas.openxmlformats.org/drawingml/2006/main" noGrp="1"/>
          </p:cNvSpPr>
          <p:nvPr/>
        </p:nvSpPr>
        <p:spPr>
          <a:xfrm xmlns:a="http://schemas.openxmlformats.org/drawingml/2006/main">
            <a:off x="762000" y="58388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La conclusión depende de las reglas: pueden ser útiles y, aun así, incompletas.</a:t>
            </a:r>
          </a:p>
        </p:txBody>
      </p:sp>
      <p:sp>
        <p:nvSpPr>
          <p:cNvPr id="17" name="">
            <a:extLst xmlns:a="http://schemas.openxmlformats.org/drawingml/2006/main">
              <a:ext uri="{FF2B5EF4-FFF2-40B4-BE49-F238E27FC236}">
                <a16:creationId xmlns:a16="http://schemas.microsoft.com/office/drawing/2014/main" id="{1EB283EB-D8A4-42F3-983E-D116F0F0A4D0}"/>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E83B3AF-5A41-440E-81C6-E4FC88B3585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E INFERENCIA    /    Capítulo 5 · condiciones y consecuencias</a:t>
            </a:r>
          </a:p>
        </p:txBody>
      </p:sp>
    </p:spTree>
    <p:extLst>
      <p:ext uri="{BB962C8B-B14F-4D97-AF65-F5344CB8AC3E}">
        <p14:creationId xmlns:p14="http://schemas.microsoft.com/office/powerpoint/2010/main" val="172189652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Operadores para combinar condiciones</a:t>
            </a:r>
          </a:p>
        </p:txBody>
      </p:sp>
      <p:graphicFrame>
        <p:nvGraphicFramePr>
          <p:cNvPr id="23" name=""/>
          <p:cNvGraphicFramePr/>
          <p:nvPr/>
        </p:nvGraphicFramePr>
        <p:xfrm>
          <a:off xmlns:a="http://schemas.openxmlformats.org/drawingml/2006/main" x="762000" y="2009775"/>
          <a:ext xmlns:a="http://schemas.openxmlformats.org/drawingml/2006/main" cx="10668000" cy="2876550"/>
        </p:xfrm>
        <a:graphic xmlns:a="http://schemas.openxmlformats.org/drawingml/2006/main">
          <a:graphicData uri="http://schemas.openxmlformats.org/drawingml/2006/table">
            <a:tbl>
              <a:tblPr/>
              <a:tblGrid>
                <a:gridCol w="3556000"/>
                <a:gridCol w="3556000"/>
                <a:gridCol w="3556000"/>
              </a:tblGrid>
              <a:tr h="719138">
                <a:tc>
                  <a:txBody>
                    <a:bodyPr lIns="85725" tIns="76200" rIns="85725" bIns="76200"/>
                    <a:lstStyle/>
                    <a:p>
                      <a:pPr algn="ctr">
                        <a:buNone/>
                      </a:pPr>
                      <a:r>
                        <a:rPr sz="2100" b="1">
                          <a:solidFill>
                            <a:srgbClr val="2162A0"/>
                          </a:solidFill>
                          <a:latin typeface="Arial"/>
                          <a:ea typeface="Arial"/>
                          <a:cs typeface="Arial"/>
                        </a:rPr>
                        <a:t>Expresión</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Operación estándar</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Ejemplo</a:t>
                      </a:r>
                    </a:p>
                  </a:txBody>
                  <a:tcPr marL="91440" marR="91440" marT="45720" marB="45720" anchor="ctr">
                    <a:solidFill>
                      <a:srgbClr val="E7EFF5"/>
                    </a:solidFill>
                  </a:tcPr>
                </a:tc>
              </a:tr>
              <a:tr h="719138">
                <a:tc>
                  <a:txBody>
                    <a:bodyPr lIns="85725" tIns="76200" rIns="85725" bIns="76200"/>
                    <a:lstStyle/>
                    <a:p>
                      <a:pPr algn="ctr">
                        <a:buNone/>
                      </a:pPr>
                      <a:r>
                        <a:rPr sz="2100" b="0">
                          <a:solidFill>
                            <a:srgbClr val="233746"/>
                          </a:solidFill>
                          <a:latin typeface="Arial"/>
                          <a:ea typeface="Arial"/>
                          <a:cs typeface="Arial"/>
                        </a:rPr>
                        <a:t>A Y 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min(μA, μB)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min(0,6; 0,3) = 0,3</a:t>
                      </a:r>
                    </a:p>
                  </a:txBody>
                  <a:tcPr marL="91440" marR="91440" marT="45720" marB="45720" anchor="ctr">
                    <a:solidFill>
                      <a:srgbClr val="FFFFFF"/>
                    </a:solidFill>
                  </a:tcPr>
                </a:tc>
              </a:tr>
              <a:tr h="719138">
                <a:tc>
                  <a:txBody>
                    <a:bodyPr lIns="85725" tIns="76200" rIns="85725" bIns="76200"/>
                    <a:lstStyle/>
                    <a:p>
                      <a:pPr algn="ctr">
                        <a:buNone/>
                      </a:pPr>
                      <a:r>
                        <a:rPr sz="2100" b="0">
                          <a:solidFill>
                            <a:srgbClr val="233746"/>
                          </a:solidFill>
                          <a:latin typeface="Arial"/>
                          <a:ea typeface="Arial"/>
                          <a:cs typeface="Arial"/>
                        </a:rPr>
                        <a:t>A O B</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max(μA, μB)</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max(0,6; 0,3) = 0,6</a:t>
                      </a:r>
                    </a:p>
                  </a:txBody>
                  <a:tcPr marL="91440" marR="91440" marT="45720" marB="45720" anchor="ctr">
                    <a:solidFill>
                      <a:srgbClr val="F4F7F9"/>
                    </a:solidFill>
                  </a:tcPr>
                </a:tc>
              </a:tr>
              <a:tr h="719138">
                <a:tc>
                  <a:txBody>
                    <a:bodyPr lIns="85725" tIns="76200" rIns="85725" bIns="76200"/>
                    <a:lstStyle/>
                    <a:p>
                      <a:pPr algn="ctr">
                        <a:buNone/>
                      </a:pPr>
                      <a:r>
                        <a:rPr sz="2100" b="0">
                          <a:solidFill>
                            <a:srgbClr val="233746"/>
                          </a:solidFill>
                          <a:latin typeface="Arial"/>
                          <a:ea typeface="Arial"/>
                          <a:cs typeface="Arial"/>
                        </a:rPr>
                        <a:t>NO A</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1 − μA</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1 − 0,6 = 0,4</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1E671196-DE50-43FC-ABE7-F0386290D1D5}"/>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También podemos usar producto para Y; debemos declarar qué operador elegimos.</a:t>
            </a:r>
          </a:p>
        </p:txBody>
      </p:sp>
      <p:sp>
        <p:nvSpPr>
          <p:cNvPr id="15" name="">
            <a:extLst xmlns:a="http://schemas.openxmlformats.org/drawingml/2006/main">
              <a:ext uri="{FF2B5EF4-FFF2-40B4-BE49-F238E27FC236}">
                <a16:creationId xmlns:a16="http://schemas.microsoft.com/office/drawing/2014/main" id="{8CA91466-62BE-4E0B-861F-99AC6805F048}"/>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8D98DDA-C44B-4C1A-B5C7-3744F5FDE69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E INFERENCIA    /    Capítulo 5 · condiciones y consecuencias</a:t>
            </a:r>
          </a:p>
        </p:txBody>
      </p:sp>
    </p:spTree>
    <p:extLst>
      <p:ext uri="{BB962C8B-B14F-4D97-AF65-F5344CB8AC3E}">
        <p14:creationId xmlns:p14="http://schemas.microsoft.com/office/powerpoint/2010/main" val="172189652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T-normas: distintas formas de calcular Y</a:t>
            </a:r>
          </a:p>
        </p:txBody>
      </p:sp>
      <p:sp>
        <p:nvSpPr>
          <p:cNvPr id="9" name="">
            <a:extLst xmlns:a="http://schemas.openxmlformats.org/drawingml/2006/main">
              <a:ext uri="{FF2B5EF4-FFF2-40B4-BE49-F238E27FC236}">
                <a16:creationId xmlns:a16="http://schemas.microsoft.com/office/drawing/2014/main" id="{847F28E3-5EE8-4C6F-B716-3C4E3EA0955F}"/>
              </a:ext>
            </a:extLst>
          </p:cNvPr>
          <p:cNvSpPr>
            <a:spLocks xmlns:a="http://schemas.openxmlformats.org/drawingml/2006/main" noGrp="1"/>
          </p:cNvSpPr>
          <p:nvPr/>
        </p:nvSpPr>
        <p:spPr>
          <a:xfrm xmlns:a="http://schemas.openxmlformats.org/drawingml/2006/main">
            <a:off x="762000" y="152400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a y b son grados de pertenencia. La t-norma T(a, b) combina ambas condiciones.</a:t>
            </a:r>
          </a:p>
        </p:txBody>
      </p:sp>
      <p:graphicFrame>
        <p:nvGraphicFramePr>
          <p:cNvPr id="25" name=""/>
          <p:cNvGraphicFramePr/>
          <p:nvPr/>
        </p:nvGraphicFramePr>
        <p:xfrm>
          <a:off xmlns:a="http://schemas.openxmlformats.org/drawingml/2006/main" x="762000" y="2533650"/>
          <a:ext xmlns:a="http://schemas.openxmlformats.org/drawingml/2006/main" cx="10668000" cy="2628900"/>
        </p:xfrm>
        <a:graphic xmlns:a="http://schemas.openxmlformats.org/drawingml/2006/main">
          <a:graphicData uri="http://schemas.openxmlformats.org/drawingml/2006/table">
            <a:tbl>
              <a:tblPr/>
              <a:tblGrid>
                <a:gridCol w="3556000"/>
                <a:gridCol w="3556000"/>
                <a:gridCol w="3556000"/>
              </a:tblGrid>
              <a:tr h="657225">
                <a:tc>
                  <a:txBody>
                    <a:bodyPr lIns="85725" tIns="76200" rIns="85725" bIns="76200"/>
                    <a:lstStyle/>
                    <a:p>
                      <a:pPr algn="ctr">
                        <a:buNone/>
                      </a:pPr>
                      <a:r>
                        <a:rPr sz="2100" b="1">
                          <a:solidFill>
                            <a:srgbClr val="2162A0"/>
                          </a:solidFill>
                          <a:latin typeface="Arial"/>
                          <a:ea typeface="Arial"/>
                          <a:cs typeface="Arial"/>
                        </a:rPr>
                        <a:t>T-norma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Fórmula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a = 0,6; b = 0,3</a:t>
                      </a:r>
                    </a:p>
                  </a:txBody>
                  <a:tcPr marL="91440" marR="91440" marT="45720" marB="45720" anchor="ctr">
                    <a:solidFill>
                      <a:srgbClr val="E7EFF5"/>
                    </a:solidFill>
                  </a:tcPr>
                </a:tc>
              </a:tr>
              <a:tr h="657225">
                <a:tc>
                  <a:txBody>
                    <a:bodyPr lIns="85725" tIns="76200" rIns="85725" bIns="76200"/>
                    <a:lstStyle/>
                    <a:p>
                      <a:pPr algn="ctr">
                        <a:buNone/>
                      </a:pPr>
                      <a:r>
                        <a:rPr sz="2100" b="0">
                          <a:solidFill>
                            <a:srgbClr val="233746"/>
                          </a:solidFill>
                          <a:latin typeface="Arial"/>
                          <a:ea typeface="Arial"/>
                          <a:cs typeface="Arial"/>
                        </a:rPr>
                        <a:t>Mínimo</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min(a, 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0,30</a:t>
                      </a:r>
                    </a:p>
                  </a:txBody>
                  <a:tcPr marL="91440" marR="91440" marT="45720" marB="45720" anchor="ctr">
                    <a:solidFill>
                      <a:srgbClr val="FFFFFF"/>
                    </a:solidFill>
                  </a:tcPr>
                </a:tc>
              </a:tr>
              <a:tr h="657225">
                <a:tc>
                  <a:txBody>
                    <a:bodyPr lIns="85725" tIns="76200" rIns="85725" bIns="76200"/>
                    <a:lstStyle/>
                    <a:p>
                      <a:pPr algn="ctr">
                        <a:buNone/>
                      </a:pPr>
                      <a:r>
                        <a:rPr sz="2100" b="0">
                          <a:solidFill>
                            <a:srgbClr val="233746"/>
                          </a:solidFill>
                          <a:latin typeface="Arial"/>
                          <a:ea typeface="Arial"/>
                          <a:cs typeface="Arial"/>
                        </a:rPr>
                        <a:t>Producto</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a · b</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0,18</a:t>
                      </a:r>
                    </a:p>
                  </a:txBody>
                  <a:tcPr marL="91440" marR="91440" marT="45720" marB="45720" anchor="ctr">
                    <a:solidFill>
                      <a:srgbClr val="F4F7F9"/>
                    </a:solidFill>
                  </a:tcPr>
                </a:tc>
              </a:tr>
              <a:tr h="657225">
                <a:tc>
                  <a:txBody>
                    <a:bodyPr lIns="85725" tIns="76200" rIns="85725" bIns="76200"/>
                    <a:lstStyle/>
                    <a:p>
                      <a:pPr algn="ctr">
                        <a:buNone/>
                      </a:pPr>
                      <a:r>
                        <a:rPr sz="2100" b="0">
                          <a:solidFill>
                            <a:srgbClr val="233746"/>
                          </a:solidFill>
                          <a:latin typeface="Arial"/>
                          <a:ea typeface="Arial"/>
                          <a:cs typeface="Arial"/>
                        </a:rPr>
                        <a:t>Łukasiewicz</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max(0, a + b − 1)</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0,00</a:t>
                      </a:r>
                    </a:p>
                  </a:txBody>
                  <a:tcPr marL="91440" marR="91440" marT="45720" marB="45720" anchor="ctr">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ECDD1A74-F1E0-460D-9E91-B3FA58DAF58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Todas reproducen el AND con 0 y 1; con grados intermedios dan resultados distintos.</a:t>
            </a:r>
          </a:p>
        </p:txBody>
      </p:sp>
      <p:sp>
        <p:nvSpPr>
          <p:cNvPr id="16" name="">
            <a:extLst xmlns:a="http://schemas.openxmlformats.org/drawingml/2006/main">
              <a:ext uri="{FF2B5EF4-FFF2-40B4-BE49-F238E27FC236}">
                <a16:creationId xmlns:a16="http://schemas.microsoft.com/office/drawing/2014/main" id="{ADD81B8C-A563-49CD-9557-4E2C49FFBC2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A45CC19-E4AA-4708-9D11-B0F4B19FC86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E INFERENCIA    /    Capítulo 5 · condiciones y consecuencias</a:t>
            </a:r>
          </a:p>
        </p:txBody>
      </p:sp>
    </p:spTree>
    <p:extLst>
      <p:ext uri="{BB962C8B-B14F-4D97-AF65-F5344CB8AC3E}">
        <p14:creationId xmlns:p14="http://schemas.microsoft.com/office/powerpoint/2010/main" val="172189652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T-conormas: distintas formas de calcular O</a:t>
            </a:r>
          </a:p>
        </p:txBody>
      </p:sp>
      <p:sp>
        <p:nvSpPr>
          <p:cNvPr id="9" name="">
            <a:extLst xmlns:a="http://schemas.openxmlformats.org/drawingml/2006/main">
              <a:ext uri="{FF2B5EF4-FFF2-40B4-BE49-F238E27FC236}">
                <a16:creationId xmlns:a16="http://schemas.microsoft.com/office/drawing/2014/main" id="{485618B2-229C-4379-8E84-863F467712D6}"/>
              </a:ext>
            </a:extLst>
          </p:cNvPr>
          <p:cNvSpPr>
            <a:spLocks xmlns:a="http://schemas.openxmlformats.org/drawingml/2006/main" noGrp="1"/>
          </p:cNvSpPr>
          <p:nvPr/>
        </p:nvSpPr>
        <p:spPr>
          <a:xfrm xmlns:a="http://schemas.openxmlformats.org/drawingml/2006/main">
            <a:off x="762000" y="152400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La t-conorma S(a, b), también llamada s-norma, combina alternativas.</a:t>
            </a:r>
          </a:p>
        </p:txBody>
      </p:sp>
      <p:graphicFrame>
        <p:nvGraphicFramePr>
          <p:cNvPr id="25" name=""/>
          <p:cNvGraphicFramePr/>
          <p:nvPr/>
        </p:nvGraphicFramePr>
        <p:xfrm>
          <a:off xmlns:a="http://schemas.openxmlformats.org/drawingml/2006/main" x="762000" y="2533650"/>
          <a:ext xmlns:a="http://schemas.openxmlformats.org/drawingml/2006/main" cx="10668000" cy="2628900"/>
        </p:xfrm>
        <a:graphic xmlns:a="http://schemas.openxmlformats.org/drawingml/2006/main">
          <a:graphicData uri="http://schemas.openxmlformats.org/drawingml/2006/table">
            <a:tbl>
              <a:tblPr/>
              <a:tblGrid>
                <a:gridCol w="3556000"/>
                <a:gridCol w="3556000"/>
                <a:gridCol w="3556000"/>
              </a:tblGrid>
              <a:tr h="657225">
                <a:tc>
                  <a:txBody>
                    <a:bodyPr lIns="85725" tIns="76200" rIns="85725" bIns="76200"/>
                    <a:lstStyle/>
                    <a:p>
                      <a:pPr algn="ctr">
                        <a:buNone/>
                      </a:pPr>
                      <a:r>
                        <a:rPr sz="2100" b="1">
                          <a:solidFill>
                            <a:srgbClr val="2162A0"/>
                          </a:solidFill>
                          <a:latin typeface="Arial"/>
                          <a:ea typeface="Arial"/>
                          <a:cs typeface="Arial"/>
                        </a:rPr>
                        <a:t>T-conorma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Fórmula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a = 0,6; b = 0,3</a:t>
                      </a:r>
                    </a:p>
                  </a:txBody>
                  <a:tcPr marL="91440" marR="91440" marT="45720" marB="45720" anchor="ctr">
                    <a:solidFill>
                      <a:srgbClr val="E7EFF5"/>
                    </a:solidFill>
                  </a:tcPr>
                </a:tc>
              </a:tr>
              <a:tr h="657225">
                <a:tc>
                  <a:txBody>
                    <a:bodyPr lIns="85725" tIns="76200" rIns="85725" bIns="76200"/>
                    <a:lstStyle/>
                    <a:p>
                      <a:pPr algn="ctr">
                        <a:buNone/>
                      </a:pPr>
                      <a:r>
                        <a:rPr sz="2100" b="0">
                          <a:solidFill>
                            <a:srgbClr val="233746"/>
                          </a:solidFill>
                          <a:latin typeface="Arial"/>
                          <a:ea typeface="Arial"/>
                          <a:cs typeface="Arial"/>
                        </a:rPr>
                        <a:t>Máximo</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max(a, 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0,60</a:t>
                      </a:r>
                    </a:p>
                  </a:txBody>
                  <a:tcPr marL="91440" marR="91440" marT="45720" marB="45720" anchor="ctr">
                    <a:solidFill>
                      <a:srgbClr val="FFFFFF"/>
                    </a:solidFill>
                  </a:tcPr>
                </a:tc>
              </a:tr>
              <a:tr h="657225">
                <a:tc>
                  <a:txBody>
                    <a:bodyPr lIns="85725" tIns="76200" rIns="85725" bIns="76200"/>
                    <a:lstStyle/>
                    <a:p>
                      <a:pPr algn="ctr">
                        <a:buNone/>
                      </a:pPr>
                      <a:r>
                        <a:rPr sz="2100" b="0">
                          <a:solidFill>
                            <a:srgbClr val="233746"/>
                          </a:solidFill>
                          <a:latin typeface="Arial"/>
                          <a:ea typeface="Arial"/>
                          <a:cs typeface="Arial"/>
                        </a:rPr>
                        <a:t>Suma probabilística</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a + b − a · b</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0,72</a:t>
                      </a:r>
                    </a:p>
                  </a:txBody>
                  <a:tcPr marL="91440" marR="91440" marT="45720" marB="45720" anchor="ctr">
                    <a:solidFill>
                      <a:srgbClr val="F4F7F9"/>
                    </a:solidFill>
                  </a:tcPr>
                </a:tc>
              </a:tr>
              <a:tr h="657225">
                <a:tc>
                  <a:txBody>
                    <a:bodyPr lIns="85725" tIns="76200" rIns="85725" bIns="76200"/>
                    <a:lstStyle/>
                    <a:p>
                      <a:pPr algn="ctr">
                        <a:buNone/>
                      </a:pPr>
                      <a:r>
                        <a:rPr sz="2100" b="0">
                          <a:solidFill>
                            <a:srgbClr val="233746"/>
                          </a:solidFill>
                          <a:latin typeface="Arial"/>
                          <a:ea typeface="Arial"/>
                          <a:cs typeface="Arial"/>
                        </a:rPr>
                        <a:t>Suma acotada</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min(1, a + 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0,90</a:t>
                      </a:r>
                    </a:p>
                  </a:txBody>
                  <a:tcPr marL="91440" marR="91440" marT="45720" marB="45720" anchor="ctr">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57E4317B-2A64-4B53-AFC8-A41782B064D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«Suma probabilística» es el nombre del operador: aquí los grados no son probabilidades.</a:t>
            </a:r>
          </a:p>
        </p:txBody>
      </p:sp>
      <p:sp>
        <p:nvSpPr>
          <p:cNvPr id="16" name="">
            <a:extLst xmlns:a="http://schemas.openxmlformats.org/drawingml/2006/main">
              <a:ext uri="{FF2B5EF4-FFF2-40B4-BE49-F238E27FC236}">
                <a16:creationId xmlns:a16="http://schemas.microsoft.com/office/drawing/2014/main" id="{EC6EFB30-EB8D-4FDA-B38A-D6F72E49490E}"/>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89F7D05-C074-4789-80D8-F89328E005E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E INFERENCIA    /    Capítulo 5 · condiciones y consecuencias</a:t>
            </a:r>
          </a:p>
        </p:txBody>
      </p:sp>
    </p:spTree>
    <p:extLst>
      <p:ext uri="{BB962C8B-B14F-4D97-AF65-F5344CB8AC3E}">
        <p14:creationId xmlns:p14="http://schemas.microsoft.com/office/powerpoint/2010/main" val="172189652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Curiosidad: dos sentidos de «SI… ENTONCES»</a:t>
            </a:r>
          </a:p>
        </p:txBody>
      </p:sp>
      <p:sp>
        <p:nvSpPr>
          <p:cNvPr id="17" name="">
            <a:extLst xmlns:a="http://schemas.openxmlformats.org/drawingml/2006/main">
              <a:ext uri="{FF2B5EF4-FFF2-40B4-BE49-F238E27FC236}">
                <a16:creationId xmlns:a16="http://schemas.microsoft.com/office/drawing/2014/main" id="{351887C2-0575-4553-82A4-2417737A9FFC}"/>
              </a:ext>
            </a:extLst>
          </p:cNvPr>
          <p:cNvSpPr>
            <a:spLocks xmlns:a="http://schemas.openxmlformats.org/drawingml/2006/main" noGrp="1"/>
          </p:cNvSpPr>
          <p:nvPr/>
        </p:nvSpPr>
        <p:spPr>
          <a:xfrm xmlns:a="http://schemas.openxmlformats.org/drawingml/2006/main">
            <a:off x="762000" y="16097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7950A0"/>
                </a:solidFill>
                <a:latin typeface="Arial"/>
                <a:ea typeface="Arial"/>
                <a:cs typeface="Arial"/>
              </a:defRPr>
            </a:pPr>
            <a:r>
              <a:rPr sz="2250" b="1">
                <a:solidFill>
                  <a:srgbClr val="7950A0"/>
                </a:solidFill>
                <a:latin typeface="Arial"/>
                <a:ea typeface="Arial"/>
                <a:cs typeface="Arial"/>
              </a:rPr>
              <a:t>Lógica clásica: implicación material</a:t>
            </a:r>
          </a:p>
        </p:txBody>
      </p:sp>
      <p:sp>
        <p:nvSpPr>
          <p:cNvPr id="18" name="">
            <a:extLst xmlns:a="http://schemas.openxmlformats.org/drawingml/2006/main">
              <a:ext uri="{FF2B5EF4-FFF2-40B4-BE49-F238E27FC236}">
                <a16:creationId xmlns:a16="http://schemas.microsoft.com/office/drawing/2014/main" id="{496BBD17-C33A-4FE0-8670-E2F4CCE44B27}"/>
              </a:ext>
            </a:extLst>
          </p:cNvPr>
          <p:cNvSpPr>
            <a:spLocks xmlns:a="http://schemas.openxmlformats.org/drawingml/2006/main" noGrp="1"/>
          </p:cNvSpPr>
          <p:nvPr/>
        </p:nvSpPr>
        <p:spPr>
          <a:xfrm xmlns:a="http://schemas.openxmlformats.org/drawingml/2006/main">
            <a:off x="762000" y="20478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 x ∈ A     Q: y ∈ B     P → Q se representa mediante R</a:t>
            </a:r>
          </a:p>
        </p:txBody>
      </p:sp>
      <p:sp>
        <p:nvSpPr>
          <p:cNvPr id="19" name="">
            <a:extLst xmlns:a="http://schemas.openxmlformats.org/drawingml/2006/main">
              <a:ext uri="{FF2B5EF4-FFF2-40B4-BE49-F238E27FC236}">
                <a16:creationId xmlns:a16="http://schemas.microsoft.com/office/drawing/2014/main" id="{FBE6D85F-DBD8-4E92-A1FC-4CB2E05B3E12}"/>
              </a:ext>
            </a:extLst>
          </p:cNvPr>
          <p:cNvSpPr>
            <a:spLocks xmlns:a="http://schemas.openxmlformats.org/drawingml/2006/main" noGrp="1"/>
          </p:cNvSpPr>
          <p:nvPr/>
        </p:nvSpPr>
        <p:spPr>
          <a:xfrm xmlns:a="http://schemas.openxmlformats.org/drawingml/2006/main">
            <a:off x="762000" y="24765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233746"/>
                </a:solidFill>
                <a:latin typeface="Arial"/>
                <a:ea typeface="Arial"/>
                <a:cs typeface="Arial"/>
              </a:defRPr>
            </a:pPr>
            <a:r>
              <a:rPr sz="2550" b="1">
                <a:solidFill>
                  <a:srgbClr val="233746"/>
                </a:solidFill>
                <a:latin typeface="Arial"/>
                <a:ea typeface="Arial"/>
                <a:cs typeface="Arial"/>
              </a:rPr>
              <a:t>R = (A × B) ∪ (¬A × Y)</a:t>
            </a:r>
          </a:p>
        </p:txBody>
      </p:sp>
      <p:sp>
        <p:nvSpPr>
          <p:cNvPr id="20" name="">
            <a:extLst xmlns:a="http://schemas.openxmlformats.org/drawingml/2006/main">
              <a:ext uri="{FF2B5EF4-FFF2-40B4-BE49-F238E27FC236}">
                <a16:creationId xmlns:a16="http://schemas.microsoft.com/office/drawing/2014/main" id="{57646429-4863-4DC1-8ED8-E9E87A0FB67A}"/>
              </a:ext>
            </a:extLst>
          </p:cNvPr>
          <p:cNvSpPr>
            <a:spLocks xmlns:a="http://schemas.openxmlformats.org/drawingml/2006/main" noGrp="1"/>
          </p:cNvSpPr>
          <p:nvPr/>
        </p:nvSpPr>
        <p:spPr>
          <a:xfrm xmlns:a="http://schemas.openxmlformats.org/drawingml/2006/main">
            <a:off x="762000" y="30003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Si A se cumple, exige B. Si A no se cumple, admite cualquier y ∈ Y.</a:t>
            </a:r>
          </a:p>
        </p:txBody>
      </p:sp>
      <p:sp>
        <p:nvSpPr>
          <p:cNvPr id="21" name="">
            <a:extLst xmlns:a="http://schemas.openxmlformats.org/drawingml/2006/main">
              <a:ext uri="{FF2B5EF4-FFF2-40B4-BE49-F238E27FC236}">
                <a16:creationId xmlns:a16="http://schemas.microsoft.com/office/drawing/2014/main" id="{D3B4A16F-3273-4D16-813F-65F4C78E8CF0}"/>
              </a:ext>
            </a:extLst>
          </p:cNvPr>
          <p:cNvSpPr>
            <a:spLocks xmlns:a="http://schemas.openxmlformats.org/drawingml/2006/main" noGrp="1"/>
          </p:cNvSpPr>
          <p:nvPr/>
        </p:nvSpPr>
        <p:spPr>
          <a:xfrm xmlns:a="http://schemas.openxmlformats.org/drawingml/2006/main">
            <a:off x="762000" y="36099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7950A0"/>
                </a:solidFill>
                <a:latin typeface="Arial"/>
                <a:ea typeface="Arial"/>
                <a:cs typeface="Arial"/>
              </a:defRPr>
            </a:pPr>
            <a:r>
              <a:rPr sz="2250" b="1">
                <a:solidFill>
                  <a:srgbClr val="7950A0"/>
                </a:solidFill>
                <a:latin typeface="Arial"/>
                <a:ea typeface="Arial"/>
                <a:cs typeface="Arial"/>
              </a:rPr>
              <a:t>Reglas de control: activación en Mamdani</a:t>
            </a:r>
          </a:p>
        </p:txBody>
      </p:sp>
      <p:sp>
        <p:nvSpPr>
          <p:cNvPr id="22" name="">
            <a:extLst xmlns:a="http://schemas.openxmlformats.org/drawingml/2006/main">
              <a:ext uri="{FF2B5EF4-FFF2-40B4-BE49-F238E27FC236}">
                <a16:creationId xmlns:a16="http://schemas.microsoft.com/office/drawing/2014/main" id="{495D3FCA-C082-43E7-A4AD-818DE6815975}"/>
              </a:ext>
            </a:extLst>
          </p:cNvPr>
          <p:cNvSpPr>
            <a:spLocks xmlns:a="http://schemas.openxmlformats.org/drawingml/2006/main" noGrp="1"/>
          </p:cNvSpPr>
          <p:nvPr/>
        </p:nvSpPr>
        <p:spPr>
          <a:xfrm xmlns:a="http://schemas.openxmlformats.org/drawingml/2006/main">
            <a:off x="762000" y="406717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SI x es A, ENTONCES y es B. La regla aporta μR(x,y) = min(a,b).</a:t>
            </a:r>
          </a:p>
        </p:txBody>
      </p:sp>
      <p:sp>
        <p:nvSpPr>
          <p:cNvPr id="23" name="">
            <a:extLst xmlns:a="http://schemas.openxmlformats.org/drawingml/2006/main">
              <a:ext uri="{FF2B5EF4-FFF2-40B4-BE49-F238E27FC236}">
                <a16:creationId xmlns:a16="http://schemas.microsoft.com/office/drawing/2014/main" id="{4D9C5085-B3D5-4503-B9F5-131674BB0421}"/>
              </a:ext>
            </a:extLst>
          </p:cNvPr>
          <p:cNvSpPr>
            <a:spLocks xmlns:a="http://schemas.openxmlformats.org/drawingml/2006/main" noGrp="1"/>
          </p:cNvSpPr>
          <p:nvPr/>
        </p:nvSpPr>
        <p:spPr>
          <a:xfrm xmlns:a="http://schemas.openxmlformats.org/drawingml/2006/main">
            <a:off x="762000" y="45434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Si a = 0, la regla no aporta salida.</a:t>
            </a:r>
          </a:p>
        </p:txBody>
      </p:sp>
      <p:sp>
        <p:nvSpPr>
          <p:cNvPr id="24" name="">
            <a:extLst xmlns:a="http://schemas.openxmlformats.org/drawingml/2006/main">
              <a:ext uri="{FF2B5EF4-FFF2-40B4-BE49-F238E27FC236}">
                <a16:creationId xmlns:a16="http://schemas.microsoft.com/office/drawing/2014/main" id="{D56487A7-9A18-48CD-AFEB-9E829ED37AD3}"/>
              </a:ext>
            </a:extLst>
          </p:cNvPr>
          <p:cNvSpPr>
            <a:spLocks xmlns:a="http://schemas.openxmlformats.org/drawingml/2006/main" noGrp="1"/>
          </p:cNvSpPr>
          <p:nvPr/>
        </p:nvSpPr>
        <p:spPr>
          <a:xfrm xmlns:a="http://schemas.openxmlformats.org/drawingml/2006/main">
            <a:off x="762000" y="518160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Extensión de la relación anterior: max(min(a,b), 1 − a). Si a = 0, vale 1.</a:t>
            </a:r>
          </a:p>
        </p:txBody>
      </p:sp>
      <p:sp>
        <p:nvSpPr>
          <p:cNvPr id="25" name="">
            <a:extLst xmlns:a="http://schemas.openxmlformats.org/drawingml/2006/main">
              <a:ext uri="{FF2B5EF4-FFF2-40B4-BE49-F238E27FC236}">
                <a16:creationId xmlns:a16="http://schemas.microsoft.com/office/drawing/2014/main" id="{6C4C3C1E-F6E0-4A0D-8F04-CD7BFB3A89D4}"/>
              </a:ext>
            </a:extLst>
          </p:cNvPr>
          <p:cNvSpPr>
            <a:spLocks xmlns:a="http://schemas.openxmlformats.org/drawingml/2006/main" noGrp="1"/>
          </p:cNvSpPr>
          <p:nvPr/>
        </p:nvSpPr>
        <p:spPr>
          <a:xfrm xmlns:a="http://schemas.openxmlformats.org/drawingml/2006/main">
            <a:off x="762000" y="57721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D96B18"/>
                </a:solidFill>
                <a:latin typeface="Arial"/>
                <a:ea typeface="Arial"/>
                <a:cs typeface="Arial"/>
              </a:defRPr>
            </a:pPr>
            <a:r>
              <a:rPr sz="1875" b="1">
                <a:solidFill>
                  <a:srgbClr val="D96B18"/>
                </a:solidFill>
                <a:latin typeface="Arial"/>
                <a:ea typeface="Arial"/>
                <a:cs typeface="Arial"/>
              </a:rPr>
              <a:t>a = μA(x), b = μB(y). «Basado en reglas» no fija una única semántica.</a:t>
            </a:r>
          </a:p>
        </p:txBody>
      </p:sp>
      <p:sp>
        <p:nvSpPr>
          <p:cNvPr id="26" name="">
            <a:extLst xmlns:a="http://schemas.openxmlformats.org/drawingml/2006/main">
              <a:ext uri="{FF2B5EF4-FFF2-40B4-BE49-F238E27FC236}">
                <a16:creationId xmlns:a16="http://schemas.microsoft.com/office/drawing/2014/main" id="{012FAEAB-559C-4644-B311-1092C75E31B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97B3D3B3-DD0F-4EFF-97AE-5A891ED1F93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E INFERENCIA    /    Capítulo 5 · condiciones y consecuencias</a:t>
            </a:r>
          </a:p>
        </p:txBody>
      </p:sp>
    </p:spTree>
    <p:extLst>
      <p:ext uri="{BB962C8B-B14F-4D97-AF65-F5344CB8AC3E}">
        <p14:creationId xmlns:p14="http://schemas.microsoft.com/office/powerpoint/2010/main" val="172189652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Mamdani: el recorrido de una entrada</a:t>
            </a:r>
          </a:p>
        </p:txBody>
      </p:sp>
      <p:sp>
        <p:nvSpPr>
          <p:cNvPr id="9" name="">
            <a:extLst xmlns:a="http://schemas.openxmlformats.org/drawingml/2006/main">
              <a:ext uri="{FF2B5EF4-FFF2-40B4-BE49-F238E27FC236}">
                <a16:creationId xmlns:a16="http://schemas.microsoft.com/office/drawing/2014/main" id="{10F1A4DB-2153-4A3B-BE26-2A9F1F2AC8A8}"/>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1. Fuzzificar y activar</a:t>
            </a:r>
          </a:p>
        </p:txBody>
      </p:sp>
      <p:sp>
        <p:nvSpPr>
          <p:cNvPr id="10" name="">
            <a:extLst xmlns:a="http://schemas.openxmlformats.org/drawingml/2006/main">
              <a:ext uri="{FF2B5EF4-FFF2-40B4-BE49-F238E27FC236}">
                <a16:creationId xmlns:a16="http://schemas.microsoft.com/office/drawing/2014/main" id="{6C040218-31EF-4A1C-8175-681E68F793E8}"/>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Evaluar las pertenencias y combinar las condiciones de cada regla.</a:t>
            </a:r>
          </a:p>
        </p:txBody>
      </p:sp>
      <p:sp>
        <p:nvSpPr>
          <p:cNvPr id="11" name="">
            <a:extLst xmlns:a="http://schemas.openxmlformats.org/drawingml/2006/main">
              <a:ext uri="{FF2B5EF4-FFF2-40B4-BE49-F238E27FC236}">
                <a16:creationId xmlns:a16="http://schemas.microsoft.com/office/drawing/2014/main" id="{11AB3616-3D7A-4784-A8F2-7C066F844790}"/>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2. Implicar y agregar</a:t>
            </a:r>
          </a:p>
        </p:txBody>
      </p:sp>
      <p:sp>
        <p:nvSpPr>
          <p:cNvPr id="12" name="">
            <a:extLst xmlns:a="http://schemas.openxmlformats.org/drawingml/2006/main">
              <a:ext uri="{FF2B5EF4-FFF2-40B4-BE49-F238E27FC236}">
                <a16:creationId xmlns:a16="http://schemas.microsoft.com/office/drawing/2014/main" id="{42D43D07-7394-4314-A862-CB7F27EF0A78}"/>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Recortar cada conjunto de salida con su activación; reunirlos con máximo.</a:t>
            </a:r>
          </a:p>
        </p:txBody>
      </p:sp>
      <p:sp>
        <p:nvSpPr>
          <p:cNvPr id="13" name="">
            <a:extLst xmlns:a="http://schemas.openxmlformats.org/drawingml/2006/main">
              <a:ext uri="{FF2B5EF4-FFF2-40B4-BE49-F238E27FC236}">
                <a16:creationId xmlns:a16="http://schemas.microsoft.com/office/drawing/2014/main" id="{FFB7358D-E9EB-4E9B-87D9-084BDF7796C0}"/>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3. Desdifusificar</a:t>
            </a:r>
          </a:p>
        </p:txBody>
      </p:sp>
      <p:sp>
        <p:nvSpPr>
          <p:cNvPr id="14" name="">
            <a:extLst xmlns:a="http://schemas.openxmlformats.org/drawingml/2006/main">
              <a:ext uri="{FF2B5EF4-FFF2-40B4-BE49-F238E27FC236}">
                <a16:creationId xmlns:a16="http://schemas.microsoft.com/office/drawing/2014/main" id="{0BEB993E-007F-45CA-ACA0-149E4BE1D228}"/>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Obtener un único número a partir del conjunto de salida agregado.</a:t>
            </a:r>
          </a:p>
        </p:txBody>
      </p:sp>
      <p:sp>
        <p:nvSpPr>
          <p:cNvPr id="15" name="">
            <a:extLst xmlns:a="http://schemas.openxmlformats.org/drawingml/2006/main">
              <a:ext uri="{FF2B5EF4-FFF2-40B4-BE49-F238E27FC236}">
                <a16:creationId xmlns:a16="http://schemas.microsoft.com/office/drawing/2014/main" id="{E25CF036-6C3D-4C08-AA81-66115114B3A7}"/>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el ejemplo siguiente: AND = mínimo, implicación = recorte, agregación = máximo.</a:t>
            </a:r>
          </a:p>
        </p:txBody>
      </p:sp>
      <p:sp>
        <p:nvSpPr>
          <p:cNvPr id="16" name="">
            <a:extLst xmlns:a="http://schemas.openxmlformats.org/drawingml/2006/main">
              <a:ext uri="{FF2B5EF4-FFF2-40B4-BE49-F238E27FC236}">
                <a16:creationId xmlns:a16="http://schemas.microsoft.com/office/drawing/2014/main" id="{8EA489F5-A5BD-4B04-86BE-62D3204F762E}"/>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C2CB438-7D94-42B2-A338-31140662DE67}"/>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E INFERENCIA    /    Capítulo 5 · condiciones y consecuencias</a:t>
            </a:r>
          </a:p>
        </p:txBody>
      </p:sp>
    </p:spTree>
    <p:extLst>
      <p:ext uri="{BB962C8B-B14F-4D97-AF65-F5344CB8AC3E}">
        <p14:creationId xmlns:p14="http://schemas.microsoft.com/office/powerpoint/2010/main" val="172189652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Mini-ejemplo Mamdani: dos propuestas de potencia</a:t>
            </a:r>
          </a:p>
        </p:txBody>
      </p:sp>
      <p:graphicFrame>
        <p:nvGraphicFramePr>
          <p:cNvPr id="23" name=""/>
          <p:cNvGraphicFramePr/>
          <p:nvPr/>
        </p:nvGraphicFramePr>
        <p:xfrm>
          <a:off xmlns:a="http://schemas.openxmlformats.org/drawingml/2006/main" x="762000" y="2028825"/>
          <a:ext xmlns:a="http://schemas.openxmlformats.org/drawingml/2006/main" cx="10668000" cy="2143125"/>
        </p:xfrm>
        <a:graphic xmlns:a="http://schemas.openxmlformats.org/drawingml/2006/main">
          <a:graphicData uri="http://schemas.openxmlformats.org/drawingml/2006/table">
            <a:tbl>
              <a:tblPr/>
              <a:tblGrid>
                <a:gridCol w="4333875"/>
                <a:gridCol w="3143250"/>
                <a:gridCol w="3190875"/>
              </a:tblGrid>
              <a:tr h="714375">
                <a:tc>
                  <a:txBody>
                    <a:bodyPr lIns="85725" tIns="76200" rIns="85725" bIns="76200"/>
                    <a:lstStyle/>
                    <a:p>
                      <a:pPr algn="ctr">
                        <a:buNone/>
                      </a:pPr>
                      <a:r>
                        <a:rPr sz="2100" b="1">
                          <a:solidFill>
                            <a:srgbClr val="2162A0"/>
                          </a:solidFill>
                          <a:latin typeface="Arial"/>
                          <a:ea typeface="Arial"/>
                          <a:cs typeface="Arial"/>
                        </a:rPr>
                        <a:t>Regla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Activación en esta lectura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Consecuente</a:t>
                      </a:r>
                    </a:p>
                  </a:txBody>
                  <a:tcPr marL="91440" marR="91440" marT="45720" marB="45720" anchor="ctr">
                    <a:solidFill>
                      <a:srgbClr val="E7EFF5"/>
                    </a:solidFill>
                  </a:tcPr>
                </a:tc>
              </a:tr>
              <a:tr h="714375">
                <a:tc>
                  <a:txBody>
                    <a:bodyPr lIns="85725" tIns="76200" rIns="85725" bIns="76200"/>
                    <a:lstStyle/>
                    <a:p>
                      <a:pPr algn="ctr">
                        <a:buNone/>
                      </a:pPr>
                      <a:r>
                        <a:rPr sz="2100" b="0">
                          <a:solidFill>
                            <a:srgbClr val="233746"/>
                          </a:solidFill>
                          <a:latin typeface="Arial"/>
                          <a:ea typeface="Arial"/>
                          <a:cs typeface="Arial"/>
                        </a:rPr>
                        <a:t>SI el error es Pequeño</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0,6</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Potencia Baja</a:t>
                      </a:r>
                    </a:p>
                  </a:txBody>
                  <a:tcPr marL="91440" marR="91440" marT="45720" marB="45720" anchor="ctr">
                    <a:solidFill>
                      <a:srgbClr val="FFFFFF"/>
                    </a:solidFill>
                  </a:tcPr>
                </a:tc>
              </a:tr>
              <a:tr h="714375">
                <a:tc>
                  <a:txBody>
                    <a:bodyPr lIns="85725" tIns="76200" rIns="85725" bIns="76200"/>
                    <a:lstStyle/>
                    <a:p>
                      <a:pPr algn="ctr">
                        <a:buNone/>
                      </a:pPr>
                      <a:r>
                        <a:rPr sz="2100" b="0">
                          <a:solidFill>
                            <a:srgbClr val="233746"/>
                          </a:solidFill>
                          <a:latin typeface="Arial"/>
                          <a:ea typeface="Arial"/>
                          <a:cs typeface="Arial"/>
                        </a:rPr>
                        <a:t>SI el error es Grande</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0,3</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Potencia Alta</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BBB8C901-8AFF-42D8-91B4-2D2A2D6E614D}"/>
              </a:ext>
            </a:extLst>
          </p:cNvPr>
          <p:cNvSpPr>
            <a:spLocks xmlns:a="http://schemas.openxmlformats.org/drawingml/2006/main" noGrp="1"/>
          </p:cNvSpPr>
          <p:nvPr/>
        </p:nvSpPr>
        <p:spPr>
          <a:xfrm xmlns:a="http://schemas.openxmlformats.org/drawingml/2006/main">
            <a:off x="762000" y="46101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Baja: triángulo con puntos (0, 0), (25, 1), (50, 0).</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Alta: triángulo con puntos (50, 0), (75, 1), (100, 0).</a:t>
            </a:r>
          </a:p>
        </p:txBody>
      </p:sp>
      <p:sp>
        <p:nvSpPr>
          <p:cNvPr id="11" name="">
            <a:extLst xmlns:a="http://schemas.openxmlformats.org/drawingml/2006/main">
              <a:ext uri="{FF2B5EF4-FFF2-40B4-BE49-F238E27FC236}">
                <a16:creationId xmlns:a16="http://schemas.microsoft.com/office/drawing/2014/main" id="{581D90CE-62CA-4ABE-9029-75D4414C6FA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Fijamos esta salida de ejemplo para comparar los métodos de desdifusificación.</a:t>
            </a:r>
          </a:p>
        </p:txBody>
      </p:sp>
      <p:sp>
        <p:nvSpPr>
          <p:cNvPr id="15" name="">
            <a:extLst xmlns:a="http://schemas.openxmlformats.org/drawingml/2006/main">
              <a:ext uri="{FF2B5EF4-FFF2-40B4-BE49-F238E27FC236}">
                <a16:creationId xmlns:a16="http://schemas.microsoft.com/office/drawing/2014/main" id="{B4C44749-DB0A-4A19-8D18-B7FE15E4FCC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966F9C5-8806-4769-9644-0AEE5BCCDD3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E INFERENCIA    /    Capítulo 5 · condiciones y consecuencias</a:t>
            </a:r>
          </a:p>
        </p:txBody>
      </p:sp>
    </p:spTree>
    <p:extLst>
      <p:ext uri="{BB962C8B-B14F-4D97-AF65-F5344CB8AC3E}">
        <p14:creationId xmlns:p14="http://schemas.microsoft.com/office/powerpoint/2010/main" val="172189652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Mamdani: dos reglas activas</a:t>
            </a:r>
          </a:p>
        </p:txBody>
      </p:sp>
      <p:sp>
        <p:nvSpPr>
          <p:cNvPr id="9" name="">
            <a:extLst xmlns:a="http://schemas.openxmlformats.org/drawingml/2006/main">
              <a:ext uri="{FF2B5EF4-FFF2-40B4-BE49-F238E27FC236}">
                <a16:creationId xmlns:a16="http://schemas.microsoft.com/office/drawing/2014/main" id="{3A16A9F1-B890-44A2-8D52-75FCD55B9B36}"/>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Potencia baja: α1 = 0,6</a:t>
            </a:r>
          </a:p>
        </p:txBody>
      </p:sp>
      <p:sp>
        <p:nvSpPr>
          <p:cNvPr id="10" name="">
            <a:extLst xmlns:a="http://schemas.openxmlformats.org/drawingml/2006/main">
              <a:ext uri="{FF2B5EF4-FFF2-40B4-BE49-F238E27FC236}">
                <a16:creationId xmlns:a16="http://schemas.microsoft.com/office/drawing/2014/main" id="{DA9930CC-4A41-41FA-A5AD-5411FDB568ED}"/>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Potencia alta: α2 = 0,3</a:t>
            </a:r>
          </a:p>
        </p:txBody>
      </p:sp>
      <p:graphicFrame>
        <p:nvGraphicFramePr>
          <p:cNvPr id="27" name="Chart"/>
          <p:cNvGraphicFramePr/>
          <p:nvPr/>
        </p:nvGraphicFramePr>
        <p:xfrm>
          <a:off xmlns:a="http://schemas.openxmlformats.org/drawingml/2006/main" x="762000" y="2257425"/>
          <a:ext xmlns:a="http://schemas.openxmlformats.org/drawingml/2006/main" cx="10668000" cy="3162300"/>
        </p:xfrm>
        <a:graphic xmlns:a="http://schemas.openxmlformats.org/drawingml/2006/main">
          <a:graphicData uri="http://schemas.openxmlformats.org/drawingml/2006/chart">
            <c:chart xmlns:r="http://schemas.openxmlformats.org/officeDocument/2006/relationships" xmlns:c="http://schemas.openxmlformats.org/drawingml/2006/chart" r:id="R7445073f68a54944"/>
          </a:graphicData>
        </a:graphic>
      </p:graphicFrame>
      <p:sp>
        <p:nvSpPr>
          <p:cNvPr id="12" name="">
            <a:extLst xmlns:a="http://schemas.openxmlformats.org/drawingml/2006/main">
              <a:ext uri="{FF2B5EF4-FFF2-40B4-BE49-F238E27FC236}">
                <a16:creationId xmlns:a16="http://schemas.microsoft.com/office/drawing/2014/main" id="{8EED936C-4C56-402D-8456-0F5D0EA0BFA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Cada regla recorta su conjunto: μsalida,k(u) = min(αk, μBk(u)).</a:t>
            </a:r>
          </a:p>
        </p:txBody>
      </p:sp>
      <p:sp>
        <p:nvSpPr>
          <p:cNvPr id="17" name="">
            <a:extLst xmlns:a="http://schemas.openxmlformats.org/drawingml/2006/main">
              <a:ext uri="{FF2B5EF4-FFF2-40B4-BE49-F238E27FC236}">
                <a16:creationId xmlns:a16="http://schemas.microsoft.com/office/drawing/2014/main" id="{B42AE68F-9D7D-432A-BAC5-8DE147CAFD8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6E9EC26-0D3B-4237-A6DA-0184B54C4DE4}"/>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E INFERENCIA    /    Capítulo 5 · condiciones y consecuencias</a:t>
            </a:r>
          </a:p>
        </p:txBody>
      </p:sp>
    </p:spTree>
    <p:extLst>
      <p:ext uri="{BB962C8B-B14F-4D97-AF65-F5344CB8AC3E}">
        <p14:creationId xmlns:p14="http://schemas.microsoft.com/office/powerpoint/2010/main" val="172189652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Mamdani: una salida agregada</a:t>
            </a:r>
          </a:p>
        </p:txBody>
      </p:sp>
      <p:sp>
        <p:nvSpPr>
          <p:cNvPr id="9" name="">
            <a:extLst xmlns:a="http://schemas.openxmlformats.org/drawingml/2006/main">
              <a:ext uri="{FF2B5EF4-FFF2-40B4-BE49-F238E27FC236}">
                <a16:creationId xmlns:a16="http://schemas.microsoft.com/office/drawing/2014/main" id="{504048DD-F1F1-4EF9-9863-6B75089D7B49}"/>
              </a:ext>
            </a:extLst>
          </p:cNvPr>
          <p:cNvSpPr>
            <a:spLocks xmlns:a="http://schemas.openxmlformats.org/drawingml/2006/main" noGrp="1"/>
          </p:cNvSpPr>
          <p:nvPr/>
        </p:nvSpPr>
        <p:spPr>
          <a:xfrm xmlns:a="http://schemas.openxmlformats.org/drawingml/2006/main">
            <a:off x="762000" y="1666875"/>
            <a:ext cx="1057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μAgregada(u) = max(μsalida,1(u), μsalida,2(u))</a:t>
            </a:r>
          </a:p>
        </p:txBody>
      </p:sp>
      <p:graphicFrame>
        <p:nvGraphicFramePr>
          <p:cNvPr id="25" name="Chart"/>
          <p:cNvGraphicFramePr/>
          <p:nvPr/>
        </p:nvGraphicFramePr>
        <p:xfrm>
          <a:off xmlns:a="http://schemas.openxmlformats.org/drawingml/2006/main" x="762000" y="2143125"/>
          <a:ext xmlns:a="http://schemas.openxmlformats.org/drawingml/2006/main" cx="10668000" cy="3333750"/>
        </p:xfrm>
        <a:graphic xmlns:a="http://schemas.openxmlformats.org/drawingml/2006/main">
          <a:graphicData uri="http://schemas.openxmlformats.org/drawingml/2006/chart">
            <c:chart xmlns:r="http://schemas.openxmlformats.org/officeDocument/2006/relationships" xmlns:c="http://schemas.openxmlformats.org/drawingml/2006/chart" r:id="R1c8a05e5201e4108"/>
          </a:graphicData>
        </a:graphic>
      </p:graphicFrame>
      <p:sp>
        <p:nvSpPr>
          <p:cNvPr id="11" name="">
            <a:extLst xmlns:a="http://schemas.openxmlformats.org/drawingml/2006/main">
              <a:ext uri="{FF2B5EF4-FFF2-40B4-BE49-F238E27FC236}">
                <a16:creationId xmlns:a16="http://schemas.microsoft.com/office/drawing/2014/main" id="{E37F8BDE-3789-4EAB-8C93-A2642472CC87}"/>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salida puede ser subnormal y no convexa aunque las etiquetas originales sean normales.</a:t>
            </a:r>
          </a:p>
        </p:txBody>
      </p:sp>
      <p:sp>
        <p:nvSpPr>
          <p:cNvPr id="16" name="">
            <a:extLst xmlns:a="http://schemas.openxmlformats.org/drawingml/2006/main">
              <a:ext uri="{FF2B5EF4-FFF2-40B4-BE49-F238E27FC236}">
                <a16:creationId xmlns:a16="http://schemas.microsoft.com/office/drawing/2014/main" id="{433A30A0-F49B-41D8-B3ED-84CB68053FD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46BC187-056F-4D7B-A42F-B2D94EEA7ED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E INFERENCIA    /    Capítulo 5 · condiciones y consecuencias</a:t>
            </a:r>
          </a:p>
        </p:txBody>
      </p:sp>
    </p:spTree>
    <p:extLst>
      <p:ext uri="{BB962C8B-B14F-4D97-AF65-F5344CB8AC3E}">
        <p14:creationId xmlns:p14="http://schemas.microsoft.com/office/powerpoint/2010/main" val="172189652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Sugeno: reglas con consecuencias numéricas</a:t>
            </a:r>
          </a:p>
        </p:txBody>
      </p:sp>
      <p:sp>
        <p:nvSpPr>
          <p:cNvPr id="9" name="">
            <a:extLst xmlns:a="http://schemas.openxmlformats.org/drawingml/2006/main">
              <a:ext uri="{FF2B5EF4-FFF2-40B4-BE49-F238E27FC236}">
                <a16:creationId xmlns:a16="http://schemas.microsoft.com/office/drawing/2014/main" id="{C2F787C7-2B0E-4DA2-BE19-7A11AA49C1B1}"/>
              </a:ext>
            </a:extLst>
          </p:cNvPr>
          <p:cNvSpPr>
            <a:spLocks xmlns:a="http://schemas.openxmlformats.org/drawingml/2006/main" noGrp="1"/>
          </p:cNvSpPr>
          <p:nvPr/>
        </p:nvSpPr>
        <p:spPr>
          <a:xfrm xmlns:a="http://schemas.openxmlformats.org/drawingml/2006/main">
            <a:off x="762000" y="15811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D96B18"/>
                </a:solidFill>
                <a:latin typeface="Arial"/>
                <a:ea typeface="Arial"/>
                <a:cs typeface="Arial"/>
              </a:defRPr>
            </a:pPr>
            <a:r>
              <a:rPr sz="3225" b="1">
                <a:solidFill>
                  <a:srgbClr val="D96B18"/>
                </a:solidFill>
                <a:latin typeface="Arial"/>
                <a:ea typeface="Arial"/>
                <a:cs typeface="Arial"/>
              </a:rPr>
              <a:t>u = Σ wk zk / Σ wk</a:t>
            </a:r>
          </a:p>
        </p:txBody>
      </p:sp>
      <p:graphicFrame>
        <p:nvGraphicFramePr>
          <p:cNvPr id="26" name=""/>
          <p:cNvGraphicFramePr/>
          <p:nvPr/>
        </p:nvGraphicFramePr>
        <p:xfrm>
          <a:off xmlns:a="http://schemas.openxmlformats.org/drawingml/2006/main" x="762000" y="2628900"/>
          <a:ext xmlns:a="http://schemas.openxmlformats.org/drawingml/2006/main" cx="10668000" cy="1990725"/>
        </p:xfrm>
        <a:graphic xmlns:a="http://schemas.openxmlformats.org/drawingml/2006/main">
          <a:graphicData uri="http://schemas.openxmlformats.org/drawingml/2006/table">
            <a:tbl>
              <a:tblPr/>
              <a:tblGrid>
                <a:gridCol w="3556000"/>
                <a:gridCol w="3556000"/>
                <a:gridCol w="3556000"/>
              </a:tblGrid>
              <a:tr h="663575">
                <a:tc>
                  <a:txBody>
                    <a:bodyPr lIns="85725" tIns="76200" rIns="85725" bIns="76200"/>
                    <a:lstStyle/>
                    <a:p>
                      <a:pPr algn="ctr">
                        <a:buNone/>
                      </a:pPr>
                      <a:r>
                        <a:rPr sz="2250" b="1">
                          <a:solidFill>
                            <a:srgbClr val="2162A0"/>
                          </a:solidFill>
                          <a:latin typeface="Arial"/>
                          <a:ea typeface="Arial"/>
                          <a:cs typeface="Arial"/>
                        </a:rPr>
                        <a:t>Regla</a:t>
                      </a:r>
                    </a:p>
                  </a:txBody>
                  <a:tcPr marL="91440" marR="91440" marT="45720" marB="45720" anchor="ctr">
                    <a:solidFill>
                      <a:srgbClr val="E7EFF5"/>
                    </a:solidFill>
                  </a:tcPr>
                </a:tc>
                <a:tc>
                  <a:txBody>
                    <a:bodyPr lIns="85725" tIns="76200" rIns="85725" bIns="76200"/>
                    <a:lstStyle/>
                    <a:p>
                      <a:pPr algn="ctr">
                        <a:buNone/>
                      </a:pPr>
                      <a:r>
                        <a:rPr sz="2250" b="1">
                          <a:solidFill>
                            <a:srgbClr val="2162A0"/>
                          </a:solidFill>
                          <a:latin typeface="Arial"/>
                          <a:ea typeface="Arial"/>
                          <a:cs typeface="Arial"/>
                        </a:rPr>
                        <a:t>Activación wk</a:t>
                      </a:r>
                    </a:p>
                  </a:txBody>
                  <a:tcPr marL="91440" marR="91440" marT="45720" marB="45720" anchor="ctr">
                    <a:solidFill>
                      <a:srgbClr val="E7EFF5"/>
                    </a:solidFill>
                  </a:tcPr>
                </a:tc>
                <a:tc>
                  <a:txBody>
                    <a:bodyPr lIns="85725" tIns="76200" rIns="85725" bIns="76200"/>
                    <a:lstStyle/>
                    <a:p>
                      <a:pPr algn="ctr">
                        <a:buNone/>
                      </a:pPr>
                      <a:r>
                        <a:rPr sz="2250" b="1">
                          <a:solidFill>
                            <a:srgbClr val="2162A0"/>
                          </a:solidFill>
                          <a:latin typeface="Arial"/>
                          <a:ea typeface="Arial"/>
                          <a:cs typeface="Arial"/>
                        </a:rPr>
                        <a:t>Salida zk</a:t>
                      </a:r>
                    </a:p>
                  </a:txBody>
                  <a:tcPr marL="91440" marR="91440" marT="45720" marB="45720" anchor="ctr">
                    <a:solidFill>
                      <a:srgbClr val="E7EFF5"/>
                    </a:solidFill>
                  </a:tcPr>
                </a:tc>
              </a:tr>
              <a:tr h="663575">
                <a:tc>
                  <a:txBody>
                    <a:bodyPr lIns="85725" tIns="76200" rIns="85725" bIns="76200"/>
                    <a:lstStyle/>
                    <a:p>
                      <a:pPr algn="ctr">
                        <a:buNone/>
                      </a:pPr>
                      <a:r>
                        <a:rPr sz="2250" b="0">
                          <a:solidFill>
                            <a:srgbClr val="233746"/>
                          </a:solidFill>
                          <a:latin typeface="Arial"/>
                          <a:ea typeface="Arial"/>
                          <a:cs typeface="Arial"/>
                        </a:rPr>
                        <a:t>R1</a:t>
                      </a:r>
                    </a:p>
                  </a:txBody>
                  <a:tcPr marL="91440" marR="91440" marT="45720" marB="45720" anchor="ctr">
                    <a:solidFill>
                      <a:srgbClr val="FFFFFF"/>
                    </a:solidFill>
                  </a:tcPr>
                </a:tc>
                <a:tc>
                  <a:txBody>
                    <a:bodyPr lIns="85725" tIns="76200" rIns="85725" bIns="76200"/>
                    <a:lstStyle/>
                    <a:p>
                      <a:pPr algn="ctr">
                        <a:buNone/>
                      </a:pPr>
                      <a:r>
                        <a:rPr sz="2250" b="0">
                          <a:solidFill>
                            <a:srgbClr val="233746"/>
                          </a:solidFill>
                          <a:latin typeface="Arial"/>
                          <a:ea typeface="Arial"/>
                          <a:cs typeface="Arial"/>
                        </a:rPr>
                        <a:t>0,6</a:t>
                      </a:r>
                    </a:p>
                  </a:txBody>
                  <a:tcPr marL="91440" marR="91440" marT="45720" marB="45720" anchor="ctr">
                    <a:solidFill>
                      <a:srgbClr val="FFFFFF"/>
                    </a:solidFill>
                  </a:tcPr>
                </a:tc>
                <a:tc>
                  <a:txBody>
                    <a:bodyPr lIns="85725" tIns="76200" rIns="85725" bIns="76200"/>
                    <a:lstStyle/>
                    <a:p>
                      <a:pPr algn="ctr">
                        <a:buNone/>
                      </a:pPr>
                      <a:r>
                        <a:rPr sz="2250" b="0">
                          <a:solidFill>
                            <a:srgbClr val="233746"/>
                          </a:solidFill>
                          <a:latin typeface="Arial"/>
                          <a:ea typeface="Arial"/>
                          <a:cs typeface="Arial"/>
                        </a:rPr>
                        <a:t>25 %</a:t>
                      </a:r>
                    </a:p>
                  </a:txBody>
                  <a:tcPr marL="91440" marR="91440" marT="45720" marB="45720" anchor="ctr">
                    <a:solidFill>
                      <a:srgbClr val="FFFFFF"/>
                    </a:solidFill>
                  </a:tcPr>
                </a:tc>
              </a:tr>
              <a:tr h="663575">
                <a:tc>
                  <a:txBody>
                    <a:bodyPr lIns="85725" tIns="76200" rIns="85725" bIns="76200"/>
                    <a:lstStyle/>
                    <a:p>
                      <a:pPr algn="ctr">
                        <a:buNone/>
                      </a:pPr>
                      <a:r>
                        <a:rPr sz="2250" b="0">
                          <a:solidFill>
                            <a:srgbClr val="233746"/>
                          </a:solidFill>
                          <a:latin typeface="Arial"/>
                          <a:ea typeface="Arial"/>
                          <a:cs typeface="Arial"/>
                        </a:rPr>
                        <a:t>R2</a:t>
                      </a:r>
                    </a:p>
                  </a:txBody>
                  <a:tcPr marL="91440" marR="91440" marT="45720" marB="45720" anchor="ctr">
                    <a:solidFill>
                      <a:srgbClr val="F4F7F9"/>
                    </a:solidFill>
                  </a:tcPr>
                </a:tc>
                <a:tc>
                  <a:txBody>
                    <a:bodyPr lIns="85725" tIns="76200" rIns="85725" bIns="76200"/>
                    <a:lstStyle/>
                    <a:p>
                      <a:pPr algn="ctr">
                        <a:buNone/>
                      </a:pPr>
                      <a:r>
                        <a:rPr sz="2250" b="0">
                          <a:solidFill>
                            <a:srgbClr val="233746"/>
                          </a:solidFill>
                          <a:latin typeface="Arial"/>
                          <a:ea typeface="Arial"/>
                          <a:cs typeface="Arial"/>
                        </a:rPr>
                        <a:t>0,3</a:t>
                      </a:r>
                    </a:p>
                  </a:txBody>
                  <a:tcPr marL="91440" marR="91440" marT="45720" marB="45720" anchor="ctr">
                    <a:solidFill>
                      <a:srgbClr val="F4F7F9"/>
                    </a:solidFill>
                  </a:tcPr>
                </a:tc>
                <a:tc>
                  <a:txBody>
                    <a:bodyPr lIns="85725" tIns="76200" rIns="85725" bIns="76200"/>
                    <a:lstStyle/>
                    <a:p>
                      <a:pPr algn="ctr">
                        <a:buNone/>
                      </a:pPr>
                      <a:r>
                        <a:rPr sz="2250" b="0">
                          <a:solidFill>
                            <a:srgbClr val="233746"/>
                          </a:solidFill>
                          <a:latin typeface="Arial"/>
                          <a:ea typeface="Arial"/>
                          <a:cs typeface="Arial"/>
                        </a:rPr>
                        <a:t>75 %</a:t>
                      </a:r>
                    </a:p>
                  </a:txBody>
                  <a:tcPr marL="91440" marR="91440" marT="45720" marB="45720" anchor="ctr">
                    <a:solidFill>
                      <a:srgbClr val="F4F7F9"/>
                    </a:solidFill>
                  </a:tcPr>
                </a:tc>
              </a:tr>
            </a:tbl>
          </a:graphicData>
        </a:graphic>
      </p:graphicFrame>
      <p:sp>
        <p:nvSpPr>
          <p:cNvPr id="11" name="">
            <a:extLst xmlns:a="http://schemas.openxmlformats.org/drawingml/2006/main">
              <a:ext uri="{FF2B5EF4-FFF2-40B4-BE49-F238E27FC236}">
                <a16:creationId xmlns:a16="http://schemas.microsoft.com/office/drawing/2014/main" id="{8DAE22F1-8200-4BA2-85D2-C825B60576C4}"/>
              </a:ext>
            </a:extLst>
          </p:cNvPr>
          <p:cNvSpPr>
            <a:spLocks xmlns:a="http://schemas.openxmlformats.org/drawingml/2006/main" noGrp="1"/>
          </p:cNvSpPr>
          <p:nvPr/>
        </p:nvSpPr>
        <p:spPr>
          <a:xfrm xmlns:a="http://schemas.openxmlformats.org/drawingml/2006/main">
            <a:off x="762000" y="513397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75" b="1">
                <a:solidFill>
                  <a:srgbClr val="233746"/>
                </a:solidFill>
                <a:latin typeface="Arial"/>
                <a:ea typeface="Arial"/>
                <a:cs typeface="Arial"/>
              </a:defRPr>
            </a:pPr>
            <a:r>
              <a:rPr sz="2475" b="1">
                <a:solidFill>
                  <a:srgbClr val="233746"/>
                </a:solidFill>
                <a:latin typeface="Arial"/>
                <a:ea typeface="Arial"/>
                <a:cs typeface="Arial"/>
              </a:rPr>
              <a:t>u = (0,6·25 + 0,3·75) / (0,6 + 0,3) ≈ 41,67 %</a:t>
            </a:r>
          </a:p>
        </p:txBody>
      </p:sp>
      <p:sp>
        <p:nvSpPr>
          <p:cNvPr id="12" name="">
            <a:extLst xmlns:a="http://schemas.openxmlformats.org/drawingml/2006/main">
              <a:ext uri="{FF2B5EF4-FFF2-40B4-BE49-F238E27FC236}">
                <a16:creationId xmlns:a16="http://schemas.microsoft.com/office/drawing/2014/main" id="{7AF90D83-17F4-4E88-8C14-E90751BD5D07}"/>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Cada regla aporta una constante; no construimos un área de salida que haya que integrar.</a:t>
            </a:r>
          </a:p>
        </p:txBody>
      </p:sp>
      <p:sp>
        <p:nvSpPr>
          <p:cNvPr id="17" name="">
            <a:extLst xmlns:a="http://schemas.openxmlformats.org/drawingml/2006/main">
              <a:ext uri="{FF2B5EF4-FFF2-40B4-BE49-F238E27FC236}">
                <a16:creationId xmlns:a16="http://schemas.microsoft.com/office/drawing/2014/main" id="{E8E3B5FD-5EE0-4A6E-A6EA-E195FE3209B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D00B2F4-F270-44DC-8B2C-077F0F476FE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7950A0"/>
                </a:solidFill>
                <a:latin typeface="Arial"/>
                <a:ea typeface="Arial"/>
                <a:cs typeface="Arial"/>
              </a:defRPr>
            </a:pPr>
            <a:r>
              <a:rPr sz="1350" b="1">
                <a:solidFill>
                  <a:srgbClr val="7950A0"/>
                </a:solidFill>
                <a:latin typeface="Arial"/>
                <a:ea typeface="Arial"/>
                <a:cs typeface="Arial"/>
              </a:rPr>
              <a:t>03  REGLAS E INFERENCIA    /    Capítulo 5 · condiciones y consecuencias</a:t>
            </a:r>
          </a:p>
        </p:txBody>
      </p:sp>
    </p:spTree>
    <p:extLst>
      <p:ext uri="{BB962C8B-B14F-4D97-AF65-F5344CB8AC3E}">
        <p14:creationId xmlns:p14="http://schemas.microsoft.com/office/powerpoint/2010/main" val="172189652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Modelar un comportamiento con reglas</a:t>
            </a:r>
          </a:p>
        </p:txBody>
      </p:sp>
      <p:sp>
        <p:nvSpPr>
          <p:cNvPr id="9" name="">
            <a:extLst xmlns:a="http://schemas.openxmlformats.org/drawingml/2006/main">
              <a:ext uri="{FF2B5EF4-FFF2-40B4-BE49-F238E27FC236}">
                <a16:creationId xmlns:a16="http://schemas.microsoft.com/office/drawing/2014/main" id="{01766AC9-BE78-4286-9391-3BC425FC550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79F19DB-78D5-4FF8-8922-F89CA5A1E75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04  MODELADO Y SIMULACIÓN    /    Capítulo 8 · aproximar comportamientos</a:t>
            </a:r>
          </a:p>
        </p:txBody>
      </p:sp>
      <p:sp>
        <p:nvSpPr>
          <p:cNvPr id="11" name="">
            <a:extLst xmlns:a="http://schemas.openxmlformats.org/drawingml/2006/main">
              <a:ext uri="{FF2B5EF4-FFF2-40B4-BE49-F238E27FC236}">
                <a16:creationId xmlns:a16="http://schemas.microsoft.com/office/drawing/2014/main" id="{D6D70A3F-3E0C-4607-B432-C327C5513166}"/>
              </a:ext>
            </a:extLst>
          </p:cNvPr>
          <p:cNvSpPr>
            <a:spLocks xmlns:a="http://schemas.openxmlformats.org/drawingml/2006/main" noGrp="1"/>
          </p:cNvSpPr>
          <p:nvPr/>
        </p:nvSpPr>
        <p:spPr>
          <a:xfrm xmlns:a="http://schemas.openxmlformats.org/drawingml/2006/main">
            <a:off x="762000" y="16764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2162A0"/>
                </a:solidFill>
                <a:latin typeface="Arial"/>
                <a:ea typeface="Arial"/>
                <a:cs typeface="Arial"/>
              </a:defRPr>
            </a:pPr>
            <a:r>
              <a:rPr sz="2250" b="1">
                <a:solidFill>
                  <a:srgbClr val="2162A0"/>
                </a:solidFill>
                <a:latin typeface="Arial"/>
                <a:ea typeface="Arial"/>
                <a:cs typeface="Arial"/>
              </a:rPr>
              <a:t>El capítulo 8 construye una aproximación</a:t>
            </a:r>
          </a:p>
        </p:txBody>
      </p:sp>
      <p:sp>
        <p:nvSpPr>
          <p:cNvPr id="12" name="">
            <a:extLst xmlns:a="http://schemas.openxmlformats.org/drawingml/2006/main">
              <a:ext uri="{FF2B5EF4-FFF2-40B4-BE49-F238E27FC236}">
                <a16:creationId xmlns:a16="http://schemas.microsoft.com/office/drawing/2014/main" id="{EC051C36-936D-4705-8985-9AF356B5EAEB}"/>
              </a:ext>
            </a:extLst>
          </p:cNvPr>
          <p:cNvSpPr>
            <a:spLocks xmlns:a="http://schemas.openxmlformats.org/drawingml/2006/main" noGrp="1"/>
          </p:cNvSpPr>
          <p:nvPr/>
        </p:nvSpPr>
        <p:spPr>
          <a:xfrm xmlns:a="http://schemas.openxmlformats.org/drawingml/2006/main">
            <a:off x="762000" y="21145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Observaciones y conocimiento experto relacionan entradas con salidas.</a:t>
            </a:r>
          </a:p>
        </p:txBody>
      </p:sp>
      <p:sp>
        <p:nvSpPr>
          <p:cNvPr id="13" name="">
            <a:extLst xmlns:a="http://schemas.openxmlformats.org/drawingml/2006/main">
              <a:ext uri="{FF2B5EF4-FFF2-40B4-BE49-F238E27FC236}">
                <a16:creationId xmlns:a16="http://schemas.microsoft.com/office/drawing/2014/main" id="{B2A238E0-0248-4F1B-9EDD-7239E79E5049}"/>
              </a:ext>
            </a:extLst>
          </p:cNvPr>
          <p:cNvSpPr>
            <a:spLocks xmlns:a="http://schemas.openxmlformats.org/drawingml/2006/main" noGrp="1"/>
          </p:cNvSpPr>
          <p:nvPr/>
        </p:nvSpPr>
        <p:spPr>
          <a:xfrm xmlns:a="http://schemas.openxmlformats.org/drawingml/2006/main">
            <a:off x="762000" y="29337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2162A0"/>
                </a:solidFill>
                <a:latin typeface="Arial"/>
                <a:ea typeface="Arial"/>
                <a:cs typeface="Arial"/>
              </a:defRPr>
            </a:pPr>
            <a:r>
              <a:rPr sz="2250" b="1">
                <a:solidFill>
                  <a:srgbClr val="2162A0"/>
                </a:solidFill>
                <a:latin typeface="Arial"/>
                <a:ea typeface="Arial"/>
                <a:cs typeface="Arial"/>
              </a:rPr>
              <a:t>Una regla describe una zona del comportamiento</a:t>
            </a:r>
          </a:p>
        </p:txBody>
      </p:sp>
      <p:sp>
        <p:nvSpPr>
          <p:cNvPr id="14" name="">
            <a:extLst xmlns:a="http://schemas.openxmlformats.org/drawingml/2006/main">
              <a:ext uri="{FF2B5EF4-FFF2-40B4-BE49-F238E27FC236}">
                <a16:creationId xmlns:a16="http://schemas.microsoft.com/office/drawing/2014/main" id="{BD96A404-0BFE-4C2C-9059-B52D69106727}"/>
              </a:ext>
            </a:extLst>
          </p:cNvPr>
          <p:cNvSpPr>
            <a:spLocks xmlns:a="http://schemas.openxmlformats.org/drawingml/2006/main" noGrp="1"/>
          </p:cNvSpPr>
          <p:nvPr/>
        </p:nvSpPr>
        <p:spPr>
          <a:xfrm xmlns:a="http://schemas.openxmlformats.org/drawingml/2006/main">
            <a:off x="762000" y="3371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SI el calor aportado es Alto, ENTONCES la presión es Muy alta.</a:t>
            </a:r>
          </a:p>
        </p:txBody>
      </p:sp>
      <p:sp>
        <p:nvSpPr>
          <p:cNvPr id="15" name="">
            <a:extLst xmlns:a="http://schemas.openxmlformats.org/drawingml/2006/main">
              <a:ext uri="{FF2B5EF4-FFF2-40B4-BE49-F238E27FC236}">
                <a16:creationId xmlns:a16="http://schemas.microsoft.com/office/drawing/2014/main" id="{9D80F25E-4E43-481B-B003-2F23C2D7A004}"/>
              </a:ext>
            </a:extLst>
          </p:cNvPr>
          <p:cNvSpPr>
            <a:spLocks xmlns:a="http://schemas.openxmlformats.org/drawingml/2006/main" noGrp="1"/>
          </p:cNvSpPr>
          <p:nvPr/>
        </p:nvSpPr>
        <p:spPr>
          <a:xfrm xmlns:a="http://schemas.openxmlformats.org/drawingml/2006/main">
            <a:off x="762000" y="41910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2162A0"/>
                </a:solidFill>
                <a:latin typeface="Arial"/>
                <a:ea typeface="Arial"/>
                <a:cs typeface="Arial"/>
              </a:defRPr>
            </a:pPr>
            <a:r>
              <a:rPr sz="2250" b="1">
                <a:solidFill>
                  <a:srgbClr val="2162A0"/>
                </a:solidFill>
                <a:latin typeface="Arial"/>
                <a:ea typeface="Arial"/>
                <a:cs typeface="Arial"/>
              </a:rPr>
              <a:t>El solape permite interpolar</a:t>
            </a:r>
          </a:p>
        </p:txBody>
      </p:sp>
      <p:sp>
        <p:nvSpPr>
          <p:cNvPr id="16" name="">
            <a:extLst xmlns:a="http://schemas.openxmlformats.org/drawingml/2006/main">
              <a:ext uri="{FF2B5EF4-FFF2-40B4-BE49-F238E27FC236}">
                <a16:creationId xmlns:a16="http://schemas.microsoft.com/office/drawing/2014/main" id="{2AC07D2B-70D2-421D-92D9-A987A8792CB4}"/>
              </a:ext>
            </a:extLst>
          </p:cNvPr>
          <p:cNvSpPr>
            <a:spLocks xmlns:a="http://schemas.openxmlformats.org/drawingml/2006/main" noGrp="1"/>
          </p:cNvSpPr>
          <p:nvPr/>
        </p:nvSpPr>
        <p:spPr>
          <a:xfrm xmlns:a="http://schemas.openxmlformats.org/drawingml/2006/main">
            <a:off x="762000" y="46291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Entre situaciones conocidas, varias reglas contribuyen a la respuesta.</a:t>
            </a:r>
          </a:p>
        </p:txBody>
      </p:sp>
      <p:sp>
        <p:nvSpPr>
          <p:cNvPr id="17" name="">
            <a:extLst xmlns:a="http://schemas.openxmlformats.org/drawingml/2006/main">
              <a:ext uri="{FF2B5EF4-FFF2-40B4-BE49-F238E27FC236}">
                <a16:creationId xmlns:a16="http://schemas.microsoft.com/office/drawing/2014/main" id="{2C638C2F-0D4B-469F-A9A6-E08EA58274AC}"/>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Las reglas pueden describir cómo se comporta un proceso o qué acción conviene aplicar.</a:t>
            </a:r>
          </a:p>
        </p:txBody>
      </p:sp>
    </p:spTree>
    <p:extLst>
      <p:ext uri="{BB962C8B-B14F-4D97-AF65-F5344CB8AC3E}">
        <p14:creationId xmlns:p14="http://schemas.microsoft.com/office/powerpoint/2010/main" val="1721896526"/>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Tabla FAM: una forma compacta de escribir reglas</a:t>
            </a:r>
          </a:p>
        </p:txBody>
      </p:sp>
      <p:sp>
        <p:nvSpPr>
          <p:cNvPr id="9" name="">
            <a:extLst xmlns:a="http://schemas.openxmlformats.org/drawingml/2006/main">
              <a:ext uri="{FF2B5EF4-FFF2-40B4-BE49-F238E27FC236}">
                <a16:creationId xmlns:a16="http://schemas.microsoft.com/office/drawing/2014/main" id="{03334155-C981-4E01-82DE-D389DF686CA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4B7EACA-3261-4DF9-8073-BCDADA63644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04  MODELADO Y SIMULACIÓN    /    Capítulo 8 · aproximar comportamientos</a:t>
            </a:r>
          </a:p>
        </p:txBody>
      </p:sp>
      <p:sp>
        <p:nvSpPr>
          <p:cNvPr id="11" name="">
            <a:extLst xmlns:a="http://schemas.openxmlformats.org/drawingml/2006/main">
              <a:ext uri="{FF2B5EF4-FFF2-40B4-BE49-F238E27FC236}">
                <a16:creationId xmlns:a16="http://schemas.microsoft.com/office/drawing/2014/main" id="{44FBCACF-CB7B-4980-9C69-0F963F58529C}"/>
              </a:ext>
            </a:extLst>
          </p:cNvPr>
          <p:cNvSpPr>
            <a:spLocks xmlns:a="http://schemas.openxmlformats.org/drawingml/2006/main" noGrp="1"/>
          </p:cNvSpPr>
          <p:nvPr/>
        </p:nvSpPr>
        <p:spPr>
          <a:xfrm xmlns:a="http://schemas.openxmlformats.org/drawingml/2006/main">
            <a:off x="762000" y="16287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0">
                <a:solidFill>
                  <a:srgbClr val="233746"/>
                </a:solidFill>
                <a:latin typeface="Arial"/>
                <a:ea typeface="Arial"/>
                <a:cs typeface="Arial"/>
              </a:defRPr>
            </a:pPr>
            <a:r>
              <a:rPr sz="2250" b="0">
                <a:solidFill>
                  <a:srgbClr val="233746"/>
                </a:solidFill>
                <a:latin typeface="Arial"/>
                <a:ea typeface="Arial"/>
                <a:cs typeface="Arial"/>
              </a:rPr>
              <a:t>Dos entradas con tres etiquetas generan 3 × 3 = 9 combinaciones.</a:t>
            </a:r>
          </a:p>
        </p:txBody>
      </p:sp>
      <p:graphicFrame>
        <p:nvGraphicFramePr>
          <p:cNvPr id="24" name=""/>
          <p:cNvGraphicFramePr/>
          <p:nvPr/>
        </p:nvGraphicFramePr>
        <p:xfrm>
          <a:off xmlns:a="http://schemas.openxmlformats.org/drawingml/2006/main" x="762000" y="2400300"/>
          <a:ext xmlns:a="http://schemas.openxmlformats.org/drawingml/2006/main" cx="10668000" cy="2524125"/>
        </p:xfrm>
        <a:graphic xmlns:a="http://schemas.openxmlformats.org/drawingml/2006/main">
          <a:graphicData uri="http://schemas.openxmlformats.org/drawingml/2006/table">
            <a:tbl>
              <a:tblPr/>
              <a:tblGrid>
                <a:gridCol w="2952750"/>
                <a:gridCol w="2571750"/>
                <a:gridCol w="2571750"/>
                <a:gridCol w="2571750"/>
              </a:tblGrid>
              <a:tr h="631031">
                <a:tc>
                  <a:txBody>
                    <a:bodyPr lIns="85725" tIns="76200" rIns="85725" bIns="76200"/>
                    <a:lstStyle/>
                    <a:p>
                      <a:pPr algn="ctr"/>
                      <a:r>
                        <a:rPr sz="2025" b="1">
                          <a:solidFill>
                            <a:srgbClr val="233746"/>
                          </a:solidFill>
                          <a:latin typeface="Arial"/>
                          <a:ea typeface="Arial"/>
                          <a:cs typeface="Arial"/>
                        </a:rPr>
                        <a:t>Error / Tendencia</a:t>
                      </a:r>
                    </a:p>
                  </a:txBody>
                  <a:tcPr marL="91440" marR="91440" marT="45720" marB="45720" anchor="ctr">
                    <a:solidFill>
                      <a:srgbClr val="E7EFF5"/>
                    </a:solidFill>
                  </a:tcPr>
                </a:tc>
                <a:tc>
                  <a:txBody>
                    <a:bodyPr lIns="85725" tIns="76200" rIns="85725" bIns="76200"/>
                    <a:lstStyle/>
                    <a:p>
                      <a:pPr algn="ctr"/>
                      <a:r>
                        <a:rPr sz="2025" b="1">
                          <a:solidFill>
                            <a:srgbClr val="233746"/>
                          </a:solidFill>
                          <a:latin typeface="Arial"/>
                          <a:ea typeface="Arial"/>
                          <a:cs typeface="Arial"/>
                        </a:rPr>
                        <a:t>Disminuye</a:t>
                      </a:r>
                    </a:p>
                  </a:txBody>
                  <a:tcPr marL="91440" marR="91440" marT="45720" marB="45720" anchor="ctr">
                    <a:solidFill>
                      <a:srgbClr val="E7EFF5"/>
                    </a:solidFill>
                  </a:tcPr>
                </a:tc>
                <a:tc>
                  <a:txBody>
                    <a:bodyPr lIns="85725" tIns="76200" rIns="85725" bIns="76200"/>
                    <a:lstStyle/>
                    <a:p>
                      <a:pPr algn="ctr"/>
                      <a:r>
                        <a:rPr sz="2025" b="1">
                          <a:solidFill>
                            <a:srgbClr val="233746"/>
                          </a:solidFill>
                          <a:latin typeface="Arial"/>
                          <a:ea typeface="Arial"/>
                          <a:cs typeface="Arial"/>
                        </a:rPr>
                        <a:t>Estable</a:t>
                      </a:r>
                    </a:p>
                  </a:txBody>
                  <a:tcPr marL="91440" marR="91440" marT="45720" marB="45720" anchor="ctr">
                    <a:solidFill>
                      <a:srgbClr val="E7EFF5"/>
                    </a:solidFill>
                  </a:tcPr>
                </a:tc>
                <a:tc>
                  <a:txBody>
                    <a:bodyPr lIns="85725" tIns="76200" rIns="85725" bIns="76200"/>
                    <a:lstStyle/>
                    <a:p>
                      <a:pPr algn="ctr"/>
                      <a:r>
                        <a:rPr sz="2025" b="1">
                          <a:solidFill>
                            <a:srgbClr val="233746"/>
                          </a:solidFill>
                          <a:latin typeface="Arial"/>
                          <a:ea typeface="Arial"/>
                          <a:cs typeface="Arial"/>
                        </a:rPr>
                        <a:t>Crece</a:t>
                      </a:r>
                    </a:p>
                  </a:txBody>
                  <a:tcPr marL="91440" marR="91440" marT="45720" marB="45720" anchor="ctr">
                    <a:solidFill>
                      <a:srgbClr val="E7EFF5"/>
                    </a:solidFill>
                  </a:tcPr>
                </a:tc>
              </a:tr>
              <a:tr h="631031">
                <a:tc>
                  <a:txBody>
                    <a:bodyPr lIns="85725" tIns="76200" rIns="85725" bIns="76200"/>
                    <a:lstStyle/>
                    <a:p>
                      <a:pPr algn="ctr"/>
                      <a:r>
                        <a:rPr sz="2025" b="0">
                          <a:solidFill>
                            <a:srgbClr val="233746"/>
                          </a:solidFill>
                          <a:latin typeface="Arial"/>
                          <a:ea typeface="Arial"/>
                          <a:cs typeface="Arial"/>
                        </a:rPr>
                        <a:t>Negativo</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Muy baja</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Muy baja</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Baja</a:t>
                      </a:r>
                    </a:p>
                  </a:txBody>
                  <a:tcPr marL="91440" marR="91440" marT="45720" marB="45720" anchor="ctr">
                    <a:solidFill>
                      <a:srgbClr val="FFFFFF"/>
                    </a:solidFill>
                  </a:tcPr>
                </a:tc>
              </a:tr>
              <a:tr h="631031">
                <a:tc>
                  <a:txBody>
                    <a:bodyPr lIns="85725" tIns="76200" rIns="85725" bIns="76200"/>
                    <a:lstStyle/>
                    <a:p>
                      <a:pPr algn="ctr"/>
                      <a:r>
                        <a:rPr sz="2025" b="0">
                          <a:solidFill>
                            <a:srgbClr val="233746"/>
                          </a:solidFill>
                          <a:latin typeface="Arial"/>
                          <a:ea typeface="Arial"/>
                          <a:cs typeface="Arial"/>
                        </a:rPr>
                        <a:t>Cero</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Muy baja</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Baja</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Media</a:t>
                      </a:r>
                    </a:p>
                  </a:txBody>
                  <a:tcPr marL="91440" marR="91440" marT="45720" marB="45720" anchor="ctr">
                    <a:solidFill>
                      <a:srgbClr val="F4F7F9"/>
                    </a:solidFill>
                  </a:tcPr>
                </a:tc>
              </a:tr>
              <a:tr h="631031">
                <a:tc>
                  <a:txBody>
                    <a:bodyPr lIns="85725" tIns="76200" rIns="85725" bIns="76200"/>
                    <a:lstStyle/>
                    <a:p>
                      <a:pPr algn="ctr"/>
                      <a:r>
                        <a:rPr sz="2025" b="0">
                          <a:solidFill>
                            <a:srgbClr val="233746"/>
                          </a:solidFill>
                          <a:latin typeface="Arial"/>
                          <a:ea typeface="Arial"/>
                          <a:cs typeface="Arial"/>
                        </a:rPr>
                        <a:t>Positivo</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Baja</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Media</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Alta</a:t>
                      </a:r>
                    </a:p>
                  </a:txBody>
                  <a:tcPr marL="91440" marR="91440" marT="45720" marB="45720" anchor="ctr">
                    <a:solidFill>
                      <a:srgbClr val="FFFFFF"/>
                    </a:solidFill>
                  </a:tcPr>
                </a:tc>
              </a:tr>
            </a:tbl>
          </a:graphicData>
        </a:graphic>
      </p:graphicFrame>
      <p:sp>
        <p:nvSpPr>
          <p:cNvPr id="13" name="">
            <a:extLst xmlns:a="http://schemas.openxmlformats.org/drawingml/2006/main">
              <a:ext uri="{FF2B5EF4-FFF2-40B4-BE49-F238E27FC236}">
                <a16:creationId xmlns:a16="http://schemas.microsoft.com/office/drawing/2014/main" id="{39C3B267-1C02-4447-A1ED-D4E93F160D9D}"/>
              </a:ext>
            </a:extLst>
          </p:cNvPr>
          <p:cNvSpPr>
            <a:spLocks xmlns:a="http://schemas.openxmlformats.org/drawingml/2006/main" noGrp="1"/>
          </p:cNvSpPr>
          <p:nvPr/>
        </p:nvSpPr>
        <p:spPr>
          <a:xfrm xmlns:a="http://schemas.openxmlformats.org/drawingml/2006/main">
            <a:off x="762000" y="5238750"/>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Una celda: SI error es Positivo Y tendencia es Crece, ENTONCES potencia Alta.</a:t>
            </a:r>
          </a:p>
        </p:txBody>
      </p:sp>
      <p:sp>
        <p:nvSpPr>
          <p:cNvPr id="14" name="">
            <a:extLst xmlns:a="http://schemas.openxmlformats.org/drawingml/2006/main">
              <a:ext uri="{FF2B5EF4-FFF2-40B4-BE49-F238E27FC236}">
                <a16:creationId xmlns:a16="http://schemas.microsoft.com/office/drawing/2014/main" id="{7007C28B-BA5A-4AD2-9361-53056E927808}"/>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La tabla resume reglas. Las pertenencias y la inferencia convierten esa tabla en números.</a:t>
            </a:r>
          </a:p>
        </p:txBody>
      </p:sp>
    </p:spTree>
    <p:extLst>
      <p:ext uri="{BB962C8B-B14F-4D97-AF65-F5344CB8AC3E}">
        <p14:creationId xmlns:p14="http://schemas.microsoft.com/office/powerpoint/2010/main" val="172189652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Simular el proceso y decidir la acción</a:t>
            </a:r>
          </a:p>
        </p:txBody>
      </p:sp>
      <p:sp>
        <p:nvSpPr>
          <p:cNvPr id="9" name="">
            <a:extLst xmlns:a="http://schemas.openxmlformats.org/drawingml/2006/main">
              <a:ext uri="{FF2B5EF4-FFF2-40B4-BE49-F238E27FC236}">
                <a16:creationId xmlns:a16="http://schemas.microsoft.com/office/drawing/2014/main" id="{4AC4D82F-2F34-4FDD-ADD7-F19493B60CA9}"/>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E27840C-9E1B-4D0D-892C-343FB4B9450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2162A0"/>
                </a:solidFill>
                <a:latin typeface="Arial"/>
                <a:ea typeface="Arial"/>
                <a:cs typeface="Arial"/>
              </a:defRPr>
            </a:pPr>
            <a:r>
              <a:rPr sz="1350" b="1">
                <a:solidFill>
                  <a:srgbClr val="2162A0"/>
                </a:solidFill>
                <a:latin typeface="Arial"/>
                <a:ea typeface="Arial"/>
                <a:cs typeface="Arial"/>
              </a:rPr>
              <a:t>04  MODELADO Y SIMULACIÓN    /    Capítulo 8 · aproximar comportamientos</a:t>
            </a:r>
          </a:p>
        </p:txBody>
      </p:sp>
      <p:graphicFrame>
        <p:nvGraphicFramePr>
          <p:cNvPr id="23" name=""/>
          <p:cNvGraphicFramePr/>
          <p:nvPr/>
        </p:nvGraphicFramePr>
        <p:xfrm>
          <a:off xmlns:a="http://schemas.openxmlformats.org/drawingml/2006/main" x="762000" y="2076450"/>
          <a:ext xmlns:a="http://schemas.openxmlformats.org/drawingml/2006/main" cx="10668000" cy="2286000"/>
        </p:xfrm>
        <a:graphic xmlns:a="http://schemas.openxmlformats.org/drawingml/2006/main">
          <a:graphicData uri="http://schemas.openxmlformats.org/drawingml/2006/table">
            <a:tbl>
              <a:tblPr/>
              <a:tblGrid>
                <a:gridCol w="2857500"/>
                <a:gridCol w="4476750"/>
                <a:gridCol w="3333750"/>
              </a:tblGrid>
              <a:tr h="762000">
                <a:tc>
                  <a:txBody>
                    <a:bodyPr lIns="85725" tIns="76200" rIns="85725" bIns="76200"/>
                    <a:lstStyle/>
                    <a:p>
                      <a:pPr algn="ctr"/>
                      <a:r>
                        <a:rPr sz="2100" b="1">
                          <a:solidFill>
                            <a:srgbClr val="233746"/>
                          </a:solidFill>
                          <a:latin typeface="Arial"/>
                          <a:ea typeface="Arial"/>
                          <a:cs typeface="Arial"/>
                        </a:rPr>
                        <a:t>Bloque</a:t>
                      </a:r>
                    </a:p>
                  </a:txBody>
                  <a:tcPr marL="91440" marR="91440" marT="45720" marB="45720" anchor="ctr">
                    <a:solidFill>
                      <a:srgbClr val="E7EFF5"/>
                    </a:solidFill>
                  </a:tcPr>
                </a:tc>
                <a:tc>
                  <a:txBody>
                    <a:bodyPr lIns="85725" tIns="76200" rIns="85725" bIns="76200"/>
                    <a:lstStyle/>
                    <a:p>
                      <a:pPr algn="ctr"/>
                      <a:r>
                        <a:rPr sz="2100" b="1">
                          <a:solidFill>
                            <a:srgbClr val="233746"/>
                          </a:solidFill>
                          <a:latin typeface="Arial"/>
                          <a:ea typeface="Arial"/>
                          <a:cs typeface="Arial"/>
                        </a:rPr>
                        <a:t>Pregunta</a:t>
                      </a:r>
                    </a:p>
                  </a:txBody>
                  <a:tcPr marL="91440" marR="91440" marT="45720" marB="45720" anchor="ctr">
                    <a:solidFill>
                      <a:srgbClr val="E7EFF5"/>
                    </a:solidFill>
                  </a:tcPr>
                </a:tc>
                <a:tc>
                  <a:txBody>
                    <a:bodyPr lIns="85725" tIns="76200" rIns="85725" bIns="76200"/>
                    <a:lstStyle/>
                    <a:p>
                      <a:pPr algn="ctr"/>
                      <a:r>
                        <a:rPr sz="2100" b="1">
                          <a:solidFill>
                            <a:srgbClr val="233746"/>
                          </a:solidFill>
                          <a:latin typeface="Arial"/>
                          <a:ea typeface="Arial"/>
                          <a:cs typeface="Arial"/>
                        </a:rPr>
                        <a:t>Resultado</a:t>
                      </a:r>
                    </a:p>
                  </a:txBody>
                  <a:tcPr marL="91440" marR="91440" marT="45720" marB="45720" anchor="ctr">
                    <a:solidFill>
                      <a:srgbClr val="E7EFF5"/>
                    </a:solidFill>
                  </a:tcPr>
                </a:tc>
              </a:tr>
              <a:tr h="762000">
                <a:tc>
                  <a:txBody>
                    <a:bodyPr lIns="85725" tIns="76200" rIns="85725" bIns="76200"/>
                    <a:lstStyle/>
                    <a:p>
                      <a:pPr algn="ctr"/>
                      <a:r>
                        <a:rPr sz="2100" b="0">
                          <a:solidFill>
                            <a:srgbClr val="233746"/>
                          </a:solidFill>
                          <a:latin typeface="Arial"/>
                          <a:ea typeface="Arial"/>
                          <a:cs typeface="Arial"/>
                        </a:rPr>
                        <a:t>Modelo del proceso</a:t>
                      </a:r>
                    </a:p>
                  </a:txBody>
                  <a:tcPr marL="91440" marR="91440" marT="45720" marB="45720" anchor="ctr">
                    <a:solidFill>
                      <a:srgbClr val="FFFFFF"/>
                    </a:solidFill>
                  </a:tcPr>
                </a:tc>
                <a:tc>
                  <a:txBody>
                    <a:bodyPr lIns="85725" tIns="76200" rIns="85725" bIns="76200"/>
                    <a:lstStyle/>
                    <a:p>
                      <a:pPr algn="ctr"/>
                      <a:r>
                        <a:rPr sz="2100" b="0">
                          <a:solidFill>
                            <a:srgbClr val="233746"/>
                          </a:solidFill>
                          <a:latin typeface="Arial"/>
                          <a:ea typeface="Arial"/>
                          <a:cs typeface="Arial"/>
                        </a:rPr>
                        <a:t>¿Qué ocurrirá al aplicar u?</a:t>
                      </a:r>
                    </a:p>
                  </a:txBody>
                  <a:tcPr marL="91440" marR="91440" marT="45720" marB="45720" anchor="ctr">
                    <a:solidFill>
                      <a:srgbClr val="FFFFFF"/>
                    </a:solidFill>
                  </a:tcPr>
                </a:tc>
                <a:tc>
                  <a:txBody>
                    <a:bodyPr lIns="85725" tIns="76200" rIns="85725" bIns="76200"/>
                    <a:lstStyle/>
                    <a:p>
                      <a:pPr algn="ctr"/>
                      <a:r>
                        <a:rPr sz="2100" b="0">
                          <a:solidFill>
                            <a:srgbClr val="233746"/>
                          </a:solidFill>
                          <a:latin typeface="Arial"/>
                          <a:ea typeface="Arial"/>
                          <a:cs typeface="Arial"/>
                        </a:rPr>
                        <a:t>Estado o medida siguiente</a:t>
                      </a:r>
                    </a:p>
                  </a:txBody>
                  <a:tcPr marL="91440" marR="91440" marT="45720" marB="45720" anchor="ctr">
                    <a:solidFill>
                      <a:srgbClr val="FFFFFF"/>
                    </a:solidFill>
                  </a:tcPr>
                </a:tc>
              </a:tr>
              <a:tr h="762000">
                <a:tc>
                  <a:txBody>
                    <a:bodyPr lIns="85725" tIns="76200" rIns="85725" bIns="76200"/>
                    <a:lstStyle/>
                    <a:p>
                      <a:pPr algn="ctr"/>
                      <a:r>
                        <a:rPr sz="2100" b="0">
                          <a:solidFill>
                            <a:srgbClr val="233746"/>
                          </a:solidFill>
                          <a:latin typeface="Arial"/>
                          <a:ea typeface="Arial"/>
                          <a:cs typeface="Arial"/>
                        </a:rPr>
                        <a:t>Controlador</a:t>
                      </a:r>
                    </a:p>
                  </a:txBody>
                  <a:tcPr marL="91440" marR="91440" marT="45720" marB="45720" anchor="ctr">
                    <a:solidFill>
                      <a:srgbClr val="F4F7F9"/>
                    </a:solidFill>
                  </a:tcPr>
                </a:tc>
                <a:tc>
                  <a:txBody>
                    <a:bodyPr lIns="85725" tIns="76200" rIns="85725" bIns="76200"/>
                    <a:lstStyle/>
                    <a:p>
                      <a:pPr algn="ctr"/>
                      <a:r>
                        <a:rPr sz="2100" b="0">
                          <a:solidFill>
                            <a:srgbClr val="233746"/>
                          </a:solidFill>
                          <a:latin typeface="Arial"/>
                          <a:ea typeface="Arial"/>
                          <a:cs typeface="Arial"/>
                        </a:rPr>
                        <a:t>¿Qué u conviene aplicar ahora?</a:t>
                      </a:r>
                    </a:p>
                  </a:txBody>
                  <a:tcPr marL="91440" marR="91440" marT="45720" marB="45720" anchor="ctr">
                    <a:solidFill>
                      <a:srgbClr val="F4F7F9"/>
                    </a:solidFill>
                  </a:tcPr>
                </a:tc>
                <a:tc>
                  <a:txBody>
                    <a:bodyPr lIns="85725" tIns="76200" rIns="85725" bIns="76200"/>
                    <a:lstStyle/>
                    <a:p>
                      <a:pPr algn="ctr"/>
                      <a:r>
                        <a:rPr sz="2100" b="0">
                          <a:solidFill>
                            <a:srgbClr val="233746"/>
                          </a:solidFill>
                          <a:latin typeface="Arial"/>
                          <a:ea typeface="Arial"/>
                          <a:cs typeface="Arial"/>
                        </a:rPr>
                        <a:t>Acción de control</a:t>
                      </a:r>
                    </a:p>
                  </a:txBody>
                  <a:tcPr marL="91440" marR="91440" marT="45720" marB="45720" anchor="ctr">
                    <a:solidFill>
                      <a:srgbClr val="F4F7F9"/>
                    </a:solidFill>
                  </a:tcPr>
                </a:tc>
              </a:tr>
            </a:tbl>
          </a:graphicData>
        </a:graphic>
      </p:graphicFrame>
      <p:sp>
        <p:nvSpPr>
          <p:cNvPr id="12" name="">
            <a:extLst xmlns:a="http://schemas.openxmlformats.org/drawingml/2006/main">
              <a:ext uri="{FF2B5EF4-FFF2-40B4-BE49-F238E27FC236}">
                <a16:creationId xmlns:a16="http://schemas.microsoft.com/office/drawing/2014/main" id="{6CE1FD5A-9C17-4113-BFF9-D7531F1C1297}"/>
              </a:ext>
            </a:extLst>
          </p:cNvPr>
          <p:cNvSpPr>
            <a:spLocks xmlns:a="http://schemas.openxmlformats.org/drawingml/2006/main" noGrp="1"/>
          </p:cNvSpPr>
          <p:nvPr/>
        </p:nvSpPr>
        <p:spPr>
          <a:xfrm xmlns:a="http://schemas.openxmlformats.org/drawingml/2006/main">
            <a:off x="762000" y="47529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325" b="1">
                <a:solidFill>
                  <a:srgbClr val="2162A0"/>
                </a:solidFill>
                <a:latin typeface="Arial"/>
                <a:ea typeface="Arial"/>
                <a:cs typeface="Arial"/>
              </a:defRPr>
            </a:pPr>
            <a:r>
              <a:rPr sz="2325" b="1">
                <a:solidFill>
                  <a:srgbClr val="2162A0"/>
                </a:solidFill>
                <a:latin typeface="Arial"/>
                <a:ea typeface="Arial"/>
                <a:cs typeface="Arial"/>
              </a:rPr>
              <a:t>Modelo dinámico: T(k + 1) = F(T(k), u(k), ambiente, Δt)</a:t>
            </a:r>
          </a:p>
        </p:txBody>
      </p:sp>
      <p:sp>
        <p:nvSpPr>
          <p:cNvPr id="13" name="">
            <a:extLst xmlns:a="http://schemas.openxmlformats.org/drawingml/2006/main">
              <a:ext uri="{FF2B5EF4-FFF2-40B4-BE49-F238E27FC236}">
                <a16:creationId xmlns:a16="http://schemas.microsoft.com/office/drawing/2014/main" id="{422CB239-C005-4D57-8AD6-6E3F61D38818}"/>
              </a:ext>
            </a:extLst>
          </p:cNvPr>
          <p:cNvSpPr>
            <a:spLocks xmlns:a="http://schemas.openxmlformats.org/drawingml/2006/main" noGrp="1"/>
          </p:cNvSpPr>
          <p:nvPr/>
        </p:nvSpPr>
        <p:spPr>
          <a:xfrm xmlns:a="http://schemas.openxmlformats.org/drawingml/2006/main">
            <a:off x="762000" y="53721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325" b="1">
                <a:solidFill>
                  <a:srgbClr val="7950A0"/>
                </a:solidFill>
                <a:latin typeface="Arial"/>
                <a:ea typeface="Arial"/>
                <a:cs typeface="Arial"/>
              </a:defRPr>
            </a:pPr>
            <a:r>
              <a:rPr sz="2325" b="1">
                <a:solidFill>
                  <a:srgbClr val="7950A0"/>
                </a:solidFill>
                <a:latin typeface="Arial"/>
                <a:ea typeface="Arial"/>
                <a:cs typeface="Arial"/>
              </a:rPr>
              <a:t>Controlador: u(k) = h(error(k), tendencia(k))</a:t>
            </a:r>
          </a:p>
        </p:txBody>
      </p:sp>
      <p:sp>
        <p:nvSpPr>
          <p:cNvPr id="14" name="">
            <a:extLst xmlns:a="http://schemas.openxmlformats.org/drawingml/2006/main">
              <a:ext uri="{FF2B5EF4-FFF2-40B4-BE49-F238E27FC236}">
                <a16:creationId xmlns:a16="http://schemas.microsoft.com/office/drawing/2014/main" id="{D1D97FBF-5DC1-4414-B434-606C759AB143}"/>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Para simular en el tiempo necesitamos un modelo que actualice el proceso después de cada acción.</a:t>
            </a:r>
          </a:p>
        </p:txBody>
      </p:sp>
    </p:spTree>
    <p:extLst>
      <p:ext uri="{BB962C8B-B14F-4D97-AF65-F5344CB8AC3E}">
        <p14:creationId xmlns:p14="http://schemas.microsoft.com/office/powerpoint/2010/main" val="172189652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Sistema de control: objetivo, acción y medida</a:t>
            </a:r>
          </a:p>
        </p:txBody>
      </p:sp>
      <p:sp>
        <p:nvSpPr>
          <p:cNvPr id="9" name="">
            <a:extLst xmlns:a="http://schemas.openxmlformats.org/drawingml/2006/main">
              <a:ext uri="{FF2B5EF4-FFF2-40B4-BE49-F238E27FC236}">
                <a16:creationId xmlns:a16="http://schemas.microsoft.com/office/drawing/2014/main" id="{636232EA-947C-4B28-AFFE-732D9CAC79B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1F5829F-3FF8-494B-8DA7-CC2789C1FAD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SISTEMAS DE CONTROL    /    Capítulo 13 · diseñar y comprobar</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2b26ae5ca2944a8f"/>
          <a:stretch xmlns:a="http://schemas.openxmlformats.org/drawingml/2006/main"/>
        </p:blipFill>
        <p:spPr>
          <a:xfrm xmlns:a="http://schemas.openxmlformats.org/drawingml/2006/main">
            <a:off x="2517571" y="1600200"/>
            <a:ext cx="7156858" cy="26003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2CBF3F2A-855E-4F7E-AB45-E3706FDA2F99}"/>
              </a:ext>
            </a:extLst>
          </p:cNvPr>
          <p:cNvSpPr>
            <a:spLocks xmlns:a="http://schemas.openxmlformats.org/drawingml/2006/main" noGrp="1"/>
          </p:cNvSpPr>
          <p:nvPr/>
        </p:nvSpPr>
        <p:spPr>
          <a:xfrm xmlns:a="http://schemas.openxmlformats.org/drawingml/2006/main">
            <a:off x="762000" y="442912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AD414C"/>
                </a:solidFill>
                <a:latin typeface="Arial"/>
                <a:ea typeface="Arial"/>
                <a:cs typeface="Arial"/>
              </a:defRPr>
            </a:pPr>
            <a:r>
              <a:rPr sz="2175" b="1">
                <a:solidFill>
                  <a:srgbClr val="AD414C"/>
                </a:solidFill>
                <a:latin typeface="Arial"/>
                <a:ea typeface="Arial"/>
                <a:cs typeface="Arial"/>
              </a:rPr>
              <a:t>r: consigna     y: medida     e = r − y     u: acción aplicada</a:t>
            </a:r>
          </a:p>
        </p:txBody>
      </p:sp>
      <p:sp>
        <p:nvSpPr>
          <p:cNvPr id="13" name="">
            <a:extLst xmlns:a="http://schemas.openxmlformats.org/drawingml/2006/main">
              <a:ext uri="{FF2B5EF4-FFF2-40B4-BE49-F238E27FC236}">
                <a16:creationId xmlns:a16="http://schemas.microsoft.com/office/drawing/2014/main" id="{2AE1F3F9-8F7E-49D3-927A-8094CA5D9ADD}"/>
              </a:ext>
            </a:extLst>
          </p:cNvPr>
          <p:cNvSpPr>
            <a:spLocks xmlns:a="http://schemas.openxmlformats.org/drawingml/2006/main" noGrp="1"/>
          </p:cNvSpPr>
          <p:nvPr/>
        </p:nvSpPr>
        <p:spPr>
          <a:xfrm xmlns:a="http://schemas.openxmlformats.org/drawingml/2006/main">
            <a:off x="762000" y="5076825"/>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Sin realimentación: aplicamos una acción prefijada.</a:t>
            </a:r>
          </a:p>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Con realimentación: medimos el resultado y corregimos la acción.</a:t>
            </a:r>
          </a:p>
        </p:txBody>
      </p:sp>
      <p:sp>
        <p:nvSpPr>
          <p:cNvPr id="14" name="">
            <a:extLst xmlns:a="http://schemas.openxmlformats.org/drawingml/2006/main">
              <a:ext uri="{FF2B5EF4-FFF2-40B4-BE49-F238E27FC236}">
                <a16:creationId xmlns:a16="http://schemas.microsoft.com/office/drawing/2014/main" id="{1EBDD852-AEA9-4717-A5B7-3D14B7C808B5}"/>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Planta = proceso físico. El sensor mide y el actuador aplica la orden del controlador.</a:t>
            </a:r>
          </a:p>
        </p:txBody>
      </p:sp>
    </p:spTree>
    <p:extLst>
      <p:ext uri="{BB962C8B-B14F-4D97-AF65-F5344CB8AC3E}">
        <p14:creationId xmlns:p14="http://schemas.microsoft.com/office/powerpoint/2010/main" val="1721896526"/>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Dos objetivos: seguir una consigna y rechazar perturbaciones</a:t>
            </a:r>
          </a:p>
        </p:txBody>
      </p:sp>
      <p:sp>
        <p:nvSpPr>
          <p:cNvPr id="9" name="">
            <a:extLst xmlns:a="http://schemas.openxmlformats.org/drawingml/2006/main">
              <a:ext uri="{FF2B5EF4-FFF2-40B4-BE49-F238E27FC236}">
                <a16:creationId xmlns:a16="http://schemas.microsoft.com/office/drawing/2014/main" id="{2BEE2D5C-D442-4700-B0CA-7A3C055A3FD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79B81A5-DB28-4C25-9A51-08C90D59EDD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SISTEMAS DE CONTROL    /    Capítulo 13 · diseñar y comprobar</a:t>
            </a:r>
          </a:p>
        </p:txBody>
      </p:sp>
      <p:graphicFrame>
        <p:nvGraphicFramePr>
          <p:cNvPr id="22" name=""/>
          <p:cNvGraphicFramePr/>
          <p:nvPr/>
        </p:nvGraphicFramePr>
        <p:xfrm>
          <a:off xmlns:a="http://schemas.openxmlformats.org/drawingml/2006/main" x="762000" y="2124075"/>
          <a:ext xmlns:a="http://schemas.openxmlformats.org/drawingml/2006/main" cx="10668000" cy="2495550"/>
        </p:xfrm>
        <a:graphic xmlns:a="http://schemas.openxmlformats.org/drawingml/2006/main">
          <a:graphicData uri="http://schemas.openxmlformats.org/drawingml/2006/table">
            <a:tbl>
              <a:tblPr/>
              <a:tblGrid>
                <a:gridCol w="3238500"/>
                <a:gridCol w="3619500"/>
                <a:gridCol w="3810000"/>
              </a:tblGrid>
              <a:tr h="831850">
                <a:tc>
                  <a:txBody>
                    <a:bodyPr lIns="85725" tIns="76200" rIns="85725" bIns="76200"/>
                    <a:lstStyle/>
                    <a:p>
                      <a:pPr algn="ctr"/>
                      <a:r>
                        <a:rPr sz="2025" b="1">
                          <a:solidFill>
                            <a:srgbClr val="233746"/>
                          </a:solidFill>
                          <a:latin typeface="Arial"/>
                          <a:ea typeface="Arial"/>
                          <a:cs typeface="Arial"/>
                        </a:rPr>
                        <a:t>Objetivo</a:t>
                      </a:r>
                    </a:p>
                  </a:txBody>
                  <a:tcPr marL="91440" marR="91440" marT="45720" marB="45720" anchor="ctr">
                    <a:solidFill>
                      <a:srgbClr val="E7EFF5"/>
                    </a:solidFill>
                  </a:tcPr>
                </a:tc>
                <a:tc>
                  <a:txBody>
                    <a:bodyPr lIns="85725" tIns="76200" rIns="85725" bIns="76200"/>
                    <a:lstStyle/>
                    <a:p>
                      <a:pPr algn="ctr"/>
                      <a:r>
                        <a:rPr sz="2025" b="1">
                          <a:solidFill>
                            <a:srgbClr val="233746"/>
                          </a:solidFill>
                          <a:latin typeface="Arial"/>
                          <a:ea typeface="Arial"/>
                          <a:cs typeface="Arial"/>
                        </a:rPr>
                        <a:t>Qué cambia</a:t>
                      </a:r>
                    </a:p>
                  </a:txBody>
                  <a:tcPr marL="91440" marR="91440" marT="45720" marB="45720" anchor="ctr">
                    <a:solidFill>
                      <a:srgbClr val="E7EFF5"/>
                    </a:solidFill>
                  </a:tcPr>
                </a:tc>
                <a:tc>
                  <a:txBody>
                    <a:bodyPr lIns="85725" tIns="76200" rIns="85725" bIns="76200"/>
                    <a:lstStyle/>
                    <a:p>
                      <a:pPr algn="ctr"/>
                      <a:r>
                        <a:rPr sz="2025" b="1">
                          <a:solidFill>
                            <a:srgbClr val="233746"/>
                          </a:solidFill>
                          <a:latin typeface="Arial"/>
                          <a:ea typeface="Arial"/>
                          <a:cs typeface="Arial"/>
                        </a:rPr>
                        <a:t>Qué debe hacer el control</a:t>
                      </a:r>
                    </a:p>
                  </a:txBody>
                  <a:tcPr marL="91440" marR="91440" marT="45720" marB="45720" anchor="ctr">
                    <a:solidFill>
                      <a:srgbClr val="E7EFF5"/>
                    </a:solidFill>
                  </a:tcPr>
                </a:tc>
              </a:tr>
              <a:tr h="831850">
                <a:tc>
                  <a:txBody>
                    <a:bodyPr lIns="85725" tIns="76200" rIns="85725" bIns="76200"/>
                    <a:lstStyle/>
                    <a:p>
                      <a:pPr algn="ctr"/>
                      <a:r>
                        <a:rPr sz="2025" b="0">
                          <a:solidFill>
                            <a:srgbClr val="233746"/>
                          </a:solidFill>
                          <a:latin typeface="Arial"/>
                          <a:ea typeface="Arial"/>
                          <a:cs typeface="Arial"/>
                        </a:rPr>
                        <a:t>Seguimiento de consigna</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Pedimos pasar de 20 a 22 °C</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Llegar al nuevo objetivo</a:t>
                      </a:r>
                    </a:p>
                  </a:txBody>
                  <a:tcPr marL="91440" marR="91440" marT="45720" marB="45720" anchor="ctr">
                    <a:solidFill>
                      <a:srgbClr val="FFFFFF"/>
                    </a:solidFill>
                  </a:tcPr>
                </a:tc>
              </a:tr>
              <a:tr h="831850">
                <a:tc>
                  <a:txBody>
                    <a:bodyPr lIns="85725" tIns="76200" rIns="85725" bIns="76200"/>
                    <a:lstStyle/>
                    <a:p>
                      <a:pPr algn="ctr"/>
                      <a:r>
                        <a:rPr sz="2025" b="0">
                          <a:solidFill>
                            <a:srgbClr val="233746"/>
                          </a:solidFill>
                          <a:latin typeface="Arial"/>
                          <a:ea typeface="Arial"/>
                          <a:cs typeface="Arial"/>
                        </a:rPr>
                        <a:t>Rechazo de perturbaciones</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Entra aire frío; seguimos pidiendo 22 °C</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Recuperar la temperatura</a:t>
                      </a:r>
                    </a:p>
                  </a:txBody>
                  <a:tcPr marL="91440" marR="91440" marT="45720" marB="45720" anchor="ctr">
                    <a:solidFill>
                      <a:srgbClr val="F4F7F9"/>
                    </a:solidFill>
                  </a:tcPr>
                </a:tc>
              </a:tr>
            </a:tbl>
          </a:graphicData>
        </a:graphic>
      </p:graphicFrame>
      <p:sp>
        <p:nvSpPr>
          <p:cNvPr id="12" name="">
            <a:extLst xmlns:a="http://schemas.openxmlformats.org/drawingml/2006/main">
              <a:ext uri="{FF2B5EF4-FFF2-40B4-BE49-F238E27FC236}">
                <a16:creationId xmlns:a16="http://schemas.microsoft.com/office/drawing/2014/main" id="{3B9CE5B9-C16F-4FA4-830C-C48FCFC58E55}"/>
              </a:ext>
            </a:extLst>
          </p:cNvPr>
          <p:cNvSpPr>
            <a:spLocks xmlns:a="http://schemas.openxmlformats.org/drawingml/2006/main" noGrp="1"/>
          </p:cNvSpPr>
          <p:nvPr/>
        </p:nvSpPr>
        <p:spPr>
          <a:xfrm xmlns:a="http://schemas.openxmlformats.org/drawingml/2006/main">
            <a:off x="762000" y="5000625"/>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0">
                <a:solidFill>
                  <a:srgbClr val="233746"/>
                </a:solidFill>
                <a:latin typeface="Arial"/>
                <a:ea typeface="Arial"/>
                <a:cs typeface="Arial"/>
              </a:defRPr>
            </a:pPr>
            <a:r>
              <a:rPr sz="2250" b="0">
                <a:solidFill>
                  <a:srgbClr val="233746"/>
                </a:solidFill>
                <a:latin typeface="Arial"/>
                <a:ea typeface="Arial"/>
                <a:cs typeface="Arial"/>
              </a:rPr>
              <a:t>Evaluamos rapidez, sobreimpulso, error persistente y esfuerzo de actuación.</a:t>
            </a:r>
          </a:p>
        </p:txBody>
      </p:sp>
      <p:sp>
        <p:nvSpPr>
          <p:cNvPr id="13" name="">
            <a:extLst xmlns:a="http://schemas.openxmlformats.org/drawingml/2006/main">
              <a:ext uri="{FF2B5EF4-FFF2-40B4-BE49-F238E27FC236}">
                <a16:creationId xmlns:a16="http://schemas.microsoft.com/office/drawing/2014/main" id="{AB797BE6-779F-4843-A312-B7ED3D4875C2}"/>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Un buen resultado en una de estas pruebas no asegura un buen resultado en la otra.</a:t>
            </a:r>
          </a:p>
        </p:txBody>
      </p:sp>
    </p:spTree>
    <p:extLst>
      <p:ext uri="{BB962C8B-B14F-4D97-AF65-F5344CB8AC3E}">
        <p14:creationId xmlns:p14="http://schemas.microsoft.com/office/powerpoint/2010/main" val="1721896526"/>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La estructura del controlador fuzzy: figura 13.2</a:t>
            </a:r>
          </a:p>
        </p:txBody>
      </p:sp>
      <p:sp>
        <p:nvSpPr>
          <p:cNvPr id="9" name="">
            <a:extLst xmlns:a="http://schemas.openxmlformats.org/drawingml/2006/main">
              <a:ext uri="{FF2B5EF4-FFF2-40B4-BE49-F238E27FC236}">
                <a16:creationId xmlns:a16="http://schemas.microsoft.com/office/drawing/2014/main" id="{7151D28A-82BC-4ADD-A3B3-7B3D1433FF6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0E4292F-F007-4FC8-8F40-3AE32F275BB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SISTEMAS DE CONTROL    /    Capítulo 13 · diseñar y comprobar</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463e12edb47b43cc"/>
          <a:stretch xmlns:a="http://schemas.openxmlformats.org/drawingml/2006/main"/>
        </p:blipFill>
        <p:spPr>
          <a:xfrm xmlns:a="http://schemas.openxmlformats.org/drawingml/2006/main">
            <a:off x="1651669" y="1619250"/>
            <a:ext cx="8888662" cy="35147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C71175A2-3BAB-4235-ACBE-3273A4DA0C65}"/>
              </a:ext>
            </a:extLst>
          </p:cNvPr>
          <p:cNvSpPr>
            <a:spLocks xmlns:a="http://schemas.openxmlformats.org/drawingml/2006/main" noGrp="1"/>
          </p:cNvSpPr>
          <p:nvPr/>
        </p:nvSpPr>
        <p:spPr>
          <a:xfrm xmlns:a="http://schemas.openxmlformats.org/drawingml/2006/main">
            <a:off x="762000" y="5314950"/>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Conocimiento: etiquetas y pertenencias. Reglas: relación entre condiciones y acciones.</a:t>
            </a:r>
          </a:p>
        </p:txBody>
      </p:sp>
      <p:sp>
        <p:nvSpPr>
          <p:cNvPr id="13" name="">
            <a:extLst xmlns:a="http://schemas.openxmlformats.org/drawingml/2006/main">
              <a:ext uri="{FF2B5EF4-FFF2-40B4-BE49-F238E27FC236}">
                <a16:creationId xmlns:a16="http://schemas.microsoft.com/office/drawing/2014/main" id="{9BEE1BE8-3C88-4346-8C45-6B27079915D2}"/>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Escalar, fuzzificar, inferir y obtener una acción. La planta responde y volvemos a medir.</a:t>
            </a:r>
          </a:p>
        </p:txBody>
      </p:sp>
    </p:spTree>
    <p:extLst>
      <p:ext uri="{BB962C8B-B14F-4D97-AF65-F5344CB8AC3E}">
        <p14:creationId xmlns:p14="http://schemas.microsoft.com/office/powerpoint/2010/main" val="172189652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Diseñar el controlador es elegir la función u = h(…)</a:t>
            </a:r>
          </a:p>
        </p:txBody>
      </p:sp>
      <p:sp>
        <p:nvSpPr>
          <p:cNvPr id="9" name="">
            <a:extLst xmlns:a="http://schemas.openxmlformats.org/drawingml/2006/main">
              <a:ext uri="{FF2B5EF4-FFF2-40B4-BE49-F238E27FC236}">
                <a16:creationId xmlns:a16="http://schemas.microsoft.com/office/drawing/2014/main" id="{3B589C6E-7CCD-4781-B237-8284A57FD200}"/>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6496464-18F6-416F-AE78-79B4A06DE8D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SISTEMAS DE CONTROL    /    Capítulo 13 · diseñar y comprobar</a:t>
            </a:r>
          </a:p>
        </p:txBody>
      </p:sp>
      <p:sp>
        <p:nvSpPr>
          <p:cNvPr id="11" name="">
            <a:extLst xmlns:a="http://schemas.openxmlformats.org/drawingml/2006/main">
              <a:ext uri="{FF2B5EF4-FFF2-40B4-BE49-F238E27FC236}">
                <a16:creationId xmlns:a16="http://schemas.microsoft.com/office/drawing/2014/main" id="{4BA46493-6719-4A4D-A683-2A5BE7BFA96E}"/>
              </a:ext>
            </a:extLst>
          </p:cNvPr>
          <p:cNvSpPr>
            <a:spLocks xmlns:a="http://schemas.openxmlformats.org/drawingml/2006/main" noGrp="1"/>
          </p:cNvSpPr>
          <p:nvPr/>
        </p:nvSpPr>
        <p:spPr>
          <a:xfrm xmlns:a="http://schemas.openxmlformats.org/drawingml/2006/main">
            <a:off x="762000" y="16478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550" b="1">
                <a:solidFill>
                  <a:srgbClr val="AD414C"/>
                </a:solidFill>
                <a:latin typeface="Arial"/>
                <a:ea typeface="Arial"/>
                <a:cs typeface="Arial"/>
              </a:defRPr>
            </a:pPr>
            <a:r>
              <a:rPr sz="2550" b="1">
                <a:solidFill>
                  <a:srgbClr val="AD414C"/>
                </a:solidFill>
                <a:latin typeface="Arial"/>
                <a:ea typeface="Arial"/>
                <a:cs typeface="Arial"/>
              </a:rPr>
              <a:t>Usaremos el error y su tendencia: u = h(e, de/dt).</a:t>
            </a:r>
          </a:p>
        </p:txBody>
      </p:sp>
      <p:graphicFrame>
        <p:nvGraphicFramePr>
          <p:cNvPr id="24" name=""/>
          <p:cNvGraphicFramePr/>
          <p:nvPr/>
        </p:nvGraphicFramePr>
        <p:xfrm>
          <a:off xmlns:a="http://schemas.openxmlformats.org/drawingml/2006/main" x="762000" y="2505075"/>
          <a:ext xmlns:a="http://schemas.openxmlformats.org/drawingml/2006/main" cx="10668000" cy="2476500"/>
        </p:xfrm>
        <a:graphic xmlns:a="http://schemas.openxmlformats.org/drawingml/2006/main">
          <a:graphicData uri="http://schemas.openxmlformats.org/drawingml/2006/table">
            <a:tbl>
              <a:tblPr/>
              <a:tblGrid>
                <a:gridCol w="3381375"/>
                <a:gridCol w="7286625"/>
              </a:tblGrid>
              <a:tr h="619125">
                <a:tc>
                  <a:txBody>
                    <a:bodyPr lIns="85725" tIns="76200" rIns="85725" bIns="76200"/>
                    <a:lstStyle/>
                    <a:p>
                      <a:pPr algn="ctr"/>
                      <a:r>
                        <a:rPr sz="2025" b="1">
                          <a:solidFill>
                            <a:srgbClr val="233746"/>
                          </a:solidFill>
                          <a:latin typeface="Arial"/>
                          <a:ea typeface="Arial"/>
                          <a:cs typeface="Arial"/>
                        </a:rPr>
                        <a:t>Información</a:t>
                      </a:r>
                    </a:p>
                  </a:txBody>
                  <a:tcPr marL="91440" marR="91440" marT="45720" marB="45720" anchor="ctr">
                    <a:solidFill>
                      <a:srgbClr val="E7EFF5"/>
                    </a:solidFill>
                  </a:tcPr>
                </a:tc>
                <a:tc>
                  <a:txBody>
                    <a:bodyPr lIns="85725" tIns="76200" rIns="85725" bIns="76200"/>
                    <a:lstStyle/>
                    <a:p>
                      <a:pPr algn="ctr"/>
                      <a:r>
                        <a:rPr sz="2025" b="1">
                          <a:solidFill>
                            <a:srgbClr val="233746"/>
                          </a:solidFill>
                          <a:latin typeface="Arial"/>
                          <a:ea typeface="Arial"/>
                          <a:cs typeface="Arial"/>
                        </a:rPr>
                        <a:t>Intuición</a:t>
                      </a:r>
                    </a:p>
                  </a:txBody>
                  <a:tcPr marL="91440" marR="91440" marT="45720" marB="45720" anchor="ctr">
                    <a:solidFill>
                      <a:srgbClr val="E7EFF5"/>
                    </a:solidFill>
                  </a:tcPr>
                </a:tc>
              </a:tr>
              <a:tr h="619125">
                <a:tc>
                  <a:txBody>
                    <a:bodyPr lIns="85725" tIns="76200" rIns="85725" bIns="76200"/>
                    <a:lstStyle/>
                    <a:p>
                      <a:pPr algn="ctr"/>
                      <a:r>
                        <a:rPr sz="2025" b="0">
                          <a:solidFill>
                            <a:srgbClr val="233746"/>
                          </a:solidFill>
                          <a:latin typeface="Arial"/>
                          <a:ea typeface="Arial"/>
                          <a:cs typeface="Arial"/>
                        </a:rPr>
                        <a:t>Error e</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Cuánto falta para alcanzar el objetivo</a:t>
                      </a:r>
                    </a:p>
                  </a:txBody>
                  <a:tcPr marL="91440" marR="91440" marT="45720" marB="45720" anchor="ctr">
                    <a:solidFill>
                      <a:srgbClr val="FFFFFF"/>
                    </a:solidFill>
                  </a:tcPr>
                </a:tc>
              </a:tr>
              <a:tr h="619125">
                <a:tc>
                  <a:txBody>
                    <a:bodyPr lIns="85725" tIns="76200" rIns="85725" bIns="76200"/>
                    <a:lstStyle/>
                    <a:p>
                      <a:pPr algn="ctr"/>
                      <a:r>
                        <a:rPr sz="2025" b="0">
                          <a:solidFill>
                            <a:srgbClr val="233746"/>
                          </a:solidFill>
                          <a:latin typeface="Arial"/>
                          <a:ea typeface="Arial"/>
                          <a:cs typeface="Arial"/>
                        </a:rPr>
                        <a:t>Tendencia de/dt</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Si nos acercamos o nos alejamos, y a qué velocidad</a:t>
                      </a:r>
                    </a:p>
                  </a:txBody>
                  <a:tcPr marL="91440" marR="91440" marT="45720" marB="45720" anchor="ctr">
                    <a:solidFill>
                      <a:srgbClr val="F4F7F9"/>
                    </a:solidFill>
                  </a:tcPr>
                </a:tc>
              </a:tr>
              <a:tr h="619125">
                <a:tc>
                  <a:txBody>
                    <a:bodyPr lIns="85725" tIns="76200" rIns="85725" bIns="76200"/>
                    <a:lstStyle/>
                    <a:p>
                      <a:pPr algn="ctr"/>
                      <a:r>
                        <a:rPr sz="2025" b="0">
                          <a:solidFill>
                            <a:srgbClr val="233746"/>
                          </a:solidFill>
                          <a:latin typeface="Arial"/>
                          <a:ea typeface="Arial"/>
                          <a:cs typeface="Arial"/>
                        </a:rPr>
                        <a:t>Acumulación ∫e dt</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Si queda un error persistente en el tiempo</a:t>
                      </a:r>
                    </a:p>
                  </a:txBody>
                  <a:tcPr marL="91440" marR="91440" marT="45720" marB="45720" anchor="ctr">
                    <a:solidFill>
                      <a:srgbClr val="FFFFFF"/>
                    </a:solidFill>
                  </a:tcPr>
                </a:tc>
              </a:tr>
            </a:tbl>
          </a:graphicData>
        </a:graphic>
      </p:graphicFrame>
      <p:sp>
        <p:nvSpPr>
          <p:cNvPr id="13" name="">
            <a:extLst xmlns:a="http://schemas.openxmlformats.org/drawingml/2006/main">
              <a:ext uri="{FF2B5EF4-FFF2-40B4-BE49-F238E27FC236}">
                <a16:creationId xmlns:a16="http://schemas.microsoft.com/office/drawing/2014/main" id="{E735A4AA-DB24-4F0F-AA09-F96327F9A7CC}"/>
              </a:ext>
            </a:extLst>
          </p:cNvPr>
          <p:cNvSpPr>
            <a:spLocks xmlns:a="http://schemas.openxmlformats.org/drawingml/2006/main" noGrp="1"/>
          </p:cNvSpPr>
          <p:nvPr/>
        </p:nvSpPr>
        <p:spPr>
          <a:xfrm xmlns:a="http://schemas.openxmlformats.org/drawingml/2006/main">
            <a:off x="762000" y="5324475"/>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PID combina P, I y D con coeficientes. Fuzzy construye h con reglas y pertenencias.</a:t>
            </a:r>
          </a:p>
        </p:txBody>
      </p:sp>
      <p:sp>
        <p:nvSpPr>
          <p:cNvPr id="14" name="">
            <a:extLst xmlns:a="http://schemas.openxmlformats.org/drawingml/2006/main">
              <a:ext uri="{FF2B5EF4-FFF2-40B4-BE49-F238E27FC236}">
                <a16:creationId xmlns:a16="http://schemas.microsoft.com/office/drawing/2014/main" id="{AC46E4C4-CEF0-47CB-9689-5C12F79E79FF}"/>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No necesitamos desarrollar Laplace para programar y comprobar este primer controlador.</a:t>
            </a:r>
          </a:p>
        </p:txBody>
      </p:sp>
    </p:spTree>
    <p:extLst>
      <p:ext uri="{BB962C8B-B14F-4D97-AF65-F5344CB8AC3E}">
        <p14:creationId xmlns:p14="http://schemas.microsoft.com/office/powerpoint/2010/main" val="172189652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Superficie de control: una acción para cada par de entradas</a:t>
            </a:r>
          </a:p>
        </p:txBody>
      </p:sp>
      <p:sp>
        <p:nvSpPr>
          <p:cNvPr id="9" name="">
            <a:extLst xmlns:a="http://schemas.openxmlformats.org/drawingml/2006/main">
              <a:ext uri="{FF2B5EF4-FFF2-40B4-BE49-F238E27FC236}">
                <a16:creationId xmlns:a16="http://schemas.microsoft.com/office/drawing/2014/main" id="{1EF1B443-79B6-46C2-BB5F-A301673CFB88}"/>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8C8F75A-F782-494A-A449-398AA720619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SISTEMAS DE CONTROL    /    Capítulo 13 · diseñar y comprobar</a:t>
            </a:r>
          </a:p>
        </p:txBody>
      </p:sp>
      <p:sp>
        <p:nvSpPr>
          <p:cNvPr id="11" name="">
            <a:extLst xmlns:a="http://schemas.openxmlformats.org/drawingml/2006/main">
              <a:ext uri="{FF2B5EF4-FFF2-40B4-BE49-F238E27FC236}">
                <a16:creationId xmlns:a16="http://schemas.microsoft.com/office/drawing/2014/main" id="{B9078F0C-1C24-4087-938F-0E2646CF23C7}"/>
              </a:ext>
            </a:extLst>
          </p:cNvPr>
          <p:cNvSpPr>
            <a:spLocks xmlns:a="http://schemas.openxmlformats.org/drawingml/2006/main" noGrp="1"/>
          </p:cNvSpPr>
          <p:nvPr/>
        </p:nvSpPr>
        <p:spPr>
          <a:xfrm xmlns:a="http://schemas.openxmlformats.org/drawingml/2006/main">
            <a:off x="762000" y="161925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Cada celda contiene u (%). Es una muestra de la función h(error, tendencia).</a:t>
            </a:r>
          </a:p>
        </p:txBody>
      </p:sp>
      <p:graphicFrame>
        <p:nvGraphicFramePr>
          <p:cNvPr id="24" name=""/>
          <p:cNvGraphicFramePr/>
          <p:nvPr/>
        </p:nvGraphicFramePr>
        <p:xfrm>
          <a:off xmlns:a="http://schemas.openxmlformats.org/drawingml/2006/main" x="762000" y="2505075"/>
          <a:ext xmlns:a="http://schemas.openxmlformats.org/drawingml/2006/main" cx="10668000" cy="2667000"/>
        </p:xfrm>
        <a:graphic xmlns:a="http://schemas.openxmlformats.org/drawingml/2006/main">
          <a:graphicData uri="http://schemas.openxmlformats.org/drawingml/2006/table">
            <a:tbl>
              <a:tblPr/>
              <a:tblGrid>
                <a:gridCol w="2095500"/>
                <a:gridCol w="1714500"/>
                <a:gridCol w="1714500"/>
                <a:gridCol w="1714500"/>
                <a:gridCol w="1714500"/>
                <a:gridCol w="1714500"/>
              </a:tblGrid>
              <a:tr h="444500">
                <a:tc>
                  <a:txBody>
                    <a:bodyPr lIns="85725" tIns="76200" rIns="85725" bIns="76200"/>
                    <a:lstStyle/>
                    <a:p>
                      <a:pPr algn="ctr"/>
                      <a:r>
                        <a:rPr sz="2025" b="1">
                          <a:solidFill>
                            <a:srgbClr val="233746"/>
                          </a:solidFill>
                          <a:latin typeface="Arial"/>
                          <a:ea typeface="Arial"/>
                          <a:cs typeface="Arial"/>
                        </a:rPr>
                        <a:t>e / de/dt</a:t>
                      </a:r>
                    </a:p>
                  </a:txBody>
                  <a:tcPr marL="91440" marR="91440" marT="45720" marB="45720" anchor="ctr">
                    <a:solidFill>
                      <a:srgbClr val="E7EFF5"/>
                    </a:solidFill>
                  </a:tcPr>
                </a:tc>
                <a:tc>
                  <a:txBody>
                    <a:bodyPr lIns="85725" tIns="76200" rIns="85725" bIns="76200"/>
                    <a:lstStyle/>
                    <a:p>
                      <a:pPr algn="ctr"/>
                      <a:r>
                        <a:rPr sz="2025" b="1">
                          <a:solidFill>
                            <a:srgbClr val="233746"/>
                          </a:solidFill>
                          <a:latin typeface="Arial"/>
                          <a:ea typeface="Arial"/>
                          <a:cs typeface="Arial"/>
                        </a:rPr>
                        <a:t>−1</a:t>
                      </a:r>
                    </a:p>
                  </a:txBody>
                  <a:tcPr marL="91440" marR="91440" marT="45720" marB="45720" anchor="ctr">
                    <a:solidFill>
                      <a:srgbClr val="E7EFF5"/>
                    </a:solidFill>
                  </a:tcPr>
                </a:tc>
                <a:tc>
                  <a:txBody>
                    <a:bodyPr lIns="85725" tIns="76200" rIns="85725" bIns="76200"/>
                    <a:lstStyle/>
                    <a:p>
                      <a:pPr algn="ctr"/>
                      <a:r>
                        <a:rPr sz="2025" b="1">
                          <a:solidFill>
                            <a:srgbClr val="233746"/>
                          </a:solidFill>
                          <a:latin typeface="Arial"/>
                          <a:ea typeface="Arial"/>
                          <a:cs typeface="Arial"/>
                        </a:rPr>
                        <a:t>−0,5</a:t>
                      </a:r>
                    </a:p>
                  </a:txBody>
                  <a:tcPr marL="91440" marR="91440" marT="45720" marB="45720" anchor="ctr">
                    <a:solidFill>
                      <a:srgbClr val="E7EFF5"/>
                    </a:solidFill>
                  </a:tcPr>
                </a:tc>
                <a:tc>
                  <a:txBody>
                    <a:bodyPr lIns="85725" tIns="76200" rIns="85725" bIns="76200"/>
                    <a:lstStyle/>
                    <a:p>
                      <a:pPr algn="ctr"/>
                      <a:r>
                        <a:rPr sz="2025" b="1">
                          <a:solidFill>
                            <a:srgbClr val="233746"/>
                          </a:solidFill>
                          <a:latin typeface="Arial"/>
                          <a:ea typeface="Arial"/>
                          <a:cs typeface="Arial"/>
                        </a:rPr>
                        <a:t>0</a:t>
                      </a:r>
                    </a:p>
                  </a:txBody>
                  <a:tcPr marL="91440" marR="91440" marT="45720" marB="45720" anchor="ctr">
                    <a:solidFill>
                      <a:srgbClr val="E7EFF5"/>
                    </a:solidFill>
                  </a:tcPr>
                </a:tc>
                <a:tc>
                  <a:txBody>
                    <a:bodyPr lIns="85725" tIns="76200" rIns="85725" bIns="76200"/>
                    <a:lstStyle/>
                    <a:p>
                      <a:pPr algn="ctr"/>
                      <a:r>
                        <a:rPr sz="2025" b="1">
                          <a:solidFill>
                            <a:srgbClr val="233746"/>
                          </a:solidFill>
                          <a:latin typeface="Arial"/>
                          <a:ea typeface="Arial"/>
                          <a:cs typeface="Arial"/>
                        </a:rPr>
                        <a:t>0,5</a:t>
                      </a:r>
                    </a:p>
                  </a:txBody>
                  <a:tcPr marL="91440" marR="91440" marT="45720" marB="45720" anchor="ctr">
                    <a:solidFill>
                      <a:srgbClr val="E7EFF5"/>
                    </a:solidFill>
                  </a:tcPr>
                </a:tc>
                <a:tc>
                  <a:txBody>
                    <a:bodyPr lIns="85725" tIns="76200" rIns="85725" bIns="76200"/>
                    <a:lstStyle/>
                    <a:p>
                      <a:pPr algn="ctr"/>
                      <a:r>
                        <a:rPr sz="2025" b="1">
                          <a:solidFill>
                            <a:srgbClr val="233746"/>
                          </a:solidFill>
                          <a:latin typeface="Arial"/>
                          <a:ea typeface="Arial"/>
                          <a:cs typeface="Arial"/>
                        </a:rPr>
                        <a:t>1</a:t>
                      </a:r>
                    </a:p>
                  </a:txBody>
                  <a:tcPr marL="91440" marR="91440" marT="45720" marB="45720" anchor="ctr">
                    <a:solidFill>
                      <a:srgbClr val="E7EFF5"/>
                    </a:solidFill>
                  </a:tcPr>
                </a:tc>
              </a:tr>
              <a:tr h="444500">
                <a:tc>
                  <a:txBody>
                    <a:bodyPr lIns="85725" tIns="76200" rIns="85725" bIns="76200"/>
                    <a:lstStyle/>
                    <a:p>
                      <a:pPr algn="ctr"/>
                      <a:r>
                        <a:rPr sz="2025" b="0">
                          <a:solidFill>
                            <a:srgbClr val="233746"/>
                          </a:solidFill>
                          <a:latin typeface="Arial"/>
                          <a:ea typeface="Arial"/>
                          <a:cs typeface="Arial"/>
                        </a:rPr>
                        <a:t>-4</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10</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20</a:t>
                      </a:r>
                    </a:p>
                  </a:txBody>
                  <a:tcPr marL="91440" marR="91440" marT="45720" marB="45720" anchor="ctr">
                    <a:solidFill>
                      <a:srgbClr val="FFFFFF"/>
                    </a:solidFill>
                  </a:tcPr>
                </a:tc>
              </a:tr>
              <a:tr h="444500">
                <a:tc>
                  <a:txBody>
                    <a:bodyPr lIns="85725" tIns="76200" rIns="85725" bIns="76200"/>
                    <a:lstStyle/>
                    <a:p>
                      <a:pPr algn="ctr"/>
                      <a:r>
                        <a:rPr sz="2025" b="0">
                          <a:solidFill>
                            <a:srgbClr val="233746"/>
                          </a:solidFill>
                          <a:latin typeface="Arial"/>
                          <a:ea typeface="Arial"/>
                          <a:cs typeface="Arial"/>
                        </a:rPr>
                        <a:t>-2</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0</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5</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10</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25</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40</a:t>
                      </a:r>
                    </a:p>
                  </a:txBody>
                  <a:tcPr marL="91440" marR="91440" marT="45720" marB="45720" anchor="ctr">
                    <a:solidFill>
                      <a:srgbClr val="F4F7F9"/>
                    </a:solidFill>
                  </a:tcPr>
                </a:tc>
              </a:tr>
              <a:tr h="444500">
                <a:tc>
                  <a:txBody>
                    <a:bodyPr lIns="85725" tIns="76200" rIns="85725" bIns="76200"/>
                    <a:lstStyle/>
                    <a:p>
                      <a:pPr algn="ctr"/>
                      <a:r>
                        <a:rPr sz="2025"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10</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20</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40</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60</a:t>
                      </a:r>
                    </a:p>
                  </a:txBody>
                  <a:tcPr marL="91440" marR="91440" marT="45720" marB="45720" anchor="ctr">
                    <a:solidFill>
                      <a:srgbClr val="FFFFFF"/>
                    </a:solidFill>
                  </a:tcPr>
                </a:tc>
              </a:tr>
              <a:tr h="444500">
                <a:tc>
                  <a:txBody>
                    <a:bodyPr lIns="85725" tIns="76200" rIns="85725" bIns="76200"/>
                    <a:lstStyle/>
                    <a:p>
                      <a:pPr algn="ctr"/>
                      <a:r>
                        <a:rPr sz="2025" b="0">
                          <a:solidFill>
                            <a:srgbClr val="233746"/>
                          </a:solidFill>
                          <a:latin typeface="Arial"/>
                          <a:ea typeface="Arial"/>
                          <a:cs typeface="Arial"/>
                        </a:rPr>
                        <a:t>2</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10</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25</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40</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60</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80</a:t>
                      </a:r>
                    </a:p>
                  </a:txBody>
                  <a:tcPr marL="91440" marR="91440" marT="45720" marB="45720" anchor="ctr">
                    <a:solidFill>
                      <a:srgbClr val="F4F7F9"/>
                    </a:solidFill>
                  </a:tcPr>
                </a:tc>
              </a:tr>
              <a:tr h="444500">
                <a:tc>
                  <a:txBody>
                    <a:bodyPr lIns="85725" tIns="76200" rIns="85725" bIns="76200"/>
                    <a:lstStyle/>
                    <a:p>
                      <a:pPr algn="ctr"/>
                      <a:r>
                        <a:rPr sz="2025" b="0">
                          <a:solidFill>
                            <a:srgbClr val="233746"/>
                          </a:solidFill>
                          <a:latin typeface="Arial"/>
                          <a:ea typeface="Arial"/>
                          <a:cs typeface="Arial"/>
                        </a:rPr>
                        <a:t>4</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20</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40</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60</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80</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100</a:t>
                      </a:r>
                    </a:p>
                  </a:txBody>
                  <a:tcPr marL="91440" marR="91440" marT="45720" marB="45720" anchor="ctr">
                    <a:solidFill>
                      <a:srgbClr val="FFFFFF"/>
                    </a:solidFill>
                  </a:tcPr>
                </a:tc>
              </a:tr>
            </a:tbl>
          </a:graphicData>
        </a:graphic>
      </p:graphicFrame>
      <p:sp>
        <p:nvSpPr>
          <p:cNvPr id="13" name="">
            <a:extLst xmlns:a="http://schemas.openxmlformats.org/drawingml/2006/main">
              <a:ext uri="{FF2B5EF4-FFF2-40B4-BE49-F238E27FC236}">
                <a16:creationId xmlns:a16="http://schemas.microsoft.com/office/drawing/2014/main" id="{E97A045D-D2A8-454C-91C9-3F96F99A2A03}"/>
              </a:ext>
            </a:extLst>
          </p:cNvPr>
          <p:cNvSpPr>
            <a:spLocks xmlns:a="http://schemas.openxmlformats.org/drawingml/2006/main" noGrp="1"/>
          </p:cNvSpPr>
          <p:nvPr/>
        </p:nvSpPr>
        <p:spPr>
          <a:xfrm xmlns:a="http://schemas.openxmlformats.org/drawingml/2006/main">
            <a:off x="762000" y="54197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233746"/>
                </a:solidFill>
                <a:latin typeface="Arial"/>
                <a:ea typeface="Arial"/>
                <a:cs typeface="Arial"/>
              </a:defRPr>
            </a:pPr>
            <a:r>
              <a:rPr sz="2175" b="0">
                <a:solidFill>
                  <a:srgbClr val="233746"/>
                </a:solidFill>
                <a:latin typeface="Arial"/>
                <a:ea typeface="Arial"/>
                <a:cs typeface="Arial"/>
              </a:rPr>
              <a:t>Fijar las pertenencias, las reglas y los operadores fija esta superficie.</a:t>
            </a:r>
          </a:p>
        </p:txBody>
      </p:sp>
      <p:sp>
        <p:nvSpPr>
          <p:cNvPr id="14" name="">
            <a:extLst xmlns:a="http://schemas.openxmlformats.org/drawingml/2006/main">
              <a:ext uri="{FF2B5EF4-FFF2-40B4-BE49-F238E27FC236}">
                <a16:creationId xmlns:a16="http://schemas.microsoft.com/office/drawing/2014/main" id="{A8A9E98E-B913-483B-BA0F-A05CD5A7DE1F}"/>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Esta tabla calcula la acción. Para conocer la temperatura futura aún necesitamos la planta.</a:t>
            </a:r>
          </a:p>
        </p:txBody>
      </p:sp>
    </p:spTree>
    <p:extLst>
      <p:ext uri="{BB962C8B-B14F-4D97-AF65-F5344CB8AC3E}">
        <p14:creationId xmlns:p14="http://schemas.microsoft.com/office/powerpoint/2010/main" val="172189652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Antes de diseñar: qué necesitamos conocer</a:t>
            </a:r>
          </a:p>
        </p:txBody>
      </p:sp>
      <p:sp>
        <p:nvSpPr>
          <p:cNvPr id="9" name="">
            <a:extLst xmlns:a="http://schemas.openxmlformats.org/drawingml/2006/main">
              <a:ext uri="{FF2B5EF4-FFF2-40B4-BE49-F238E27FC236}">
                <a16:creationId xmlns:a16="http://schemas.microsoft.com/office/drawing/2014/main" id="{1FC23886-FF9E-4F75-802F-289102ED91D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934E948-C1EA-4C9C-8108-B68658A4254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SISTEMAS DE CONTROL    /    Capítulo 13 · diseñar y comprobar</a:t>
            </a:r>
          </a:p>
        </p:txBody>
      </p:sp>
      <p:sp>
        <p:nvSpPr>
          <p:cNvPr id="11" name="">
            <a:extLst xmlns:a="http://schemas.openxmlformats.org/drawingml/2006/main">
              <a:ext uri="{FF2B5EF4-FFF2-40B4-BE49-F238E27FC236}">
                <a16:creationId xmlns:a16="http://schemas.microsoft.com/office/drawing/2014/main" id="{A77137B7-C44F-4435-85DC-C6E69C0566E7}"/>
              </a:ext>
            </a:extLst>
          </p:cNvPr>
          <p:cNvSpPr>
            <a:spLocks xmlns:a="http://schemas.openxmlformats.org/drawingml/2006/main" noGrp="1"/>
          </p:cNvSpPr>
          <p:nvPr/>
        </p:nvSpPr>
        <p:spPr>
          <a:xfrm xmlns:a="http://schemas.openxmlformats.org/drawingml/2006/main">
            <a:off x="762000" y="16764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AD414C"/>
                </a:solidFill>
                <a:latin typeface="Arial"/>
                <a:ea typeface="Arial"/>
                <a:cs typeface="Arial"/>
              </a:defRPr>
            </a:pPr>
            <a:r>
              <a:rPr sz="2250" b="1">
                <a:solidFill>
                  <a:srgbClr val="AD414C"/>
                </a:solidFill>
                <a:latin typeface="Arial"/>
                <a:ea typeface="Arial"/>
                <a:cs typeface="Arial"/>
              </a:rPr>
              <a:t>Medir y poder actuar</a:t>
            </a:r>
          </a:p>
        </p:txBody>
      </p:sp>
      <p:sp>
        <p:nvSpPr>
          <p:cNvPr id="12" name="">
            <a:extLst xmlns:a="http://schemas.openxmlformats.org/drawingml/2006/main">
              <a:ext uri="{FF2B5EF4-FFF2-40B4-BE49-F238E27FC236}">
                <a16:creationId xmlns:a16="http://schemas.microsoft.com/office/drawing/2014/main" id="{559425F8-3ECE-461D-85F0-08DA35C50137}"/>
              </a:ext>
            </a:extLst>
          </p:cNvPr>
          <p:cNvSpPr>
            <a:spLocks xmlns:a="http://schemas.openxmlformats.org/drawingml/2006/main" noGrp="1"/>
          </p:cNvSpPr>
          <p:nvPr/>
        </p:nvSpPr>
        <p:spPr>
          <a:xfrm xmlns:a="http://schemas.openxmlformats.org/drawingml/2006/main">
            <a:off x="762000" y="21145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Las variables relevantes deben estar disponibles y el actuador debe tener capacidad.</a:t>
            </a:r>
          </a:p>
        </p:txBody>
      </p:sp>
      <p:sp>
        <p:nvSpPr>
          <p:cNvPr id="13" name="">
            <a:extLst xmlns:a="http://schemas.openxmlformats.org/drawingml/2006/main">
              <a:ext uri="{FF2B5EF4-FFF2-40B4-BE49-F238E27FC236}">
                <a16:creationId xmlns:a16="http://schemas.microsoft.com/office/drawing/2014/main" id="{740CFBFF-8737-4E29-8926-899A4A0ECF7B}"/>
              </a:ext>
            </a:extLst>
          </p:cNvPr>
          <p:cNvSpPr>
            <a:spLocks xmlns:a="http://schemas.openxmlformats.org/drawingml/2006/main" noGrp="1"/>
          </p:cNvSpPr>
          <p:nvPr/>
        </p:nvSpPr>
        <p:spPr>
          <a:xfrm xmlns:a="http://schemas.openxmlformats.org/drawingml/2006/main">
            <a:off x="762000" y="29337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AD414C"/>
                </a:solidFill>
                <a:latin typeface="Arial"/>
                <a:ea typeface="Arial"/>
                <a:cs typeface="Arial"/>
              </a:defRPr>
            </a:pPr>
            <a:r>
              <a:rPr sz="2250" b="1">
                <a:solidFill>
                  <a:srgbClr val="AD414C"/>
                </a:solidFill>
                <a:latin typeface="Arial"/>
                <a:ea typeface="Arial"/>
                <a:cs typeface="Arial"/>
              </a:rPr>
              <a:t>Conocimiento para las reglas</a:t>
            </a:r>
          </a:p>
        </p:txBody>
      </p:sp>
      <p:sp>
        <p:nvSpPr>
          <p:cNvPr id="14" name="">
            <a:extLst xmlns:a="http://schemas.openxmlformats.org/drawingml/2006/main">
              <a:ext uri="{FF2B5EF4-FFF2-40B4-BE49-F238E27FC236}">
                <a16:creationId xmlns:a16="http://schemas.microsoft.com/office/drawing/2014/main" id="{A80F90DD-C9C9-41ED-BD4C-7739BFE128C0}"/>
              </a:ext>
            </a:extLst>
          </p:cNvPr>
          <p:cNvSpPr>
            <a:spLocks xmlns:a="http://schemas.openxmlformats.org/drawingml/2006/main" noGrp="1"/>
          </p:cNvSpPr>
          <p:nvPr/>
        </p:nvSpPr>
        <p:spPr>
          <a:xfrm xmlns:a="http://schemas.openxmlformats.org/drawingml/2006/main">
            <a:off x="762000" y="3371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Usar experiencia, sentido físico o datos. Definir el rango de funcionamiento.</a:t>
            </a:r>
          </a:p>
        </p:txBody>
      </p:sp>
      <p:sp>
        <p:nvSpPr>
          <p:cNvPr id="15" name="">
            <a:extLst xmlns:a="http://schemas.openxmlformats.org/drawingml/2006/main">
              <a:ext uri="{FF2B5EF4-FFF2-40B4-BE49-F238E27FC236}">
                <a16:creationId xmlns:a16="http://schemas.microsoft.com/office/drawing/2014/main" id="{FD8995F7-A75D-4119-AC49-2E9D830ABBFC}"/>
              </a:ext>
            </a:extLst>
          </p:cNvPr>
          <p:cNvSpPr>
            <a:spLocks xmlns:a="http://schemas.openxmlformats.org/drawingml/2006/main" noGrp="1"/>
          </p:cNvSpPr>
          <p:nvPr/>
        </p:nvSpPr>
        <p:spPr>
          <a:xfrm xmlns:a="http://schemas.openxmlformats.org/drawingml/2006/main">
            <a:off x="762000" y="41910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AD414C"/>
                </a:solidFill>
                <a:latin typeface="Arial"/>
                <a:ea typeface="Arial"/>
                <a:cs typeface="Arial"/>
              </a:defRPr>
            </a:pPr>
            <a:r>
              <a:rPr sz="2250" b="1">
                <a:solidFill>
                  <a:srgbClr val="AD414C"/>
                </a:solidFill>
                <a:latin typeface="Arial"/>
                <a:ea typeface="Arial"/>
                <a:cs typeface="Arial"/>
              </a:rPr>
              <a:t>Un objetivo alcanzable y medible</a:t>
            </a:r>
          </a:p>
        </p:txBody>
      </p:sp>
      <p:sp>
        <p:nvSpPr>
          <p:cNvPr id="16" name="">
            <a:extLst xmlns:a="http://schemas.openxmlformats.org/drawingml/2006/main">
              <a:ext uri="{FF2B5EF4-FFF2-40B4-BE49-F238E27FC236}">
                <a16:creationId xmlns:a16="http://schemas.microsoft.com/office/drawing/2014/main" id="{81E73B2B-8B9E-4D5A-8231-8A58F5107699}"/>
              </a:ext>
            </a:extLst>
          </p:cNvPr>
          <p:cNvSpPr>
            <a:spLocks xmlns:a="http://schemas.openxmlformats.org/drawingml/2006/main" noGrp="1"/>
          </p:cNvSpPr>
          <p:nvPr/>
        </p:nvSpPr>
        <p:spPr>
          <a:xfrm xmlns:a="http://schemas.openxmlformats.org/drawingml/2006/main">
            <a:off x="762000" y="46291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Aceptar una precisión suficiente y comprobar estabilidad y prestaciones.</a:t>
            </a:r>
          </a:p>
        </p:txBody>
      </p:sp>
      <p:sp>
        <p:nvSpPr>
          <p:cNvPr id="17" name="">
            <a:extLst xmlns:a="http://schemas.openxmlformats.org/drawingml/2006/main">
              <a:ext uri="{FF2B5EF4-FFF2-40B4-BE49-F238E27FC236}">
                <a16:creationId xmlns:a16="http://schemas.microsoft.com/office/drawing/2014/main" id="{D0A99785-AA1A-4DDC-BE46-F57ABBBB933E}"/>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Más reglas no compensan un sensor inadecuado ni un actuador incapaz de alcanzar la consigna.</a:t>
            </a:r>
          </a:p>
        </p:txBody>
      </p:sp>
    </p:spTree>
    <p:extLst>
      <p:ext uri="{BB962C8B-B14F-4D97-AF65-F5344CB8AC3E}">
        <p14:creationId xmlns:p14="http://schemas.microsoft.com/office/powerpoint/2010/main" val="172189652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Los nueve pasos de diseño de Ross</a:t>
            </a:r>
          </a:p>
        </p:txBody>
      </p:sp>
      <p:sp>
        <p:nvSpPr>
          <p:cNvPr id="9" name="">
            <a:extLst xmlns:a="http://schemas.openxmlformats.org/drawingml/2006/main">
              <a:ext uri="{FF2B5EF4-FFF2-40B4-BE49-F238E27FC236}">
                <a16:creationId xmlns:a16="http://schemas.microsoft.com/office/drawing/2014/main" id="{5AD067AD-A2E7-4689-A251-E5616CAC430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4DA5C89-466B-45B3-A0A0-DE18C9C41EB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SISTEMAS DE CONTROL    /    Capítulo 13 · diseñar y comprobar</a:t>
            </a:r>
          </a:p>
        </p:txBody>
      </p:sp>
      <p:graphicFrame>
        <p:nvGraphicFramePr>
          <p:cNvPr id="21" name=""/>
          <p:cNvGraphicFramePr/>
          <p:nvPr/>
        </p:nvGraphicFramePr>
        <p:xfrm>
          <a:off xmlns:a="http://schemas.openxmlformats.org/drawingml/2006/main" x="762000" y="1847850"/>
          <a:ext xmlns:a="http://schemas.openxmlformats.org/drawingml/2006/main" cx="10668000" cy="3619500"/>
        </p:xfrm>
        <a:graphic xmlns:a="http://schemas.openxmlformats.org/drawingml/2006/main">
          <a:graphicData uri="http://schemas.openxmlformats.org/drawingml/2006/table">
            <a:tbl>
              <a:tblPr/>
              <a:tblGrid>
                <a:gridCol w="5334000"/>
                <a:gridCol w="5334000"/>
              </a:tblGrid>
              <a:tr h="603250">
                <a:tc>
                  <a:txBody>
                    <a:bodyPr lIns="85725" tIns="76200" rIns="85725" bIns="76200"/>
                    <a:lstStyle/>
                    <a:p>
                      <a:pPr algn="ctr"/>
                      <a:r>
                        <a:rPr sz="2025" b="1">
                          <a:solidFill>
                            <a:srgbClr val="233746"/>
                          </a:solidFill>
                          <a:latin typeface="Arial"/>
                          <a:ea typeface="Arial"/>
                          <a:cs typeface="Arial"/>
                        </a:rPr>
                        <a:t>Diseño previo</a:t>
                      </a:r>
                    </a:p>
                  </a:txBody>
                  <a:tcPr marL="91440" marR="91440" marT="45720" marB="45720" anchor="ctr">
                    <a:solidFill>
                      <a:srgbClr val="E7EFF5"/>
                    </a:solidFill>
                  </a:tcPr>
                </a:tc>
                <a:tc>
                  <a:txBody>
                    <a:bodyPr lIns="85725" tIns="76200" rIns="85725" bIns="76200"/>
                    <a:lstStyle/>
                    <a:p>
                      <a:pPr algn="ctr"/>
                      <a:r>
                        <a:rPr sz="2025" b="1">
                          <a:solidFill>
                            <a:srgbClr val="233746"/>
                          </a:solidFill>
                          <a:latin typeface="Arial"/>
                          <a:ea typeface="Arial"/>
                          <a:cs typeface="Arial"/>
                        </a:rPr>
                        <a:t>Cálculo en cada instante</a:t>
                      </a:r>
                    </a:p>
                  </a:txBody>
                  <a:tcPr marL="91440" marR="91440" marT="45720" marB="45720" anchor="ctr">
                    <a:solidFill>
                      <a:srgbClr val="E7EFF5"/>
                    </a:solidFill>
                  </a:tcPr>
                </a:tc>
              </a:tr>
              <a:tr h="603250">
                <a:tc>
                  <a:txBody>
                    <a:bodyPr lIns="85725" tIns="76200" rIns="85725" bIns="76200"/>
                    <a:lstStyle/>
                    <a:p>
                      <a:pPr algn="ctr"/>
                      <a:r>
                        <a:rPr sz="2025" b="0">
                          <a:solidFill>
                            <a:srgbClr val="233746"/>
                          </a:solidFill>
                          <a:latin typeface="Arial"/>
                          <a:ea typeface="Arial"/>
                          <a:cs typeface="Arial"/>
                        </a:rPr>
                        <a:t>1. Identificar variables y rangos</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6. Fuzzificar las entradas</a:t>
                      </a:r>
                    </a:p>
                  </a:txBody>
                  <a:tcPr marL="91440" marR="91440" marT="45720" marB="45720" anchor="ctr">
                    <a:solidFill>
                      <a:srgbClr val="FFFFFF"/>
                    </a:solidFill>
                  </a:tcPr>
                </a:tc>
              </a:tr>
              <a:tr h="603250">
                <a:tc>
                  <a:txBody>
                    <a:bodyPr lIns="85725" tIns="76200" rIns="85725" bIns="76200"/>
                    <a:lstStyle/>
                    <a:p>
                      <a:pPr algn="ctr"/>
                      <a:r>
                        <a:rPr sz="2025" b="0">
                          <a:solidFill>
                            <a:srgbClr val="233746"/>
                          </a:solidFill>
                          <a:latin typeface="Arial"/>
                          <a:ea typeface="Arial"/>
                          <a:cs typeface="Arial"/>
                        </a:rPr>
                        <a:t>2. Elegir etiquetas y particiones</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7. Inferir la salida de cada regla</a:t>
                      </a:r>
                    </a:p>
                  </a:txBody>
                  <a:tcPr marL="91440" marR="91440" marT="45720" marB="45720" anchor="ctr">
                    <a:solidFill>
                      <a:srgbClr val="F4F7F9"/>
                    </a:solidFill>
                  </a:tcPr>
                </a:tc>
              </a:tr>
              <a:tr h="603250">
                <a:tc>
                  <a:txBody>
                    <a:bodyPr lIns="85725" tIns="76200" rIns="85725" bIns="76200"/>
                    <a:lstStyle/>
                    <a:p>
                      <a:pPr algn="ctr"/>
                      <a:r>
                        <a:rPr sz="2025" b="0">
                          <a:solidFill>
                            <a:srgbClr val="233746"/>
                          </a:solidFill>
                          <a:latin typeface="Arial"/>
                          <a:ea typeface="Arial"/>
                          <a:cs typeface="Arial"/>
                        </a:rPr>
                        <a:t>3. Asignar funciones de pertenencia</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8. Agregar las contribuciones</a:t>
                      </a:r>
                    </a:p>
                  </a:txBody>
                  <a:tcPr marL="91440" marR="91440" marT="45720" marB="45720" anchor="ctr">
                    <a:solidFill>
                      <a:srgbClr val="FFFFFF"/>
                    </a:solidFill>
                  </a:tcPr>
                </a:tc>
              </a:tr>
              <a:tr h="603250">
                <a:tc>
                  <a:txBody>
                    <a:bodyPr lIns="85725" tIns="76200" rIns="85725" bIns="76200"/>
                    <a:lstStyle/>
                    <a:p>
                      <a:pPr algn="ctr"/>
                      <a:r>
                        <a:rPr sz="2025" b="0">
                          <a:solidFill>
                            <a:srgbClr val="233746"/>
                          </a:solidFill>
                          <a:latin typeface="Arial"/>
                          <a:ea typeface="Arial"/>
                          <a:cs typeface="Arial"/>
                        </a:rPr>
                        <a:t>4. Escribir las reglas</a:t>
                      </a:r>
                    </a:p>
                  </a:txBody>
                  <a:tcPr marL="91440" marR="91440" marT="45720" marB="45720" anchor="ctr">
                    <a:solidFill>
                      <a:srgbClr val="F4F7F9"/>
                    </a:solidFill>
                  </a:tcPr>
                </a:tc>
                <a:tc>
                  <a:txBody>
                    <a:bodyPr lIns="85725" tIns="76200" rIns="85725" bIns="76200"/>
                    <a:lstStyle/>
                    <a:p>
                      <a:pPr algn="ctr"/>
                      <a:r>
                        <a:rPr sz="2025" b="0">
                          <a:solidFill>
                            <a:srgbClr val="233746"/>
                          </a:solidFill>
                          <a:latin typeface="Arial"/>
                          <a:ea typeface="Arial"/>
                          <a:cs typeface="Arial"/>
                        </a:rPr>
                        <a:t>9. Obtener una salida crisp</a:t>
                      </a:r>
                    </a:p>
                  </a:txBody>
                  <a:tcPr marL="91440" marR="91440" marT="45720" marB="45720" anchor="ctr">
                    <a:solidFill>
                      <a:srgbClr val="F4F7F9"/>
                    </a:solidFill>
                  </a:tcPr>
                </a:tc>
              </a:tr>
              <a:tr h="603250">
                <a:tc>
                  <a:txBody>
                    <a:bodyPr lIns="85725" tIns="76200" rIns="85725" bIns="76200"/>
                    <a:lstStyle/>
                    <a:p>
                      <a:pPr algn="ctr"/>
                      <a:r>
                        <a:rPr sz="2025" b="0">
                          <a:solidFill>
                            <a:srgbClr val="233746"/>
                          </a:solidFill>
                          <a:latin typeface="Arial"/>
                          <a:ea typeface="Arial"/>
                          <a:cs typeface="Arial"/>
                        </a:rPr>
                        <a:t>5. Elegir escalas de entrada y salida</a:t>
                      </a:r>
                    </a:p>
                  </a:txBody>
                  <a:tcPr marL="91440" marR="91440" marT="45720" marB="45720" anchor="ctr">
                    <a:solidFill>
                      <a:srgbClr val="FFFFFF"/>
                    </a:solidFill>
                  </a:tcPr>
                </a:tc>
                <a:tc>
                  <a:txBody>
                    <a:bodyPr lIns="85725" tIns="76200" rIns="85725" bIns="76200"/>
                    <a:lstStyle/>
                    <a:p>
                      <a:pPr algn="ctr"/>
                      <a:r>
                        <a:rPr sz="2025" b="0">
                          <a:solidFill>
                            <a:srgbClr val="233746"/>
                          </a:solidFill>
                          <a:latin typeface="Arial"/>
                          <a:ea typeface="Arial"/>
                          <a:cs typeface="Arial"/>
                        </a:rPr>
                        <a:t>Aplicar la acción y volver a medir</a:t>
                      </a:r>
                    </a:p>
                  </a:txBody>
                  <a:tcPr marL="91440" marR="91440" marT="45720" marB="45720" anchor="ctr">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2925ECF6-5F60-41EC-AEC1-5EB2F6E49D7C}"/>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La figura 13.2 conecta estos pasos. Después probamos el sistema completo y ajustamos el diseño.</a:t>
            </a:r>
          </a:p>
        </p:txBody>
      </p:sp>
    </p:spTree>
    <p:extLst>
      <p:ext uri="{BB962C8B-B14F-4D97-AF65-F5344CB8AC3E}">
        <p14:creationId xmlns:p14="http://schemas.microsoft.com/office/powerpoint/2010/main" val="1721896526"/>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La salida puede ser una acción o un cambio de acción</a:t>
            </a:r>
          </a:p>
        </p:txBody>
      </p:sp>
      <p:sp>
        <p:nvSpPr>
          <p:cNvPr id="9" name="">
            <a:extLst xmlns:a="http://schemas.openxmlformats.org/drawingml/2006/main">
              <a:ext uri="{FF2B5EF4-FFF2-40B4-BE49-F238E27FC236}">
                <a16:creationId xmlns:a16="http://schemas.microsoft.com/office/drawing/2014/main" id="{85F547E8-FFEB-4CED-9E0B-69993FBCAEC2}"/>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6490D8A-4944-423E-A189-A947773C121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SISTEMAS DE CONTROL    /    Capítulo 13 · diseñar y comprobar</a:t>
            </a:r>
          </a:p>
        </p:txBody>
      </p:sp>
      <p:graphicFrame>
        <p:nvGraphicFramePr>
          <p:cNvPr id="22" name=""/>
          <p:cNvGraphicFramePr/>
          <p:nvPr/>
        </p:nvGraphicFramePr>
        <p:xfrm>
          <a:off xmlns:a="http://schemas.openxmlformats.org/drawingml/2006/main" x="762000" y="2276475"/>
          <a:ext xmlns:a="http://schemas.openxmlformats.org/drawingml/2006/main" cx="10668000" cy="2381250"/>
        </p:xfrm>
        <a:graphic xmlns:a="http://schemas.openxmlformats.org/drawingml/2006/main">
          <a:graphicData uri="http://schemas.openxmlformats.org/drawingml/2006/table">
            <a:tbl>
              <a:tblPr/>
              <a:tblGrid>
                <a:gridCol w="3048000"/>
                <a:gridCol w="3619500"/>
                <a:gridCol w="4000500"/>
              </a:tblGrid>
              <a:tr h="793750">
                <a:tc>
                  <a:txBody>
                    <a:bodyPr lIns="85725" tIns="76200" rIns="85725" bIns="76200"/>
                    <a:lstStyle/>
                    <a:p>
                      <a:pPr algn="ctr"/>
                      <a:r>
                        <a:rPr sz="2100" b="1">
                          <a:solidFill>
                            <a:srgbClr val="233746"/>
                          </a:solidFill>
                          <a:latin typeface="Arial"/>
                          <a:ea typeface="Arial"/>
                          <a:cs typeface="Arial"/>
                        </a:rPr>
                        <a:t>Diseño</a:t>
                      </a:r>
                    </a:p>
                  </a:txBody>
                  <a:tcPr marL="91440" marR="91440" marT="45720" marB="45720" anchor="ctr">
                    <a:solidFill>
                      <a:srgbClr val="E7EFF5"/>
                    </a:solidFill>
                  </a:tcPr>
                </a:tc>
                <a:tc>
                  <a:txBody>
                    <a:bodyPr lIns="85725" tIns="76200" rIns="85725" bIns="76200"/>
                    <a:lstStyle/>
                    <a:p>
                      <a:pPr algn="ctr"/>
                      <a:r>
                        <a:rPr sz="2100" b="1">
                          <a:solidFill>
                            <a:srgbClr val="233746"/>
                          </a:solidFill>
                          <a:latin typeface="Arial"/>
                          <a:ea typeface="Arial"/>
                          <a:cs typeface="Arial"/>
                        </a:rPr>
                        <a:t>Qué devuelve</a:t>
                      </a:r>
                    </a:p>
                  </a:txBody>
                  <a:tcPr marL="91440" marR="91440" marT="45720" marB="45720" anchor="ctr">
                    <a:solidFill>
                      <a:srgbClr val="E7EFF5"/>
                    </a:solidFill>
                  </a:tcPr>
                </a:tc>
                <a:tc>
                  <a:txBody>
                    <a:bodyPr lIns="85725" tIns="76200" rIns="85725" bIns="76200"/>
                    <a:lstStyle/>
                    <a:p>
                      <a:pPr algn="ctr"/>
                      <a:r>
                        <a:rPr sz="2100" b="1">
                          <a:solidFill>
                            <a:srgbClr val="233746"/>
                          </a:solidFill>
                          <a:latin typeface="Arial"/>
                          <a:ea typeface="Arial"/>
                          <a:cs typeface="Arial"/>
                        </a:rPr>
                        <a:t>Cómo se aplica</a:t>
                      </a:r>
                    </a:p>
                  </a:txBody>
                  <a:tcPr marL="91440" marR="91440" marT="45720" marB="45720" anchor="ctr">
                    <a:solidFill>
                      <a:srgbClr val="E7EFF5"/>
                    </a:solidFill>
                  </a:tcPr>
                </a:tc>
              </a:tr>
              <a:tr h="793750">
                <a:tc>
                  <a:txBody>
                    <a:bodyPr lIns="85725" tIns="76200" rIns="85725" bIns="76200"/>
                    <a:lstStyle/>
                    <a:p>
                      <a:pPr algn="ctr"/>
                      <a:r>
                        <a:rPr sz="2100" b="0">
                          <a:solidFill>
                            <a:srgbClr val="233746"/>
                          </a:solidFill>
                          <a:latin typeface="Arial"/>
                          <a:ea typeface="Arial"/>
                          <a:cs typeface="Arial"/>
                        </a:rPr>
                        <a:t>Acción absoluta</a:t>
                      </a:r>
                    </a:p>
                  </a:txBody>
                  <a:tcPr marL="91440" marR="91440" marT="45720" marB="45720" anchor="ctr">
                    <a:solidFill>
                      <a:srgbClr val="FFFFFF"/>
                    </a:solidFill>
                  </a:tcPr>
                </a:tc>
                <a:tc>
                  <a:txBody>
                    <a:bodyPr lIns="85725" tIns="76200" rIns="85725" bIns="76200"/>
                    <a:lstStyle/>
                    <a:p>
                      <a:pPr algn="ctr"/>
                      <a:r>
                        <a:rPr sz="2100" b="0">
                          <a:solidFill>
                            <a:srgbClr val="233746"/>
                          </a:solidFill>
                          <a:latin typeface="Arial"/>
                          <a:ea typeface="Arial"/>
                          <a:cs typeface="Arial"/>
                        </a:rPr>
                        <a:t>u = 48 %</a:t>
                      </a:r>
                    </a:p>
                  </a:txBody>
                  <a:tcPr marL="91440" marR="91440" marT="45720" marB="45720" anchor="ctr">
                    <a:solidFill>
                      <a:srgbClr val="FFFFFF"/>
                    </a:solidFill>
                  </a:tcPr>
                </a:tc>
                <a:tc>
                  <a:txBody>
                    <a:bodyPr lIns="85725" tIns="76200" rIns="85725" bIns="76200"/>
                    <a:lstStyle/>
                    <a:p>
                      <a:pPr algn="ctr"/>
                      <a:r>
                        <a:rPr sz="2100" b="0">
                          <a:solidFill>
                            <a:srgbClr val="233746"/>
                          </a:solidFill>
                          <a:latin typeface="Arial"/>
                          <a:ea typeface="Arial"/>
                          <a:cs typeface="Arial"/>
                        </a:rPr>
                        <a:t>Se fija la potencia al 48 %</a:t>
                      </a:r>
                    </a:p>
                  </a:txBody>
                  <a:tcPr marL="91440" marR="91440" marT="45720" marB="45720" anchor="ctr">
                    <a:solidFill>
                      <a:srgbClr val="FFFFFF"/>
                    </a:solidFill>
                  </a:tcPr>
                </a:tc>
              </a:tr>
              <a:tr h="793750">
                <a:tc>
                  <a:txBody>
                    <a:bodyPr lIns="85725" tIns="76200" rIns="85725" bIns="76200"/>
                    <a:lstStyle/>
                    <a:p>
                      <a:pPr algn="ctr"/>
                      <a:r>
                        <a:rPr sz="2100" b="0">
                          <a:solidFill>
                            <a:srgbClr val="233746"/>
                          </a:solidFill>
                          <a:latin typeface="Arial"/>
                          <a:ea typeface="Arial"/>
                          <a:cs typeface="Arial"/>
                        </a:rPr>
                        <a:t>Acción incremental</a:t>
                      </a:r>
                    </a:p>
                  </a:txBody>
                  <a:tcPr marL="91440" marR="91440" marT="45720" marB="45720" anchor="ctr">
                    <a:solidFill>
                      <a:srgbClr val="F4F7F9"/>
                    </a:solidFill>
                  </a:tcPr>
                </a:tc>
                <a:tc>
                  <a:txBody>
                    <a:bodyPr lIns="85725" tIns="76200" rIns="85725" bIns="76200"/>
                    <a:lstStyle/>
                    <a:p>
                      <a:pPr algn="ctr"/>
                      <a:r>
                        <a:rPr sz="2100" b="0">
                          <a:solidFill>
                            <a:srgbClr val="233746"/>
                          </a:solidFill>
                          <a:latin typeface="Arial"/>
                          <a:ea typeface="Arial"/>
                          <a:cs typeface="Arial"/>
                        </a:rPr>
                        <a:t>Δu = +5 puntos</a:t>
                      </a:r>
                    </a:p>
                  </a:txBody>
                  <a:tcPr marL="91440" marR="91440" marT="45720" marB="45720" anchor="ctr">
                    <a:solidFill>
                      <a:srgbClr val="F4F7F9"/>
                    </a:solidFill>
                  </a:tcPr>
                </a:tc>
                <a:tc>
                  <a:txBody>
                    <a:bodyPr lIns="85725" tIns="76200" rIns="85725" bIns="76200"/>
                    <a:lstStyle/>
                    <a:p>
                      <a:pPr algn="ctr"/>
                      <a:r>
                        <a:rPr sz="2100" b="0">
                          <a:solidFill>
                            <a:srgbClr val="233746"/>
                          </a:solidFill>
                          <a:latin typeface="Arial"/>
                          <a:ea typeface="Arial"/>
                          <a:cs typeface="Arial"/>
                        </a:rPr>
                        <a:t>Si u era 40 %, ahora será 45 %</a:t>
                      </a:r>
                    </a:p>
                  </a:txBody>
                  <a:tcPr marL="91440" marR="91440" marT="45720" marB="45720" anchor="ctr">
                    <a:solidFill>
                      <a:srgbClr val="F4F7F9"/>
                    </a:solidFill>
                  </a:tcPr>
                </a:tc>
              </a:tr>
            </a:tbl>
          </a:graphicData>
        </a:graphic>
      </p:graphicFrame>
      <p:sp>
        <p:nvSpPr>
          <p:cNvPr id="12" name="">
            <a:extLst xmlns:a="http://schemas.openxmlformats.org/drawingml/2006/main">
              <a:ext uri="{FF2B5EF4-FFF2-40B4-BE49-F238E27FC236}">
                <a16:creationId xmlns:a16="http://schemas.microsoft.com/office/drawing/2014/main" id="{CB372A3F-692E-4360-9301-78A99E810EF0}"/>
              </a:ext>
            </a:extLst>
          </p:cNvPr>
          <p:cNvSpPr>
            <a:spLocks xmlns:a="http://schemas.openxmlformats.org/drawingml/2006/main" noGrp="1"/>
          </p:cNvSpPr>
          <p:nvPr/>
        </p:nvSpPr>
        <p:spPr>
          <a:xfrm xmlns:a="http://schemas.openxmlformats.org/drawingml/2006/main">
            <a:off x="762000" y="51054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0">
                <a:solidFill>
                  <a:srgbClr val="233746"/>
                </a:solidFill>
                <a:latin typeface="Arial"/>
                <a:ea typeface="Arial"/>
                <a:cs typeface="Arial"/>
              </a:defRPr>
            </a:pPr>
            <a:r>
              <a:rPr sz="2250" b="0">
                <a:solidFill>
                  <a:srgbClr val="233746"/>
                </a:solidFill>
                <a:latin typeface="Arial"/>
                <a:ea typeface="Arial"/>
                <a:cs typeface="Arial"/>
              </a:rPr>
              <a:t>En ambos casos: declarar unidades, respetar límites y fijar el tiempo de muestreo.</a:t>
            </a:r>
          </a:p>
        </p:txBody>
      </p:sp>
      <p:sp>
        <p:nvSpPr>
          <p:cNvPr id="13" name="">
            <a:extLst xmlns:a="http://schemas.openxmlformats.org/drawingml/2006/main">
              <a:ext uri="{FF2B5EF4-FFF2-40B4-BE49-F238E27FC236}">
                <a16:creationId xmlns:a16="http://schemas.microsoft.com/office/drawing/2014/main" id="{CBF832CB-EBF7-4243-84D8-6BC3C4EC2D4E}"/>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Nuestro ejemplo devuelve potencia absoluta. No sumaremos esa potencia a la del instante anterior.</a:t>
            </a:r>
          </a:p>
        </p:txBody>
      </p:sp>
    </p:spTree>
    <p:extLst>
      <p:ext uri="{BB962C8B-B14F-4D97-AF65-F5344CB8AC3E}">
        <p14:creationId xmlns:p14="http://schemas.microsoft.com/office/powerpoint/2010/main" val="1721896526"/>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Muestreo, ruido y banda de tolerancia</a:t>
            </a:r>
          </a:p>
        </p:txBody>
      </p:sp>
      <p:sp>
        <p:nvSpPr>
          <p:cNvPr id="9" name="">
            <a:extLst xmlns:a="http://schemas.openxmlformats.org/drawingml/2006/main">
              <a:ext uri="{FF2B5EF4-FFF2-40B4-BE49-F238E27FC236}">
                <a16:creationId xmlns:a16="http://schemas.microsoft.com/office/drawing/2014/main" id="{C55D46CA-4852-4B67-AB67-35549ABC2D5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DE7FF79-8F3A-442C-B5C1-CCD0915D557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SISTEMAS DE CONTROL    /    Capítulo 13 · diseñar y comprobar</a:t>
            </a:r>
          </a:p>
        </p:txBody>
      </p:sp>
      <p:sp>
        <p:nvSpPr>
          <p:cNvPr id="11" name="">
            <a:extLst xmlns:a="http://schemas.openxmlformats.org/drawingml/2006/main">
              <a:ext uri="{FF2B5EF4-FFF2-40B4-BE49-F238E27FC236}">
                <a16:creationId xmlns:a16="http://schemas.microsoft.com/office/drawing/2014/main" id="{2EC4779A-2006-4F39-B0D7-CD2D7839D523}"/>
              </a:ext>
            </a:extLst>
          </p:cNvPr>
          <p:cNvSpPr>
            <a:spLocks xmlns:a="http://schemas.openxmlformats.org/drawingml/2006/main" noGrp="1"/>
          </p:cNvSpPr>
          <p:nvPr/>
        </p:nvSpPr>
        <p:spPr>
          <a:xfrm xmlns:a="http://schemas.openxmlformats.org/drawingml/2006/main">
            <a:off x="762000" y="16764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AD414C"/>
                </a:solidFill>
                <a:latin typeface="Arial"/>
                <a:ea typeface="Arial"/>
                <a:cs typeface="Arial"/>
              </a:defRPr>
            </a:pPr>
            <a:r>
              <a:rPr sz="2250" b="1">
                <a:solidFill>
                  <a:srgbClr val="AD414C"/>
                </a:solidFill>
                <a:latin typeface="Arial"/>
                <a:ea typeface="Arial"/>
                <a:cs typeface="Arial"/>
              </a:rPr>
              <a:t>Cuándo volver a decidir</a:t>
            </a:r>
          </a:p>
        </p:txBody>
      </p:sp>
      <p:sp>
        <p:nvSpPr>
          <p:cNvPr id="12" name="">
            <a:extLst xmlns:a="http://schemas.openxmlformats.org/drawingml/2006/main">
              <a:ext uri="{FF2B5EF4-FFF2-40B4-BE49-F238E27FC236}">
                <a16:creationId xmlns:a16="http://schemas.microsoft.com/office/drawing/2014/main" id="{5743E73B-ED06-449E-B318-96FAA41B8FC7}"/>
              </a:ext>
            </a:extLst>
          </p:cNvPr>
          <p:cNvSpPr>
            <a:spLocks xmlns:a="http://schemas.openxmlformats.org/drawingml/2006/main" noGrp="1"/>
          </p:cNvSpPr>
          <p:nvPr/>
        </p:nvSpPr>
        <p:spPr>
          <a:xfrm xmlns:a="http://schemas.openxmlformats.org/drawingml/2006/main">
            <a:off x="762000" y="21145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Elegir Δt según la rapidez del proceso. Aquí: una lectura cada 6 segundos.</a:t>
            </a:r>
          </a:p>
        </p:txBody>
      </p:sp>
      <p:sp>
        <p:nvSpPr>
          <p:cNvPr id="13" name="">
            <a:extLst xmlns:a="http://schemas.openxmlformats.org/drawingml/2006/main">
              <a:ext uri="{FF2B5EF4-FFF2-40B4-BE49-F238E27FC236}">
                <a16:creationId xmlns:a16="http://schemas.microsoft.com/office/drawing/2014/main" id="{3EFE9445-82AE-4B27-B5B3-D83F02CCEE35}"/>
              </a:ext>
            </a:extLst>
          </p:cNvPr>
          <p:cNvSpPr>
            <a:spLocks xmlns:a="http://schemas.openxmlformats.org/drawingml/2006/main" noGrp="1"/>
          </p:cNvSpPr>
          <p:nvPr/>
        </p:nvSpPr>
        <p:spPr>
          <a:xfrm xmlns:a="http://schemas.openxmlformats.org/drawingml/2006/main">
            <a:off x="762000" y="29337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AD414C"/>
                </a:solidFill>
                <a:latin typeface="Arial"/>
                <a:ea typeface="Arial"/>
                <a:cs typeface="Arial"/>
              </a:defRPr>
            </a:pPr>
            <a:r>
              <a:rPr sz="2250" b="1">
                <a:solidFill>
                  <a:srgbClr val="AD414C"/>
                </a:solidFill>
                <a:latin typeface="Arial"/>
                <a:ea typeface="Arial"/>
                <a:cs typeface="Arial"/>
              </a:rPr>
              <a:t>El ruido puede activar correcciones innecesarias</a:t>
            </a:r>
          </a:p>
        </p:txBody>
      </p:sp>
      <p:sp>
        <p:nvSpPr>
          <p:cNvPr id="14" name="">
            <a:extLst xmlns:a="http://schemas.openxmlformats.org/drawingml/2006/main">
              <a:ext uri="{FF2B5EF4-FFF2-40B4-BE49-F238E27FC236}">
                <a16:creationId xmlns:a16="http://schemas.microsoft.com/office/drawing/2014/main" id="{0E4C363D-6023-4360-8488-7C053C5B4F78}"/>
              </a:ext>
            </a:extLst>
          </p:cNvPr>
          <p:cNvSpPr>
            <a:spLocks xmlns:a="http://schemas.openxmlformats.org/drawingml/2006/main" noGrp="1"/>
          </p:cNvSpPr>
          <p:nvPr/>
        </p:nvSpPr>
        <p:spPr>
          <a:xfrm xmlns:a="http://schemas.openxmlformats.org/drawingml/2006/main">
            <a:off x="762000" y="3371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La derivada amplifica cambios de la medida. Filtrar suaviza, pero añade retraso.</a:t>
            </a:r>
          </a:p>
        </p:txBody>
      </p:sp>
      <p:sp>
        <p:nvSpPr>
          <p:cNvPr id="15" name="">
            <a:extLst xmlns:a="http://schemas.openxmlformats.org/drawingml/2006/main">
              <a:ext uri="{FF2B5EF4-FFF2-40B4-BE49-F238E27FC236}">
                <a16:creationId xmlns:a16="http://schemas.microsoft.com/office/drawing/2014/main" id="{636B393B-C822-4CB6-8934-46362C142C4B}"/>
              </a:ext>
            </a:extLst>
          </p:cNvPr>
          <p:cNvSpPr>
            <a:spLocks xmlns:a="http://schemas.openxmlformats.org/drawingml/2006/main" noGrp="1"/>
          </p:cNvSpPr>
          <p:nvPr/>
        </p:nvSpPr>
        <p:spPr>
          <a:xfrm xmlns:a="http://schemas.openxmlformats.org/drawingml/2006/main">
            <a:off x="762000" y="41910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AD414C"/>
                </a:solidFill>
                <a:latin typeface="Arial"/>
                <a:ea typeface="Arial"/>
                <a:cs typeface="Arial"/>
              </a:defRPr>
            </a:pPr>
            <a:r>
              <a:rPr sz="2250" b="1">
                <a:solidFill>
                  <a:srgbClr val="AD414C"/>
                </a:solidFill>
                <a:latin typeface="Arial"/>
                <a:ea typeface="Arial"/>
                <a:cs typeface="Arial"/>
              </a:rPr>
              <a:t>Una zona Cero puede tener anchura</a:t>
            </a:r>
          </a:p>
        </p:txBody>
      </p:sp>
      <p:sp>
        <p:nvSpPr>
          <p:cNvPr id="16" name="">
            <a:extLst xmlns:a="http://schemas.openxmlformats.org/drawingml/2006/main">
              <a:ext uri="{FF2B5EF4-FFF2-40B4-BE49-F238E27FC236}">
                <a16:creationId xmlns:a16="http://schemas.microsoft.com/office/drawing/2014/main" id="{57F57265-B7AB-46D8-AE10-9852DF7959F6}"/>
              </a:ext>
            </a:extLst>
          </p:cNvPr>
          <p:cNvSpPr>
            <a:spLocks xmlns:a="http://schemas.openxmlformats.org/drawingml/2006/main" noGrp="1"/>
          </p:cNvSpPr>
          <p:nvPr/>
        </p:nvSpPr>
        <p:spPr>
          <a:xfrm xmlns:a="http://schemas.openxmlformats.org/drawingml/2006/main">
            <a:off x="762000" y="46291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Una tolerancia reduce actuaciones pequeñas. Su tamaño depende de lo que aceptamos.</a:t>
            </a:r>
          </a:p>
        </p:txBody>
      </p:sp>
      <p:sp>
        <p:nvSpPr>
          <p:cNvPr id="17" name="">
            <a:extLst xmlns:a="http://schemas.openxmlformats.org/drawingml/2006/main">
              <a:ext uri="{FF2B5EF4-FFF2-40B4-BE49-F238E27FC236}">
                <a16:creationId xmlns:a16="http://schemas.microsoft.com/office/drawing/2014/main" id="{8AD44EB0-C9EE-45FD-A580-4DCCBF4D642D}"/>
              </a:ext>
            </a:extLst>
          </p:cNvPr>
          <p:cNvSpPr>
            <a:spLocks xmlns:a="http://schemas.openxmlformats.org/drawingml/2006/main" noGrp="1"/>
          </p:cNvSpPr>
          <p:nvPr/>
        </p:nvSpPr>
        <p:spPr>
          <a:xfrm xmlns:a="http://schemas.openxmlformats.org/drawingml/2006/main">
            <a:off x="762000" y="5953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D96B18"/>
                </a:solidFill>
                <a:latin typeface="Arial"/>
                <a:ea typeface="Arial"/>
                <a:cs typeface="Arial"/>
              </a:defRPr>
            </a:pPr>
            <a:r>
              <a:rPr sz="1800" b="1">
                <a:solidFill>
                  <a:srgbClr val="D96B18"/>
                </a:solidFill>
                <a:latin typeface="Arial"/>
                <a:ea typeface="Arial"/>
                <a:cs typeface="Arial"/>
              </a:rPr>
              <a:t>Probar saturación, ruido y cambios de consigna o ambiente forma parte del diseño.</a:t>
            </a:r>
          </a:p>
        </p:txBody>
      </p:sp>
    </p:spTree>
    <p:extLst>
      <p:ext uri="{BB962C8B-B14F-4D97-AF65-F5344CB8AC3E}">
        <p14:creationId xmlns:p14="http://schemas.microsoft.com/office/powerpoint/2010/main" val="172189652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Fuzzy y robustez frente a pequeñas variaciones</a:t>
            </a:r>
          </a:p>
        </p:txBody>
      </p:sp>
      <p:graphicFrame>
        <p:nvGraphicFramePr>
          <p:cNvPr id="28" name="Chart"/>
          <p:cNvGraphicFramePr/>
          <p:nvPr/>
        </p:nvGraphicFramePr>
        <p:xfrm>
          <a:off xmlns:a="http://schemas.openxmlformats.org/drawingml/2006/main" x="619125" y="1714500"/>
          <a:ext xmlns:a="http://schemas.openxmlformats.org/drawingml/2006/main" cx="5619750" cy="3476625"/>
        </p:xfrm>
        <a:graphic xmlns:a="http://schemas.openxmlformats.org/drawingml/2006/main">
          <a:graphicData uri="http://schemas.openxmlformats.org/drawingml/2006/chart">
            <c:chart xmlns:r="http://schemas.openxmlformats.org/officeDocument/2006/relationships" xmlns:c="http://schemas.openxmlformats.org/drawingml/2006/chart" r:id="R8c96d3dbd3ee47d9"/>
          </a:graphicData>
        </a:graphic>
      </p:graphicFrame>
      <p:sp>
        <p:nvSpPr>
          <p:cNvPr id="10" name="">
            <a:extLst xmlns:a="http://schemas.openxmlformats.org/drawingml/2006/main">
              <a:ext uri="{FF2B5EF4-FFF2-40B4-BE49-F238E27FC236}">
                <a16:creationId xmlns:a16="http://schemas.microsoft.com/office/drawing/2014/main" id="{45B2D0BB-33B5-4100-83A0-C22B049BC373}"/>
              </a:ext>
            </a:extLst>
          </p:cNvPr>
          <p:cNvSpPr>
            <a:spLocks xmlns:a="http://schemas.openxmlformats.org/drawingml/2006/main" noGrp="1"/>
          </p:cNvSpPr>
          <p:nvPr/>
        </p:nvSpPr>
        <p:spPr>
          <a:xfrm xmlns:a="http://schemas.openxmlformats.org/drawingml/2006/main">
            <a:off x="6762750" y="1676400"/>
            <a:ext cx="466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Pequeño cambio en la entrada</a:t>
            </a:r>
          </a:p>
        </p:txBody>
      </p:sp>
      <p:sp>
        <p:nvSpPr>
          <p:cNvPr id="11" name="">
            <a:extLst xmlns:a="http://schemas.openxmlformats.org/drawingml/2006/main">
              <a:ext uri="{FF2B5EF4-FFF2-40B4-BE49-F238E27FC236}">
                <a16:creationId xmlns:a16="http://schemas.microsoft.com/office/drawing/2014/main" id="{40EDD1E8-8120-46A5-A568-0F16134A5D14}"/>
              </a:ext>
            </a:extLst>
          </p:cNvPr>
          <p:cNvSpPr>
            <a:spLocks xmlns:a="http://schemas.openxmlformats.org/drawingml/2006/main" noGrp="1"/>
          </p:cNvSpPr>
          <p:nvPr/>
        </p:nvSpPr>
        <p:spPr>
          <a:xfrm xmlns:a="http://schemas.openxmlformats.org/drawingml/2006/main">
            <a:off x="6762750" y="2543175"/>
            <a:ext cx="4667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Error: 0,49 a 0,51 °C</a:t>
            </a:r>
          </a:p>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Potencia: 49,4 a 50,6 %</a:t>
            </a:r>
          </a:p>
        </p:txBody>
      </p:sp>
      <p:sp>
        <p:nvSpPr>
          <p:cNvPr id="12" name="">
            <a:extLst xmlns:a="http://schemas.openxmlformats.org/drawingml/2006/main">
              <a:ext uri="{FF2B5EF4-FFF2-40B4-BE49-F238E27FC236}">
                <a16:creationId xmlns:a16="http://schemas.microsoft.com/office/drawing/2014/main" id="{15FF4B71-1C14-43F6-90E3-232C2FC39222}"/>
              </a:ext>
            </a:extLst>
          </p:cNvPr>
          <p:cNvSpPr>
            <a:spLocks xmlns:a="http://schemas.openxmlformats.org/drawingml/2006/main" noGrp="1"/>
          </p:cNvSpPr>
          <p:nvPr/>
        </p:nvSpPr>
        <p:spPr>
          <a:xfrm xmlns:a="http://schemas.openxmlformats.org/drawingml/2006/main">
            <a:off x="6762750" y="3714750"/>
            <a:ext cx="4619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La estructura combina reglas de forma gradual y evita cambios bruscos de acción.</a:t>
            </a:r>
          </a:p>
        </p:txBody>
      </p:sp>
      <p:sp>
        <p:nvSpPr>
          <p:cNvPr id="13" name="">
            <a:extLst xmlns:a="http://schemas.openxmlformats.org/drawingml/2006/main">
              <a:ext uri="{FF2B5EF4-FFF2-40B4-BE49-F238E27FC236}">
                <a16:creationId xmlns:a16="http://schemas.microsoft.com/office/drawing/2014/main" id="{54548B7B-7C03-4902-955B-35A75611ED44}"/>
              </a:ext>
            </a:extLst>
          </p:cNvPr>
          <p:cNvSpPr>
            <a:spLocks xmlns:a="http://schemas.openxmlformats.org/drawingml/2006/main" noGrp="1"/>
          </p:cNvSpPr>
          <p:nvPr/>
        </p:nvSpPr>
        <p:spPr>
          <a:xfrm xmlns:a="http://schemas.openxmlformats.org/drawingml/2006/main">
            <a:off x="762000" y="54673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D96B18"/>
                </a:solidFill>
                <a:latin typeface="Arial"/>
                <a:ea typeface="Arial"/>
                <a:cs typeface="Arial"/>
              </a:defRPr>
            </a:pPr>
            <a:r>
              <a:rPr sz="2325" b="1">
                <a:solidFill>
                  <a:srgbClr val="D96B18"/>
                </a:solidFill>
                <a:latin typeface="Arial"/>
                <a:ea typeface="Arial"/>
                <a:cs typeface="Arial"/>
              </a:rPr>
              <a:t>Un sistema fuzzy bien diseñado es robusto frente a pequeñas variaciones de entrada.</a:t>
            </a:r>
          </a:p>
        </p:txBody>
      </p:sp>
      <p:sp>
        <p:nvSpPr>
          <p:cNvPr id="15" name="">
            <a:extLst xmlns:a="http://schemas.openxmlformats.org/drawingml/2006/main">
              <a:ext uri="{FF2B5EF4-FFF2-40B4-BE49-F238E27FC236}">
                <a16:creationId xmlns:a16="http://schemas.microsoft.com/office/drawing/2014/main" id="{D35B3C1E-AC6C-4AF0-B404-606645783DCF}"/>
              </a:ext>
            </a:extLst>
          </p:cNvPr>
          <p:cNvSpPr>
            <a:spLocks xmlns:a="http://schemas.openxmlformats.org/drawingml/2006/main" noGrp="1"/>
          </p:cNvSpPr>
          <p:nvPr/>
        </p:nvSpPr>
        <p:spPr>
          <a:xfrm xmlns:a="http://schemas.openxmlformats.org/drawingml/2006/main">
            <a:off x="762000" y="631507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00" b="0">
                <a:solidFill>
                  <a:srgbClr val="233746"/>
                </a:solidFill>
                <a:latin typeface="Arial"/>
                <a:ea typeface="Arial"/>
                <a:cs typeface="Arial"/>
              </a:defRPr>
            </a:pPr>
            <a:r>
              <a:rPr sz="1500" b="0">
                <a:solidFill>
                  <a:srgbClr val="233746"/>
                </a:solidFill>
                <a:latin typeface="Arial"/>
                <a:ea typeface="Arial"/>
                <a:cs typeface="Arial"/>
              </a:rPr>
              <a:t>La suavidad de la acción ayuda; la estabilidad del lazo se comprueba con la planta.</a:t>
            </a:r>
          </a:p>
        </p:txBody>
      </p:sp>
      <p:sp>
        <p:nvSpPr>
          <p:cNvPr id="20" name="">
            <a:extLst xmlns:a="http://schemas.openxmlformats.org/drawingml/2006/main">
              <a:ext uri="{FF2B5EF4-FFF2-40B4-BE49-F238E27FC236}">
                <a16:creationId xmlns:a16="http://schemas.microsoft.com/office/drawing/2014/main" id="{E60E363F-CA0C-47A0-AD9F-14648AF02A6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15EC327-AD1D-48DC-9634-6FC61A56AFE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SISTEMAS DE CONTROL    /    Capítulo 13 · diseñar y comprobar</a:t>
            </a:r>
          </a:p>
        </p:txBody>
      </p:sp>
    </p:spTree>
    <p:extLst>
      <p:ext uri="{BB962C8B-B14F-4D97-AF65-F5344CB8AC3E}">
        <p14:creationId xmlns:p14="http://schemas.microsoft.com/office/powerpoint/2010/main" val="1721896526"/>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Ejemplo guiado: regular la temperatura de una habitación</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57c092229a2b41a0"/>
          <a:stretch xmlns:a="http://schemas.openxmlformats.org/drawingml/2006/main"/>
        </p:blipFill>
        <p:spPr>
          <a:xfrm xmlns:a="http://schemas.openxmlformats.org/drawingml/2006/main">
            <a:off x="5153025" y="1504950"/>
            <a:ext cx="6172200" cy="41148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593F59F3-27DF-4AFC-84CC-6EE90C8296CC}"/>
              </a:ext>
            </a:extLst>
          </p:cNvPr>
          <p:cNvSpPr>
            <a:spLocks xmlns:a="http://schemas.openxmlformats.org/drawingml/2006/main" noGrp="1"/>
          </p:cNvSpPr>
          <p:nvPr/>
        </p:nvSpPr>
        <p:spPr>
          <a:xfrm xmlns:a="http://schemas.openxmlformats.org/drawingml/2006/main">
            <a:off x="762000" y="1781175"/>
            <a:ext cx="4095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700" b="1">
                <a:solidFill>
                  <a:srgbClr val="D96B18"/>
                </a:solidFill>
                <a:latin typeface="Arial"/>
                <a:ea typeface="Arial"/>
                <a:cs typeface="Arial"/>
              </a:defRPr>
            </a:pPr>
            <a:r>
              <a:rPr sz="2700" b="1">
                <a:solidFill>
                  <a:srgbClr val="D96B18"/>
                </a:solidFill>
                <a:latin typeface="Arial"/>
                <a:ea typeface="Arial"/>
                <a:cs typeface="Arial"/>
              </a:rPr>
              <a:t>Queremos 22 °C.</a:t>
            </a:r>
          </a:p>
        </p:txBody>
      </p:sp>
      <p:sp>
        <p:nvSpPr>
          <p:cNvPr id="11" name="">
            <a:extLst xmlns:a="http://schemas.openxmlformats.org/drawingml/2006/main">
              <a:ext uri="{FF2B5EF4-FFF2-40B4-BE49-F238E27FC236}">
                <a16:creationId xmlns:a16="http://schemas.microsoft.com/office/drawing/2014/main" id="{C65BA6CE-F0D2-4D67-9B3C-F1235128224F}"/>
              </a:ext>
            </a:extLst>
          </p:cNvPr>
          <p:cNvSpPr>
            <a:spLocks xmlns:a="http://schemas.openxmlformats.org/drawingml/2006/main" noGrp="1"/>
          </p:cNvSpPr>
          <p:nvPr/>
        </p:nvSpPr>
        <p:spPr>
          <a:xfrm xmlns:a="http://schemas.openxmlformats.org/drawingml/2006/main">
            <a:off x="762000" y="2676525"/>
            <a:ext cx="400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El sensor mide 18 °C.</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El exterior enfría la habitación.</a:t>
            </a:r>
          </a:p>
        </p:txBody>
      </p:sp>
      <p:sp>
        <p:nvSpPr>
          <p:cNvPr id="12" name="">
            <a:extLst xmlns:a="http://schemas.openxmlformats.org/drawingml/2006/main">
              <a:ext uri="{FF2B5EF4-FFF2-40B4-BE49-F238E27FC236}">
                <a16:creationId xmlns:a16="http://schemas.microsoft.com/office/drawing/2014/main" id="{E2577DC4-4B8E-49AC-90E1-24217E20B182}"/>
              </a:ext>
            </a:extLst>
          </p:cNvPr>
          <p:cNvSpPr>
            <a:spLocks xmlns:a="http://schemas.openxmlformats.org/drawingml/2006/main" noGrp="1"/>
          </p:cNvSpPr>
          <p:nvPr/>
        </p:nvSpPr>
        <p:spPr>
          <a:xfrm xmlns:a="http://schemas.openxmlformats.org/drawingml/2006/main">
            <a:off x="762000" y="4076700"/>
            <a:ext cx="4476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1">
                <a:solidFill>
                  <a:srgbClr val="233746"/>
                </a:solidFill>
                <a:latin typeface="Arial"/>
                <a:ea typeface="Arial"/>
                <a:cs typeface="Arial"/>
              </a:defRPr>
            </a:pPr>
            <a:r>
              <a:rPr sz="2400" b="1">
                <a:solidFill>
                  <a:srgbClr val="233746"/>
                </a:solidFill>
                <a:latin typeface="Arial"/>
                <a:ea typeface="Arial"/>
                <a:cs typeface="Arial"/>
              </a:rPr>
              <a:t>Nuestra decisión:</a:t>
            </a:r>
          </a:p>
          <a:p xmlns:a="http://schemas.openxmlformats.org/drawingml/2006/main">
            <a:pPr>
              <a:buNone/>
              <a:defRPr sz="2400" b="1">
                <a:solidFill>
                  <a:srgbClr val="233746"/>
                </a:solidFill>
                <a:latin typeface="Arial"/>
                <a:ea typeface="Arial"/>
                <a:cs typeface="Arial"/>
              </a:defRPr>
            </a:pPr>
            <a:r>
              <a:rPr sz="2400" b="1">
                <a:solidFill>
                  <a:srgbClr val="233746"/>
                </a:solidFill>
                <a:latin typeface="Arial"/>
                <a:ea typeface="Arial"/>
                <a:cs typeface="Arial"/>
              </a:rPr>
              <a:t>¿qué potencia aplicar</a:t>
            </a:r>
          </a:p>
          <a:p xmlns:a="http://schemas.openxmlformats.org/drawingml/2006/main">
            <a:pPr>
              <a:buNone/>
              <a:defRPr sz="2400" b="1">
                <a:solidFill>
                  <a:srgbClr val="233746"/>
                </a:solidFill>
                <a:latin typeface="Arial"/>
                <a:ea typeface="Arial"/>
                <a:cs typeface="Arial"/>
              </a:defRPr>
            </a:pPr>
            <a:r>
              <a:rPr sz="2400" b="1">
                <a:solidFill>
                  <a:srgbClr val="233746"/>
                </a:solidFill>
                <a:latin typeface="Arial"/>
                <a:ea typeface="Arial"/>
                <a:cs typeface="Arial"/>
              </a:rPr>
              <a:t>en el siguiente instante?</a:t>
            </a:r>
          </a:p>
        </p:txBody>
      </p:sp>
      <p:sp>
        <p:nvSpPr>
          <p:cNvPr id="13" name="">
            <a:extLst xmlns:a="http://schemas.openxmlformats.org/drawingml/2006/main">
              <a:ext uri="{FF2B5EF4-FFF2-40B4-BE49-F238E27FC236}">
                <a16:creationId xmlns:a16="http://schemas.microsoft.com/office/drawing/2014/main" id="{5185A7BA-C8B8-470B-B6C3-8AE6D8E01E2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potencia cambia la temperatura. Volvemos a medir y decidimos otra vez.</a:t>
            </a:r>
          </a:p>
        </p:txBody>
      </p:sp>
      <p:sp>
        <p:nvSpPr>
          <p:cNvPr id="17" name="">
            <a:extLst xmlns:a="http://schemas.openxmlformats.org/drawingml/2006/main">
              <a:ext uri="{FF2B5EF4-FFF2-40B4-BE49-F238E27FC236}">
                <a16:creationId xmlns:a16="http://schemas.microsoft.com/office/drawing/2014/main" id="{CCBB9ADD-FFC1-4451-9153-282445E1E6D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720432A-8349-434B-A27D-82A92E34E00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Caso térmico: especificación antes de diseñar</a:t>
            </a:r>
          </a:p>
        </p:txBody>
      </p:sp>
      <p:graphicFrame>
        <p:nvGraphicFramePr>
          <p:cNvPr id="23" name=""/>
          <p:cNvGraphicFramePr/>
          <p:nvPr/>
        </p:nvGraphicFramePr>
        <p:xfrm>
          <a:off xmlns:a="http://schemas.openxmlformats.org/drawingml/2006/main" x="762000" y="1790700"/>
          <a:ext xmlns:a="http://schemas.openxmlformats.org/drawingml/2006/main" cx="10668000" cy="3438525"/>
        </p:xfrm>
        <a:graphic xmlns:a="http://schemas.openxmlformats.org/drawingml/2006/main">
          <a:graphicData uri="http://schemas.openxmlformats.org/drawingml/2006/table">
            <a:tbl>
              <a:tblPr/>
              <a:tblGrid>
                <a:gridCol w="2714625"/>
                <a:gridCol w="7953375"/>
              </a:tblGrid>
              <a:tr h="573088">
                <a:tc>
                  <a:txBody>
                    <a:bodyPr lIns="85725" tIns="76200" rIns="85725" bIns="76200"/>
                    <a:lstStyle/>
                    <a:p>
                      <a:pPr algn="ctr">
                        <a:buNone/>
                      </a:pPr>
                      <a:r>
                        <a:rPr sz="1950" b="1">
                          <a:solidFill>
                            <a:srgbClr val="2162A0"/>
                          </a:solidFill>
                          <a:latin typeface="Arial"/>
                          <a:ea typeface="Arial"/>
                          <a:cs typeface="Arial"/>
                        </a:rPr>
                        <a:t>Elemento</a:t>
                      </a:r>
                    </a:p>
                  </a:txBody>
                  <a:tcPr marL="91440" marR="91440" marT="45720" marB="45720" anchor="ctr">
                    <a:solidFill>
                      <a:srgbClr val="E7EFF5"/>
                    </a:solidFill>
                  </a:tcPr>
                </a:tc>
                <a:tc>
                  <a:txBody>
                    <a:bodyPr lIns="85725" tIns="76200" rIns="85725" bIns="76200"/>
                    <a:lstStyle/>
                    <a:p>
                      <a:pPr algn="ctr">
                        <a:buNone/>
                      </a:pPr>
                      <a:r>
                        <a:rPr sz="1950" b="1">
                          <a:solidFill>
                            <a:srgbClr val="2162A0"/>
                          </a:solidFill>
                          <a:latin typeface="Arial"/>
                          <a:ea typeface="Arial"/>
                          <a:cs typeface="Arial"/>
                        </a:rPr>
                        <a:t>Definición del ejemplo</a:t>
                      </a:r>
                    </a:p>
                  </a:txBody>
                  <a:tcPr marL="91440" marR="91440" marT="45720" marB="45720" anchor="ctr">
                    <a:solidFill>
                      <a:srgbClr val="E7EFF5"/>
                    </a:solidFill>
                  </a:tcPr>
                </a:tc>
              </a:tr>
              <a:tr h="573088">
                <a:tc>
                  <a:txBody>
                    <a:bodyPr lIns="85725" tIns="76200" rIns="85725" bIns="76200"/>
                    <a:lstStyle/>
                    <a:p>
                      <a:pPr algn="ctr">
                        <a:buNone/>
                      </a:pPr>
                      <a:r>
                        <a:rPr sz="1950" b="0">
                          <a:solidFill>
                            <a:srgbClr val="233746"/>
                          </a:solidFill>
                          <a:latin typeface="Arial"/>
                          <a:ea typeface="Arial"/>
                          <a:cs typeface="Arial"/>
                        </a:rPr>
                        <a:t>Objetivo</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Mantener r = 22 °C; banda de evaluación ±0,2 °C</a:t>
                      </a:r>
                    </a:p>
                  </a:txBody>
                  <a:tcPr marL="91440" marR="91440" marT="45720" marB="45720" anchor="ctr">
                    <a:solidFill>
                      <a:srgbClr val="FFFFFF"/>
                    </a:solidFill>
                  </a:tcPr>
                </a:tc>
              </a:tr>
              <a:tr h="573088">
                <a:tc>
                  <a:txBody>
                    <a:bodyPr lIns="85725" tIns="76200" rIns="85725" bIns="76200"/>
                    <a:lstStyle/>
                    <a:p>
                      <a:pPr algn="ctr">
                        <a:buNone/>
                      </a:pPr>
                      <a:r>
                        <a:rPr sz="1950" b="0">
                          <a:solidFill>
                            <a:srgbClr val="233746"/>
                          </a:solidFill>
                          <a:latin typeface="Arial"/>
                          <a:ea typeface="Arial"/>
                          <a:cs typeface="Arial"/>
                        </a:rPr>
                        <a:t>Entradas</a:t>
                      </a:r>
                    </a:p>
                  </a:txBody>
                  <a:tcPr marL="91440" marR="91440" marT="45720" marB="45720" anchor="ctr">
                    <a:solidFill>
                      <a:srgbClr val="F4F7F9"/>
                    </a:solidFill>
                  </a:tcPr>
                </a:tc>
                <a:tc>
                  <a:txBody>
                    <a:bodyPr lIns="85725" tIns="76200" rIns="85725" bIns="76200"/>
                    <a:lstStyle/>
                    <a:p>
                      <a:pPr algn="ctr">
                        <a:buNone/>
                      </a:pPr>
                      <a:r>
                        <a:rPr sz="1950" b="0">
                          <a:solidFill>
                            <a:srgbClr val="233746"/>
                          </a:solidFill>
                          <a:latin typeface="Arial"/>
                          <a:ea typeface="Arial"/>
                          <a:cs typeface="Arial"/>
                        </a:rPr>
                        <a:t>Error e (°C) y variación de/dt (°C/min)</a:t>
                      </a:r>
                    </a:p>
                  </a:txBody>
                  <a:tcPr marL="91440" marR="91440" marT="45720" marB="45720" anchor="ctr">
                    <a:solidFill>
                      <a:srgbClr val="F4F7F9"/>
                    </a:solidFill>
                  </a:tcPr>
                </a:tc>
              </a:tr>
              <a:tr h="573088">
                <a:tc>
                  <a:txBody>
                    <a:bodyPr lIns="85725" tIns="76200" rIns="85725" bIns="76200"/>
                    <a:lstStyle/>
                    <a:p>
                      <a:pPr algn="ctr">
                        <a:buNone/>
                      </a:pPr>
                      <a:r>
                        <a:rPr sz="1950" b="0">
                          <a:solidFill>
                            <a:srgbClr val="233746"/>
                          </a:solidFill>
                          <a:latin typeface="Arial"/>
                          <a:ea typeface="Arial"/>
                          <a:cs typeface="Arial"/>
                        </a:rPr>
                        <a:t>Salida</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Potencia absoluta u, entre 0 y 100 %</a:t>
                      </a:r>
                    </a:p>
                  </a:txBody>
                  <a:tcPr marL="91440" marR="91440" marT="45720" marB="45720" anchor="ctr">
                    <a:solidFill>
                      <a:srgbClr val="FFFFFF"/>
                    </a:solidFill>
                  </a:tcPr>
                </a:tc>
              </a:tr>
              <a:tr h="573088">
                <a:tc>
                  <a:txBody>
                    <a:bodyPr lIns="85725" tIns="76200" rIns="85725" bIns="76200"/>
                    <a:lstStyle/>
                    <a:p>
                      <a:pPr algn="ctr">
                        <a:buNone/>
                      </a:pPr>
                      <a:r>
                        <a:rPr sz="1950" b="0">
                          <a:solidFill>
                            <a:srgbClr val="233746"/>
                          </a:solidFill>
                          <a:latin typeface="Arial"/>
                          <a:ea typeface="Arial"/>
                          <a:cs typeface="Arial"/>
                        </a:rPr>
                        <a:t>Muestreo</a:t>
                      </a:r>
                    </a:p>
                  </a:txBody>
                  <a:tcPr marL="91440" marR="91440" marT="45720" marB="45720" anchor="ctr">
                    <a:solidFill>
                      <a:srgbClr val="F4F7F9"/>
                    </a:solidFill>
                  </a:tcPr>
                </a:tc>
                <a:tc>
                  <a:txBody>
                    <a:bodyPr lIns="85725" tIns="76200" rIns="85725" bIns="76200"/>
                    <a:lstStyle/>
                    <a:p>
                      <a:pPr algn="ctr">
                        <a:buNone/>
                      </a:pPr>
                      <a:r>
                        <a:rPr sz="1950" b="0">
                          <a:solidFill>
                            <a:srgbClr val="233746"/>
                          </a:solidFill>
                          <a:latin typeface="Arial"/>
                          <a:ea typeface="Arial"/>
                          <a:cs typeface="Arial"/>
                        </a:rPr>
                        <a:t>Cada 0,1 min = 6 s</a:t>
                      </a:r>
                    </a:p>
                  </a:txBody>
                  <a:tcPr marL="91440" marR="91440" marT="45720" marB="45720" anchor="ctr">
                    <a:solidFill>
                      <a:srgbClr val="F4F7F9"/>
                    </a:solidFill>
                  </a:tcPr>
                </a:tc>
              </a:tr>
              <a:tr h="573088">
                <a:tc>
                  <a:txBody>
                    <a:bodyPr lIns="85725" tIns="76200" rIns="85725" bIns="76200"/>
                    <a:lstStyle/>
                    <a:p>
                      <a:pPr algn="ctr">
                        <a:buNone/>
                      </a:pPr>
                      <a:r>
                        <a:rPr sz="1950" b="0">
                          <a:solidFill>
                            <a:srgbClr val="233746"/>
                          </a:solidFill>
                          <a:latin typeface="Arial"/>
                          <a:ea typeface="Arial"/>
                          <a:cs typeface="Arial"/>
                        </a:rPr>
                        <a:t>Ensayo inicial</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T(0) = 18 °C; ambiente Ta = 18 °C</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44DE7600-A929-494F-85D6-F49A1C523B73}"/>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Datos docentes para simulación: no son especificaciones de una instalación real.</a:t>
            </a:r>
          </a:p>
        </p:txBody>
      </p:sp>
      <p:sp>
        <p:nvSpPr>
          <p:cNvPr id="15" name="">
            <a:extLst xmlns:a="http://schemas.openxmlformats.org/drawingml/2006/main">
              <a:ext uri="{FF2B5EF4-FFF2-40B4-BE49-F238E27FC236}">
                <a16:creationId xmlns:a16="http://schemas.microsoft.com/office/drawing/2014/main" id="{8A4E9BBC-4F10-4764-9FF5-9F3F9DECC0C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A4DA067-216A-4A74-8237-31985981112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1. Medir y calcular error y tendencia</a:t>
            </a:r>
          </a:p>
        </p:txBody>
      </p:sp>
      <p:graphicFrame>
        <p:nvGraphicFramePr>
          <p:cNvPr id="24" name=""/>
          <p:cNvGraphicFramePr/>
          <p:nvPr/>
        </p:nvGraphicFramePr>
        <p:xfrm>
          <a:off xmlns:a="http://schemas.openxmlformats.org/drawingml/2006/main" x="762000" y="1714500"/>
          <a:ext xmlns:a="http://schemas.openxmlformats.org/drawingml/2006/main" cx="10668000" cy="2095500"/>
        </p:xfrm>
        <a:graphic xmlns:a="http://schemas.openxmlformats.org/drawingml/2006/main">
          <a:graphicData uri="http://schemas.openxmlformats.org/drawingml/2006/table">
            <a:tbl>
              <a:tblPr/>
              <a:tblGrid>
                <a:gridCol w="2714625"/>
                <a:gridCol w="3095625"/>
                <a:gridCol w="4857750"/>
              </a:tblGrid>
              <a:tr h="698500">
                <a:tc>
                  <a:txBody>
                    <a:bodyPr lIns="85725" tIns="76200" rIns="85725" bIns="76200"/>
                    <a:lstStyle/>
                    <a:p>
                      <a:pPr algn="ctr">
                        <a:buNone/>
                      </a:pPr>
                      <a:r>
                        <a:rPr sz="2250" b="1">
                          <a:solidFill>
                            <a:srgbClr val="2162A0"/>
                          </a:solidFill>
                          <a:latin typeface="Arial"/>
                          <a:ea typeface="Arial"/>
                          <a:cs typeface="Arial"/>
                        </a:rPr>
                        <a:t>Instante</a:t>
                      </a:r>
                    </a:p>
                  </a:txBody>
                  <a:tcPr marL="91440" marR="91440" marT="45720" marB="45720" anchor="ctr">
                    <a:solidFill>
                      <a:srgbClr val="E7EFF5"/>
                    </a:solidFill>
                  </a:tcPr>
                </a:tc>
                <a:tc>
                  <a:txBody>
                    <a:bodyPr lIns="85725" tIns="76200" rIns="85725" bIns="76200"/>
                    <a:lstStyle/>
                    <a:p>
                      <a:pPr algn="ctr">
                        <a:buNone/>
                      </a:pPr>
                      <a:r>
                        <a:rPr sz="2250" b="1">
                          <a:solidFill>
                            <a:srgbClr val="2162A0"/>
                          </a:solidFill>
                          <a:latin typeface="Arial"/>
                          <a:ea typeface="Arial"/>
                          <a:cs typeface="Arial"/>
                        </a:rPr>
                        <a:t>Temperatura</a:t>
                      </a:r>
                    </a:p>
                  </a:txBody>
                  <a:tcPr marL="91440" marR="91440" marT="45720" marB="45720" anchor="ctr">
                    <a:solidFill>
                      <a:srgbClr val="E7EFF5"/>
                    </a:solidFill>
                  </a:tcPr>
                </a:tc>
                <a:tc>
                  <a:txBody>
                    <a:bodyPr lIns="85725" tIns="76200" rIns="85725" bIns="76200"/>
                    <a:lstStyle/>
                    <a:p>
                      <a:pPr algn="ctr">
                        <a:buNone/>
                      </a:pPr>
                      <a:r>
                        <a:rPr sz="2250" b="1">
                          <a:solidFill>
                            <a:srgbClr val="2162A0"/>
                          </a:solidFill>
                          <a:latin typeface="Arial"/>
                          <a:ea typeface="Arial"/>
                          <a:cs typeface="Arial"/>
                        </a:rPr>
                        <a:t>Error r − T</a:t>
                      </a:r>
                    </a:p>
                  </a:txBody>
                  <a:tcPr marL="91440" marR="91440" marT="45720" marB="45720" anchor="ctr">
                    <a:solidFill>
                      <a:srgbClr val="E7EFF5"/>
                    </a:solidFill>
                  </a:tcPr>
                </a:tc>
              </a:tr>
              <a:tr h="698500">
                <a:tc>
                  <a:txBody>
                    <a:bodyPr lIns="85725" tIns="76200" rIns="85725" bIns="76200"/>
                    <a:lstStyle/>
                    <a:p>
                      <a:pPr algn="ctr">
                        <a:buNone/>
                      </a:pPr>
                      <a:r>
                        <a:rPr sz="2250" b="0">
                          <a:solidFill>
                            <a:srgbClr val="233746"/>
                          </a:solidFill>
                          <a:latin typeface="Arial"/>
                          <a:ea typeface="Arial"/>
                          <a:cs typeface="Arial"/>
                        </a:rPr>
                        <a:t>Anterior</a:t>
                      </a:r>
                    </a:p>
                  </a:txBody>
                  <a:tcPr marL="91440" marR="91440" marT="45720" marB="45720" anchor="ctr">
                    <a:solidFill>
                      <a:srgbClr val="FFFFFF"/>
                    </a:solidFill>
                  </a:tcPr>
                </a:tc>
                <a:tc>
                  <a:txBody>
                    <a:bodyPr lIns="85725" tIns="76200" rIns="85725" bIns="76200"/>
                    <a:lstStyle/>
                    <a:p>
                      <a:pPr algn="ctr">
                        <a:buNone/>
                      </a:pPr>
                      <a:r>
                        <a:rPr sz="2250" b="0">
                          <a:solidFill>
                            <a:srgbClr val="233746"/>
                          </a:solidFill>
                          <a:latin typeface="Arial"/>
                          <a:ea typeface="Arial"/>
                          <a:cs typeface="Arial"/>
                        </a:rPr>
                        <a:t>20,02 °C</a:t>
                      </a:r>
                    </a:p>
                  </a:txBody>
                  <a:tcPr marL="91440" marR="91440" marT="45720" marB="45720" anchor="ctr">
                    <a:solidFill>
                      <a:srgbClr val="FFFFFF"/>
                    </a:solidFill>
                  </a:tcPr>
                </a:tc>
                <a:tc>
                  <a:txBody>
                    <a:bodyPr lIns="85725" tIns="76200" rIns="85725" bIns="76200"/>
                    <a:lstStyle/>
                    <a:p>
                      <a:pPr algn="ctr">
                        <a:buNone/>
                      </a:pPr>
                      <a:r>
                        <a:rPr sz="2250" b="0">
                          <a:solidFill>
                            <a:srgbClr val="233746"/>
                          </a:solidFill>
                          <a:latin typeface="Arial"/>
                          <a:ea typeface="Arial"/>
                          <a:cs typeface="Arial"/>
                        </a:rPr>
                        <a:t>22 − 20,02 = 1,98 °C</a:t>
                      </a:r>
                    </a:p>
                  </a:txBody>
                  <a:tcPr marL="91440" marR="91440" marT="45720" marB="45720" anchor="ctr">
                    <a:solidFill>
                      <a:srgbClr val="FFFFFF"/>
                    </a:solidFill>
                  </a:tcPr>
                </a:tc>
              </a:tr>
              <a:tr h="698500">
                <a:tc>
                  <a:txBody>
                    <a:bodyPr lIns="85725" tIns="76200" rIns="85725" bIns="76200"/>
                    <a:lstStyle/>
                    <a:p>
                      <a:pPr algn="ctr">
                        <a:buNone/>
                      </a:pPr>
                      <a:r>
                        <a:rPr sz="2250" b="0">
                          <a:solidFill>
                            <a:srgbClr val="233746"/>
                          </a:solidFill>
                          <a:latin typeface="Arial"/>
                          <a:ea typeface="Arial"/>
                          <a:cs typeface="Arial"/>
                        </a:rPr>
                        <a:t>Actual</a:t>
                      </a:r>
                    </a:p>
                  </a:txBody>
                  <a:tcPr marL="91440" marR="91440" marT="45720" marB="45720" anchor="ctr">
                    <a:solidFill>
                      <a:srgbClr val="F4F7F9"/>
                    </a:solidFill>
                  </a:tcPr>
                </a:tc>
                <a:tc>
                  <a:txBody>
                    <a:bodyPr lIns="85725" tIns="76200" rIns="85725" bIns="76200"/>
                    <a:lstStyle/>
                    <a:p>
                      <a:pPr algn="ctr">
                        <a:buNone/>
                      </a:pPr>
                      <a:r>
                        <a:rPr sz="2250" b="0">
                          <a:solidFill>
                            <a:srgbClr val="233746"/>
                          </a:solidFill>
                          <a:latin typeface="Arial"/>
                          <a:ea typeface="Arial"/>
                          <a:cs typeface="Arial"/>
                        </a:rPr>
                        <a:t>20,00 °C</a:t>
                      </a:r>
                    </a:p>
                  </a:txBody>
                  <a:tcPr marL="91440" marR="91440" marT="45720" marB="45720" anchor="ctr">
                    <a:solidFill>
                      <a:srgbClr val="F4F7F9"/>
                    </a:solidFill>
                  </a:tcPr>
                </a:tc>
                <a:tc>
                  <a:txBody>
                    <a:bodyPr lIns="85725" tIns="76200" rIns="85725" bIns="76200"/>
                    <a:lstStyle/>
                    <a:p>
                      <a:pPr algn="ctr">
                        <a:buNone/>
                      </a:pPr>
                      <a:r>
                        <a:rPr sz="2250" b="0">
                          <a:solidFill>
                            <a:srgbClr val="233746"/>
                          </a:solidFill>
                          <a:latin typeface="Arial"/>
                          <a:ea typeface="Arial"/>
                          <a:cs typeface="Arial"/>
                        </a:rPr>
                        <a:t>22 − 20,00 = 2,00 °C</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699BDD01-3654-49F5-A8B7-A33CD77112AC}"/>
              </a:ext>
            </a:extLst>
          </p:cNvPr>
          <p:cNvSpPr>
            <a:spLocks xmlns:a="http://schemas.openxmlformats.org/drawingml/2006/main" noGrp="1"/>
          </p:cNvSpPr>
          <p:nvPr/>
        </p:nvSpPr>
        <p:spPr>
          <a:xfrm xmlns:a="http://schemas.openxmlformats.org/drawingml/2006/main">
            <a:off x="762000" y="421957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D96B18"/>
                </a:solidFill>
                <a:latin typeface="Arial"/>
                <a:ea typeface="Arial"/>
                <a:cs typeface="Arial"/>
              </a:defRPr>
            </a:pPr>
            <a:r>
              <a:rPr sz="2550" b="1">
                <a:solidFill>
                  <a:srgbClr val="D96B18"/>
                </a:solidFill>
                <a:latin typeface="Arial"/>
                <a:ea typeface="Arial"/>
                <a:cs typeface="Arial"/>
              </a:rPr>
              <a:t>Variación del error = (2,00 − 1,98) / 0,1 = 0,2 °C/min</a:t>
            </a:r>
          </a:p>
        </p:txBody>
      </p:sp>
      <p:sp>
        <p:nvSpPr>
          <p:cNvPr id="11" name="">
            <a:extLst xmlns:a="http://schemas.openxmlformats.org/drawingml/2006/main">
              <a:ext uri="{FF2B5EF4-FFF2-40B4-BE49-F238E27FC236}">
                <a16:creationId xmlns:a16="http://schemas.microsoft.com/office/drawing/2014/main" id="{39DF7525-6C78-4173-A047-27835C0A18F9}"/>
              </a:ext>
            </a:extLst>
          </p:cNvPr>
          <p:cNvSpPr>
            <a:spLocks xmlns:a="http://schemas.openxmlformats.org/drawingml/2006/main" noGrp="1"/>
          </p:cNvSpPr>
          <p:nvPr/>
        </p:nvSpPr>
        <p:spPr>
          <a:xfrm xmlns:a="http://schemas.openxmlformats.org/drawingml/2006/main">
            <a:off x="762000" y="51816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e &gt; 0: falta temperatura.</a:t>
            </a:r>
          </a:p>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de/dt &gt; 0: el error está creciendo.</a:t>
            </a:r>
          </a:p>
        </p:txBody>
      </p:sp>
      <p:sp>
        <p:nvSpPr>
          <p:cNvPr id="12" name="">
            <a:extLst xmlns:a="http://schemas.openxmlformats.org/drawingml/2006/main">
              <a:ext uri="{FF2B5EF4-FFF2-40B4-BE49-F238E27FC236}">
                <a16:creationId xmlns:a16="http://schemas.microsoft.com/office/drawing/2014/main" id="{98195B8B-A718-462B-B1E5-65AA8D2EC56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signo tiene significado físico: la habitación está perdiendo temperatura.</a:t>
            </a:r>
          </a:p>
        </p:txBody>
      </p:sp>
      <p:sp>
        <p:nvSpPr>
          <p:cNvPr id="16" name="">
            <a:extLst xmlns:a="http://schemas.openxmlformats.org/drawingml/2006/main">
              <a:ext uri="{FF2B5EF4-FFF2-40B4-BE49-F238E27FC236}">
                <a16:creationId xmlns:a16="http://schemas.microsoft.com/office/drawing/2014/main" id="{0BC9D3A5-2D55-40FB-B45D-E696CBEC6D7E}"/>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E5EF800-BC28-45C4-BBB4-7936C34ADFE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2. Normalizar los rangos de entrada</a:t>
            </a:r>
          </a:p>
        </p:txBody>
      </p:sp>
      <p:sp>
        <p:nvSpPr>
          <p:cNvPr id="9" name="">
            <a:extLst xmlns:a="http://schemas.openxmlformats.org/drawingml/2006/main">
              <a:ext uri="{FF2B5EF4-FFF2-40B4-BE49-F238E27FC236}">
                <a16:creationId xmlns:a16="http://schemas.microsoft.com/office/drawing/2014/main" id="{73C7868E-1601-4D04-B8B8-8DB1936F26DA}"/>
              </a:ext>
            </a:extLst>
          </p:cNvPr>
          <p:cNvSpPr>
            <a:spLocks xmlns:a="http://schemas.openxmlformats.org/drawingml/2006/main" noGrp="1"/>
          </p:cNvSpPr>
          <p:nvPr/>
        </p:nvSpPr>
        <p:spPr>
          <a:xfrm xmlns:a="http://schemas.openxmlformats.org/drawingml/2006/main">
            <a:off x="762000" y="190500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925" b="1">
                <a:solidFill>
                  <a:srgbClr val="D96B18"/>
                </a:solidFill>
                <a:latin typeface="Arial"/>
                <a:ea typeface="Arial"/>
                <a:cs typeface="Arial"/>
              </a:defRPr>
            </a:pPr>
            <a:r>
              <a:rPr sz="2925" b="1">
                <a:solidFill>
                  <a:srgbClr val="D96B18"/>
                </a:solidFill>
                <a:latin typeface="Arial"/>
                <a:ea typeface="Arial"/>
                <a:cs typeface="Arial"/>
              </a:rPr>
              <a:t>E = clip(e / 4, −1, 1)</a:t>
            </a:r>
          </a:p>
        </p:txBody>
      </p:sp>
      <p:sp>
        <p:nvSpPr>
          <p:cNvPr id="10" name="">
            <a:extLst xmlns:a="http://schemas.openxmlformats.org/drawingml/2006/main">
              <a:ext uri="{FF2B5EF4-FFF2-40B4-BE49-F238E27FC236}">
                <a16:creationId xmlns:a16="http://schemas.microsoft.com/office/drawing/2014/main" id="{D1F07ECF-0032-453A-8B0F-5B62D5D91947}"/>
              </a:ext>
            </a:extLst>
          </p:cNvPr>
          <p:cNvSpPr>
            <a:spLocks xmlns:a="http://schemas.openxmlformats.org/drawingml/2006/main" noGrp="1"/>
          </p:cNvSpPr>
          <p:nvPr/>
        </p:nvSpPr>
        <p:spPr>
          <a:xfrm xmlns:a="http://schemas.openxmlformats.org/drawingml/2006/main">
            <a:off x="762000" y="28860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925" b="1">
                <a:solidFill>
                  <a:srgbClr val="2162A0"/>
                </a:solidFill>
                <a:latin typeface="Arial"/>
                <a:ea typeface="Arial"/>
                <a:cs typeface="Arial"/>
              </a:defRPr>
            </a:pPr>
            <a:r>
              <a:rPr sz="2925" b="1">
                <a:solidFill>
                  <a:srgbClr val="2162A0"/>
                </a:solidFill>
                <a:latin typeface="Arial"/>
                <a:ea typeface="Arial"/>
                <a:cs typeface="Arial"/>
              </a:rPr>
              <a:t>D = clip((de/dt) / 1, −1, 1)</a:t>
            </a:r>
          </a:p>
        </p:txBody>
      </p:sp>
      <p:sp>
        <p:nvSpPr>
          <p:cNvPr id="11" name="">
            <a:extLst xmlns:a="http://schemas.openxmlformats.org/drawingml/2006/main">
              <a:ext uri="{FF2B5EF4-FFF2-40B4-BE49-F238E27FC236}">
                <a16:creationId xmlns:a16="http://schemas.microsoft.com/office/drawing/2014/main" id="{62792AEA-8D9E-40A3-88BC-6F2A029BD7E5}"/>
              </a:ext>
            </a:extLst>
          </p:cNvPr>
          <p:cNvSpPr>
            <a:spLocks xmlns:a="http://schemas.openxmlformats.org/drawingml/2006/main" noGrp="1"/>
          </p:cNvSpPr>
          <p:nvPr/>
        </p:nvSpPr>
        <p:spPr>
          <a:xfrm xmlns:a="http://schemas.openxmlformats.org/drawingml/2006/main">
            <a:off x="762000" y="4105275"/>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233746"/>
                </a:solidFill>
                <a:latin typeface="Arial"/>
                <a:ea typeface="Arial"/>
                <a:cs typeface="Arial"/>
              </a:defRPr>
            </a:pPr>
            <a:r>
              <a:rPr sz="2400" b="0">
                <a:solidFill>
                  <a:srgbClr val="233746"/>
                </a:solidFill>
                <a:latin typeface="Arial"/>
                <a:ea typeface="Arial"/>
                <a:cs typeface="Arial"/>
              </a:rPr>
              <a:t>Ejemplo: e = 2 °C y de/dt = 0,2 °C/min</a:t>
            </a:r>
          </a:p>
          <a:p xmlns:a="http://schemas.openxmlformats.org/drawingml/2006/main">
            <a:pPr>
              <a:buNone/>
              <a:defRPr sz="2400" b="0">
                <a:solidFill>
                  <a:srgbClr val="233746"/>
                </a:solidFill>
                <a:latin typeface="Arial"/>
                <a:ea typeface="Arial"/>
                <a:cs typeface="Arial"/>
              </a:defRPr>
            </a:pPr>
            <a:r>
              <a:rPr sz="2400" b="0">
                <a:solidFill>
                  <a:srgbClr val="233746"/>
                </a:solidFill>
                <a:latin typeface="Arial"/>
                <a:ea typeface="Arial"/>
                <a:cs typeface="Arial"/>
              </a:rPr>
              <a:t>→ E = 0,5 y D = 0,2.</a:t>
            </a:r>
          </a:p>
        </p:txBody>
      </p:sp>
      <p:sp>
        <p:nvSpPr>
          <p:cNvPr id="12" name="">
            <a:extLst xmlns:a="http://schemas.openxmlformats.org/drawingml/2006/main">
              <a:ext uri="{FF2B5EF4-FFF2-40B4-BE49-F238E27FC236}">
                <a16:creationId xmlns:a16="http://schemas.microsoft.com/office/drawing/2014/main" id="{00E283EA-DDE2-44FF-ADCD-BBB18173A6C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saturación de entradas es explícita; fuera del rango seguimos en el hombro extremo.</a:t>
            </a:r>
          </a:p>
        </p:txBody>
      </p:sp>
      <p:sp>
        <p:nvSpPr>
          <p:cNvPr id="13" name="">
            <a:extLst xmlns:a="http://schemas.openxmlformats.org/drawingml/2006/main">
              <a:ext uri="{FF2B5EF4-FFF2-40B4-BE49-F238E27FC236}">
                <a16:creationId xmlns:a16="http://schemas.microsoft.com/office/drawing/2014/main" id="{CE7F9515-21DB-4228-82A2-B007B884A79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A661EF6-3810-47A5-869B-F7972A8388E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3. Calcular los grados de pertenencia</a:t>
            </a:r>
          </a:p>
        </p:txBody>
      </p:sp>
      <p:sp>
        <p:nvSpPr>
          <p:cNvPr id="9" name="">
            <a:extLst xmlns:a="http://schemas.openxmlformats.org/drawingml/2006/main">
              <a:ext uri="{FF2B5EF4-FFF2-40B4-BE49-F238E27FC236}">
                <a16:creationId xmlns:a16="http://schemas.microsoft.com/office/drawing/2014/main" id="{BB8FF0C0-995B-49AF-A82F-FB64D21BE4A8}"/>
              </a:ext>
            </a:extLst>
          </p:cNvPr>
          <p:cNvSpPr>
            <a:spLocks xmlns:a="http://schemas.openxmlformats.org/drawingml/2006/main" noGrp="1"/>
          </p:cNvSpPr>
          <p:nvPr/>
        </p:nvSpPr>
        <p:spPr>
          <a:xfrm xmlns:a="http://schemas.openxmlformats.org/drawingml/2006/main">
            <a:off x="762000" y="1609725"/>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1">
                <a:solidFill>
                  <a:srgbClr val="2162A0"/>
                </a:solidFill>
                <a:latin typeface="Arial"/>
                <a:ea typeface="Arial"/>
                <a:cs typeface="Arial"/>
              </a:defRPr>
            </a:pPr>
            <a:r>
              <a:rPr sz="2400" b="1">
                <a:solidFill>
                  <a:srgbClr val="2162A0"/>
                </a:solidFill>
                <a:latin typeface="Arial"/>
                <a:ea typeface="Arial"/>
                <a:cs typeface="Arial"/>
              </a:rPr>
              <a:t>E = e / 4 = 0,5</a:t>
            </a:r>
          </a:p>
        </p:txBody>
      </p:sp>
      <p:sp>
        <p:nvSpPr>
          <p:cNvPr id="10" name="">
            <a:extLst xmlns:a="http://schemas.openxmlformats.org/drawingml/2006/main">
              <a:ext uri="{FF2B5EF4-FFF2-40B4-BE49-F238E27FC236}">
                <a16:creationId xmlns:a16="http://schemas.microsoft.com/office/drawing/2014/main" id="{CB52FCAE-280E-4834-ADB7-D37F1701C269}"/>
              </a:ext>
            </a:extLst>
          </p:cNvPr>
          <p:cNvSpPr>
            <a:spLocks xmlns:a="http://schemas.openxmlformats.org/drawingml/2006/main" noGrp="1"/>
          </p:cNvSpPr>
          <p:nvPr/>
        </p:nvSpPr>
        <p:spPr>
          <a:xfrm xmlns:a="http://schemas.openxmlformats.org/drawingml/2006/main">
            <a:off x="6572250" y="1609725"/>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1">
                <a:solidFill>
                  <a:srgbClr val="D96B18"/>
                </a:solidFill>
                <a:latin typeface="Arial"/>
                <a:ea typeface="Arial"/>
                <a:cs typeface="Arial"/>
              </a:defRPr>
            </a:pPr>
            <a:r>
              <a:rPr sz="2400" b="1">
                <a:solidFill>
                  <a:srgbClr val="D96B18"/>
                </a:solidFill>
                <a:latin typeface="Arial"/>
                <a:ea typeface="Arial"/>
                <a:cs typeface="Arial"/>
              </a:rPr>
              <a:t>D = (de/dt) / 1 = 0,2</a:t>
            </a:r>
          </a:p>
        </p:txBody>
      </p:sp>
      <p:graphicFrame>
        <p:nvGraphicFramePr>
          <p:cNvPr id="30" name="Chart"/>
          <p:cNvGraphicFramePr/>
          <p:nvPr/>
        </p:nvGraphicFramePr>
        <p:xfrm>
          <a:off xmlns:a="http://schemas.openxmlformats.org/drawingml/2006/main" x="762000" y="2209800"/>
          <a:ext xmlns:a="http://schemas.openxmlformats.org/drawingml/2006/main" cx="5095875" cy="2800350"/>
        </p:xfrm>
        <a:graphic xmlns:a="http://schemas.openxmlformats.org/drawingml/2006/main">
          <a:graphicData uri="http://schemas.openxmlformats.org/drawingml/2006/chart">
            <c:chart xmlns:r="http://schemas.openxmlformats.org/officeDocument/2006/relationships" xmlns:c="http://schemas.openxmlformats.org/drawingml/2006/chart" r:id="R543a975257f64bf9"/>
          </a:graphicData>
        </a:graphic>
      </p:graphicFrame>
      <p:graphicFrame>
        <p:nvGraphicFramePr>
          <p:cNvPr id="31" name="Chart"/>
          <p:cNvGraphicFramePr/>
          <p:nvPr/>
        </p:nvGraphicFramePr>
        <p:xfrm>
          <a:off xmlns:a="http://schemas.openxmlformats.org/drawingml/2006/main" x="6477000" y="2209800"/>
          <a:ext xmlns:a="http://schemas.openxmlformats.org/drawingml/2006/main" cx="4953000" cy="2800350"/>
        </p:xfrm>
        <a:graphic xmlns:a="http://schemas.openxmlformats.org/drawingml/2006/main">
          <a:graphicData uri="http://schemas.openxmlformats.org/drawingml/2006/chart">
            <c:chart xmlns:r="http://schemas.openxmlformats.org/officeDocument/2006/relationships" xmlns:c="http://schemas.openxmlformats.org/drawingml/2006/chart" r:id="R50652401201e4ea2"/>
          </a:graphicData>
        </a:graphic>
      </p:graphicFrame>
      <p:sp>
        <p:nvSpPr>
          <p:cNvPr id="13" name="">
            <a:extLst xmlns:a="http://schemas.openxmlformats.org/drawingml/2006/main">
              <a:ext uri="{FF2B5EF4-FFF2-40B4-BE49-F238E27FC236}">
                <a16:creationId xmlns:a16="http://schemas.microsoft.com/office/drawing/2014/main" id="{DDC28400-DCFF-4397-9992-CA98386E7794}"/>
              </a:ext>
            </a:extLst>
          </p:cNvPr>
          <p:cNvSpPr>
            <a:spLocks xmlns:a="http://schemas.openxmlformats.org/drawingml/2006/main" noGrp="1"/>
          </p:cNvSpPr>
          <p:nvPr/>
        </p:nvSpPr>
        <p:spPr>
          <a:xfrm xmlns:a="http://schemas.openxmlformats.org/drawingml/2006/main">
            <a:off x="1190625" y="5219700"/>
            <a:ext cx="4381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2162A0"/>
                </a:solidFill>
                <a:latin typeface="Arial"/>
                <a:ea typeface="Arial"/>
                <a:cs typeface="Arial"/>
              </a:defRPr>
            </a:pPr>
            <a:r>
              <a:rPr sz="2250" b="1">
                <a:solidFill>
                  <a:srgbClr val="2162A0"/>
                </a:solidFill>
                <a:latin typeface="Arial"/>
                <a:ea typeface="Arial"/>
                <a:cs typeface="Arial"/>
              </a:rPr>
              <a:t>Cero = 0,5</a:t>
            </a:r>
          </a:p>
          <a:p xmlns:a="http://schemas.openxmlformats.org/drawingml/2006/main">
            <a:pPr>
              <a:buNone/>
              <a:defRPr sz="2250" b="1">
                <a:solidFill>
                  <a:srgbClr val="2162A0"/>
                </a:solidFill>
                <a:latin typeface="Arial"/>
                <a:ea typeface="Arial"/>
                <a:cs typeface="Arial"/>
              </a:defRPr>
            </a:pPr>
            <a:r>
              <a:rPr sz="2250" b="1">
                <a:solidFill>
                  <a:srgbClr val="2162A0"/>
                </a:solidFill>
                <a:latin typeface="Arial"/>
                <a:ea typeface="Arial"/>
                <a:cs typeface="Arial"/>
              </a:rPr>
              <a:t>Positivo = 0,5</a:t>
            </a:r>
          </a:p>
        </p:txBody>
      </p:sp>
      <p:sp>
        <p:nvSpPr>
          <p:cNvPr id="14" name="">
            <a:extLst xmlns:a="http://schemas.openxmlformats.org/drawingml/2006/main">
              <a:ext uri="{FF2B5EF4-FFF2-40B4-BE49-F238E27FC236}">
                <a16:creationId xmlns:a16="http://schemas.microsoft.com/office/drawing/2014/main" id="{C48CAEF6-F431-4661-9C39-13FDF6E27C84}"/>
              </a:ext>
            </a:extLst>
          </p:cNvPr>
          <p:cNvSpPr>
            <a:spLocks xmlns:a="http://schemas.openxmlformats.org/drawingml/2006/main" noGrp="1"/>
          </p:cNvSpPr>
          <p:nvPr/>
        </p:nvSpPr>
        <p:spPr>
          <a:xfrm xmlns:a="http://schemas.openxmlformats.org/drawingml/2006/main">
            <a:off x="6905625" y="5219700"/>
            <a:ext cx="4381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Estable = 0,8</a:t>
            </a:r>
          </a:p>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Crece = 0,2</a:t>
            </a:r>
          </a:p>
        </p:txBody>
      </p:sp>
      <p:sp>
        <p:nvSpPr>
          <p:cNvPr id="15" name="">
            <a:extLst xmlns:a="http://schemas.openxmlformats.org/drawingml/2006/main">
              <a:ext uri="{FF2B5EF4-FFF2-40B4-BE49-F238E27FC236}">
                <a16:creationId xmlns:a16="http://schemas.microsoft.com/office/drawing/2014/main" id="{DBF954A0-44C7-440E-9E14-F1E694893BB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cada gráfica hay dos etiquetas activas. Sus combinaciones activarán cuatro reglas.</a:t>
            </a:r>
          </a:p>
        </p:txBody>
      </p:sp>
      <p:sp>
        <p:nvSpPr>
          <p:cNvPr id="20" name="">
            <a:extLst xmlns:a="http://schemas.openxmlformats.org/drawingml/2006/main">
              <a:ext uri="{FF2B5EF4-FFF2-40B4-BE49-F238E27FC236}">
                <a16:creationId xmlns:a16="http://schemas.microsoft.com/office/drawing/2014/main" id="{53F1B150-819A-4322-B1B5-A0FF302906B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45B3453-FFB8-49EE-9CFE-FE1D26B3337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4. Consultar la tabla de nueve reglas</a:t>
            </a:r>
          </a:p>
        </p:txBody>
      </p:sp>
      <p:graphicFrame>
        <p:nvGraphicFramePr>
          <p:cNvPr id="24" name=""/>
          <p:cNvGraphicFramePr/>
          <p:nvPr/>
        </p:nvGraphicFramePr>
        <p:xfrm>
          <a:off xmlns:a="http://schemas.openxmlformats.org/drawingml/2006/main" x="762000" y="1952625"/>
          <a:ext xmlns:a="http://schemas.openxmlformats.org/drawingml/2006/main" cx="10668000" cy="2695575"/>
        </p:xfrm>
        <a:graphic xmlns:a="http://schemas.openxmlformats.org/drawingml/2006/main">
          <a:graphicData uri="http://schemas.openxmlformats.org/drawingml/2006/table">
            <a:tbl>
              <a:tblPr/>
              <a:tblGrid>
                <a:gridCol w="2667000"/>
                <a:gridCol w="2667000"/>
                <a:gridCol w="2667000"/>
                <a:gridCol w="2667000"/>
              </a:tblGrid>
              <a:tr h="673894">
                <a:tc>
                  <a:txBody>
                    <a:bodyPr lIns="85725" tIns="76200" rIns="85725" bIns="76200"/>
                    <a:lstStyle/>
                    <a:p>
                      <a:pPr algn="ctr">
                        <a:buNone/>
                      </a:pPr>
                      <a:r>
                        <a:rPr sz="2175" b="1">
                          <a:solidFill>
                            <a:srgbClr val="2162A0"/>
                          </a:solidFill>
                          <a:latin typeface="Arial"/>
                          <a:ea typeface="Arial"/>
                          <a:cs typeface="Arial"/>
                        </a:rPr>
                        <a:t>e / de/dt</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Disminuye</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Estable</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Crece</a:t>
                      </a:r>
                    </a:p>
                  </a:txBody>
                  <a:tcPr marL="91440" marR="91440" marT="45720" marB="45720" anchor="ctr">
                    <a:solidFill>
                      <a:srgbClr val="E7EFF5"/>
                    </a:solidFill>
                  </a:tcPr>
                </a:tc>
              </a:tr>
              <a:tr h="673894">
                <a:tc>
                  <a:txBody>
                    <a:bodyPr lIns="85725" tIns="76200" rIns="85725" bIns="76200"/>
                    <a:lstStyle/>
                    <a:p>
                      <a:pPr algn="ctr">
                        <a:buNone/>
                      </a:pPr>
                      <a:r>
                        <a:rPr sz="2175" b="0">
                          <a:solidFill>
                            <a:srgbClr val="233746"/>
                          </a:solidFill>
                          <a:latin typeface="Arial"/>
                          <a:ea typeface="Arial"/>
                          <a:cs typeface="Arial"/>
                        </a:rPr>
                        <a:t>Negativo</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0 %</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0 %</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20 %</a:t>
                      </a:r>
                    </a:p>
                  </a:txBody>
                  <a:tcPr marL="91440" marR="91440" marT="45720" marB="45720" anchor="ctr">
                    <a:solidFill>
                      <a:srgbClr val="FFFFFF"/>
                    </a:solidFill>
                  </a:tcPr>
                </a:tc>
              </a:tr>
              <a:tr h="673894">
                <a:tc>
                  <a:txBody>
                    <a:bodyPr lIns="85725" tIns="76200" rIns="85725" bIns="76200"/>
                    <a:lstStyle/>
                    <a:p>
                      <a:pPr algn="ctr">
                        <a:buNone/>
                      </a:pPr>
                      <a:r>
                        <a:rPr sz="2175" b="0">
                          <a:solidFill>
                            <a:srgbClr val="233746"/>
                          </a:solidFill>
                          <a:latin typeface="Arial"/>
                          <a:ea typeface="Arial"/>
                          <a:cs typeface="Arial"/>
                        </a:rPr>
                        <a:t>Cero</a:t>
                      </a:r>
                    </a:p>
                  </a:txBody>
                  <a:tcPr marL="91440" marR="91440" marT="45720" marB="45720" anchor="ctr">
                    <a:solidFill>
                      <a:srgbClr val="F4F7F9"/>
                    </a:solidFill>
                  </a:tcPr>
                </a:tc>
                <a:tc>
                  <a:txBody>
                    <a:bodyPr lIns="85725" tIns="76200" rIns="85725" bIns="76200"/>
                    <a:lstStyle/>
                    <a:p>
                      <a:pPr algn="ctr">
                        <a:buNone/>
                      </a:pPr>
                      <a:r>
                        <a:rPr sz="2175" b="0">
                          <a:solidFill>
                            <a:srgbClr val="233746"/>
                          </a:solidFill>
                          <a:latin typeface="Arial"/>
                          <a:ea typeface="Arial"/>
                          <a:cs typeface="Arial"/>
                        </a:rPr>
                        <a:t>0 %</a:t>
                      </a:r>
                    </a:p>
                  </a:txBody>
                  <a:tcPr marL="91440" marR="91440" marT="45720" marB="45720" anchor="ctr">
                    <a:solidFill>
                      <a:srgbClr val="F4F7F9"/>
                    </a:solidFill>
                  </a:tcPr>
                </a:tc>
                <a:tc>
                  <a:txBody>
                    <a:bodyPr lIns="85725" tIns="76200" rIns="85725" bIns="76200"/>
                    <a:lstStyle/>
                    <a:p>
                      <a:pPr algn="ctr">
                        <a:buNone/>
                      </a:pPr>
                      <a:r>
                        <a:rPr sz="2175" b="0">
                          <a:solidFill>
                            <a:srgbClr val="233746"/>
                          </a:solidFill>
                          <a:latin typeface="Arial"/>
                          <a:ea typeface="Arial"/>
                          <a:cs typeface="Arial"/>
                        </a:rPr>
                        <a:t>20 %</a:t>
                      </a:r>
                    </a:p>
                  </a:txBody>
                  <a:tcPr marL="91440" marR="91440" marT="45720" marB="45720" anchor="ctr">
                    <a:solidFill>
                      <a:srgbClr val="F4F7F9"/>
                    </a:solidFill>
                  </a:tcPr>
                </a:tc>
                <a:tc>
                  <a:txBody>
                    <a:bodyPr lIns="85725" tIns="76200" rIns="85725" bIns="76200"/>
                    <a:lstStyle/>
                    <a:p>
                      <a:pPr algn="ctr">
                        <a:buNone/>
                      </a:pPr>
                      <a:r>
                        <a:rPr sz="2175" b="0">
                          <a:solidFill>
                            <a:srgbClr val="233746"/>
                          </a:solidFill>
                          <a:latin typeface="Arial"/>
                          <a:ea typeface="Arial"/>
                          <a:cs typeface="Arial"/>
                        </a:rPr>
                        <a:t>60 %</a:t>
                      </a:r>
                    </a:p>
                  </a:txBody>
                  <a:tcPr marL="91440" marR="91440" marT="45720" marB="45720" anchor="ctr">
                    <a:solidFill>
                      <a:srgbClr val="F4F7F9"/>
                    </a:solidFill>
                  </a:tcPr>
                </a:tc>
              </a:tr>
              <a:tr h="673894">
                <a:tc>
                  <a:txBody>
                    <a:bodyPr lIns="85725" tIns="76200" rIns="85725" bIns="76200"/>
                    <a:lstStyle/>
                    <a:p>
                      <a:pPr algn="ctr">
                        <a:buNone/>
                      </a:pPr>
                      <a:r>
                        <a:rPr sz="2175" b="0">
                          <a:solidFill>
                            <a:srgbClr val="233746"/>
                          </a:solidFill>
                          <a:latin typeface="Arial"/>
                          <a:ea typeface="Arial"/>
                          <a:cs typeface="Arial"/>
                        </a:rPr>
                        <a:t>Positivo</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20 %</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60 %</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100 %</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2F75F1DF-C700-451D-B5FC-F832C0ECE628}"/>
              </a:ext>
            </a:extLst>
          </p:cNvPr>
          <p:cNvSpPr>
            <a:spLocks xmlns:a="http://schemas.openxmlformats.org/drawingml/2006/main" noGrp="1"/>
          </p:cNvSpPr>
          <p:nvPr/>
        </p:nvSpPr>
        <p:spPr>
          <a:xfrm xmlns:a="http://schemas.openxmlformats.org/drawingml/2006/main">
            <a:off x="762000" y="505777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Si falta temperatura y el error crece, aplicamos más potencia.</a:t>
            </a:r>
          </a:p>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Si nos acercamos al objetivo, reducimos la acción.</a:t>
            </a:r>
          </a:p>
        </p:txBody>
      </p:sp>
      <p:sp>
        <p:nvSpPr>
          <p:cNvPr id="11" name="">
            <a:extLst xmlns:a="http://schemas.openxmlformats.org/drawingml/2006/main">
              <a:ext uri="{FF2B5EF4-FFF2-40B4-BE49-F238E27FC236}">
                <a16:creationId xmlns:a16="http://schemas.microsoft.com/office/drawing/2014/main" id="{DAA15D6E-4BA6-4169-BA87-1FBF972BFD14}"/>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20 % en (Cero, Estable) compensa las pérdidas del escenario nominal.</a:t>
            </a:r>
          </a:p>
        </p:txBody>
      </p:sp>
      <p:sp>
        <p:nvSpPr>
          <p:cNvPr id="16" name="">
            <a:extLst xmlns:a="http://schemas.openxmlformats.org/drawingml/2006/main">
              <a:ext uri="{FF2B5EF4-FFF2-40B4-BE49-F238E27FC236}">
                <a16:creationId xmlns:a16="http://schemas.microsoft.com/office/drawing/2014/main" id="{5C311D46-1E6E-4D61-8269-DA762B69CD5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786BE11-10C0-4D1F-9120-05FF6E5C1AA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5. Calcular la contribución de cada regla</a:t>
            </a:r>
          </a:p>
        </p:txBody>
      </p:sp>
      <p:sp>
        <p:nvSpPr>
          <p:cNvPr id="9" name="">
            <a:extLst xmlns:a="http://schemas.openxmlformats.org/drawingml/2006/main">
              <a:ext uri="{FF2B5EF4-FFF2-40B4-BE49-F238E27FC236}">
                <a16:creationId xmlns:a16="http://schemas.microsoft.com/office/drawing/2014/main" id="{FFCA363B-BE31-4F17-8F31-5374A6F8D18E}"/>
              </a:ext>
            </a:extLst>
          </p:cNvPr>
          <p:cNvSpPr>
            <a:spLocks xmlns:a="http://schemas.openxmlformats.org/drawingml/2006/main" noGrp="1"/>
          </p:cNvSpPr>
          <p:nvPr/>
        </p:nvSpPr>
        <p:spPr>
          <a:xfrm xmlns:a="http://schemas.openxmlformats.org/drawingml/2006/main">
            <a:off x="762000" y="15430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 = 2 °C; de/dt = 0,2 °C/min. Elegimos AND = producto.</a:t>
            </a:r>
          </a:p>
        </p:txBody>
      </p:sp>
      <p:graphicFrame>
        <p:nvGraphicFramePr>
          <p:cNvPr id="25" name=""/>
          <p:cNvGraphicFramePr/>
          <p:nvPr/>
        </p:nvGraphicFramePr>
        <p:xfrm>
          <a:off xmlns:a="http://schemas.openxmlformats.org/drawingml/2006/main" x="762000" y="2428875"/>
          <a:ext xmlns:a="http://schemas.openxmlformats.org/drawingml/2006/main" cx="10668000" cy="2733675"/>
        </p:xfrm>
        <a:graphic xmlns:a="http://schemas.openxmlformats.org/drawingml/2006/main">
          <a:graphicData uri="http://schemas.openxmlformats.org/drawingml/2006/table">
            <a:tbl>
              <a:tblPr/>
              <a:tblGrid>
                <a:gridCol w="4381500"/>
                <a:gridCol w="2476500"/>
                <a:gridCol w="1714500"/>
                <a:gridCol w="2095500"/>
              </a:tblGrid>
              <a:tr h="546735">
                <a:tc>
                  <a:txBody>
                    <a:bodyPr lIns="85725" tIns="76200" rIns="85725" bIns="76200"/>
                    <a:lstStyle/>
                    <a:p>
                      <a:pPr algn="ctr">
                        <a:buNone/>
                      </a:pPr>
                      <a:r>
                        <a:rPr sz="1875" b="1">
                          <a:solidFill>
                            <a:srgbClr val="2162A0"/>
                          </a:solidFill>
                          <a:latin typeface="Arial"/>
                          <a:ea typeface="Arial"/>
                          <a:cs typeface="Arial"/>
                        </a:rPr>
                        <a:t>Regla activa</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Peso wk</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Salida zk</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wk · zk</a:t>
                      </a:r>
                    </a:p>
                  </a:txBody>
                  <a:tcPr marL="91440" marR="91440" marT="45720" marB="45720" anchor="ctr">
                    <a:solidFill>
                      <a:srgbClr val="E7EFF5"/>
                    </a:solidFill>
                  </a:tcPr>
                </a:tc>
              </a:tr>
              <a:tr h="546735">
                <a:tc>
                  <a:txBody>
                    <a:bodyPr lIns="85725" tIns="76200" rIns="85725" bIns="76200"/>
                    <a:lstStyle/>
                    <a:p>
                      <a:pPr algn="ctr">
                        <a:buNone/>
                      </a:pPr>
                      <a:r>
                        <a:rPr sz="1875" b="0">
                          <a:solidFill>
                            <a:srgbClr val="233746"/>
                          </a:solidFill>
                          <a:latin typeface="Arial"/>
                          <a:ea typeface="Arial"/>
                          <a:cs typeface="Arial"/>
                        </a:rPr>
                        <a:t>Cero Y Estable</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0,5 · 0,8 = 0,4</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20</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8</a:t>
                      </a:r>
                    </a:p>
                  </a:txBody>
                  <a:tcPr marL="91440" marR="91440" marT="45720" marB="45720" anchor="ctr">
                    <a:solidFill>
                      <a:srgbClr val="FFFFFF"/>
                    </a:solidFill>
                  </a:tcPr>
                </a:tc>
              </a:tr>
              <a:tr h="546735">
                <a:tc>
                  <a:txBody>
                    <a:bodyPr lIns="85725" tIns="76200" rIns="85725" bIns="76200"/>
                    <a:lstStyle/>
                    <a:p>
                      <a:pPr algn="ctr">
                        <a:buNone/>
                      </a:pPr>
                      <a:r>
                        <a:rPr sz="1875" b="0">
                          <a:solidFill>
                            <a:srgbClr val="233746"/>
                          </a:solidFill>
                          <a:latin typeface="Arial"/>
                          <a:ea typeface="Arial"/>
                          <a:cs typeface="Arial"/>
                        </a:rPr>
                        <a:t>Cero Y Crece</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0,5 · 0,2 = 0,1</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60</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6</a:t>
                      </a:r>
                    </a:p>
                  </a:txBody>
                  <a:tcPr marL="91440" marR="91440" marT="45720" marB="45720" anchor="ctr">
                    <a:solidFill>
                      <a:srgbClr val="F4F7F9"/>
                    </a:solidFill>
                  </a:tcPr>
                </a:tc>
              </a:tr>
              <a:tr h="546735">
                <a:tc>
                  <a:txBody>
                    <a:bodyPr lIns="85725" tIns="76200" rIns="85725" bIns="76200"/>
                    <a:lstStyle/>
                    <a:p>
                      <a:pPr algn="ctr">
                        <a:buNone/>
                      </a:pPr>
                      <a:r>
                        <a:rPr sz="1875" b="0">
                          <a:solidFill>
                            <a:srgbClr val="233746"/>
                          </a:solidFill>
                          <a:latin typeface="Arial"/>
                          <a:ea typeface="Arial"/>
                          <a:cs typeface="Arial"/>
                        </a:rPr>
                        <a:t>Positivo Y Estable</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0,5 · 0,8 = 0,4</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60</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24</a:t>
                      </a:r>
                    </a:p>
                  </a:txBody>
                  <a:tcPr marL="91440" marR="91440" marT="45720" marB="45720" anchor="ctr">
                    <a:solidFill>
                      <a:srgbClr val="FFFFFF"/>
                    </a:solidFill>
                  </a:tcPr>
                </a:tc>
              </a:tr>
              <a:tr h="546735">
                <a:tc>
                  <a:txBody>
                    <a:bodyPr lIns="85725" tIns="76200" rIns="85725" bIns="76200"/>
                    <a:lstStyle/>
                    <a:p>
                      <a:pPr algn="ctr">
                        <a:buNone/>
                      </a:pPr>
                      <a:r>
                        <a:rPr sz="1875" b="0">
                          <a:solidFill>
                            <a:srgbClr val="233746"/>
                          </a:solidFill>
                          <a:latin typeface="Arial"/>
                          <a:ea typeface="Arial"/>
                          <a:cs typeface="Arial"/>
                        </a:rPr>
                        <a:t>Positivo Y Crece</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0,5 · 0,2 = 0,1</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100</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10</a:t>
                      </a:r>
                    </a:p>
                  </a:txBody>
                  <a:tcPr marL="91440" marR="91440" marT="45720" marB="45720" anchor="ctr">
                    <a:solidFill>
                      <a:srgbClr val="F4F7F9"/>
                    </a:solidFill>
                  </a:tcPr>
                </a:tc>
              </a:tr>
            </a:tbl>
          </a:graphicData>
        </a:graphic>
      </p:graphicFrame>
      <p:sp>
        <p:nvSpPr>
          <p:cNvPr id="11" name="">
            <a:extLst xmlns:a="http://schemas.openxmlformats.org/drawingml/2006/main">
              <a:ext uri="{FF2B5EF4-FFF2-40B4-BE49-F238E27FC236}">
                <a16:creationId xmlns:a16="http://schemas.microsoft.com/office/drawing/2014/main" id="{4979F0D5-5CDF-4D2C-AED2-12C4476D537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u = (8 + 6 + 24 + 10) / (0,4 + 0,1 + 0,4 + 0,1) = 48 %.</a:t>
            </a:r>
          </a:p>
        </p:txBody>
      </p:sp>
      <p:sp>
        <p:nvSpPr>
          <p:cNvPr id="16" name="">
            <a:extLst xmlns:a="http://schemas.openxmlformats.org/drawingml/2006/main">
              <a:ext uri="{FF2B5EF4-FFF2-40B4-BE49-F238E27FC236}">
                <a16:creationId xmlns:a16="http://schemas.microsoft.com/office/drawing/2014/main" id="{64FBA74D-7AD3-49B1-99C0-91DA06F755A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737C3AB-09CA-4D95-9E99-70EDAC6E648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6. Obtener la potencia: 48 %</a:t>
            </a:r>
          </a:p>
        </p:txBody>
      </p:sp>
      <p:graphicFrame>
        <p:nvGraphicFramePr>
          <p:cNvPr id="24" name="Chart"/>
          <p:cNvGraphicFramePr/>
          <p:nvPr/>
        </p:nvGraphicFramePr>
        <p:xfrm>
          <a:off xmlns:a="http://schemas.openxmlformats.org/drawingml/2006/main" x="762000" y="2181225"/>
          <a:ext xmlns:a="http://schemas.openxmlformats.org/drawingml/2006/main" cx="6381750" cy="3333750"/>
        </p:xfrm>
        <a:graphic xmlns:a="http://schemas.openxmlformats.org/drawingml/2006/main">
          <a:graphicData uri="http://schemas.openxmlformats.org/drawingml/2006/chart">
            <c:chart xmlns:r="http://schemas.openxmlformats.org/officeDocument/2006/relationships" xmlns:c="http://schemas.openxmlformats.org/drawingml/2006/chart" r:id="R628dbb5b49b14676"/>
          </a:graphicData>
        </a:graphic>
      </p:graphicFrame>
      <p:sp>
        <p:nvSpPr>
          <p:cNvPr id="10" name="">
            <a:extLst xmlns:a="http://schemas.openxmlformats.org/drawingml/2006/main">
              <a:ext uri="{FF2B5EF4-FFF2-40B4-BE49-F238E27FC236}">
                <a16:creationId xmlns:a16="http://schemas.microsoft.com/office/drawing/2014/main" id="{0A22B624-59C1-48C3-93E6-EB36ED9D0D79}"/>
              </a:ext>
            </a:extLst>
          </p:cNvPr>
          <p:cNvSpPr>
            <a:spLocks xmlns:a="http://schemas.openxmlformats.org/drawingml/2006/main" noGrp="1"/>
          </p:cNvSpPr>
          <p:nvPr/>
        </p:nvSpPr>
        <p:spPr>
          <a:xfrm xmlns:a="http://schemas.openxmlformats.org/drawingml/2006/main">
            <a:off x="7524750" y="1838325"/>
            <a:ext cx="390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Pesos: 0,4 + 0,1 + 0,4 + 0,1 = 1</a:t>
            </a:r>
          </a:p>
        </p:txBody>
      </p:sp>
      <p:sp>
        <p:nvSpPr>
          <p:cNvPr id="11" name="">
            <a:extLst xmlns:a="http://schemas.openxmlformats.org/drawingml/2006/main">
              <a:ext uri="{FF2B5EF4-FFF2-40B4-BE49-F238E27FC236}">
                <a16:creationId xmlns:a16="http://schemas.microsoft.com/office/drawing/2014/main" id="{6445E0FF-2453-41DB-AEB8-55AA5EEA2636}"/>
              </a:ext>
            </a:extLst>
          </p:cNvPr>
          <p:cNvSpPr>
            <a:spLocks xmlns:a="http://schemas.openxmlformats.org/drawingml/2006/main" noGrp="1"/>
          </p:cNvSpPr>
          <p:nvPr/>
        </p:nvSpPr>
        <p:spPr>
          <a:xfrm xmlns:a="http://schemas.openxmlformats.org/drawingml/2006/main">
            <a:off x="7524750" y="3362325"/>
            <a:ext cx="39052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625" b="1">
                <a:solidFill>
                  <a:srgbClr val="D96B18"/>
                </a:solidFill>
                <a:latin typeface="Arial"/>
                <a:ea typeface="Arial"/>
                <a:cs typeface="Arial"/>
              </a:defRPr>
            </a:pPr>
            <a:r>
              <a:rPr sz="2625" b="1">
                <a:solidFill>
                  <a:srgbClr val="D96B18"/>
                </a:solidFill>
                <a:latin typeface="Arial"/>
                <a:ea typeface="Arial"/>
                <a:cs typeface="Arial"/>
              </a:rPr>
              <a:t>u = (8 + 6 + 24 + 10) / 1</a:t>
            </a:r>
          </a:p>
          <a:p xmlns:a="http://schemas.openxmlformats.org/drawingml/2006/main">
            <a:r>
              <a:t/>
            </a:r>
          </a:p>
          <a:p xmlns:a="http://schemas.openxmlformats.org/drawingml/2006/main">
            <a:pPr>
              <a:buNone/>
              <a:defRPr sz="2625" b="1">
                <a:solidFill>
                  <a:srgbClr val="D96B18"/>
                </a:solidFill>
                <a:latin typeface="Arial"/>
                <a:ea typeface="Arial"/>
                <a:cs typeface="Arial"/>
              </a:defRPr>
            </a:pPr>
            <a:r>
              <a:rPr sz="2625" b="1">
                <a:solidFill>
                  <a:srgbClr val="D96B18"/>
                </a:solidFill>
                <a:latin typeface="Arial"/>
                <a:ea typeface="Arial"/>
                <a:cs typeface="Arial"/>
              </a:rPr>
              <a:t>   = 48 %</a:t>
            </a:r>
          </a:p>
        </p:txBody>
      </p:sp>
      <p:sp>
        <p:nvSpPr>
          <p:cNvPr id="12" name="">
            <a:extLst xmlns:a="http://schemas.openxmlformats.org/drawingml/2006/main">
              <a:ext uri="{FF2B5EF4-FFF2-40B4-BE49-F238E27FC236}">
                <a16:creationId xmlns:a16="http://schemas.microsoft.com/office/drawing/2014/main" id="{0DCB2FA1-92E7-4429-8566-E7128ED5991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Es una media ponderada de potencias. El resultado ya es un número que puede usar el actuador.</a:t>
            </a:r>
          </a:p>
        </p:txBody>
      </p:sp>
      <p:sp>
        <p:nvSpPr>
          <p:cNvPr id="16" name="">
            <a:extLst xmlns:a="http://schemas.openxmlformats.org/drawingml/2006/main">
              <a:ext uri="{FF2B5EF4-FFF2-40B4-BE49-F238E27FC236}">
                <a16:creationId xmlns:a16="http://schemas.microsoft.com/office/drawing/2014/main" id="{7AF1E04D-050E-44CF-9FFD-9B8A609AE32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485C987-4833-4C0A-8B42-C9261239DB9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El modelo de la planta para simular la habitación</a:t>
            </a:r>
          </a:p>
        </p:txBody>
      </p:sp>
      <p:sp>
        <p:nvSpPr>
          <p:cNvPr id="9" name="">
            <a:extLst xmlns:a="http://schemas.openxmlformats.org/drawingml/2006/main">
              <a:ext uri="{FF2B5EF4-FFF2-40B4-BE49-F238E27FC236}">
                <a16:creationId xmlns:a16="http://schemas.microsoft.com/office/drawing/2014/main" id="{8A1AC0EB-64C0-47C5-A13B-EA5BCA087E7E}"/>
              </a:ext>
            </a:extLst>
          </p:cNvPr>
          <p:cNvSpPr>
            <a:spLocks xmlns:a="http://schemas.openxmlformats.org/drawingml/2006/main" noGrp="1"/>
          </p:cNvSpPr>
          <p:nvPr/>
        </p:nvSpPr>
        <p:spPr>
          <a:xfrm xmlns:a="http://schemas.openxmlformats.org/drawingml/2006/main">
            <a:off x="762000" y="16954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150" b="1">
                <a:solidFill>
                  <a:srgbClr val="D96B18"/>
                </a:solidFill>
                <a:latin typeface="Arial"/>
                <a:ea typeface="Arial"/>
                <a:cs typeface="Arial"/>
              </a:defRPr>
            </a:pPr>
            <a:r>
              <a:rPr sz="3150" b="1">
                <a:solidFill>
                  <a:srgbClr val="D96B18"/>
                </a:solidFill>
                <a:latin typeface="Arial"/>
                <a:ea typeface="Arial"/>
                <a:cs typeface="Arial"/>
              </a:rPr>
              <a:t>dT/dt = −(T − Ta) / 10 + 0,02 · u</a:t>
            </a:r>
          </a:p>
        </p:txBody>
      </p:sp>
      <p:graphicFrame>
        <p:nvGraphicFramePr>
          <p:cNvPr id="25" name=""/>
          <p:cNvGraphicFramePr/>
          <p:nvPr/>
        </p:nvGraphicFramePr>
        <p:xfrm>
          <a:off xmlns:a="http://schemas.openxmlformats.org/drawingml/2006/main" x="762000" y="2724150"/>
          <a:ext xmlns:a="http://schemas.openxmlformats.org/drawingml/2006/main" cx="10668000" cy="2743200"/>
        </p:xfrm>
        <a:graphic xmlns:a="http://schemas.openxmlformats.org/drawingml/2006/main">
          <a:graphicData uri="http://schemas.openxmlformats.org/drawingml/2006/table">
            <a:tbl>
              <a:tblPr/>
              <a:tblGrid>
                <a:gridCol w="4000500"/>
                <a:gridCol w="6667500"/>
              </a:tblGrid>
              <a:tr h="457200">
                <a:tc>
                  <a:txBody>
                    <a:bodyPr lIns="85725" tIns="76200" rIns="85725" bIns="76200"/>
                    <a:lstStyle/>
                    <a:p>
                      <a:pPr algn="ctr">
                        <a:buNone/>
                      </a:pPr>
                      <a:r>
                        <a:rPr sz="1875" b="1">
                          <a:solidFill>
                            <a:srgbClr val="2162A0"/>
                          </a:solidFill>
                          <a:latin typeface="Arial"/>
                          <a:ea typeface="Arial"/>
                          <a:cs typeface="Arial"/>
                        </a:rPr>
                        <a:t>Magnitud</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Valor o unidad</a:t>
                      </a:r>
                    </a:p>
                  </a:txBody>
                  <a:tcPr marL="91440" marR="91440" marT="45720" marB="45720" anchor="ctr">
                    <a:solidFill>
                      <a:srgbClr val="E7EFF5"/>
                    </a:solidFill>
                  </a:tcPr>
                </a:tc>
              </a:tr>
              <a:tr h="457200">
                <a:tc>
                  <a:txBody>
                    <a:bodyPr lIns="85725" tIns="76200" rIns="85725" bIns="76200"/>
                    <a:lstStyle/>
                    <a:p>
                      <a:pPr algn="ctr">
                        <a:buNone/>
                      </a:pPr>
                      <a:r>
                        <a:rPr sz="1875" b="0">
                          <a:solidFill>
                            <a:srgbClr val="233746"/>
                          </a:solidFill>
                          <a:latin typeface="Arial"/>
                          <a:ea typeface="Arial"/>
                          <a:cs typeface="Arial"/>
                        </a:rPr>
                        <a:t>T, Ta</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Temperatura interior y ambiente, en °C</a:t>
                      </a:r>
                    </a:p>
                  </a:txBody>
                  <a:tcPr marL="91440" marR="91440" marT="45720" marB="45720" anchor="ctr">
                    <a:solidFill>
                      <a:srgbClr val="FFFFFF"/>
                    </a:solidFill>
                  </a:tcPr>
                </a:tc>
              </a:tr>
              <a:tr h="457200">
                <a:tc>
                  <a:txBody>
                    <a:bodyPr lIns="85725" tIns="76200" rIns="85725" bIns="76200"/>
                    <a:lstStyle/>
                    <a:p>
                      <a:pPr algn="ctr">
                        <a:buNone/>
                      </a:pPr>
                      <a:r>
                        <a:rPr sz="1875" b="0">
                          <a:solidFill>
                            <a:srgbClr val="233746"/>
                          </a:solidFill>
                          <a:latin typeface="Arial"/>
                          <a:ea typeface="Arial"/>
                          <a:cs typeface="Arial"/>
                        </a:rPr>
                        <a:t>t</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Tiempo en minutos</a:t>
                      </a:r>
                    </a:p>
                  </a:txBody>
                  <a:tcPr marL="91440" marR="91440" marT="45720" marB="45720" anchor="ctr">
                    <a:solidFill>
                      <a:srgbClr val="F4F7F9"/>
                    </a:solidFill>
                  </a:tcPr>
                </a:tc>
              </a:tr>
              <a:tr h="457200">
                <a:tc>
                  <a:txBody>
                    <a:bodyPr lIns="85725" tIns="76200" rIns="85725" bIns="76200"/>
                    <a:lstStyle/>
                    <a:p>
                      <a:pPr algn="ctr">
                        <a:buNone/>
                      </a:pPr>
                      <a:r>
                        <a:rPr sz="1875" b="0">
                          <a:solidFill>
                            <a:srgbClr val="233746"/>
                          </a:solidFill>
                          <a:latin typeface="Arial"/>
                          <a:ea typeface="Arial"/>
                          <a:cs typeface="Arial"/>
                        </a:rPr>
                        <a:t>u</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Potencia porcentual: 0 ≤ u ≤ 100</a:t>
                      </a:r>
                    </a:p>
                  </a:txBody>
                  <a:tcPr marL="91440" marR="91440" marT="45720" marB="45720" anchor="ctr">
                    <a:solidFill>
                      <a:srgbClr val="FFFFFF"/>
                    </a:solidFill>
                  </a:tcPr>
                </a:tc>
              </a:tr>
              <a:tr h="457200">
                <a:tc>
                  <a:txBody>
                    <a:bodyPr lIns="85725" tIns="76200" rIns="85725" bIns="76200"/>
                    <a:lstStyle/>
                    <a:p>
                      <a:pPr algn="ctr">
                        <a:buNone/>
                      </a:pPr>
                      <a:r>
                        <a:rPr sz="1875" b="0">
                          <a:solidFill>
                            <a:srgbClr val="233746"/>
                          </a:solidFill>
                          <a:latin typeface="Arial"/>
                          <a:ea typeface="Arial"/>
                          <a:cs typeface="Arial"/>
                        </a:rPr>
                        <a:t>Constante de tiempo</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10 min</a:t>
                      </a:r>
                    </a:p>
                  </a:txBody>
                  <a:tcPr marL="91440" marR="91440" marT="45720" marB="45720" anchor="ctr">
                    <a:solidFill>
                      <a:srgbClr val="F4F7F9"/>
                    </a:solidFill>
                  </a:tcPr>
                </a:tc>
              </a:tr>
              <a:tr h="457200">
                <a:tc>
                  <a:txBody>
                    <a:bodyPr lIns="85725" tIns="76200" rIns="85725" bIns="76200"/>
                    <a:lstStyle/>
                    <a:p>
                      <a:pPr algn="ctr">
                        <a:buNone/>
                      </a:pPr>
                      <a:r>
                        <a:rPr sz="1875" b="0">
                          <a:solidFill>
                            <a:srgbClr val="233746"/>
                          </a:solidFill>
                          <a:latin typeface="Arial"/>
                          <a:ea typeface="Arial"/>
                          <a:cs typeface="Arial"/>
                        </a:rPr>
                        <a:t>Calentamiento máximo</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2 °C/min antes de descontar pérdidas</a:t>
                      </a:r>
                    </a:p>
                  </a:txBody>
                  <a:tcPr marL="91440" marR="91440" marT="45720" marB="45720" anchor="ctr">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87771AB1-E850-4033-B047-5495EB56747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A 22 °C y ambiente de 18 °C: pérdidas = 0,4 °C/min; u = 20 % las compensa.</a:t>
            </a:r>
          </a:p>
        </p:txBody>
      </p:sp>
      <p:sp>
        <p:nvSpPr>
          <p:cNvPr id="16" name="">
            <a:extLst xmlns:a="http://schemas.openxmlformats.org/drawingml/2006/main">
              <a:ext uri="{FF2B5EF4-FFF2-40B4-BE49-F238E27FC236}">
                <a16:creationId xmlns:a16="http://schemas.microsoft.com/office/drawing/2014/main" id="{EA0C4BFD-5522-4791-8556-F7373A5233C0}"/>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8E866F2-FC44-440D-B6AA-FF33AA98FB9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7. Aplicar la potencia al modelo del proceso</a:t>
            </a:r>
          </a:p>
        </p:txBody>
      </p:sp>
      <p:sp>
        <p:nvSpPr>
          <p:cNvPr id="9" name="">
            <a:extLst xmlns:a="http://schemas.openxmlformats.org/drawingml/2006/main">
              <a:ext uri="{FF2B5EF4-FFF2-40B4-BE49-F238E27FC236}">
                <a16:creationId xmlns:a16="http://schemas.microsoft.com/office/drawing/2014/main" id="{D4EC7B03-D70E-4843-8310-FF83C9C73AAA}"/>
              </a:ext>
            </a:extLst>
          </p:cNvPr>
          <p:cNvSpPr>
            <a:spLocks xmlns:a="http://schemas.openxmlformats.org/drawingml/2006/main" noGrp="1"/>
          </p:cNvSpPr>
          <p:nvPr/>
        </p:nvSpPr>
        <p:spPr>
          <a:xfrm xmlns:a="http://schemas.openxmlformats.org/drawingml/2006/main">
            <a:off x="762000" y="16287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75" b="1">
                <a:solidFill>
                  <a:srgbClr val="233746"/>
                </a:solidFill>
                <a:latin typeface="Arial"/>
                <a:ea typeface="Arial"/>
                <a:cs typeface="Arial"/>
              </a:defRPr>
            </a:pPr>
            <a:r>
              <a:rPr sz="2475" b="1">
                <a:solidFill>
                  <a:srgbClr val="233746"/>
                </a:solidFill>
                <a:latin typeface="Arial"/>
                <a:ea typeface="Arial"/>
                <a:cs typeface="Arial"/>
              </a:rPr>
              <a:t>Ahora: T = 20 °C, Ta = 18 °C, u = 48 %</a:t>
            </a:r>
          </a:p>
        </p:txBody>
      </p:sp>
      <p:sp>
        <p:nvSpPr>
          <p:cNvPr id="10" name="">
            <a:extLst xmlns:a="http://schemas.openxmlformats.org/drawingml/2006/main">
              <a:ext uri="{FF2B5EF4-FFF2-40B4-BE49-F238E27FC236}">
                <a16:creationId xmlns:a16="http://schemas.microsoft.com/office/drawing/2014/main" id="{53BDD882-1CDB-41CC-88C7-25EDF54CC9A4}"/>
              </a:ext>
            </a:extLst>
          </p:cNvPr>
          <p:cNvSpPr>
            <a:spLocks xmlns:a="http://schemas.openxmlformats.org/drawingml/2006/main" noGrp="1"/>
          </p:cNvSpPr>
          <p:nvPr/>
        </p:nvSpPr>
        <p:spPr>
          <a:xfrm xmlns:a="http://schemas.openxmlformats.org/drawingml/2006/main">
            <a:off x="762000" y="2581275"/>
            <a:ext cx="51435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2162A0"/>
                </a:solidFill>
                <a:latin typeface="Arial"/>
                <a:ea typeface="Arial"/>
                <a:cs typeface="Arial"/>
              </a:defRPr>
            </a:pPr>
            <a:r>
              <a:rPr sz="2250" b="1">
                <a:solidFill>
                  <a:srgbClr val="2162A0"/>
                </a:solidFill>
                <a:latin typeface="Arial"/>
                <a:ea typeface="Arial"/>
                <a:cs typeface="Arial"/>
              </a:rPr>
              <a:t>Pérdida de calor</a:t>
            </a:r>
          </a:p>
          <a:p xmlns:a="http://schemas.openxmlformats.org/drawingml/2006/main">
            <a:pPr>
              <a:buNone/>
              <a:defRPr sz="2250" b="1">
                <a:solidFill>
                  <a:srgbClr val="2162A0"/>
                </a:solidFill>
                <a:latin typeface="Arial"/>
                <a:ea typeface="Arial"/>
                <a:cs typeface="Arial"/>
              </a:defRPr>
            </a:pPr>
            <a:r>
              <a:rPr sz="2250" b="1">
                <a:solidFill>
                  <a:srgbClr val="2162A0"/>
                </a:solidFill>
                <a:latin typeface="Arial"/>
                <a:ea typeface="Arial"/>
                <a:cs typeface="Arial"/>
              </a:rPr>
              <a:t>−(20 − 18) / 10 = −0,20 °C/min</a:t>
            </a:r>
          </a:p>
        </p:txBody>
      </p:sp>
      <p:sp>
        <p:nvSpPr>
          <p:cNvPr id="11" name="">
            <a:extLst xmlns:a="http://schemas.openxmlformats.org/drawingml/2006/main">
              <a:ext uri="{FF2B5EF4-FFF2-40B4-BE49-F238E27FC236}">
                <a16:creationId xmlns:a16="http://schemas.microsoft.com/office/drawing/2014/main" id="{D3FFD87E-2F6D-4733-85CD-37751539C157}"/>
              </a:ext>
            </a:extLst>
          </p:cNvPr>
          <p:cNvSpPr>
            <a:spLocks xmlns:a="http://schemas.openxmlformats.org/drawingml/2006/main" noGrp="1"/>
          </p:cNvSpPr>
          <p:nvPr/>
        </p:nvSpPr>
        <p:spPr>
          <a:xfrm xmlns:a="http://schemas.openxmlformats.org/drawingml/2006/main">
            <a:off x="6572250" y="2581275"/>
            <a:ext cx="48577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Calor aportado</a:t>
            </a:r>
          </a:p>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0,02 · 48 = +0,96 °C/min</a:t>
            </a:r>
          </a:p>
        </p:txBody>
      </p:sp>
      <p:sp>
        <p:nvSpPr>
          <p:cNvPr id="12" name="">
            <a:extLst xmlns:a="http://schemas.openxmlformats.org/drawingml/2006/main">
              <a:ext uri="{FF2B5EF4-FFF2-40B4-BE49-F238E27FC236}">
                <a16:creationId xmlns:a16="http://schemas.microsoft.com/office/drawing/2014/main" id="{71D8884D-88D9-495C-9373-D9D0D3B05634}"/>
              </a:ext>
            </a:extLst>
          </p:cNvPr>
          <p:cNvSpPr>
            <a:spLocks xmlns:a="http://schemas.openxmlformats.org/drawingml/2006/main" noGrp="1"/>
          </p:cNvSpPr>
          <p:nvPr/>
        </p:nvSpPr>
        <p:spPr>
          <a:xfrm xmlns:a="http://schemas.openxmlformats.org/drawingml/2006/main">
            <a:off x="762000" y="4362450"/>
            <a:ext cx="10668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0">
                <a:solidFill>
                  <a:srgbClr val="233746"/>
                </a:solidFill>
                <a:latin typeface="Arial"/>
                <a:ea typeface="Arial"/>
                <a:cs typeface="Arial"/>
              </a:defRPr>
            </a:pPr>
            <a:r>
              <a:rPr sz="2550" b="0">
                <a:solidFill>
                  <a:srgbClr val="233746"/>
                </a:solidFill>
                <a:latin typeface="Arial"/>
                <a:ea typeface="Arial"/>
                <a:cs typeface="Arial"/>
              </a:rPr>
              <a:t>Cambio neto: +0,76 °C/min</a:t>
            </a:r>
          </a:p>
          <a:p xmlns:a="http://schemas.openxmlformats.org/drawingml/2006/main">
            <a:pPr>
              <a:buNone/>
              <a:defRPr sz="2550" b="0">
                <a:solidFill>
                  <a:srgbClr val="233746"/>
                </a:solidFill>
                <a:latin typeface="Arial"/>
                <a:ea typeface="Arial"/>
                <a:cs typeface="Arial"/>
              </a:defRPr>
            </a:pPr>
            <a:r>
              <a:rPr sz="2550" b="0">
                <a:solidFill>
                  <a:srgbClr val="233746"/>
                </a:solidFill>
                <a:latin typeface="Arial"/>
                <a:ea typeface="Arial"/>
                <a:cs typeface="Arial"/>
              </a:rPr>
              <a:t>En 0,1 min: Tnueva = 20 + 0,1 · 0,76 = 20,076 °C</a:t>
            </a:r>
          </a:p>
        </p:txBody>
      </p:sp>
      <p:sp>
        <p:nvSpPr>
          <p:cNvPr id="13" name="">
            <a:extLst xmlns:a="http://schemas.openxmlformats.org/drawingml/2006/main">
              <a:ext uri="{FF2B5EF4-FFF2-40B4-BE49-F238E27FC236}">
                <a16:creationId xmlns:a16="http://schemas.microsoft.com/office/drawing/2014/main" id="{FC0F1634-BAED-4203-B232-870159BCA99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controlador decide la potencia. El modelo de la habitación calcula la nueva temperatura.</a:t>
            </a:r>
          </a:p>
        </p:txBody>
      </p:sp>
      <p:sp>
        <p:nvSpPr>
          <p:cNvPr id="14" name="">
            <a:extLst xmlns:a="http://schemas.openxmlformats.org/drawingml/2006/main">
              <a:ext uri="{FF2B5EF4-FFF2-40B4-BE49-F238E27FC236}">
                <a16:creationId xmlns:a16="http://schemas.microsoft.com/office/drawing/2014/main" id="{8276BDC2-C012-4779-AF24-4AEF7C21841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09B795D-EA66-4FD1-B16C-3F67B3722D74}"/>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8. Volver a medir y decidir</a:t>
            </a:r>
          </a:p>
        </p:txBody>
      </p:sp>
      <p:graphicFrame>
        <p:nvGraphicFramePr>
          <p:cNvPr id="23" name=""/>
          <p:cNvGraphicFramePr/>
          <p:nvPr/>
        </p:nvGraphicFramePr>
        <p:xfrm>
          <a:off xmlns:a="http://schemas.openxmlformats.org/drawingml/2006/main" x="762000" y="1800225"/>
          <a:ext xmlns:a="http://schemas.openxmlformats.org/drawingml/2006/main" cx="10668000" cy="3114675"/>
        </p:xfrm>
        <a:graphic xmlns:a="http://schemas.openxmlformats.org/drawingml/2006/main">
          <a:graphicData uri="http://schemas.openxmlformats.org/drawingml/2006/table">
            <a:tbl>
              <a:tblPr/>
              <a:tblGrid>
                <a:gridCol w="3333750"/>
                <a:gridCol w="3667125"/>
                <a:gridCol w="3667125"/>
              </a:tblGrid>
              <a:tr h="622935">
                <a:tc>
                  <a:txBody>
                    <a:bodyPr lIns="85725" tIns="76200" rIns="85725" bIns="76200"/>
                    <a:lstStyle/>
                    <a:p>
                      <a:pPr algn="ctr">
                        <a:buNone/>
                      </a:pPr>
                      <a:r>
                        <a:rPr sz="2100" b="1">
                          <a:solidFill>
                            <a:srgbClr val="2162A0"/>
                          </a:solidFill>
                          <a:latin typeface="Arial"/>
                          <a:ea typeface="Arial"/>
                          <a:cs typeface="Arial"/>
                        </a:rPr>
                        <a:t>Dato</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Instante anterior</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Siguiente instante</a:t>
                      </a:r>
                    </a:p>
                  </a:txBody>
                  <a:tcPr marL="91440" marR="91440" marT="45720" marB="45720" anchor="ctr">
                    <a:solidFill>
                      <a:srgbClr val="E7EFF5"/>
                    </a:solidFill>
                  </a:tcPr>
                </a:tc>
              </a:tr>
              <a:tr h="622935">
                <a:tc>
                  <a:txBody>
                    <a:bodyPr lIns="85725" tIns="76200" rIns="85725" bIns="76200"/>
                    <a:lstStyle/>
                    <a:p>
                      <a:pPr algn="ctr">
                        <a:buNone/>
                      </a:pPr>
                      <a:r>
                        <a:rPr sz="2100" b="0">
                          <a:solidFill>
                            <a:srgbClr val="233746"/>
                          </a:solidFill>
                          <a:latin typeface="Arial"/>
                          <a:ea typeface="Arial"/>
                          <a:cs typeface="Arial"/>
                        </a:rPr>
                        <a:t>Temperatura</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20,000 °C</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20,076 °C</a:t>
                      </a:r>
                    </a:p>
                  </a:txBody>
                  <a:tcPr marL="91440" marR="91440" marT="45720" marB="45720" anchor="ctr">
                    <a:solidFill>
                      <a:srgbClr val="FFFFFF"/>
                    </a:solidFill>
                  </a:tcPr>
                </a:tc>
              </a:tr>
              <a:tr h="622935">
                <a:tc>
                  <a:txBody>
                    <a:bodyPr lIns="85725" tIns="76200" rIns="85725" bIns="76200"/>
                    <a:lstStyle/>
                    <a:p>
                      <a:pPr algn="ctr">
                        <a:buNone/>
                      </a:pPr>
                      <a:r>
                        <a:rPr sz="2100" b="0">
                          <a:solidFill>
                            <a:srgbClr val="233746"/>
                          </a:solidFill>
                          <a:latin typeface="Arial"/>
                          <a:ea typeface="Arial"/>
                          <a:cs typeface="Arial"/>
                        </a:rPr>
                        <a:t>Error</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2,000 °C</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1,924 °C</a:t>
                      </a:r>
                    </a:p>
                  </a:txBody>
                  <a:tcPr marL="91440" marR="91440" marT="45720" marB="45720" anchor="ctr">
                    <a:solidFill>
                      <a:srgbClr val="F4F7F9"/>
                    </a:solidFill>
                  </a:tcPr>
                </a:tc>
              </a:tr>
              <a:tr h="622935">
                <a:tc>
                  <a:txBody>
                    <a:bodyPr lIns="85725" tIns="76200" rIns="85725" bIns="76200"/>
                    <a:lstStyle/>
                    <a:p>
                      <a:pPr algn="ctr">
                        <a:buNone/>
                      </a:pPr>
                      <a:r>
                        <a:rPr sz="2100" b="0">
                          <a:solidFill>
                            <a:srgbClr val="233746"/>
                          </a:solidFill>
                          <a:latin typeface="Arial"/>
                          <a:ea typeface="Arial"/>
                          <a:cs typeface="Arial"/>
                        </a:rPr>
                        <a:t>Variación del error</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+0,20 °C/min</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−0,76 °C/min</a:t>
                      </a:r>
                    </a:p>
                  </a:txBody>
                  <a:tcPr marL="91440" marR="91440" marT="45720" marB="45720" anchor="ctr">
                    <a:solidFill>
                      <a:srgbClr val="FFFFFF"/>
                    </a:solidFill>
                  </a:tcPr>
                </a:tc>
              </a:tr>
              <a:tr h="622935">
                <a:tc>
                  <a:txBody>
                    <a:bodyPr lIns="85725" tIns="76200" rIns="85725" bIns="76200"/>
                    <a:lstStyle/>
                    <a:p>
                      <a:pPr algn="ctr">
                        <a:buNone/>
                      </a:pPr>
                      <a:r>
                        <a:rPr sz="2100" b="0">
                          <a:solidFill>
                            <a:srgbClr val="233746"/>
                          </a:solidFill>
                          <a:latin typeface="Arial"/>
                          <a:ea typeface="Arial"/>
                          <a:cs typeface="Arial"/>
                        </a:rPr>
                        <a:t>Potencia calculada</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48,00 %</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16,73 %</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144705F1-A0C0-41D5-B411-F5A2DF64A6D6}"/>
              </a:ext>
            </a:extLst>
          </p:cNvPr>
          <p:cNvSpPr>
            <a:spLocks xmlns:a="http://schemas.openxmlformats.org/drawingml/2006/main" noGrp="1"/>
          </p:cNvSpPr>
          <p:nvPr/>
        </p:nvSpPr>
        <p:spPr>
          <a:xfrm xmlns:a="http://schemas.openxmlformats.org/drawingml/2006/main">
            <a:off x="762000" y="521970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0">
                <a:solidFill>
                  <a:srgbClr val="233746"/>
                </a:solidFill>
                <a:latin typeface="Arial"/>
                <a:ea typeface="Arial"/>
                <a:cs typeface="Arial"/>
              </a:defRPr>
            </a:pPr>
            <a:r>
              <a:rPr sz="2325" b="0">
                <a:solidFill>
                  <a:srgbClr val="233746"/>
                </a:solidFill>
                <a:latin typeface="Arial"/>
                <a:ea typeface="Arial"/>
                <a:cs typeface="Arial"/>
              </a:rPr>
              <a:t>Todavía falta temperatura, pero ahora sube deprisa.</a:t>
            </a:r>
          </a:p>
          <a:p xmlns:a="http://schemas.openxmlformats.org/drawingml/2006/main">
            <a:pPr>
              <a:buNone/>
              <a:defRPr sz="2325" b="0">
                <a:solidFill>
                  <a:srgbClr val="233746"/>
                </a:solidFill>
                <a:latin typeface="Arial"/>
                <a:ea typeface="Arial"/>
                <a:cs typeface="Arial"/>
              </a:defRPr>
            </a:pPr>
            <a:r>
              <a:rPr sz="2325" b="0">
                <a:solidFill>
                  <a:srgbClr val="233746"/>
                </a:solidFill>
                <a:latin typeface="Arial"/>
                <a:ea typeface="Arial"/>
                <a:cs typeface="Arial"/>
              </a:rPr>
              <a:t>Las reglas reducen la potencia antes de alcanzar el objetivo.</a:t>
            </a:r>
          </a:p>
        </p:txBody>
      </p:sp>
      <p:sp>
        <p:nvSpPr>
          <p:cNvPr id="11" name="">
            <a:extLst xmlns:a="http://schemas.openxmlformats.org/drawingml/2006/main">
              <a:ext uri="{FF2B5EF4-FFF2-40B4-BE49-F238E27FC236}">
                <a16:creationId xmlns:a16="http://schemas.microsoft.com/office/drawing/2014/main" id="{C814CFF3-1DF6-465C-9E74-1A9E6105A1D5}"/>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Repetir este ciclo convierte una base de reglas en un sistema de control con realimentación.</a:t>
            </a:r>
          </a:p>
        </p:txBody>
      </p:sp>
      <p:sp>
        <p:nvSpPr>
          <p:cNvPr id="15" name="">
            <a:extLst xmlns:a="http://schemas.openxmlformats.org/drawingml/2006/main">
              <a:ext uri="{FF2B5EF4-FFF2-40B4-BE49-F238E27FC236}">
                <a16:creationId xmlns:a16="http://schemas.microsoft.com/office/drawing/2014/main" id="{76B3A134-3A4E-4DC2-B87C-B29AD82DC439}"/>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B214377-EC62-4F11-BFD0-9BF56939B1E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9. Programar el controlador</a:t>
            </a:r>
          </a:p>
        </p:txBody>
      </p:sp>
      <p:sp>
        <p:nvSpPr>
          <p:cNvPr id="9" name="">
            <a:extLst xmlns:a="http://schemas.openxmlformats.org/drawingml/2006/main">
              <a:ext uri="{FF2B5EF4-FFF2-40B4-BE49-F238E27FC236}">
                <a16:creationId xmlns:a16="http://schemas.microsoft.com/office/drawing/2014/main" id="{297E428F-0456-4922-996D-B90CCAA7C003}"/>
              </a:ext>
            </a:extLst>
          </p:cNvPr>
          <p:cNvSpPr>
            <a:spLocks xmlns:a="http://schemas.openxmlformats.org/drawingml/2006/main" noGrp="1"/>
          </p:cNvSpPr>
          <p:nvPr/>
        </p:nvSpPr>
        <p:spPr>
          <a:xfrm xmlns:a="http://schemas.openxmlformats.org/drawingml/2006/main">
            <a:off x="762000" y="1571625"/>
            <a:ext cx="10763250"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import numpy as np</a:t>
            </a:r>
          </a:p>
          <a:p xmlns:a="http://schemas.openxmlformats.org/drawingml/2006/main">
            <a:r>
              <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def grados(z):</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    z = np.clip(z, -1.0, 1.0)</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    return np.array([max(-z, 0), 1-abs(z), max(z, 0)])</a:t>
            </a:r>
          </a:p>
          <a:p xmlns:a="http://schemas.openxmlformats.org/drawingml/2006/main">
            <a:r>
              <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reglas = np.array([[0, 0, 20], [0, 20, 60], [20, 60, 100]])</a:t>
            </a:r>
          </a:p>
          <a:p xmlns:a="http://schemas.openxmlformats.org/drawingml/2006/main">
            <a:r>
              <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def controlar(e, de):</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    pesos = np.outer(grados(e/4), grados(de/1))</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    return np.sum(pesos * reglas) / np.sum(pesos)</a:t>
            </a:r>
          </a:p>
        </p:txBody>
      </p:sp>
      <p:sp>
        <p:nvSpPr>
          <p:cNvPr id="10" name="">
            <a:extLst xmlns:a="http://schemas.openxmlformats.org/drawingml/2006/main">
              <a:ext uri="{FF2B5EF4-FFF2-40B4-BE49-F238E27FC236}">
                <a16:creationId xmlns:a16="http://schemas.microsoft.com/office/drawing/2014/main" id="{FAEAA69A-7BCC-48F7-90BC-8C38D6494D5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controlar(2, 0.2) devuelve 48.0. La partición garantiza suma de pesos positiva.</a:t>
            </a:r>
          </a:p>
        </p:txBody>
      </p:sp>
      <p:sp>
        <p:nvSpPr>
          <p:cNvPr id="11" name="">
            <a:extLst xmlns:a="http://schemas.openxmlformats.org/drawingml/2006/main">
              <a:ext uri="{FF2B5EF4-FFF2-40B4-BE49-F238E27FC236}">
                <a16:creationId xmlns:a16="http://schemas.microsoft.com/office/drawing/2014/main" id="{153B5BD5-F1DB-4DB1-AA31-6EC791C8E59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06C8C3D-114E-4570-8466-319F7B2B0E4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10. Repetir el ciclo en la simulación</a:t>
            </a:r>
          </a:p>
        </p:txBody>
      </p:sp>
      <p:sp>
        <p:nvSpPr>
          <p:cNvPr id="9" name="">
            <a:extLst xmlns:a="http://schemas.openxmlformats.org/drawingml/2006/main">
              <a:ext uri="{FF2B5EF4-FFF2-40B4-BE49-F238E27FC236}">
                <a16:creationId xmlns:a16="http://schemas.microsoft.com/office/drawing/2014/main" id="{AE530BA4-041C-46E8-9778-9FC1F0DB33F6}"/>
              </a:ext>
            </a:extLst>
          </p:cNvPr>
          <p:cNvSpPr>
            <a:spLocks xmlns:a="http://schemas.openxmlformats.org/drawingml/2006/main" noGrp="1"/>
          </p:cNvSpPr>
          <p:nvPr/>
        </p:nvSpPr>
        <p:spPr>
          <a:xfrm xmlns:a="http://schemas.openxmlformats.org/drawingml/2006/main">
            <a:off x="762000" y="1552575"/>
            <a:ext cx="1076325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dt = 0.1                  # minutos</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T, Ta, referencia = 18.0, 18.0, 22.0</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e_anterior = referencia - T</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registro = []</a:t>
            </a:r>
          </a:p>
          <a:p xmlns:a="http://schemas.openxmlformats.org/drawingml/2006/main">
            <a:r>
              <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for k in range(600):       # 60 minutos</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e = referencia - T</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de = (e - e_anterior) / dt</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u = controlar(e, de)</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T_siguiente = T + dt * (-(T-Ta)/10 + 0.02*u)</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registro.append((k*dt, T, u))</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e_anterior, T = e, T_siguiente</a:t>
            </a:r>
          </a:p>
        </p:txBody>
      </p:sp>
      <p:sp>
        <p:nvSpPr>
          <p:cNvPr id="10" name="">
            <a:extLst xmlns:a="http://schemas.openxmlformats.org/drawingml/2006/main">
              <a:ext uri="{FF2B5EF4-FFF2-40B4-BE49-F238E27FC236}">
                <a16:creationId xmlns:a16="http://schemas.microsoft.com/office/drawing/2014/main" id="{F3AD1F4F-5A97-4596-9DE5-7F80C73767A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planta actualiza T; el controlador calcula u. Son dos funciones diferentes.</a:t>
            </a:r>
          </a:p>
        </p:txBody>
      </p:sp>
      <p:sp>
        <p:nvSpPr>
          <p:cNvPr id="11" name="">
            <a:extLst xmlns:a="http://schemas.openxmlformats.org/drawingml/2006/main">
              <a:ext uri="{FF2B5EF4-FFF2-40B4-BE49-F238E27FC236}">
                <a16:creationId xmlns:a16="http://schemas.microsoft.com/office/drawing/2014/main" id="{6DCD525D-27D5-4180-A227-70860928177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230B83-98FC-4398-8FB9-7BE1EA35D21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Prueba 1. Calentar desde 18 °C hasta la consigna</a:t>
            </a:r>
          </a:p>
        </p:txBody>
      </p:sp>
      <p:sp>
        <p:nvSpPr>
          <p:cNvPr id="9" name="">
            <a:extLst xmlns:a="http://schemas.openxmlformats.org/drawingml/2006/main">
              <a:ext uri="{FF2B5EF4-FFF2-40B4-BE49-F238E27FC236}">
                <a16:creationId xmlns:a16="http://schemas.microsoft.com/office/drawing/2014/main" id="{DAFF15DE-9EA5-49A2-9DDB-BFE4B8778F53}"/>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Temperatura T y objetivo 22 °C</a:t>
            </a:r>
          </a:p>
        </p:txBody>
      </p:sp>
      <p:sp>
        <p:nvSpPr>
          <p:cNvPr id="10" name="">
            <a:extLst xmlns:a="http://schemas.openxmlformats.org/drawingml/2006/main">
              <a:ext uri="{FF2B5EF4-FFF2-40B4-BE49-F238E27FC236}">
                <a16:creationId xmlns:a16="http://schemas.microsoft.com/office/drawing/2014/main" id="{04AB2C30-1485-4EE1-88BD-D0079B03A639}"/>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Potencia u</a:t>
            </a:r>
          </a:p>
        </p:txBody>
      </p:sp>
      <p:graphicFrame>
        <p:nvGraphicFramePr>
          <p:cNvPr id="30" name="Chart"/>
          <p:cNvGraphicFramePr/>
          <p:nvPr/>
        </p:nvGraphicFramePr>
        <p:xfrm>
          <a:off xmlns:a="http://schemas.openxmlformats.org/drawingml/2006/main" x="762000" y="2286000"/>
          <a:ext xmlns:a="http://schemas.openxmlformats.org/drawingml/2006/main" cx="5143500" cy="3114675"/>
        </p:xfrm>
        <a:graphic xmlns:a="http://schemas.openxmlformats.org/drawingml/2006/main">
          <a:graphicData uri="http://schemas.openxmlformats.org/drawingml/2006/chart">
            <c:chart xmlns:r="http://schemas.openxmlformats.org/officeDocument/2006/relationships" xmlns:c="http://schemas.openxmlformats.org/drawingml/2006/chart" r:id="R49bacba3c2244096"/>
          </a:graphicData>
        </a:graphic>
      </p:graphicFrame>
      <p:graphicFrame>
        <p:nvGraphicFramePr>
          <p:cNvPr id="31" name="Chart"/>
          <p:cNvGraphicFramePr/>
          <p:nvPr/>
        </p:nvGraphicFramePr>
        <p:xfrm>
          <a:off xmlns:a="http://schemas.openxmlformats.org/drawingml/2006/main" x="6429375" y="2286000"/>
          <a:ext xmlns:a="http://schemas.openxmlformats.org/drawingml/2006/main" cx="5000625" cy="3114675"/>
        </p:xfrm>
        <a:graphic xmlns:a="http://schemas.openxmlformats.org/drawingml/2006/main">
          <a:graphicData uri="http://schemas.openxmlformats.org/drawingml/2006/chart">
            <c:chart xmlns:r="http://schemas.openxmlformats.org/officeDocument/2006/relationships" xmlns:c="http://schemas.openxmlformats.org/drawingml/2006/chart" r:id="Ra42504d905654808"/>
          </a:graphicData>
        </a:graphic>
      </p:graphicFrame>
      <p:sp>
        <p:nvSpPr>
          <p:cNvPr id="13" name="">
            <a:extLst xmlns:a="http://schemas.openxmlformats.org/drawingml/2006/main">
              <a:ext uri="{FF2B5EF4-FFF2-40B4-BE49-F238E27FC236}">
                <a16:creationId xmlns:a16="http://schemas.microsoft.com/office/drawing/2014/main" id="{349C8F07-B335-4A96-8284-E9DF1574E47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este modelo entra y permanece en ±0,2 °C a partir de unos 15,2 min.</a:t>
            </a:r>
          </a:p>
        </p:txBody>
      </p:sp>
      <p:sp>
        <p:nvSpPr>
          <p:cNvPr id="20" name="">
            <a:extLst xmlns:a="http://schemas.openxmlformats.org/drawingml/2006/main">
              <a:ext uri="{FF2B5EF4-FFF2-40B4-BE49-F238E27FC236}">
                <a16:creationId xmlns:a16="http://schemas.microsoft.com/office/drawing/2014/main" id="{7BDF68A7-5905-4181-A958-1A5A8D3AC93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89FE8C1-5B3B-473E-9C6E-0FCE104F51E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Prueba 2. Enfriar el ambiente durante la simulación</a:t>
            </a:r>
          </a:p>
        </p:txBody>
      </p:sp>
      <p:sp>
        <p:nvSpPr>
          <p:cNvPr id="9" name="">
            <a:extLst xmlns:a="http://schemas.openxmlformats.org/drawingml/2006/main">
              <a:ext uri="{FF2B5EF4-FFF2-40B4-BE49-F238E27FC236}">
                <a16:creationId xmlns:a16="http://schemas.microsoft.com/office/drawing/2014/main" id="{1ACDC8CB-037A-4875-A33D-B83749177A24}"/>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Temperatura interior</a:t>
            </a:r>
          </a:p>
        </p:txBody>
      </p:sp>
      <p:sp>
        <p:nvSpPr>
          <p:cNvPr id="10" name="">
            <a:extLst xmlns:a="http://schemas.openxmlformats.org/drawingml/2006/main">
              <a:ext uri="{FF2B5EF4-FFF2-40B4-BE49-F238E27FC236}">
                <a16:creationId xmlns:a16="http://schemas.microsoft.com/office/drawing/2014/main" id="{A12F92CD-FFB3-4DA5-92A4-C51D177F7205}"/>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Objetivo</a:t>
            </a:r>
          </a:p>
        </p:txBody>
      </p:sp>
      <p:sp>
        <p:nvSpPr>
          <p:cNvPr id="11" name="">
            <a:extLst xmlns:a="http://schemas.openxmlformats.org/drawingml/2006/main">
              <a:ext uri="{FF2B5EF4-FFF2-40B4-BE49-F238E27FC236}">
                <a16:creationId xmlns:a16="http://schemas.microsoft.com/office/drawing/2014/main" id="{D98A0FBA-5778-4F14-BE02-7854BF495D65}"/>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Ambiente</a:t>
            </a:r>
          </a:p>
        </p:txBody>
      </p:sp>
      <p:graphicFrame>
        <p:nvGraphicFramePr>
          <p:cNvPr id="29" name="Chart"/>
          <p:cNvGraphicFramePr/>
          <p:nvPr/>
        </p:nvGraphicFramePr>
        <p:xfrm>
          <a:off xmlns:a="http://schemas.openxmlformats.org/drawingml/2006/main" x="762000" y="2238375"/>
          <a:ext xmlns:a="http://schemas.openxmlformats.org/drawingml/2006/main" cx="10668000" cy="3200400"/>
        </p:xfrm>
        <a:graphic xmlns:a="http://schemas.openxmlformats.org/drawingml/2006/main">
          <a:graphicData uri="http://schemas.openxmlformats.org/drawingml/2006/chart">
            <c:chart xmlns:r="http://schemas.openxmlformats.org/officeDocument/2006/relationships" xmlns:c="http://schemas.openxmlformats.org/drawingml/2006/chart" r:id="R4c7ac77786e3438f"/>
          </a:graphicData>
        </a:graphic>
      </p:graphicFrame>
      <p:sp>
        <p:nvSpPr>
          <p:cNvPr id="13" name="">
            <a:extLst xmlns:a="http://schemas.openxmlformats.org/drawingml/2006/main">
              <a:ext uri="{FF2B5EF4-FFF2-40B4-BE49-F238E27FC236}">
                <a16:creationId xmlns:a16="http://schemas.microsoft.com/office/drawing/2014/main" id="{B75C08CF-E99F-4391-AA7D-E4AC6A051ACB}"/>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Al cambiar Ta de 18 a 16 °C en t = 20 min, queda un error final ≈ 0,67 °C.</a:t>
            </a:r>
          </a:p>
        </p:txBody>
      </p:sp>
      <p:sp>
        <p:nvSpPr>
          <p:cNvPr id="18" name="">
            <a:extLst xmlns:a="http://schemas.openxmlformats.org/drawingml/2006/main">
              <a:ext uri="{FF2B5EF4-FFF2-40B4-BE49-F238E27FC236}">
                <a16:creationId xmlns:a16="http://schemas.microsoft.com/office/drawing/2014/main" id="{50577DF2-5279-461F-9228-5F88BD7A2F0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A8919AB-3AD8-45C6-9497-4ADCBC68EDA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Prueba 3. Añadir ruido a la medida</a:t>
            </a:r>
          </a:p>
        </p:txBody>
      </p:sp>
      <p:sp>
        <p:nvSpPr>
          <p:cNvPr id="9" name="">
            <a:extLst xmlns:a="http://schemas.openxmlformats.org/drawingml/2006/main">
              <a:ext uri="{FF2B5EF4-FFF2-40B4-BE49-F238E27FC236}">
                <a16:creationId xmlns:a16="http://schemas.microsoft.com/office/drawing/2014/main" id="{29B41C69-A377-4C91-90D1-179955CA5C52}"/>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Sin filtrar</a:t>
            </a:r>
          </a:p>
        </p:txBody>
      </p:sp>
      <p:sp>
        <p:nvSpPr>
          <p:cNvPr id="10" name="">
            <a:extLst xmlns:a="http://schemas.openxmlformats.org/drawingml/2006/main">
              <a:ext uri="{FF2B5EF4-FFF2-40B4-BE49-F238E27FC236}">
                <a16:creationId xmlns:a16="http://schemas.microsoft.com/office/drawing/2014/main" id="{C7A08362-FDA0-488F-932E-B5758B657B41}"/>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Con filtrado</a:t>
            </a:r>
          </a:p>
        </p:txBody>
      </p:sp>
      <p:sp>
        <p:nvSpPr>
          <p:cNvPr id="11" name="">
            <a:extLst xmlns:a="http://schemas.openxmlformats.org/drawingml/2006/main">
              <a:ext uri="{FF2B5EF4-FFF2-40B4-BE49-F238E27FC236}">
                <a16:creationId xmlns:a16="http://schemas.microsoft.com/office/drawing/2014/main" id="{136B182A-240E-4044-A0E8-13E66F0FC7AC}"/>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Objetivo</a:t>
            </a:r>
          </a:p>
        </p:txBody>
      </p:sp>
      <p:graphicFrame>
        <p:nvGraphicFramePr>
          <p:cNvPr id="29" name="Chart"/>
          <p:cNvGraphicFramePr/>
          <p:nvPr/>
        </p:nvGraphicFramePr>
        <p:xfrm>
          <a:off xmlns:a="http://schemas.openxmlformats.org/drawingml/2006/main" x="762000" y="2190750"/>
          <a:ext xmlns:a="http://schemas.openxmlformats.org/drawingml/2006/main" cx="10668000" cy="3219450"/>
        </p:xfrm>
        <a:graphic xmlns:a="http://schemas.openxmlformats.org/drawingml/2006/main">
          <a:graphicData uri="http://schemas.openxmlformats.org/drawingml/2006/chart">
            <c:chart xmlns:r="http://schemas.openxmlformats.org/officeDocument/2006/relationships" xmlns:c="http://schemas.openxmlformats.org/drawingml/2006/chart" r:id="R21963ec9445742d7"/>
          </a:graphicData>
        </a:graphic>
      </p:graphicFrame>
      <p:sp>
        <p:nvSpPr>
          <p:cNvPr id="13" name="">
            <a:extLst xmlns:a="http://schemas.openxmlformats.org/drawingml/2006/main">
              <a:ext uri="{FF2B5EF4-FFF2-40B4-BE49-F238E27FC236}">
                <a16:creationId xmlns:a16="http://schemas.microsoft.com/office/drawing/2014/main" id="{575C3F54-5E84-429B-A984-9D01F0D4D2F4}"/>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Diferenciar una señal ruidosa amplifica sus variaciones; filtrar añade retardo.</a:t>
            </a:r>
          </a:p>
        </p:txBody>
      </p:sp>
      <p:sp>
        <p:nvSpPr>
          <p:cNvPr id="18" name="">
            <a:extLst xmlns:a="http://schemas.openxmlformats.org/drawingml/2006/main">
              <a:ext uri="{FF2B5EF4-FFF2-40B4-BE49-F238E27FC236}">
                <a16:creationId xmlns:a16="http://schemas.microsoft.com/office/drawing/2014/main" id="{5B791141-A872-4D70-A954-3F8F1CC2A73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48E950C-54E2-4845-B716-C87DF126B3B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Evaluación: rapidez, oscilación y consumo</a:t>
            </a:r>
          </a:p>
        </p:txBody>
      </p:sp>
      <p:graphicFrame>
        <p:nvGraphicFramePr>
          <p:cNvPr id="23" name=""/>
          <p:cNvGraphicFramePr/>
          <p:nvPr/>
        </p:nvGraphicFramePr>
        <p:xfrm>
          <a:off xmlns:a="http://schemas.openxmlformats.org/drawingml/2006/main" x="762000" y="2133600"/>
          <a:ext xmlns:a="http://schemas.openxmlformats.org/drawingml/2006/main" cx="10668000" cy="2847975"/>
        </p:xfrm>
        <a:graphic xmlns:a="http://schemas.openxmlformats.org/drawingml/2006/main">
          <a:graphicData uri="http://schemas.openxmlformats.org/drawingml/2006/table">
            <a:tbl>
              <a:tblPr/>
              <a:tblGrid>
                <a:gridCol w="5143500"/>
                <a:gridCol w="2762250"/>
                <a:gridCol w="2762250"/>
              </a:tblGrid>
              <a:tr h="569595">
                <a:tc>
                  <a:txBody>
                    <a:bodyPr lIns="85725" tIns="76200" rIns="85725" bIns="76200"/>
                    <a:lstStyle/>
                    <a:p>
                      <a:pPr algn="ctr">
                        <a:buNone/>
                      </a:pPr>
                      <a:r>
                        <a:rPr sz="1875" b="1">
                          <a:solidFill>
                            <a:srgbClr val="2162A0"/>
                          </a:solidFill>
                          <a:latin typeface="Arial"/>
                          <a:ea typeface="Arial"/>
                          <a:cs typeface="Arial"/>
                        </a:rPr>
                        <a:t>Métrica, ensayo de 60 min</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Fuzzy</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ON/OFF</a:t>
                      </a:r>
                    </a:p>
                  </a:txBody>
                  <a:tcPr marL="91440" marR="91440" marT="45720" marB="45720" anchor="ctr">
                    <a:solidFill>
                      <a:srgbClr val="E7EFF5"/>
                    </a:solidFill>
                  </a:tcPr>
                </a:tc>
              </a:tr>
              <a:tr h="569595">
                <a:tc>
                  <a:txBody>
                    <a:bodyPr lIns="85725" tIns="76200" rIns="85725" bIns="76200"/>
                    <a:lstStyle/>
                    <a:p>
                      <a:pPr algn="ctr">
                        <a:buNone/>
                      </a:pPr>
                      <a:r>
                        <a:rPr sz="1875" b="0">
                          <a:solidFill>
                            <a:srgbClr val="233746"/>
                          </a:solidFill>
                          <a:latin typeface="Arial"/>
                          <a:ea typeface="Arial"/>
                          <a:cs typeface="Arial"/>
                        </a:rPr>
                        <a:t>Error absoluto integrado (°C·min)</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21,06</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11,43</a:t>
                      </a:r>
                    </a:p>
                  </a:txBody>
                  <a:tcPr marL="91440" marR="91440" marT="45720" marB="45720" anchor="ctr">
                    <a:solidFill>
                      <a:srgbClr val="FFFFFF"/>
                    </a:solidFill>
                  </a:tcPr>
                </a:tc>
              </a:tr>
              <a:tr h="569595">
                <a:tc>
                  <a:txBody>
                    <a:bodyPr lIns="85725" tIns="76200" rIns="85725" bIns="76200"/>
                    <a:lstStyle/>
                    <a:p>
                      <a:pPr algn="ctr">
                        <a:buNone/>
                      </a:pPr>
                      <a:r>
                        <a:rPr sz="1875" b="0">
                          <a:solidFill>
                            <a:srgbClr val="233746"/>
                          </a:solidFill>
                          <a:latin typeface="Arial"/>
                          <a:ea typeface="Arial"/>
                          <a:cs typeface="Arial"/>
                        </a:rPr>
                        <a:t>Máximo sobre 22 °C (°C)</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0,00</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0,29</a:t>
                      </a:r>
                    </a:p>
                  </a:txBody>
                  <a:tcPr marL="91440" marR="91440" marT="45720" marB="45720" anchor="ctr">
                    <a:solidFill>
                      <a:srgbClr val="F4F7F9"/>
                    </a:solidFill>
                  </a:tcPr>
                </a:tc>
              </a:tr>
              <a:tr h="569595">
                <a:tc>
                  <a:txBody>
                    <a:bodyPr lIns="85725" tIns="76200" rIns="85725" bIns="76200"/>
                    <a:lstStyle/>
                    <a:p>
                      <a:pPr algn="ctr">
                        <a:buNone/>
                      </a:pPr>
                      <a:r>
                        <a:rPr sz="1875" b="0">
                          <a:solidFill>
                            <a:srgbClr val="233746"/>
                          </a:solidFill>
                          <a:latin typeface="Arial"/>
                          <a:ea typeface="Arial"/>
                          <a:cs typeface="Arial"/>
                        </a:rPr>
                        <a:t>Energía del calefactor (kWh)</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0,431</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0,458</a:t>
                      </a:r>
                    </a:p>
                  </a:txBody>
                  <a:tcPr marL="91440" marR="91440" marT="45720" marB="45720" anchor="ctr">
                    <a:solidFill>
                      <a:srgbClr val="FFFFFF"/>
                    </a:solidFill>
                  </a:tcPr>
                </a:tc>
              </a:tr>
              <a:tr h="569595">
                <a:tc>
                  <a:txBody>
                    <a:bodyPr lIns="85725" tIns="76200" rIns="85725" bIns="76200"/>
                    <a:lstStyle/>
                    <a:p>
                      <a:pPr algn="ctr">
                        <a:buNone/>
                      </a:pPr>
                      <a:r>
                        <a:rPr sz="1875" b="0">
                          <a:solidFill>
                            <a:srgbClr val="233746"/>
                          </a:solidFill>
                          <a:latin typeface="Arial"/>
                          <a:ea typeface="Arial"/>
                          <a:cs typeface="Arial"/>
                        </a:rPr>
                        <a:t>Permanencia en ±0,2 °C</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Desde 15,2 min</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Oscila fuera de la banda</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CF746CC3-4965-450D-AF5E-FCE1A803656D}"/>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Ningún ajuste gana en todos los criterios. Las prioridades deben fijarse antes.</a:t>
            </a:r>
          </a:p>
        </p:txBody>
      </p:sp>
      <p:sp>
        <p:nvSpPr>
          <p:cNvPr id="15" name="">
            <a:extLst xmlns:a="http://schemas.openxmlformats.org/drawingml/2006/main">
              <a:ext uri="{FF2B5EF4-FFF2-40B4-BE49-F238E27FC236}">
                <a16:creationId xmlns:a16="http://schemas.microsoft.com/office/drawing/2014/main" id="{F50418F0-5997-4691-832F-C918A73077D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1C11E44-E095-40C9-87EE-DBB4624EB97B}"/>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Ajuste: cambiar un parámetro y volver a probar</a:t>
            </a:r>
          </a:p>
        </p:txBody>
      </p:sp>
      <p:sp>
        <p:nvSpPr>
          <p:cNvPr id="9" name="">
            <a:extLst xmlns:a="http://schemas.openxmlformats.org/drawingml/2006/main">
              <a:ext uri="{FF2B5EF4-FFF2-40B4-BE49-F238E27FC236}">
                <a16:creationId xmlns:a16="http://schemas.microsoft.com/office/drawing/2014/main" id="{1353D64E-44A1-4DF7-A0BC-55D6BC27696F}"/>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Si tarda demasiado</a:t>
            </a:r>
          </a:p>
        </p:txBody>
      </p:sp>
      <p:sp>
        <p:nvSpPr>
          <p:cNvPr id="10" name="">
            <a:extLst xmlns:a="http://schemas.openxmlformats.org/drawingml/2006/main">
              <a:ext uri="{FF2B5EF4-FFF2-40B4-BE49-F238E27FC236}">
                <a16:creationId xmlns:a16="http://schemas.microsoft.com/office/drawing/2014/main" id="{44E3640E-D335-443B-B040-0349D780833B}"/>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Revisar escalas, consecuencias y potencia disponible; medir el sobreimpulso.</a:t>
            </a:r>
          </a:p>
        </p:txBody>
      </p:sp>
      <p:sp>
        <p:nvSpPr>
          <p:cNvPr id="11" name="">
            <a:extLst xmlns:a="http://schemas.openxmlformats.org/drawingml/2006/main">
              <a:ext uri="{FF2B5EF4-FFF2-40B4-BE49-F238E27FC236}">
                <a16:creationId xmlns:a16="http://schemas.microsoft.com/office/drawing/2014/main" id="{B527A9BC-34C3-4394-959B-35339F74B9C5}"/>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Si oscila o amplifica ruido</a:t>
            </a:r>
          </a:p>
        </p:txBody>
      </p:sp>
      <p:sp>
        <p:nvSpPr>
          <p:cNvPr id="12" name="">
            <a:extLst xmlns:a="http://schemas.openxmlformats.org/drawingml/2006/main">
              <a:ext uri="{FF2B5EF4-FFF2-40B4-BE49-F238E27FC236}">
                <a16:creationId xmlns:a16="http://schemas.microsoft.com/office/drawing/2014/main" id="{D9720B35-5A91-449F-9B28-350F30B0E35C}"/>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Revisar muestreo, tendencia, filtrado y cambios bruscos de la base de reglas.</a:t>
            </a:r>
          </a:p>
        </p:txBody>
      </p:sp>
      <p:sp>
        <p:nvSpPr>
          <p:cNvPr id="13" name="">
            <a:extLst xmlns:a="http://schemas.openxmlformats.org/drawingml/2006/main">
              <a:ext uri="{FF2B5EF4-FFF2-40B4-BE49-F238E27FC236}">
                <a16:creationId xmlns:a16="http://schemas.microsoft.com/office/drawing/2014/main" id="{5756244D-70BB-475E-ABE8-6110DDBC2961}"/>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Si queda error permanente</a:t>
            </a:r>
          </a:p>
        </p:txBody>
      </p:sp>
      <p:sp>
        <p:nvSpPr>
          <p:cNvPr id="14" name="">
            <a:extLst xmlns:a="http://schemas.openxmlformats.org/drawingml/2006/main">
              <a:ext uri="{FF2B5EF4-FFF2-40B4-BE49-F238E27FC236}">
                <a16:creationId xmlns:a16="http://schemas.microsoft.com/office/drawing/2014/main" id="{D0A66562-3875-4145-B7DA-0695B2EF75F3}"/>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Revisar compensación de pérdidas o una acción integral; volver a simular.</a:t>
            </a:r>
          </a:p>
        </p:txBody>
      </p:sp>
      <p:sp>
        <p:nvSpPr>
          <p:cNvPr id="15" name="">
            <a:extLst xmlns:a="http://schemas.openxmlformats.org/drawingml/2006/main">
              <a:ext uri="{FF2B5EF4-FFF2-40B4-BE49-F238E27FC236}">
                <a16:creationId xmlns:a16="http://schemas.microsoft.com/office/drawing/2014/main" id="{47BFA85F-8B28-4438-8F0D-8A00BB81BCE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Modificar una decisión de diseño cada vez y repetir también los casos que antes funcionaban.</a:t>
            </a:r>
          </a:p>
        </p:txBody>
      </p:sp>
      <p:sp>
        <p:nvSpPr>
          <p:cNvPr id="16" name="">
            <a:extLst xmlns:a="http://schemas.openxmlformats.org/drawingml/2006/main">
              <a:ext uri="{FF2B5EF4-FFF2-40B4-BE49-F238E27FC236}">
                <a16:creationId xmlns:a16="http://schemas.microsoft.com/office/drawing/2014/main" id="{9D701FE1-77C8-40A7-9E3C-4260D3DBFB9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20B8118-3A52-4CD9-83F2-C0B527FECE1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Qué debe entregar vuestro controlador</a:t>
            </a:r>
          </a:p>
        </p:txBody>
      </p:sp>
      <p:sp>
        <p:nvSpPr>
          <p:cNvPr id="9" name="">
            <a:extLst xmlns:a="http://schemas.openxmlformats.org/drawingml/2006/main">
              <a:ext uri="{FF2B5EF4-FFF2-40B4-BE49-F238E27FC236}">
                <a16:creationId xmlns:a16="http://schemas.microsoft.com/office/drawing/2014/main" id="{E61B71F8-1BE7-4058-B1A7-6FEF31350627}"/>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Diseño explicado</a:t>
            </a:r>
          </a:p>
        </p:txBody>
      </p:sp>
      <p:sp>
        <p:nvSpPr>
          <p:cNvPr id="10" name="">
            <a:extLst xmlns:a="http://schemas.openxmlformats.org/drawingml/2006/main">
              <a:ext uri="{FF2B5EF4-FFF2-40B4-BE49-F238E27FC236}">
                <a16:creationId xmlns:a16="http://schemas.microsoft.com/office/drawing/2014/main" id="{26C64307-6C0F-4F23-9807-20C550A58B91}"/>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Entradas, salida, unidades, rangos, pertenencias, reglas y método de inferencia.</a:t>
            </a:r>
          </a:p>
        </p:txBody>
      </p:sp>
      <p:sp>
        <p:nvSpPr>
          <p:cNvPr id="11" name="">
            <a:extLst xmlns:a="http://schemas.openxmlformats.org/drawingml/2006/main">
              <a:ext uri="{FF2B5EF4-FFF2-40B4-BE49-F238E27FC236}">
                <a16:creationId xmlns:a16="http://schemas.microsoft.com/office/drawing/2014/main" id="{178C7B67-234B-4CFE-B468-469863BC3BB6}"/>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Implementación comprobable</a:t>
            </a:r>
          </a:p>
        </p:txBody>
      </p:sp>
      <p:sp>
        <p:nvSpPr>
          <p:cNvPr id="12" name="">
            <a:extLst xmlns:a="http://schemas.openxmlformats.org/drawingml/2006/main">
              <a:ext uri="{FF2B5EF4-FFF2-40B4-BE49-F238E27FC236}">
                <a16:creationId xmlns:a16="http://schemas.microsoft.com/office/drawing/2014/main" id="{37B6407D-3714-4BE8-A894-8F7DEF21604C}"/>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Código, cálculo manual de un instante y registro de la evolución del sistema.</a:t>
            </a:r>
          </a:p>
        </p:txBody>
      </p:sp>
      <p:sp>
        <p:nvSpPr>
          <p:cNvPr id="13" name="">
            <a:extLst xmlns:a="http://schemas.openxmlformats.org/drawingml/2006/main">
              <a:ext uri="{FF2B5EF4-FFF2-40B4-BE49-F238E27FC236}">
                <a16:creationId xmlns:a16="http://schemas.microsoft.com/office/drawing/2014/main" id="{603168C0-A60A-47A5-9728-3B74EEA56F7B}"/>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Evaluación y límites</a:t>
            </a:r>
          </a:p>
        </p:txBody>
      </p:sp>
      <p:sp>
        <p:nvSpPr>
          <p:cNvPr id="14" name="">
            <a:extLst xmlns:a="http://schemas.openxmlformats.org/drawingml/2006/main">
              <a:ext uri="{FF2B5EF4-FFF2-40B4-BE49-F238E27FC236}">
                <a16:creationId xmlns:a16="http://schemas.microsoft.com/office/drawing/2014/main" id="{9E616A34-2FC3-4C08-9D8E-5C0DDF6664E2}"/>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Pruebas nominales, perturbaciones, ruido y saturación; métricas y ajustes justificados.</a:t>
            </a:r>
          </a:p>
        </p:txBody>
      </p:sp>
      <p:sp>
        <p:nvSpPr>
          <p:cNvPr id="15" name="">
            <a:extLst xmlns:a="http://schemas.openxmlformats.org/drawingml/2006/main">
              <a:ext uri="{FF2B5EF4-FFF2-40B4-BE49-F238E27FC236}">
                <a16:creationId xmlns:a16="http://schemas.microsoft.com/office/drawing/2014/main" id="{8D94456D-4091-4E90-8CA1-C2C99459C97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explicación termina cuando podéis justificar por qué el controlador actúa así.</a:t>
            </a:r>
          </a:p>
        </p:txBody>
      </p:sp>
      <p:sp>
        <p:nvSpPr>
          <p:cNvPr id="16" name="">
            <a:extLst xmlns:a="http://schemas.openxmlformats.org/drawingml/2006/main">
              <a:ext uri="{FF2B5EF4-FFF2-40B4-BE49-F238E27FC236}">
                <a16:creationId xmlns:a16="http://schemas.microsoft.com/office/drawing/2014/main" id="{9F4E9344-0D8A-4B7C-8887-7825FC8686F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4761A9C-FB12-4910-ADF6-234B76B60F27}"/>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Libro de referencia</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408cd7b636514368"/>
          <a:stretch xmlns:a="http://schemas.openxmlformats.org/drawingml/2006/main"/>
        </p:blipFill>
        <p:spPr>
          <a:xfrm xmlns:a="http://schemas.openxmlformats.org/drawingml/2006/main">
            <a:off x="8028900" y="1619250"/>
            <a:ext cx="3087449" cy="4619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F8E4F8C0-01A5-4F9D-85FB-9B90BFDA2CDE}"/>
              </a:ext>
            </a:extLst>
          </p:cNvPr>
          <p:cNvSpPr>
            <a:spLocks xmlns:a="http://schemas.openxmlformats.org/drawingml/2006/main" noGrp="1"/>
          </p:cNvSpPr>
          <p:nvPr/>
        </p:nvSpPr>
        <p:spPr>
          <a:xfrm xmlns:a="http://schemas.openxmlformats.org/drawingml/2006/main">
            <a:off x="762000" y="1714500"/>
            <a:ext cx="666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775" b="1">
                <a:solidFill>
                  <a:srgbClr val="D96B18"/>
                </a:solidFill>
                <a:latin typeface="Arial"/>
                <a:ea typeface="Arial"/>
                <a:cs typeface="Arial"/>
              </a:defRPr>
            </a:pPr>
            <a:r>
              <a:rPr sz="2775" b="1">
                <a:solidFill>
                  <a:srgbClr val="D96B18"/>
                </a:solidFill>
                <a:latin typeface="Arial"/>
                <a:ea typeface="Arial"/>
                <a:cs typeface="Arial"/>
              </a:rPr>
              <a:t>Timothy J. Ross</a:t>
            </a:r>
          </a:p>
        </p:txBody>
      </p:sp>
      <p:sp>
        <p:nvSpPr>
          <p:cNvPr id="11" name="">
            <a:extLst xmlns:a="http://schemas.openxmlformats.org/drawingml/2006/main">
              <a:ext uri="{FF2B5EF4-FFF2-40B4-BE49-F238E27FC236}">
                <a16:creationId xmlns:a16="http://schemas.microsoft.com/office/drawing/2014/main" id="{375A80E5-7012-4BA1-A6FC-BA9F68186300}"/>
              </a:ext>
            </a:extLst>
          </p:cNvPr>
          <p:cNvSpPr>
            <a:spLocks xmlns:a="http://schemas.openxmlformats.org/drawingml/2006/main" noGrp="1"/>
          </p:cNvSpPr>
          <p:nvPr/>
        </p:nvSpPr>
        <p:spPr>
          <a:xfrm xmlns:a="http://schemas.openxmlformats.org/drawingml/2006/main">
            <a:off x="762000" y="2543175"/>
            <a:ext cx="685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850" b="1">
                <a:solidFill>
                  <a:srgbClr val="233746"/>
                </a:solidFill>
                <a:latin typeface="Arial"/>
                <a:ea typeface="Arial"/>
                <a:cs typeface="Arial"/>
              </a:defRPr>
            </a:pPr>
            <a:r>
              <a:rPr sz="2850" b="1">
                <a:solidFill>
                  <a:srgbClr val="233746"/>
                </a:solidFill>
                <a:latin typeface="Arial"/>
                <a:ea typeface="Arial"/>
                <a:cs typeface="Arial"/>
              </a:rPr>
              <a:t>Fuzzy Logic with</a:t>
            </a:r>
          </a:p>
          <a:p xmlns:a="http://schemas.openxmlformats.org/drawingml/2006/main">
            <a:pPr>
              <a:buNone/>
              <a:defRPr sz="2850" b="1">
                <a:solidFill>
                  <a:srgbClr val="233746"/>
                </a:solidFill>
                <a:latin typeface="Arial"/>
                <a:ea typeface="Arial"/>
                <a:cs typeface="Arial"/>
              </a:defRPr>
            </a:pPr>
            <a:r>
              <a:rPr sz="2850" b="1">
                <a:solidFill>
                  <a:srgbClr val="233746"/>
                </a:solidFill>
                <a:latin typeface="Arial"/>
                <a:ea typeface="Arial"/>
                <a:cs typeface="Arial"/>
              </a:rPr>
              <a:t>Engineering Applications</a:t>
            </a:r>
          </a:p>
        </p:txBody>
      </p:sp>
      <p:sp>
        <p:nvSpPr>
          <p:cNvPr id="12" name="">
            <a:extLst xmlns:a="http://schemas.openxmlformats.org/drawingml/2006/main">
              <a:ext uri="{FF2B5EF4-FFF2-40B4-BE49-F238E27FC236}">
                <a16:creationId xmlns:a16="http://schemas.microsoft.com/office/drawing/2014/main" id="{B9FAA015-711B-47E5-A5DC-77FC458780DD}"/>
              </a:ext>
            </a:extLst>
          </p:cNvPr>
          <p:cNvSpPr>
            <a:spLocks xmlns:a="http://schemas.openxmlformats.org/drawingml/2006/main" noGrp="1"/>
          </p:cNvSpPr>
          <p:nvPr/>
        </p:nvSpPr>
        <p:spPr>
          <a:xfrm xmlns:a="http://schemas.openxmlformats.org/drawingml/2006/main">
            <a:off x="762000" y="3990975"/>
            <a:ext cx="685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3.ª edición · John Wiley &amp; Sons, 2010</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ISBN 978-0-470-74376-8</a:t>
            </a:r>
          </a:p>
        </p:txBody>
      </p:sp>
      <p:sp>
        <p:nvSpPr>
          <p:cNvPr id="13" name="">
            <a:extLst xmlns:a="http://schemas.openxmlformats.org/drawingml/2006/main">
              <a:ext uri="{FF2B5EF4-FFF2-40B4-BE49-F238E27FC236}">
                <a16:creationId xmlns:a16="http://schemas.microsoft.com/office/drawing/2014/main" id="{BA672ED9-0FE4-449B-931A-9FBD0FF0EC02}"/>
              </a:ext>
            </a:extLst>
          </p:cNvPr>
          <p:cNvSpPr>
            <a:spLocks xmlns:a="http://schemas.openxmlformats.org/drawingml/2006/main" noGrp="1"/>
          </p:cNvSpPr>
          <p:nvPr/>
        </p:nvSpPr>
        <p:spPr>
          <a:xfrm xmlns:a="http://schemas.openxmlformats.org/drawingml/2006/main">
            <a:off x="762000" y="5305425"/>
            <a:ext cx="685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Para continuar: 5 (inferencia) y 13 (control).</a:t>
            </a:r>
          </a:p>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El capítulo 8 queda como ampliación.</a:t>
            </a:r>
          </a:p>
        </p:txBody>
      </p:sp>
      <p:sp>
        <p:nvSpPr>
          <p:cNvPr id="17" name="">
            <a:extLst xmlns:a="http://schemas.openxmlformats.org/drawingml/2006/main">
              <a:ext uri="{FF2B5EF4-FFF2-40B4-BE49-F238E27FC236}">
                <a16:creationId xmlns:a16="http://schemas.microsoft.com/office/drawing/2014/main" id="{43981EB2-3285-472B-B539-F29E50B23332}"/>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9D1BA7A-D0E9-48C4-84BF-47E8FC84F08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4C6375"/>
                </a:solidFill>
                <a:latin typeface="Arial"/>
                <a:ea typeface="Arial"/>
                <a:cs typeface="Arial"/>
              </a:defRPr>
            </a:pPr>
            <a:r>
              <a:rPr sz="1350" b="1">
                <a:solidFill>
                  <a:srgbClr val="4C6375"/>
                </a:solidFill>
                <a:latin typeface="Arial"/>
                <a:ea typeface="Arial"/>
                <a:cs typeface="Arial"/>
              </a:rPr>
              <a:t>06  EJEMPLO GUIADO    /    Control térmico · del diseño a la simulación</a:t>
            </a:r>
          </a:p>
        </p:txBody>
      </p:sp>
    </p:spTree>
    <p:extLst>
      <p:ext uri="{BB962C8B-B14F-4D97-AF65-F5344CB8AC3E}">
        <p14:creationId xmlns:p14="http://schemas.microsoft.com/office/powerpoint/2010/main" val="17218965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2026-10-04T21:52:45.4840000Z</dcterms:created>
  <dcterms:modified xsi:type="dcterms:W3CDTF">2026-10-04T21:52:45.4840000Z</dcterms:modified>
</coreProperties>
</file>