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1.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7dd85b177c946b0" /><Relationship Type="http://schemas.openxmlformats.org/officeDocument/2006/relationships/extended-properties" Target="/docProps/app.xml" Id="Raecf1cfcfd654874" /><Relationship Type="http://schemas.openxmlformats.org/officeDocument/2006/relationships/officeDocument" Target="/ppt/presentation.xml" Id="Rf7dee038c0d54af1" /></Relationships>
</file>

<file path=ppt/presentation.xml><?xml version="1.0" encoding="utf-8"?>
<p:presentation xmlns:p="http://schemas.openxmlformats.org/presentationml/2006/main">
  <p:sldMasterIdLst>
    <p:sldMasterId xmlns:r="http://schemas.openxmlformats.org/officeDocument/2006/relationships" id="2147483648" r:id="R114c501f21e94415"/>
  </p:sldMasterIdLst>
  <p:notesMasterIdLst>
    <p:notesMasterId xmlns:r="http://schemas.openxmlformats.org/officeDocument/2006/relationships" r:id="Rfff38e0c728f42e1"/>
  </p:notesMasterIdLst>
  <p:sldIdLst>
    <p:sldId xmlns:r="http://schemas.openxmlformats.org/officeDocument/2006/relationships" id="256" r:id="Rcf99d5a2fd6643a2"/>
    <p:sldId xmlns:r="http://schemas.openxmlformats.org/officeDocument/2006/relationships" id="257" r:id="Rc93a928186ec4ec0"/>
    <p:sldId xmlns:r="http://schemas.openxmlformats.org/officeDocument/2006/relationships" id="258" r:id="R91522b54e63f4fb0"/>
    <p:sldId xmlns:r="http://schemas.openxmlformats.org/officeDocument/2006/relationships" id="259" r:id="Rb5043d3f50704a07"/>
    <p:sldId xmlns:r="http://schemas.openxmlformats.org/officeDocument/2006/relationships" id="260" r:id="R460b4e14e16f4146"/>
    <p:sldId xmlns:r="http://schemas.openxmlformats.org/officeDocument/2006/relationships" id="261" r:id="Rb40dba0c3fb0467e"/>
    <p:sldId xmlns:r="http://schemas.openxmlformats.org/officeDocument/2006/relationships" id="262" r:id="Rb9085107bcea4b46"/>
    <p:sldId xmlns:r="http://schemas.openxmlformats.org/officeDocument/2006/relationships" id="263" r:id="R94ef273031374002"/>
    <p:sldId xmlns:r="http://schemas.openxmlformats.org/officeDocument/2006/relationships" id="264" r:id="Rf4fa3717a2e04aa0"/>
    <p:sldId xmlns:r="http://schemas.openxmlformats.org/officeDocument/2006/relationships" id="265" r:id="Rb5c8ed56987b42f3"/>
    <p:sldId xmlns:r="http://schemas.openxmlformats.org/officeDocument/2006/relationships" id="266" r:id="R94d0118860c6453f"/>
    <p:sldId xmlns:r="http://schemas.openxmlformats.org/officeDocument/2006/relationships" id="267" r:id="R92b6ac335b0b481b"/>
    <p:sldId xmlns:r="http://schemas.openxmlformats.org/officeDocument/2006/relationships" id="268" r:id="Rdae36e55fc554641"/>
    <p:sldId xmlns:r="http://schemas.openxmlformats.org/officeDocument/2006/relationships" id="269" r:id="R7a184c4b649545e9"/>
    <p:sldId xmlns:r="http://schemas.openxmlformats.org/officeDocument/2006/relationships" id="270" r:id="Rf2b7a0e5915e4f49"/>
    <p:sldId xmlns:r="http://schemas.openxmlformats.org/officeDocument/2006/relationships" id="271" r:id="R77a3e30172c84ce5"/>
    <p:sldId xmlns:r="http://schemas.openxmlformats.org/officeDocument/2006/relationships" id="272" r:id="Rb55bb10037414c58"/>
    <p:sldId xmlns:r="http://schemas.openxmlformats.org/officeDocument/2006/relationships" id="273" r:id="Rdd032b58731a4374"/>
    <p:sldId xmlns:r="http://schemas.openxmlformats.org/officeDocument/2006/relationships" id="274" r:id="R51135fdb0d304dc9"/>
    <p:sldId xmlns:r="http://schemas.openxmlformats.org/officeDocument/2006/relationships" id="275" r:id="R24c30d95f606405b"/>
    <p:sldId xmlns:r="http://schemas.openxmlformats.org/officeDocument/2006/relationships" id="276" r:id="R5ddd6b34f3254421"/>
    <p:sldId xmlns:r="http://schemas.openxmlformats.org/officeDocument/2006/relationships" id="277" r:id="R7585c0b6f5da4d3a"/>
    <p:sldId xmlns:r="http://schemas.openxmlformats.org/officeDocument/2006/relationships" id="278" r:id="Rd28f2f28c4ea4b90"/>
    <p:sldId xmlns:r="http://schemas.openxmlformats.org/officeDocument/2006/relationships" id="279" r:id="R2e7adbc3a8604520"/>
    <p:sldId xmlns:r="http://schemas.openxmlformats.org/officeDocument/2006/relationships" id="280" r:id="Rfb0e2784d1034e31"/>
    <p:sldId xmlns:r="http://schemas.openxmlformats.org/officeDocument/2006/relationships" id="281" r:id="R634ee128ba224ee4"/>
    <p:sldId xmlns:r="http://schemas.openxmlformats.org/officeDocument/2006/relationships" id="282" r:id="Ra10ddf12f2364210"/>
    <p:sldId xmlns:r="http://schemas.openxmlformats.org/officeDocument/2006/relationships" id="283" r:id="R96a9d11a5f354cb9"/>
    <p:sldId xmlns:r="http://schemas.openxmlformats.org/officeDocument/2006/relationships" id="284" r:id="R9ec83a52476049c6"/>
    <p:sldId xmlns:r="http://schemas.openxmlformats.org/officeDocument/2006/relationships" id="285" r:id="R6c2194edd0d44ec5"/>
    <p:sldId xmlns:r="http://schemas.openxmlformats.org/officeDocument/2006/relationships" id="286" r:id="R4ae00097bfff4d07"/>
    <p:sldId xmlns:r="http://schemas.openxmlformats.org/officeDocument/2006/relationships" id="287" r:id="R132697334b224464"/>
    <p:sldId xmlns:r="http://schemas.openxmlformats.org/officeDocument/2006/relationships" id="288" r:id="Rc1e39bc40abb4859"/>
    <p:sldId xmlns:r="http://schemas.openxmlformats.org/officeDocument/2006/relationships" id="289" r:id="R05d2a5040be24da0"/>
    <p:sldId xmlns:r="http://schemas.openxmlformats.org/officeDocument/2006/relationships" id="290" r:id="R897c0c10f8ca4fe7"/>
    <p:sldId xmlns:r="http://schemas.openxmlformats.org/officeDocument/2006/relationships" id="291" r:id="R60c8d205e5ae4262"/>
    <p:sldId xmlns:r="http://schemas.openxmlformats.org/officeDocument/2006/relationships" id="292" r:id="Rb4ed7278d73c47c1"/>
    <p:sldId xmlns:r="http://schemas.openxmlformats.org/officeDocument/2006/relationships" id="293" r:id="R447e1a7f71e1400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bd4a19a97f04d96" /><Relationship Type="http://schemas.openxmlformats.org/officeDocument/2006/relationships/slideMaster" Target="/ppt/slideMasters/slideMaster1.xml" Id="R114c501f21e94415" /><Relationship Type="http://schemas.openxmlformats.org/officeDocument/2006/relationships/notesMaster" Target="/ppt/notesMasters/notesMaster1.xml" Id="Rfff38e0c728f42e1" /><Relationship Type="http://schemas.openxmlformats.org/officeDocument/2006/relationships/presProps" Target="/ppt/presProps.xml" Id="R36ccdcd6af0f4d27" /><Relationship Type="http://schemas.openxmlformats.org/officeDocument/2006/relationships/tableStyles" Target="/ppt/tableStyles.xml" Id="R294a3e0ba64244df" /><Relationship Type="http://schemas.openxmlformats.org/officeDocument/2006/relationships/slide" Target="/ppt/slides/slide1.xml" Id="Rcf99d5a2fd6643a2" /><Relationship Type="http://schemas.openxmlformats.org/officeDocument/2006/relationships/slide" Target="/ppt/slides/slide2.xml" Id="Rc93a928186ec4ec0" /><Relationship Type="http://schemas.openxmlformats.org/officeDocument/2006/relationships/slide" Target="/ppt/slides/slide3.xml" Id="R91522b54e63f4fb0" /><Relationship Type="http://schemas.openxmlformats.org/officeDocument/2006/relationships/slide" Target="/ppt/slides/slide4.xml" Id="Rb5043d3f50704a07" /><Relationship Type="http://schemas.openxmlformats.org/officeDocument/2006/relationships/slide" Target="/ppt/slides/slide5.xml" Id="R460b4e14e16f4146" /><Relationship Type="http://schemas.openxmlformats.org/officeDocument/2006/relationships/slide" Target="/ppt/slides/slide6.xml" Id="Rb40dba0c3fb0467e" /><Relationship Type="http://schemas.openxmlformats.org/officeDocument/2006/relationships/slide" Target="/ppt/slides/slide7.xml" Id="Rb9085107bcea4b46" /><Relationship Type="http://schemas.openxmlformats.org/officeDocument/2006/relationships/slide" Target="/ppt/slides/slide8.xml" Id="R94ef273031374002" /><Relationship Type="http://schemas.openxmlformats.org/officeDocument/2006/relationships/slide" Target="/ppt/slides/slide9.xml" Id="Rf4fa3717a2e04aa0" /><Relationship Type="http://schemas.openxmlformats.org/officeDocument/2006/relationships/slide" Target="/ppt/slides/slide10.xml" Id="Rb5c8ed56987b42f3" /><Relationship Type="http://schemas.openxmlformats.org/officeDocument/2006/relationships/slide" Target="/ppt/slides/slide11.xml" Id="R94d0118860c6453f" /><Relationship Type="http://schemas.openxmlformats.org/officeDocument/2006/relationships/slide" Target="/ppt/slides/slide12.xml" Id="R92b6ac335b0b481b" /><Relationship Type="http://schemas.openxmlformats.org/officeDocument/2006/relationships/slide" Target="/ppt/slides/slide13.xml" Id="Rdae36e55fc554641" /><Relationship Type="http://schemas.openxmlformats.org/officeDocument/2006/relationships/slide" Target="/ppt/slides/slide14.xml" Id="R7a184c4b649545e9" /><Relationship Type="http://schemas.openxmlformats.org/officeDocument/2006/relationships/slide" Target="/ppt/slides/slide15.xml" Id="Rf2b7a0e5915e4f49" /><Relationship Type="http://schemas.openxmlformats.org/officeDocument/2006/relationships/slide" Target="/ppt/slides/slide16.xml" Id="R77a3e30172c84ce5" /><Relationship Type="http://schemas.openxmlformats.org/officeDocument/2006/relationships/slide" Target="/ppt/slides/slide17.xml" Id="Rb55bb10037414c58" /><Relationship Type="http://schemas.openxmlformats.org/officeDocument/2006/relationships/slide" Target="/ppt/slides/slide18.xml" Id="Rdd032b58731a4374" /><Relationship Type="http://schemas.openxmlformats.org/officeDocument/2006/relationships/slide" Target="/ppt/slides/slide19.xml" Id="R51135fdb0d304dc9" /><Relationship Type="http://schemas.openxmlformats.org/officeDocument/2006/relationships/slide" Target="/ppt/slides/slide20.xml" Id="R24c30d95f606405b" /><Relationship Type="http://schemas.openxmlformats.org/officeDocument/2006/relationships/slide" Target="/ppt/slides/slide21.xml" Id="R5ddd6b34f3254421" /><Relationship Type="http://schemas.openxmlformats.org/officeDocument/2006/relationships/slide" Target="/ppt/slides/slide22.xml" Id="R7585c0b6f5da4d3a" /><Relationship Type="http://schemas.openxmlformats.org/officeDocument/2006/relationships/slide" Target="/ppt/slides/slide23.xml" Id="Rd28f2f28c4ea4b90" /><Relationship Type="http://schemas.openxmlformats.org/officeDocument/2006/relationships/slide" Target="/ppt/slides/slide24.xml" Id="R2e7adbc3a8604520" /><Relationship Type="http://schemas.openxmlformats.org/officeDocument/2006/relationships/slide" Target="/ppt/slides/slide25.xml" Id="Rfb0e2784d1034e31" /><Relationship Type="http://schemas.openxmlformats.org/officeDocument/2006/relationships/slide" Target="/ppt/slides/slide26.xml" Id="R634ee128ba224ee4" /><Relationship Type="http://schemas.openxmlformats.org/officeDocument/2006/relationships/slide" Target="/ppt/slides/slide27.xml" Id="Ra10ddf12f2364210" /><Relationship Type="http://schemas.openxmlformats.org/officeDocument/2006/relationships/slide" Target="/ppt/slides/slide28.xml" Id="R96a9d11a5f354cb9" /><Relationship Type="http://schemas.openxmlformats.org/officeDocument/2006/relationships/slide" Target="/ppt/slides/slide29.xml" Id="R9ec83a52476049c6" /><Relationship Type="http://schemas.openxmlformats.org/officeDocument/2006/relationships/slide" Target="/ppt/slides/slide30.xml" Id="R6c2194edd0d44ec5" /><Relationship Type="http://schemas.openxmlformats.org/officeDocument/2006/relationships/slide" Target="/ppt/slides/slide31.xml" Id="R4ae00097bfff4d07" /><Relationship Type="http://schemas.openxmlformats.org/officeDocument/2006/relationships/slide" Target="/ppt/slides/slide32.xml" Id="R132697334b224464" /><Relationship Type="http://schemas.openxmlformats.org/officeDocument/2006/relationships/slide" Target="/ppt/slides/slide33.xml" Id="Rc1e39bc40abb4859" /><Relationship Type="http://schemas.openxmlformats.org/officeDocument/2006/relationships/slide" Target="/ppt/slides/slide34.xml" Id="R05d2a5040be24da0" /><Relationship Type="http://schemas.openxmlformats.org/officeDocument/2006/relationships/slide" Target="/ppt/slides/slide35.xml" Id="R897c0c10f8ca4fe7" /><Relationship Type="http://schemas.openxmlformats.org/officeDocument/2006/relationships/slide" Target="/ppt/slides/slide36.xml" Id="R60c8d205e5ae4262" /><Relationship Type="http://schemas.openxmlformats.org/officeDocument/2006/relationships/slide" Target="/ppt/slides/slide37.xml" Id="Rb4ed7278d73c47c1" /><Relationship Type="http://schemas.openxmlformats.org/officeDocument/2006/relationships/slide" Target="/ppt/slides/slide38.xml" Id="R447e1a7f71e1400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de182e6b021434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3a588c6e2844dd7" /><Relationship Type="http://schemas.openxmlformats.org/officeDocument/2006/relationships/notesMaster" Target="/ppt/notesMasters/notesMaster1.xml" Id="R3cade3552f29465f" /></Relationships>
</file>

<file path=ppt/notesSlides/_rels/notesSlide2.xml.rels>&#65279;<?xml version="1.0" encoding="utf-8"?><Relationships xmlns="http://schemas.openxmlformats.org/package/2006/relationships"><Relationship Type="http://schemas.openxmlformats.org/officeDocument/2006/relationships/slide" Target="/ppt/slides/slide2.xml" Id="Re1fccc051bff434f" /><Relationship Type="http://schemas.openxmlformats.org/officeDocument/2006/relationships/notesMaster" Target="/ppt/notesMasters/notesMaster1.xml" Id="Re1b0428742654290" /></Relationships>
</file>

<file path=ppt/notesSlides/_rels/notesSlide3.xml.rels>&#65279;<?xml version="1.0" encoding="utf-8"?><Relationships xmlns="http://schemas.openxmlformats.org/package/2006/relationships"><Relationship Type="http://schemas.openxmlformats.org/officeDocument/2006/relationships/slide" Target="/ppt/slides/slide3.xml" Id="R64dd0badca80452b" /><Relationship Type="http://schemas.openxmlformats.org/officeDocument/2006/relationships/notesMaster" Target="/ppt/notesMasters/notesMaster1.xml" Id="Rd4e1b7f30f284db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d10dea95b264832" /><Relationship Type="http://schemas.openxmlformats.org/officeDocument/2006/relationships/notesMaster" Target="/ppt/notesMasters/notesMaster1.xml" Id="R9cfc1c0c10a24168" /></Relationships>
</file>

<file path=ppt/notesSlides/_rels/notesSlide5.xml.rels>&#65279;<?xml version="1.0" encoding="utf-8"?><Relationships xmlns="http://schemas.openxmlformats.org/package/2006/relationships"><Relationship Type="http://schemas.openxmlformats.org/officeDocument/2006/relationships/slide" Target="/ppt/slides/slide5.xml" Id="Rd1435262868f47ba" /><Relationship Type="http://schemas.openxmlformats.org/officeDocument/2006/relationships/notesMaster" Target="/ppt/notesMasters/notesMaster1.xml" Id="R59ea0bfdd4574cfc" /></Relationships>
</file>

<file path=ppt/notesSlides/_rels/notesSlide6.xml.rels>&#65279;<?xml version="1.0" encoding="utf-8"?><Relationships xmlns="http://schemas.openxmlformats.org/package/2006/relationships"><Relationship Type="http://schemas.openxmlformats.org/officeDocument/2006/relationships/slide" Target="/ppt/slides/slide6.xml" Id="R0898548d419b4719" /><Relationship Type="http://schemas.openxmlformats.org/officeDocument/2006/relationships/notesMaster" Target="/ppt/notesMasters/notesMaster1.xml" Id="Rc6b99c3c76bb4dea" /></Relationships>
</file>

<file path=ppt/notesSlides/_rels/notesSlide7.xml.rels>&#65279;<?xml version="1.0" encoding="utf-8"?><Relationships xmlns="http://schemas.openxmlformats.org/package/2006/relationships"><Relationship Type="http://schemas.openxmlformats.org/officeDocument/2006/relationships/slide" Target="/ppt/slides/slide7.xml" Id="R39259262f8624d94" /><Relationship Type="http://schemas.openxmlformats.org/officeDocument/2006/relationships/notesMaster" Target="/ppt/notesMasters/notesMaster1.xml" Id="R9e14e09f034c4418" /></Relationships>
</file>

<file path=ppt/notesSlides/_rels/notesSlide8.xml.rels>&#65279;<?xml version="1.0" encoding="utf-8"?><Relationships xmlns="http://schemas.openxmlformats.org/package/2006/relationships"><Relationship Type="http://schemas.openxmlformats.org/officeDocument/2006/relationships/slide" Target="/ppt/slides/slide8.xml" Id="Rea5b47776b894839" /><Relationship Type="http://schemas.openxmlformats.org/officeDocument/2006/relationships/notesMaster" Target="/ppt/notesMasters/notesMaster1.xml" Id="Rbcc35b25e3664539" /></Relationships>
</file>

<file path=ppt/notesSlides/_rels/notesSlide9.xml.rels>&#65279;<?xml version="1.0" encoding="utf-8"?><Relationships xmlns="http://schemas.openxmlformats.org/package/2006/relationships"><Relationship Type="http://schemas.openxmlformats.org/officeDocument/2006/relationships/slide" Target="/ppt/slides/slide9.xml" Id="Rb0b574d748da4067" /><Relationship Type="http://schemas.openxmlformats.org/officeDocument/2006/relationships/notesMaster" Target="/ppt/notesMasters/notesMaster1.xml" Id="R4a3d42bb894b463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446c56144c44df7" /><Relationship Type="http://schemas.openxmlformats.org/officeDocument/2006/relationships/notesMaster" Target="/ppt/notesMasters/notesMaster1.xml" Id="R3d0b5ea030c44ae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d1852a9376146b5" /><Relationship Type="http://schemas.openxmlformats.org/officeDocument/2006/relationships/notesMaster" Target="/ppt/notesMasters/notesMaster1.xml" Id="Rddadb231aeba454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3c5ed84725f44a5" /><Relationship Type="http://schemas.openxmlformats.org/officeDocument/2006/relationships/notesMaster" Target="/ppt/notesMasters/notesMaster1.xml" Id="R5480cce543cf40c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ff062eed5104058" /><Relationship Type="http://schemas.openxmlformats.org/officeDocument/2006/relationships/notesMaster" Target="/ppt/notesMasters/notesMaster1.xml" Id="R52b20d5d968941f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fc6a074345c43a4" /><Relationship Type="http://schemas.openxmlformats.org/officeDocument/2006/relationships/notesMaster" Target="/ppt/notesMasters/notesMaster1.xml" Id="Rc592232e4abb431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09fd008b7184757" /><Relationship Type="http://schemas.openxmlformats.org/officeDocument/2006/relationships/notesMaster" Target="/ppt/notesMasters/notesMaster1.xml" Id="R7a8c262c65e8409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f8ced58913d4149" /><Relationship Type="http://schemas.openxmlformats.org/officeDocument/2006/relationships/notesMaster" Target="/ppt/notesMasters/notesMaster1.xml" Id="R174f25de405d43a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05ca827b6e148aa" /><Relationship Type="http://schemas.openxmlformats.org/officeDocument/2006/relationships/notesMaster" Target="/ppt/notesMasters/notesMaster1.xml" Id="R78d9ecd0bc9b4b2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967ba6eebb9473b" /><Relationship Type="http://schemas.openxmlformats.org/officeDocument/2006/relationships/notesMaster" Target="/ppt/notesMasters/notesMaster1.xml" Id="Rd3c5c79b9799469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0f0c1a76f514873" /><Relationship Type="http://schemas.openxmlformats.org/officeDocument/2006/relationships/notesMaster" Target="/ppt/notesMasters/notesMaster1.xml" Id="R2ae374b956fe444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66654edc3614378" /><Relationship Type="http://schemas.openxmlformats.org/officeDocument/2006/relationships/notesMaster" Target="/ppt/notesMasters/notesMaster1.xml" Id="R37cf893e27cc43d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862164cde0c49e2" /><Relationship Type="http://schemas.openxmlformats.org/officeDocument/2006/relationships/notesMaster" Target="/ppt/notesMasters/notesMaster1.xml" Id="Raa1b598569c547a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690732660c44b0b" /><Relationship Type="http://schemas.openxmlformats.org/officeDocument/2006/relationships/notesMaster" Target="/ppt/notesMasters/notesMaster1.xml" Id="R70ef7c65a49849a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244786bc12243fa" /><Relationship Type="http://schemas.openxmlformats.org/officeDocument/2006/relationships/notesMaster" Target="/ppt/notesMasters/notesMaster1.xml" Id="Rdb8a6c5494ca4fe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58596bb57cb47c5" /><Relationship Type="http://schemas.openxmlformats.org/officeDocument/2006/relationships/notesMaster" Target="/ppt/notesMasters/notesMaster1.xml" Id="R325c90f5a3e3441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97418971f034f96" /><Relationship Type="http://schemas.openxmlformats.org/officeDocument/2006/relationships/notesMaster" Target="/ppt/notesMasters/notesMaster1.xml" Id="R6a0e9239a7dc4c4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30f0093526e4482" /><Relationship Type="http://schemas.openxmlformats.org/officeDocument/2006/relationships/notesMaster" Target="/ppt/notesMasters/notesMaster1.xml" Id="R7bf20b73ee464d5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5737a320c164141" /><Relationship Type="http://schemas.openxmlformats.org/officeDocument/2006/relationships/notesMaster" Target="/ppt/notesMasters/notesMaster1.xml" Id="R14672da9bba4435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6b6e2327e06495d" /><Relationship Type="http://schemas.openxmlformats.org/officeDocument/2006/relationships/notesMaster" Target="/ppt/notesMasters/notesMaster1.xml" Id="R1d44709d952a472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9344b9859e14ec5" /><Relationship Type="http://schemas.openxmlformats.org/officeDocument/2006/relationships/notesMaster" Target="/ppt/notesMasters/notesMaster1.xml" Id="R166864b58968442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f5800f8a34b4aff" /><Relationship Type="http://schemas.openxmlformats.org/officeDocument/2006/relationships/notesMaster" Target="/ppt/notesMasters/notesMaster1.xml" Id="R026827deed2c48a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a747c5234d54e5f" /><Relationship Type="http://schemas.openxmlformats.org/officeDocument/2006/relationships/notesMaster" Target="/ppt/notesMasters/notesMaster1.xml" Id="Rbc1ded2fff42453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c60b554a1834b45" /><Relationship Type="http://schemas.openxmlformats.org/officeDocument/2006/relationships/notesMaster" Target="/ppt/notesMasters/notesMaster1.xml" Id="R1c7cbc4922a449f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badd373edb24e1b" /><Relationship Type="http://schemas.openxmlformats.org/officeDocument/2006/relationships/notesMaster" Target="/ppt/notesMasters/notesMaster1.xml" Id="R18d28b5c29714cd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cf171f801fa4823" /><Relationship Type="http://schemas.openxmlformats.org/officeDocument/2006/relationships/notesMaster" Target="/ppt/notesMasters/notesMaster1.xml" Id="R171ec293a635431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28de3b52dc94578" /><Relationship Type="http://schemas.openxmlformats.org/officeDocument/2006/relationships/notesMaster" Target="/ppt/notesMasters/notesMaster1.xml" Id="R5726c85bb5264b7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49414da1b574f79" /><Relationship Type="http://schemas.openxmlformats.org/officeDocument/2006/relationships/notesMaster" Target="/ppt/notesMasters/notesMaster1.xml" Id="R182aa8d058594ca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a12452aaf7b4417" /><Relationship Type="http://schemas.openxmlformats.org/officeDocument/2006/relationships/notesMaster" Target="/ppt/notesMasters/notesMaster1.xml" Id="R9886aa4bda82468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37f4fd7f15c4e63" /><Relationship Type="http://schemas.openxmlformats.org/officeDocument/2006/relationships/notesMaster" Target="/ppt/notesMasters/notesMaster1.xml" Id="Rb8747d0b5f384d5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Presentación práctica provisional. Recorrido previsto para unos 45–60 minutos, con código y fuentes como consulta. El ejemplo es docente y simplificado.</a:t>
            </a:r>
          </a:p>
          <a:p xmlns:a="http://schemas.openxmlformats.org/drawingml/2006/main">
            <a:r>
              <a:t/>
            </a:r>
          </a:p>
          <a:p xmlns:a="http://schemas.openxmlformats.org/drawingml/2006/main">
            <a:r>
              <a:t>Luis Enrique Sucar (2021). Probabilistic Graphical Models: Principles and Applications, 2.ª ed., Springer. https://doi.org/10.1007/978-3-030-61943-5. Se ha consultado el índice editorial y los materiales públicos del autor, no el texto íntegro de esta edición.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historia mantiene un único ejemplo principal. No se necesita desarrollar desde cero un algoritmo general de inferencia.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Modelo docente ficticio de una bomba de agua. H representa una sola causa principal: obstrucción, fuga u otra. Q indica caudal bajo y V vibración alta. Se supone independencia condicionada de Q y V dado H. Estas cifras no son datos reales ni un modelo hidráulico validado. Los cálculos mantienen las probabilidades del caso didáctico anterior.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Comparación conceptual con la presentación de control ya trabajada. La probabilidad representa incertidumbre sobre un evento definido. Una pertenencia evalúa compatibilidad con un concepto gradual.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Arquitectura propuesta para la práctica. El motor usa la red, tablas y observaciones. No confundir la inferencia con el aprendizaje de parámetros.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Caso docente propio con probabilidades ficticias. No procede de un conjunto de datos ni es un ejemplo numérico del libro. H representa una única causa principal; Q y V se suponen independientes dado H. Los resultados se verificaron por enumeración de los 12 estados conjuntos.</a:t>
            </a:r>
          </a:p>
          <a:p xmlns:a="http://schemas.openxmlformats.org/drawingml/2006/main">
            <a:r>
              <a:t/>
            </a:r>
          </a:p>
          <a:p xmlns:a="http://schemas.openxmlformats.org/drawingml/2006/main">
            <a:r>
              <a:t>Sucar, materiales del capítulo 2, Probability Theory. https://ccc.inaoep.mx/~esucar/Clases-mgp/Notes/Ch2-Probability%20Theory.pdf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Caso docente propio con probabilidades ficticias. No procede de un conjunto de datos ni es un ejemplo numérico del libro. H representa una única causa principal; Q y V se suponen independientes dado H. Los resultados se verificaron por enumeración de los 12 estados conjuntos. Obstrucción y fuga designan fallo de esos componentes. Se supone una única causa principal. Si pueden coexistir fallos, cambiaremos la representación.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Caso docente propio con probabilidades ficticias. No procede de un conjunto de datos ni es un ejemplo numérico del libro. H representa una única causa principal; Q y V se suponen independientes dado H. Los resultados se verificaron por enumeración de los 12 estados conjuntos. Priors antes de observar los dos síntomas. No son frecuencias de todos los sistemas de bombeo del mundo. Las categorías son excluyentes y exhaustivas dentro de este 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Caso docente propio con probabilidades ficticias. No procede de un conjunto de datos ni es un ejemplo numérico del libro. H representa una única causa principal; Q y V se suponen independientes dado H. Los resultados se verificaron por enumeración de los 12 estados conjuntos. La primera es verosimilitud para la hipótesis y la observación; la segunda es la posterior que se busca. No invertir una condicional sin considerar el prior y las alternativas.</a:t>
            </a:r>
          </a:p>
          <a:p xmlns:a="http://schemas.openxmlformats.org/drawingml/2006/main">
            <a:r>
              <a:t/>
            </a:r>
          </a:p>
          <a:p xmlns:a="http://schemas.openxmlformats.org/drawingml/2006/main">
            <a:r>
              <a:t>Sucar, materiales del capítulo 2, Probability Theory. https://ccc.inaoep.mx/~esucar/Clases-mgp/Notes/Ch2-Probability%20Theory.pdf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 es un evento observado con probabilidad positiva. El prior ya puede incorporar información de contexto. La evidencia se calcula sumando las contribuciones de las hipótesis posibles.</a:t>
            </a:r>
          </a:p>
          <a:p xmlns:a="http://schemas.openxmlformats.org/drawingml/2006/main">
            <a:r>
              <a:t/>
            </a:r>
          </a:p>
          <a:p xmlns:a="http://schemas.openxmlformats.org/drawingml/2006/main">
            <a:r>
              <a:t>Sucar, materiales del capítulo 2, Probability Theory. https://ccc.inaoep.mx/~esucar/Clases-mgp/Notes/Ch2-Probability%20Theory.pdf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Modelo docente ficticio de una bomba de agua. H representa una sola causa principal: obstrucción, fuga u otra. Q indica caudal bajo y V vibración alta. Se supone independencia condicionada de Q y V dado H. Estas cifras no son datos reales ni un modelo hidráulico validado. Los cálculos mantienen las probabilidades del caso didáctico anterior.</a:t>
            </a:r>
          </a:p>
          <a:p xmlns:a="http://schemas.openxmlformats.org/drawingml/2006/main">
            <a:r>
              <a:t>Red bayesiana completa para estas tres variables: grafo acíclico, estados y una distribución por nodo condicionada a sus padres. En H, las tres probabilidades suman 1. En Q y V, cada fila suma 1. Por ejemplo, 0,90 es P(Q=sí|H=obstrucción), no P(H=obstrucción|Q=sí). La distribución conjunta es P(H,Q,V)=P(H)P(Q|H)P(V|H). Fuente conceptual: Sucar, capítulo 7, materiales públicos: https://ccc.inaoep.mx/~esucar/Clases-mgp/Notes/CH7-BN-Reo%26Inf-PartI.pdf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Caso docente propio con probabilidades ficticias. No procede de un conjunto de datos ni es un ejemplo numérico del libro. H representa una única causa principal; Q y V se suponen independientes dado H. Los resultados se verificaron por enumeración de los 12 estados conjuntos. Esta estructura es un clasificador naive Bayes con dos atributos. Los síntomas pueden estar relacionados marginalmente a través de H. No se afirma independencia sin condicionar.</a:t>
            </a:r>
          </a:p>
          <a:p xmlns:a="http://schemas.openxmlformats.org/drawingml/2006/main">
            <a:r>
              <a:t/>
            </a:r>
          </a:p>
          <a:p xmlns:a="http://schemas.openxmlformats.org/drawingml/2006/main">
            <a:r>
              <a:t>Sucar, materiales del capítulo 4, Bayesian Classifiers. https://ccc.inaoep.mx/~esucar/Clases-mgp/Notes/Ch4-Classification.pdf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Modelo docente ficticio de una bomba de agua. H representa una sola causa principal: obstrucción, fuga u otra. Q indica caudal bajo y V vibración alta. Se supone independencia condicionada de Q y V dado H. Estas cifras no son datos reales ni un modelo hidráulico validado. Los cálculos mantienen las probabilidades del caso didáctico anterior.</a:t>
            </a:r>
          </a:p>
          <a:p xmlns:a="http://schemas.openxmlformats.org/drawingml/2006/main">
            <a:r>
              <a:t>La tabla completa se encuentra en la diapositiva 11. P(Q=sí|H) y P(H|Q=sí) responden a preguntas diferentes. No asociar una única probabilidad a cada flecha.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Caso docente propio con probabilidades ficticias. No procede de un conjunto de datos ni es un ejemplo numérico del libro. H representa una única causa principal; Q y V se suponen independientes dado H. Los resultados se verificaron por enumeración de los 12 estados conjuntos. Los pesos son P(H,Q=sí), no P(H|Q=sí). Su suma es P(Q=sí)=0,48.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Caso docente propio con probabilidades ficticias. No procede de un conjunto de datos ni es un ejemplo numérico del libro. H representa una única causa principal; Q y V se suponen independientes dado H. Los resultados se verificaron por enumeración de los 12 estados conjuntos. Frecuencias esperadas en una población imaginaria con las probabilidades del modelo. No se han recogido 1.000 casos reales.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Caso docente propio con probabilidades ficticias. No procede de un conjunto de datos ni es un ejemplo numérico del libro. H representa una única causa principal; Q y V se suponen independientes dado H. Los resultados se verificaron por enumeración de los 12 estados conjuntos.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Modelo docente ficticio de una bomba de agua. H representa una sola causa principal: obstrucción, fuga u otra. Q indica caudal bajo y V vibración alta. Se supone independencia condicionada de Q y V dado H. Estas cifras no son datos reales ni un modelo hidráulico validado. Los cálculos mantienen las probabilidades del caso didáctico anterior.</a:t>
            </a:r>
          </a:p>
          <a:p xmlns:a="http://schemas.openxmlformats.org/drawingml/2006/main">
            <a:r>
              <a:t>Este gráfico adelanta visualmente el resultado que se calcula en la diapositiva siguiente. Q y V están observados con certeza en el ejemplo. El grafo no invierte flechas para hacer diagnóstico. Los porcentajes se redondean, por lo que su suma visible es 100,01 %.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Caso docente propio con probabilidades ficticias. No procede de un conjunto de datos ni es un ejemplo numérico del libro. H representa una única causa principal; Q y V se suponen independientes dado H. Los resultados se verificaron por enumeración de los 12 estados conjuntos. Redondeo a dos decimales: los porcentajes mostrados suman 100,01 %. Los valores internos suman exactamente 1 salvo precisión numérica.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Caso docente propio con probabilidades ficticias. No procede de un conjunto de datos ni es un ejemplo numérico del libro. H representa una única causa principal; Q y V se suponen independientes dado H. Los resultados se verificaron por enumeración de los 12 estados conjuntos.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Caso docente propio con probabilidades ficticias. No procede de un conjunto de datos ni es un ejemplo numérico del libro. H representa una única causa principal; Q y V se suponen independientes dado H. Los resultados se verificaron por enumeración de los 12 estados conjuntos. Si Vibración normal, V=no, usar 1−P(V=sí|H); el fuga pasa a 56,39 %. No introducir No como valor por defecto cuando falta información.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Caso docente propio con probabilidades ficticias. No procede de un conjunto de datos ni es un ejemplo numérico del libro. H representa una única causa principal; Q y V se suponen independientes dado H. Los resultados se verificaron por enumeración de los 12 estados conjuntos. En esta red, sumar P(V|H) da 1 y por eso basta omitir el factor de V. En una red general puede ser necesario sumar sobre varias variables ocultas.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eliminación de variables es exacta para la red especificada. El orden de eliminación puede cambiar mucho el coste. No significa que el modelo represente perfectamente la realidad.</a:t>
            </a:r>
          </a:p>
          <a:p xmlns:a="http://schemas.openxmlformats.org/drawingml/2006/main">
            <a:r>
              <a:t/>
            </a:r>
          </a:p>
          <a:p xmlns:a="http://schemas.openxmlformats.org/drawingml/2006/main">
            <a:r>
              <a:t>Sucar, materiales del capítulo 7, Part II. https://ccc.inaoep.mx/~esucar/Clases-mgp/Notes/Ch7-BN-Rep%26Inf-PartII.pdf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Orientación docente para elaborar el diseño. Documentar la población, definiciones, fuentes, supuestos y limitaciones.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Extensión conceptual, distinta de la H categórica del ejemplo. Las dos raíces implican independencia previa en esta estructura, que también se debe justificar. No se especifican probabilidades para esta extensión.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aprendizaje puede estimar parámetros con estructura fija o aprender estructura. Datos escasos no justifican certeza. Un cero aprendido solo porque nunca se vio un caso puede necesitar suavizado. Separar datos de ajuste y evaluación.</a:t>
            </a:r>
          </a:p>
          <a:p xmlns:a="http://schemas.openxmlformats.org/drawingml/2006/main">
            <a:r>
              <a:t/>
            </a:r>
          </a:p>
          <a:p xmlns:a="http://schemas.openxmlformats.org/drawingml/2006/main">
            <a:r>
              <a:t>Sucar, materiales del capítulo 8, Bayesian Networks: Learning. https://ccc.inaoep.mx/~esucar/Clases-mgp/Notes/Ch8-BN-Learning.pdf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Caso docente propio con probabilidades ficticias. No procede de un conjunto de datos ni es un ejemplo numérico del libro. H representa una única causa principal; Q y V se suponen independientes dado H. Los resultados se verificaron por enumeración de los 12 estados conjuntos. Código Python 3 sin dependencias. Versión completa adjunta: RAIN_Diagnostico_Bayesiano_Bomba_Provisional.py.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Caso docente propio con probabilidades ficticias. No procede de un conjunto de datos ni es un ejemplo numérico del libro. H representa una única causa principal; Q y V se suponen independientes dado H. Los resultados se verificaron por enumeración de los 12 estados conjuntos. El archivo adjunto añade validación de nombres de variables y valores booleanos. Una evidencia que el modelo asigna probabilidad cero no tiene posterior definida mediante esta fórmula. No devolver silenciosamente ceros ni el prior.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Caso docente propio con probabilidades ficticias. No procede de un conjunto de datos ni es un ejemplo numérico del libro. H representa una única causa principal; Q y V se suponen independientes dado H. Los resultados se verificaron por enumeración de los 12 estados conjuntos. Los comentarios son aproximaciones redondeadas. La función devuelve valores completos.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Fragmento orientativo de uso, no programa completo. Revisar la API de la versión instalada. check_model no valida la calidad de los datos ni que la red represente la realidad. Este fragmento no se ha ejecutado; el ejemplo adjunto sin dependencias sí.</a:t>
            </a:r>
          </a:p>
          <a:p xmlns:a="http://schemas.openxmlformats.org/drawingml/2006/main">
            <a:r>
              <a:t/>
            </a:r>
          </a:p>
          <a:p xmlns:a="http://schemas.openxmlformats.org/drawingml/2006/main">
            <a:r>
              <a:t>Documentación oficial pgmpy: https://pgmpy.org/api/generated/models/pgmpy.models.DiscreteBayesianNetwork.html y https://pgmpy.org/api/generated/inference/pgmpy.inference.VariableElimination.html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Diseño orientativo de interfaz. Permitir retirar evidencia y reiniciar el caso. Evitar acumular observaciones de distintas personas/equipos o duplicar un síntoma por pulsar dos veces.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Variante MVC sencilla con coordinación por controlador. Las flechas superiores muestran el camino de activación. El resultado vuelve al controlador y este invoca mostrar(resultado). La vista no necesita conocer la red ni sus tablas.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Caso docente propio con probabilidades ficticias. No procede de un conjunto de datos ni es un ejemplo numérico del libro. H representa una única causa principal; Q y V se suponen independientes dado H. Los resultados se verificaron por enumeración de los 12 estados conjuntos. Tolerancias numéricas antes de redondear. La suma visible puede desviarse en 0,01 % por redondeo. Las 9 combinaciones de evidencia se verificaron comparando el cálculo directo con enumeración.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 hay suficientes casos reales, evaluar discriminación y calibración. Un modelo con 90 % de confianza sistemática pero muchos errores está mal calibrado. Para pocos datos, documentar la incertidumbre de la evaluación. Propuesta práctica, no criterio de calificación adicional.</a:t>
            </a:r>
          </a:p>
          <a:p xmlns:a="http://schemas.openxmlformats.org/drawingml/2006/main">
            <a:r>
              <a:t/>
            </a:r>
          </a:p>
          <a:p xmlns:a="http://schemas.openxmlformats.org/drawingml/2006/main">
            <a:r>
              <a:t>Sucar, materiales del capítulo 8, Bayesian Networks: Learning. https://ccc.inaoep.mx/~esucar/Clases-mgp/Notes/Ch8-BN-Learning.pdf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Modelo docente ficticio de una bomba de agua. H representa una sola causa principal: obstrucción, fuga u otra. Q indica caudal bajo y V vibración alta. Se supone independencia condicionada de Q y V dado H. Estas cifras no son datos reales ni un modelo hidráulico validado. Los cálculos mantienen las probabilidades del caso didáctico anterior. Distinción entre inferencia y decisión. No es una recomendación real de mantenimiento.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Modelo docente ficticio de una bomba de agua. H representa una sola causa principal: obstrucción, fuga u otra. Q indica caudal bajo y V vibración alta. Se supone independencia condicionada de Q y V dado H. Estas cifras no son datos reales ni un modelo hidráulico validado. Los cálculos mantienen las probabilidades del caso didáctico anterior. Ejercicio breve. Usar las tablas completas de la diapositiva 11. Evidencia Q=sí y V=no.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Caso docente propio con probabilidades ficticias. No procede de un conjunto de datos ni es un ejemplo numérico del libro. H representa una única causa principal; Q y V se suponen independientes dado H. Los resultados se verificaron por enumeración de los 12 estados conjuntos.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Guía para la entrega de arquitectura y diseño ya establecida. No añade fechas, tecnologías obligatorias ni criterios de calificación nuevos. Mantener una interfaz que distinga falta de observación y observación negativa.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Luis Enrique Sucar (2021). Probabilistic Graphical Models: Principles and Applications, 2.ª ed., Springer. https://doi.org/10.1007/978-3-030-61943-5. Se ha consultado el índice editorial y los materiales públicos del autor, no el texto íntegro de esta edición.</a:t>
            </a:r>
          </a:p>
          <a:p xmlns:a="http://schemas.openxmlformats.org/drawingml/2006/main">
            <a:r>
              <a:t>Los materiales de clase consultados corresponden al curso público del autor y pueden preceder a la segunda edición. El ejemplo del sistema de bombeo es propio y no se atribuye al libro.</a:t>
            </a:r>
          </a:p>
          <a:p xmlns:a="http://schemas.openxmlformats.org/drawingml/2006/main">
            <a:r>
              <a:t>Curso: https://ccc.inaoep.mx/~esucar/Clases-mgp/mgp.html</a:t>
            </a:r>
          </a:p>
          <a:p xmlns:a="http://schemas.openxmlformats.org/drawingml/2006/main">
            <a:r>
              <a:t>Luis Enrique Sucar (2021). Probabilistic Graphical Models: Principles and Applications, 2.ª ed., Springer. https://doi.org/10.1007/978-3-030-61943-5. Se ha consultado el índice editorial y los materiales públicos del autor, no el texto íntegro de esta edición.</a:t>
            </a:r>
          </a:p>
          <a:p xmlns:a="http://schemas.openxmlformats.org/drawingml/2006/main">
            <a:r>
              <a:t>Sucar, materiales del capítulo 2, Probability Theory. https://ccc.inaoep.mx/~esucar/Clases-mgp/Notes/Ch2-Probability%20Theory.pdf</a:t>
            </a:r>
          </a:p>
          <a:p xmlns:a="http://schemas.openxmlformats.org/drawingml/2006/main">
            <a:r>
              <a:t>Sucar, materiales del capítulo 7, Representation and Inference, Part I. https://ccc.inaoep.mx/~esucar/Clases-mgp/Notes/CH7-BN-Reo%26Inf-PartI.pdf</a:t>
            </a:r>
          </a:p>
          <a:p xmlns:a="http://schemas.openxmlformats.org/drawingml/2006/main">
            <a:r>
              <a:t>Sucar, materiales del capítulo 7, Part II. https://ccc.inaoep.mx/~esucar/Clases-mgp/Notes/Ch7-BN-Rep%26Inf-PartII.pdf</a:t>
            </a:r>
          </a:p>
          <a:p xmlns:a="http://schemas.openxmlformats.org/drawingml/2006/main">
            <a:r>
              <a:t>Sucar, materiales del capítulo 4, Bayesian Classifiers. https://ccc.inaoep.mx/~esucar/Clases-mgp/Notes/Ch4-Classification.pdf</a:t>
            </a:r>
          </a:p>
          <a:p xmlns:a="http://schemas.openxmlformats.org/drawingml/2006/main">
            <a:r>
              <a:t>Sucar, materiales del capítulo 8, Bayesian Networks: Learning. https://ccc.inaoep.mx/~esucar/Clases-mgp/Notes/Ch8-BN-Learning.pdf</a:t>
            </a:r>
          </a:p>
          <a:p xmlns:a="http://schemas.openxmlformats.org/drawingml/2006/main">
            <a:r>
              <a:t>Documentación oficial pgmpy: https://pgmpy.org/api/generated/models/pgmpy.models.DiscreteBayesianNetwork.html y https://pgmpy.org/api/generated/inference/pgmpy.inference.VariableElimination.html</a:t>
            </a:r>
          </a:p>
          <a:p xmlns:a="http://schemas.openxmlformats.org/drawingml/2006/main">
            <a:r>
              <a:t>Poole y Mackworth, Artificial Intelligence: Foundations of Computational Agents, 3.ª ed., §9.3. https://www.cs.ubc.ca/~poole/aibook/3e/html/ArtInt3e.Ch9.S3.html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4c7772f375046c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a1954ae45d04912" /><Relationship Type="http://schemas.openxmlformats.org/officeDocument/2006/relationships/slideLayout" Target="/ppt/slideLayouts/slideLayout1.xml" Id="R40d06708e67e4f5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0d06708e67e4f5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c9b232e17604c1d" /><Relationship Type="http://schemas.openxmlformats.org/officeDocument/2006/relationships/notesSlide" Target="/ppt/notesSlides/notesSlide1.xml" Id="Rc75b7a9e7fc14fe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5b89ee9b42d47b1" /><Relationship Type="http://schemas.openxmlformats.org/officeDocument/2006/relationships/notesSlide" Target="/ppt/notesSlides/notesSlide2.xml" Id="R31b876d0974e49c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1208aacb0f74f91" /><Relationship Type="http://schemas.openxmlformats.org/officeDocument/2006/relationships/notesSlide" Target="/ppt/notesSlides/notesSlide3.xml" Id="R397adf3b5d8b4df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5aafd38cbeb4974" /><Relationship Type="http://schemas.openxmlformats.org/officeDocument/2006/relationships/notesSlide" Target="/ppt/notesSlides/notesSlide4.xml" Id="Rd9687bb5795347e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a98654413a240d6" /><Relationship Type="http://schemas.openxmlformats.org/officeDocument/2006/relationships/notesSlide" Target="/ppt/notesSlides/notesSlide5.xml" Id="R8e4f4f46b62f447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cd74c6614e74fd3" /><Relationship Type="http://schemas.openxmlformats.org/officeDocument/2006/relationships/notesSlide" Target="/ppt/notesSlides/notesSlide6.xml" Id="Rf21e1f5b04ac4e1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ea67a5ebd7247af" /><Relationship Type="http://schemas.openxmlformats.org/officeDocument/2006/relationships/notesSlide" Target="/ppt/notesSlides/notesSlide7.xml" Id="R14397825458c4a4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e9b983f2b834b0e" /><Relationship Type="http://schemas.openxmlformats.org/officeDocument/2006/relationships/notesSlide" Target="/ppt/notesSlides/notesSlide8.xml" Id="R286abbdf0be8437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30def9f117b4184" /><Relationship Type="http://schemas.openxmlformats.org/officeDocument/2006/relationships/notesSlide" Target="/ppt/notesSlides/notesSlide9.xml" Id="Ref2e677623b241f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e2a6923eff043a6" /><Relationship Type="http://schemas.openxmlformats.org/officeDocument/2006/relationships/notesSlide" Target="/ppt/notesSlides/notesSlide10.xml" Id="Rdb80bd0eb9904cc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c164218e7174bdd" /><Relationship Type="http://schemas.openxmlformats.org/officeDocument/2006/relationships/notesSlide" Target="/ppt/notesSlides/notesSlide11.xml" Id="R16f55e63c0a84ce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cd4e2b42c364718" /><Relationship Type="http://schemas.openxmlformats.org/officeDocument/2006/relationships/notesSlide" Target="/ppt/notesSlides/notesSlide12.xml" Id="Rf0b26d5e1d53445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85cd6ab9f304e8d" /><Relationship Type="http://schemas.openxmlformats.org/officeDocument/2006/relationships/notesSlide" Target="/ppt/notesSlides/notesSlide13.xml" Id="R8fe445f9013945e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1195297ecd348da" /><Relationship Type="http://schemas.openxmlformats.org/officeDocument/2006/relationships/notesSlide" Target="/ppt/notesSlides/notesSlide14.xml" Id="R6a799437e139499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f89e96d5f9a443e" /><Relationship Type="http://schemas.openxmlformats.org/officeDocument/2006/relationships/notesSlide" Target="/ppt/notesSlides/notesSlide15.xml" Id="Rcfe0845139f24f2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0da60a964d24822" /><Relationship Type="http://schemas.openxmlformats.org/officeDocument/2006/relationships/notesSlide" Target="/ppt/notesSlides/notesSlide16.xml" Id="R7f6b328cbf7c464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329ab156ef94342" /><Relationship Type="http://schemas.openxmlformats.org/officeDocument/2006/relationships/notesSlide" Target="/ppt/notesSlides/notesSlide17.xml" Id="R2f2c97b6c7b7465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aa46365a85a473a" /><Relationship Type="http://schemas.openxmlformats.org/officeDocument/2006/relationships/notesSlide" Target="/ppt/notesSlides/notesSlide18.xml" Id="R5fe6b069ff734be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21820acf6f54812" /><Relationship Type="http://schemas.openxmlformats.org/officeDocument/2006/relationships/chart" Target="/ppt/slides/charts/chart1.xml" Id="R4d7b7e5def664d3b" /><Relationship Type="http://schemas.openxmlformats.org/officeDocument/2006/relationships/notesSlide" Target="/ppt/notesSlides/notesSlide19.xml" Id="Rdf4145515b57424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311333a625d43f4" /><Relationship Type="http://schemas.openxmlformats.org/officeDocument/2006/relationships/notesSlide" Target="/ppt/notesSlides/notesSlide20.xml" Id="Rd3c5bd89826f46b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7cc2f86291a41c3" /><Relationship Type="http://schemas.openxmlformats.org/officeDocument/2006/relationships/notesSlide" Target="/ppt/notesSlides/notesSlide21.xml" Id="R12e0afc4db7542b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f637f0c45b04a0b" /><Relationship Type="http://schemas.openxmlformats.org/officeDocument/2006/relationships/notesSlide" Target="/ppt/notesSlides/notesSlide22.xml" Id="R426c9b35a5bf479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7af407c8c59499f" /><Relationship Type="http://schemas.openxmlformats.org/officeDocument/2006/relationships/notesSlide" Target="/ppt/notesSlides/notesSlide23.xml" Id="R98f9cdd6a49d4e9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f57d4d26ef04882" /><Relationship Type="http://schemas.openxmlformats.org/officeDocument/2006/relationships/notesSlide" Target="/ppt/notesSlides/notesSlide24.xml" Id="R0e81c35242824b9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47ff8cd787e4610" /><Relationship Type="http://schemas.openxmlformats.org/officeDocument/2006/relationships/notesSlide" Target="/ppt/notesSlides/notesSlide25.xml" Id="R8ba6698f440b4f6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9645aa922fe4b95" /><Relationship Type="http://schemas.openxmlformats.org/officeDocument/2006/relationships/notesSlide" Target="/ppt/notesSlides/notesSlide26.xml" Id="R401423969f0941e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4d06940f1a944447" /><Relationship Type="http://schemas.openxmlformats.org/officeDocument/2006/relationships/notesSlide" Target="/ppt/notesSlides/notesSlide27.xml" Id="R1873ed02b89644f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ee81066f0b24ccd" /><Relationship Type="http://schemas.openxmlformats.org/officeDocument/2006/relationships/notesSlide" Target="/ppt/notesSlides/notesSlide28.xml" Id="R0d84461a3b43466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83c745019b594e56" /><Relationship Type="http://schemas.openxmlformats.org/officeDocument/2006/relationships/notesSlide" Target="/ppt/notesSlides/notesSlide29.xml" Id="Rbbb880eda72b45c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6c2929ab01564a54" /><Relationship Type="http://schemas.openxmlformats.org/officeDocument/2006/relationships/notesSlide" Target="/ppt/notesSlides/notesSlide30.xml" Id="R32eb3bd63cfa4b3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8d0e568985b248c1" /><Relationship Type="http://schemas.openxmlformats.org/officeDocument/2006/relationships/notesSlide" Target="/ppt/notesSlides/notesSlide31.xml" Id="R8f556dd9bd7a43a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d546c2690a344360" /><Relationship Type="http://schemas.openxmlformats.org/officeDocument/2006/relationships/notesSlide" Target="/ppt/notesSlides/notesSlide32.xml" Id="R508425186eea447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56b7aa6ddbe54e0a" /><Relationship Type="http://schemas.openxmlformats.org/officeDocument/2006/relationships/notesSlide" Target="/ppt/notesSlides/notesSlide33.xml" Id="Rb603b6e0b9ab454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1115264496e54b5a" /><Relationship Type="http://schemas.openxmlformats.org/officeDocument/2006/relationships/notesSlide" Target="/ppt/notesSlides/notesSlide34.xml" Id="R0ba2a2140d024f6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eb04df905e2146ba" /><Relationship Type="http://schemas.openxmlformats.org/officeDocument/2006/relationships/notesSlide" Target="/ppt/notesSlides/notesSlide35.xml" Id="R477d1074c7b7409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e89a256b8cf842cf" /><Relationship Type="http://schemas.openxmlformats.org/officeDocument/2006/relationships/notesSlide" Target="/ppt/notesSlides/notesSlide36.xml" Id="Re08ff3f619b849d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ab655fec25dd4c2a" /><Relationship Type="http://schemas.openxmlformats.org/officeDocument/2006/relationships/notesSlide" Target="/ppt/notesSlides/notesSlide37.xml" Id="R87d9cdeb55064bb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e51ae1e23e8b4bb0" /><Relationship Type="http://schemas.openxmlformats.org/officeDocument/2006/relationships/notesSlide" Target="/ppt/notesSlides/notesSlide38.xml" Id="Raf7f9e4161624838" /></Relationships>
</file>

<file path=ppt/slides/charts/chart1.xml><?xml version="1.0" encoding="utf-8"?>
<c:chartSpace xmlns:c="http://schemas.openxmlformats.org/drawingml/2006/chart">
  <c:lang val="en-US"/>
  <c:chart>
    <c:plotArea>
      <c:barChart>
        <c:barDir val="col"/>
        <c:grouping val="clustered"/>
        <c:varyColors val="0"/>
        <c:ser>
          <c:idx val="0"/>
          <c:order val="0"/>
          <c:tx>
            <c:v>Obstrucción</c:v>
          </c:tx>
          <c:spPr>
            <a:solidFill xmlns:a="http://schemas.openxmlformats.org/drawingml/2006/main">
              <a:srgbClr val="D96B18"/>
            </a:solidFill>
          </c:spPr>
          <c:cat>
            <c:strLit>
              <c:ptCount val="3"/>
              <c:pt idx="0">
                <c:v>Sin observar</c:v>
              </c:pt>
              <c:pt idx="1">
                <c:v>Caudal bajo</c:v>
              </c:pt>
              <c:pt idx="2">
                <c:v>Caudal bajo + Vibración alta</c:v>
              </c:pt>
            </c:strLit>
          </c:cat>
          <c:val>
            <c:numLit>
              <c:formatCode>General</c:formatCode>
              <c:ptCount val="3"/>
              <c:pt idx="0">
                <c:v>30</c:v>
              </c:pt>
              <c:pt idx="1">
                <c:v>56.25</c:v>
              </c:pt>
              <c:pt idx="2">
                <c:v>85.37549407114624</c:v>
              </c:pt>
            </c:numLit>
          </c:val>
        </c:ser>
        <c:ser>
          <c:idx val="1"/>
          <c:order val="1"/>
          <c:tx>
            <c:v>Fuga</c:v>
          </c:tx>
          <c:spPr>
            <a:solidFill xmlns:a="http://schemas.openxmlformats.org/drawingml/2006/main">
              <a:srgbClr val="2162A0"/>
            </a:solidFill>
          </c:spPr>
          <c:cat>
            <c:strLit>
              <c:ptCount val="3"/>
              <c:pt idx="0">
                <c:v>Sin observar</c:v>
              </c:pt>
              <c:pt idx="1">
                <c:v>Caudal bajo</c:v>
              </c:pt>
              <c:pt idx="2">
                <c:v>Caudal bajo + Vibración alta</c:v>
              </c:pt>
            </c:strLit>
          </c:cat>
          <c:val>
            <c:numLit>
              <c:formatCode>General</c:formatCode>
              <c:ptCount val="3"/>
              <c:pt idx="0">
                <c:v>20</c:v>
              </c:pt>
              <c:pt idx="1">
                <c:v>33.333333333333336</c:v>
              </c:pt>
              <c:pt idx="2">
                <c:v>12.648221343873518</c:v>
              </c:pt>
            </c:numLit>
          </c:val>
        </c:ser>
        <c:ser>
          <c:idx val="2"/>
          <c:order val="2"/>
          <c:tx>
            <c:v>Otra</c:v>
          </c:tx>
          <c:spPr>
            <a:solidFill xmlns:a="http://schemas.openxmlformats.org/drawingml/2006/main">
              <a:srgbClr val="7950A0"/>
            </a:solidFill>
          </c:spPr>
          <c:cat>
            <c:strLit>
              <c:ptCount val="3"/>
              <c:pt idx="0">
                <c:v>Sin observar</c:v>
              </c:pt>
              <c:pt idx="1">
                <c:v>Caudal bajo</c:v>
              </c:pt>
              <c:pt idx="2">
                <c:v>Caudal bajo + Vibración alta</c:v>
              </c:pt>
            </c:strLit>
          </c:cat>
          <c:val>
            <c:numLit>
              <c:formatCode>General</c:formatCode>
              <c:ptCount val="3"/>
              <c:pt idx="0">
                <c:v>50</c:v>
              </c:pt>
              <c:pt idx="1">
                <c:v>10.416666666666668</c:v>
              </c:pt>
              <c:pt idx="2">
                <c:v>1.9762845849802373</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ax val="100"/>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Probabilidad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legend>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Diagnóstico bayesiano · PROVISIONAL</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D96B18"/>
                </a:solidFill>
                <a:latin typeface="Arial"/>
                <a:ea typeface="Arial"/>
                <a:cs typeface="Arial"/>
              </a:defRPr>
            </a:pPr>
            <a:r>
              <a:rPr sz="3000" b="0">
                <a:solidFill>
                  <a:srgbClr val="D96B18"/>
                </a:solidFill>
                <a:latin typeface="Arial"/>
                <a:ea typeface="Arial"/>
                <a:cs typeface="Arial"/>
              </a:rPr>
              <a:t>Razonamiento con Incertidumbre (RAIN)</a:t>
            </a:r>
          </a:p>
        </p:txBody>
      </p:sp>
      <p:sp>
        <p:nvSpPr>
          <p:cNvPr id="9" name="">
            <a:extLst xmlns:a="http://schemas.openxmlformats.org/drawingml/2006/main">
              <a:ext uri="{FF2B5EF4-FFF2-40B4-BE49-F238E27FC236}">
                <a16:creationId xmlns:a16="http://schemas.microsoft.com/office/drawing/2014/main" id="{BF983408-BA99-4B14-A0A3-7ECC78E89655}"/>
              </a:ext>
            </a:extLst>
          </p:cNvPr>
          <p:cNvSpPr>
            <a:spLocks xmlns:a="http://schemas.openxmlformats.org/drawingml/2006/main" noGrp="1"/>
          </p:cNvSpPr>
          <p:nvPr/>
        </p:nvSpPr>
        <p:spPr>
          <a:xfrm xmlns:a="http://schemas.openxmlformats.org/drawingml/2006/main">
            <a:off x="838200" y="24479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975" b="1">
                <a:solidFill>
                  <a:srgbClr val="233746"/>
                </a:solidFill>
                <a:latin typeface="Arial"/>
                <a:ea typeface="Arial"/>
                <a:cs typeface="Arial"/>
              </a:defRPr>
            </a:pPr>
            <a:r>
              <a:rPr sz="3975" b="1">
                <a:solidFill>
                  <a:srgbClr val="233746"/>
                </a:solidFill>
                <a:latin typeface="Arial"/>
                <a:ea typeface="Arial"/>
                <a:cs typeface="Arial"/>
              </a:rPr>
              <a:t>Diagnóstico bayesiano</a:t>
            </a:r>
          </a:p>
        </p:txBody>
      </p:sp>
      <p:sp>
        <p:nvSpPr>
          <p:cNvPr id="10" name="">
            <a:extLst xmlns:a="http://schemas.openxmlformats.org/drawingml/2006/main">
              <a:ext uri="{FF2B5EF4-FFF2-40B4-BE49-F238E27FC236}">
                <a16:creationId xmlns:a16="http://schemas.microsoft.com/office/drawing/2014/main" id="{FFFED5F3-0B03-44E4-86F5-D4A18D58C588}"/>
              </a:ext>
            </a:extLst>
          </p:cNvPr>
          <p:cNvSpPr>
            <a:spLocks xmlns:a="http://schemas.openxmlformats.org/drawingml/2006/main" noGrp="1"/>
          </p:cNvSpPr>
          <p:nvPr/>
        </p:nvSpPr>
        <p:spPr>
          <a:xfrm xmlns:a="http://schemas.openxmlformats.org/drawingml/2006/main">
            <a:off x="838200" y="3400425"/>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00" b="1">
                <a:solidFill>
                  <a:srgbClr val="D96B18"/>
                </a:solidFill>
                <a:latin typeface="Arial"/>
                <a:ea typeface="Arial"/>
                <a:cs typeface="Arial"/>
              </a:defRPr>
            </a:pPr>
            <a:r>
              <a:rPr sz="2400" b="1">
                <a:solidFill>
                  <a:srgbClr val="D96B18"/>
                </a:solidFill>
                <a:latin typeface="Arial"/>
                <a:ea typeface="Arial"/>
                <a:cs typeface="Arial"/>
              </a:rPr>
              <a:t>PROVISIONAL</a:t>
            </a:r>
          </a:p>
        </p:txBody>
      </p:sp>
      <p:sp>
        <p:nvSpPr>
          <p:cNvPr id="11" name="">
            <a:extLst xmlns:a="http://schemas.openxmlformats.org/drawingml/2006/main">
              <a:ext uri="{FF2B5EF4-FFF2-40B4-BE49-F238E27FC236}">
                <a16:creationId xmlns:a16="http://schemas.microsoft.com/office/drawing/2014/main" id="{FF13B709-5463-46EA-86E1-5F643642E206}"/>
              </a:ext>
            </a:extLst>
          </p:cNvPr>
          <p:cNvSpPr>
            <a:spLocks xmlns:a="http://schemas.openxmlformats.org/drawingml/2006/main" noGrp="1"/>
          </p:cNvSpPr>
          <p:nvPr/>
        </p:nvSpPr>
        <p:spPr>
          <a:xfrm xmlns:a="http://schemas.openxmlformats.org/drawingml/2006/main">
            <a:off x="838200" y="40386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0">
                <a:solidFill>
                  <a:srgbClr val="233746"/>
                </a:solidFill>
                <a:latin typeface="Arial"/>
                <a:ea typeface="Arial"/>
                <a:cs typeface="Arial"/>
              </a:defRPr>
            </a:pPr>
            <a:r>
              <a:rPr sz="2250" b="0">
                <a:solidFill>
                  <a:srgbClr val="233746"/>
                </a:solidFill>
                <a:latin typeface="Arial"/>
                <a:ea typeface="Arial"/>
                <a:cs typeface="Arial"/>
              </a:rPr>
              <a:t>Guía para diseñar e implementar vuestro sistema</a:t>
            </a:r>
          </a:p>
        </p:txBody>
      </p:sp>
      <p:sp>
        <p:nvSpPr>
          <p:cNvPr id="12" name="">
            <a:extLst xmlns:a="http://schemas.openxmlformats.org/drawingml/2006/main">
              <a:ext uri="{FF2B5EF4-FFF2-40B4-BE49-F238E27FC236}">
                <a16:creationId xmlns:a16="http://schemas.microsoft.com/office/drawing/2014/main" id="{F9E32E41-80FD-4849-9997-C7F0D2ACF442}"/>
              </a:ext>
            </a:extLst>
          </p:cNvPr>
          <p:cNvSpPr>
            <a:spLocks xmlns:a="http://schemas.openxmlformats.org/drawingml/2006/main" noGrp="1"/>
          </p:cNvSpPr>
          <p:nvPr/>
        </p:nvSpPr>
        <p:spPr>
          <a:xfrm xmlns:a="http://schemas.openxmlformats.org/drawingml/2006/main">
            <a:off x="838200" y="52006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1">
                <a:solidFill>
                  <a:srgbClr val="233746"/>
                </a:solidFill>
                <a:latin typeface="Arial"/>
                <a:ea typeface="Arial"/>
                <a:cs typeface="Arial"/>
              </a:defRPr>
            </a:pPr>
            <a:r>
              <a:rPr sz="2025" b="1">
                <a:solidFill>
                  <a:srgbClr val="233746"/>
                </a:solidFill>
                <a:latin typeface="Arial"/>
                <a:ea typeface="Arial"/>
                <a:cs typeface="Arial"/>
              </a:rPr>
              <a:t>Erik Figueiral Alonso</a:t>
            </a:r>
          </a:p>
        </p:txBody>
      </p:sp>
      <p:sp>
        <p:nvSpPr>
          <p:cNvPr id="13" name="">
            <a:extLst xmlns:a="http://schemas.openxmlformats.org/drawingml/2006/main">
              <a:ext uri="{FF2B5EF4-FFF2-40B4-BE49-F238E27FC236}">
                <a16:creationId xmlns:a16="http://schemas.microsoft.com/office/drawing/2014/main" id="{7CB100F2-5C39-46BF-882E-205DA04C65FB}"/>
              </a:ext>
            </a:extLst>
          </p:cNvPr>
          <p:cNvSpPr>
            <a:spLocks xmlns:a="http://schemas.openxmlformats.org/drawingml/2006/main" noGrp="1"/>
          </p:cNvSpPr>
          <p:nvPr/>
        </p:nvSpPr>
        <p:spPr>
          <a:xfrm xmlns:a="http://schemas.openxmlformats.org/drawingml/2006/main">
            <a:off x="838200" y="56197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233746"/>
                </a:solidFill>
                <a:latin typeface="Arial"/>
                <a:ea typeface="Arial"/>
                <a:cs typeface="Arial"/>
              </a:defRPr>
            </a:pPr>
            <a:r>
              <a:rPr sz="1875" b="0">
                <a:solidFill>
                  <a:srgbClr val="233746"/>
                </a:solidFill>
                <a:latin typeface="Arial"/>
                <a:ea typeface="Arial"/>
                <a:cs typeface="Arial"/>
              </a:rPr>
              <a:t>erik.figueiral.alonso@uvigo.gal</a:t>
            </a:r>
          </a:p>
        </p:txBody>
      </p:sp>
    </p:spTree>
    <p:extLst>
      <p:ext uri="{BB962C8B-B14F-4D97-AF65-F5344CB8AC3E}">
        <p14:creationId xmlns:p14="http://schemas.microsoft.com/office/powerpoint/2010/main" val="172189652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Diagnóstico bayesiano · PROVISIONAL</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2</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D96B18"/>
                </a:solidFill>
                <a:latin typeface="Arial"/>
                <a:ea typeface="Arial"/>
                <a:cs typeface="Arial"/>
              </a:defRPr>
            </a:pPr>
            <a:r>
              <a:rPr sz="3000" b="0">
                <a:solidFill>
                  <a:srgbClr val="D96B18"/>
                </a:solidFill>
                <a:latin typeface="Arial"/>
                <a:ea typeface="Arial"/>
                <a:cs typeface="Arial"/>
              </a:rPr>
              <a:t>Guion: de las observaciones al diagnóstico</a:t>
            </a:r>
          </a:p>
        </p:txBody>
      </p:sp>
      <p:sp>
        <p:nvSpPr>
          <p:cNvPr id="9" name="">
            <a:extLst xmlns:a="http://schemas.openxmlformats.org/drawingml/2006/main">
              <a:ext uri="{FF2B5EF4-FFF2-40B4-BE49-F238E27FC236}">
                <a16:creationId xmlns:a16="http://schemas.microsoft.com/office/drawing/2014/main" id="{8B047913-2D87-4711-B4C4-C764C3376ADC}"/>
              </a:ext>
            </a:extLst>
          </p:cNvPr>
          <p:cNvSpPr>
            <a:spLocks xmlns:a="http://schemas.openxmlformats.org/drawingml/2006/main" noGrp="1"/>
          </p:cNvSpPr>
          <p:nvPr/>
        </p:nvSpPr>
        <p:spPr>
          <a:xfrm xmlns:a="http://schemas.openxmlformats.org/drawingml/2006/main">
            <a:off x="762000" y="13811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D96B18"/>
                </a:solidFill>
                <a:latin typeface="Arial"/>
                <a:ea typeface="Arial"/>
                <a:cs typeface="Arial"/>
              </a:defRPr>
            </a:pPr>
            <a:r>
              <a:rPr sz="1500" b="1">
                <a:solidFill>
                  <a:srgbClr val="D96B18"/>
                </a:solidFill>
                <a:latin typeface="Arial"/>
                <a:ea typeface="Arial"/>
                <a:cs typeface="Arial"/>
              </a:rPr>
              <a:t>EL RETO</a:t>
            </a:r>
          </a:p>
        </p:txBody>
      </p:sp>
      <p:sp>
        <p:nvSpPr>
          <p:cNvPr id="10" name="">
            <a:extLst xmlns:a="http://schemas.openxmlformats.org/drawingml/2006/main">
              <a:ext uri="{FF2B5EF4-FFF2-40B4-BE49-F238E27FC236}">
                <a16:creationId xmlns:a16="http://schemas.microsoft.com/office/drawing/2014/main" id="{ADC9F764-383F-42F5-8897-5230197784FE}"/>
              </a:ext>
            </a:extLst>
          </p:cNvPr>
          <p:cNvSpPr>
            <a:spLocks xmlns:a="http://schemas.openxmlformats.org/drawingml/2006/main" noGrp="1"/>
          </p:cNvSpPr>
          <p:nvPr/>
        </p:nvSpPr>
        <p:spPr>
          <a:xfrm xmlns:a="http://schemas.openxmlformats.org/drawingml/2006/main">
            <a:off x="762000" y="1724025"/>
            <a:ext cx="10668000" cy="28575"/>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AB267348-F8C7-4D04-8F98-0663FC00EEEF}"/>
              </a:ext>
            </a:extLst>
          </p:cNvPr>
          <p:cNvSpPr>
            <a:spLocks xmlns:a="http://schemas.openxmlformats.org/drawingml/2006/main" noGrp="1"/>
          </p:cNvSpPr>
          <p:nvPr/>
        </p:nvSpPr>
        <p:spPr>
          <a:xfrm xmlns:a="http://schemas.openxmlformats.org/drawingml/2006/main">
            <a:off x="762000" y="198120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00" b="1">
                <a:solidFill>
                  <a:srgbClr val="D96B18"/>
                </a:solidFill>
                <a:latin typeface="Arial"/>
                <a:ea typeface="Arial"/>
                <a:cs typeface="Arial"/>
              </a:defRPr>
            </a:pPr>
            <a:r>
              <a:rPr sz="2400" b="1">
                <a:solidFill>
                  <a:srgbClr val="D96B18"/>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DC5DDFE6-E0F2-47D4-8B04-C48CFC5E107A}"/>
              </a:ext>
            </a:extLst>
          </p:cNvPr>
          <p:cNvSpPr>
            <a:spLocks xmlns:a="http://schemas.openxmlformats.org/drawingml/2006/main" noGrp="1"/>
          </p:cNvSpPr>
          <p:nvPr/>
        </p:nvSpPr>
        <p:spPr>
          <a:xfrm xmlns:a="http://schemas.openxmlformats.org/drawingml/2006/main">
            <a:off x="1619250" y="1981200"/>
            <a:ext cx="228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D96B18"/>
                </a:solidFill>
                <a:latin typeface="Arial"/>
                <a:ea typeface="Arial"/>
                <a:cs typeface="Arial"/>
              </a:defRPr>
            </a:pPr>
            <a:r>
              <a:rPr sz="2175" b="1">
                <a:solidFill>
                  <a:srgbClr val="D96B18"/>
                </a:solidFill>
                <a:latin typeface="Arial"/>
                <a:ea typeface="Arial"/>
                <a:cs typeface="Arial"/>
              </a:rPr>
              <a:t>El reto</a:t>
            </a:r>
          </a:p>
        </p:txBody>
      </p:sp>
      <p:sp>
        <p:nvSpPr>
          <p:cNvPr id="13" name="">
            <a:extLst xmlns:a="http://schemas.openxmlformats.org/drawingml/2006/main">
              <a:ext uri="{FF2B5EF4-FFF2-40B4-BE49-F238E27FC236}">
                <a16:creationId xmlns:a16="http://schemas.microsoft.com/office/drawing/2014/main" id="{FD72970B-2ED7-4310-9941-A38EF239B076}"/>
              </a:ext>
            </a:extLst>
          </p:cNvPr>
          <p:cNvSpPr>
            <a:spLocks xmlns:a="http://schemas.openxmlformats.org/drawingml/2006/main" noGrp="1"/>
          </p:cNvSpPr>
          <p:nvPr/>
        </p:nvSpPr>
        <p:spPr>
          <a:xfrm xmlns:a="http://schemas.openxmlformats.org/drawingml/2006/main">
            <a:off x="4714875" y="1981200"/>
            <a:ext cx="6715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Una bomba tiene caudal bajo. ¿Qué puede fallar?</a:t>
            </a:r>
          </a:p>
        </p:txBody>
      </p:sp>
      <p:sp>
        <p:nvSpPr>
          <p:cNvPr id="14" name="">
            <a:extLst xmlns:a="http://schemas.openxmlformats.org/drawingml/2006/main">
              <a:ext uri="{FF2B5EF4-FFF2-40B4-BE49-F238E27FC236}">
                <a16:creationId xmlns:a16="http://schemas.microsoft.com/office/drawing/2014/main" id="{7F5D9A64-0FA4-4517-9024-F0037A01986E}"/>
              </a:ext>
            </a:extLst>
          </p:cNvPr>
          <p:cNvSpPr>
            <a:spLocks xmlns:a="http://schemas.openxmlformats.org/drawingml/2006/main" noGrp="1"/>
          </p:cNvSpPr>
          <p:nvPr/>
        </p:nvSpPr>
        <p:spPr>
          <a:xfrm xmlns:a="http://schemas.openxmlformats.org/drawingml/2006/main">
            <a:off x="762000" y="27241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00" b="1">
                <a:solidFill>
                  <a:srgbClr val="2162A0"/>
                </a:solidFill>
                <a:latin typeface="Arial"/>
                <a:ea typeface="Arial"/>
                <a:cs typeface="Arial"/>
              </a:defRPr>
            </a:pPr>
            <a:r>
              <a:rPr sz="2400" b="1">
                <a:solidFill>
                  <a:srgbClr val="2162A0"/>
                </a:solidFill>
                <a:latin typeface="Arial"/>
                <a:ea typeface="Arial"/>
                <a:cs typeface="Arial"/>
              </a:rPr>
              <a:t>02</a:t>
            </a:r>
          </a:p>
        </p:txBody>
      </p:sp>
      <p:sp>
        <p:nvSpPr>
          <p:cNvPr id="15" name="">
            <a:extLst xmlns:a="http://schemas.openxmlformats.org/drawingml/2006/main">
              <a:ext uri="{FF2B5EF4-FFF2-40B4-BE49-F238E27FC236}">
                <a16:creationId xmlns:a16="http://schemas.microsoft.com/office/drawing/2014/main" id="{779906A2-76CD-41B5-8CE0-0684273DD556}"/>
              </a:ext>
            </a:extLst>
          </p:cNvPr>
          <p:cNvSpPr>
            <a:spLocks xmlns:a="http://schemas.openxmlformats.org/drawingml/2006/main" noGrp="1"/>
          </p:cNvSpPr>
          <p:nvPr/>
        </p:nvSpPr>
        <p:spPr>
          <a:xfrm xmlns:a="http://schemas.openxmlformats.org/drawingml/2006/main">
            <a:off x="1619250" y="2724150"/>
            <a:ext cx="228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2162A0"/>
                </a:solidFill>
                <a:latin typeface="Arial"/>
                <a:ea typeface="Arial"/>
                <a:cs typeface="Arial"/>
              </a:defRPr>
            </a:pPr>
            <a:r>
              <a:rPr sz="2175" b="1">
                <a:solidFill>
                  <a:srgbClr val="2162A0"/>
                </a:solidFill>
                <a:latin typeface="Arial"/>
                <a:ea typeface="Arial"/>
                <a:cs typeface="Arial"/>
              </a:rPr>
              <a:t>Conceptos</a:t>
            </a:r>
          </a:p>
        </p:txBody>
      </p:sp>
      <p:sp>
        <p:nvSpPr>
          <p:cNvPr id="16" name="">
            <a:extLst xmlns:a="http://schemas.openxmlformats.org/drawingml/2006/main">
              <a:ext uri="{FF2B5EF4-FFF2-40B4-BE49-F238E27FC236}">
                <a16:creationId xmlns:a16="http://schemas.microsoft.com/office/drawing/2014/main" id="{09360EFF-7E9D-4F0B-AE6B-BD00B1D46C51}"/>
              </a:ext>
            </a:extLst>
          </p:cNvPr>
          <p:cNvSpPr>
            <a:spLocks xmlns:a="http://schemas.openxmlformats.org/drawingml/2006/main" noGrp="1"/>
          </p:cNvSpPr>
          <p:nvPr/>
        </p:nvSpPr>
        <p:spPr>
          <a:xfrm xmlns:a="http://schemas.openxmlformats.org/drawingml/2006/main">
            <a:off x="4714875" y="2724150"/>
            <a:ext cx="6715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Probabilidades, evidencia y regla de Bayes.</a:t>
            </a:r>
          </a:p>
        </p:txBody>
      </p:sp>
      <p:sp>
        <p:nvSpPr>
          <p:cNvPr id="17" name="">
            <a:extLst xmlns:a="http://schemas.openxmlformats.org/drawingml/2006/main">
              <a:ext uri="{FF2B5EF4-FFF2-40B4-BE49-F238E27FC236}">
                <a16:creationId xmlns:a16="http://schemas.microsoft.com/office/drawing/2014/main" id="{A21D70DF-18A1-4DCA-91ED-2DDF2149DA8A}"/>
              </a:ext>
            </a:extLst>
          </p:cNvPr>
          <p:cNvSpPr>
            <a:spLocks xmlns:a="http://schemas.openxmlformats.org/drawingml/2006/main" noGrp="1"/>
          </p:cNvSpPr>
          <p:nvPr/>
        </p:nvSpPr>
        <p:spPr>
          <a:xfrm xmlns:a="http://schemas.openxmlformats.org/drawingml/2006/main">
            <a:off x="762000" y="346710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00" b="1">
                <a:solidFill>
                  <a:srgbClr val="7950A0"/>
                </a:solidFill>
                <a:latin typeface="Arial"/>
                <a:ea typeface="Arial"/>
                <a:cs typeface="Arial"/>
              </a:defRPr>
            </a:pPr>
            <a:r>
              <a:rPr sz="2400" b="1">
                <a:solidFill>
                  <a:srgbClr val="7950A0"/>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8931C7F7-D74B-47A2-83A7-E3CFC3E94655}"/>
              </a:ext>
            </a:extLst>
          </p:cNvPr>
          <p:cNvSpPr>
            <a:spLocks xmlns:a="http://schemas.openxmlformats.org/drawingml/2006/main" noGrp="1"/>
          </p:cNvSpPr>
          <p:nvPr/>
        </p:nvSpPr>
        <p:spPr>
          <a:xfrm xmlns:a="http://schemas.openxmlformats.org/drawingml/2006/main">
            <a:off x="1619250" y="3467100"/>
            <a:ext cx="228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7950A0"/>
                </a:solidFill>
                <a:latin typeface="Arial"/>
                <a:ea typeface="Arial"/>
                <a:cs typeface="Arial"/>
              </a:defRPr>
            </a:pPr>
            <a:r>
              <a:rPr sz="2175" b="1">
                <a:solidFill>
                  <a:srgbClr val="7950A0"/>
                </a:solidFill>
                <a:latin typeface="Arial"/>
                <a:ea typeface="Arial"/>
                <a:cs typeface="Arial"/>
              </a:rPr>
              <a:t>Modelo</a:t>
            </a:r>
          </a:p>
        </p:txBody>
      </p:sp>
      <p:sp>
        <p:nvSpPr>
          <p:cNvPr id="19" name="">
            <a:extLst xmlns:a="http://schemas.openxmlformats.org/drawingml/2006/main">
              <a:ext uri="{FF2B5EF4-FFF2-40B4-BE49-F238E27FC236}">
                <a16:creationId xmlns:a16="http://schemas.microsoft.com/office/drawing/2014/main" id="{BD1EDACD-9B82-4B18-929B-3C6B135BA578}"/>
              </a:ext>
            </a:extLst>
          </p:cNvPr>
          <p:cNvSpPr>
            <a:spLocks xmlns:a="http://schemas.openxmlformats.org/drawingml/2006/main" noGrp="1"/>
          </p:cNvSpPr>
          <p:nvPr/>
        </p:nvSpPr>
        <p:spPr>
          <a:xfrm xmlns:a="http://schemas.openxmlformats.org/drawingml/2006/main">
            <a:off x="4714875" y="3467100"/>
            <a:ext cx="6715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Variables, red y tablas de probabilidades.</a:t>
            </a:r>
          </a:p>
        </p:txBody>
      </p:sp>
      <p:sp>
        <p:nvSpPr>
          <p:cNvPr id="20" name="">
            <a:extLst xmlns:a="http://schemas.openxmlformats.org/drawingml/2006/main">
              <a:ext uri="{FF2B5EF4-FFF2-40B4-BE49-F238E27FC236}">
                <a16:creationId xmlns:a16="http://schemas.microsoft.com/office/drawing/2014/main" id="{4FF7E50F-9BBA-4797-A079-9202F8796066}"/>
              </a:ext>
            </a:extLst>
          </p:cNvPr>
          <p:cNvSpPr>
            <a:spLocks xmlns:a="http://schemas.openxmlformats.org/drawingml/2006/main" noGrp="1"/>
          </p:cNvSpPr>
          <p:nvPr/>
        </p:nvSpPr>
        <p:spPr>
          <a:xfrm xmlns:a="http://schemas.openxmlformats.org/drawingml/2006/main">
            <a:off x="762000" y="42100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00" b="1">
                <a:solidFill>
                  <a:srgbClr val="087F79"/>
                </a:solidFill>
                <a:latin typeface="Arial"/>
                <a:ea typeface="Arial"/>
                <a:cs typeface="Arial"/>
              </a:defRPr>
            </a:pPr>
            <a:r>
              <a:rPr sz="2400" b="1">
                <a:solidFill>
                  <a:srgbClr val="087F79"/>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0442801C-2477-48BE-AB95-38458FFCB88F}"/>
              </a:ext>
            </a:extLst>
          </p:cNvPr>
          <p:cNvSpPr>
            <a:spLocks xmlns:a="http://schemas.openxmlformats.org/drawingml/2006/main" noGrp="1"/>
          </p:cNvSpPr>
          <p:nvPr/>
        </p:nvSpPr>
        <p:spPr>
          <a:xfrm xmlns:a="http://schemas.openxmlformats.org/drawingml/2006/main">
            <a:off x="1619250" y="4210050"/>
            <a:ext cx="228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087F79"/>
                </a:solidFill>
                <a:latin typeface="Arial"/>
                <a:ea typeface="Arial"/>
                <a:cs typeface="Arial"/>
              </a:defRPr>
            </a:pPr>
            <a:r>
              <a:rPr sz="2175" b="1">
                <a:solidFill>
                  <a:srgbClr val="087F79"/>
                </a:solidFill>
                <a:latin typeface="Arial"/>
                <a:ea typeface="Arial"/>
                <a:cs typeface="Arial"/>
              </a:rPr>
              <a:t>Inferencia</a:t>
            </a:r>
          </a:p>
        </p:txBody>
      </p:sp>
      <p:sp>
        <p:nvSpPr>
          <p:cNvPr id="22" name="">
            <a:extLst xmlns:a="http://schemas.openxmlformats.org/drawingml/2006/main">
              <a:ext uri="{FF2B5EF4-FFF2-40B4-BE49-F238E27FC236}">
                <a16:creationId xmlns:a16="http://schemas.microsoft.com/office/drawing/2014/main" id="{3A28E033-98DD-4E13-AB15-24CDD057288D}"/>
              </a:ext>
            </a:extLst>
          </p:cNvPr>
          <p:cNvSpPr>
            <a:spLocks xmlns:a="http://schemas.openxmlformats.org/drawingml/2006/main" noGrp="1"/>
          </p:cNvSpPr>
          <p:nvPr/>
        </p:nvSpPr>
        <p:spPr>
          <a:xfrm xmlns:a="http://schemas.openxmlformats.org/drawingml/2006/main">
            <a:off x="4714875" y="4210050"/>
            <a:ext cx="6715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Actualizar el diagnóstico con nuevas observaciones.</a:t>
            </a:r>
          </a:p>
        </p:txBody>
      </p:sp>
      <p:sp>
        <p:nvSpPr>
          <p:cNvPr id="23" name="">
            <a:extLst xmlns:a="http://schemas.openxmlformats.org/drawingml/2006/main">
              <a:ext uri="{FF2B5EF4-FFF2-40B4-BE49-F238E27FC236}">
                <a16:creationId xmlns:a16="http://schemas.microsoft.com/office/drawing/2014/main" id="{1F357F43-B006-4811-A58B-3E5182F13C44}"/>
              </a:ext>
            </a:extLst>
          </p:cNvPr>
          <p:cNvSpPr>
            <a:spLocks xmlns:a="http://schemas.openxmlformats.org/drawingml/2006/main" noGrp="1"/>
          </p:cNvSpPr>
          <p:nvPr/>
        </p:nvSpPr>
        <p:spPr>
          <a:xfrm xmlns:a="http://schemas.openxmlformats.org/drawingml/2006/main">
            <a:off x="762000" y="495300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00" b="1">
                <a:solidFill>
                  <a:srgbClr val="AD414C"/>
                </a:solidFill>
                <a:latin typeface="Arial"/>
                <a:ea typeface="Arial"/>
                <a:cs typeface="Arial"/>
              </a:defRPr>
            </a:pPr>
            <a:r>
              <a:rPr sz="2400" b="1">
                <a:solidFill>
                  <a:srgbClr val="AD414C"/>
                </a:solidFill>
                <a:latin typeface="Arial"/>
                <a:ea typeface="Arial"/>
                <a:cs typeface="Arial"/>
              </a:rPr>
              <a:t>05</a:t>
            </a:r>
          </a:p>
        </p:txBody>
      </p:sp>
      <p:sp>
        <p:nvSpPr>
          <p:cNvPr id="24" name="">
            <a:extLst xmlns:a="http://schemas.openxmlformats.org/drawingml/2006/main">
              <a:ext uri="{FF2B5EF4-FFF2-40B4-BE49-F238E27FC236}">
                <a16:creationId xmlns:a16="http://schemas.microsoft.com/office/drawing/2014/main" id="{D496BC25-094C-4151-B412-C52024ED0E1C}"/>
              </a:ext>
            </a:extLst>
          </p:cNvPr>
          <p:cNvSpPr>
            <a:spLocks xmlns:a="http://schemas.openxmlformats.org/drawingml/2006/main" noGrp="1"/>
          </p:cNvSpPr>
          <p:nvPr/>
        </p:nvSpPr>
        <p:spPr>
          <a:xfrm xmlns:a="http://schemas.openxmlformats.org/drawingml/2006/main">
            <a:off x="1619250" y="4953000"/>
            <a:ext cx="228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AD414C"/>
                </a:solidFill>
                <a:latin typeface="Arial"/>
                <a:ea typeface="Arial"/>
                <a:cs typeface="Arial"/>
              </a:defRPr>
            </a:pPr>
            <a:r>
              <a:rPr sz="2175" b="1">
                <a:solidFill>
                  <a:srgbClr val="AD414C"/>
                </a:solidFill>
                <a:latin typeface="Arial"/>
                <a:ea typeface="Arial"/>
                <a:cs typeface="Arial"/>
              </a:rPr>
              <a:t>Aplicación</a:t>
            </a:r>
          </a:p>
        </p:txBody>
      </p:sp>
      <p:sp>
        <p:nvSpPr>
          <p:cNvPr id="25" name="">
            <a:extLst xmlns:a="http://schemas.openxmlformats.org/drawingml/2006/main">
              <a:ext uri="{FF2B5EF4-FFF2-40B4-BE49-F238E27FC236}">
                <a16:creationId xmlns:a16="http://schemas.microsoft.com/office/drawing/2014/main" id="{71567BBF-3191-4A6D-A2D5-04D0F1B06C4E}"/>
              </a:ext>
            </a:extLst>
          </p:cNvPr>
          <p:cNvSpPr>
            <a:spLocks xmlns:a="http://schemas.openxmlformats.org/drawingml/2006/main" noGrp="1"/>
          </p:cNvSpPr>
          <p:nvPr/>
        </p:nvSpPr>
        <p:spPr>
          <a:xfrm xmlns:a="http://schemas.openxmlformats.org/drawingml/2006/main">
            <a:off x="4714875" y="4953000"/>
            <a:ext cx="6715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Código, interfaz y comprobaciones.</a:t>
            </a:r>
          </a:p>
        </p:txBody>
      </p:sp>
    </p:spTree>
    <p:extLst>
      <p:ext uri="{BB962C8B-B14F-4D97-AF65-F5344CB8AC3E}">
        <p14:creationId xmlns:p14="http://schemas.microsoft.com/office/powerpoint/2010/main" val="172189652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Diagnóstico bayesiano · PROVISIONAL</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3</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D96B18"/>
                </a:solidFill>
                <a:latin typeface="Arial"/>
                <a:ea typeface="Arial"/>
                <a:cs typeface="Arial"/>
              </a:defRPr>
            </a:pPr>
            <a:r>
              <a:rPr sz="3000" b="0">
                <a:solidFill>
                  <a:srgbClr val="D96B18"/>
                </a:solidFill>
                <a:latin typeface="Arial"/>
                <a:ea typeface="Arial"/>
                <a:cs typeface="Arial"/>
              </a:rPr>
              <a:t>El reto: una bomba con caudal bajo</a:t>
            </a:r>
          </a:p>
        </p:txBody>
      </p:sp>
      <p:sp>
        <p:nvSpPr>
          <p:cNvPr id="9" name="">
            <a:extLst xmlns:a="http://schemas.openxmlformats.org/drawingml/2006/main">
              <a:ext uri="{FF2B5EF4-FFF2-40B4-BE49-F238E27FC236}">
                <a16:creationId xmlns:a16="http://schemas.microsoft.com/office/drawing/2014/main" id="{19973931-B204-4A40-82DC-81BDEA09B33C}"/>
              </a:ext>
            </a:extLst>
          </p:cNvPr>
          <p:cNvSpPr>
            <a:spLocks xmlns:a="http://schemas.openxmlformats.org/drawingml/2006/main" noGrp="1"/>
          </p:cNvSpPr>
          <p:nvPr/>
        </p:nvSpPr>
        <p:spPr>
          <a:xfrm xmlns:a="http://schemas.openxmlformats.org/drawingml/2006/main">
            <a:off x="762000" y="13811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D96B18"/>
                </a:solidFill>
                <a:latin typeface="Arial"/>
                <a:ea typeface="Arial"/>
                <a:cs typeface="Arial"/>
              </a:defRPr>
            </a:pPr>
            <a:r>
              <a:rPr sz="1500" b="1">
                <a:solidFill>
                  <a:srgbClr val="D96B18"/>
                </a:solidFill>
                <a:latin typeface="Arial"/>
                <a:ea typeface="Arial"/>
                <a:cs typeface="Arial"/>
              </a:rPr>
              <a:t>EL RETO</a:t>
            </a:r>
          </a:p>
        </p:txBody>
      </p:sp>
      <p:sp>
        <p:nvSpPr>
          <p:cNvPr id="10" name="">
            <a:extLst xmlns:a="http://schemas.openxmlformats.org/drawingml/2006/main">
              <a:ext uri="{FF2B5EF4-FFF2-40B4-BE49-F238E27FC236}">
                <a16:creationId xmlns:a16="http://schemas.microsoft.com/office/drawing/2014/main" id="{F779601F-C5D2-4629-9CB2-2B8933A7A363}"/>
              </a:ext>
            </a:extLst>
          </p:cNvPr>
          <p:cNvSpPr>
            <a:spLocks xmlns:a="http://schemas.openxmlformats.org/drawingml/2006/main" noGrp="1"/>
          </p:cNvSpPr>
          <p:nvPr/>
        </p:nvSpPr>
        <p:spPr>
          <a:xfrm xmlns:a="http://schemas.openxmlformats.org/drawingml/2006/main">
            <a:off x="762000" y="1724025"/>
            <a:ext cx="10668000" cy="28575"/>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57DADB07-943F-42FE-A8D0-A404A5E3F838}"/>
              </a:ext>
            </a:extLst>
          </p:cNvPr>
          <p:cNvSpPr>
            <a:spLocks xmlns:a="http://schemas.openxmlformats.org/drawingml/2006/main" noGrp="1"/>
          </p:cNvSpPr>
          <p:nvPr/>
        </p:nvSpPr>
        <p:spPr>
          <a:xfrm xmlns:a="http://schemas.openxmlformats.org/drawingml/2006/main">
            <a:off x="762000" y="2143125"/>
            <a:ext cx="5715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00" b="1">
                <a:solidFill>
                  <a:srgbClr val="233746"/>
                </a:solidFill>
                <a:latin typeface="Arial"/>
                <a:ea typeface="Arial"/>
                <a:cs typeface="Arial"/>
              </a:defRPr>
            </a:pPr>
            <a:r>
              <a:rPr sz="2700" b="1">
                <a:solidFill>
                  <a:srgbClr val="233746"/>
                </a:solidFill>
                <a:latin typeface="Arial"/>
                <a:ea typeface="Arial"/>
                <a:cs typeface="Arial"/>
              </a:rPr>
              <a:t>La bomba funciona,</a:t>
            </a:r>
          </a:p>
          <a:p xmlns:a="http://schemas.openxmlformats.org/drawingml/2006/main">
            <a:pPr>
              <a:defRPr sz="2700" b="1">
                <a:solidFill>
                  <a:srgbClr val="233746"/>
                </a:solidFill>
                <a:latin typeface="Arial"/>
                <a:ea typeface="Arial"/>
                <a:cs typeface="Arial"/>
              </a:defRPr>
            </a:pPr>
            <a:r>
              <a:rPr sz="2700" b="1">
                <a:solidFill>
                  <a:srgbClr val="233746"/>
                </a:solidFill>
                <a:latin typeface="Arial"/>
                <a:ea typeface="Arial"/>
                <a:cs typeface="Arial"/>
              </a:rPr>
              <a:t>pero entrega poco caudal.</a:t>
            </a:r>
          </a:p>
        </p:txBody>
      </p:sp>
      <p:sp>
        <p:nvSpPr>
          <p:cNvPr id="12" name="">
            <a:extLst xmlns:a="http://schemas.openxmlformats.org/drawingml/2006/main">
              <a:ext uri="{FF2B5EF4-FFF2-40B4-BE49-F238E27FC236}">
                <a16:creationId xmlns:a16="http://schemas.microsoft.com/office/drawing/2014/main" id="{8E997153-08D8-420B-800C-40F91CA00580}"/>
              </a:ext>
            </a:extLst>
          </p:cNvPr>
          <p:cNvSpPr>
            <a:spLocks xmlns:a="http://schemas.openxmlformats.org/drawingml/2006/main" noGrp="1"/>
          </p:cNvSpPr>
          <p:nvPr/>
        </p:nvSpPr>
        <p:spPr>
          <a:xfrm xmlns:a="http://schemas.openxmlformats.org/drawingml/2006/main">
            <a:off x="762000" y="3676650"/>
            <a:ext cx="59055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233746"/>
                </a:solidFill>
                <a:latin typeface="Arial"/>
                <a:ea typeface="Arial"/>
                <a:cs typeface="Arial"/>
              </a:defRPr>
            </a:pPr>
            <a:r>
              <a:rPr sz="2250" b="0">
                <a:solidFill>
                  <a:srgbClr val="233746"/>
                </a:solidFill>
                <a:latin typeface="Arial"/>
                <a:ea typeface="Arial"/>
                <a:cs typeface="Arial"/>
              </a:rPr>
              <a:t>Queremos identificar la causa principal:</a:t>
            </a:r>
          </a:p>
          <a:p xmlns:a="http://schemas.openxmlformats.org/drawingml/2006/main">
            <a:pPr>
              <a:defRPr sz="2250" b="0">
                <a:solidFill>
                  <a:srgbClr val="233746"/>
                </a:solidFill>
                <a:latin typeface="Arial"/>
                <a:ea typeface="Arial"/>
                <a:cs typeface="Arial"/>
              </a:defRPr>
            </a:pPr>
            <a:r>
              <a:rPr sz="2250" b="0">
                <a:solidFill>
                  <a:srgbClr val="233746"/>
                </a:solidFill>
                <a:latin typeface="Arial"/>
                <a:ea typeface="Arial"/>
                <a:cs typeface="Arial"/>
              </a:rPr>
              <a:t>obstrucción, fuga u otra.</a:t>
            </a:r>
          </a:p>
        </p:txBody>
      </p:sp>
      <p:sp>
        <p:nvSpPr>
          <p:cNvPr id="13" name="">
            <a:extLst xmlns:a="http://schemas.openxmlformats.org/drawingml/2006/main">
              <a:ext uri="{FF2B5EF4-FFF2-40B4-BE49-F238E27FC236}">
                <a16:creationId xmlns:a16="http://schemas.microsoft.com/office/drawing/2014/main" id="{202856D2-E03D-41BC-A576-0E32B6450063}"/>
              </a:ext>
            </a:extLst>
          </p:cNvPr>
          <p:cNvSpPr>
            <a:spLocks xmlns:a="http://schemas.openxmlformats.org/drawingml/2006/main" noGrp="1"/>
          </p:cNvSpPr>
          <p:nvPr/>
        </p:nvSpPr>
        <p:spPr>
          <a:xfrm xmlns:a="http://schemas.openxmlformats.org/drawingml/2006/main">
            <a:off x="7667625" y="2190750"/>
            <a:ext cx="3714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7950A0"/>
                </a:solidFill>
                <a:latin typeface="Arial"/>
                <a:ea typeface="Arial"/>
                <a:cs typeface="Arial"/>
              </a:defRPr>
            </a:pPr>
            <a:r>
              <a:rPr sz="2175" b="1">
                <a:solidFill>
                  <a:srgbClr val="7950A0"/>
                </a:solidFill>
                <a:latin typeface="Arial"/>
                <a:ea typeface="Arial"/>
                <a:cs typeface="Arial"/>
              </a:rPr>
              <a:t>Podemos observar</a:t>
            </a:r>
          </a:p>
        </p:txBody>
      </p:sp>
      <p:sp>
        <p:nvSpPr>
          <p:cNvPr id="14" name="">
            <a:extLst xmlns:a="http://schemas.openxmlformats.org/drawingml/2006/main">
              <a:ext uri="{FF2B5EF4-FFF2-40B4-BE49-F238E27FC236}">
                <a16:creationId xmlns:a16="http://schemas.microsoft.com/office/drawing/2014/main" id="{95C2BFE0-63D3-4E2B-ADE3-858FDCAE65A7}"/>
              </a:ext>
            </a:extLst>
          </p:cNvPr>
          <p:cNvSpPr>
            <a:spLocks xmlns:a="http://schemas.openxmlformats.org/drawingml/2006/main" noGrp="1"/>
          </p:cNvSpPr>
          <p:nvPr/>
        </p:nvSpPr>
        <p:spPr>
          <a:xfrm xmlns:a="http://schemas.openxmlformats.org/drawingml/2006/main">
            <a:off x="7667625" y="3000375"/>
            <a:ext cx="3714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75" b="0">
                <a:solidFill>
                  <a:srgbClr val="233746"/>
                </a:solidFill>
                <a:latin typeface="Arial"/>
                <a:ea typeface="Arial"/>
                <a:cs typeface="Arial"/>
              </a:defRPr>
            </a:pPr>
            <a:r>
              <a:rPr sz="2475" b="0">
                <a:solidFill>
                  <a:srgbClr val="233746"/>
                </a:solidFill>
                <a:latin typeface="Arial"/>
                <a:ea typeface="Arial"/>
                <a:cs typeface="Arial"/>
              </a:rPr>
              <a:t>Caudal bajo</a:t>
            </a:r>
          </a:p>
          <a:p xmlns:a="http://schemas.openxmlformats.org/drawingml/2006/main">
            <a:pPr>
              <a:defRPr sz="2475" b="0">
                <a:solidFill>
                  <a:srgbClr val="233746"/>
                </a:solidFill>
                <a:latin typeface="Arial"/>
                <a:ea typeface="Arial"/>
                <a:cs typeface="Arial"/>
              </a:defRPr>
            </a:pPr>
            <a:r>
              <a:t/>
            </a:r>
          </a:p>
          <a:p xmlns:a="http://schemas.openxmlformats.org/drawingml/2006/main">
            <a:pPr>
              <a:defRPr sz="2475" b="0">
                <a:solidFill>
                  <a:srgbClr val="233746"/>
                </a:solidFill>
                <a:latin typeface="Arial"/>
                <a:ea typeface="Arial"/>
                <a:cs typeface="Arial"/>
              </a:defRPr>
            </a:pPr>
            <a:r>
              <a:rPr sz="2475" b="0">
                <a:solidFill>
                  <a:srgbClr val="233746"/>
                </a:solidFill>
                <a:latin typeface="Arial"/>
                <a:ea typeface="Arial"/>
                <a:cs typeface="Arial"/>
              </a:rPr>
              <a:t>Vibración alta</a:t>
            </a:r>
          </a:p>
        </p:txBody>
      </p:sp>
      <p:sp>
        <p:nvSpPr>
          <p:cNvPr id="15" name="">
            <a:extLst xmlns:a="http://schemas.openxmlformats.org/drawingml/2006/main">
              <a:ext uri="{FF2B5EF4-FFF2-40B4-BE49-F238E27FC236}">
                <a16:creationId xmlns:a16="http://schemas.microsoft.com/office/drawing/2014/main" id="{F45652B8-9C01-4D45-A36E-AC63A27D03D0}"/>
              </a:ext>
            </a:extLst>
          </p:cNvPr>
          <p:cNvSpPr>
            <a:spLocks xmlns:a="http://schemas.openxmlformats.org/drawingml/2006/main" noGrp="1"/>
          </p:cNvSpPr>
          <p:nvPr/>
        </p:nvSpPr>
        <p:spPr>
          <a:xfrm xmlns:a="http://schemas.openxmlformats.org/drawingml/2006/main">
            <a:off x="762000" y="60388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D96B18"/>
                </a:solidFill>
                <a:latin typeface="Arial"/>
                <a:ea typeface="Arial"/>
                <a:cs typeface="Arial"/>
              </a:defRPr>
            </a:pPr>
            <a:r>
              <a:rPr sz="1800" b="1">
                <a:solidFill>
                  <a:srgbClr val="D96B18"/>
                </a:solidFill>
                <a:latin typeface="Arial"/>
                <a:ea typeface="Arial"/>
                <a:cs typeface="Arial"/>
              </a:rPr>
              <a:t>Las observaciones ayudan a revisar la probabilidad de cada causa.</a:t>
            </a:r>
          </a:p>
        </p:txBody>
      </p:sp>
    </p:spTree>
    <p:extLst>
      <p:ext uri="{BB962C8B-B14F-4D97-AF65-F5344CB8AC3E}">
        <p14:creationId xmlns:p14="http://schemas.microsoft.com/office/powerpoint/2010/main" val="172189652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Diagnóstico bayesiano · PROVISIONAL</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4</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D96B18"/>
                </a:solidFill>
                <a:latin typeface="Arial"/>
                <a:ea typeface="Arial"/>
                <a:cs typeface="Arial"/>
              </a:defRPr>
            </a:pPr>
            <a:r>
              <a:rPr sz="3000" b="0">
                <a:solidFill>
                  <a:srgbClr val="D96B18"/>
                </a:solidFill>
                <a:latin typeface="Arial"/>
                <a:ea typeface="Arial"/>
                <a:cs typeface="Arial"/>
              </a:rPr>
              <a:t>Probabilidad y pertenencia fuzzy</a:t>
            </a:r>
          </a:p>
        </p:txBody>
      </p:sp>
      <p:sp>
        <p:nvSpPr>
          <p:cNvPr id="9" name="">
            <a:extLst xmlns:a="http://schemas.openxmlformats.org/drawingml/2006/main">
              <a:ext uri="{FF2B5EF4-FFF2-40B4-BE49-F238E27FC236}">
                <a16:creationId xmlns:a16="http://schemas.microsoft.com/office/drawing/2014/main" id="{BF7599BB-6444-46AF-865B-C8848F8CC91F}"/>
              </a:ext>
            </a:extLst>
          </p:cNvPr>
          <p:cNvSpPr>
            <a:spLocks xmlns:a="http://schemas.openxmlformats.org/drawingml/2006/main" noGrp="1"/>
          </p:cNvSpPr>
          <p:nvPr/>
        </p:nvSpPr>
        <p:spPr>
          <a:xfrm xmlns:a="http://schemas.openxmlformats.org/drawingml/2006/main">
            <a:off x="762000" y="13811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2162A0"/>
                </a:solidFill>
                <a:latin typeface="Arial"/>
                <a:ea typeface="Arial"/>
                <a:cs typeface="Arial"/>
              </a:defRPr>
            </a:pPr>
            <a:r>
              <a:rPr sz="1500" b="1">
                <a:solidFill>
                  <a:srgbClr val="2162A0"/>
                </a:solidFill>
                <a:latin typeface="Arial"/>
                <a:ea typeface="Arial"/>
                <a:cs typeface="Arial"/>
              </a:rPr>
              <a:t>CONCEPTOS NECESARIOS</a:t>
            </a:r>
          </a:p>
        </p:txBody>
      </p:sp>
      <p:sp>
        <p:nvSpPr>
          <p:cNvPr id="10" name="">
            <a:extLst xmlns:a="http://schemas.openxmlformats.org/drawingml/2006/main">
              <a:ext uri="{FF2B5EF4-FFF2-40B4-BE49-F238E27FC236}">
                <a16:creationId xmlns:a16="http://schemas.microsoft.com/office/drawing/2014/main" id="{170469CD-E8D1-46EC-9053-FF7176DDD290}"/>
              </a:ext>
            </a:extLst>
          </p:cNvPr>
          <p:cNvSpPr>
            <a:spLocks xmlns:a="http://schemas.openxmlformats.org/drawingml/2006/main" noGrp="1"/>
          </p:cNvSpPr>
          <p:nvPr/>
        </p:nvSpPr>
        <p:spPr>
          <a:xfrm xmlns:a="http://schemas.openxmlformats.org/drawingml/2006/main">
            <a:off x="762000" y="1724025"/>
            <a:ext cx="10668000" cy="28575"/>
          </a:xfrm>
          <a:prstGeom xmlns:a="http://schemas.openxmlformats.org/drawingml/2006/main" prst="rect">
            <a:avLst/>
          </a:prstGeom>
          <a:solidFill xmlns:a="http://schemas.openxmlformats.org/drawingml/2006/main">
            <a:srgbClr val="2162A0"/>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graphicFrame>
        <p:nvGraphicFramePr>
          <p:cNvPr id="22" name=""/>
          <p:cNvGraphicFramePr/>
          <p:nvPr/>
        </p:nvGraphicFramePr>
        <p:xfrm>
          <a:off xmlns:a="http://schemas.openxmlformats.org/drawingml/2006/main" x="762000" y="2171700"/>
          <a:ext xmlns:a="http://schemas.openxmlformats.org/drawingml/2006/main" cx="10668000" cy="2762250"/>
        </p:xfrm>
        <a:graphic xmlns:a="http://schemas.openxmlformats.org/drawingml/2006/main">
          <a:graphicData uri="http://schemas.openxmlformats.org/drawingml/2006/table">
            <a:tbl>
              <a:tblPr/>
              <a:tblGrid>
                <a:gridCol w="5334000"/>
                <a:gridCol w="5334000"/>
              </a:tblGrid>
              <a:tr h="920750">
                <a:tc>
                  <a:txBody>
                    <a:bodyPr lIns="95250" tIns="76200" rIns="95250" bIns="76200"/>
                    <a:lstStyle/>
                    <a:p>
                      <a:pPr algn="ctr">
                        <a:buNone/>
                      </a:pPr>
                      <a:r>
                        <a:rPr sz="2175" b="1">
                          <a:solidFill>
                            <a:srgbClr val="2162A0"/>
                          </a:solidFill>
                          <a:latin typeface="Arial"/>
                          <a:ea typeface="Arial"/>
                          <a:cs typeface="Arial"/>
                        </a:rPr>
                        <a:t>Fuzzy</a:t>
                      </a:r>
                    </a:p>
                  </a:txBody>
                  <a:tcPr marL="91440" marR="91440" marT="45720" marB="45720" anchor="ctr">
                    <a:solidFill>
                      <a:srgbClr val="E8EFF5"/>
                    </a:solidFill>
                  </a:tcPr>
                </a:tc>
                <a:tc>
                  <a:txBody>
                    <a:bodyPr lIns="95250" tIns="76200" rIns="95250" bIns="76200"/>
                    <a:lstStyle/>
                    <a:p>
                      <a:pPr algn="ctr">
                        <a:buNone/>
                      </a:pPr>
                      <a:r>
                        <a:rPr sz="2175" b="1">
                          <a:solidFill>
                            <a:srgbClr val="2162A0"/>
                          </a:solidFill>
                          <a:latin typeface="Arial"/>
                          <a:ea typeface="Arial"/>
                          <a:cs typeface="Arial"/>
                        </a:rPr>
                        <a:t>Bayesiano</a:t>
                      </a:r>
                    </a:p>
                  </a:txBody>
                  <a:tcPr marL="91440" marR="91440" marT="45720" marB="45720" anchor="ctr">
                    <a:solidFill>
                      <a:srgbClr val="E8EFF5"/>
                    </a:solidFill>
                  </a:tcPr>
                </a:tc>
              </a:tr>
              <a:tr h="920750">
                <a:tc>
                  <a:txBody>
                    <a:bodyPr lIns="95250" tIns="76200" rIns="95250" bIns="76200"/>
                    <a:lstStyle/>
                    <a:p>
                      <a:pPr algn="ctr">
                        <a:buNone/>
                      </a:pPr>
                      <a:r>
                        <a:rPr sz="2175" b="0">
                          <a:solidFill>
                            <a:srgbClr val="233746"/>
                          </a:solidFill>
                          <a:latin typeface="Arial"/>
                          <a:ea typeface="Arial"/>
                          <a:cs typeface="Arial"/>
                        </a:rPr>
                        <a:t>¿En qué grado encaja</a:t>
                      </a:r>
                    </a:p>
                    <a:p>
                      <a:pPr algn="ctr">
                        <a:buNone/>
                      </a:pPr>
                      <a:r>
                        <a:rPr sz="2175" b="0">
                          <a:solidFill>
                            <a:srgbClr val="233746"/>
                          </a:solidFill>
                          <a:latin typeface="Arial"/>
                          <a:ea typeface="Arial"/>
                          <a:cs typeface="Arial"/>
                        </a:rPr>
                        <a:t>«temperatura alta»?</a:t>
                      </a:r>
                    </a:p>
                  </a:txBody>
                  <a:tcPr marL="91440" marR="91440" marT="45720" marB="45720" anchor="ctr">
                    <a:solidFill>
                      <a:srgbClr val="FFFFFF"/>
                    </a:solidFill>
                  </a:tcPr>
                </a:tc>
                <a:tc>
                  <a:txBody>
                    <a:bodyPr lIns="95250" tIns="76200" rIns="95250" bIns="76200"/>
                    <a:lstStyle/>
                    <a:p>
                      <a:pPr algn="ctr">
                        <a:buNone/>
                      </a:pPr>
                      <a:r>
                        <a:rPr sz="2175" b="0">
                          <a:solidFill>
                            <a:srgbClr val="233746"/>
                          </a:solidFill>
                          <a:latin typeface="Arial"/>
                          <a:ea typeface="Arial"/>
                          <a:cs typeface="Arial"/>
                        </a:rPr>
                        <a:t>¿Qué probabilidad tiene</a:t>
                      </a:r>
                    </a:p>
                    <a:p>
                      <a:pPr algn="ctr">
                        <a:buNone/>
                      </a:pPr>
                      <a:r>
                        <a:rPr sz="2175" b="0">
                          <a:solidFill>
                            <a:srgbClr val="233746"/>
                          </a:solidFill>
                          <a:latin typeface="Arial"/>
                          <a:ea typeface="Arial"/>
                          <a:cs typeface="Arial"/>
                        </a:rPr>
                        <a:t>una avería, dada la evidencia?</a:t>
                      </a:r>
                    </a:p>
                  </a:txBody>
                  <a:tcPr marL="91440" marR="91440" marT="45720" marB="45720" anchor="ctr">
                    <a:solidFill>
                      <a:srgbClr val="FFFFFF"/>
                    </a:solidFill>
                  </a:tcPr>
                </a:tc>
              </a:tr>
              <a:tr h="920750">
                <a:tc>
                  <a:txBody>
                    <a:bodyPr lIns="95250" tIns="76200" rIns="95250" bIns="76200"/>
                    <a:lstStyle/>
                    <a:p>
                      <a:pPr algn="ctr">
                        <a:buNone/>
                      </a:pPr>
                      <a:r>
                        <a:rPr sz="2175" b="0">
                          <a:solidFill>
                            <a:srgbClr val="233746"/>
                          </a:solidFill>
                          <a:latin typeface="Arial"/>
                          <a:ea typeface="Arial"/>
                          <a:cs typeface="Arial"/>
                        </a:rPr>
                        <a:t>μalta(temperatura) = 0,8</a:t>
                      </a:r>
                    </a:p>
                  </a:txBody>
                  <a:tcPr marL="91440" marR="91440" marT="45720" marB="45720" anchor="ctr">
                    <a:solidFill>
                      <a:srgbClr val="F5F7F9"/>
                    </a:solidFill>
                  </a:tcPr>
                </a:tc>
                <a:tc>
                  <a:txBody>
                    <a:bodyPr lIns="95250" tIns="76200" rIns="95250" bIns="76200"/>
                    <a:lstStyle/>
                    <a:p>
                      <a:pPr algn="ctr">
                        <a:buNone/>
                      </a:pPr>
                      <a:r>
                        <a:rPr sz="2175" b="0">
                          <a:solidFill>
                            <a:srgbClr val="233746"/>
                          </a:solidFill>
                          <a:latin typeface="Arial"/>
                          <a:ea typeface="Arial"/>
                          <a:cs typeface="Arial"/>
                        </a:rPr>
                        <a:t>P(avería | observaciones) = 0,8</a:t>
                      </a:r>
                    </a:p>
                  </a:txBody>
                  <a:tcPr marL="91440" marR="91440" marT="45720" marB="45720" anchor="ctr">
                    <a:solidFill>
                      <a:srgbClr val="F5F7F9"/>
                    </a:solidFill>
                  </a:tcPr>
                </a:tc>
              </a:tr>
            </a:tbl>
          </a:graphicData>
        </a:graphic>
      </p:graphicFrame>
      <p:sp>
        <p:nvSpPr>
          <p:cNvPr id="12" name="">
            <a:extLst xmlns:a="http://schemas.openxmlformats.org/drawingml/2006/main">
              <a:ext uri="{FF2B5EF4-FFF2-40B4-BE49-F238E27FC236}">
                <a16:creationId xmlns:a16="http://schemas.microsoft.com/office/drawing/2014/main" id="{78F9EBB9-0F61-4E78-BDF0-03B221E72BF7}"/>
              </a:ext>
            </a:extLst>
          </p:cNvPr>
          <p:cNvSpPr>
            <a:spLocks xmlns:a="http://schemas.openxmlformats.org/drawingml/2006/main" noGrp="1"/>
          </p:cNvSpPr>
          <p:nvPr/>
        </p:nvSpPr>
        <p:spPr>
          <a:xfrm xmlns:a="http://schemas.openxmlformats.org/drawingml/2006/main">
            <a:off x="762000" y="60102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Un grado de pertenencia y una probabilidad tienen significados distintos.</a:t>
            </a:r>
          </a:p>
        </p:txBody>
      </p:sp>
    </p:spTree>
    <p:extLst>
      <p:ext uri="{BB962C8B-B14F-4D97-AF65-F5344CB8AC3E}">
        <p14:creationId xmlns:p14="http://schemas.microsoft.com/office/powerpoint/2010/main" val="172189652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Diagnóstico bayesiano · PROVISIONAL</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5</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D96B18"/>
                </a:solidFill>
                <a:latin typeface="Arial"/>
                <a:ea typeface="Arial"/>
                <a:cs typeface="Arial"/>
              </a:defRPr>
            </a:pPr>
            <a:r>
              <a:rPr sz="3000" b="0">
                <a:solidFill>
                  <a:srgbClr val="D96B18"/>
                </a:solidFill>
                <a:latin typeface="Arial"/>
                <a:ea typeface="Arial"/>
                <a:cs typeface="Arial"/>
              </a:rPr>
              <a:t>Qué entra y qué sale de la aplicación</a:t>
            </a:r>
          </a:p>
        </p:txBody>
      </p:sp>
      <p:sp>
        <p:nvSpPr>
          <p:cNvPr id="9" name="">
            <a:extLst xmlns:a="http://schemas.openxmlformats.org/drawingml/2006/main">
              <a:ext uri="{FF2B5EF4-FFF2-40B4-BE49-F238E27FC236}">
                <a16:creationId xmlns:a16="http://schemas.microsoft.com/office/drawing/2014/main" id="{AD7B91AF-A733-40F9-9509-82491707C1A5}"/>
              </a:ext>
            </a:extLst>
          </p:cNvPr>
          <p:cNvSpPr>
            <a:spLocks xmlns:a="http://schemas.openxmlformats.org/drawingml/2006/main" noGrp="1"/>
          </p:cNvSpPr>
          <p:nvPr/>
        </p:nvSpPr>
        <p:spPr>
          <a:xfrm xmlns:a="http://schemas.openxmlformats.org/drawingml/2006/main">
            <a:off x="762000" y="13811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2162A0"/>
                </a:solidFill>
                <a:latin typeface="Arial"/>
                <a:ea typeface="Arial"/>
                <a:cs typeface="Arial"/>
              </a:defRPr>
            </a:pPr>
            <a:r>
              <a:rPr sz="1500" b="1">
                <a:solidFill>
                  <a:srgbClr val="2162A0"/>
                </a:solidFill>
                <a:latin typeface="Arial"/>
                <a:ea typeface="Arial"/>
                <a:cs typeface="Arial"/>
              </a:rPr>
              <a:t>CONCEPTOS NECESARIOS</a:t>
            </a:r>
          </a:p>
        </p:txBody>
      </p:sp>
      <p:sp>
        <p:nvSpPr>
          <p:cNvPr id="10" name="">
            <a:extLst xmlns:a="http://schemas.openxmlformats.org/drawingml/2006/main">
              <a:ext uri="{FF2B5EF4-FFF2-40B4-BE49-F238E27FC236}">
                <a16:creationId xmlns:a16="http://schemas.microsoft.com/office/drawing/2014/main" id="{0B050EBB-840F-4EDC-AD83-A14A56BE00CA}"/>
              </a:ext>
            </a:extLst>
          </p:cNvPr>
          <p:cNvSpPr>
            <a:spLocks xmlns:a="http://schemas.openxmlformats.org/drawingml/2006/main" noGrp="1"/>
          </p:cNvSpPr>
          <p:nvPr/>
        </p:nvSpPr>
        <p:spPr>
          <a:xfrm xmlns:a="http://schemas.openxmlformats.org/drawingml/2006/main">
            <a:off x="762000" y="1724025"/>
            <a:ext cx="10668000" cy="28575"/>
          </a:xfrm>
          <a:prstGeom xmlns:a="http://schemas.openxmlformats.org/drawingml/2006/main" prst="rect">
            <a:avLst/>
          </a:prstGeom>
          <a:solidFill xmlns:a="http://schemas.openxmlformats.org/drawingml/2006/main">
            <a:srgbClr val="2162A0"/>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B0060F07-26CE-4CC6-B618-F470B8FFAA3C}"/>
              </a:ext>
            </a:extLst>
          </p:cNvPr>
          <p:cNvSpPr>
            <a:spLocks xmlns:a="http://schemas.openxmlformats.org/drawingml/2006/main" noGrp="1"/>
          </p:cNvSpPr>
          <p:nvPr/>
        </p:nvSpPr>
        <p:spPr>
          <a:xfrm xmlns:a="http://schemas.openxmlformats.org/drawingml/2006/main">
            <a:off x="762000" y="2590800"/>
            <a:ext cx="2238375" cy="1190625"/>
          </a:xfrm>
          <a:prstGeom xmlns:a="http://schemas.openxmlformats.org/drawingml/2006/main" prst="rect">
            <a:avLst/>
          </a:prstGeom>
          <a:solidFill xmlns:a="http://schemas.openxmlformats.org/drawingml/2006/main">
            <a:srgbClr val="FFFFFF"/>
          </a:solidFill>
          <a:ln xmlns:a="http://schemas.openxmlformats.org/drawingml/2006/main" w="19050">
            <a:solidFill>
              <a:srgbClr val="7950A0"/>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2025">
                <a:solidFill>
                  <a:srgbClr val="233746"/>
                </a:solidFill>
                <a:latin typeface="Arial"/>
                <a:ea typeface="Arial"/>
                <a:cs typeface="Arial"/>
              </a:defRPr>
            </a:pPr>
            <a:r>
              <a:rPr sz="2025">
                <a:solidFill>
                  <a:srgbClr val="233746"/>
                </a:solidFill>
                <a:latin typeface="Arial"/>
                <a:ea typeface="Arial"/>
                <a:cs typeface="Arial"/>
              </a:rPr>
              <a:t>Observaciones</a:t>
            </a:r>
          </a:p>
          <a:p xmlns:a="http://schemas.openxmlformats.org/drawingml/2006/main">
            <a:pPr algn="ctr">
              <a:buNone/>
              <a:defRPr sz="2025">
                <a:solidFill>
                  <a:srgbClr val="233746"/>
                </a:solidFill>
                <a:latin typeface="Arial"/>
                <a:ea typeface="Arial"/>
                <a:cs typeface="Arial"/>
              </a:defRPr>
            </a:pPr>
            <a:r>
              <a:rPr sz="2025">
                <a:solidFill>
                  <a:srgbClr val="233746"/>
                </a:solidFill>
                <a:latin typeface="Arial"/>
                <a:ea typeface="Arial"/>
                <a:cs typeface="Arial"/>
              </a:rPr>
              <a:t>del usuario</a:t>
            </a:r>
          </a:p>
        </p:txBody>
      </p:sp>
      <p:sp>
        <p:nvSpPr>
          <p:cNvPr id="12" name="">
            <a:extLst xmlns:a="http://schemas.openxmlformats.org/drawingml/2006/main">
              <a:ext uri="{FF2B5EF4-FFF2-40B4-BE49-F238E27FC236}">
                <a16:creationId xmlns:a16="http://schemas.microsoft.com/office/drawing/2014/main" id="{A0952FF6-1AA3-46D6-9FE5-DBC961CB4DDD}"/>
              </a:ext>
            </a:extLst>
          </p:cNvPr>
          <p:cNvSpPr>
            <a:spLocks xmlns:a="http://schemas.openxmlformats.org/drawingml/2006/main" noGrp="1"/>
          </p:cNvSpPr>
          <p:nvPr/>
        </p:nvSpPr>
        <p:spPr>
          <a:xfrm xmlns:a="http://schemas.openxmlformats.org/drawingml/2006/main">
            <a:off x="4143375" y="2590800"/>
            <a:ext cx="2667000" cy="1190625"/>
          </a:xfrm>
          <a:prstGeom xmlns:a="http://schemas.openxmlformats.org/drawingml/2006/main" prst="rect">
            <a:avLst/>
          </a:prstGeom>
          <a:solidFill xmlns:a="http://schemas.openxmlformats.org/drawingml/2006/main">
            <a:srgbClr val="FFFFFF"/>
          </a:solidFill>
          <a:ln xmlns:a="http://schemas.openxmlformats.org/drawingml/2006/main" w="19050">
            <a:solidFill>
              <a:srgbClr val="7950A0"/>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2025">
                <a:solidFill>
                  <a:srgbClr val="233746"/>
                </a:solidFill>
                <a:latin typeface="Arial"/>
                <a:ea typeface="Arial"/>
                <a:cs typeface="Arial"/>
              </a:defRPr>
            </a:pPr>
            <a:r>
              <a:rPr sz="2025">
                <a:solidFill>
                  <a:srgbClr val="233746"/>
                </a:solidFill>
                <a:latin typeface="Arial"/>
                <a:ea typeface="Arial"/>
                <a:cs typeface="Arial"/>
              </a:rPr>
              <a:t>Motor de</a:t>
            </a:r>
          </a:p>
          <a:p xmlns:a="http://schemas.openxmlformats.org/drawingml/2006/main">
            <a:pPr algn="ctr">
              <a:buNone/>
              <a:defRPr sz="2025">
                <a:solidFill>
                  <a:srgbClr val="233746"/>
                </a:solidFill>
                <a:latin typeface="Arial"/>
                <a:ea typeface="Arial"/>
                <a:cs typeface="Arial"/>
              </a:defRPr>
            </a:pPr>
            <a:r>
              <a:rPr sz="2025">
                <a:solidFill>
                  <a:srgbClr val="233746"/>
                </a:solidFill>
                <a:latin typeface="Arial"/>
                <a:ea typeface="Arial"/>
                <a:cs typeface="Arial"/>
              </a:rPr>
              <a:t>inferencia</a:t>
            </a:r>
          </a:p>
        </p:txBody>
      </p:sp>
      <p:sp>
        <p:nvSpPr>
          <p:cNvPr id="13" name="">
            <a:extLst xmlns:a="http://schemas.openxmlformats.org/drawingml/2006/main">
              <a:ext uri="{FF2B5EF4-FFF2-40B4-BE49-F238E27FC236}">
                <a16:creationId xmlns:a16="http://schemas.microsoft.com/office/drawing/2014/main" id="{C7B6B347-6749-41E8-9425-D28151D4F137}"/>
              </a:ext>
            </a:extLst>
          </p:cNvPr>
          <p:cNvSpPr>
            <a:spLocks xmlns:a="http://schemas.openxmlformats.org/drawingml/2006/main" noGrp="1"/>
          </p:cNvSpPr>
          <p:nvPr/>
        </p:nvSpPr>
        <p:spPr>
          <a:xfrm xmlns:a="http://schemas.openxmlformats.org/drawingml/2006/main">
            <a:off x="8001000" y="2590800"/>
            <a:ext cx="3381375" cy="1190625"/>
          </a:xfrm>
          <a:prstGeom xmlns:a="http://schemas.openxmlformats.org/drawingml/2006/main" prst="rect">
            <a:avLst/>
          </a:prstGeom>
          <a:solidFill xmlns:a="http://schemas.openxmlformats.org/drawingml/2006/main">
            <a:srgbClr val="FFFFFF"/>
          </a:solidFill>
          <a:ln xmlns:a="http://schemas.openxmlformats.org/drawingml/2006/main" w="19050">
            <a:solidFill>
              <a:srgbClr val="7950A0"/>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2025">
                <a:solidFill>
                  <a:srgbClr val="233746"/>
                </a:solidFill>
                <a:latin typeface="Arial"/>
                <a:ea typeface="Arial"/>
                <a:cs typeface="Arial"/>
              </a:defRPr>
            </a:pPr>
            <a:r>
              <a:rPr sz="2025">
                <a:solidFill>
                  <a:srgbClr val="233746"/>
                </a:solidFill>
                <a:latin typeface="Arial"/>
                <a:ea typeface="Arial"/>
                <a:cs typeface="Arial"/>
              </a:rPr>
              <a:t>Probabilidades</a:t>
            </a:r>
          </a:p>
          <a:p xmlns:a="http://schemas.openxmlformats.org/drawingml/2006/main">
            <a:pPr algn="ctr">
              <a:buNone/>
              <a:defRPr sz="2025">
                <a:solidFill>
                  <a:srgbClr val="233746"/>
                </a:solidFill>
                <a:latin typeface="Arial"/>
                <a:ea typeface="Arial"/>
                <a:cs typeface="Arial"/>
              </a:defRPr>
            </a:pPr>
            <a:r>
              <a:rPr sz="2025">
                <a:solidFill>
                  <a:srgbClr val="233746"/>
                </a:solidFill>
                <a:latin typeface="Arial"/>
                <a:ea typeface="Arial"/>
                <a:cs typeface="Arial"/>
              </a:rPr>
              <a:t>de las hipótesis</a:t>
            </a:r>
          </a:p>
        </p:txBody>
      </p:sp>
      <p:cxnSp>
        <p:nvCxnSpPr>
          <p:cNvPr id="55" name=""/>
          <p:cNvCxnSpPr>
            <a:stCxn xmlns:a="http://schemas.openxmlformats.org/drawingml/2006/main" id="11" idx="3"/>
            <a:endCxn xmlns:a="http://schemas.openxmlformats.org/drawingml/2006/main" id="12" idx="1"/>
          </p:cNvCxnSpPr>
          <p:nvPr/>
        </p:nvCxnSpPr>
        <p:spPr>
          <a:xfrm xmlns:a="http://schemas.openxmlformats.org/drawingml/2006/main">
            <a:off x="3000375" y="3186113"/>
            <a:ext cx="1143000" cy="0"/>
          </a:xfrm>
          <a:prstGeom xmlns:a="http://schemas.openxmlformats.org/drawingml/2006/main" prst="straightConnector1">
            <a:avLst/>
          </a:prstGeom>
          <a:ln xmlns:a="http://schemas.openxmlformats.org/drawingml/2006/main" w="19050">
            <a:solidFill>
              <a:srgbClr val="2162A0"/>
            </a:solidFill>
            <a:prstDash val="solid"/>
            <a:tailEnd type="arrow" w="med" len="med"/>
          </a:ln>
        </p:spPr>
      </p:cxnSp>
      <p:cxnSp>
        <p:nvCxnSpPr>
          <p:cNvPr id="56" name=""/>
          <p:cNvCxnSpPr>
            <a:stCxn xmlns:a="http://schemas.openxmlformats.org/drawingml/2006/main" id="12" idx="3"/>
            <a:endCxn xmlns:a="http://schemas.openxmlformats.org/drawingml/2006/main" id="13" idx="1"/>
          </p:cNvCxnSpPr>
          <p:nvPr/>
        </p:nvCxnSpPr>
        <p:spPr>
          <a:xfrm xmlns:a="http://schemas.openxmlformats.org/drawingml/2006/main">
            <a:off x="6810375" y="3186113"/>
            <a:ext cx="1190625" cy="0"/>
          </a:xfrm>
          <a:prstGeom xmlns:a="http://schemas.openxmlformats.org/drawingml/2006/main" prst="straightConnector1">
            <a:avLst/>
          </a:prstGeom>
          <a:ln xmlns:a="http://schemas.openxmlformats.org/drawingml/2006/main" w="19050">
            <a:solidFill>
              <a:srgbClr val="2162A0"/>
            </a:solidFill>
            <a:prstDash val="solid"/>
            <a:tailEnd type="arrow" w="med" len="med"/>
          </a:ln>
        </p:spPr>
      </p:cxnSp>
      <p:sp>
        <p:nvSpPr>
          <p:cNvPr id="16" name="">
            <a:extLst xmlns:a="http://schemas.openxmlformats.org/drawingml/2006/main">
              <a:ext uri="{FF2B5EF4-FFF2-40B4-BE49-F238E27FC236}">
                <a16:creationId xmlns:a16="http://schemas.microsoft.com/office/drawing/2014/main" id="{D6BE13A0-2A13-4441-985A-EBE43E30E77A}"/>
              </a:ext>
            </a:extLst>
          </p:cNvPr>
          <p:cNvSpPr>
            <a:spLocks xmlns:a="http://schemas.openxmlformats.org/drawingml/2006/main" noGrp="1"/>
          </p:cNvSpPr>
          <p:nvPr/>
        </p:nvSpPr>
        <p:spPr>
          <a:xfrm xmlns:a="http://schemas.openxmlformats.org/drawingml/2006/main">
            <a:off x="762000" y="445770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75" b="0">
                <a:solidFill>
                  <a:srgbClr val="233746"/>
                </a:solidFill>
                <a:latin typeface="Arial"/>
                <a:ea typeface="Arial"/>
                <a:cs typeface="Arial"/>
              </a:defRPr>
            </a:pPr>
            <a:r>
              <a:rPr sz="2475" b="0">
                <a:solidFill>
                  <a:srgbClr val="233746"/>
                </a:solidFill>
                <a:latin typeface="Arial"/>
                <a:ea typeface="Arial"/>
                <a:cs typeface="Arial"/>
              </a:rPr>
              <a:t>La red y sus tablas constituyen el conocimiento del modelo.</a:t>
            </a:r>
          </a:p>
        </p:txBody>
      </p:sp>
      <p:sp>
        <p:nvSpPr>
          <p:cNvPr id="17" name="">
            <a:extLst xmlns:a="http://schemas.openxmlformats.org/drawingml/2006/main">
              <a:ext uri="{FF2B5EF4-FFF2-40B4-BE49-F238E27FC236}">
                <a16:creationId xmlns:a16="http://schemas.microsoft.com/office/drawing/2014/main" id="{BBFE67F5-42E1-45A5-AE91-AC33336B9158}"/>
              </a:ext>
            </a:extLst>
          </p:cNvPr>
          <p:cNvSpPr>
            <a:spLocks xmlns:a="http://schemas.openxmlformats.org/drawingml/2006/main" noGrp="1"/>
          </p:cNvSpPr>
          <p:nvPr/>
        </p:nvSpPr>
        <p:spPr>
          <a:xfrm xmlns:a="http://schemas.openxmlformats.org/drawingml/2006/main">
            <a:off x="762000" y="60102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La interfaz recoge evidencias y muestra el resultado de la inferencia.</a:t>
            </a:r>
          </a:p>
        </p:txBody>
      </p:sp>
    </p:spTree>
    <p:extLst>
      <p:ext uri="{BB962C8B-B14F-4D97-AF65-F5344CB8AC3E}">
        <p14:creationId xmlns:p14="http://schemas.microsoft.com/office/powerpoint/2010/main" val="172189652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Diagnóstico bayesiano · PROVISIONAL</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6</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D96B18"/>
                </a:solidFill>
                <a:latin typeface="Arial"/>
                <a:ea typeface="Arial"/>
                <a:cs typeface="Arial"/>
              </a:defRPr>
            </a:pPr>
            <a:r>
              <a:rPr sz="3000" b="0">
                <a:solidFill>
                  <a:srgbClr val="D96B18"/>
                </a:solidFill>
                <a:latin typeface="Arial"/>
                <a:ea typeface="Arial"/>
                <a:cs typeface="Arial"/>
              </a:rPr>
              <a:t>Tres términos que usaremos</a:t>
            </a:r>
          </a:p>
        </p:txBody>
      </p:sp>
      <p:sp>
        <p:nvSpPr>
          <p:cNvPr id="9" name="">
            <a:extLst xmlns:a="http://schemas.openxmlformats.org/drawingml/2006/main">
              <a:ext uri="{FF2B5EF4-FFF2-40B4-BE49-F238E27FC236}">
                <a16:creationId xmlns:a16="http://schemas.microsoft.com/office/drawing/2014/main" id="{EDD787C6-D8AB-4758-9E17-D6FCFF2E3184}"/>
              </a:ext>
            </a:extLst>
          </p:cNvPr>
          <p:cNvSpPr>
            <a:spLocks xmlns:a="http://schemas.openxmlformats.org/drawingml/2006/main" noGrp="1"/>
          </p:cNvSpPr>
          <p:nvPr/>
        </p:nvSpPr>
        <p:spPr>
          <a:xfrm xmlns:a="http://schemas.openxmlformats.org/drawingml/2006/main">
            <a:off x="762000" y="13811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2162A0"/>
                </a:solidFill>
                <a:latin typeface="Arial"/>
                <a:ea typeface="Arial"/>
                <a:cs typeface="Arial"/>
              </a:defRPr>
            </a:pPr>
            <a:r>
              <a:rPr sz="1500" b="1">
                <a:solidFill>
                  <a:srgbClr val="2162A0"/>
                </a:solidFill>
                <a:latin typeface="Arial"/>
                <a:ea typeface="Arial"/>
                <a:cs typeface="Arial"/>
              </a:rPr>
              <a:t>CONCEPTOS NECESARIOS</a:t>
            </a:r>
          </a:p>
        </p:txBody>
      </p:sp>
      <p:sp>
        <p:nvSpPr>
          <p:cNvPr id="10" name="">
            <a:extLst xmlns:a="http://schemas.openxmlformats.org/drawingml/2006/main">
              <a:ext uri="{FF2B5EF4-FFF2-40B4-BE49-F238E27FC236}">
                <a16:creationId xmlns:a16="http://schemas.microsoft.com/office/drawing/2014/main" id="{0000AF60-3059-4236-94B7-FA3197E993C4}"/>
              </a:ext>
            </a:extLst>
          </p:cNvPr>
          <p:cNvSpPr>
            <a:spLocks xmlns:a="http://schemas.openxmlformats.org/drawingml/2006/main" noGrp="1"/>
          </p:cNvSpPr>
          <p:nvPr/>
        </p:nvSpPr>
        <p:spPr>
          <a:xfrm xmlns:a="http://schemas.openxmlformats.org/drawingml/2006/main">
            <a:off x="762000" y="1724025"/>
            <a:ext cx="10668000" cy="28575"/>
          </a:xfrm>
          <a:prstGeom xmlns:a="http://schemas.openxmlformats.org/drawingml/2006/main" prst="rect">
            <a:avLst/>
          </a:prstGeom>
          <a:solidFill xmlns:a="http://schemas.openxmlformats.org/drawingml/2006/main">
            <a:srgbClr val="2162A0"/>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5F6E2F4A-2AEA-4659-B5F6-96356A25E6F3}"/>
              </a:ext>
            </a:extLst>
          </p:cNvPr>
          <p:cNvSpPr>
            <a:spLocks xmlns:a="http://schemas.openxmlformats.org/drawingml/2006/main" noGrp="1"/>
          </p:cNvSpPr>
          <p:nvPr/>
        </p:nvSpPr>
        <p:spPr>
          <a:xfrm xmlns:a="http://schemas.openxmlformats.org/drawingml/2006/main">
            <a:off x="762000" y="198120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D96B18"/>
                </a:solidFill>
                <a:latin typeface="Arial"/>
                <a:ea typeface="Arial"/>
                <a:cs typeface="Arial"/>
              </a:defRPr>
            </a:pPr>
            <a:r>
              <a:rPr sz="2250" b="1">
                <a:solidFill>
                  <a:srgbClr val="D96B18"/>
                </a:solidFill>
                <a:latin typeface="Arial"/>
                <a:ea typeface="Arial"/>
                <a:cs typeface="Arial"/>
              </a:rPr>
              <a:t>Hipótesis</a:t>
            </a:r>
          </a:p>
        </p:txBody>
      </p:sp>
      <p:sp>
        <p:nvSpPr>
          <p:cNvPr id="12" name="">
            <a:extLst xmlns:a="http://schemas.openxmlformats.org/drawingml/2006/main">
              <a:ext uri="{FF2B5EF4-FFF2-40B4-BE49-F238E27FC236}">
                <a16:creationId xmlns:a16="http://schemas.microsoft.com/office/drawing/2014/main" id="{97978EC7-CAA1-49F5-BAE8-266CF2CDF46B}"/>
              </a:ext>
            </a:extLst>
          </p:cNvPr>
          <p:cNvSpPr>
            <a:spLocks xmlns:a="http://schemas.openxmlformats.org/drawingml/2006/main" noGrp="1"/>
          </p:cNvSpPr>
          <p:nvPr/>
        </p:nvSpPr>
        <p:spPr>
          <a:xfrm xmlns:a="http://schemas.openxmlformats.org/drawingml/2006/main">
            <a:off x="762000" y="24193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Lo que queremos averiguar: la causa principal H.</a:t>
            </a:r>
          </a:p>
        </p:txBody>
      </p:sp>
      <p:sp>
        <p:nvSpPr>
          <p:cNvPr id="13" name="">
            <a:extLst xmlns:a="http://schemas.openxmlformats.org/drawingml/2006/main">
              <a:ext uri="{FF2B5EF4-FFF2-40B4-BE49-F238E27FC236}">
                <a16:creationId xmlns:a16="http://schemas.microsoft.com/office/drawing/2014/main" id="{FC30A690-A85A-4777-A6C6-568B4E4B2133}"/>
              </a:ext>
            </a:extLst>
          </p:cNvPr>
          <p:cNvSpPr>
            <a:spLocks xmlns:a="http://schemas.openxmlformats.org/drawingml/2006/main" noGrp="1"/>
          </p:cNvSpPr>
          <p:nvPr/>
        </p:nvSpPr>
        <p:spPr>
          <a:xfrm xmlns:a="http://schemas.openxmlformats.org/drawingml/2006/main">
            <a:off x="762000" y="318135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D96B18"/>
                </a:solidFill>
                <a:latin typeface="Arial"/>
                <a:ea typeface="Arial"/>
                <a:cs typeface="Arial"/>
              </a:defRPr>
            </a:pPr>
            <a:r>
              <a:rPr sz="2250" b="1">
                <a:solidFill>
                  <a:srgbClr val="D96B18"/>
                </a:solidFill>
                <a:latin typeface="Arial"/>
                <a:ea typeface="Arial"/>
                <a:cs typeface="Arial"/>
              </a:rPr>
              <a:t>Evidencia</a:t>
            </a:r>
          </a:p>
        </p:txBody>
      </p:sp>
      <p:sp>
        <p:nvSpPr>
          <p:cNvPr id="14" name="">
            <a:extLst xmlns:a="http://schemas.openxmlformats.org/drawingml/2006/main">
              <a:ext uri="{FF2B5EF4-FFF2-40B4-BE49-F238E27FC236}">
                <a16:creationId xmlns:a16="http://schemas.microsoft.com/office/drawing/2014/main" id="{DB1002E8-0128-480C-9424-EC207EA23585}"/>
              </a:ext>
            </a:extLst>
          </p:cNvPr>
          <p:cNvSpPr>
            <a:spLocks xmlns:a="http://schemas.openxmlformats.org/drawingml/2006/main" noGrp="1"/>
          </p:cNvSpPr>
          <p:nvPr/>
        </p:nvSpPr>
        <p:spPr>
          <a:xfrm xmlns:a="http://schemas.openxmlformats.org/drawingml/2006/main">
            <a:off x="762000" y="36195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Lo que hemos observado: la bomba tiene caudal bajo.</a:t>
            </a:r>
          </a:p>
        </p:txBody>
      </p:sp>
      <p:sp>
        <p:nvSpPr>
          <p:cNvPr id="15" name="">
            <a:extLst xmlns:a="http://schemas.openxmlformats.org/drawingml/2006/main">
              <a:ext uri="{FF2B5EF4-FFF2-40B4-BE49-F238E27FC236}">
                <a16:creationId xmlns:a16="http://schemas.microsoft.com/office/drawing/2014/main" id="{0094AD97-33DD-4268-A742-AAB11C5B52D9}"/>
              </a:ext>
            </a:extLst>
          </p:cNvPr>
          <p:cNvSpPr>
            <a:spLocks xmlns:a="http://schemas.openxmlformats.org/drawingml/2006/main" noGrp="1"/>
          </p:cNvSpPr>
          <p:nvPr/>
        </p:nvSpPr>
        <p:spPr>
          <a:xfrm xmlns:a="http://schemas.openxmlformats.org/drawingml/2006/main">
            <a:off x="762000" y="438150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D96B18"/>
                </a:solidFill>
                <a:latin typeface="Arial"/>
                <a:ea typeface="Arial"/>
                <a:cs typeface="Arial"/>
              </a:defRPr>
            </a:pPr>
            <a:r>
              <a:rPr sz="2250" b="1">
                <a:solidFill>
                  <a:srgbClr val="D96B18"/>
                </a:solidFill>
                <a:latin typeface="Arial"/>
                <a:ea typeface="Arial"/>
                <a:cs typeface="Arial"/>
              </a:rPr>
              <a:t>Posterior</a:t>
            </a:r>
          </a:p>
        </p:txBody>
      </p:sp>
      <p:sp>
        <p:nvSpPr>
          <p:cNvPr id="16" name="">
            <a:extLst xmlns:a="http://schemas.openxmlformats.org/drawingml/2006/main">
              <a:ext uri="{FF2B5EF4-FFF2-40B4-BE49-F238E27FC236}">
                <a16:creationId xmlns:a16="http://schemas.microsoft.com/office/drawing/2014/main" id="{2F5CC86A-BB77-4405-87BB-1A66CC51B657}"/>
              </a:ext>
            </a:extLst>
          </p:cNvPr>
          <p:cNvSpPr>
            <a:spLocks xmlns:a="http://schemas.openxmlformats.org/drawingml/2006/main" noGrp="1"/>
          </p:cNvSpPr>
          <p:nvPr/>
        </p:nvSpPr>
        <p:spPr>
          <a:xfrm xmlns:a="http://schemas.openxmlformats.org/drawingml/2006/main">
            <a:off x="762000" y="48196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La probabilidad de cada hipótesis después de observar.</a:t>
            </a:r>
          </a:p>
        </p:txBody>
      </p:sp>
      <p:sp>
        <p:nvSpPr>
          <p:cNvPr id="17" name="">
            <a:extLst xmlns:a="http://schemas.openxmlformats.org/drawingml/2006/main">
              <a:ext uri="{FF2B5EF4-FFF2-40B4-BE49-F238E27FC236}">
                <a16:creationId xmlns:a16="http://schemas.microsoft.com/office/drawing/2014/main" id="{88C0116A-6705-435C-B792-007EC58C5373}"/>
              </a:ext>
            </a:extLst>
          </p:cNvPr>
          <p:cNvSpPr>
            <a:spLocks xmlns:a="http://schemas.openxmlformats.org/drawingml/2006/main" noGrp="1"/>
          </p:cNvSpPr>
          <p:nvPr/>
        </p:nvSpPr>
        <p:spPr>
          <a:xfrm xmlns:a="http://schemas.openxmlformats.org/drawingml/2006/main">
            <a:off x="762000" y="60102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El diagnóstico es una distribución de probabilidades.</a:t>
            </a:r>
          </a:p>
        </p:txBody>
      </p:sp>
    </p:spTree>
    <p:extLst>
      <p:ext uri="{BB962C8B-B14F-4D97-AF65-F5344CB8AC3E}">
        <p14:creationId xmlns:p14="http://schemas.microsoft.com/office/powerpoint/2010/main" val="172189652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Diagnóstico bayesiano · PROVISIONAL</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7</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D96B18"/>
                </a:solidFill>
                <a:latin typeface="Arial"/>
                <a:ea typeface="Arial"/>
                <a:cs typeface="Arial"/>
              </a:defRPr>
            </a:pPr>
            <a:r>
              <a:rPr sz="3000" b="0">
                <a:solidFill>
                  <a:srgbClr val="D96B18"/>
                </a:solidFill>
                <a:latin typeface="Arial"/>
                <a:ea typeface="Arial"/>
                <a:cs typeface="Arial"/>
              </a:rPr>
              <a:t>Variables y estados del ejemplo</a:t>
            </a:r>
          </a:p>
        </p:txBody>
      </p:sp>
      <p:sp>
        <p:nvSpPr>
          <p:cNvPr id="9" name="">
            <a:extLst xmlns:a="http://schemas.openxmlformats.org/drawingml/2006/main">
              <a:ext uri="{FF2B5EF4-FFF2-40B4-BE49-F238E27FC236}">
                <a16:creationId xmlns:a16="http://schemas.microsoft.com/office/drawing/2014/main" id="{9D21048F-CF36-42C6-BED3-8E5BA7FBF693}"/>
              </a:ext>
            </a:extLst>
          </p:cNvPr>
          <p:cNvSpPr>
            <a:spLocks xmlns:a="http://schemas.openxmlformats.org/drawingml/2006/main" noGrp="1"/>
          </p:cNvSpPr>
          <p:nvPr/>
        </p:nvSpPr>
        <p:spPr>
          <a:xfrm xmlns:a="http://schemas.openxmlformats.org/drawingml/2006/main">
            <a:off x="762000" y="13811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2162A0"/>
                </a:solidFill>
                <a:latin typeface="Arial"/>
                <a:ea typeface="Arial"/>
                <a:cs typeface="Arial"/>
              </a:defRPr>
            </a:pPr>
            <a:r>
              <a:rPr sz="1500" b="1">
                <a:solidFill>
                  <a:srgbClr val="2162A0"/>
                </a:solidFill>
                <a:latin typeface="Arial"/>
                <a:ea typeface="Arial"/>
                <a:cs typeface="Arial"/>
              </a:rPr>
              <a:t>CONCEPTOS NECESARIOS</a:t>
            </a:r>
          </a:p>
        </p:txBody>
      </p:sp>
      <p:sp>
        <p:nvSpPr>
          <p:cNvPr id="10" name="">
            <a:extLst xmlns:a="http://schemas.openxmlformats.org/drawingml/2006/main">
              <a:ext uri="{FF2B5EF4-FFF2-40B4-BE49-F238E27FC236}">
                <a16:creationId xmlns:a16="http://schemas.microsoft.com/office/drawing/2014/main" id="{2E014379-8F35-4127-A10E-F3D409DBD38F}"/>
              </a:ext>
            </a:extLst>
          </p:cNvPr>
          <p:cNvSpPr>
            <a:spLocks xmlns:a="http://schemas.openxmlformats.org/drawingml/2006/main" noGrp="1"/>
          </p:cNvSpPr>
          <p:nvPr/>
        </p:nvSpPr>
        <p:spPr>
          <a:xfrm xmlns:a="http://schemas.openxmlformats.org/drawingml/2006/main">
            <a:off x="762000" y="1724025"/>
            <a:ext cx="10668000" cy="28575"/>
          </a:xfrm>
          <a:prstGeom xmlns:a="http://schemas.openxmlformats.org/drawingml/2006/main" prst="rect">
            <a:avLst/>
          </a:prstGeom>
          <a:solidFill xmlns:a="http://schemas.openxmlformats.org/drawingml/2006/main">
            <a:srgbClr val="2162A0"/>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graphicFrame>
        <p:nvGraphicFramePr>
          <p:cNvPr id="22" name=""/>
          <p:cNvGraphicFramePr/>
          <p:nvPr/>
        </p:nvGraphicFramePr>
        <p:xfrm>
          <a:off xmlns:a="http://schemas.openxmlformats.org/drawingml/2006/main" x="762000" y="2009775"/>
          <a:ext xmlns:a="http://schemas.openxmlformats.org/drawingml/2006/main" cx="10668000" cy="3209925"/>
        </p:xfrm>
        <a:graphic xmlns:a="http://schemas.openxmlformats.org/drawingml/2006/main">
          <a:graphicData uri="http://schemas.openxmlformats.org/drawingml/2006/table">
            <a:tbl>
              <a:tblPr/>
              <a:tblGrid>
                <a:gridCol w="3429000"/>
                <a:gridCol w="4286250"/>
                <a:gridCol w="2952750"/>
              </a:tblGrid>
              <a:tr h="802481">
                <a:tc>
                  <a:txBody>
                    <a:bodyPr lIns="95250" tIns="76200" rIns="95250" bIns="76200"/>
                    <a:lstStyle/>
                    <a:p>
                      <a:pPr algn="ctr">
                        <a:buNone/>
                      </a:pPr>
                      <a:r>
                        <a:rPr sz="2025" b="1">
                          <a:solidFill>
                            <a:srgbClr val="2162A0"/>
                          </a:solidFill>
                          <a:latin typeface="Arial"/>
                          <a:ea typeface="Arial"/>
                          <a:cs typeface="Arial"/>
                        </a:rPr>
                        <a:t>Variable</a:t>
                      </a:r>
                    </a:p>
                  </a:txBody>
                  <a:tcPr marL="91440" marR="91440" marT="45720" marB="45720" anchor="ctr">
                    <a:solidFill>
                      <a:srgbClr val="E8EFF5"/>
                    </a:solidFill>
                  </a:tcPr>
                </a:tc>
                <a:tc>
                  <a:txBody>
                    <a:bodyPr lIns="95250" tIns="76200" rIns="95250" bIns="76200"/>
                    <a:lstStyle/>
                    <a:p>
                      <a:pPr algn="ctr">
                        <a:buNone/>
                      </a:pPr>
                      <a:r>
                        <a:rPr sz="2025" b="1">
                          <a:solidFill>
                            <a:srgbClr val="2162A0"/>
                          </a:solidFill>
                          <a:latin typeface="Arial"/>
                          <a:ea typeface="Arial"/>
                          <a:cs typeface="Arial"/>
                        </a:rPr>
                        <a:t>Estados</a:t>
                      </a:r>
                    </a:p>
                  </a:txBody>
                  <a:tcPr marL="91440" marR="91440" marT="45720" marB="45720" anchor="ctr">
                    <a:solidFill>
                      <a:srgbClr val="E8EFF5"/>
                    </a:solidFill>
                  </a:tcPr>
                </a:tc>
                <a:tc>
                  <a:txBody>
                    <a:bodyPr lIns="95250" tIns="76200" rIns="95250" bIns="76200"/>
                    <a:lstStyle/>
                    <a:p>
                      <a:pPr algn="ctr">
                        <a:buNone/>
                      </a:pPr>
                      <a:r>
                        <a:rPr sz="2025" b="1">
                          <a:solidFill>
                            <a:srgbClr val="2162A0"/>
                          </a:solidFill>
                          <a:latin typeface="Arial"/>
                          <a:ea typeface="Arial"/>
                          <a:cs typeface="Arial"/>
                        </a:rPr>
                        <a:t>Papel</a:t>
                      </a:r>
                    </a:p>
                  </a:txBody>
                  <a:tcPr marL="91440" marR="91440" marT="45720" marB="45720" anchor="ctr">
                    <a:solidFill>
                      <a:srgbClr val="E8EFF5"/>
                    </a:solidFill>
                  </a:tcPr>
                </a:tc>
              </a:tr>
              <a:tr h="802481">
                <a:tc>
                  <a:txBody>
                    <a:bodyPr lIns="95250" tIns="76200" rIns="95250" bIns="76200"/>
                    <a:lstStyle/>
                    <a:p>
                      <a:pPr algn="ctr">
                        <a:buNone/>
                      </a:pPr>
                      <a:r>
                        <a:rPr sz="2025" b="0">
                          <a:solidFill>
                            <a:srgbClr val="233746"/>
                          </a:solidFill>
                          <a:latin typeface="Arial"/>
                          <a:ea typeface="Arial"/>
                          <a:cs typeface="Arial"/>
                        </a:rPr>
                        <a:t>H: causa principal</a:t>
                      </a:r>
                    </a:p>
                  </a:txBody>
                  <a:tcPr marL="91440" marR="91440" marT="45720" marB="45720" anchor="ctr">
                    <a:solidFill>
                      <a:srgbClr val="FFFFFF"/>
                    </a:solidFill>
                  </a:tcPr>
                </a:tc>
                <a:tc>
                  <a:txBody>
                    <a:bodyPr lIns="95250" tIns="76200" rIns="95250" bIns="76200"/>
                    <a:lstStyle/>
                    <a:p>
                      <a:pPr algn="ctr">
                        <a:buNone/>
                      </a:pPr>
                      <a:r>
                        <a:rPr sz="2025" b="0">
                          <a:solidFill>
                            <a:srgbClr val="233746"/>
                          </a:solidFill>
                          <a:latin typeface="Arial"/>
                          <a:ea typeface="Arial"/>
                          <a:cs typeface="Arial"/>
                        </a:rPr>
                        <a:t>Obstrucción / Fuga / Otra</a:t>
                      </a:r>
                    </a:p>
                  </a:txBody>
                  <a:tcPr marL="91440" marR="91440" marT="45720" marB="45720" anchor="ctr">
                    <a:solidFill>
                      <a:srgbClr val="FFFFFF"/>
                    </a:solidFill>
                  </a:tcPr>
                </a:tc>
                <a:tc>
                  <a:txBody>
                    <a:bodyPr lIns="95250" tIns="76200" rIns="95250" bIns="76200"/>
                    <a:lstStyle/>
                    <a:p>
                      <a:pPr algn="ctr">
                        <a:buNone/>
                      </a:pPr>
                      <a:r>
                        <a:rPr sz="2025" b="0">
                          <a:solidFill>
                            <a:srgbClr val="233746"/>
                          </a:solidFill>
                          <a:latin typeface="Arial"/>
                          <a:ea typeface="Arial"/>
                          <a:cs typeface="Arial"/>
                        </a:rPr>
                        <a:t>Consulta</a:t>
                      </a:r>
                    </a:p>
                  </a:txBody>
                  <a:tcPr marL="91440" marR="91440" marT="45720" marB="45720" anchor="ctr">
                    <a:solidFill>
                      <a:srgbClr val="FFFFFF"/>
                    </a:solidFill>
                  </a:tcPr>
                </a:tc>
              </a:tr>
              <a:tr h="802481">
                <a:tc>
                  <a:txBody>
                    <a:bodyPr lIns="95250" tIns="76200" rIns="95250" bIns="76200"/>
                    <a:lstStyle/>
                    <a:p>
                      <a:pPr algn="ctr">
                        <a:buNone/>
                      </a:pPr>
                      <a:r>
                        <a:rPr sz="2025" b="0">
                          <a:solidFill>
                            <a:srgbClr val="233746"/>
                          </a:solidFill>
                          <a:latin typeface="Arial"/>
                          <a:ea typeface="Arial"/>
                          <a:cs typeface="Arial"/>
                        </a:rPr>
                        <a:t>Q: caudal bajo</a:t>
                      </a:r>
                    </a:p>
                  </a:txBody>
                  <a:tcPr marL="91440" marR="91440" marT="45720" marB="45720" anchor="ctr">
                    <a:solidFill>
                      <a:srgbClr val="F5F7F9"/>
                    </a:solidFill>
                  </a:tcPr>
                </a:tc>
                <a:tc>
                  <a:txBody>
                    <a:bodyPr lIns="95250" tIns="76200" rIns="95250" bIns="76200"/>
                    <a:lstStyle/>
                    <a:p>
                      <a:pPr algn="ctr">
                        <a:buNone/>
                      </a:pPr>
                      <a:r>
                        <a:rPr sz="2025" b="0">
                          <a:solidFill>
                            <a:srgbClr val="233746"/>
                          </a:solidFill>
                          <a:latin typeface="Arial"/>
                          <a:ea typeface="Arial"/>
                          <a:cs typeface="Arial"/>
                        </a:rPr>
                        <a:t>Sí / No</a:t>
                      </a:r>
                    </a:p>
                  </a:txBody>
                  <a:tcPr marL="91440" marR="91440" marT="45720" marB="45720" anchor="ctr">
                    <a:solidFill>
                      <a:srgbClr val="F5F7F9"/>
                    </a:solidFill>
                  </a:tcPr>
                </a:tc>
                <a:tc>
                  <a:txBody>
                    <a:bodyPr lIns="95250" tIns="76200" rIns="95250" bIns="76200"/>
                    <a:lstStyle/>
                    <a:p>
                      <a:pPr algn="ctr">
                        <a:buNone/>
                      </a:pPr>
                      <a:r>
                        <a:rPr sz="2025" b="0">
                          <a:solidFill>
                            <a:srgbClr val="233746"/>
                          </a:solidFill>
                          <a:latin typeface="Arial"/>
                          <a:ea typeface="Arial"/>
                          <a:cs typeface="Arial"/>
                        </a:rPr>
                        <a:t>Observable</a:t>
                      </a:r>
                    </a:p>
                  </a:txBody>
                  <a:tcPr marL="91440" marR="91440" marT="45720" marB="45720" anchor="ctr">
                    <a:solidFill>
                      <a:srgbClr val="F5F7F9"/>
                    </a:solidFill>
                  </a:tcPr>
                </a:tc>
              </a:tr>
              <a:tr h="802481">
                <a:tc>
                  <a:txBody>
                    <a:bodyPr lIns="95250" tIns="76200" rIns="95250" bIns="76200"/>
                    <a:lstStyle/>
                    <a:p>
                      <a:pPr algn="ctr">
                        <a:buNone/>
                      </a:pPr>
                      <a:r>
                        <a:rPr sz="2025" b="0">
                          <a:solidFill>
                            <a:srgbClr val="233746"/>
                          </a:solidFill>
                          <a:latin typeface="Arial"/>
                          <a:ea typeface="Arial"/>
                          <a:cs typeface="Arial"/>
                        </a:rPr>
                        <a:t>V: Vibración alta</a:t>
                      </a:r>
                    </a:p>
                  </a:txBody>
                  <a:tcPr marL="91440" marR="91440" marT="45720" marB="45720" anchor="ctr">
                    <a:solidFill>
                      <a:srgbClr val="FFFFFF"/>
                    </a:solidFill>
                  </a:tcPr>
                </a:tc>
                <a:tc>
                  <a:txBody>
                    <a:bodyPr lIns="95250" tIns="76200" rIns="95250" bIns="76200"/>
                    <a:lstStyle/>
                    <a:p>
                      <a:pPr algn="ctr">
                        <a:buNone/>
                      </a:pPr>
                      <a:r>
                        <a:rPr sz="2025" b="0">
                          <a:solidFill>
                            <a:srgbClr val="233746"/>
                          </a:solidFill>
                          <a:latin typeface="Arial"/>
                          <a:ea typeface="Arial"/>
                          <a:cs typeface="Arial"/>
                        </a:rPr>
                        <a:t>Sí / No</a:t>
                      </a:r>
                    </a:p>
                  </a:txBody>
                  <a:tcPr marL="91440" marR="91440" marT="45720" marB="45720" anchor="ctr">
                    <a:solidFill>
                      <a:srgbClr val="FFFFFF"/>
                    </a:solidFill>
                  </a:tcPr>
                </a:tc>
                <a:tc>
                  <a:txBody>
                    <a:bodyPr lIns="95250" tIns="76200" rIns="95250" bIns="76200"/>
                    <a:lstStyle/>
                    <a:p>
                      <a:pPr algn="ctr">
                        <a:buNone/>
                      </a:pPr>
                      <a:r>
                        <a:rPr sz="2025" b="0">
                          <a:solidFill>
                            <a:srgbClr val="233746"/>
                          </a:solidFill>
                          <a:latin typeface="Arial"/>
                          <a:ea typeface="Arial"/>
                          <a:cs typeface="Arial"/>
                        </a:rPr>
                        <a:t>Observable</a:t>
                      </a:r>
                    </a:p>
                  </a:txBody>
                  <a:tcPr marL="91440" marR="91440" marT="45720" marB="45720" anchor="ctr">
                    <a:solidFill>
                      <a:srgbClr val="FFFFFF"/>
                    </a:solidFill>
                  </a:tcPr>
                </a:tc>
              </a:tr>
            </a:tbl>
          </a:graphicData>
        </a:graphic>
      </p:graphicFrame>
      <p:sp>
        <p:nvSpPr>
          <p:cNvPr id="12" name="">
            <a:extLst xmlns:a="http://schemas.openxmlformats.org/drawingml/2006/main">
              <a:ext uri="{FF2B5EF4-FFF2-40B4-BE49-F238E27FC236}">
                <a16:creationId xmlns:a16="http://schemas.microsoft.com/office/drawing/2014/main" id="{D503A9B3-80C8-4B26-85F6-52854E00A214}"/>
              </a:ext>
            </a:extLst>
          </p:cNvPr>
          <p:cNvSpPr>
            <a:spLocks xmlns:a="http://schemas.openxmlformats.org/drawingml/2006/main" noGrp="1"/>
          </p:cNvSpPr>
          <p:nvPr/>
        </p:nvSpPr>
        <p:spPr>
          <a:xfrm xmlns:a="http://schemas.openxmlformats.org/drawingml/2006/main">
            <a:off x="762000" y="60102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«Desconocido» indica falta de observación; no es otro estado de Q o V.</a:t>
            </a:r>
          </a:p>
        </p:txBody>
      </p:sp>
    </p:spTree>
    <p:extLst>
      <p:ext uri="{BB962C8B-B14F-4D97-AF65-F5344CB8AC3E}">
        <p14:creationId xmlns:p14="http://schemas.microsoft.com/office/powerpoint/2010/main" val="172189652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Diagnóstico bayesiano · PROVISIONAL</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8</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D96B18"/>
                </a:solidFill>
                <a:latin typeface="Arial"/>
                <a:ea typeface="Arial"/>
                <a:cs typeface="Arial"/>
              </a:defRPr>
            </a:pPr>
            <a:r>
              <a:rPr sz="3000" b="0">
                <a:solidFill>
                  <a:srgbClr val="D96B18"/>
                </a:solidFill>
                <a:latin typeface="Arial"/>
                <a:ea typeface="Arial"/>
                <a:cs typeface="Arial"/>
              </a:rPr>
              <a:t>Una distribución reparte la probabilidad</a:t>
            </a:r>
          </a:p>
        </p:txBody>
      </p:sp>
      <p:sp>
        <p:nvSpPr>
          <p:cNvPr id="9" name="">
            <a:extLst xmlns:a="http://schemas.openxmlformats.org/drawingml/2006/main">
              <a:ext uri="{FF2B5EF4-FFF2-40B4-BE49-F238E27FC236}">
                <a16:creationId xmlns:a16="http://schemas.microsoft.com/office/drawing/2014/main" id="{7924BFF7-878C-44F0-9EF6-6A60C0E30CB4}"/>
              </a:ext>
            </a:extLst>
          </p:cNvPr>
          <p:cNvSpPr>
            <a:spLocks xmlns:a="http://schemas.openxmlformats.org/drawingml/2006/main" noGrp="1"/>
          </p:cNvSpPr>
          <p:nvPr/>
        </p:nvSpPr>
        <p:spPr>
          <a:xfrm xmlns:a="http://schemas.openxmlformats.org/drawingml/2006/main">
            <a:off x="762000" y="13811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2162A0"/>
                </a:solidFill>
                <a:latin typeface="Arial"/>
                <a:ea typeface="Arial"/>
                <a:cs typeface="Arial"/>
              </a:defRPr>
            </a:pPr>
            <a:r>
              <a:rPr sz="1500" b="1">
                <a:solidFill>
                  <a:srgbClr val="2162A0"/>
                </a:solidFill>
                <a:latin typeface="Arial"/>
                <a:ea typeface="Arial"/>
                <a:cs typeface="Arial"/>
              </a:rPr>
              <a:t>CONCEPTOS NECESARIOS</a:t>
            </a:r>
          </a:p>
        </p:txBody>
      </p:sp>
      <p:sp>
        <p:nvSpPr>
          <p:cNvPr id="10" name="">
            <a:extLst xmlns:a="http://schemas.openxmlformats.org/drawingml/2006/main">
              <a:ext uri="{FF2B5EF4-FFF2-40B4-BE49-F238E27FC236}">
                <a16:creationId xmlns:a16="http://schemas.microsoft.com/office/drawing/2014/main" id="{97D64390-6312-40D4-A78B-0428E8BB1376}"/>
              </a:ext>
            </a:extLst>
          </p:cNvPr>
          <p:cNvSpPr>
            <a:spLocks xmlns:a="http://schemas.openxmlformats.org/drawingml/2006/main" noGrp="1"/>
          </p:cNvSpPr>
          <p:nvPr/>
        </p:nvSpPr>
        <p:spPr>
          <a:xfrm xmlns:a="http://schemas.openxmlformats.org/drawingml/2006/main">
            <a:off x="762000" y="1724025"/>
            <a:ext cx="10668000" cy="28575"/>
          </a:xfrm>
          <a:prstGeom xmlns:a="http://schemas.openxmlformats.org/drawingml/2006/main" prst="rect">
            <a:avLst/>
          </a:prstGeom>
          <a:solidFill xmlns:a="http://schemas.openxmlformats.org/drawingml/2006/main">
            <a:srgbClr val="2162A0"/>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graphicFrame>
        <p:nvGraphicFramePr>
          <p:cNvPr id="22" name=""/>
          <p:cNvGraphicFramePr/>
          <p:nvPr/>
        </p:nvGraphicFramePr>
        <p:xfrm>
          <a:off xmlns:a="http://schemas.openxmlformats.org/drawingml/2006/main" x="762000" y="2009775"/>
          <a:ext xmlns:a="http://schemas.openxmlformats.org/drawingml/2006/main" cx="10668000" cy="3429000"/>
        </p:xfrm>
        <a:graphic xmlns:a="http://schemas.openxmlformats.org/drawingml/2006/main">
          <a:graphicData uri="http://schemas.openxmlformats.org/drawingml/2006/table">
            <a:tbl>
              <a:tblPr/>
              <a:tblGrid>
                <a:gridCol w="5334000"/>
                <a:gridCol w="5334000"/>
              </a:tblGrid>
              <a:tr h="685800">
                <a:tc>
                  <a:txBody>
                    <a:bodyPr lIns="95250" tIns="76200" rIns="95250" bIns="76200"/>
                    <a:lstStyle/>
                    <a:p>
                      <a:pPr algn="ctr">
                        <a:buNone/>
                      </a:pPr>
                      <a:r>
                        <a:rPr sz="2175" b="1">
                          <a:solidFill>
                            <a:srgbClr val="2162A0"/>
                          </a:solidFill>
                          <a:latin typeface="Arial"/>
                          <a:ea typeface="Arial"/>
                          <a:cs typeface="Arial"/>
                        </a:rPr>
                        <a:t>Causa principal H</a:t>
                      </a:r>
                    </a:p>
                  </a:txBody>
                  <a:tcPr marL="91440" marR="91440" marT="45720" marB="45720" anchor="ctr">
                    <a:solidFill>
                      <a:srgbClr val="E8EFF5"/>
                    </a:solidFill>
                  </a:tcPr>
                </a:tc>
                <a:tc>
                  <a:txBody>
                    <a:bodyPr lIns="95250" tIns="76200" rIns="95250" bIns="76200"/>
                    <a:lstStyle/>
                    <a:p>
                      <a:pPr algn="ctr">
                        <a:buNone/>
                      </a:pPr>
                      <a:r>
                        <a:rPr sz="2175" b="1">
                          <a:solidFill>
                            <a:srgbClr val="2162A0"/>
                          </a:solidFill>
                          <a:latin typeface="Arial"/>
                          <a:ea typeface="Arial"/>
                          <a:cs typeface="Arial"/>
                        </a:rPr>
                        <a:t>Probabilidad inicial</a:t>
                      </a:r>
                    </a:p>
                  </a:txBody>
                  <a:tcPr marL="91440" marR="91440" marT="45720" marB="45720" anchor="ctr">
                    <a:solidFill>
                      <a:srgbClr val="E8EFF5"/>
                    </a:solidFill>
                  </a:tcPr>
                </a:tc>
              </a:tr>
              <a:tr h="685800">
                <a:tc>
                  <a:txBody>
                    <a:bodyPr lIns="95250" tIns="76200" rIns="95250" bIns="76200"/>
                    <a:lstStyle/>
                    <a:p>
                      <a:pPr algn="ctr">
                        <a:buNone/>
                      </a:pPr>
                      <a:r>
                        <a:rPr sz="2175" b="0">
                          <a:solidFill>
                            <a:srgbClr val="233746"/>
                          </a:solidFill>
                          <a:latin typeface="Arial"/>
                          <a:ea typeface="Arial"/>
                          <a:cs typeface="Arial"/>
                        </a:rPr>
                        <a:t>Obstrucción</a:t>
                      </a:r>
                    </a:p>
                  </a:txBody>
                  <a:tcPr marL="91440" marR="91440" marT="45720" marB="45720" anchor="ctr">
                    <a:solidFill>
                      <a:srgbClr val="FFFFFF"/>
                    </a:solidFill>
                  </a:tcPr>
                </a:tc>
                <a:tc>
                  <a:txBody>
                    <a:bodyPr lIns="95250" tIns="76200" rIns="95250" bIns="76200"/>
                    <a:lstStyle/>
                    <a:p>
                      <a:pPr algn="ctr">
                        <a:buNone/>
                      </a:pPr>
                      <a:r>
                        <a:rPr sz="2175" b="0">
                          <a:solidFill>
                            <a:srgbClr val="233746"/>
                          </a:solidFill>
                          <a:latin typeface="Arial"/>
                          <a:ea typeface="Arial"/>
                          <a:cs typeface="Arial"/>
                        </a:rPr>
                        <a:t>0,30</a:t>
                      </a:r>
                    </a:p>
                  </a:txBody>
                  <a:tcPr marL="91440" marR="91440" marT="45720" marB="45720" anchor="ctr">
                    <a:solidFill>
                      <a:srgbClr val="FFFFFF"/>
                    </a:solidFill>
                  </a:tcPr>
                </a:tc>
              </a:tr>
              <a:tr h="685800">
                <a:tc>
                  <a:txBody>
                    <a:bodyPr lIns="95250" tIns="76200" rIns="95250" bIns="76200"/>
                    <a:lstStyle/>
                    <a:p>
                      <a:pPr algn="ctr">
                        <a:buNone/>
                      </a:pPr>
                      <a:r>
                        <a:rPr sz="2175" b="0">
                          <a:solidFill>
                            <a:srgbClr val="233746"/>
                          </a:solidFill>
                          <a:latin typeface="Arial"/>
                          <a:ea typeface="Arial"/>
                          <a:cs typeface="Arial"/>
                        </a:rPr>
                        <a:t>Fuga</a:t>
                      </a:r>
                    </a:p>
                  </a:txBody>
                  <a:tcPr marL="91440" marR="91440" marT="45720" marB="45720" anchor="ctr">
                    <a:solidFill>
                      <a:srgbClr val="F5F7F9"/>
                    </a:solidFill>
                  </a:tcPr>
                </a:tc>
                <a:tc>
                  <a:txBody>
                    <a:bodyPr lIns="95250" tIns="76200" rIns="95250" bIns="76200"/>
                    <a:lstStyle/>
                    <a:p>
                      <a:pPr algn="ctr">
                        <a:buNone/>
                      </a:pPr>
                      <a:r>
                        <a:rPr sz="2175" b="0">
                          <a:solidFill>
                            <a:srgbClr val="233746"/>
                          </a:solidFill>
                          <a:latin typeface="Arial"/>
                          <a:ea typeface="Arial"/>
                          <a:cs typeface="Arial"/>
                        </a:rPr>
                        <a:t>0,20</a:t>
                      </a:r>
                    </a:p>
                  </a:txBody>
                  <a:tcPr marL="91440" marR="91440" marT="45720" marB="45720" anchor="ctr">
                    <a:solidFill>
                      <a:srgbClr val="F5F7F9"/>
                    </a:solidFill>
                  </a:tcPr>
                </a:tc>
              </a:tr>
              <a:tr h="685800">
                <a:tc>
                  <a:txBody>
                    <a:bodyPr lIns="95250" tIns="76200" rIns="95250" bIns="76200"/>
                    <a:lstStyle/>
                    <a:p>
                      <a:pPr algn="ctr">
                        <a:buNone/>
                      </a:pPr>
                      <a:r>
                        <a:rPr sz="2175" b="0">
                          <a:solidFill>
                            <a:srgbClr val="233746"/>
                          </a:solidFill>
                          <a:latin typeface="Arial"/>
                          <a:ea typeface="Arial"/>
                          <a:cs typeface="Arial"/>
                        </a:rPr>
                        <a:t>Otra causa</a:t>
                      </a:r>
                    </a:p>
                  </a:txBody>
                  <a:tcPr marL="91440" marR="91440" marT="45720" marB="45720" anchor="ctr">
                    <a:solidFill>
                      <a:srgbClr val="FFFFFF"/>
                    </a:solidFill>
                  </a:tcPr>
                </a:tc>
                <a:tc>
                  <a:txBody>
                    <a:bodyPr lIns="95250" tIns="76200" rIns="95250" bIns="76200"/>
                    <a:lstStyle/>
                    <a:p>
                      <a:pPr algn="ctr">
                        <a:buNone/>
                      </a:pPr>
                      <a:r>
                        <a:rPr sz="2175" b="0">
                          <a:solidFill>
                            <a:srgbClr val="233746"/>
                          </a:solidFill>
                          <a:latin typeface="Arial"/>
                          <a:ea typeface="Arial"/>
                          <a:cs typeface="Arial"/>
                        </a:rPr>
                        <a:t>0,50</a:t>
                      </a:r>
                    </a:p>
                  </a:txBody>
                  <a:tcPr marL="91440" marR="91440" marT="45720" marB="45720" anchor="ctr">
                    <a:solidFill>
                      <a:srgbClr val="FFFFFF"/>
                    </a:solidFill>
                  </a:tcPr>
                </a:tc>
              </a:tr>
              <a:tr h="685800">
                <a:tc>
                  <a:txBody>
                    <a:bodyPr lIns="95250" tIns="76200" rIns="95250" bIns="76200"/>
                    <a:lstStyle/>
                    <a:p>
                      <a:pPr algn="ctr">
                        <a:buNone/>
                      </a:pPr>
                      <a:r>
                        <a:rPr sz="2175" b="0">
                          <a:solidFill>
                            <a:srgbClr val="233746"/>
                          </a:solidFill>
                          <a:latin typeface="Arial"/>
                          <a:ea typeface="Arial"/>
                          <a:cs typeface="Arial"/>
                        </a:rPr>
                        <a:t>Total</a:t>
                      </a:r>
                    </a:p>
                  </a:txBody>
                  <a:tcPr marL="91440" marR="91440" marT="45720" marB="45720" anchor="ctr">
                    <a:solidFill>
                      <a:srgbClr val="F5F7F9"/>
                    </a:solidFill>
                  </a:tcPr>
                </a:tc>
                <a:tc>
                  <a:txBody>
                    <a:bodyPr lIns="95250" tIns="76200" rIns="95250" bIns="76200"/>
                    <a:lstStyle/>
                    <a:p>
                      <a:pPr algn="ctr">
                        <a:buNone/>
                      </a:pPr>
                      <a:r>
                        <a:rPr sz="2175" b="0">
                          <a:solidFill>
                            <a:srgbClr val="233746"/>
                          </a:solidFill>
                          <a:latin typeface="Arial"/>
                          <a:ea typeface="Arial"/>
                          <a:cs typeface="Arial"/>
                        </a:rPr>
                        <a:t>1,00</a:t>
                      </a:r>
                    </a:p>
                  </a:txBody>
                  <a:tcPr marL="91440" marR="91440" marT="45720" marB="45720" anchor="ctr">
                    <a:solidFill>
                      <a:srgbClr val="F5F7F9"/>
                    </a:solidFill>
                  </a:tcPr>
                </a:tc>
              </a:tr>
            </a:tbl>
          </a:graphicData>
        </a:graphic>
      </p:graphicFrame>
      <p:sp>
        <p:nvSpPr>
          <p:cNvPr id="12" name="">
            <a:extLst xmlns:a="http://schemas.openxmlformats.org/drawingml/2006/main">
              <a:ext uri="{FF2B5EF4-FFF2-40B4-BE49-F238E27FC236}">
                <a16:creationId xmlns:a16="http://schemas.microsoft.com/office/drawing/2014/main" id="{8A169ACF-3725-468D-AED7-81E1E1BD682B}"/>
              </a:ext>
            </a:extLst>
          </p:cNvPr>
          <p:cNvSpPr>
            <a:spLocks xmlns:a="http://schemas.openxmlformats.org/drawingml/2006/main" noGrp="1"/>
          </p:cNvSpPr>
          <p:nvPr/>
        </p:nvSpPr>
        <p:spPr>
          <a:xfrm xmlns:a="http://schemas.openxmlformats.org/drawingml/2006/main">
            <a:off x="762000" y="60102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Son valores ficticios para una población de equipos bajo estudio.</a:t>
            </a:r>
          </a:p>
        </p:txBody>
      </p:sp>
    </p:spTree>
    <p:extLst>
      <p:ext uri="{BB962C8B-B14F-4D97-AF65-F5344CB8AC3E}">
        <p14:creationId xmlns:p14="http://schemas.microsoft.com/office/powerpoint/2010/main" val="172189652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Diagnóstico bayesiano · PROVISIONAL</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9</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D96B18"/>
                </a:solidFill>
                <a:latin typeface="Arial"/>
                <a:ea typeface="Arial"/>
                <a:cs typeface="Arial"/>
              </a:defRPr>
            </a:pPr>
            <a:r>
              <a:rPr sz="3000" b="0">
                <a:solidFill>
                  <a:srgbClr val="D96B18"/>
                </a:solidFill>
                <a:latin typeface="Arial"/>
                <a:ea typeface="Arial"/>
                <a:cs typeface="Arial"/>
              </a:rPr>
              <a:t>La dirección de la pregunta importa</a:t>
            </a:r>
          </a:p>
        </p:txBody>
      </p:sp>
      <p:sp>
        <p:nvSpPr>
          <p:cNvPr id="9" name="">
            <a:extLst xmlns:a="http://schemas.openxmlformats.org/drawingml/2006/main">
              <a:ext uri="{FF2B5EF4-FFF2-40B4-BE49-F238E27FC236}">
                <a16:creationId xmlns:a16="http://schemas.microsoft.com/office/drawing/2014/main" id="{8B9DEF5F-9FDF-4832-897F-771DF5037F32}"/>
              </a:ext>
            </a:extLst>
          </p:cNvPr>
          <p:cNvSpPr>
            <a:spLocks xmlns:a="http://schemas.openxmlformats.org/drawingml/2006/main" noGrp="1"/>
          </p:cNvSpPr>
          <p:nvPr/>
        </p:nvSpPr>
        <p:spPr>
          <a:xfrm xmlns:a="http://schemas.openxmlformats.org/drawingml/2006/main">
            <a:off x="762000" y="13811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2162A0"/>
                </a:solidFill>
                <a:latin typeface="Arial"/>
                <a:ea typeface="Arial"/>
                <a:cs typeface="Arial"/>
              </a:defRPr>
            </a:pPr>
            <a:r>
              <a:rPr sz="1500" b="1">
                <a:solidFill>
                  <a:srgbClr val="2162A0"/>
                </a:solidFill>
                <a:latin typeface="Arial"/>
                <a:ea typeface="Arial"/>
                <a:cs typeface="Arial"/>
              </a:rPr>
              <a:t>CONCEPTOS NECESARIOS</a:t>
            </a:r>
          </a:p>
        </p:txBody>
      </p:sp>
      <p:sp>
        <p:nvSpPr>
          <p:cNvPr id="10" name="">
            <a:extLst xmlns:a="http://schemas.openxmlformats.org/drawingml/2006/main">
              <a:ext uri="{FF2B5EF4-FFF2-40B4-BE49-F238E27FC236}">
                <a16:creationId xmlns:a16="http://schemas.microsoft.com/office/drawing/2014/main" id="{DE59F66D-AF40-41F8-942F-BB86A5800B97}"/>
              </a:ext>
            </a:extLst>
          </p:cNvPr>
          <p:cNvSpPr>
            <a:spLocks xmlns:a="http://schemas.openxmlformats.org/drawingml/2006/main" noGrp="1"/>
          </p:cNvSpPr>
          <p:nvPr/>
        </p:nvSpPr>
        <p:spPr>
          <a:xfrm xmlns:a="http://schemas.openxmlformats.org/drawingml/2006/main">
            <a:off x="762000" y="1724025"/>
            <a:ext cx="10668000" cy="28575"/>
          </a:xfrm>
          <a:prstGeom xmlns:a="http://schemas.openxmlformats.org/drawingml/2006/main" prst="rect">
            <a:avLst/>
          </a:prstGeom>
          <a:solidFill xmlns:a="http://schemas.openxmlformats.org/drawingml/2006/main">
            <a:srgbClr val="2162A0"/>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32ED3BD1-BA3C-40FF-801B-19EB5233F291}"/>
              </a:ext>
            </a:extLst>
          </p:cNvPr>
          <p:cNvSpPr>
            <a:spLocks xmlns:a="http://schemas.openxmlformats.org/drawingml/2006/main" noGrp="1"/>
          </p:cNvSpPr>
          <p:nvPr/>
        </p:nvSpPr>
        <p:spPr>
          <a:xfrm xmlns:a="http://schemas.openxmlformats.org/drawingml/2006/main">
            <a:off x="762000" y="21336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1">
                <a:solidFill>
                  <a:srgbClr val="2162A0"/>
                </a:solidFill>
                <a:latin typeface="Arial"/>
                <a:ea typeface="Arial"/>
                <a:cs typeface="Arial"/>
              </a:defRPr>
            </a:pPr>
            <a:r>
              <a:rPr sz="3000" b="1">
                <a:solidFill>
                  <a:srgbClr val="2162A0"/>
                </a:solidFill>
                <a:latin typeface="Arial"/>
                <a:ea typeface="Arial"/>
                <a:cs typeface="Arial"/>
              </a:rPr>
              <a:t>P(caudal bajo | obstrucción) = 0,90</a:t>
            </a:r>
          </a:p>
        </p:txBody>
      </p:sp>
      <p:sp>
        <p:nvSpPr>
          <p:cNvPr id="12" name="">
            <a:extLst xmlns:a="http://schemas.openxmlformats.org/drawingml/2006/main">
              <a:ext uri="{FF2B5EF4-FFF2-40B4-BE49-F238E27FC236}">
                <a16:creationId xmlns:a16="http://schemas.microsoft.com/office/drawing/2014/main" id="{C0873111-D1A5-41E9-A0BE-8C7DEDEDFA7D}"/>
              </a:ext>
            </a:extLst>
          </p:cNvPr>
          <p:cNvSpPr>
            <a:spLocks xmlns:a="http://schemas.openxmlformats.org/drawingml/2006/main" noGrp="1"/>
          </p:cNvSpPr>
          <p:nvPr/>
        </p:nvSpPr>
        <p:spPr>
          <a:xfrm xmlns:a="http://schemas.openxmlformats.org/drawingml/2006/main">
            <a:off x="762000" y="29051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0">
                <a:solidFill>
                  <a:srgbClr val="233746"/>
                </a:solidFill>
                <a:latin typeface="Arial"/>
                <a:ea typeface="Arial"/>
                <a:cs typeface="Arial"/>
              </a:defRPr>
            </a:pPr>
            <a:r>
              <a:rPr sz="2250" b="0">
                <a:solidFill>
                  <a:srgbClr val="233746"/>
                </a:solidFill>
                <a:latin typeface="Arial"/>
                <a:ea typeface="Arial"/>
                <a:cs typeface="Arial"/>
              </a:rPr>
              <a:t>Si la causa es la obstrucción, ¿con qué frecuencia hay caudal bajo?</a:t>
            </a:r>
          </a:p>
        </p:txBody>
      </p:sp>
      <p:sp>
        <p:nvSpPr>
          <p:cNvPr id="13" name="">
            <a:extLst xmlns:a="http://schemas.openxmlformats.org/drawingml/2006/main">
              <a:ext uri="{FF2B5EF4-FFF2-40B4-BE49-F238E27FC236}">
                <a16:creationId xmlns:a16="http://schemas.microsoft.com/office/drawing/2014/main" id="{8E61B1B4-279C-4153-A90D-E7A84F5CB462}"/>
              </a:ext>
            </a:extLst>
          </p:cNvPr>
          <p:cNvSpPr>
            <a:spLocks xmlns:a="http://schemas.openxmlformats.org/drawingml/2006/main" noGrp="1"/>
          </p:cNvSpPr>
          <p:nvPr/>
        </p:nvSpPr>
        <p:spPr>
          <a:xfrm xmlns:a="http://schemas.openxmlformats.org/drawingml/2006/main">
            <a:off x="762000" y="41052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1">
                <a:solidFill>
                  <a:srgbClr val="D96B18"/>
                </a:solidFill>
                <a:latin typeface="Arial"/>
                <a:ea typeface="Arial"/>
                <a:cs typeface="Arial"/>
              </a:defRPr>
            </a:pPr>
            <a:r>
              <a:rPr sz="3000" b="1">
                <a:solidFill>
                  <a:srgbClr val="D96B18"/>
                </a:solidFill>
                <a:latin typeface="Arial"/>
                <a:ea typeface="Arial"/>
                <a:cs typeface="Arial"/>
              </a:rPr>
              <a:t>P(obstrucción | caudal bajo) = ¿?</a:t>
            </a:r>
          </a:p>
        </p:txBody>
      </p:sp>
      <p:sp>
        <p:nvSpPr>
          <p:cNvPr id="14" name="">
            <a:extLst xmlns:a="http://schemas.openxmlformats.org/drawingml/2006/main">
              <a:ext uri="{FF2B5EF4-FFF2-40B4-BE49-F238E27FC236}">
                <a16:creationId xmlns:a16="http://schemas.microsoft.com/office/drawing/2014/main" id="{2A6923CB-4227-426D-90B3-D23D8A24DADC}"/>
              </a:ext>
            </a:extLst>
          </p:cNvPr>
          <p:cNvSpPr>
            <a:spLocks xmlns:a="http://schemas.openxmlformats.org/drawingml/2006/main" noGrp="1"/>
          </p:cNvSpPr>
          <p:nvPr/>
        </p:nvSpPr>
        <p:spPr>
          <a:xfrm xmlns:a="http://schemas.openxmlformats.org/drawingml/2006/main">
            <a:off x="762000" y="488632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0">
                <a:solidFill>
                  <a:srgbClr val="233746"/>
                </a:solidFill>
                <a:latin typeface="Arial"/>
                <a:ea typeface="Arial"/>
                <a:cs typeface="Arial"/>
              </a:defRPr>
            </a:pPr>
            <a:r>
              <a:rPr sz="2250" b="0">
                <a:solidFill>
                  <a:srgbClr val="233746"/>
                </a:solidFill>
                <a:latin typeface="Arial"/>
                <a:ea typeface="Arial"/>
                <a:cs typeface="Arial"/>
              </a:rPr>
              <a:t>Si el caudal es bajo, ¿qué probabilidad hay de obstrucción?</a:t>
            </a:r>
          </a:p>
        </p:txBody>
      </p:sp>
    </p:spTree>
    <p:extLst>
      <p:ext uri="{BB962C8B-B14F-4D97-AF65-F5344CB8AC3E}">
        <p14:creationId xmlns:p14="http://schemas.microsoft.com/office/powerpoint/2010/main" val="172189652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Diagnóstico bayesiano · PROVISIONAL</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10</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D96B18"/>
                </a:solidFill>
                <a:latin typeface="Arial"/>
                <a:ea typeface="Arial"/>
                <a:cs typeface="Arial"/>
              </a:defRPr>
            </a:pPr>
            <a:r>
              <a:rPr sz="3000" b="0">
                <a:solidFill>
                  <a:srgbClr val="D96B18"/>
                </a:solidFill>
                <a:latin typeface="Arial"/>
                <a:ea typeface="Arial"/>
                <a:cs typeface="Arial"/>
              </a:rPr>
              <a:t>La regla de Bayes</a:t>
            </a:r>
          </a:p>
        </p:txBody>
      </p:sp>
      <p:sp>
        <p:nvSpPr>
          <p:cNvPr id="9" name="">
            <a:extLst xmlns:a="http://schemas.openxmlformats.org/drawingml/2006/main">
              <a:ext uri="{FF2B5EF4-FFF2-40B4-BE49-F238E27FC236}">
                <a16:creationId xmlns:a16="http://schemas.microsoft.com/office/drawing/2014/main" id="{41C34999-5405-4FE7-9539-F0CA2F2E6315}"/>
              </a:ext>
            </a:extLst>
          </p:cNvPr>
          <p:cNvSpPr>
            <a:spLocks xmlns:a="http://schemas.openxmlformats.org/drawingml/2006/main" noGrp="1"/>
          </p:cNvSpPr>
          <p:nvPr/>
        </p:nvSpPr>
        <p:spPr>
          <a:xfrm xmlns:a="http://schemas.openxmlformats.org/drawingml/2006/main">
            <a:off x="762000" y="13811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2162A0"/>
                </a:solidFill>
                <a:latin typeface="Arial"/>
                <a:ea typeface="Arial"/>
                <a:cs typeface="Arial"/>
              </a:defRPr>
            </a:pPr>
            <a:r>
              <a:rPr sz="1500" b="1">
                <a:solidFill>
                  <a:srgbClr val="2162A0"/>
                </a:solidFill>
                <a:latin typeface="Arial"/>
                <a:ea typeface="Arial"/>
                <a:cs typeface="Arial"/>
              </a:rPr>
              <a:t>CONCEPTOS NECESARIOS</a:t>
            </a:r>
          </a:p>
        </p:txBody>
      </p:sp>
      <p:sp>
        <p:nvSpPr>
          <p:cNvPr id="10" name="">
            <a:extLst xmlns:a="http://schemas.openxmlformats.org/drawingml/2006/main">
              <a:ext uri="{FF2B5EF4-FFF2-40B4-BE49-F238E27FC236}">
                <a16:creationId xmlns:a16="http://schemas.microsoft.com/office/drawing/2014/main" id="{3F233393-F292-4049-B254-6D844581911D}"/>
              </a:ext>
            </a:extLst>
          </p:cNvPr>
          <p:cNvSpPr>
            <a:spLocks xmlns:a="http://schemas.openxmlformats.org/drawingml/2006/main" noGrp="1"/>
          </p:cNvSpPr>
          <p:nvPr/>
        </p:nvSpPr>
        <p:spPr>
          <a:xfrm xmlns:a="http://schemas.openxmlformats.org/drawingml/2006/main">
            <a:off x="762000" y="1724025"/>
            <a:ext cx="10668000" cy="28575"/>
          </a:xfrm>
          <a:prstGeom xmlns:a="http://schemas.openxmlformats.org/drawingml/2006/main" prst="rect">
            <a:avLst/>
          </a:prstGeom>
          <a:solidFill xmlns:a="http://schemas.openxmlformats.org/drawingml/2006/main">
            <a:srgbClr val="2162A0"/>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EB562666-5E5F-496C-B0CC-6BFCD4F724FD}"/>
              </a:ext>
            </a:extLst>
          </p:cNvPr>
          <p:cNvSpPr>
            <a:spLocks xmlns:a="http://schemas.openxmlformats.org/drawingml/2006/main" noGrp="1"/>
          </p:cNvSpPr>
          <p:nvPr/>
        </p:nvSpPr>
        <p:spPr>
          <a:xfrm xmlns:a="http://schemas.openxmlformats.org/drawingml/2006/main">
            <a:off x="762000" y="216217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150" b="1">
                <a:solidFill>
                  <a:srgbClr val="2162A0"/>
                </a:solidFill>
                <a:latin typeface="Arial"/>
                <a:ea typeface="Arial"/>
                <a:cs typeface="Arial"/>
              </a:defRPr>
            </a:pPr>
            <a:r>
              <a:rPr sz="3150" b="1">
                <a:solidFill>
                  <a:srgbClr val="2162A0"/>
                </a:solidFill>
                <a:latin typeface="Arial"/>
                <a:ea typeface="Arial"/>
                <a:cs typeface="Arial"/>
              </a:rPr>
              <a:t>P(H | E) = P(E | H) · P(H) / P(E)</a:t>
            </a:r>
          </a:p>
        </p:txBody>
      </p:sp>
      <p:sp>
        <p:nvSpPr>
          <p:cNvPr id="12" name="">
            <a:extLst xmlns:a="http://schemas.openxmlformats.org/drawingml/2006/main">
              <a:ext uri="{FF2B5EF4-FFF2-40B4-BE49-F238E27FC236}">
                <a16:creationId xmlns:a16="http://schemas.microsoft.com/office/drawing/2014/main" id="{04A60C2D-7745-404C-B71E-811C10DA1181}"/>
              </a:ext>
            </a:extLst>
          </p:cNvPr>
          <p:cNvSpPr>
            <a:spLocks xmlns:a="http://schemas.openxmlformats.org/drawingml/2006/main" noGrp="1"/>
          </p:cNvSpPr>
          <p:nvPr/>
        </p:nvSpPr>
        <p:spPr>
          <a:xfrm xmlns:a="http://schemas.openxmlformats.org/drawingml/2006/main">
            <a:off x="762000" y="323850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D96B18"/>
                </a:solidFill>
                <a:latin typeface="Arial"/>
                <a:ea typeface="Arial"/>
                <a:cs typeface="Arial"/>
              </a:defRPr>
            </a:pPr>
            <a:r>
              <a:rPr sz="2250" b="1">
                <a:solidFill>
                  <a:srgbClr val="D96B18"/>
                </a:solidFill>
                <a:latin typeface="Arial"/>
                <a:ea typeface="Arial"/>
                <a:cs typeface="Arial"/>
              </a:rPr>
              <a:t>P(H): punto de partida</a:t>
            </a:r>
          </a:p>
        </p:txBody>
      </p:sp>
      <p:sp>
        <p:nvSpPr>
          <p:cNvPr id="13" name="">
            <a:extLst xmlns:a="http://schemas.openxmlformats.org/drawingml/2006/main">
              <a:ext uri="{FF2B5EF4-FFF2-40B4-BE49-F238E27FC236}">
                <a16:creationId xmlns:a16="http://schemas.microsoft.com/office/drawing/2014/main" id="{52AB88EB-D999-430D-BF3F-24B58C9AA15F}"/>
              </a:ext>
            </a:extLst>
          </p:cNvPr>
          <p:cNvSpPr>
            <a:spLocks xmlns:a="http://schemas.openxmlformats.org/drawingml/2006/main" noGrp="1"/>
          </p:cNvSpPr>
          <p:nvPr/>
        </p:nvSpPr>
        <p:spPr>
          <a:xfrm xmlns:a="http://schemas.openxmlformats.org/drawingml/2006/main">
            <a:off x="762000" y="36766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La probabilidad antes de incorporar esta evidencia.</a:t>
            </a:r>
          </a:p>
        </p:txBody>
      </p:sp>
      <p:sp>
        <p:nvSpPr>
          <p:cNvPr id="14" name="">
            <a:extLst xmlns:a="http://schemas.openxmlformats.org/drawingml/2006/main">
              <a:ext uri="{FF2B5EF4-FFF2-40B4-BE49-F238E27FC236}">
                <a16:creationId xmlns:a16="http://schemas.microsoft.com/office/drawing/2014/main" id="{D135FAF4-A41A-4753-930A-6D42E0A042EF}"/>
              </a:ext>
            </a:extLst>
          </p:cNvPr>
          <p:cNvSpPr>
            <a:spLocks xmlns:a="http://schemas.openxmlformats.org/drawingml/2006/main" noGrp="1"/>
          </p:cNvSpPr>
          <p:nvPr/>
        </p:nvSpPr>
        <p:spPr>
          <a:xfrm xmlns:a="http://schemas.openxmlformats.org/drawingml/2006/main">
            <a:off x="762000" y="440055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D96B18"/>
                </a:solidFill>
                <a:latin typeface="Arial"/>
                <a:ea typeface="Arial"/>
                <a:cs typeface="Arial"/>
              </a:defRPr>
            </a:pPr>
            <a:r>
              <a:rPr sz="2250" b="1">
                <a:solidFill>
                  <a:srgbClr val="D96B18"/>
                </a:solidFill>
                <a:latin typeface="Arial"/>
                <a:ea typeface="Arial"/>
                <a:cs typeface="Arial"/>
              </a:rPr>
              <a:t>P(E | H): compatibilidad con la observación</a:t>
            </a:r>
          </a:p>
        </p:txBody>
      </p:sp>
      <p:sp>
        <p:nvSpPr>
          <p:cNvPr id="15" name="">
            <a:extLst xmlns:a="http://schemas.openxmlformats.org/drawingml/2006/main">
              <a:ext uri="{FF2B5EF4-FFF2-40B4-BE49-F238E27FC236}">
                <a16:creationId xmlns:a16="http://schemas.microsoft.com/office/drawing/2014/main" id="{531076D8-4659-4855-BC94-B30F945DD36D}"/>
              </a:ext>
            </a:extLst>
          </p:cNvPr>
          <p:cNvSpPr>
            <a:spLocks xmlns:a="http://schemas.openxmlformats.org/drawingml/2006/main" noGrp="1"/>
          </p:cNvSpPr>
          <p:nvPr/>
        </p:nvSpPr>
        <p:spPr>
          <a:xfrm xmlns:a="http://schemas.openxmlformats.org/drawingml/2006/main">
            <a:off x="762000" y="48387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Cuánto cabe esperar esa evidencia si H es cierta.</a:t>
            </a:r>
          </a:p>
        </p:txBody>
      </p:sp>
      <p:sp>
        <p:nvSpPr>
          <p:cNvPr id="16" name="">
            <a:extLst xmlns:a="http://schemas.openxmlformats.org/drawingml/2006/main">
              <a:ext uri="{FF2B5EF4-FFF2-40B4-BE49-F238E27FC236}">
                <a16:creationId xmlns:a16="http://schemas.microsoft.com/office/drawing/2014/main" id="{39773709-5AD4-46C6-A0AF-E92721B1D8A0}"/>
              </a:ext>
            </a:extLst>
          </p:cNvPr>
          <p:cNvSpPr>
            <a:spLocks xmlns:a="http://schemas.openxmlformats.org/drawingml/2006/main" noGrp="1"/>
          </p:cNvSpPr>
          <p:nvPr/>
        </p:nvSpPr>
        <p:spPr>
          <a:xfrm xmlns:a="http://schemas.openxmlformats.org/drawingml/2006/main">
            <a:off x="762000" y="60102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Dividimos por P(E) para que las probabilidades posteriores sumen 1.</a:t>
            </a:r>
          </a:p>
        </p:txBody>
      </p:sp>
    </p:spTree>
    <p:extLst>
      <p:ext uri="{BB962C8B-B14F-4D97-AF65-F5344CB8AC3E}">
        <p14:creationId xmlns:p14="http://schemas.microsoft.com/office/powerpoint/2010/main" val="172189652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Diagnóstico bayesiano · PROVISIONAL</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11</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D96B18"/>
                </a:solidFill>
                <a:latin typeface="Arial"/>
                <a:ea typeface="Arial"/>
                <a:cs typeface="Arial"/>
              </a:defRPr>
            </a:pPr>
            <a:r>
              <a:rPr sz="3000" b="0">
                <a:solidFill>
                  <a:srgbClr val="D96B18"/>
                </a:solidFill>
                <a:latin typeface="Arial"/>
                <a:ea typeface="Arial"/>
                <a:cs typeface="Arial"/>
              </a:rPr>
              <a:t>La red completa: grafo y probabilidades</a:t>
            </a:r>
          </a:p>
        </p:txBody>
      </p:sp>
      <p:sp>
        <p:nvSpPr>
          <p:cNvPr id="9" name="">
            <a:extLst xmlns:a="http://schemas.openxmlformats.org/drawingml/2006/main">
              <a:ext uri="{FF2B5EF4-FFF2-40B4-BE49-F238E27FC236}">
                <a16:creationId xmlns:a16="http://schemas.microsoft.com/office/drawing/2014/main" id="{C4FB9974-F5C6-4EDC-84DE-CCD1FB94145E}"/>
              </a:ext>
            </a:extLst>
          </p:cNvPr>
          <p:cNvSpPr>
            <a:spLocks xmlns:a="http://schemas.openxmlformats.org/drawingml/2006/main" noGrp="1"/>
          </p:cNvSpPr>
          <p:nvPr/>
        </p:nvSpPr>
        <p:spPr>
          <a:xfrm xmlns:a="http://schemas.openxmlformats.org/drawingml/2006/main">
            <a:off x="762000" y="13811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7950A0"/>
                </a:solidFill>
                <a:latin typeface="Arial"/>
                <a:ea typeface="Arial"/>
                <a:cs typeface="Arial"/>
              </a:defRPr>
            </a:pPr>
            <a:r>
              <a:rPr sz="1500" b="1">
                <a:solidFill>
                  <a:srgbClr val="7950A0"/>
                </a:solidFill>
                <a:latin typeface="Arial"/>
                <a:ea typeface="Arial"/>
                <a:cs typeface="Arial"/>
              </a:rPr>
              <a:t>MODELO DE DIAGNÓSTICO</a:t>
            </a:r>
          </a:p>
        </p:txBody>
      </p:sp>
      <p:sp>
        <p:nvSpPr>
          <p:cNvPr id="10" name="">
            <a:extLst xmlns:a="http://schemas.openxmlformats.org/drawingml/2006/main">
              <a:ext uri="{FF2B5EF4-FFF2-40B4-BE49-F238E27FC236}">
                <a16:creationId xmlns:a16="http://schemas.microsoft.com/office/drawing/2014/main" id="{B13AC3F6-3118-4A75-84B3-ED222A6C471E}"/>
              </a:ext>
            </a:extLst>
          </p:cNvPr>
          <p:cNvSpPr>
            <a:spLocks xmlns:a="http://schemas.openxmlformats.org/drawingml/2006/main" noGrp="1"/>
          </p:cNvSpPr>
          <p:nvPr/>
        </p:nvSpPr>
        <p:spPr>
          <a:xfrm xmlns:a="http://schemas.openxmlformats.org/drawingml/2006/main">
            <a:off x="762000" y="1724025"/>
            <a:ext cx="10668000" cy="28575"/>
          </a:xfrm>
          <a:prstGeom xmlns:a="http://schemas.openxmlformats.org/drawingml/2006/main" prst="rect">
            <a:avLst/>
          </a:prstGeom>
          <a:solidFill xmlns:a="http://schemas.openxmlformats.org/drawingml/2006/main">
            <a:srgbClr val="7950A0"/>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BA1579E9-3240-42BA-AF35-DED760D1F022}"/>
              </a:ext>
            </a:extLst>
          </p:cNvPr>
          <p:cNvSpPr>
            <a:spLocks xmlns:a="http://schemas.openxmlformats.org/drawingml/2006/main" noGrp="1"/>
          </p:cNvSpPr>
          <p:nvPr/>
        </p:nvSpPr>
        <p:spPr>
          <a:xfrm xmlns:a="http://schemas.openxmlformats.org/drawingml/2006/main">
            <a:off x="4210050" y="1933575"/>
            <a:ext cx="3771900" cy="1895475"/>
          </a:xfrm>
          <a:prstGeom xmlns:a="http://schemas.openxmlformats.org/drawingml/2006/main" prst="rect">
            <a:avLst/>
          </a:prstGeom>
          <a:solidFill xmlns:a="http://schemas.openxmlformats.org/drawingml/2006/main">
            <a:srgbClr val="FFFFFF"/>
          </a:solidFill>
          <a:ln xmlns:a="http://schemas.openxmlformats.org/drawingml/2006/main" w="19050">
            <a:solidFill>
              <a:srgbClr val="7950A0"/>
            </a:solidFill>
          </a:ln>
        </p:spPr>
        <p:txBody>
          <a:bodyPr xmlns:a="http://schemas.openxmlformats.org/drawingml/2006/main"/>
          <a:lstStyle xmlns:a="http://schemas.openxmlformats.org/drawingml/2006/main"/>
          <a:p xmlns:a="http://schemas.openxmlformats.org/drawingml/2006/main">
            <a:r>
              <a:t/>
            </a:r>
          </a:p>
        </p:txBody>
      </p:sp>
      <p:sp>
        <p:nvSpPr>
          <p:cNvPr id="12" name="">
            <a:extLst xmlns:a="http://schemas.openxmlformats.org/drawingml/2006/main">
              <a:ext uri="{FF2B5EF4-FFF2-40B4-BE49-F238E27FC236}">
                <a16:creationId xmlns:a16="http://schemas.microsoft.com/office/drawing/2014/main" id="{26BE6369-0BD4-4503-98FC-92DA3EDCC26E}"/>
              </a:ext>
            </a:extLst>
          </p:cNvPr>
          <p:cNvSpPr>
            <a:spLocks xmlns:a="http://schemas.openxmlformats.org/drawingml/2006/main" noGrp="1"/>
          </p:cNvSpPr>
          <p:nvPr/>
        </p:nvSpPr>
        <p:spPr>
          <a:xfrm xmlns:a="http://schemas.openxmlformats.org/drawingml/2006/main">
            <a:off x="4371975" y="1990725"/>
            <a:ext cx="3476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7950A0"/>
                </a:solidFill>
                <a:latin typeface="Arial"/>
                <a:ea typeface="Arial"/>
                <a:cs typeface="Arial"/>
              </a:defRPr>
            </a:pPr>
            <a:r>
              <a:rPr sz="2025" b="1">
                <a:solidFill>
                  <a:srgbClr val="7950A0"/>
                </a:solidFill>
                <a:latin typeface="Arial"/>
                <a:ea typeface="Arial"/>
                <a:cs typeface="Arial"/>
              </a:rPr>
              <a:t>H: causa principal</a:t>
            </a:r>
          </a:p>
        </p:txBody>
      </p:sp>
      <p:graphicFrame>
        <p:nvGraphicFramePr>
          <p:cNvPr id="37" name=""/>
          <p:cNvGraphicFramePr/>
          <p:nvPr/>
        </p:nvGraphicFramePr>
        <p:xfrm>
          <a:off xmlns:a="http://schemas.openxmlformats.org/drawingml/2006/main" x="4343400" y="2381250"/>
          <a:ext xmlns:a="http://schemas.openxmlformats.org/drawingml/2006/main" cx="3514725" cy="1333500"/>
        </p:xfrm>
        <a:graphic xmlns:a="http://schemas.openxmlformats.org/drawingml/2006/main">
          <a:graphicData uri="http://schemas.openxmlformats.org/drawingml/2006/table">
            <a:tbl>
              <a:tblPr/>
              <a:tblGrid>
                <a:gridCol w="2257425"/>
                <a:gridCol w="1257300"/>
              </a:tblGrid>
              <a:tr h="333375">
                <a:tc>
                  <a:txBody>
                    <a:bodyPr lIns="66675" tIns="47625" rIns="66675" bIns="47625"/>
                    <a:lstStyle/>
                    <a:p>
                      <a:pPr algn="ctr"/>
                      <a:r>
                        <a:rPr sz="1725" b="1">
                          <a:solidFill>
                            <a:srgbClr val="2162A0"/>
                          </a:solidFill>
                          <a:latin typeface="Arial"/>
                          <a:ea typeface="Arial"/>
                          <a:cs typeface="Arial"/>
                        </a:rPr>
                        <a:t>H</a:t>
                      </a:r>
                    </a:p>
                  </a:txBody>
                  <a:tcPr marL="91440" marR="91440" marT="45720" marB="45720" anchor="ctr">
                    <a:solidFill>
                      <a:srgbClr val="E8EFF5"/>
                    </a:solidFill>
                  </a:tcPr>
                </a:tc>
                <a:tc>
                  <a:txBody>
                    <a:bodyPr lIns="66675" tIns="47625" rIns="66675" bIns="47625"/>
                    <a:lstStyle/>
                    <a:p>
                      <a:pPr algn="ctr"/>
                      <a:r>
                        <a:rPr sz="1725" b="1">
                          <a:solidFill>
                            <a:srgbClr val="2162A0"/>
                          </a:solidFill>
                          <a:latin typeface="Arial"/>
                          <a:ea typeface="Arial"/>
                          <a:cs typeface="Arial"/>
                        </a:rPr>
                        <a:t>P(H)</a:t>
                      </a:r>
                    </a:p>
                  </a:txBody>
                  <a:tcPr marL="91440" marR="91440" marT="45720" marB="45720" anchor="ctr">
                    <a:solidFill>
                      <a:srgbClr val="E8EFF5"/>
                    </a:solidFill>
                  </a:tcPr>
                </a:tc>
              </a:tr>
              <a:tr h="333375">
                <a:tc>
                  <a:txBody>
                    <a:bodyPr lIns="66675" tIns="47625" rIns="66675" bIns="47625"/>
                    <a:lstStyle/>
                    <a:p>
                      <a:pPr algn="ctr"/>
                      <a:r>
                        <a:rPr sz="1725" b="0">
                          <a:solidFill>
                            <a:srgbClr val="233746"/>
                          </a:solidFill>
                          <a:latin typeface="Arial"/>
                          <a:ea typeface="Arial"/>
                          <a:cs typeface="Arial"/>
                        </a:rPr>
                        <a:t>Obstrucción</a:t>
                      </a:r>
                    </a:p>
                  </a:txBody>
                  <a:tcPr marL="91440" marR="91440" marT="45720" marB="45720" anchor="ctr">
                    <a:solidFill>
                      <a:srgbClr val="FFFFFF"/>
                    </a:solidFill>
                  </a:tcPr>
                </a:tc>
                <a:tc>
                  <a:txBody>
                    <a:bodyPr lIns="66675" tIns="47625" rIns="66675" bIns="47625"/>
                    <a:lstStyle/>
                    <a:p>
                      <a:pPr algn="ctr"/>
                      <a:r>
                        <a:rPr sz="1725" b="0">
                          <a:solidFill>
                            <a:srgbClr val="233746"/>
                          </a:solidFill>
                          <a:latin typeface="Arial"/>
                          <a:ea typeface="Arial"/>
                          <a:cs typeface="Arial"/>
                        </a:rPr>
                        <a:t>0,30</a:t>
                      </a:r>
                    </a:p>
                  </a:txBody>
                  <a:tcPr marL="91440" marR="91440" marT="45720" marB="45720" anchor="ctr">
                    <a:solidFill>
                      <a:srgbClr val="FFFFFF"/>
                    </a:solidFill>
                  </a:tcPr>
                </a:tc>
              </a:tr>
              <a:tr h="333375">
                <a:tc>
                  <a:txBody>
                    <a:bodyPr lIns="66675" tIns="47625" rIns="66675" bIns="47625"/>
                    <a:lstStyle/>
                    <a:p>
                      <a:pPr algn="ctr"/>
                      <a:r>
                        <a:rPr sz="1725" b="0">
                          <a:solidFill>
                            <a:srgbClr val="233746"/>
                          </a:solidFill>
                          <a:latin typeface="Arial"/>
                          <a:ea typeface="Arial"/>
                          <a:cs typeface="Arial"/>
                        </a:rPr>
                        <a:t>Fuga</a:t>
                      </a:r>
                    </a:p>
                  </a:txBody>
                  <a:tcPr marL="91440" marR="91440" marT="45720" marB="45720" anchor="ctr">
                    <a:solidFill>
                      <a:srgbClr val="F5F7F9"/>
                    </a:solidFill>
                  </a:tcPr>
                </a:tc>
                <a:tc>
                  <a:txBody>
                    <a:bodyPr lIns="66675" tIns="47625" rIns="66675" bIns="47625"/>
                    <a:lstStyle/>
                    <a:p>
                      <a:pPr algn="ctr"/>
                      <a:r>
                        <a:rPr sz="1725" b="0">
                          <a:solidFill>
                            <a:srgbClr val="233746"/>
                          </a:solidFill>
                          <a:latin typeface="Arial"/>
                          <a:ea typeface="Arial"/>
                          <a:cs typeface="Arial"/>
                        </a:rPr>
                        <a:t>0,20</a:t>
                      </a:r>
                    </a:p>
                  </a:txBody>
                  <a:tcPr marL="91440" marR="91440" marT="45720" marB="45720" anchor="ctr">
                    <a:solidFill>
                      <a:srgbClr val="F5F7F9"/>
                    </a:solidFill>
                  </a:tcPr>
                </a:tc>
              </a:tr>
              <a:tr h="333375">
                <a:tc>
                  <a:txBody>
                    <a:bodyPr lIns="66675" tIns="47625" rIns="66675" bIns="47625"/>
                    <a:lstStyle/>
                    <a:p>
                      <a:pPr algn="ctr"/>
                      <a:r>
                        <a:rPr sz="1725" b="0">
                          <a:solidFill>
                            <a:srgbClr val="233746"/>
                          </a:solidFill>
                          <a:latin typeface="Arial"/>
                          <a:ea typeface="Arial"/>
                          <a:cs typeface="Arial"/>
                        </a:rPr>
                        <a:t>Otra</a:t>
                      </a:r>
                    </a:p>
                  </a:txBody>
                  <a:tcPr marL="91440" marR="91440" marT="45720" marB="45720" anchor="ctr">
                    <a:solidFill>
                      <a:srgbClr val="FFFFFF"/>
                    </a:solidFill>
                  </a:tcPr>
                </a:tc>
                <a:tc>
                  <a:txBody>
                    <a:bodyPr lIns="66675" tIns="47625" rIns="66675" bIns="47625"/>
                    <a:lstStyle/>
                    <a:p>
                      <a:pPr algn="ctr"/>
                      <a:r>
                        <a:rPr sz="1725" b="0">
                          <a:solidFill>
                            <a:srgbClr val="233746"/>
                          </a:solidFill>
                          <a:latin typeface="Arial"/>
                          <a:ea typeface="Arial"/>
                          <a:cs typeface="Arial"/>
                        </a:rPr>
                        <a:t>0,50</a:t>
                      </a:r>
                    </a:p>
                  </a:txBody>
                  <a:tcPr marL="91440" marR="91440" marT="45720" marB="45720" anchor="ctr">
                    <a:solidFill>
                      <a:srgbClr val="FFFFFF"/>
                    </a:solidFill>
                  </a:tcPr>
                </a:tc>
              </a:tr>
            </a:tbl>
          </a:graphicData>
        </a:graphic>
      </p:graphicFrame>
      <p:sp>
        <p:nvSpPr>
          <p:cNvPr id="14" name="">
            <a:extLst xmlns:a="http://schemas.openxmlformats.org/drawingml/2006/main">
              <a:ext uri="{FF2B5EF4-FFF2-40B4-BE49-F238E27FC236}">
                <a16:creationId xmlns:a16="http://schemas.microsoft.com/office/drawing/2014/main" id="{FCBB66B9-E516-4730-A505-FBB34C5023DB}"/>
              </a:ext>
            </a:extLst>
          </p:cNvPr>
          <p:cNvSpPr>
            <a:spLocks xmlns:a="http://schemas.openxmlformats.org/drawingml/2006/main" noGrp="1"/>
          </p:cNvSpPr>
          <p:nvPr/>
        </p:nvSpPr>
        <p:spPr>
          <a:xfrm xmlns:a="http://schemas.openxmlformats.org/drawingml/2006/main">
            <a:off x="762000" y="2095500"/>
            <a:ext cx="295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7950A0"/>
                </a:solidFill>
                <a:latin typeface="Arial"/>
                <a:ea typeface="Arial"/>
                <a:cs typeface="Arial"/>
              </a:defRPr>
            </a:pPr>
            <a:r>
              <a:rPr sz="2025" b="1">
                <a:solidFill>
                  <a:srgbClr val="7950A0"/>
                </a:solidFill>
                <a:latin typeface="Arial"/>
                <a:ea typeface="Arial"/>
                <a:cs typeface="Arial"/>
              </a:rPr>
              <a:t>Nodo sin padres</a:t>
            </a:r>
          </a:p>
        </p:txBody>
      </p:sp>
      <p:sp>
        <p:nvSpPr>
          <p:cNvPr id="15" name="">
            <a:extLst xmlns:a="http://schemas.openxmlformats.org/drawingml/2006/main">
              <a:ext uri="{FF2B5EF4-FFF2-40B4-BE49-F238E27FC236}">
                <a16:creationId xmlns:a16="http://schemas.microsoft.com/office/drawing/2014/main" id="{535E53EA-B33E-42D7-88CE-DB71CA85E88C}"/>
              </a:ext>
            </a:extLst>
          </p:cNvPr>
          <p:cNvSpPr>
            <a:spLocks xmlns:a="http://schemas.openxmlformats.org/drawingml/2006/main" noGrp="1"/>
          </p:cNvSpPr>
          <p:nvPr/>
        </p:nvSpPr>
        <p:spPr>
          <a:xfrm xmlns:a="http://schemas.openxmlformats.org/drawingml/2006/main">
            <a:off x="762000" y="2571750"/>
            <a:ext cx="2952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233746"/>
                </a:solidFill>
                <a:latin typeface="Arial"/>
                <a:ea typeface="Arial"/>
                <a:cs typeface="Arial"/>
              </a:defRPr>
            </a:pPr>
            <a:r>
              <a:rPr sz="1875" b="0">
                <a:solidFill>
                  <a:srgbClr val="233746"/>
                </a:solidFill>
                <a:latin typeface="Arial"/>
                <a:ea typeface="Arial"/>
                <a:cs typeface="Arial"/>
              </a:rPr>
              <a:t>Su tabla contiene</a:t>
            </a:r>
          </a:p>
          <a:p xmlns:a="http://schemas.openxmlformats.org/drawingml/2006/main">
            <a:pPr>
              <a:defRPr sz="1875" b="0">
                <a:solidFill>
                  <a:srgbClr val="233746"/>
                </a:solidFill>
                <a:latin typeface="Arial"/>
                <a:ea typeface="Arial"/>
                <a:cs typeface="Arial"/>
              </a:defRPr>
            </a:pPr>
            <a:r>
              <a:rPr sz="1875" b="0">
                <a:solidFill>
                  <a:srgbClr val="233746"/>
                </a:solidFill>
                <a:latin typeface="Arial"/>
                <a:ea typeface="Arial"/>
                <a:cs typeface="Arial"/>
              </a:rPr>
              <a:t>probabilidades iniciales.</a:t>
            </a:r>
          </a:p>
          <a:p xmlns:a="http://schemas.openxmlformats.org/drawingml/2006/main">
            <a:pPr>
              <a:defRPr sz="1875" b="0">
                <a:solidFill>
                  <a:srgbClr val="233746"/>
                </a:solidFill>
                <a:latin typeface="Arial"/>
                <a:ea typeface="Arial"/>
                <a:cs typeface="Arial"/>
              </a:defRPr>
            </a:pPr>
            <a:r>
              <a:t/>
            </a:r>
          </a:p>
          <a:p xmlns:a="http://schemas.openxmlformats.org/drawingml/2006/main">
            <a:pPr>
              <a:defRPr sz="1875" b="0">
                <a:solidFill>
                  <a:srgbClr val="233746"/>
                </a:solidFill>
                <a:latin typeface="Arial"/>
                <a:ea typeface="Arial"/>
                <a:cs typeface="Arial"/>
              </a:defRPr>
            </a:pPr>
            <a:r>
              <a:rPr sz="1875" b="0">
                <a:solidFill>
                  <a:srgbClr val="233746"/>
                </a:solidFill>
                <a:latin typeface="Arial"/>
                <a:ea typeface="Arial"/>
                <a:cs typeface="Arial"/>
              </a:rPr>
              <a:t>Valores ficticios.</a:t>
            </a:r>
          </a:p>
        </p:txBody>
      </p:sp>
      <p:sp>
        <p:nvSpPr>
          <p:cNvPr id="16" name="">
            <a:extLst xmlns:a="http://schemas.openxmlformats.org/drawingml/2006/main">
              <a:ext uri="{FF2B5EF4-FFF2-40B4-BE49-F238E27FC236}">
                <a16:creationId xmlns:a16="http://schemas.microsoft.com/office/drawing/2014/main" id="{A5BAD2BA-2EF9-4C95-BB16-FEDBF37048EB}"/>
              </a:ext>
            </a:extLst>
          </p:cNvPr>
          <p:cNvSpPr>
            <a:spLocks xmlns:a="http://schemas.openxmlformats.org/drawingml/2006/main" noGrp="1"/>
          </p:cNvSpPr>
          <p:nvPr/>
        </p:nvSpPr>
        <p:spPr>
          <a:xfrm xmlns:a="http://schemas.openxmlformats.org/drawingml/2006/main">
            <a:off x="8420100" y="2095500"/>
            <a:ext cx="295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7950A0"/>
                </a:solidFill>
                <a:latin typeface="Arial"/>
                <a:ea typeface="Arial"/>
                <a:cs typeface="Arial"/>
              </a:defRPr>
            </a:pPr>
            <a:r>
              <a:rPr sz="2025" b="1">
                <a:solidFill>
                  <a:srgbClr val="7950A0"/>
                </a:solidFill>
                <a:latin typeface="Arial"/>
                <a:ea typeface="Arial"/>
                <a:cs typeface="Arial"/>
              </a:rPr>
              <a:t>Nodo con padre H</a:t>
            </a:r>
          </a:p>
        </p:txBody>
      </p:sp>
      <p:sp>
        <p:nvSpPr>
          <p:cNvPr id="17" name="">
            <a:extLst xmlns:a="http://schemas.openxmlformats.org/drawingml/2006/main">
              <a:ext uri="{FF2B5EF4-FFF2-40B4-BE49-F238E27FC236}">
                <a16:creationId xmlns:a16="http://schemas.microsoft.com/office/drawing/2014/main" id="{EA63E36D-2BDE-4AC4-B845-F2C053CC84C1}"/>
              </a:ext>
            </a:extLst>
          </p:cNvPr>
          <p:cNvSpPr>
            <a:spLocks xmlns:a="http://schemas.openxmlformats.org/drawingml/2006/main" noGrp="1"/>
          </p:cNvSpPr>
          <p:nvPr/>
        </p:nvSpPr>
        <p:spPr>
          <a:xfrm xmlns:a="http://schemas.openxmlformats.org/drawingml/2006/main">
            <a:off x="8420100" y="2571750"/>
            <a:ext cx="2952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233746"/>
                </a:solidFill>
                <a:latin typeface="Arial"/>
                <a:ea typeface="Arial"/>
                <a:cs typeface="Arial"/>
              </a:defRPr>
            </a:pPr>
            <a:r>
              <a:rPr sz="1875" b="0">
                <a:solidFill>
                  <a:srgbClr val="233746"/>
                </a:solidFill>
                <a:latin typeface="Arial"/>
                <a:ea typeface="Arial"/>
                <a:cs typeface="Arial"/>
              </a:rPr>
              <a:t>Su tabla contiene</a:t>
            </a:r>
          </a:p>
          <a:p xmlns:a="http://schemas.openxmlformats.org/drawingml/2006/main">
            <a:pPr>
              <a:defRPr sz="1875" b="0">
                <a:solidFill>
                  <a:srgbClr val="233746"/>
                </a:solidFill>
                <a:latin typeface="Arial"/>
                <a:ea typeface="Arial"/>
                <a:cs typeface="Arial"/>
              </a:defRPr>
            </a:pPr>
            <a:r>
              <a:rPr sz="1875" b="0">
                <a:solidFill>
                  <a:srgbClr val="233746"/>
                </a:solidFill>
                <a:latin typeface="Arial"/>
                <a:ea typeface="Arial"/>
                <a:cs typeface="Arial"/>
              </a:rPr>
              <a:t>probabilidades</a:t>
            </a:r>
          </a:p>
          <a:p xmlns:a="http://schemas.openxmlformats.org/drawingml/2006/main">
            <a:pPr>
              <a:defRPr sz="1875" b="0">
                <a:solidFill>
                  <a:srgbClr val="233746"/>
                </a:solidFill>
                <a:latin typeface="Arial"/>
                <a:ea typeface="Arial"/>
                <a:cs typeface="Arial"/>
              </a:defRPr>
            </a:pPr>
            <a:r>
              <a:rPr sz="1875" b="0">
                <a:solidFill>
                  <a:srgbClr val="233746"/>
                </a:solidFill>
                <a:latin typeface="Arial"/>
                <a:ea typeface="Arial"/>
                <a:cs typeface="Arial"/>
              </a:rPr>
              <a:t>condicionadas a H.</a:t>
            </a:r>
          </a:p>
        </p:txBody>
      </p:sp>
      <p:sp>
        <p:nvSpPr>
          <p:cNvPr id="18" name="">
            <a:extLst xmlns:a="http://schemas.openxmlformats.org/drawingml/2006/main">
              <a:ext uri="{FF2B5EF4-FFF2-40B4-BE49-F238E27FC236}">
                <a16:creationId xmlns:a16="http://schemas.microsoft.com/office/drawing/2014/main" id="{1595052C-FF10-4471-B673-F2C1D05ACCCA}"/>
              </a:ext>
            </a:extLst>
          </p:cNvPr>
          <p:cNvSpPr>
            <a:spLocks xmlns:a="http://schemas.openxmlformats.org/drawingml/2006/main" noGrp="1"/>
          </p:cNvSpPr>
          <p:nvPr/>
        </p:nvSpPr>
        <p:spPr>
          <a:xfrm xmlns:a="http://schemas.openxmlformats.org/drawingml/2006/main">
            <a:off x="762000" y="4095750"/>
            <a:ext cx="5000625" cy="1847850"/>
          </a:xfrm>
          <a:prstGeom xmlns:a="http://schemas.openxmlformats.org/drawingml/2006/main" prst="rect">
            <a:avLst/>
          </a:prstGeom>
          <a:solidFill xmlns:a="http://schemas.openxmlformats.org/drawingml/2006/main">
            <a:srgbClr val="FFFFFF"/>
          </a:solidFill>
          <a:ln xmlns:a="http://schemas.openxmlformats.org/drawingml/2006/main" w="19050">
            <a:solidFill>
              <a:srgbClr val="7950A0"/>
            </a:solidFill>
          </a:ln>
        </p:spPr>
        <p:txBody>
          <a:bodyPr xmlns:a="http://schemas.openxmlformats.org/drawingml/2006/main"/>
          <a:lstStyle xmlns:a="http://schemas.openxmlformats.org/drawingml/2006/main"/>
          <a:p xmlns:a="http://schemas.openxmlformats.org/drawingml/2006/main">
            <a:r>
              <a:t/>
            </a:r>
          </a:p>
        </p:txBody>
      </p:sp>
      <p:sp>
        <p:nvSpPr>
          <p:cNvPr id="19" name="">
            <a:extLst xmlns:a="http://schemas.openxmlformats.org/drawingml/2006/main">
              <a:ext uri="{FF2B5EF4-FFF2-40B4-BE49-F238E27FC236}">
                <a16:creationId xmlns:a16="http://schemas.microsoft.com/office/drawing/2014/main" id="{733CE7C4-A238-45D0-BDF8-CDD54004A354}"/>
              </a:ext>
            </a:extLst>
          </p:cNvPr>
          <p:cNvSpPr>
            <a:spLocks xmlns:a="http://schemas.openxmlformats.org/drawingml/2006/main" noGrp="1"/>
          </p:cNvSpPr>
          <p:nvPr/>
        </p:nvSpPr>
        <p:spPr>
          <a:xfrm xmlns:a="http://schemas.openxmlformats.org/drawingml/2006/main">
            <a:off x="6429375" y="4095750"/>
            <a:ext cx="5000625" cy="1847850"/>
          </a:xfrm>
          <a:prstGeom xmlns:a="http://schemas.openxmlformats.org/drawingml/2006/main" prst="rect">
            <a:avLst/>
          </a:prstGeom>
          <a:solidFill xmlns:a="http://schemas.openxmlformats.org/drawingml/2006/main">
            <a:srgbClr val="FFFFFF"/>
          </a:solidFill>
          <a:ln xmlns:a="http://schemas.openxmlformats.org/drawingml/2006/main" w="19050">
            <a:solidFill>
              <a:srgbClr val="7950A0"/>
            </a:solidFill>
          </a:ln>
        </p:spPr>
        <p:txBody>
          <a:bodyPr xmlns:a="http://schemas.openxmlformats.org/drawingml/2006/main"/>
          <a:lstStyle xmlns:a="http://schemas.openxmlformats.org/drawingml/2006/main"/>
          <a:p xmlns:a="http://schemas.openxmlformats.org/drawingml/2006/main">
            <a:r>
              <a:t/>
            </a:r>
          </a:p>
        </p:txBody>
      </p:sp>
      <p:cxnSp>
        <p:nvCxnSpPr>
          <p:cNvPr id="44" name=""/>
          <p:cNvCxnSpPr>
            <a:stCxn xmlns:a="http://schemas.openxmlformats.org/drawingml/2006/main" id="11" idx="2"/>
            <a:endCxn xmlns:a="http://schemas.openxmlformats.org/drawingml/2006/main" id="18" idx="0"/>
          </p:cNvCxnSpPr>
          <p:nvPr/>
        </p:nvCxnSpPr>
        <p:spPr>
          <a:xfrm xmlns:a="http://schemas.openxmlformats.org/drawingml/2006/main" flipH="1">
            <a:off x="3262313" y="3829050"/>
            <a:ext cx="2833688" cy="266700"/>
          </a:xfrm>
          <a:prstGeom xmlns:a="http://schemas.openxmlformats.org/drawingml/2006/main" prst="straightConnector1">
            <a:avLst/>
          </a:prstGeom>
          <a:ln xmlns:a="http://schemas.openxmlformats.org/drawingml/2006/main" w="19050">
            <a:solidFill>
              <a:srgbClr val="2162A0"/>
            </a:solidFill>
            <a:tailEnd type="arrow" w="med" len="med"/>
          </a:ln>
        </p:spPr>
      </p:cxnSp>
      <p:cxnSp>
        <p:nvCxnSpPr>
          <p:cNvPr id="45" name=""/>
          <p:cNvCxnSpPr>
            <a:stCxn xmlns:a="http://schemas.openxmlformats.org/drawingml/2006/main" id="11" idx="2"/>
            <a:endCxn xmlns:a="http://schemas.openxmlformats.org/drawingml/2006/main" id="19" idx="0"/>
          </p:cNvCxnSpPr>
          <p:nvPr/>
        </p:nvCxnSpPr>
        <p:spPr>
          <a:xfrm xmlns:a="http://schemas.openxmlformats.org/drawingml/2006/main">
            <a:off x="6096000" y="3829050"/>
            <a:ext cx="2833688" cy="266700"/>
          </a:xfrm>
          <a:prstGeom xmlns:a="http://schemas.openxmlformats.org/drawingml/2006/main" prst="straightConnector1">
            <a:avLst/>
          </a:prstGeom>
          <a:ln xmlns:a="http://schemas.openxmlformats.org/drawingml/2006/main" w="19050">
            <a:solidFill>
              <a:srgbClr val="2162A0"/>
            </a:solidFill>
            <a:tailEnd type="arrow" w="med" len="med"/>
          </a:ln>
        </p:spPr>
      </p:cxnSp>
      <p:sp>
        <p:nvSpPr>
          <p:cNvPr id="22" name="">
            <a:extLst xmlns:a="http://schemas.openxmlformats.org/drawingml/2006/main">
              <a:ext uri="{FF2B5EF4-FFF2-40B4-BE49-F238E27FC236}">
                <a16:creationId xmlns:a16="http://schemas.microsoft.com/office/drawing/2014/main" id="{957576F7-EEB6-4EFE-B55B-F64124AA1FDE}"/>
              </a:ext>
            </a:extLst>
          </p:cNvPr>
          <p:cNvSpPr>
            <a:spLocks xmlns:a="http://schemas.openxmlformats.org/drawingml/2006/main" noGrp="1"/>
          </p:cNvSpPr>
          <p:nvPr/>
        </p:nvSpPr>
        <p:spPr>
          <a:xfrm xmlns:a="http://schemas.openxmlformats.org/drawingml/2006/main">
            <a:off x="885825" y="41529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7950A0"/>
                </a:solidFill>
                <a:latin typeface="Arial"/>
                <a:ea typeface="Arial"/>
                <a:cs typeface="Arial"/>
              </a:defRPr>
            </a:pPr>
            <a:r>
              <a:rPr sz="1875" b="1">
                <a:solidFill>
                  <a:srgbClr val="7950A0"/>
                </a:solidFill>
                <a:latin typeface="Arial"/>
                <a:ea typeface="Arial"/>
                <a:cs typeface="Arial"/>
              </a:rPr>
              <a:t>Q: caudal bajo. Tabla P(Q | H)</a:t>
            </a:r>
          </a:p>
        </p:txBody>
      </p:sp>
      <p:sp>
        <p:nvSpPr>
          <p:cNvPr id="23" name="">
            <a:extLst xmlns:a="http://schemas.openxmlformats.org/drawingml/2006/main">
              <a:ext uri="{FF2B5EF4-FFF2-40B4-BE49-F238E27FC236}">
                <a16:creationId xmlns:a16="http://schemas.microsoft.com/office/drawing/2014/main" id="{E3F0DC43-4D09-4B77-9821-E93AADE0FB5A}"/>
              </a:ext>
            </a:extLst>
          </p:cNvPr>
          <p:cNvSpPr>
            <a:spLocks xmlns:a="http://schemas.openxmlformats.org/drawingml/2006/main" noGrp="1"/>
          </p:cNvSpPr>
          <p:nvPr/>
        </p:nvSpPr>
        <p:spPr>
          <a:xfrm xmlns:a="http://schemas.openxmlformats.org/drawingml/2006/main">
            <a:off x="6553200" y="41529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7950A0"/>
                </a:solidFill>
                <a:latin typeface="Arial"/>
                <a:ea typeface="Arial"/>
                <a:cs typeface="Arial"/>
              </a:defRPr>
            </a:pPr>
            <a:r>
              <a:rPr sz="1875" b="1">
                <a:solidFill>
                  <a:srgbClr val="7950A0"/>
                </a:solidFill>
                <a:latin typeface="Arial"/>
                <a:ea typeface="Arial"/>
                <a:cs typeface="Arial"/>
              </a:rPr>
              <a:t>V: vibración alta. Tabla P(V | H)</a:t>
            </a:r>
          </a:p>
        </p:txBody>
      </p:sp>
      <p:graphicFrame>
        <p:nvGraphicFramePr>
          <p:cNvPr id="48" name=""/>
          <p:cNvGraphicFramePr/>
          <p:nvPr/>
        </p:nvGraphicFramePr>
        <p:xfrm>
          <a:off xmlns:a="http://schemas.openxmlformats.org/drawingml/2006/main" x="866775" y="4543425"/>
          <a:ext xmlns:a="http://schemas.openxmlformats.org/drawingml/2006/main" cx="4791075" cy="1295400"/>
        </p:xfrm>
        <a:graphic xmlns:a="http://schemas.openxmlformats.org/drawingml/2006/main">
          <a:graphicData uri="http://schemas.openxmlformats.org/drawingml/2006/table">
            <a:tbl>
              <a:tblPr/>
              <a:tblGrid>
                <a:gridCol w="2143125"/>
                <a:gridCol w="1323975"/>
                <a:gridCol w="1323975"/>
              </a:tblGrid>
              <a:tr h="323850">
                <a:tc>
                  <a:txBody>
                    <a:bodyPr lIns="66675" tIns="47625" rIns="66675" bIns="47625"/>
                    <a:lstStyle/>
                    <a:p>
                      <a:pPr algn="ctr"/>
                      <a:r>
                        <a:rPr sz="1575" b="1">
                          <a:solidFill>
                            <a:srgbClr val="2162A0"/>
                          </a:solidFill>
                          <a:latin typeface="Arial"/>
                          <a:ea typeface="Arial"/>
                          <a:cs typeface="Arial"/>
                        </a:rPr>
                        <a:t>Causa H</a:t>
                      </a:r>
                    </a:p>
                  </a:txBody>
                  <a:tcPr marL="91440" marR="91440" marT="45720" marB="45720" anchor="ctr">
                    <a:solidFill>
                      <a:srgbClr val="E8EFF5"/>
                    </a:solidFill>
                  </a:tcPr>
                </a:tc>
                <a:tc>
                  <a:txBody>
                    <a:bodyPr lIns="66675" tIns="47625" rIns="66675" bIns="47625"/>
                    <a:lstStyle/>
                    <a:p>
                      <a:pPr algn="ctr"/>
                      <a:r>
                        <a:rPr sz="1575" b="1">
                          <a:solidFill>
                            <a:srgbClr val="2162A0"/>
                          </a:solidFill>
                          <a:latin typeface="Arial"/>
                          <a:ea typeface="Arial"/>
                          <a:cs typeface="Arial"/>
                        </a:rPr>
                        <a:t>Q = sí</a:t>
                      </a:r>
                    </a:p>
                  </a:txBody>
                  <a:tcPr marL="91440" marR="91440" marT="45720" marB="45720" anchor="ctr">
                    <a:solidFill>
                      <a:srgbClr val="E8EFF5"/>
                    </a:solidFill>
                  </a:tcPr>
                </a:tc>
                <a:tc>
                  <a:txBody>
                    <a:bodyPr lIns="66675" tIns="47625" rIns="66675" bIns="47625"/>
                    <a:lstStyle/>
                    <a:p>
                      <a:pPr algn="ctr"/>
                      <a:r>
                        <a:rPr sz="1575" b="1">
                          <a:solidFill>
                            <a:srgbClr val="2162A0"/>
                          </a:solidFill>
                          <a:latin typeface="Arial"/>
                          <a:ea typeface="Arial"/>
                          <a:cs typeface="Arial"/>
                        </a:rPr>
                        <a:t>Q = no</a:t>
                      </a:r>
                    </a:p>
                  </a:txBody>
                  <a:tcPr marL="91440" marR="91440" marT="45720" marB="45720" anchor="ctr">
                    <a:solidFill>
                      <a:srgbClr val="E8EFF5"/>
                    </a:solidFill>
                  </a:tcPr>
                </a:tc>
              </a:tr>
              <a:tr h="323850">
                <a:tc>
                  <a:txBody>
                    <a:bodyPr lIns="66675" tIns="47625" rIns="66675" bIns="47625"/>
                    <a:lstStyle/>
                    <a:p>
                      <a:pPr algn="ctr"/>
                      <a:r>
                        <a:rPr sz="1575" b="0">
                          <a:solidFill>
                            <a:srgbClr val="233746"/>
                          </a:solidFill>
                          <a:latin typeface="Arial"/>
                          <a:ea typeface="Arial"/>
                          <a:cs typeface="Arial"/>
                        </a:rPr>
                        <a:t>Obstrucción</a:t>
                      </a:r>
                    </a:p>
                  </a:txBody>
                  <a:tcPr marL="91440" marR="91440" marT="45720" marB="45720" anchor="ctr">
                    <a:solidFill>
                      <a:srgbClr val="FFFFFF"/>
                    </a:solidFill>
                  </a:tcPr>
                </a:tc>
                <a:tc>
                  <a:txBody>
                    <a:bodyPr lIns="66675" tIns="47625" rIns="66675" bIns="47625"/>
                    <a:lstStyle/>
                    <a:p>
                      <a:pPr algn="ctr"/>
                      <a:r>
                        <a:rPr sz="1575" b="0">
                          <a:solidFill>
                            <a:srgbClr val="233746"/>
                          </a:solidFill>
                          <a:latin typeface="Arial"/>
                          <a:ea typeface="Arial"/>
                          <a:cs typeface="Arial"/>
                        </a:rPr>
                        <a:t>0,90</a:t>
                      </a:r>
                    </a:p>
                  </a:txBody>
                  <a:tcPr marL="91440" marR="91440" marT="45720" marB="45720" anchor="ctr">
                    <a:solidFill>
                      <a:srgbClr val="FFFFFF"/>
                    </a:solidFill>
                  </a:tcPr>
                </a:tc>
                <a:tc>
                  <a:txBody>
                    <a:bodyPr lIns="66675" tIns="47625" rIns="66675" bIns="47625"/>
                    <a:lstStyle/>
                    <a:p>
                      <a:pPr algn="ctr"/>
                      <a:r>
                        <a:rPr sz="1575" b="0">
                          <a:solidFill>
                            <a:srgbClr val="233746"/>
                          </a:solidFill>
                          <a:latin typeface="Arial"/>
                          <a:ea typeface="Arial"/>
                          <a:cs typeface="Arial"/>
                        </a:rPr>
                        <a:t>0,10</a:t>
                      </a:r>
                    </a:p>
                  </a:txBody>
                  <a:tcPr marL="91440" marR="91440" marT="45720" marB="45720" anchor="ctr">
                    <a:solidFill>
                      <a:srgbClr val="FFFFFF"/>
                    </a:solidFill>
                  </a:tcPr>
                </a:tc>
              </a:tr>
              <a:tr h="323850">
                <a:tc>
                  <a:txBody>
                    <a:bodyPr lIns="66675" tIns="47625" rIns="66675" bIns="47625"/>
                    <a:lstStyle/>
                    <a:p>
                      <a:pPr algn="ctr"/>
                      <a:r>
                        <a:rPr sz="1575" b="0">
                          <a:solidFill>
                            <a:srgbClr val="233746"/>
                          </a:solidFill>
                          <a:latin typeface="Arial"/>
                          <a:ea typeface="Arial"/>
                          <a:cs typeface="Arial"/>
                        </a:rPr>
                        <a:t>Fuga</a:t>
                      </a:r>
                    </a:p>
                  </a:txBody>
                  <a:tcPr marL="91440" marR="91440" marT="45720" marB="45720" anchor="ctr">
                    <a:solidFill>
                      <a:srgbClr val="F5F7F9"/>
                    </a:solidFill>
                  </a:tcPr>
                </a:tc>
                <a:tc>
                  <a:txBody>
                    <a:bodyPr lIns="66675" tIns="47625" rIns="66675" bIns="47625"/>
                    <a:lstStyle/>
                    <a:p>
                      <a:pPr algn="ctr"/>
                      <a:r>
                        <a:rPr sz="1575" b="0">
                          <a:solidFill>
                            <a:srgbClr val="233746"/>
                          </a:solidFill>
                          <a:latin typeface="Arial"/>
                          <a:ea typeface="Arial"/>
                          <a:cs typeface="Arial"/>
                        </a:rPr>
                        <a:t>0,80</a:t>
                      </a:r>
                    </a:p>
                  </a:txBody>
                  <a:tcPr marL="91440" marR="91440" marT="45720" marB="45720" anchor="ctr">
                    <a:solidFill>
                      <a:srgbClr val="F5F7F9"/>
                    </a:solidFill>
                  </a:tcPr>
                </a:tc>
                <a:tc>
                  <a:txBody>
                    <a:bodyPr lIns="66675" tIns="47625" rIns="66675" bIns="47625"/>
                    <a:lstStyle/>
                    <a:p>
                      <a:pPr algn="ctr"/>
                      <a:r>
                        <a:rPr sz="1575" b="0">
                          <a:solidFill>
                            <a:srgbClr val="233746"/>
                          </a:solidFill>
                          <a:latin typeface="Arial"/>
                          <a:ea typeface="Arial"/>
                          <a:cs typeface="Arial"/>
                        </a:rPr>
                        <a:t>0,20</a:t>
                      </a:r>
                    </a:p>
                  </a:txBody>
                  <a:tcPr marL="91440" marR="91440" marT="45720" marB="45720" anchor="ctr">
                    <a:solidFill>
                      <a:srgbClr val="F5F7F9"/>
                    </a:solidFill>
                  </a:tcPr>
                </a:tc>
              </a:tr>
              <a:tr h="323850">
                <a:tc>
                  <a:txBody>
                    <a:bodyPr lIns="66675" tIns="47625" rIns="66675" bIns="47625"/>
                    <a:lstStyle/>
                    <a:p>
                      <a:pPr algn="ctr"/>
                      <a:r>
                        <a:rPr sz="1575" b="0">
                          <a:solidFill>
                            <a:srgbClr val="233746"/>
                          </a:solidFill>
                          <a:latin typeface="Arial"/>
                          <a:ea typeface="Arial"/>
                          <a:cs typeface="Arial"/>
                        </a:rPr>
                        <a:t>Otra</a:t>
                      </a:r>
                    </a:p>
                  </a:txBody>
                  <a:tcPr marL="91440" marR="91440" marT="45720" marB="45720" anchor="ctr">
                    <a:solidFill>
                      <a:srgbClr val="FFFFFF"/>
                    </a:solidFill>
                  </a:tcPr>
                </a:tc>
                <a:tc>
                  <a:txBody>
                    <a:bodyPr lIns="66675" tIns="47625" rIns="66675" bIns="47625"/>
                    <a:lstStyle/>
                    <a:p>
                      <a:pPr algn="ctr"/>
                      <a:r>
                        <a:rPr sz="1575" b="0">
                          <a:solidFill>
                            <a:srgbClr val="233746"/>
                          </a:solidFill>
                          <a:latin typeface="Arial"/>
                          <a:ea typeface="Arial"/>
                          <a:cs typeface="Arial"/>
                        </a:rPr>
                        <a:t>0,10</a:t>
                      </a:r>
                    </a:p>
                  </a:txBody>
                  <a:tcPr marL="91440" marR="91440" marT="45720" marB="45720" anchor="ctr">
                    <a:solidFill>
                      <a:srgbClr val="FFFFFF"/>
                    </a:solidFill>
                  </a:tcPr>
                </a:tc>
                <a:tc>
                  <a:txBody>
                    <a:bodyPr lIns="66675" tIns="47625" rIns="66675" bIns="47625"/>
                    <a:lstStyle/>
                    <a:p>
                      <a:pPr algn="ctr"/>
                      <a:r>
                        <a:rPr sz="1575" b="0">
                          <a:solidFill>
                            <a:srgbClr val="233746"/>
                          </a:solidFill>
                          <a:latin typeface="Arial"/>
                          <a:ea typeface="Arial"/>
                          <a:cs typeface="Arial"/>
                        </a:rPr>
                        <a:t>0,90</a:t>
                      </a:r>
                    </a:p>
                  </a:txBody>
                  <a:tcPr marL="91440" marR="91440" marT="45720" marB="45720" anchor="ctr">
                    <a:solidFill>
                      <a:srgbClr val="FFFFFF"/>
                    </a:solidFill>
                  </a:tcPr>
                </a:tc>
              </a:tr>
            </a:tbl>
          </a:graphicData>
        </a:graphic>
      </p:graphicFrame>
      <p:graphicFrame>
        <p:nvGraphicFramePr>
          <p:cNvPr id="49" name=""/>
          <p:cNvGraphicFramePr/>
          <p:nvPr/>
        </p:nvGraphicFramePr>
        <p:xfrm>
          <a:off xmlns:a="http://schemas.openxmlformats.org/drawingml/2006/main" x="6534150" y="4543425"/>
          <a:ext xmlns:a="http://schemas.openxmlformats.org/drawingml/2006/main" cx="4791075" cy="1295400"/>
        </p:xfrm>
        <a:graphic xmlns:a="http://schemas.openxmlformats.org/drawingml/2006/main">
          <a:graphicData uri="http://schemas.openxmlformats.org/drawingml/2006/table">
            <a:tbl>
              <a:tblPr/>
              <a:tblGrid>
                <a:gridCol w="2143125"/>
                <a:gridCol w="1323975"/>
                <a:gridCol w="1323975"/>
              </a:tblGrid>
              <a:tr h="323850">
                <a:tc>
                  <a:txBody>
                    <a:bodyPr lIns="66675" tIns="47625" rIns="66675" bIns="47625"/>
                    <a:lstStyle/>
                    <a:p>
                      <a:pPr algn="ctr"/>
                      <a:r>
                        <a:rPr sz="1575" b="1">
                          <a:solidFill>
                            <a:srgbClr val="2162A0"/>
                          </a:solidFill>
                          <a:latin typeface="Arial"/>
                          <a:ea typeface="Arial"/>
                          <a:cs typeface="Arial"/>
                        </a:rPr>
                        <a:t>Causa H</a:t>
                      </a:r>
                    </a:p>
                  </a:txBody>
                  <a:tcPr marL="91440" marR="91440" marT="45720" marB="45720" anchor="ctr">
                    <a:solidFill>
                      <a:srgbClr val="E8EFF5"/>
                    </a:solidFill>
                  </a:tcPr>
                </a:tc>
                <a:tc>
                  <a:txBody>
                    <a:bodyPr lIns="66675" tIns="47625" rIns="66675" bIns="47625"/>
                    <a:lstStyle/>
                    <a:p>
                      <a:pPr algn="ctr"/>
                      <a:r>
                        <a:rPr sz="1575" b="1">
                          <a:solidFill>
                            <a:srgbClr val="2162A0"/>
                          </a:solidFill>
                          <a:latin typeface="Arial"/>
                          <a:ea typeface="Arial"/>
                          <a:cs typeface="Arial"/>
                        </a:rPr>
                        <a:t>V = sí</a:t>
                      </a:r>
                    </a:p>
                  </a:txBody>
                  <a:tcPr marL="91440" marR="91440" marT="45720" marB="45720" anchor="ctr">
                    <a:solidFill>
                      <a:srgbClr val="E8EFF5"/>
                    </a:solidFill>
                  </a:tcPr>
                </a:tc>
                <a:tc>
                  <a:txBody>
                    <a:bodyPr lIns="66675" tIns="47625" rIns="66675" bIns="47625"/>
                    <a:lstStyle/>
                    <a:p>
                      <a:pPr algn="ctr"/>
                      <a:r>
                        <a:rPr sz="1575" b="1">
                          <a:solidFill>
                            <a:srgbClr val="2162A0"/>
                          </a:solidFill>
                          <a:latin typeface="Arial"/>
                          <a:ea typeface="Arial"/>
                          <a:cs typeface="Arial"/>
                        </a:rPr>
                        <a:t>V = no</a:t>
                      </a:r>
                    </a:p>
                  </a:txBody>
                  <a:tcPr marL="91440" marR="91440" marT="45720" marB="45720" anchor="ctr">
                    <a:solidFill>
                      <a:srgbClr val="E8EFF5"/>
                    </a:solidFill>
                  </a:tcPr>
                </a:tc>
              </a:tr>
              <a:tr h="323850">
                <a:tc>
                  <a:txBody>
                    <a:bodyPr lIns="66675" tIns="47625" rIns="66675" bIns="47625"/>
                    <a:lstStyle/>
                    <a:p>
                      <a:pPr algn="ctr"/>
                      <a:r>
                        <a:rPr sz="1575" b="0">
                          <a:solidFill>
                            <a:srgbClr val="233746"/>
                          </a:solidFill>
                          <a:latin typeface="Arial"/>
                          <a:ea typeface="Arial"/>
                          <a:cs typeface="Arial"/>
                        </a:rPr>
                        <a:t>Obstrucción</a:t>
                      </a:r>
                    </a:p>
                  </a:txBody>
                  <a:tcPr marL="91440" marR="91440" marT="45720" marB="45720" anchor="ctr">
                    <a:solidFill>
                      <a:srgbClr val="FFFFFF"/>
                    </a:solidFill>
                  </a:tcPr>
                </a:tc>
                <a:tc>
                  <a:txBody>
                    <a:bodyPr lIns="66675" tIns="47625" rIns="66675" bIns="47625"/>
                    <a:lstStyle/>
                    <a:p>
                      <a:pPr algn="ctr"/>
                      <a:r>
                        <a:rPr sz="1575" b="0">
                          <a:solidFill>
                            <a:srgbClr val="233746"/>
                          </a:solidFill>
                          <a:latin typeface="Arial"/>
                          <a:ea typeface="Arial"/>
                          <a:cs typeface="Arial"/>
                        </a:rPr>
                        <a:t>0,80</a:t>
                      </a:r>
                    </a:p>
                  </a:txBody>
                  <a:tcPr marL="91440" marR="91440" marT="45720" marB="45720" anchor="ctr">
                    <a:solidFill>
                      <a:srgbClr val="FFFFFF"/>
                    </a:solidFill>
                  </a:tcPr>
                </a:tc>
                <a:tc>
                  <a:txBody>
                    <a:bodyPr lIns="66675" tIns="47625" rIns="66675" bIns="47625"/>
                    <a:lstStyle/>
                    <a:p>
                      <a:pPr algn="ctr"/>
                      <a:r>
                        <a:rPr sz="1575" b="0">
                          <a:solidFill>
                            <a:srgbClr val="233746"/>
                          </a:solidFill>
                          <a:latin typeface="Arial"/>
                          <a:ea typeface="Arial"/>
                          <a:cs typeface="Arial"/>
                        </a:rPr>
                        <a:t>0,20</a:t>
                      </a:r>
                    </a:p>
                  </a:txBody>
                  <a:tcPr marL="91440" marR="91440" marT="45720" marB="45720" anchor="ctr">
                    <a:solidFill>
                      <a:srgbClr val="FFFFFF"/>
                    </a:solidFill>
                  </a:tcPr>
                </a:tc>
              </a:tr>
              <a:tr h="323850">
                <a:tc>
                  <a:txBody>
                    <a:bodyPr lIns="66675" tIns="47625" rIns="66675" bIns="47625"/>
                    <a:lstStyle/>
                    <a:p>
                      <a:pPr algn="ctr"/>
                      <a:r>
                        <a:rPr sz="1575" b="0">
                          <a:solidFill>
                            <a:srgbClr val="233746"/>
                          </a:solidFill>
                          <a:latin typeface="Arial"/>
                          <a:ea typeface="Arial"/>
                          <a:cs typeface="Arial"/>
                        </a:rPr>
                        <a:t>Fuga</a:t>
                      </a:r>
                    </a:p>
                  </a:txBody>
                  <a:tcPr marL="91440" marR="91440" marT="45720" marB="45720" anchor="ctr">
                    <a:solidFill>
                      <a:srgbClr val="F5F7F9"/>
                    </a:solidFill>
                  </a:tcPr>
                </a:tc>
                <a:tc>
                  <a:txBody>
                    <a:bodyPr lIns="66675" tIns="47625" rIns="66675" bIns="47625"/>
                    <a:lstStyle/>
                    <a:p>
                      <a:pPr algn="ctr"/>
                      <a:r>
                        <a:rPr sz="1575" b="0">
                          <a:solidFill>
                            <a:srgbClr val="233746"/>
                          </a:solidFill>
                          <a:latin typeface="Arial"/>
                          <a:ea typeface="Arial"/>
                          <a:cs typeface="Arial"/>
                        </a:rPr>
                        <a:t>0,20</a:t>
                      </a:r>
                    </a:p>
                  </a:txBody>
                  <a:tcPr marL="91440" marR="91440" marT="45720" marB="45720" anchor="ctr">
                    <a:solidFill>
                      <a:srgbClr val="F5F7F9"/>
                    </a:solidFill>
                  </a:tcPr>
                </a:tc>
                <a:tc>
                  <a:txBody>
                    <a:bodyPr lIns="66675" tIns="47625" rIns="66675" bIns="47625"/>
                    <a:lstStyle/>
                    <a:p>
                      <a:pPr algn="ctr"/>
                      <a:r>
                        <a:rPr sz="1575" b="0">
                          <a:solidFill>
                            <a:srgbClr val="233746"/>
                          </a:solidFill>
                          <a:latin typeface="Arial"/>
                          <a:ea typeface="Arial"/>
                          <a:cs typeface="Arial"/>
                        </a:rPr>
                        <a:t>0,80</a:t>
                      </a:r>
                    </a:p>
                  </a:txBody>
                  <a:tcPr marL="91440" marR="91440" marT="45720" marB="45720" anchor="ctr">
                    <a:solidFill>
                      <a:srgbClr val="F5F7F9"/>
                    </a:solidFill>
                  </a:tcPr>
                </a:tc>
              </a:tr>
              <a:tr h="323850">
                <a:tc>
                  <a:txBody>
                    <a:bodyPr lIns="66675" tIns="47625" rIns="66675" bIns="47625"/>
                    <a:lstStyle/>
                    <a:p>
                      <a:pPr algn="ctr"/>
                      <a:r>
                        <a:rPr sz="1575" b="0">
                          <a:solidFill>
                            <a:srgbClr val="233746"/>
                          </a:solidFill>
                          <a:latin typeface="Arial"/>
                          <a:ea typeface="Arial"/>
                          <a:cs typeface="Arial"/>
                        </a:rPr>
                        <a:t>Otra</a:t>
                      </a:r>
                    </a:p>
                  </a:txBody>
                  <a:tcPr marL="91440" marR="91440" marT="45720" marB="45720" anchor="ctr">
                    <a:solidFill>
                      <a:srgbClr val="FFFFFF"/>
                    </a:solidFill>
                  </a:tcPr>
                </a:tc>
                <a:tc>
                  <a:txBody>
                    <a:bodyPr lIns="66675" tIns="47625" rIns="66675" bIns="47625"/>
                    <a:lstStyle/>
                    <a:p>
                      <a:pPr algn="ctr"/>
                      <a:r>
                        <a:rPr sz="1575" b="0">
                          <a:solidFill>
                            <a:srgbClr val="233746"/>
                          </a:solidFill>
                          <a:latin typeface="Arial"/>
                          <a:ea typeface="Arial"/>
                          <a:cs typeface="Arial"/>
                        </a:rPr>
                        <a:t>0,10</a:t>
                      </a:r>
                    </a:p>
                  </a:txBody>
                  <a:tcPr marL="91440" marR="91440" marT="45720" marB="45720" anchor="ctr">
                    <a:solidFill>
                      <a:srgbClr val="FFFFFF"/>
                    </a:solidFill>
                  </a:tcPr>
                </a:tc>
                <a:tc>
                  <a:txBody>
                    <a:bodyPr lIns="66675" tIns="47625" rIns="66675" bIns="47625"/>
                    <a:lstStyle/>
                    <a:p>
                      <a:pPr algn="ctr"/>
                      <a:r>
                        <a:rPr sz="1575" b="0">
                          <a:solidFill>
                            <a:srgbClr val="233746"/>
                          </a:solidFill>
                          <a:latin typeface="Arial"/>
                          <a:ea typeface="Arial"/>
                          <a:cs typeface="Arial"/>
                        </a:rPr>
                        <a:t>0,90</a:t>
                      </a:r>
                    </a:p>
                  </a:txBody>
                  <a:tcPr marL="91440" marR="91440" marT="45720" marB="45720" anchor="ctr">
                    <a:solidFill>
                      <a:srgbClr val="FFFFFF"/>
                    </a:solidFill>
                  </a:tcPr>
                </a:tc>
              </a:tr>
            </a:tbl>
          </a:graphicData>
        </a:graphic>
      </p:graphicFrame>
      <p:sp>
        <p:nvSpPr>
          <p:cNvPr id="26" name="">
            <a:extLst xmlns:a="http://schemas.openxmlformats.org/drawingml/2006/main">
              <a:ext uri="{FF2B5EF4-FFF2-40B4-BE49-F238E27FC236}">
                <a16:creationId xmlns:a16="http://schemas.microsoft.com/office/drawing/2014/main" id="{FE6C38F1-E98B-4D16-9198-F4FEC822E76E}"/>
              </a:ext>
            </a:extLst>
          </p:cNvPr>
          <p:cNvSpPr>
            <a:spLocks xmlns:a="http://schemas.openxmlformats.org/drawingml/2006/main" noGrp="1"/>
          </p:cNvSpPr>
          <p:nvPr/>
        </p:nvSpPr>
        <p:spPr>
          <a:xfrm xmlns:a="http://schemas.openxmlformats.org/drawingml/2006/main">
            <a:off x="762000" y="60388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D96B18"/>
                </a:solidFill>
                <a:latin typeface="Arial"/>
                <a:ea typeface="Arial"/>
                <a:cs typeface="Arial"/>
              </a:defRPr>
            </a:pPr>
            <a:r>
              <a:rPr sz="1800" b="1">
                <a:solidFill>
                  <a:srgbClr val="D96B18"/>
                </a:solidFill>
                <a:latin typeface="Arial"/>
                <a:ea typeface="Arial"/>
                <a:cs typeface="Arial"/>
              </a:rPr>
              <a:t>Los números pertenecen a las tablas de los nodos. Las flechas indican sus dependencias.</a:t>
            </a:r>
          </a:p>
        </p:txBody>
      </p:sp>
    </p:spTree>
    <p:extLst>
      <p:ext uri="{BB962C8B-B14F-4D97-AF65-F5344CB8AC3E}">
        <p14:creationId xmlns:p14="http://schemas.microsoft.com/office/powerpoint/2010/main" val="172189652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Diagnóstico bayesiano · PROVISIONAL</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12</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D96B18"/>
                </a:solidFill>
                <a:latin typeface="Arial"/>
                <a:ea typeface="Arial"/>
                <a:cs typeface="Arial"/>
              </a:defRPr>
            </a:pPr>
            <a:r>
              <a:rPr sz="3000" b="0">
                <a:solidFill>
                  <a:srgbClr val="D96B18"/>
                </a:solidFill>
                <a:latin typeface="Arial"/>
                <a:ea typeface="Arial"/>
                <a:cs typeface="Arial"/>
              </a:rPr>
              <a:t>La simplificación que permite multiplicar</a:t>
            </a:r>
          </a:p>
        </p:txBody>
      </p:sp>
      <p:sp>
        <p:nvSpPr>
          <p:cNvPr id="9" name="">
            <a:extLst xmlns:a="http://schemas.openxmlformats.org/drawingml/2006/main">
              <a:ext uri="{FF2B5EF4-FFF2-40B4-BE49-F238E27FC236}">
                <a16:creationId xmlns:a16="http://schemas.microsoft.com/office/drawing/2014/main" id="{C1FAEA51-E027-41D3-A27B-36AFE389BC1A}"/>
              </a:ext>
            </a:extLst>
          </p:cNvPr>
          <p:cNvSpPr>
            <a:spLocks xmlns:a="http://schemas.openxmlformats.org/drawingml/2006/main" noGrp="1"/>
          </p:cNvSpPr>
          <p:nvPr/>
        </p:nvSpPr>
        <p:spPr>
          <a:xfrm xmlns:a="http://schemas.openxmlformats.org/drawingml/2006/main">
            <a:off x="762000" y="13811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7950A0"/>
                </a:solidFill>
                <a:latin typeface="Arial"/>
                <a:ea typeface="Arial"/>
                <a:cs typeface="Arial"/>
              </a:defRPr>
            </a:pPr>
            <a:r>
              <a:rPr sz="1500" b="1">
                <a:solidFill>
                  <a:srgbClr val="7950A0"/>
                </a:solidFill>
                <a:latin typeface="Arial"/>
                <a:ea typeface="Arial"/>
                <a:cs typeface="Arial"/>
              </a:rPr>
              <a:t>MODELO DE DIAGNÓSTICO</a:t>
            </a:r>
          </a:p>
        </p:txBody>
      </p:sp>
      <p:sp>
        <p:nvSpPr>
          <p:cNvPr id="10" name="">
            <a:extLst xmlns:a="http://schemas.openxmlformats.org/drawingml/2006/main">
              <a:ext uri="{FF2B5EF4-FFF2-40B4-BE49-F238E27FC236}">
                <a16:creationId xmlns:a16="http://schemas.microsoft.com/office/drawing/2014/main" id="{FD03AA0B-134F-4F75-B4E7-1E4A41455AAE}"/>
              </a:ext>
            </a:extLst>
          </p:cNvPr>
          <p:cNvSpPr>
            <a:spLocks xmlns:a="http://schemas.openxmlformats.org/drawingml/2006/main" noGrp="1"/>
          </p:cNvSpPr>
          <p:nvPr/>
        </p:nvSpPr>
        <p:spPr>
          <a:xfrm xmlns:a="http://schemas.openxmlformats.org/drawingml/2006/main">
            <a:off x="762000" y="1724025"/>
            <a:ext cx="10668000" cy="28575"/>
          </a:xfrm>
          <a:prstGeom xmlns:a="http://schemas.openxmlformats.org/drawingml/2006/main" prst="rect">
            <a:avLst/>
          </a:prstGeom>
          <a:solidFill xmlns:a="http://schemas.openxmlformats.org/drawingml/2006/main">
            <a:srgbClr val="7950A0"/>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16D79E57-C4C4-49FE-8326-24F30CF0787A}"/>
              </a:ext>
            </a:extLst>
          </p:cNvPr>
          <p:cNvSpPr>
            <a:spLocks xmlns:a="http://schemas.openxmlformats.org/drawingml/2006/main" noGrp="1"/>
          </p:cNvSpPr>
          <p:nvPr/>
        </p:nvSpPr>
        <p:spPr>
          <a:xfrm xmlns:a="http://schemas.openxmlformats.org/drawingml/2006/main">
            <a:off x="2190750" y="2152650"/>
            <a:ext cx="2952750" cy="876300"/>
          </a:xfrm>
          <a:prstGeom xmlns:a="http://schemas.openxmlformats.org/drawingml/2006/main" prst="rect">
            <a:avLst/>
          </a:prstGeom>
          <a:solidFill xmlns:a="http://schemas.openxmlformats.org/drawingml/2006/main">
            <a:srgbClr val="FFFFFF"/>
          </a:solidFill>
          <a:ln xmlns:a="http://schemas.openxmlformats.org/drawingml/2006/main" w="19050">
            <a:solidFill>
              <a:srgbClr val="7950A0"/>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2025">
                <a:solidFill>
                  <a:srgbClr val="233746"/>
                </a:solidFill>
                <a:latin typeface="Arial"/>
                <a:ea typeface="Arial"/>
                <a:cs typeface="Arial"/>
              </a:defRPr>
            </a:pPr>
            <a:r>
              <a:rPr sz="2025">
                <a:solidFill>
                  <a:srgbClr val="233746"/>
                </a:solidFill>
                <a:latin typeface="Arial"/>
                <a:ea typeface="Arial"/>
                <a:cs typeface="Arial"/>
              </a:rPr>
              <a:t>H: causa principal</a:t>
            </a:r>
          </a:p>
        </p:txBody>
      </p:sp>
      <p:sp>
        <p:nvSpPr>
          <p:cNvPr id="12" name="">
            <a:extLst xmlns:a="http://schemas.openxmlformats.org/drawingml/2006/main">
              <a:ext uri="{FF2B5EF4-FFF2-40B4-BE49-F238E27FC236}">
                <a16:creationId xmlns:a16="http://schemas.microsoft.com/office/drawing/2014/main" id="{B327BAF8-B8A7-4805-B7FA-4EE860D2B2C3}"/>
              </a:ext>
            </a:extLst>
          </p:cNvPr>
          <p:cNvSpPr>
            <a:spLocks xmlns:a="http://schemas.openxmlformats.org/drawingml/2006/main" noGrp="1"/>
          </p:cNvSpPr>
          <p:nvPr/>
        </p:nvSpPr>
        <p:spPr>
          <a:xfrm xmlns:a="http://schemas.openxmlformats.org/drawingml/2006/main">
            <a:off x="762000" y="4057650"/>
            <a:ext cx="2762250" cy="876300"/>
          </a:xfrm>
          <a:prstGeom xmlns:a="http://schemas.openxmlformats.org/drawingml/2006/main" prst="rect">
            <a:avLst/>
          </a:prstGeom>
          <a:solidFill xmlns:a="http://schemas.openxmlformats.org/drawingml/2006/main">
            <a:srgbClr val="FFFFFF"/>
          </a:solidFill>
          <a:ln xmlns:a="http://schemas.openxmlformats.org/drawingml/2006/main" w="19050">
            <a:solidFill>
              <a:srgbClr val="7950A0"/>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2025">
                <a:solidFill>
                  <a:srgbClr val="233746"/>
                </a:solidFill>
                <a:latin typeface="Arial"/>
                <a:ea typeface="Arial"/>
                <a:cs typeface="Arial"/>
              </a:defRPr>
            </a:pPr>
            <a:r>
              <a:rPr sz="2025">
                <a:solidFill>
                  <a:srgbClr val="233746"/>
                </a:solidFill>
                <a:latin typeface="Arial"/>
                <a:ea typeface="Arial"/>
                <a:cs typeface="Arial"/>
              </a:rPr>
              <a:t>Q: caudal bajo</a:t>
            </a:r>
          </a:p>
        </p:txBody>
      </p:sp>
      <p:sp>
        <p:nvSpPr>
          <p:cNvPr id="13" name="">
            <a:extLst xmlns:a="http://schemas.openxmlformats.org/drawingml/2006/main">
              <a:ext uri="{FF2B5EF4-FFF2-40B4-BE49-F238E27FC236}">
                <a16:creationId xmlns:a16="http://schemas.microsoft.com/office/drawing/2014/main" id="{31294E13-D86F-4E0B-BB3C-EFDD47DB7202}"/>
              </a:ext>
            </a:extLst>
          </p:cNvPr>
          <p:cNvSpPr>
            <a:spLocks xmlns:a="http://schemas.openxmlformats.org/drawingml/2006/main" noGrp="1"/>
          </p:cNvSpPr>
          <p:nvPr/>
        </p:nvSpPr>
        <p:spPr>
          <a:xfrm xmlns:a="http://schemas.openxmlformats.org/drawingml/2006/main">
            <a:off x="4095750" y="4057650"/>
            <a:ext cx="2762250" cy="876300"/>
          </a:xfrm>
          <a:prstGeom xmlns:a="http://schemas.openxmlformats.org/drawingml/2006/main" prst="rect">
            <a:avLst/>
          </a:prstGeom>
          <a:solidFill xmlns:a="http://schemas.openxmlformats.org/drawingml/2006/main">
            <a:srgbClr val="FFFFFF"/>
          </a:solidFill>
          <a:ln xmlns:a="http://schemas.openxmlformats.org/drawingml/2006/main" w="19050">
            <a:solidFill>
              <a:srgbClr val="7950A0"/>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2025">
                <a:solidFill>
                  <a:srgbClr val="233746"/>
                </a:solidFill>
                <a:latin typeface="Arial"/>
                <a:ea typeface="Arial"/>
                <a:cs typeface="Arial"/>
              </a:defRPr>
            </a:pPr>
            <a:r>
              <a:rPr sz="2025">
                <a:solidFill>
                  <a:srgbClr val="233746"/>
                </a:solidFill>
                <a:latin typeface="Arial"/>
                <a:ea typeface="Arial"/>
                <a:cs typeface="Arial"/>
              </a:rPr>
              <a:t>V: Vibración alta</a:t>
            </a:r>
          </a:p>
        </p:txBody>
      </p:sp>
      <p:cxnSp>
        <p:nvCxnSpPr>
          <p:cNvPr id="56" name=""/>
          <p:cNvCxnSpPr>
            <a:stCxn xmlns:a="http://schemas.openxmlformats.org/drawingml/2006/main" id="11" idx="2"/>
            <a:endCxn xmlns:a="http://schemas.openxmlformats.org/drawingml/2006/main" id="12" idx="0"/>
          </p:cNvCxnSpPr>
          <p:nvPr/>
        </p:nvCxnSpPr>
        <p:spPr>
          <a:xfrm xmlns:a="http://schemas.openxmlformats.org/drawingml/2006/main" flipH="1">
            <a:off x="2143125" y="3028950"/>
            <a:ext cx="1524000" cy="1028700"/>
          </a:xfrm>
          <a:prstGeom xmlns:a="http://schemas.openxmlformats.org/drawingml/2006/main" prst="straightConnector1">
            <a:avLst/>
          </a:prstGeom>
          <a:ln xmlns:a="http://schemas.openxmlformats.org/drawingml/2006/main" w="19050">
            <a:solidFill>
              <a:srgbClr val="2162A0"/>
            </a:solidFill>
            <a:prstDash val="solid"/>
            <a:tailEnd type="arrow" w="med" len="med"/>
          </a:ln>
        </p:spPr>
      </p:cxnSp>
      <p:cxnSp>
        <p:nvCxnSpPr>
          <p:cNvPr id="57" name=""/>
          <p:cNvCxnSpPr>
            <a:stCxn xmlns:a="http://schemas.openxmlformats.org/drawingml/2006/main" id="11" idx="2"/>
            <a:endCxn xmlns:a="http://schemas.openxmlformats.org/drawingml/2006/main" id="13" idx="0"/>
          </p:cNvCxnSpPr>
          <p:nvPr/>
        </p:nvCxnSpPr>
        <p:spPr>
          <a:xfrm xmlns:a="http://schemas.openxmlformats.org/drawingml/2006/main">
            <a:off x="3667125" y="3028950"/>
            <a:ext cx="1809750" cy="1028700"/>
          </a:xfrm>
          <a:prstGeom xmlns:a="http://schemas.openxmlformats.org/drawingml/2006/main" prst="straightConnector1">
            <a:avLst/>
          </a:prstGeom>
          <a:ln xmlns:a="http://schemas.openxmlformats.org/drawingml/2006/main" w="19050">
            <a:solidFill>
              <a:srgbClr val="2162A0"/>
            </a:solidFill>
            <a:prstDash val="solid"/>
            <a:tailEnd type="arrow" w="med" len="med"/>
          </a:ln>
        </p:spPr>
      </p:cxnSp>
      <p:sp>
        <p:nvSpPr>
          <p:cNvPr id="16" name="">
            <a:extLst xmlns:a="http://schemas.openxmlformats.org/drawingml/2006/main">
              <a:ext uri="{FF2B5EF4-FFF2-40B4-BE49-F238E27FC236}">
                <a16:creationId xmlns:a16="http://schemas.microsoft.com/office/drawing/2014/main" id="{B7F5AE29-CEAA-4058-A911-FD68A8E30301}"/>
              </a:ext>
            </a:extLst>
          </p:cNvPr>
          <p:cNvSpPr>
            <a:spLocks xmlns:a="http://schemas.openxmlformats.org/drawingml/2006/main" noGrp="1"/>
          </p:cNvSpPr>
          <p:nvPr/>
        </p:nvSpPr>
        <p:spPr>
          <a:xfrm xmlns:a="http://schemas.openxmlformats.org/drawingml/2006/main">
            <a:off x="7334250" y="2266950"/>
            <a:ext cx="404812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0">
                <a:solidFill>
                  <a:srgbClr val="233746"/>
                </a:solidFill>
                <a:latin typeface="Arial"/>
                <a:ea typeface="Arial"/>
                <a:cs typeface="Arial"/>
              </a:defRPr>
            </a:pPr>
            <a:r>
              <a:rPr sz="2250" b="0">
                <a:solidFill>
                  <a:srgbClr val="233746"/>
                </a:solidFill>
                <a:latin typeface="Arial"/>
                <a:ea typeface="Arial"/>
                <a:cs typeface="Arial"/>
              </a:rPr>
              <a:t>Suponemos que, conocida H, observar Q no aporta información adicional sobre V.</a:t>
            </a:r>
          </a:p>
        </p:txBody>
      </p:sp>
      <p:sp>
        <p:nvSpPr>
          <p:cNvPr id="17" name="">
            <a:extLst xmlns:a="http://schemas.openxmlformats.org/drawingml/2006/main">
              <a:ext uri="{FF2B5EF4-FFF2-40B4-BE49-F238E27FC236}">
                <a16:creationId xmlns:a16="http://schemas.microsoft.com/office/drawing/2014/main" id="{4395DAAF-BAA6-4DD3-B706-236E673E38DD}"/>
              </a:ext>
            </a:extLst>
          </p:cNvPr>
          <p:cNvSpPr>
            <a:spLocks xmlns:a="http://schemas.openxmlformats.org/drawingml/2006/main" noGrp="1"/>
          </p:cNvSpPr>
          <p:nvPr/>
        </p:nvSpPr>
        <p:spPr>
          <a:xfrm xmlns:a="http://schemas.openxmlformats.org/drawingml/2006/main">
            <a:off x="762000" y="5400675"/>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625" b="1">
                <a:solidFill>
                  <a:srgbClr val="7950A0"/>
                </a:solidFill>
                <a:latin typeface="Arial"/>
                <a:ea typeface="Arial"/>
                <a:cs typeface="Arial"/>
              </a:defRPr>
            </a:pPr>
            <a:r>
              <a:rPr sz="2625" b="1">
                <a:solidFill>
                  <a:srgbClr val="7950A0"/>
                </a:solidFill>
                <a:latin typeface="Arial"/>
                <a:ea typeface="Arial"/>
                <a:cs typeface="Arial"/>
              </a:rPr>
              <a:t>P(Q, V | H) = P(Q | H) · P(V | H)</a:t>
            </a:r>
          </a:p>
        </p:txBody>
      </p:sp>
      <p:sp>
        <p:nvSpPr>
          <p:cNvPr id="18" name="">
            <a:extLst xmlns:a="http://schemas.openxmlformats.org/drawingml/2006/main">
              <a:ext uri="{FF2B5EF4-FFF2-40B4-BE49-F238E27FC236}">
                <a16:creationId xmlns:a16="http://schemas.microsoft.com/office/drawing/2014/main" id="{45B03156-0893-4596-A17B-7464FDEFB8C5}"/>
              </a:ext>
            </a:extLst>
          </p:cNvPr>
          <p:cNvSpPr>
            <a:spLocks xmlns:a="http://schemas.openxmlformats.org/drawingml/2006/main" noGrp="1"/>
          </p:cNvSpPr>
          <p:nvPr/>
        </p:nvSpPr>
        <p:spPr>
          <a:xfrm xmlns:a="http://schemas.openxmlformats.org/drawingml/2006/main">
            <a:off x="762000" y="60102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Naive Bayes supone independencia de los síntomas dada la causa. Debemos justificarla.</a:t>
            </a:r>
          </a:p>
        </p:txBody>
      </p:sp>
    </p:spTree>
    <p:extLst>
      <p:ext uri="{BB962C8B-B14F-4D97-AF65-F5344CB8AC3E}">
        <p14:creationId xmlns:p14="http://schemas.microsoft.com/office/powerpoint/2010/main" val="172189652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Diagnóstico bayesiano · PROVISIONAL</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13</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D96B18"/>
                </a:solidFill>
                <a:latin typeface="Arial"/>
                <a:ea typeface="Arial"/>
                <a:cs typeface="Arial"/>
              </a:defRPr>
            </a:pPr>
            <a:r>
              <a:rPr sz="3000" b="0">
                <a:solidFill>
                  <a:srgbClr val="D96B18"/>
                </a:solidFill>
                <a:latin typeface="Arial"/>
                <a:ea typeface="Arial"/>
                <a:cs typeface="Arial"/>
              </a:rPr>
              <a:t>Cómo leer los números de la red</a:t>
            </a:r>
          </a:p>
        </p:txBody>
      </p:sp>
      <p:sp>
        <p:nvSpPr>
          <p:cNvPr id="9" name="">
            <a:extLst xmlns:a="http://schemas.openxmlformats.org/drawingml/2006/main">
              <a:ext uri="{FF2B5EF4-FFF2-40B4-BE49-F238E27FC236}">
                <a16:creationId xmlns:a16="http://schemas.microsoft.com/office/drawing/2014/main" id="{23F4D847-CCE1-4128-8228-2BE3B47899D3}"/>
              </a:ext>
            </a:extLst>
          </p:cNvPr>
          <p:cNvSpPr>
            <a:spLocks xmlns:a="http://schemas.openxmlformats.org/drawingml/2006/main" noGrp="1"/>
          </p:cNvSpPr>
          <p:nvPr/>
        </p:nvSpPr>
        <p:spPr>
          <a:xfrm xmlns:a="http://schemas.openxmlformats.org/drawingml/2006/main">
            <a:off x="762000" y="13811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7950A0"/>
                </a:solidFill>
                <a:latin typeface="Arial"/>
                <a:ea typeface="Arial"/>
                <a:cs typeface="Arial"/>
              </a:defRPr>
            </a:pPr>
            <a:r>
              <a:rPr sz="1500" b="1">
                <a:solidFill>
                  <a:srgbClr val="7950A0"/>
                </a:solidFill>
                <a:latin typeface="Arial"/>
                <a:ea typeface="Arial"/>
                <a:cs typeface="Arial"/>
              </a:rPr>
              <a:t>MODELO DE DIAGNÓSTICO</a:t>
            </a:r>
          </a:p>
        </p:txBody>
      </p:sp>
      <p:sp>
        <p:nvSpPr>
          <p:cNvPr id="10" name="">
            <a:extLst xmlns:a="http://schemas.openxmlformats.org/drawingml/2006/main">
              <a:ext uri="{FF2B5EF4-FFF2-40B4-BE49-F238E27FC236}">
                <a16:creationId xmlns:a16="http://schemas.microsoft.com/office/drawing/2014/main" id="{D6B089E1-C474-432E-A477-7665B23096DE}"/>
              </a:ext>
            </a:extLst>
          </p:cNvPr>
          <p:cNvSpPr>
            <a:spLocks xmlns:a="http://schemas.openxmlformats.org/drawingml/2006/main" noGrp="1"/>
          </p:cNvSpPr>
          <p:nvPr/>
        </p:nvSpPr>
        <p:spPr>
          <a:xfrm xmlns:a="http://schemas.openxmlformats.org/drawingml/2006/main">
            <a:off x="762000" y="1724025"/>
            <a:ext cx="10668000" cy="28575"/>
          </a:xfrm>
          <a:prstGeom xmlns:a="http://schemas.openxmlformats.org/drawingml/2006/main" prst="rect">
            <a:avLst/>
          </a:prstGeom>
          <a:solidFill xmlns:a="http://schemas.openxmlformats.org/drawingml/2006/main">
            <a:srgbClr val="7950A0"/>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42B84085-BC39-43F3-88E3-31F3332A625D}"/>
              </a:ext>
            </a:extLst>
          </p:cNvPr>
          <p:cNvSpPr>
            <a:spLocks xmlns:a="http://schemas.openxmlformats.org/drawingml/2006/main" noGrp="1"/>
          </p:cNvSpPr>
          <p:nvPr/>
        </p:nvSpPr>
        <p:spPr>
          <a:xfrm xmlns:a="http://schemas.openxmlformats.org/drawingml/2006/main">
            <a:off x="762000" y="20097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00" b="1">
                <a:solidFill>
                  <a:srgbClr val="7950A0"/>
                </a:solidFill>
                <a:latin typeface="Arial"/>
                <a:ea typeface="Arial"/>
                <a:cs typeface="Arial"/>
              </a:defRPr>
            </a:pPr>
            <a:r>
              <a:rPr sz="2700" b="1">
                <a:solidFill>
                  <a:srgbClr val="7950A0"/>
                </a:solidFill>
                <a:latin typeface="Arial"/>
                <a:ea typeface="Arial"/>
                <a:cs typeface="Arial"/>
              </a:rPr>
              <a:t>P(H = obstrucción) = 0,30</a:t>
            </a:r>
          </a:p>
        </p:txBody>
      </p:sp>
      <p:sp>
        <p:nvSpPr>
          <p:cNvPr id="12" name="">
            <a:extLst xmlns:a="http://schemas.openxmlformats.org/drawingml/2006/main">
              <a:ext uri="{FF2B5EF4-FFF2-40B4-BE49-F238E27FC236}">
                <a16:creationId xmlns:a16="http://schemas.microsoft.com/office/drawing/2014/main" id="{B64C3AD6-03C2-462D-8AC0-F9AB6D35DF0C}"/>
              </a:ext>
            </a:extLst>
          </p:cNvPr>
          <p:cNvSpPr>
            <a:spLocks xmlns:a="http://schemas.openxmlformats.org/drawingml/2006/main" noGrp="1"/>
          </p:cNvSpPr>
          <p:nvPr/>
        </p:nvSpPr>
        <p:spPr>
          <a:xfrm xmlns:a="http://schemas.openxmlformats.org/drawingml/2006/main">
            <a:off x="762000" y="2686050"/>
            <a:ext cx="10668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233746"/>
                </a:solidFill>
                <a:latin typeface="Arial"/>
                <a:ea typeface="Arial"/>
                <a:cs typeface="Arial"/>
              </a:defRPr>
            </a:pPr>
            <a:r>
              <a:rPr sz="2175" b="0">
                <a:solidFill>
                  <a:srgbClr val="233746"/>
                </a:solidFill>
                <a:latin typeface="Arial"/>
                <a:ea typeface="Arial"/>
                <a:cs typeface="Arial"/>
              </a:rPr>
              <a:t>Antes de observar los síntomas, asignamos un 30 % a esta causa.</a:t>
            </a:r>
          </a:p>
        </p:txBody>
      </p:sp>
      <p:sp>
        <p:nvSpPr>
          <p:cNvPr id="13" name="">
            <a:extLst xmlns:a="http://schemas.openxmlformats.org/drawingml/2006/main">
              <a:ext uri="{FF2B5EF4-FFF2-40B4-BE49-F238E27FC236}">
                <a16:creationId xmlns:a16="http://schemas.microsoft.com/office/drawing/2014/main" id="{5BAD355F-F2AD-4510-AB6C-A7D81FFFDF6B}"/>
              </a:ext>
            </a:extLst>
          </p:cNvPr>
          <p:cNvSpPr>
            <a:spLocks xmlns:a="http://schemas.openxmlformats.org/drawingml/2006/main" noGrp="1"/>
          </p:cNvSpPr>
          <p:nvPr/>
        </p:nvSpPr>
        <p:spPr>
          <a:xfrm xmlns:a="http://schemas.openxmlformats.org/drawingml/2006/main">
            <a:off x="762000" y="36766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00" b="1">
                <a:solidFill>
                  <a:srgbClr val="2162A0"/>
                </a:solidFill>
                <a:latin typeface="Arial"/>
                <a:ea typeface="Arial"/>
                <a:cs typeface="Arial"/>
              </a:defRPr>
            </a:pPr>
            <a:r>
              <a:rPr sz="2700" b="1">
                <a:solidFill>
                  <a:srgbClr val="2162A0"/>
                </a:solidFill>
                <a:latin typeface="Arial"/>
                <a:ea typeface="Arial"/>
                <a:cs typeface="Arial"/>
              </a:rPr>
              <a:t>P(Q = sí | H = obstrucción) = 0,90</a:t>
            </a:r>
          </a:p>
        </p:txBody>
      </p:sp>
      <p:sp>
        <p:nvSpPr>
          <p:cNvPr id="14" name="">
            <a:extLst xmlns:a="http://schemas.openxmlformats.org/drawingml/2006/main">
              <a:ext uri="{FF2B5EF4-FFF2-40B4-BE49-F238E27FC236}">
                <a16:creationId xmlns:a16="http://schemas.microsoft.com/office/drawing/2014/main" id="{E68649B9-8466-48F8-BBB6-EA95DA353A3E}"/>
              </a:ext>
            </a:extLst>
          </p:cNvPr>
          <p:cNvSpPr>
            <a:spLocks xmlns:a="http://schemas.openxmlformats.org/drawingml/2006/main" noGrp="1"/>
          </p:cNvSpPr>
          <p:nvPr/>
        </p:nvSpPr>
        <p:spPr>
          <a:xfrm xmlns:a="http://schemas.openxmlformats.org/drawingml/2006/main">
            <a:off x="762000" y="439102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233746"/>
                </a:solidFill>
                <a:latin typeface="Arial"/>
                <a:ea typeface="Arial"/>
                <a:cs typeface="Arial"/>
              </a:defRPr>
            </a:pPr>
            <a:r>
              <a:rPr sz="2250" b="0">
                <a:solidFill>
                  <a:srgbClr val="233746"/>
                </a:solidFill>
                <a:latin typeface="Arial"/>
                <a:ea typeface="Arial"/>
                <a:cs typeface="Arial"/>
              </a:rPr>
              <a:t>Si la causa es una obstrucción, el modelo asigna un 90 %</a:t>
            </a:r>
          </a:p>
          <a:p xmlns:a="http://schemas.openxmlformats.org/drawingml/2006/main">
            <a:pPr>
              <a:defRPr sz="2250" b="0">
                <a:solidFill>
                  <a:srgbClr val="233746"/>
                </a:solidFill>
                <a:latin typeface="Arial"/>
                <a:ea typeface="Arial"/>
                <a:cs typeface="Arial"/>
              </a:defRPr>
            </a:pPr>
            <a:r>
              <a:rPr sz="2250" b="0">
                <a:solidFill>
                  <a:srgbClr val="233746"/>
                </a:solidFill>
                <a:latin typeface="Arial"/>
                <a:ea typeface="Arial"/>
                <a:cs typeface="Arial"/>
              </a:rPr>
              <a:t>a que haya caudal bajo.</a:t>
            </a:r>
          </a:p>
        </p:txBody>
      </p:sp>
      <p:sp>
        <p:nvSpPr>
          <p:cNvPr id="15" name="">
            <a:extLst xmlns:a="http://schemas.openxmlformats.org/drawingml/2006/main">
              <a:ext uri="{FF2B5EF4-FFF2-40B4-BE49-F238E27FC236}">
                <a16:creationId xmlns:a16="http://schemas.microsoft.com/office/drawing/2014/main" id="{BCE032FD-FE4E-490E-9A92-A13CD7A17ED9}"/>
              </a:ext>
            </a:extLst>
          </p:cNvPr>
          <p:cNvSpPr>
            <a:spLocks xmlns:a="http://schemas.openxmlformats.org/drawingml/2006/main" noGrp="1"/>
          </p:cNvSpPr>
          <p:nvPr/>
        </p:nvSpPr>
        <p:spPr>
          <a:xfrm xmlns:a="http://schemas.openxmlformats.org/drawingml/2006/main">
            <a:off x="762000" y="60388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D96B18"/>
                </a:solidFill>
                <a:latin typeface="Arial"/>
                <a:ea typeface="Arial"/>
                <a:cs typeface="Arial"/>
              </a:defRPr>
            </a:pPr>
            <a:r>
              <a:rPr sz="1800" b="1">
                <a:solidFill>
                  <a:srgbClr val="D96B18"/>
                </a:solidFill>
                <a:latin typeface="Arial"/>
                <a:ea typeface="Arial"/>
                <a:cs typeface="Arial"/>
              </a:rPr>
              <a:t>La probabilidad de obstrucción después de observar caudal bajo requiere inferencia.</a:t>
            </a:r>
          </a:p>
        </p:txBody>
      </p:sp>
    </p:spTree>
    <p:extLst>
      <p:ext uri="{BB962C8B-B14F-4D97-AF65-F5344CB8AC3E}">
        <p14:creationId xmlns:p14="http://schemas.microsoft.com/office/powerpoint/2010/main" val="172189652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Diagnóstico bayesiano · PROVISIONAL</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14</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D96B18"/>
                </a:solidFill>
                <a:latin typeface="Arial"/>
                <a:ea typeface="Arial"/>
                <a:cs typeface="Arial"/>
              </a:defRPr>
            </a:pPr>
            <a:r>
              <a:rPr sz="3000" b="0">
                <a:solidFill>
                  <a:srgbClr val="D96B18"/>
                </a:solidFill>
                <a:latin typeface="Arial"/>
                <a:ea typeface="Arial"/>
                <a:cs typeface="Arial"/>
              </a:rPr>
              <a:t>Primera observación: la bomba tiene caudal bajo</a:t>
            </a:r>
          </a:p>
        </p:txBody>
      </p:sp>
      <p:sp>
        <p:nvSpPr>
          <p:cNvPr id="9" name="">
            <a:extLst xmlns:a="http://schemas.openxmlformats.org/drawingml/2006/main">
              <a:ext uri="{FF2B5EF4-FFF2-40B4-BE49-F238E27FC236}">
                <a16:creationId xmlns:a16="http://schemas.microsoft.com/office/drawing/2014/main" id="{3C2BF030-D53B-4133-9DE4-BC4501328ACF}"/>
              </a:ext>
            </a:extLst>
          </p:cNvPr>
          <p:cNvSpPr>
            <a:spLocks xmlns:a="http://schemas.openxmlformats.org/drawingml/2006/main" noGrp="1"/>
          </p:cNvSpPr>
          <p:nvPr/>
        </p:nvSpPr>
        <p:spPr>
          <a:xfrm xmlns:a="http://schemas.openxmlformats.org/drawingml/2006/main">
            <a:off x="762000" y="13811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087F79"/>
                </a:solidFill>
                <a:latin typeface="Arial"/>
                <a:ea typeface="Arial"/>
                <a:cs typeface="Arial"/>
              </a:defRPr>
            </a:pPr>
            <a:r>
              <a:rPr sz="1500" b="1">
                <a:solidFill>
                  <a:srgbClr val="087F79"/>
                </a:solidFill>
                <a:latin typeface="Arial"/>
                <a:ea typeface="Arial"/>
                <a:cs typeface="Arial"/>
              </a:rPr>
              <a:t>INFERENCIA PASO A PASO</a:t>
            </a:r>
          </a:p>
        </p:txBody>
      </p:sp>
      <p:sp>
        <p:nvSpPr>
          <p:cNvPr id="10" name="">
            <a:extLst xmlns:a="http://schemas.openxmlformats.org/drawingml/2006/main">
              <a:ext uri="{FF2B5EF4-FFF2-40B4-BE49-F238E27FC236}">
                <a16:creationId xmlns:a16="http://schemas.microsoft.com/office/drawing/2014/main" id="{73385389-C621-4336-89A0-7C3214877AB8}"/>
              </a:ext>
            </a:extLst>
          </p:cNvPr>
          <p:cNvSpPr>
            <a:spLocks xmlns:a="http://schemas.openxmlformats.org/drawingml/2006/main" noGrp="1"/>
          </p:cNvSpPr>
          <p:nvPr/>
        </p:nvSpPr>
        <p:spPr>
          <a:xfrm xmlns:a="http://schemas.openxmlformats.org/drawingml/2006/main">
            <a:off x="762000" y="1724025"/>
            <a:ext cx="10668000" cy="28575"/>
          </a:xfrm>
          <a:prstGeom xmlns:a="http://schemas.openxmlformats.org/drawingml/2006/main" prst="rect">
            <a:avLst/>
          </a:prstGeom>
          <a:solidFill xmlns:a="http://schemas.openxmlformats.org/drawingml/2006/main">
            <a:srgbClr val="087F79"/>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C7FACF96-A7CA-40C8-B677-74485A8B78F2}"/>
              </a:ext>
            </a:extLst>
          </p:cNvPr>
          <p:cNvSpPr>
            <a:spLocks xmlns:a="http://schemas.openxmlformats.org/drawingml/2006/main" noGrp="1"/>
          </p:cNvSpPr>
          <p:nvPr/>
        </p:nvSpPr>
        <p:spPr>
          <a:xfrm xmlns:a="http://schemas.openxmlformats.org/drawingml/2006/main">
            <a:off x="762000" y="193357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0">
                <a:solidFill>
                  <a:srgbClr val="233746"/>
                </a:solidFill>
                <a:latin typeface="Arial"/>
                <a:ea typeface="Arial"/>
                <a:cs typeface="Arial"/>
              </a:defRPr>
            </a:pPr>
            <a:r>
              <a:rPr sz="2250" b="0">
                <a:solidFill>
                  <a:srgbClr val="233746"/>
                </a:solidFill>
                <a:latin typeface="Arial"/>
                <a:ea typeface="Arial"/>
                <a:cs typeface="Arial"/>
              </a:rPr>
              <a:t>Evidencia: Q = sí. Todavía no hemos observado la vibración.</a:t>
            </a:r>
          </a:p>
        </p:txBody>
      </p:sp>
      <p:graphicFrame>
        <p:nvGraphicFramePr>
          <p:cNvPr id="24" name=""/>
          <p:cNvGraphicFramePr/>
          <p:nvPr/>
        </p:nvGraphicFramePr>
        <p:xfrm>
          <a:off xmlns:a="http://schemas.openxmlformats.org/drawingml/2006/main" x="762000" y="2867025"/>
          <a:ext xmlns:a="http://schemas.openxmlformats.org/drawingml/2006/main" cx="10668000" cy="2476500"/>
        </p:xfrm>
        <a:graphic xmlns:a="http://schemas.openxmlformats.org/drawingml/2006/main">
          <a:graphicData uri="http://schemas.openxmlformats.org/drawingml/2006/table">
            <a:tbl>
              <a:tblPr/>
              <a:tblGrid>
                <a:gridCol w="2667000"/>
                <a:gridCol w="2667000"/>
                <a:gridCol w="2667000"/>
                <a:gridCol w="2667000"/>
              </a:tblGrid>
              <a:tr h="619125">
                <a:tc>
                  <a:txBody>
                    <a:bodyPr lIns="95250" tIns="76200" rIns="95250" bIns="76200"/>
                    <a:lstStyle/>
                    <a:p>
                      <a:pPr algn="ctr">
                        <a:buNone/>
                      </a:pPr>
                      <a:r>
                        <a:rPr sz="2025" b="1">
                          <a:solidFill>
                            <a:srgbClr val="2162A0"/>
                          </a:solidFill>
                          <a:latin typeface="Arial"/>
                          <a:ea typeface="Arial"/>
                          <a:cs typeface="Arial"/>
                        </a:rPr>
                        <a:t>Hipótesis</a:t>
                      </a:r>
                    </a:p>
                  </a:txBody>
                  <a:tcPr marL="91440" marR="91440" marT="45720" marB="45720" anchor="ctr">
                    <a:solidFill>
                      <a:srgbClr val="E8EFF5"/>
                    </a:solidFill>
                  </a:tcPr>
                </a:tc>
                <a:tc>
                  <a:txBody>
                    <a:bodyPr lIns="95250" tIns="76200" rIns="95250" bIns="76200"/>
                    <a:lstStyle/>
                    <a:p>
                      <a:pPr algn="ctr">
                        <a:buNone/>
                      </a:pPr>
                      <a:r>
                        <a:rPr sz="2025" b="1">
                          <a:solidFill>
                            <a:srgbClr val="2162A0"/>
                          </a:solidFill>
                          <a:latin typeface="Arial"/>
                          <a:ea typeface="Arial"/>
                          <a:cs typeface="Arial"/>
                        </a:rPr>
                        <a:t>P(H)</a:t>
                      </a:r>
                    </a:p>
                  </a:txBody>
                  <a:tcPr marL="91440" marR="91440" marT="45720" marB="45720" anchor="ctr">
                    <a:solidFill>
                      <a:srgbClr val="E8EFF5"/>
                    </a:solidFill>
                  </a:tcPr>
                </a:tc>
                <a:tc>
                  <a:txBody>
                    <a:bodyPr lIns="95250" tIns="76200" rIns="95250" bIns="76200"/>
                    <a:lstStyle/>
                    <a:p>
                      <a:pPr algn="ctr">
                        <a:buNone/>
                      </a:pPr>
                      <a:r>
                        <a:rPr sz="2025" b="1">
                          <a:solidFill>
                            <a:srgbClr val="2162A0"/>
                          </a:solidFill>
                          <a:latin typeface="Arial"/>
                          <a:ea typeface="Arial"/>
                          <a:cs typeface="Arial"/>
                        </a:rPr>
                        <a:t>P(Q = sí | H)</a:t>
                      </a:r>
                    </a:p>
                  </a:txBody>
                  <a:tcPr marL="91440" marR="91440" marT="45720" marB="45720" anchor="ctr">
                    <a:solidFill>
                      <a:srgbClr val="E8EFF5"/>
                    </a:solidFill>
                  </a:tcPr>
                </a:tc>
                <a:tc>
                  <a:txBody>
                    <a:bodyPr lIns="95250" tIns="76200" rIns="95250" bIns="76200"/>
                    <a:lstStyle/>
                    <a:p>
                      <a:pPr algn="ctr">
                        <a:buNone/>
                      </a:pPr>
                      <a:r>
                        <a:rPr sz="2025" b="1">
                          <a:solidFill>
                            <a:srgbClr val="2162A0"/>
                          </a:solidFill>
                          <a:latin typeface="Arial"/>
                          <a:ea typeface="Arial"/>
                          <a:cs typeface="Arial"/>
                        </a:rPr>
                        <a:t>Peso conjunto</a:t>
                      </a:r>
                    </a:p>
                  </a:txBody>
                  <a:tcPr marL="91440" marR="91440" marT="45720" marB="45720" anchor="ctr">
                    <a:solidFill>
                      <a:srgbClr val="E8EFF5"/>
                    </a:solidFill>
                  </a:tcPr>
                </a:tc>
              </a:tr>
              <a:tr h="619125">
                <a:tc>
                  <a:txBody>
                    <a:bodyPr lIns="95250" tIns="76200" rIns="95250" bIns="76200"/>
                    <a:lstStyle/>
                    <a:p>
                      <a:pPr algn="ctr">
                        <a:buNone/>
                      </a:pPr>
                      <a:r>
                        <a:rPr sz="2025" b="0">
                          <a:solidFill>
                            <a:srgbClr val="233746"/>
                          </a:solidFill>
                          <a:latin typeface="Arial"/>
                          <a:ea typeface="Arial"/>
                          <a:cs typeface="Arial"/>
                        </a:rPr>
                        <a:t>Obstrucción</a:t>
                      </a:r>
                    </a:p>
                  </a:txBody>
                  <a:tcPr marL="91440" marR="91440" marT="45720" marB="45720" anchor="ctr">
                    <a:solidFill>
                      <a:srgbClr val="FFFFFF"/>
                    </a:solidFill>
                  </a:tcPr>
                </a:tc>
                <a:tc>
                  <a:txBody>
                    <a:bodyPr lIns="95250" tIns="76200" rIns="95250" bIns="76200"/>
                    <a:lstStyle/>
                    <a:p>
                      <a:pPr algn="ctr">
                        <a:buNone/>
                      </a:pPr>
                      <a:r>
                        <a:rPr sz="2025" b="0">
                          <a:solidFill>
                            <a:srgbClr val="233746"/>
                          </a:solidFill>
                          <a:latin typeface="Arial"/>
                          <a:ea typeface="Arial"/>
                          <a:cs typeface="Arial"/>
                        </a:rPr>
                        <a:t>0,30</a:t>
                      </a:r>
                    </a:p>
                  </a:txBody>
                  <a:tcPr marL="91440" marR="91440" marT="45720" marB="45720" anchor="ctr">
                    <a:solidFill>
                      <a:srgbClr val="FFFFFF"/>
                    </a:solidFill>
                  </a:tcPr>
                </a:tc>
                <a:tc>
                  <a:txBody>
                    <a:bodyPr lIns="95250" tIns="76200" rIns="95250" bIns="76200"/>
                    <a:lstStyle/>
                    <a:p>
                      <a:pPr algn="ctr">
                        <a:buNone/>
                      </a:pPr>
                      <a:r>
                        <a:rPr sz="2025" b="0">
                          <a:solidFill>
                            <a:srgbClr val="233746"/>
                          </a:solidFill>
                          <a:latin typeface="Arial"/>
                          <a:ea typeface="Arial"/>
                          <a:cs typeface="Arial"/>
                        </a:rPr>
                        <a:t>0,90</a:t>
                      </a:r>
                    </a:p>
                  </a:txBody>
                  <a:tcPr marL="91440" marR="91440" marT="45720" marB="45720" anchor="ctr">
                    <a:solidFill>
                      <a:srgbClr val="FFFFFF"/>
                    </a:solidFill>
                  </a:tcPr>
                </a:tc>
                <a:tc>
                  <a:txBody>
                    <a:bodyPr lIns="95250" tIns="76200" rIns="95250" bIns="76200"/>
                    <a:lstStyle/>
                    <a:p>
                      <a:pPr algn="ctr">
                        <a:buNone/>
                      </a:pPr>
                      <a:r>
                        <a:rPr sz="2025" b="0">
                          <a:solidFill>
                            <a:srgbClr val="233746"/>
                          </a:solidFill>
                          <a:latin typeface="Arial"/>
                          <a:ea typeface="Arial"/>
                          <a:cs typeface="Arial"/>
                        </a:rPr>
                        <a:t>0,270</a:t>
                      </a:r>
                    </a:p>
                  </a:txBody>
                  <a:tcPr marL="91440" marR="91440" marT="45720" marB="45720" anchor="ctr">
                    <a:solidFill>
                      <a:srgbClr val="FFFFFF"/>
                    </a:solidFill>
                  </a:tcPr>
                </a:tc>
              </a:tr>
              <a:tr h="619125">
                <a:tc>
                  <a:txBody>
                    <a:bodyPr lIns="95250" tIns="76200" rIns="95250" bIns="76200"/>
                    <a:lstStyle/>
                    <a:p>
                      <a:pPr algn="ctr">
                        <a:buNone/>
                      </a:pPr>
                      <a:r>
                        <a:rPr sz="2025" b="0">
                          <a:solidFill>
                            <a:srgbClr val="233746"/>
                          </a:solidFill>
                          <a:latin typeface="Arial"/>
                          <a:ea typeface="Arial"/>
                          <a:cs typeface="Arial"/>
                        </a:rPr>
                        <a:t>Fuga</a:t>
                      </a:r>
                    </a:p>
                  </a:txBody>
                  <a:tcPr marL="91440" marR="91440" marT="45720" marB="45720" anchor="ctr">
                    <a:solidFill>
                      <a:srgbClr val="F5F7F9"/>
                    </a:solidFill>
                  </a:tcPr>
                </a:tc>
                <a:tc>
                  <a:txBody>
                    <a:bodyPr lIns="95250" tIns="76200" rIns="95250" bIns="76200"/>
                    <a:lstStyle/>
                    <a:p>
                      <a:pPr algn="ctr">
                        <a:buNone/>
                      </a:pPr>
                      <a:r>
                        <a:rPr sz="2025" b="0">
                          <a:solidFill>
                            <a:srgbClr val="233746"/>
                          </a:solidFill>
                          <a:latin typeface="Arial"/>
                          <a:ea typeface="Arial"/>
                          <a:cs typeface="Arial"/>
                        </a:rPr>
                        <a:t>0,20</a:t>
                      </a:r>
                    </a:p>
                  </a:txBody>
                  <a:tcPr marL="91440" marR="91440" marT="45720" marB="45720" anchor="ctr">
                    <a:solidFill>
                      <a:srgbClr val="F5F7F9"/>
                    </a:solidFill>
                  </a:tcPr>
                </a:tc>
                <a:tc>
                  <a:txBody>
                    <a:bodyPr lIns="95250" tIns="76200" rIns="95250" bIns="76200"/>
                    <a:lstStyle/>
                    <a:p>
                      <a:pPr algn="ctr">
                        <a:buNone/>
                      </a:pPr>
                      <a:r>
                        <a:rPr sz="2025" b="0">
                          <a:solidFill>
                            <a:srgbClr val="233746"/>
                          </a:solidFill>
                          <a:latin typeface="Arial"/>
                          <a:ea typeface="Arial"/>
                          <a:cs typeface="Arial"/>
                        </a:rPr>
                        <a:t>0,80</a:t>
                      </a:r>
                    </a:p>
                  </a:txBody>
                  <a:tcPr marL="91440" marR="91440" marT="45720" marB="45720" anchor="ctr">
                    <a:solidFill>
                      <a:srgbClr val="F5F7F9"/>
                    </a:solidFill>
                  </a:tcPr>
                </a:tc>
                <a:tc>
                  <a:txBody>
                    <a:bodyPr lIns="95250" tIns="76200" rIns="95250" bIns="76200"/>
                    <a:lstStyle/>
                    <a:p>
                      <a:pPr algn="ctr">
                        <a:buNone/>
                      </a:pPr>
                      <a:r>
                        <a:rPr sz="2025" b="0">
                          <a:solidFill>
                            <a:srgbClr val="233746"/>
                          </a:solidFill>
                          <a:latin typeface="Arial"/>
                          <a:ea typeface="Arial"/>
                          <a:cs typeface="Arial"/>
                        </a:rPr>
                        <a:t>0,160</a:t>
                      </a:r>
                    </a:p>
                  </a:txBody>
                  <a:tcPr marL="91440" marR="91440" marT="45720" marB="45720" anchor="ctr">
                    <a:solidFill>
                      <a:srgbClr val="F5F7F9"/>
                    </a:solidFill>
                  </a:tcPr>
                </a:tc>
              </a:tr>
              <a:tr h="619125">
                <a:tc>
                  <a:txBody>
                    <a:bodyPr lIns="95250" tIns="76200" rIns="95250" bIns="76200"/>
                    <a:lstStyle/>
                    <a:p>
                      <a:pPr algn="ctr">
                        <a:buNone/>
                      </a:pPr>
                      <a:r>
                        <a:rPr sz="2025" b="0">
                          <a:solidFill>
                            <a:srgbClr val="233746"/>
                          </a:solidFill>
                          <a:latin typeface="Arial"/>
                          <a:ea typeface="Arial"/>
                          <a:cs typeface="Arial"/>
                        </a:rPr>
                        <a:t>Otra</a:t>
                      </a:r>
                    </a:p>
                  </a:txBody>
                  <a:tcPr marL="91440" marR="91440" marT="45720" marB="45720" anchor="ctr">
                    <a:solidFill>
                      <a:srgbClr val="FFFFFF"/>
                    </a:solidFill>
                  </a:tcPr>
                </a:tc>
                <a:tc>
                  <a:txBody>
                    <a:bodyPr lIns="95250" tIns="76200" rIns="95250" bIns="76200"/>
                    <a:lstStyle/>
                    <a:p>
                      <a:pPr algn="ctr">
                        <a:buNone/>
                      </a:pPr>
                      <a:r>
                        <a:rPr sz="2025" b="0">
                          <a:solidFill>
                            <a:srgbClr val="233746"/>
                          </a:solidFill>
                          <a:latin typeface="Arial"/>
                          <a:ea typeface="Arial"/>
                          <a:cs typeface="Arial"/>
                        </a:rPr>
                        <a:t>0,50</a:t>
                      </a:r>
                    </a:p>
                  </a:txBody>
                  <a:tcPr marL="91440" marR="91440" marT="45720" marB="45720" anchor="ctr">
                    <a:solidFill>
                      <a:srgbClr val="FFFFFF"/>
                    </a:solidFill>
                  </a:tcPr>
                </a:tc>
                <a:tc>
                  <a:txBody>
                    <a:bodyPr lIns="95250" tIns="76200" rIns="95250" bIns="76200"/>
                    <a:lstStyle/>
                    <a:p>
                      <a:pPr algn="ctr">
                        <a:buNone/>
                      </a:pPr>
                      <a:r>
                        <a:rPr sz="2025" b="0">
                          <a:solidFill>
                            <a:srgbClr val="233746"/>
                          </a:solidFill>
                          <a:latin typeface="Arial"/>
                          <a:ea typeface="Arial"/>
                          <a:cs typeface="Arial"/>
                        </a:rPr>
                        <a:t>0,10</a:t>
                      </a:r>
                    </a:p>
                  </a:txBody>
                  <a:tcPr marL="91440" marR="91440" marT="45720" marB="45720" anchor="ctr">
                    <a:solidFill>
                      <a:srgbClr val="FFFFFF"/>
                    </a:solidFill>
                  </a:tcPr>
                </a:tc>
                <a:tc>
                  <a:txBody>
                    <a:bodyPr lIns="95250" tIns="76200" rIns="95250" bIns="76200"/>
                    <a:lstStyle/>
                    <a:p>
                      <a:pPr algn="ctr">
                        <a:buNone/>
                      </a:pPr>
                      <a:r>
                        <a:rPr sz="2025" b="0">
                          <a:solidFill>
                            <a:srgbClr val="233746"/>
                          </a:solidFill>
                          <a:latin typeface="Arial"/>
                          <a:ea typeface="Arial"/>
                          <a:cs typeface="Arial"/>
                        </a:rPr>
                        <a:t>0,050</a:t>
                      </a:r>
                    </a:p>
                  </a:txBody>
                  <a:tcPr marL="91440" marR="91440" marT="45720" marB="45720" anchor="ctr">
                    <a:solidFill>
                      <a:srgbClr val="FFFFFF"/>
                    </a:solidFill>
                  </a:tcPr>
                </a:tc>
              </a:tr>
            </a:tbl>
          </a:graphicData>
        </a:graphic>
      </p:graphicFrame>
      <p:sp>
        <p:nvSpPr>
          <p:cNvPr id="13" name="">
            <a:extLst xmlns:a="http://schemas.openxmlformats.org/drawingml/2006/main">
              <a:ext uri="{FF2B5EF4-FFF2-40B4-BE49-F238E27FC236}">
                <a16:creationId xmlns:a16="http://schemas.microsoft.com/office/drawing/2014/main" id="{15DEA135-27F4-496D-9AF1-157486183F13}"/>
              </a:ext>
            </a:extLst>
          </p:cNvPr>
          <p:cNvSpPr>
            <a:spLocks xmlns:a="http://schemas.openxmlformats.org/drawingml/2006/main" noGrp="1"/>
          </p:cNvSpPr>
          <p:nvPr/>
        </p:nvSpPr>
        <p:spPr>
          <a:xfrm xmlns:a="http://schemas.openxmlformats.org/drawingml/2006/main">
            <a:off x="762000" y="60102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Peso = prior × verosimilitud. Aún falta normalizar.</a:t>
            </a:r>
          </a:p>
        </p:txBody>
      </p:sp>
    </p:spTree>
    <p:extLst>
      <p:ext uri="{BB962C8B-B14F-4D97-AF65-F5344CB8AC3E}">
        <p14:creationId xmlns:p14="http://schemas.microsoft.com/office/powerpoint/2010/main" val="172189652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Diagnóstico bayesiano · PROVISIONAL</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15</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D96B18"/>
                </a:solidFill>
                <a:latin typeface="Arial"/>
                <a:ea typeface="Arial"/>
                <a:cs typeface="Arial"/>
              </a:defRPr>
            </a:pPr>
            <a:r>
              <a:rPr sz="3000" b="0">
                <a:solidFill>
                  <a:srgbClr val="D96B18"/>
                </a:solidFill>
                <a:latin typeface="Arial"/>
                <a:ea typeface="Arial"/>
                <a:cs typeface="Arial"/>
              </a:rPr>
              <a:t>Podemos verlo como 1.000 casos hipotéticos</a:t>
            </a:r>
          </a:p>
        </p:txBody>
      </p:sp>
      <p:sp>
        <p:nvSpPr>
          <p:cNvPr id="9" name="">
            <a:extLst xmlns:a="http://schemas.openxmlformats.org/drawingml/2006/main">
              <a:ext uri="{FF2B5EF4-FFF2-40B4-BE49-F238E27FC236}">
                <a16:creationId xmlns:a16="http://schemas.microsoft.com/office/drawing/2014/main" id="{3BC360BD-3554-408B-82F6-EAA862EF5D83}"/>
              </a:ext>
            </a:extLst>
          </p:cNvPr>
          <p:cNvSpPr>
            <a:spLocks xmlns:a="http://schemas.openxmlformats.org/drawingml/2006/main" noGrp="1"/>
          </p:cNvSpPr>
          <p:nvPr/>
        </p:nvSpPr>
        <p:spPr>
          <a:xfrm xmlns:a="http://schemas.openxmlformats.org/drawingml/2006/main">
            <a:off x="762000" y="13811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087F79"/>
                </a:solidFill>
                <a:latin typeface="Arial"/>
                <a:ea typeface="Arial"/>
                <a:cs typeface="Arial"/>
              </a:defRPr>
            </a:pPr>
            <a:r>
              <a:rPr sz="1500" b="1">
                <a:solidFill>
                  <a:srgbClr val="087F79"/>
                </a:solidFill>
                <a:latin typeface="Arial"/>
                <a:ea typeface="Arial"/>
                <a:cs typeface="Arial"/>
              </a:rPr>
              <a:t>INFERENCIA PASO A PASO</a:t>
            </a:r>
          </a:p>
        </p:txBody>
      </p:sp>
      <p:sp>
        <p:nvSpPr>
          <p:cNvPr id="10" name="">
            <a:extLst xmlns:a="http://schemas.openxmlformats.org/drawingml/2006/main">
              <a:ext uri="{FF2B5EF4-FFF2-40B4-BE49-F238E27FC236}">
                <a16:creationId xmlns:a16="http://schemas.microsoft.com/office/drawing/2014/main" id="{1797C172-9FE2-4EEA-B172-44BB0673C60A}"/>
              </a:ext>
            </a:extLst>
          </p:cNvPr>
          <p:cNvSpPr>
            <a:spLocks xmlns:a="http://schemas.openxmlformats.org/drawingml/2006/main" noGrp="1"/>
          </p:cNvSpPr>
          <p:nvPr/>
        </p:nvSpPr>
        <p:spPr>
          <a:xfrm xmlns:a="http://schemas.openxmlformats.org/drawingml/2006/main">
            <a:off x="762000" y="1724025"/>
            <a:ext cx="10668000" cy="28575"/>
          </a:xfrm>
          <a:prstGeom xmlns:a="http://schemas.openxmlformats.org/drawingml/2006/main" prst="rect">
            <a:avLst/>
          </a:prstGeom>
          <a:solidFill xmlns:a="http://schemas.openxmlformats.org/drawingml/2006/main">
            <a:srgbClr val="087F79"/>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graphicFrame>
        <p:nvGraphicFramePr>
          <p:cNvPr id="22" name=""/>
          <p:cNvGraphicFramePr/>
          <p:nvPr/>
        </p:nvGraphicFramePr>
        <p:xfrm>
          <a:off xmlns:a="http://schemas.openxmlformats.org/drawingml/2006/main" x="762000" y="2019300"/>
          <a:ext xmlns:a="http://schemas.openxmlformats.org/drawingml/2006/main" cx="10668000" cy="3352800"/>
        </p:xfrm>
        <a:graphic xmlns:a="http://schemas.openxmlformats.org/drawingml/2006/main">
          <a:graphicData uri="http://schemas.openxmlformats.org/drawingml/2006/table">
            <a:tbl>
              <a:tblPr/>
              <a:tblGrid>
                <a:gridCol w="3556000"/>
                <a:gridCol w="3556000"/>
                <a:gridCol w="3556000"/>
              </a:tblGrid>
              <a:tr h="670560">
                <a:tc>
                  <a:txBody>
                    <a:bodyPr lIns="95250" tIns="76200" rIns="95250" bIns="76200"/>
                    <a:lstStyle/>
                    <a:p>
                      <a:pPr algn="ctr">
                        <a:buNone/>
                      </a:pPr>
                      <a:r>
                        <a:rPr sz="2175" b="1">
                          <a:solidFill>
                            <a:srgbClr val="2162A0"/>
                          </a:solidFill>
                          <a:latin typeface="Arial"/>
                          <a:ea typeface="Arial"/>
                          <a:cs typeface="Arial"/>
                        </a:rPr>
                        <a:t>Causa</a:t>
                      </a:r>
                    </a:p>
                  </a:txBody>
                  <a:tcPr marL="91440" marR="91440" marT="45720" marB="45720" anchor="ctr">
                    <a:solidFill>
                      <a:srgbClr val="E8EFF5"/>
                    </a:solidFill>
                  </a:tcPr>
                </a:tc>
                <a:tc>
                  <a:txBody>
                    <a:bodyPr lIns="95250" tIns="76200" rIns="95250" bIns="76200"/>
                    <a:lstStyle/>
                    <a:p>
                      <a:pPr algn="ctr">
                        <a:buNone/>
                      </a:pPr>
                      <a:r>
                        <a:rPr sz="2175" b="1">
                          <a:solidFill>
                            <a:srgbClr val="2162A0"/>
                          </a:solidFill>
                          <a:latin typeface="Arial"/>
                          <a:ea typeface="Arial"/>
                          <a:cs typeface="Arial"/>
                        </a:rPr>
                        <a:t>Casos iniciales</a:t>
                      </a:r>
                    </a:p>
                  </a:txBody>
                  <a:tcPr marL="91440" marR="91440" marT="45720" marB="45720" anchor="ctr">
                    <a:solidFill>
                      <a:srgbClr val="E8EFF5"/>
                    </a:solidFill>
                  </a:tcPr>
                </a:tc>
                <a:tc>
                  <a:txBody>
                    <a:bodyPr lIns="95250" tIns="76200" rIns="95250" bIns="76200"/>
                    <a:lstStyle/>
                    <a:p>
                      <a:pPr algn="ctr">
                        <a:buNone/>
                      </a:pPr>
                      <a:r>
                        <a:rPr sz="2175" b="1">
                          <a:solidFill>
                            <a:srgbClr val="2162A0"/>
                          </a:solidFill>
                          <a:latin typeface="Arial"/>
                          <a:ea typeface="Arial"/>
                          <a:cs typeface="Arial"/>
                        </a:rPr>
                        <a:t>Con caudal bajo</a:t>
                      </a:r>
                    </a:p>
                  </a:txBody>
                  <a:tcPr marL="91440" marR="91440" marT="45720" marB="45720" anchor="ctr">
                    <a:solidFill>
                      <a:srgbClr val="E8EFF5"/>
                    </a:solidFill>
                  </a:tcPr>
                </a:tc>
              </a:tr>
              <a:tr h="670560">
                <a:tc>
                  <a:txBody>
                    <a:bodyPr lIns="95250" tIns="76200" rIns="95250" bIns="76200"/>
                    <a:lstStyle/>
                    <a:p>
                      <a:pPr algn="ctr">
                        <a:buNone/>
                      </a:pPr>
                      <a:r>
                        <a:rPr sz="2175" b="0">
                          <a:solidFill>
                            <a:srgbClr val="233746"/>
                          </a:solidFill>
                          <a:latin typeface="Arial"/>
                          <a:ea typeface="Arial"/>
                          <a:cs typeface="Arial"/>
                        </a:rPr>
                        <a:t>Obstrucción</a:t>
                      </a:r>
                    </a:p>
                  </a:txBody>
                  <a:tcPr marL="91440" marR="91440" marT="45720" marB="45720" anchor="ctr">
                    <a:solidFill>
                      <a:srgbClr val="FFFFFF"/>
                    </a:solidFill>
                  </a:tcPr>
                </a:tc>
                <a:tc>
                  <a:txBody>
                    <a:bodyPr lIns="95250" tIns="76200" rIns="95250" bIns="76200"/>
                    <a:lstStyle/>
                    <a:p>
                      <a:pPr algn="ctr">
                        <a:buNone/>
                      </a:pPr>
                      <a:r>
                        <a:rPr sz="2175" b="0">
                          <a:solidFill>
                            <a:srgbClr val="233746"/>
                          </a:solidFill>
                          <a:latin typeface="Arial"/>
                          <a:ea typeface="Arial"/>
                          <a:cs typeface="Arial"/>
                        </a:rPr>
                        <a:t>300</a:t>
                      </a:r>
                    </a:p>
                  </a:txBody>
                  <a:tcPr marL="91440" marR="91440" marT="45720" marB="45720" anchor="ctr">
                    <a:solidFill>
                      <a:srgbClr val="FFFFFF"/>
                    </a:solidFill>
                  </a:tcPr>
                </a:tc>
                <a:tc>
                  <a:txBody>
                    <a:bodyPr lIns="95250" tIns="76200" rIns="95250" bIns="76200"/>
                    <a:lstStyle/>
                    <a:p>
                      <a:pPr algn="ctr">
                        <a:buNone/>
                      </a:pPr>
                      <a:r>
                        <a:rPr sz="2175" b="0">
                          <a:solidFill>
                            <a:srgbClr val="233746"/>
                          </a:solidFill>
                          <a:latin typeface="Arial"/>
                          <a:ea typeface="Arial"/>
                          <a:cs typeface="Arial"/>
                        </a:rPr>
                        <a:t>300 × 0,90 = 270</a:t>
                      </a:r>
                    </a:p>
                  </a:txBody>
                  <a:tcPr marL="91440" marR="91440" marT="45720" marB="45720" anchor="ctr">
                    <a:solidFill>
                      <a:srgbClr val="FFFFFF"/>
                    </a:solidFill>
                  </a:tcPr>
                </a:tc>
              </a:tr>
              <a:tr h="670560">
                <a:tc>
                  <a:txBody>
                    <a:bodyPr lIns="95250" tIns="76200" rIns="95250" bIns="76200"/>
                    <a:lstStyle/>
                    <a:p>
                      <a:pPr algn="ctr">
                        <a:buNone/>
                      </a:pPr>
                      <a:r>
                        <a:rPr sz="2175" b="0">
                          <a:solidFill>
                            <a:srgbClr val="233746"/>
                          </a:solidFill>
                          <a:latin typeface="Arial"/>
                          <a:ea typeface="Arial"/>
                          <a:cs typeface="Arial"/>
                        </a:rPr>
                        <a:t>Fuga</a:t>
                      </a:r>
                    </a:p>
                  </a:txBody>
                  <a:tcPr marL="91440" marR="91440" marT="45720" marB="45720" anchor="ctr">
                    <a:solidFill>
                      <a:srgbClr val="F5F7F9"/>
                    </a:solidFill>
                  </a:tcPr>
                </a:tc>
                <a:tc>
                  <a:txBody>
                    <a:bodyPr lIns="95250" tIns="76200" rIns="95250" bIns="76200"/>
                    <a:lstStyle/>
                    <a:p>
                      <a:pPr algn="ctr">
                        <a:buNone/>
                      </a:pPr>
                      <a:r>
                        <a:rPr sz="2175" b="0">
                          <a:solidFill>
                            <a:srgbClr val="233746"/>
                          </a:solidFill>
                          <a:latin typeface="Arial"/>
                          <a:ea typeface="Arial"/>
                          <a:cs typeface="Arial"/>
                        </a:rPr>
                        <a:t>200</a:t>
                      </a:r>
                    </a:p>
                  </a:txBody>
                  <a:tcPr marL="91440" marR="91440" marT="45720" marB="45720" anchor="ctr">
                    <a:solidFill>
                      <a:srgbClr val="F5F7F9"/>
                    </a:solidFill>
                  </a:tcPr>
                </a:tc>
                <a:tc>
                  <a:txBody>
                    <a:bodyPr lIns="95250" tIns="76200" rIns="95250" bIns="76200"/>
                    <a:lstStyle/>
                    <a:p>
                      <a:pPr algn="ctr">
                        <a:buNone/>
                      </a:pPr>
                      <a:r>
                        <a:rPr sz="2175" b="0">
                          <a:solidFill>
                            <a:srgbClr val="233746"/>
                          </a:solidFill>
                          <a:latin typeface="Arial"/>
                          <a:ea typeface="Arial"/>
                          <a:cs typeface="Arial"/>
                        </a:rPr>
                        <a:t>200 × 0,80 = 160</a:t>
                      </a:r>
                    </a:p>
                  </a:txBody>
                  <a:tcPr marL="91440" marR="91440" marT="45720" marB="45720" anchor="ctr">
                    <a:solidFill>
                      <a:srgbClr val="F5F7F9"/>
                    </a:solidFill>
                  </a:tcPr>
                </a:tc>
              </a:tr>
              <a:tr h="670560">
                <a:tc>
                  <a:txBody>
                    <a:bodyPr lIns="95250" tIns="76200" rIns="95250" bIns="76200"/>
                    <a:lstStyle/>
                    <a:p>
                      <a:pPr algn="ctr">
                        <a:buNone/>
                      </a:pPr>
                      <a:r>
                        <a:rPr sz="2175" b="0">
                          <a:solidFill>
                            <a:srgbClr val="233746"/>
                          </a:solidFill>
                          <a:latin typeface="Arial"/>
                          <a:ea typeface="Arial"/>
                          <a:cs typeface="Arial"/>
                        </a:rPr>
                        <a:t>Otra</a:t>
                      </a:r>
                    </a:p>
                  </a:txBody>
                  <a:tcPr marL="91440" marR="91440" marT="45720" marB="45720" anchor="ctr">
                    <a:solidFill>
                      <a:srgbClr val="FFFFFF"/>
                    </a:solidFill>
                  </a:tcPr>
                </a:tc>
                <a:tc>
                  <a:txBody>
                    <a:bodyPr lIns="95250" tIns="76200" rIns="95250" bIns="76200"/>
                    <a:lstStyle/>
                    <a:p>
                      <a:pPr algn="ctr">
                        <a:buNone/>
                      </a:pPr>
                      <a:r>
                        <a:rPr sz="2175" b="0">
                          <a:solidFill>
                            <a:srgbClr val="233746"/>
                          </a:solidFill>
                          <a:latin typeface="Arial"/>
                          <a:ea typeface="Arial"/>
                          <a:cs typeface="Arial"/>
                        </a:rPr>
                        <a:t>500</a:t>
                      </a:r>
                    </a:p>
                  </a:txBody>
                  <a:tcPr marL="91440" marR="91440" marT="45720" marB="45720" anchor="ctr">
                    <a:solidFill>
                      <a:srgbClr val="FFFFFF"/>
                    </a:solidFill>
                  </a:tcPr>
                </a:tc>
                <a:tc>
                  <a:txBody>
                    <a:bodyPr lIns="95250" tIns="76200" rIns="95250" bIns="76200"/>
                    <a:lstStyle/>
                    <a:p>
                      <a:pPr algn="ctr">
                        <a:buNone/>
                      </a:pPr>
                      <a:r>
                        <a:rPr sz="2175" b="0">
                          <a:solidFill>
                            <a:srgbClr val="233746"/>
                          </a:solidFill>
                          <a:latin typeface="Arial"/>
                          <a:ea typeface="Arial"/>
                          <a:cs typeface="Arial"/>
                        </a:rPr>
                        <a:t>500 × 0,10 = 50</a:t>
                      </a:r>
                    </a:p>
                  </a:txBody>
                  <a:tcPr marL="91440" marR="91440" marT="45720" marB="45720" anchor="ctr">
                    <a:solidFill>
                      <a:srgbClr val="FFFFFF"/>
                    </a:solidFill>
                  </a:tcPr>
                </a:tc>
              </a:tr>
              <a:tr h="670560">
                <a:tc>
                  <a:txBody>
                    <a:bodyPr lIns="95250" tIns="76200" rIns="95250" bIns="76200"/>
                    <a:lstStyle/>
                    <a:p>
                      <a:pPr algn="ctr">
                        <a:buNone/>
                      </a:pPr>
                      <a:r>
                        <a:rPr sz="2175" b="0">
                          <a:solidFill>
                            <a:srgbClr val="233746"/>
                          </a:solidFill>
                          <a:latin typeface="Arial"/>
                          <a:ea typeface="Arial"/>
                          <a:cs typeface="Arial"/>
                        </a:rPr>
                        <a:t>Total</a:t>
                      </a:r>
                    </a:p>
                  </a:txBody>
                  <a:tcPr marL="91440" marR="91440" marT="45720" marB="45720" anchor="ctr">
                    <a:solidFill>
                      <a:srgbClr val="F5F7F9"/>
                    </a:solidFill>
                  </a:tcPr>
                </a:tc>
                <a:tc>
                  <a:txBody>
                    <a:bodyPr lIns="95250" tIns="76200" rIns="95250" bIns="76200"/>
                    <a:lstStyle/>
                    <a:p>
                      <a:pPr algn="ctr">
                        <a:buNone/>
                      </a:pPr>
                      <a:r>
                        <a:rPr sz="2175" b="0">
                          <a:solidFill>
                            <a:srgbClr val="233746"/>
                          </a:solidFill>
                          <a:latin typeface="Arial"/>
                          <a:ea typeface="Arial"/>
                          <a:cs typeface="Arial"/>
                        </a:rPr>
                        <a:t>1.000</a:t>
                      </a:r>
                    </a:p>
                  </a:txBody>
                  <a:tcPr marL="91440" marR="91440" marT="45720" marB="45720" anchor="ctr">
                    <a:solidFill>
                      <a:srgbClr val="F5F7F9"/>
                    </a:solidFill>
                  </a:tcPr>
                </a:tc>
                <a:tc>
                  <a:txBody>
                    <a:bodyPr lIns="95250" tIns="76200" rIns="95250" bIns="76200"/>
                    <a:lstStyle/>
                    <a:p>
                      <a:pPr algn="ctr">
                        <a:buNone/>
                      </a:pPr>
                      <a:r>
                        <a:rPr sz="2175" b="0">
                          <a:solidFill>
                            <a:srgbClr val="233746"/>
                          </a:solidFill>
                          <a:latin typeface="Arial"/>
                          <a:ea typeface="Arial"/>
                          <a:cs typeface="Arial"/>
                        </a:rPr>
                        <a:t>480</a:t>
                      </a:r>
                    </a:p>
                  </a:txBody>
                  <a:tcPr marL="91440" marR="91440" marT="45720" marB="45720" anchor="ctr">
                    <a:solidFill>
                      <a:srgbClr val="F5F7F9"/>
                    </a:solidFill>
                  </a:tcPr>
                </a:tc>
              </a:tr>
            </a:tbl>
          </a:graphicData>
        </a:graphic>
      </p:graphicFrame>
      <p:sp>
        <p:nvSpPr>
          <p:cNvPr id="12" name="">
            <a:extLst xmlns:a="http://schemas.openxmlformats.org/drawingml/2006/main">
              <a:ext uri="{FF2B5EF4-FFF2-40B4-BE49-F238E27FC236}">
                <a16:creationId xmlns:a16="http://schemas.microsoft.com/office/drawing/2014/main" id="{8930E004-0C65-44C7-B03E-1FAA3F63BAFF}"/>
              </a:ext>
            </a:extLst>
          </p:cNvPr>
          <p:cNvSpPr>
            <a:spLocks xmlns:a="http://schemas.openxmlformats.org/drawingml/2006/main" noGrp="1"/>
          </p:cNvSpPr>
          <p:nvPr/>
        </p:nvSpPr>
        <p:spPr>
          <a:xfrm xmlns:a="http://schemas.openxmlformats.org/drawingml/2006/main">
            <a:off x="762000" y="60102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De los 480 casos que tienen caudal bajo, 270 corresponden a obstrucción.</a:t>
            </a:r>
          </a:p>
        </p:txBody>
      </p:sp>
    </p:spTree>
    <p:extLst>
      <p:ext uri="{BB962C8B-B14F-4D97-AF65-F5344CB8AC3E}">
        <p14:creationId xmlns:p14="http://schemas.microsoft.com/office/powerpoint/2010/main" val="172189652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Diagnóstico bayesiano · PROVISIONAL</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16</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D96B18"/>
                </a:solidFill>
                <a:latin typeface="Arial"/>
                <a:ea typeface="Arial"/>
                <a:cs typeface="Arial"/>
              </a:defRPr>
            </a:pPr>
            <a:r>
              <a:rPr sz="3000" b="0">
                <a:solidFill>
                  <a:srgbClr val="D96B18"/>
                </a:solidFill>
                <a:latin typeface="Arial"/>
                <a:ea typeface="Arial"/>
                <a:cs typeface="Arial"/>
              </a:rPr>
              <a:t>Normalizar produce el primer diagnóstico</a:t>
            </a:r>
          </a:p>
        </p:txBody>
      </p:sp>
      <p:sp>
        <p:nvSpPr>
          <p:cNvPr id="9" name="">
            <a:extLst xmlns:a="http://schemas.openxmlformats.org/drawingml/2006/main">
              <a:ext uri="{FF2B5EF4-FFF2-40B4-BE49-F238E27FC236}">
                <a16:creationId xmlns:a16="http://schemas.microsoft.com/office/drawing/2014/main" id="{B06DEEFD-BEB8-473A-B016-489758D54FA5}"/>
              </a:ext>
            </a:extLst>
          </p:cNvPr>
          <p:cNvSpPr>
            <a:spLocks xmlns:a="http://schemas.openxmlformats.org/drawingml/2006/main" noGrp="1"/>
          </p:cNvSpPr>
          <p:nvPr/>
        </p:nvSpPr>
        <p:spPr>
          <a:xfrm xmlns:a="http://schemas.openxmlformats.org/drawingml/2006/main">
            <a:off x="762000" y="13811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087F79"/>
                </a:solidFill>
                <a:latin typeface="Arial"/>
                <a:ea typeface="Arial"/>
                <a:cs typeface="Arial"/>
              </a:defRPr>
            </a:pPr>
            <a:r>
              <a:rPr sz="1500" b="1">
                <a:solidFill>
                  <a:srgbClr val="087F79"/>
                </a:solidFill>
                <a:latin typeface="Arial"/>
                <a:ea typeface="Arial"/>
                <a:cs typeface="Arial"/>
              </a:rPr>
              <a:t>INFERENCIA PASO A PASO</a:t>
            </a:r>
          </a:p>
        </p:txBody>
      </p:sp>
      <p:sp>
        <p:nvSpPr>
          <p:cNvPr id="10" name="">
            <a:extLst xmlns:a="http://schemas.openxmlformats.org/drawingml/2006/main">
              <a:ext uri="{FF2B5EF4-FFF2-40B4-BE49-F238E27FC236}">
                <a16:creationId xmlns:a16="http://schemas.microsoft.com/office/drawing/2014/main" id="{E4E528AB-49A0-4ECB-86DD-A6519D0C6D54}"/>
              </a:ext>
            </a:extLst>
          </p:cNvPr>
          <p:cNvSpPr>
            <a:spLocks xmlns:a="http://schemas.openxmlformats.org/drawingml/2006/main" noGrp="1"/>
          </p:cNvSpPr>
          <p:nvPr/>
        </p:nvSpPr>
        <p:spPr>
          <a:xfrm xmlns:a="http://schemas.openxmlformats.org/drawingml/2006/main">
            <a:off x="762000" y="1724025"/>
            <a:ext cx="10668000" cy="28575"/>
          </a:xfrm>
          <a:prstGeom xmlns:a="http://schemas.openxmlformats.org/drawingml/2006/main" prst="rect">
            <a:avLst/>
          </a:prstGeom>
          <a:solidFill xmlns:a="http://schemas.openxmlformats.org/drawingml/2006/main">
            <a:srgbClr val="087F79"/>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AF3599DC-F265-4750-B591-0C325323DC0E}"/>
              </a:ext>
            </a:extLst>
          </p:cNvPr>
          <p:cNvSpPr>
            <a:spLocks xmlns:a="http://schemas.openxmlformats.org/drawingml/2006/main" noGrp="1"/>
          </p:cNvSpPr>
          <p:nvPr/>
        </p:nvSpPr>
        <p:spPr>
          <a:xfrm xmlns:a="http://schemas.openxmlformats.org/drawingml/2006/main">
            <a:off x="762000" y="19431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00" b="0">
                <a:solidFill>
                  <a:srgbClr val="233746"/>
                </a:solidFill>
                <a:latin typeface="Arial"/>
                <a:ea typeface="Arial"/>
                <a:cs typeface="Arial"/>
              </a:defRPr>
            </a:pPr>
            <a:r>
              <a:rPr sz="2400" b="0">
                <a:solidFill>
                  <a:srgbClr val="233746"/>
                </a:solidFill>
                <a:latin typeface="Arial"/>
                <a:ea typeface="Arial"/>
                <a:cs typeface="Arial"/>
              </a:rPr>
              <a:t>P(Q = sí) = 0,270 + 0,160 + 0,050 = 0,480</a:t>
            </a:r>
          </a:p>
        </p:txBody>
      </p:sp>
      <p:graphicFrame>
        <p:nvGraphicFramePr>
          <p:cNvPr id="24" name=""/>
          <p:cNvGraphicFramePr/>
          <p:nvPr/>
        </p:nvGraphicFramePr>
        <p:xfrm>
          <a:off xmlns:a="http://schemas.openxmlformats.org/drawingml/2006/main" x="762000" y="2800350"/>
          <a:ext xmlns:a="http://schemas.openxmlformats.org/drawingml/2006/main" cx="10668000" cy="2647950"/>
        </p:xfrm>
        <a:graphic xmlns:a="http://schemas.openxmlformats.org/drawingml/2006/main">
          <a:graphicData uri="http://schemas.openxmlformats.org/drawingml/2006/table">
            <a:tbl>
              <a:tblPr/>
              <a:tblGrid>
                <a:gridCol w="3556000"/>
                <a:gridCol w="3556000"/>
                <a:gridCol w="3556000"/>
              </a:tblGrid>
              <a:tr h="661988">
                <a:tc>
                  <a:txBody>
                    <a:bodyPr lIns="95250" tIns="76200" rIns="95250" bIns="76200"/>
                    <a:lstStyle/>
                    <a:p>
                      <a:pPr algn="ctr">
                        <a:buNone/>
                      </a:pPr>
                      <a:r>
                        <a:rPr sz="2175" b="1">
                          <a:solidFill>
                            <a:srgbClr val="2162A0"/>
                          </a:solidFill>
                          <a:latin typeface="Arial"/>
                          <a:ea typeface="Arial"/>
                          <a:cs typeface="Arial"/>
                        </a:rPr>
                        <a:t>Hipótesis</a:t>
                      </a:r>
                    </a:p>
                  </a:txBody>
                  <a:tcPr marL="91440" marR="91440" marT="45720" marB="45720" anchor="ctr">
                    <a:solidFill>
                      <a:srgbClr val="E8EFF5"/>
                    </a:solidFill>
                  </a:tcPr>
                </a:tc>
                <a:tc>
                  <a:txBody>
                    <a:bodyPr lIns="95250" tIns="76200" rIns="95250" bIns="76200"/>
                    <a:lstStyle/>
                    <a:p>
                      <a:pPr algn="ctr">
                        <a:buNone/>
                      </a:pPr>
                      <a:r>
                        <a:rPr sz="2175" b="1">
                          <a:solidFill>
                            <a:srgbClr val="2162A0"/>
                          </a:solidFill>
                          <a:latin typeface="Arial"/>
                          <a:ea typeface="Arial"/>
                          <a:cs typeface="Arial"/>
                        </a:rPr>
                        <a:t>Cálculo</a:t>
                      </a:r>
                    </a:p>
                  </a:txBody>
                  <a:tcPr marL="91440" marR="91440" marT="45720" marB="45720" anchor="ctr">
                    <a:solidFill>
                      <a:srgbClr val="E8EFF5"/>
                    </a:solidFill>
                  </a:tcPr>
                </a:tc>
                <a:tc>
                  <a:txBody>
                    <a:bodyPr lIns="95250" tIns="76200" rIns="95250" bIns="76200"/>
                    <a:lstStyle/>
                    <a:p>
                      <a:pPr algn="ctr">
                        <a:buNone/>
                      </a:pPr>
                      <a:r>
                        <a:rPr sz="2175" b="1">
                          <a:solidFill>
                            <a:srgbClr val="2162A0"/>
                          </a:solidFill>
                          <a:latin typeface="Arial"/>
                          <a:ea typeface="Arial"/>
                          <a:cs typeface="Arial"/>
                        </a:rPr>
                        <a:t>Posterior</a:t>
                      </a:r>
                    </a:p>
                  </a:txBody>
                  <a:tcPr marL="91440" marR="91440" marT="45720" marB="45720" anchor="ctr">
                    <a:solidFill>
                      <a:srgbClr val="E8EFF5"/>
                    </a:solidFill>
                  </a:tcPr>
                </a:tc>
              </a:tr>
              <a:tr h="661988">
                <a:tc>
                  <a:txBody>
                    <a:bodyPr lIns="95250" tIns="76200" rIns="95250" bIns="76200"/>
                    <a:lstStyle/>
                    <a:p>
                      <a:pPr algn="ctr">
                        <a:buNone/>
                      </a:pPr>
                      <a:r>
                        <a:rPr sz="2175" b="0">
                          <a:solidFill>
                            <a:srgbClr val="233746"/>
                          </a:solidFill>
                          <a:latin typeface="Arial"/>
                          <a:ea typeface="Arial"/>
                          <a:cs typeface="Arial"/>
                        </a:rPr>
                        <a:t>Obstrucción</a:t>
                      </a:r>
                    </a:p>
                  </a:txBody>
                  <a:tcPr marL="91440" marR="91440" marT="45720" marB="45720" anchor="ctr">
                    <a:solidFill>
                      <a:srgbClr val="FFFFFF"/>
                    </a:solidFill>
                  </a:tcPr>
                </a:tc>
                <a:tc>
                  <a:txBody>
                    <a:bodyPr lIns="95250" tIns="76200" rIns="95250" bIns="76200"/>
                    <a:lstStyle/>
                    <a:p>
                      <a:pPr algn="ctr">
                        <a:buNone/>
                      </a:pPr>
                      <a:r>
                        <a:rPr sz="2175" b="0">
                          <a:solidFill>
                            <a:srgbClr val="233746"/>
                          </a:solidFill>
                          <a:latin typeface="Arial"/>
                          <a:ea typeface="Arial"/>
                          <a:cs typeface="Arial"/>
                        </a:rPr>
                        <a:t>0,270 / 0,480</a:t>
                      </a:r>
                    </a:p>
                  </a:txBody>
                  <a:tcPr marL="91440" marR="91440" marT="45720" marB="45720" anchor="ctr">
                    <a:solidFill>
                      <a:srgbClr val="FFFFFF"/>
                    </a:solidFill>
                  </a:tcPr>
                </a:tc>
                <a:tc>
                  <a:txBody>
                    <a:bodyPr lIns="95250" tIns="76200" rIns="95250" bIns="76200"/>
                    <a:lstStyle/>
                    <a:p>
                      <a:pPr algn="ctr">
                        <a:buNone/>
                      </a:pPr>
                      <a:r>
                        <a:rPr sz="2175" b="0">
                          <a:solidFill>
                            <a:srgbClr val="233746"/>
                          </a:solidFill>
                          <a:latin typeface="Arial"/>
                          <a:ea typeface="Arial"/>
                          <a:cs typeface="Arial"/>
                        </a:rPr>
                        <a:t>56,25 %</a:t>
                      </a:r>
                    </a:p>
                  </a:txBody>
                  <a:tcPr marL="91440" marR="91440" marT="45720" marB="45720" anchor="ctr">
                    <a:solidFill>
                      <a:srgbClr val="FFFFFF"/>
                    </a:solidFill>
                  </a:tcPr>
                </a:tc>
              </a:tr>
              <a:tr h="661988">
                <a:tc>
                  <a:txBody>
                    <a:bodyPr lIns="95250" tIns="76200" rIns="95250" bIns="76200"/>
                    <a:lstStyle/>
                    <a:p>
                      <a:pPr algn="ctr">
                        <a:buNone/>
                      </a:pPr>
                      <a:r>
                        <a:rPr sz="2175" b="0">
                          <a:solidFill>
                            <a:srgbClr val="233746"/>
                          </a:solidFill>
                          <a:latin typeface="Arial"/>
                          <a:ea typeface="Arial"/>
                          <a:cs typeface="Arial"/>
                        </a:rPr>
                        <a:t>Fuga</a:t>
                      </a:r>
                    </a:p>
                  </a:txBody>
                  <a:tcPr marL="91440" marR="91440" marT="45720" marB="45720" anchor="ctr">
                    <a:solidFill>
                      <a:srgbClr val="F5F7F9"/>
                    </a:solidFill>
                  </a:tcPr>
                </a:tc>
                <a:tc>
                  <a:txBody>
                    <a:bodyPr lIns="95250" tIns="76200" rIns="95250" bIns="76200"/>
                    <a:lstStyle/>
                    <a:p>
                      <a:pPr algn="ctr">
                        <a:buNone/>
                      </a:pPr>
                      <a:r>
                        <a:rPr sz="2175" b="0">
                          <a:solidFill>
                            <a:srgbClr val="233746"/>
                          </a:solidFill>
                          <a:latin typeface="Arial"/>
                          <a:ea typeface="Arial"/>
                          <a:cs typeface="Arial"/>
                        </a:rPr>
                        <a:t>0,160 / 0,480</a:t>
                      </a:r>
                    </a:p>
                  </a:txBody>
                  <a:tcPr marL="91440" marR="91440" marT="45720" marB="45720" anchor="ctr">
                    <a:solidFill>
                      <a:srgbClr val="F5F7F9"/>
                    </a:solidFill>
                  </a:tcPr>
                </a:tc>
                <a:tc>
                  <a:txBody>
                    <a:bodyPr lIns="95250" tIns="76200" rIns="95250" bIns="76200"/>
                    <a:lstStyle/>
                    <a:p>
                      <a:pPr algn="ctr">
                        <a:buNone/>
                      </a:pPr>
                      <a:r>
                        <a:rPr sz="2175" b="0">
                          <a:solidFill>
                            <a:srgbClr val="233746"/>
                          </a:solidFill>
                          <a:latin typeface="Arial"/>
                          <a:ea typeface="Arial"/>
                          <a:cs typeface="Arial"/>
                        </a:rPr>
                        <a:t>33,33 %</a:t>
                      </a:r>
                    </a:p>
                  </a:txBody>
                  <a:tcPr marL="91440" marR="91440" marT="45720" marB="45720" anchor="ctr">
                    <a:solidFill>
                      <a:srgbClr val="F5F7F9"/>
                    </a:solidFill>
                  </a:tcPr>
                </a:tc>
              </a:tr>
              <a:tr h="661988">
                <a:tc>
                  <a:txBody>
                    <a:bodyPr lIns="95250" tIns="76200" rIns="95250" bIns="76200"/>
                    <a:lstStyle/>
                    <a:p>
                      <a:pPr algn="ctr">
                        <a:buNone/>
                      </a:pPr>
                      <a:r>
                        <a:rPr sz="2175" b="0">
                          <a:solidFill>
                            <a:srgbClr val="233746"/>
                          </a:solidFill>
                          <a:latin typeface="Arial"/>
                          <a:ea typeface="Arial"/>
                          <a:cs typeface="Arial"/>
                        </a:rPr>
                        <a:t>Otra</a:t>
                      </a:r>
                    </a:p>
                  </a:txBody>
                  <a:tcPr marL="91440" marR="91440" marT="45720" marB="45720" anchor="ctr">
                    <a:solidFill>
                      <a:srgbClr val="FFFFFF"/>
                    </a:solidFill>
                  </a:tcPr>
                </a:tc>
                <a:tc>
                  <a:txBody>
                    <a:bodyPr lIns="95250" tIns="76200" rIns="95250" bIns="76200"/>
                    <a:lstStyle/>
                    <a:p>
                      <a:pPr algn="ctr">
                        <a:buNone/>
                      </a:pPr>
                      <a:r>
                        <a:rPr sz="2175" b="0">
                          <a:solidFill>
                            <a:srgbClr val="233746"/>
                          </a:solidFill>
                          <a:latin typeface="Arial"/>
                          <a:ea typeface="Arial"/>
                          <a:cs typeface="Arial"/>
                        </a:rPr>
                        <a:t>0,050 / 0,480</a:t>
                      </a:r>
                    </a:p>
                  </a:txBody>
                  <a:tcPr marL="91440" marR="91440" marT="45720" marB="45720" anchor="ctr">
                    <a:solidFill>
                      <a:srgbClr val="FFFFFF"/>
                    </a:solidFill>
                  </a:tcPr>
                </a:tc>
                <a:tc>
                  <a:txBody>
                    <a:bodyPr lIns="95250" tIns="76200" rIns="95250" bIns="76200"/>
                    <a:lstStyle/>
                    <a:p>
                      <a:pPr algn="ctr">
                        <a:buNone/>
                      </a:pPr>
                      <a:r>
                        <a:rPr sz="2175" b="0">
                          <a:solidFill>
                            <a:srgbClr val="233746"/>
                          </a:solidFill>
                          <a:latin typeface="Arial"/>
                          <a:ea typeface="Arial"/>
                          <a:cs typeface="Arial"/>
                        </a:rPr>
                        <a:t>10,42 %</a:t>
                      </a:r>
                    </a:p>
                  </a:txBody>
                  <a:tcPr marL="91440" marR="91440" marT="45720" marB="45720" anchor="ctr">
                    <a:solidFill>
                      <a:srgbClr val="FFFFFF"/>
                    </a:solidFill>
                  </a:tcPr>
                </a:tc>
              </a:tr>
            </a:tbl>
          </a:graphicData>
        </a:graphic>
      </p:graphicFrame>
      <p:sp>
        <p:nvSpPr>
          <p:cNvPr id="13" name="">
            <a:extLst xmlns:a="http://schemas.openxmlformats.org/drawingml/2006/main">
              <a:ext uri="{FF2B5EF4-FFF2-40B4-BE49-F238E27FC236}">
                <a16:creationId xmlns:a16="http://schemas.microsoft.com/office/drawing/2014/main" id="{EAB120C9-7DA0-487B-AD3E-2ABC1FA366DC}"/>
              </a:ext>
            </a:extLst>
          </p:cNvPr>
          <p:cNvSpPr>
            <a:spLocks xmlns:a="http://schemas.openxmlformats.org/drawingml/2006/main" noGrp="1"/>
          </p:cNvSpPr>
          <p:nvPr/>
        </p:nvSpPr>
        <p:spPr>
          <a:xfrm xmlns:a="http://schemas.openxmlformats.org/drawingml/2006/main">
            <a:off x="762000" y="60102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Obstrucción es la hipótesis más probable, pero siguen existiendo alternativas.</a:t>
            </a:r>
          </a:p>
        </p:txBody>
      </p:sp>
    </p:spTree>
    <p:extLst>
      <p:ext uri="{BB962C8B-B14F-4D97-AF65-F5344CB8AC3E}">
        <p14:creationId xmlns:p14="http://schemas.microsoft.com/office/powerpoint/2010/main" val="172189652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Diagnóstico bayesiano · PROVISIONAL</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17</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D96B18"/>
                </a:solidFill>
                <a:latin typeface="Arial"/>
                <a:ea typeface="Arial"/>
                <a:cs typeface="Arial"/>
              </a:defRPr>
            </a:pPr>
            <a:r>
              <a:rPr sz="3000" b="0">
                <a:solidFill>
                  <a:srgbClr val="D96B18"/>
                </a:solidFill>
                <a:latin typeface="Arial"/>
                <a:ea typeface="Arial"/>
                <a:cs typeface="Arial"/>
              </a:rPr>
              <a:t>La red con evidencia: caudal bajo y vibración alta</a:t>
            </a:r>
          </a:p>
        </p:txBody>
      </p:sp>
      <p:sp>
        <p:nvSpPr>
          <p:cNvPr id="9" name="">
            <a:extLst xmlns:a="http://schemas.openxmlformats.org/drawingml/2006/main">
              <a:ext uri="{FF2B5EF4-FFF2-40B4-BE49-F238E27FC236}">
                <a16:creationId xmlns:a16="http://schemas.microsoft.com/office/drawing/2014/main" id="{0151A446-FA7A-432E-BD24-1F08CF0B04C6}"/>
              </a:ext>
            </a:extLst>
          </p:cNvPr>
          <p:cNvSpPr>
            <a:spLocks xmlns:a="http://schemas.openxmlformats.org/drawingml/2006/main" noGrp="1"/>
          </p:cNvSpPr>
          <p:nvPr/>
        </p:nvSpPr>
        <p:spPr>
          <a:xfrm xmlns:a="http://schemas.openxmlformats.org/drawingml/2006/main">
            <a:off x="762000" y="13811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087F79"/>
                </a:solidFill>
                <a:latin typeface="Arial"/>
                <a:ea typeface="Arial"/>
                <a:cs typeface="Arial"/>
              </a:defRPr>
            </a:pPr>
            <a:r>
              <a:rPr sz="1500" b="1">
                <a:solidFill>
                  <a:srgbClr val="087F79"/>
                </a:solidFill>
                <a:latin typeface="Arial"/>
                <a:ea typeface="Arial"/>
                <a:cs typeface="Arial"/>
              </a:rPr>
              <a:t>INFERENCIA PASO A PASO</a:t>
            </a:r>
          </a:p>
        </p:txBody>
      </p:sp>
      <p:sp>
        <p:nvSpPr>
          <p:cNvPr id="10" name="">
            <a:extLst xmlns:a="http://schemas.openxmlformats.org/drawingml/2006/main">
              <a:ext uri="{FF2B5EF4-FFF2-40B4-BE49-F238E27FC236}">
                <a16:creationId xmlns:a16="http://schemas.microsoft.com/office/drawing/2014/main" id="{8EC3A01E-A8E3-4498-A530-6A526DDCC98F}"/>
              </a:ext>
            </a:extLst>
          </p:cNvPr>
          <p:cNvSpPr>
            <a:spLocks xmlns:a="http://schemas.openxmlformats.org/drawingml/2006/main" noGrp="1"/>
          </p:cNvSpPr>
          <p:nvPr/>
        </p:nvSpPr>
        <p:spPr>
          <a:xfrm xmlns:a="http://schemas.openxmlformats.org/drawingml/2006/main">
            <a:off x="762000" y="1724025"/>
            <a:ext cx="10668000" cy="28575"/>
          </a:xfrm>
          <a:prstGeom xmlns:a="http://schemas.openxmlformats.org/drawingml/2006/main" prst="rect">
            <a:avLst/>
          </a:prstGeom>
          <a:solidFill xmlns:a="http://schemas.openxmlformats.org/drawingml/2006/main">
            <a:srgbClr val="087F79"/>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BABC498F-6E73-4C55-9C95-00734FF29F01}"/>
              </a:ext>
            </a:extLst>
          </p:cNvPr>
          <p:cNvSpPr>
            <a:spLocks xmlns:a="http://schemas.openxmlformats.org/drawingml/2006/main" noGrp="1"/>
          </p:cNvSpPr>
          <p:nvPr/>
        </p:nvSpPr>
        <p:spPr>
          <a:xfrm xmlns:a="http://schemas.openxmlformats.org/drawingml/2006/main">
            <a:off x="4038600" y="2028825"/>
            <a:ext cx="4114800" cy="1952625"/>
          </a:xfrm>
          <a:prstGeom xmlns:a="http://schemas.openxmlformats.org/drawingml/2006/main" prst="rect">
            <a:avLst/>
          </a:prstGeom>
          <a:solidFill xmlns:a="http://schemas.openxmlformats.org/drawingml/2006/main">
            <a:srgbClr val="FFFFFF"/>
          </a:solidFill>
          <a:ln xmlns:a="http://schemas.openxmlformats.org/drawingml/2006/main" w="19050">
            <a:solidFill>
              <a:srgbClr val="087F79"/>
            </a:solidFill>
          </a:ln>
        </p:spPr>
        <p:txBody>
          <a:bodyPr xmlns:a="http://schemas.openxmlformats.org/drawingml/2006/main"/>
          <a:lstStyle xmlns:a="http://schemas.openxmlformats.org/drawingml/2006/main"/>
          <a:p xmlns:a="http://schemas.openxmlformats.org/drawingml/2006/main">
            <a:r>
              <a:t/>
            </a:r>
          </a:p>
        </p:txBody>
      </p:sp>
      <p:sp>
        <p:nvSpPr>
          <p:cNvPr id="12" name="">
            <a:extLst xmlns:a="http://schemas.openxmlformats.org/drawingml/2006/main">
              <a:ext uri="{FF2B5EF4-FFF2-40B4-BE49-F238E27FC236}">
                <a16:creationId xmlns:a16="http://schemas.microsoft.com/office/drawing/2014/main" id="{FF99D0A9-3FF3-4C4C-BFDB-F711261323B6}"/>
              </a:ext>
            </a:extLst>
          </p:cNvPr>
          <p:cNvSpPr>
            <a:spLocks xmlns:a="http://schemas.openxmlformats.org/drawingml/2006/main" noGrp="1"/>
          </p:cNvSpPr>
          <p:nvPr/>
        </p:nvSpPr>
        <p:spPr>
          <a:xfrm xmlns:a="http://schemas.openxmlformats.org/drawingml/2006/main">
            <a:off x="4171950" y="2105025"/>
            <a:ext cx="3857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087F79"/>
                </a:solidFill>
                <a:latin typeface="Arial"/>
                <a:ea typeface="Arial"/>
                <a:cs typeface="Arial"/>
              </a:defRPr>
            </a:pPr>
            <a:r>
              <a:rPr sz="2100" b="1">
                <a:solidFill>
                  <a:srgbClr val="087F79"/>
                </a:solidFill>
                <a:latin typeface="Arial"/>
                <a:ea typeface="Arial"/>
                <a:cs typeface="Arial"/>
              </a:rPr>
              <a:t>Posterior de H</a:t>
            </a:r>
          </a:p>
        </p:txBody>
      </p:sp>
      <p:graphicFrame>
        <p:nvGraphicFramePr>
          <p:cNvPr id="33" name=""/>
          <p:cNvGraphicFramePr/>
          <p:nvPr/>
        </p:nvGraphicFramePr>
        <p:xfrm>
          <a:off xmlns:a="http://schemas.openxmlformats.org/drawingml/2006/main" x="4152900" y="2514600"/>
          <a:ext xmlns:a="http://schemas.openxmlformats.org/drawingml/2006/main" cx="3886200" cy="1352550"/>
        </p:xfrm>
        <a:graphic xmlns:a="http://schemas.openxmlformats.org/drawingml/2006/main">
          <a:graphicData uri="http://schemas.openxmlformats.org/drawingml/2006/table">
            <a:tbl>
              <a:tblPr/>
              <a:tblGrid>
                <a:gridCol w="1981200"/>
                <a:gridCol w="1905000"/>
              </a:tblGrid>
              <a:tr h="338138">
                <a:tc>
                  <a:txBody>
                    <a:bodyPr lIns="66675" tIns="47625" rIns="66675" bIns="47625"/>
                    <a:lstStyle/>
                    <a:p>
                      <a:pPr algn="ctr"/>
                      <a:r>
                        <a:rPr sz="1725" b="1">
                          <a:solidFill>
                            <a:srgbClr val="2162A0"/>
                          </a:solidFill>
                          <a:latin typeface="Arial"/>
                          <a:ea typeface="Arial"/>
                          <a:cs typeface="Arial"/>
                        </a:rPr>
                        <a:t>Causa</a:t>
                      </a:r>
                    </a:p>
                  </a:txBody>
                  <a:tcPr marL="91440" marR="91440" marT="45720" marB="45720" anchor="ctr">
                    <a:solidFill>
                      <a:srgbClr val="E8EFF5"/>
                    </a:solidFill>
                  </a:tcPr>
                </a:tc>
                <a:tc>
                  <a:txBody>
                    <a:bodyPr lIns="66675" tIns="47625" rIns="66675" bIns="47625"/>
                    <a:lstStyle/>
                    <a:p>
                      <a:pPr algn="ctr"/>
                      <a:r>
                        <a:rPr sz="1725" b="1">
                          <a:solidFill>
                            <a:srgbClr val="2162A0"/>
                          </a:solidFill>
                          <a:latin typeface="Arial"/>
                          <a:ea typeface="Arial"/>
                          <a:cs typeface="Arial"/>
                        </a:rPr>
                        <a:t>Probabilidad</a:t>
                      </a:r>
                    </a:p>
                  </a:txBody>
                  <a:tcPr marL="91440" marR="91440" marT="45720" marB="45720" anchor="ctr">
                    <a:solidFill>
                      <a:srgbClr val="E8EFF5"/>
                    </a:solidFill>
                  </a:tcPr>
                </a:tc>
              </a:tr>
              <a:tr h="338138">
                <a:tc>
                  <a:txBody>
                    <a:bodyPr lIns="66675" tIns="47625" rIns="66675" bIns="47625"/>
                    <a:lstStyle/>
                    <a:p>
                      <a:pPr algn="ctr"/>
                      <a:r>
                        <a:rPr sz="1725" b="0">
                          <a:solidFill>
                            <a:srgbClr val="233746"/>
                          </a:solidFill>
                          <a:latin typeface="Arial"/>
                          <a:ea typeface="Arial"/>
                          <a:cs typeface="Arial"/>
                        </a:rPr>
                        <a:t>Obstrucción</a:t>
                      </a:r>
                    </a:p>
                  </a:txBody>
                  <a:tcPr marL="91440" marR="91440" marT="45720" marB="45720" anchor="ctr">
                    <a:solidFill>
                      <a:srgbClr val="FFFFFF"/>
                    </a:solidFill>
                  </a:tcPr>
                </a:tc>
                <a:tc>
                  <a:txBody>
                    <a:bodyPr lIns="66675" tIns="47625" rIns="66675" bIns="47625"/>
                    <a:lstStyle/>
                    <a:p>
                      <a:pPr algn="ctr"/>
                      <a:r>
                        <a:rPr sz="1725" b="0">
                          <a:solidFill>
                            <a:srgbClr val="233746"/>
                          </a:solidFill>
                          <a:latin typeface="Arial"/>
                          <a:ea typeface="Arial"/>
                          <a:cs typeface="Arial"/>
                        </a:rPr>
                        <a:t>85,38 %</a:t>
                      </a:r>
                    </a:p>
                  </a:txBody>
                  <a:tcPr marL="91440" marR="91440" marT="45720" marB="45720" anchor="ctr">
                    <a:solidFill>
                      <a:srgbClr val="FFFFFF"/>
                    </a:solidFill>
                  </a:tcPr>
                </a:tc>
              </a:tr>
              <a:tr h="338138">
                <a:tc>
                  <a:txBody>
                    <a:bodyPr lIns="66675" tIns="47625" rIns="66675" bIns="47625"/>
                    <a:lstStyle/>
                    <a:p>
                      <a:pPr algn="ctr"/>
                      <a:r>
                        <a:rPr sz="1725" b="0">
                          <a:solidFill>
                            <a:srgbClr val="233746"/>
                          </a:solidFill>
                          <a:latin typeface="Arial"/>
                          <a:ea typeface="Arial"/>
                          <a:cs typeface="Arial"/>
                        </a:rPr>
                        <a:t>Fuga</a:t>
                      </a:r>
                    </a:p>
                  </a:txBody>
                  <a:tcPr marL="91440" marR="91440" marT="45720" marB="45720" anchor="ctr">
                    <a:solidFill>
                      <a:srgbClr val="F5F7F9"/>
                    </a:solidFill>
                  </a:tcPr>
                </a:tc>
                <a:tc>
                  <a:txBody>
                    <a:bodyPr lIns="66675" tIns="47625" rIns="66675" bIns="47625"/>
                    <a:lstStyle/>
                    <a:p>
                      <a:pPr algn="ctr"/>
                      <a:r>
                        <a:rPr sz="1725" b="0">
                          <a:solidFill>
                            <a:srgbClr val="233746"/>
                          </a:solidFill>
                          <a:latin typeface="Arial"/>
                          <a:ea typeface="Arial"/>
                          <a:cs typeface="Arial"/>
                        </a:rPr>
                        <a:t>12,65 %</a:t>
                      </a:r>
                    </a:p>
                  </a:txBody>
                  <a:tcPr marL="91440" marR="91440" marT="45720" marB="45720" anchor="ctr">
                    <a:solidFill>
                      <a:srgbClr val="F5F7F9"/>
                    </a:solidFill>
                  </a:tcPr>
                </a:tc>
              </a:tr>
              <a:tr h="338138">
                <a:tc>
                  <a:txBody>
                    <a:bodyPr lIns="66675" tIns="47625" rIns="66675" bIns="47625"/>
                    <a:lstStyle/>
                    <a:p>
                      <a:pPr algn="ctr"/>
                      <a:r>
                        <a:rPr sz="1725" b="0">
                          <a:solidFill>
                            <a:srgbClr val="233746"/>
                          </a:solidFill>
                          <a:latin typeface="Arial"/>
                          <a:ea typeface="Arial"/>
                          <a:cs typeface="Arial"/>
                        </a:rPr>
                        <a:t>Otra</a:t>
                      </a:r>
                    </a:p>
                  </a:txBody>
                  <a:tcPr marL="91440" marR="91440" marT="45720" marB="45720" anchor="ctr">
                    <a:solidFill>
                      <a:srgbClr val="FFFFFF"/>
                    </a:solidFill>
                  </a:tcPr>
                </a:tc>
                <a:tc>
                  <a:txBody>
                    <a:bodyPr lIns="66675" tIns="47625" rIns="66675" bIns="47625"/>
                    <a:lstStyle/>
                    <a:p>
                      <a:pPr algn="ctr"/>
                      <a:r>
                        <a:rPr sz="1725" b="0">
                          <a:solidFill>
                            <a:srgbClr val="233746"/>
                          </a:solidFill>
                          <a:latin typeface="Arial"/>
                          <a:ea typeface="Arial"/>
                          <a:cs typeface="Arial"/>
                        </a:rPr>
                        <a:t>1,98 %</a:t>
                      </a:r>
                    </a:p>
                  </a:txBody>
                  <a:tcPr marL="91440" marR="91440" marT="45720" marB="45720" anchor="ctr">
                    <a:solidFill>
                      <a:srgbClr val="FFFFFF"/>
                    </a:solidFill>
                  </a:tcPr>
                </a:tc>
              </a:tr>
            </a:tbl>
          </a:graphicData>
        </a:graphic>
      </p:graphicFrame>
      <p:sp>
        <p:nvSpPr>
          <p:cNvPr id="14" name="">
            <a:extLst xmlns:a="http://schemas.openxmlformats.org/drawingml/2006/main">
              <a:ext uri="{FF2B5EF4-FFF2-40B4-BE49-F238E27FC236}">
                <a16:creationId xmlns:a16="http://schemas.microsoft.com/office/drawing/2014/main" id="{A7A1ADA4-1F8C-46E5-9A72-21F94A3C71DC}"/>
              </a:ext>
            </a:extLst>
          </p:cNvPr>
          <p:cNvSpPr>
            <a:spLocks xmlns:a="http://schemas.openxmlformats.org/drawingml/2006/main" noGrp="1"/>
          </p:cNvSpPr>
          <p:nvPr/>
        </p:nvSpPr>
        <p:spPr>
          <a:xfrm xmlns:a="http://schemas.openxmlformats.org/drawingml/2006/main">
            <a:off x="762000" y="4429125"/>
            <a:ext cx="4333875" cy="866775"/>
          </a:xfrm>
          <a:prstGeom xmlns:a="http://schemas.openxmlformats.org/drawingml/2006/main" prst="rect">
            <a:avLst/>
          </a:prstGeom>
          <a:solidFill xmlns:a="http://schemas.openxmlformats.org/drawingml/2006/main">
            <a:srgbClr val="FFFFFF"/>
          </a:solidFill>
          <a:ln xmlns:a="http://schemas.openxmlformats.org/drawingml/2006/main" w="19050">
            <a:solidFill>
              <a:srgbClr val="087F79"/>
            </a:solidFill>
          </a:ln>
        </p:spPr>
        <p:txBody>
          <a:bodyPr xmlns:a="http://schemas.openxmlformats.org/drawingml/2006/main"/>
          <a:lstStyle xmlns:a="http://schemas.openxmlformats.org/drawingml/2006/main"/>
          <a:p xmlns:a="http://schemas.openxmlformats.org/drawingml/2006/main">
            <a:r>
              <a:t/>
            </a:r>
          </a:p>
        </p:txBody>
      </p:sp>
      <p:sp>
        <p:nvSpPr>
          <p:cNvPr id="15" name="">
            <a:extLst xmlns:a="http://schemas.openxmlformats.org/drawingml/2006/main">
              <a:ext uri="{FF2B5EF4-FFF2-40B4-BE49-F238E27FC236}">
                <a16:creationId xmlns:a16="http://schemas.microsoft.com/office/drawing/2014/main" id="{CA0C9707-8FE4-4ABB-9414-554A0582D7D3}"/>
              </a:ext>
            </a:extLst>
          </p:cNvPr>
          <p:cNvSpPr>
            <a:spLocks xmlns:a="http://schemas.openxmlformats.org/drawingml/2006/main" noGrp="1"/>
          </p:cNvSpPr>
          <p:nvPr/>
        </p:nvSpPr>
        <p:spPr>
          <a:xfrm xmlns:a="http://schemas.openxmlformats.org/drawingml/2006/main">
            <a:off x="7096125" y="4429125"/>
            <a:ext cx="4333875" cy="866775"/>
          </a:xfrm>
          <a:prstGeom xmlns:a="http://schemas.openxmlformats.org/drawingml/2006/main" prst="rect">
            <a:avLst/>
          </a:prstGeom>
          <a:solidFill xmlns:a="http://schemas.openxmlformats.org/drawingml/2006/main">
            <a:srgbClr val="FFFFFF"/>
          </a:solidFill>
          <a:ln xmlns:a="http://schemas.openxmlformats.org/drawingml/2006/main" w="19050">
            <a:solidFill>
              <a:srgbClr val="087F79"/>
            </a:solidFill>
          </a:ln>
        </p:spPr>
        <p:txBody>
          <a:bodyPr xmlns:a="http://schemas.openxmlformats.org/drawingml/2006/main"/>
          <a:lstStyle xmlns:a="http://schemas.openxmlformats.org/drawingml/2006/main"/>
          <a:p xmlns:a="http://schemas.openxmlformats.org/drawingml/2006/main">
            <a:r>
              <a:t/>
            </a:r>
          </a:p>
        </p:txBody>
      </p:sp>
      <p:sp>
        <p:nvSpPr>
          <p:cNvPr id="16" name="">
            <a:extLst xmlns:a="http://schemas.openxmlformats.org/drawingml/2006/main">
              <a:ext uri="{FF2B5EF4-FFF2-40B4-BE49-F238E27FC236}">
                <a16:creationId xmlns:a16="http://schemas.microsoft.com/office/drawing/2014/main" id="{8F32B213-D237-4742-A87E-C32E696D8240}"/>
              </a:ext>
            </a:extLst>
          </p:cNvPr>
          <p:cNvSpPr>
            <a:spLocks xmlns:a="http://schemas.openxmlformats.org/drawingml/2006/main" noGrp="1"/>
          </p:cNvSpPr>
          <p:nvPr/>
        </p:nvSpPr>
        <p:spPr>
          <a:xfrm xmlns:a="http://schemas.openxmlformats.org/drawingml/2006/main">
            <a:off x="895350" y="4581525"/>
            <a:ext cx="4038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087F79"/>
                </a:solidFill>
                <a:latin typeface="Arial"/>
                <a:ea typeface="Arial"/>
                <a:cs typeface="Arial"/>
              </a:defRPr>
            </a:pPr>
            <a:r>
              <a:rPr sz="2025" b="1">
                <a:solidFill>
                  <a:srgbClr val="087F79"/>
                </a:solidFill>
                <a:latin typeface="Arial"/>
                <a:ea typeface="Arial"/>
                <a:cs typeface="Arial"/>
              </a:rPr>
              <a:t>Q observado: caudal bajo = sí</a:t>
            </a:r>
          </a:p>
        </p:txBody>
      </p:sp>
      <p:sp>
        <p:nvSpPr>
          <p:cNvPr id="17" name="">
            <a:extLst xmlns:a="http://schemas.openxmlformats.org/drawingml/2006/main">
              <a:ext uri="{FF2B5EF4-FFF2-40B4-BE49-F238E27FC236}">
                <a16:creationId xmlns:a16="http://schemas.microsoft.com/office/drawing/2014/main" id="{2D70BCF2-598F-41B2-9D3A-A5696B9F86DB}"/>
              </a:ext>
            </a:extLst>
          </p:cNvPr>
          <p:cNvSpPr>
            <a:spLocks xmlns:a="http://schemas.openxmlformats.org/drawingml/2006/main" noGrp="1"/>
          </p:cNvSpPr>
          <p:nvPr/>
        </p:nvSpPr>
        <p:spPr>
          <a:xfrm xmlns:a="http://schemas.openxmlformats.org/drawingml/2006/main">
            <a:off x="7229475" y="4581525"/>
            <a:ext cx="4038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087F79"/>
                </a:solidFill>
                <a:latin typeface="Arial"/>
                <a:ea typeface="Arial"/>
                <a:cs typeface="Arial"/>
              </a:defRPr>
            </a:pPr>
            <a:r>
              <a:rPr sz="2025" b="1">
                <a:solidFill>
                  <a:srgbClr val="087F79"/>
                </a:solidFill>
                <a:latin typeface="Arial"/>
                <a:ea typeface="Arial"/>
                <a:cs typeface="Arial"/>
              </a:rPr>
              <a:t>V observado: vibración alta = sí</a:t>
            </a:r>
          </a:p>
        </p:txBody>
      </p:sp>
      <p:cxnSp>
        <p:nvCxnSpPr>
          <p:cNvPr id="38" name=""/>
          <p:cNvCxnSpPr>
            <a:stCxn xmlns:a="http://schemas.openxmlformats.org/drawingml/2006/main" id="11" idx="2"/>
            <a:endCxn xmlns:a="http://schemas.openxmlformats.org/drawingml/2006/main" id="14" idx="0"/>
          </p:cNvCxnSpPr>
          <p:nvPr/>
        </p:nvCxnSpPr>
        <p:spPr>
          <a:xfrm xmlns:a="http://schemas.openxmlformats.org/drawingml/2006/main" flipH="1">
            <a:off x="2928938" y="3981450"/>
            <a:ext cx="3167063" cy="447675"/>
          </a:xfrm>
          <a:prstGeom xmlns:a="http://schemas.openxmlformats.org/drawingml/2006/main" prst="straightConnector1">
            <a:avLst/>
          </a:prstGeom>
          <a:ln xmlns:a="http://schemas.openxmlformats.org/drawingml/2006/main" w="19050">
            <a:solidFill>
              <a:srgbClr val="2162A0"/>
            </a:solidFill>
            <a:tailEnd type="arrow" w="med" len="med"/>
          </a:ln>
        </p:spPr>
      </p:cxnSp>
      <p:cxnSp>
        <p:nvCxnSpPr>
          <p:cNvPr id="39" name=""/>
          <p:cNvCxnSpPr>
            <a:stCxn xmlns:a="http://schemas.openxmlformats.org/drawingml/2006/main" id="11" idx="2"/>
            <a:endCxn xmlns:a="http://schemas.openxmlformats.org/drawingml/2006/main" id="15" idx="0"/>
          </p:cNvCxnSpPr>
          <p:nvPr/>
        </p:nvCxnSpPr>
        <p:spPr>
          <a:xfrm xmlns:a="http://schemas.openxmlformats.org/drawingml/2006/main">
            <a:off x="6096000" y="3981450"/>
            <a:ext cx="3167063" cy="447675"/>
          </a:xfrm>
          <a:prstGeom xmlns:a="http://schemas.openxmlformats.org/drawingml/2006/main" prst="straightConnector1">
            <a:avLst/>
          </a:prstGeom>
          <a:ln xmlns:a="http://schemas.openxmlformats.org/drawingml/2006/main" w="19050">
            <a:solidFill>
              <a:srgbClr val="2162A0"/>
            </a:solidFill>
            <a:tailEnd type="arrow" w="med" len="med"/>
          </a:ln>
        </p:spPr>
      </p:cxnSp>
      <p:sp>
        <p:nvSpPr>
          <p:cNvPr id="20" name="">
            <a:extLst xmlns:a="http://schemas.openxmlformats.org/drawingml/2006/main">
              <a:ext uri="{FF2B5EF4-FFF2-40B4-BE49-F238E27FC236}">
                <a16:creationId xmlns:a16="http://schemas.microsoft.com/office/drawing/2014/main" id="{4C18CA46-8FC8-4190-9E0C-751804698FF7}"/>
              </a:ext>
            </a:extLst>
          </p:cNvPr>
          <p:cNvSpPr>
            <a:spLocks xmlns:a="http://schemas.openxmlformats.org/drawingml/2006/main" noGrp="1"/>
          </p:cNvSpPr>
          <p:nvPr/>
        </p:nvSpPr>
        <p:spPr>
          <a:xfrm xmlns:a="http://schemas.openxmlformats.org/drawingml/2006/main">
            <a:off x="762000" y="2371725"/>
            <a:ext cx="2857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233746"/>
                </a:solidFill>
                <a:latin typeface="Arial"/>
                <a:ea typeface="Arial"/>
                <a:cs typeface="Arial"/>
              </a:defRPr>
            </a:pPr>
            <a:r>
              <a:rPr sz="2175" b="0">
                <a:solidFill>
                  <a:srgbClr val="233746"/>
                </a:solidFill>
                <a:latin typeface="Arial"/>
                <a:ea typeface="Arial"/>
                <a:cs typeface="Arial"/>
              </a:rPr>
              <a:t>La inferencia revisa H</a:t>
            </a:r>
          </a:p>
          <a:p xmlns:a="http://schemas.openxmlformats.org/drawingml/2006/main">
            <a:pPr>
              <a:defRPr sz="2175" b="0">
                <a:solidFill>
                  <a:srgbClr val="233746"/>
                </a:solidFill>
                <a:latin typeface="Arial"/>
                <a:ea typeface="Arial"/>
                <a:cs typeface="Arial"/>
              </a:defRPr>
            </a:pPr>
            <a:r>
              <a:rPr sz="2175" b="0">
                <a:solidFill>
                  <a:srgbClr val="233746"/>
                </a:solidFill>
                <a:latin typeface="Arial"/>
                <a:ea typeface="Arial"/>
                <a:cs typeface="Arial"/>
              </a:rPr>
              <a:t>a partir de Q y V.</a:t>
            </a:r>
          </a:p>
        </p:txBody>
      </p:sp>
      <p:sp>
        <p:nvSpPr>
          <p:cNvPr id="21" name="">
            <a:extLst xmlns:a="http://schemas.openxmlformats.org/drawingml/2006/main">
              <a:ext uri="{FF2B5EF4-FFF2-40B4-BE49-F238E27FC236}">
                <a16:creationId xmlns:a16="http://schemas.microsoft.com/office/drawing/2014/main" id="{80DE6396-4958-43B6-ACDF-973A5604F531}"/>
              </a:ext>
            </a:extLst>
          </p:cNvPr>
          <p:cNvSpPr>
            <a:spLocks xmlns:a="http://schemas.openxmlformats.org/drawingml/2006/main" noGrp="1"/>
          </p:cNvSpPr>
          <p:nvPr/>
        </p:nvSpPr>
        <p:spPr>
          <a:xfrm xmlns:a="http://schemas.openxmlformats.org/drawingml/2006/main">
            <a:off x="8610600" y="2333625"/>
            <a:ext cx="2790825"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233746"/>
                </a:solidFill>
                <a:latin typeface="Arial"/>
                <a:ea typeface="Arial"/>
                <a:cs typeface="Arial"/>
              </a:defRPr>
            </a:pPr>
            <a:r>
              <a:rPr sz="2025" b="0">
                <a:solidFill>
                  <a:srgbClr val="233746"/>
                </a:solidFill>
                <a:latin typeface="Arial"/>
                <a:ea typeface="Arial"/>
                <a:cs typeface="Arial"/>
              </a:rPr>
              <a:t>Las tablas del modelo</a:t>
            </a:r>
          </a:p>
          <a:p xmlns:a="http://schemas.openxmlformats.org/drawingml/2006/main">
            <a:pPr>
              <a:defRPr sz="2025" b="0">
                <a:solidFill>
                  <a:srgbClr val="233746"/>
                </a:solidFill>
                <a:latin typeface="Arial"/>
                <a:ea typeface="Arial"/>
                <a:cs typeface="Arial"/>
              </a:defRPr>
            </a:pPr>
            <a:r>
              <a:rPr sz="2025" b="0">
                <a:solidFill>
                  <a:srgbClr val="233746"/>
                </a:solidFill>
                <a:latin typeface="Arial"/>
                <a:ea typeface="Arial"/>
                <a:cs typeface="Arial"/>
              </a:rPr>
              <a:t>se mantienen.</a:t>
            </a:r>
          </a:p>
          <a:p xmlns:a="http://schemas.openxmlformats.org/drawingml/2006/main">
            <a:pPr>
              <a:defRPr sz="2025" b="0">
                <a:solidFill>
                  <a:srgbClr val="233746"/>
                </a:solidFill>
                <a:latin typeface="Arial"/>
                <a:ea typeface="Arial"/>
                <a:cs typeface="Arial"/>
              </a:defRPr>
            </a:pPr>
            <a:r>
              <a:rPr sz="2025" b="0">
                <a:solidFill>
                  <a:srgbClr val="233746"/>
                </a:solidFill>
                <a:latin typeface="Arial"/>
                <a:ea typeface="Arial"/>
                <a:cs typeface="Arial"/>
              </a:rPr>
              <a:t>Cambia la posterior.</a:t>
            </a:r>
          </a:p>
        </p:txBody>
      </p:sp>
      <p:sp>
        <p:nvSpPr>
          <p:cNvPr id="22" name="">
            <a:extLst xmlns:a="http://schemas.openxmlformats.org/drawingml/2006/main">
              <a:ext uri="{FF2B5EF4-FFF2-40B4-BE49-F238E27FC236}">
                <a16:creationId xmlns:a16="http://schemas.microsoft.com/office/drawing/2014/main" id="{C966FD07-43EC-41D2-A31C-C4D48DB4B7FD}"/>
              </a:ext>
            </a:extLst>
          </p:cNvPr>
          <p:cNvSpPr>
            <a:spLocks xmlns:a="http://schemas.openxmlformats.org/drawingml/2006/main" noGrp="1"/>
          </p:cNvSpPr>
          <p:nvPr/>
        </p:nvSpPr>
        <p:spPr>
          <a:xfrm xmlns:a="http://schemas.openxmlformats.org/drawingml/2006/main">
            <a:off x="762000" y="60388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D96B18"/>
                </a:solidFill>
                <a:latin typeface="Arial"/>
                <a:ea typeface="Arial"/>
                <a:cs typeface="Arial"/>
              </a:defRPr>
            </a:pPr>
            <a:r>
              <a:rPr sz="1800" b="1">
                <a:solidFill>
                  <a:srgbClr val="D96B18"/>
                </a:solidFill>
                <a:latin typeface="Arial"/>
                <a:ea typeface="Arial"/>
                <a:cs typeface="Arial"/>
              </a:rPr>
              <a:t>Estos porcentajes son resultados de la consulta, no nuevas probabilidades de las tablas.</a:t>
            </a:r>
          </a:p>
        </p:txBody>
      </p:sp>
    </p:spTree>
    <p:extLst>
      <p:ext uri="{BB962C8B-B14F-4D97-AF65-F5344CB8AC3E}">
        <p14:creationId xmlns:p14="http://schemas.microsoft.com/office/powerpoint/2010/main" val="172189652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Diagnóstico bayesiano · PROVISIONAL</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18</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D96B18"/>
                </a:solidFill>
                <a:latin typeface="Arial"/>
                <a:ea typeface="Arial"/>
                <a:cs typeface="Arial"/>
              </a:defRPr>
            </a:pPr>
            <a:r>
              <a:rPr sz="3000" b="0">
                <a:solidFill>
                  <a:srgbClr val="D96B18"/>
                </a:solidFill>
                <a:latin typeface="Arial"/>
                <a:ea typeface="Arial"/>
                <a:cs typeface="Arial"/>
              </a:rPr>
              <a:t>Dos observaciones: combinar y normalizar</a:t>
            </a:r>
          </a:p>
        </p:txBody>
      </p:sp>
      <p:sp>
        <p:nvSpPr>
          <p:cNvPr id="9" name="">
            <a:extLst xmlns:a="http://schemas.openxmlformats.org/drawingml/2006/main">
              <a:ext uri="{FF2B5EF4-FFF2-40B4-BE49-F238E27FC236}">
                <a16:creationId xmlns:a16="http://schemas.microsoft.com/office/drawing/2014/main" id="{4F195AEA-8FD5-4776-A9AB-06EA738FB617}"/>
              </a:ext>
            </a:extLst>
          </p:cNvPr>
          <p:cNvSpPr>
            <a:spLocks xmlns:a="http://schemas.openxmlformats.org/drawingml/2006/main" noGrp="1"/>
          </p:cNvSpPr>
          <p:nvPr/>
        </p:nvSpPr>
        <p:spPr>
          <a:xfrm xmlns:a="http://schemas.openxmlformats.org/drawingml/2006/main">
            <a:off x="762000" y="13811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087F79"/>
                </a:solidFill>
                <a:latin typeface="Arial"/>
                <a:ea typeface="Arial"/>
                <a:cs typeface="Arial"/>
              </a:defRPr>
            </a:pPr>
            <a:r>
              <a:rPr sz="1500" b="1">
                <a:solidFill>
                  <a:srgbClr val="087F79"/>
                </a:solidFill>
                <a:latin typeface="Arial"/>
                <a:ea typeface="Arial"/>
                <a:cs typeface="Arial"/>
              </a:rPr>
              <a:t>INFERENCIA PASO A PASO</a:t>
            </a:r>
          </a:p>
        </p:txBody>
      </p:sp>
      <p:sp>
        <p:nvSpPr>
          <p:cNvPr id="10" name="">
            <a:extLst xmlns:a="http://schemas.openxmlformats.org/drawingml/2006/main">
              <a:ext uri="{FF2B5EF4-FFF2-40B4-BE49-F238E27FC236}">
                <a16:creationId xmlns:a16="http://schemas.microsoft.com/office/drawing/2014/main" id="{554186F8-D7C0-4B43-B809-498549610868}"/>
              </a:ext>
            </a:extLst>
          </p:cNvPr>
          <p:cNvSpPr>
            <a:spLocks xmlns:a="http://schemas.openxmlformats.org/drawingml/2006/main" noGrp="1"/>
          </p:cNvSpPr>
          <p:nvPr/>
        </p:nvSpPr>
        <p:spPr>
          <a:xfrm xmlns:a="http://schemas.openxmlformats.org/drawingml/2006/main">
            <a:off x="762000" y="1724025"/>
            <a:ext cx="10668000" cy="28575"/>
          </a:xfrm>
          <a:prstGeom xmlns:a="http://schemas.openxmlformats.org/drawingml/2006/main" prst="rect">
            <a:avLst/>
          </a:prstGeom>
          <a:solidFill xmlns:a="http://schemas.openxmlformats.org/drawingml/2006/main">
            <a:srgbClr val="087F79"/>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graphicFrame>
        <p:nvGraphicFramePr>
          <p:cNvPr id="23" name=""/>
          <p:cNvGraphicFramePr/>
          <p:nvPr/>
        </p:nvGraphicFramePr>
        <p:xfrm>
          <a:off xmlns:a="http://schemas.openxmlformats.org/drawingml/2006/main" x="762000" y="2028825"/>
          <a:ext xmlns:a="http://schemas.openxmlformats.org/drawingml/2006/main" cx="10668000" cy="2714625"/>
        </p:xfrm>
        <a:graphic xmlns:a="http://schemas.openxmlformats.org/drawingml/2006/main">
          <a:graphicData uri="http://schemas.openxmlformats.org/drawingml/2006/table">
            <a:tbl>
              <a:tblPr/>
              <a:tblGrid>
                <a:gridCol w="2571750"/>
                <a:gridCol w="6191250"/>
                <a:gridCol w="1905000"/>
              </a:tblGrid>
              <a:tr h="678656">
                <a:tc>
                  <a:txBody>
                    <a:bodyPr lIns="95250" tIns="76200" rIns="95250" bIns="76200"/>
                    <a:lstStyle/>
                    <a:p>
                      <a:pPr algn="ctr">
                        <a:buNone/>
                      </a:pPr>
                      <a:r>
                        <a:rPr sz="2100" b="1">
                          <a:solidFill>
                            <a:srgbClr val="2162A0"/>
                          </a:solidFill>
                          <a:latin typeface="Arial"/>
                          <a:ea typeface="Arial"/>
                          <a:cs typeface="Arial"/>
                        </a:rPr>
                        <a:t>Hipótesis</a:t>
                      </a:r>
                    </a:p>
                  </a:txBody>
                  <a:tcPr marL="91440" marR="91440" marT="45720" marB="45720" anchor="ctr">
                    <a:solidFill>
                      <a:srgbClr val="E8EFF5"/>
                    </a:solidFill>
                  </a:tcPr>
                </a:tc>
                <a:tc>
                  <a:txBody>
                    <a:bodyPr lIns="95250" tIns="76200" rIns="95250" bIns="76200"/>
                    <a:lstStyle/>
                    <a:p>
                      <a:pPr algn="ctr">
                        <a:buNone/>
                      </a:pPr>
                      <a:r>
                        <a:rPr sz="2100" b="1">
                          <a:solidFill>
                            <a:srgbClr val="2162A0"/>
                          </a:solidFill>
                          <a:latin typeface="Arial"/>
                          <a:ea typeface="Arial"/>
                          <a:cs typeface="Arial"/>
                        </a:rPr>
                        <a:t>P(H) × P(Q | H) × P(V | H)</a:t>
                      </a:r>
                    </a:p>
                  </a:txBody>
                  <a:tcPr marL="91440" marR="91440" marT="45720" marB="45720" anchor="ctr">
                    <a:solidFill>
                      <a:srgbClr val="E8EFF5"/>
                    </a:solidFill>
                  </a:tcPr>
                </a:tc>
                <a:tc>
                  <a:txBody>
                    <a:bodyPr lIns="95250" tIns="76200" rIns="95250" bIns="76200"/>
                    <a:lstStyle/>
                    <a:p>
                      <a:pPr algn="ctr">
                        <a:buNone/>
                      </a:pPr>
                      <a:r>
                        <a:rPr sz="2100" b="1">
                          <a:solidFill>
                            <a:srgbClr val="2162A0"/>
                          </a:solidFill>
                          <a:latin typeface="Arial"/>
                          <a:ea typeface="Arial"/>
                          <a:cs typeface="Arial"/>
                        </a:rPr>
                        <a:t>Peso</a:t>
                      </a:r>
                    </a:p>
                  </a:txBody>
                  <a:tcPr marL="91440" marR="91440" marT="45720" marB="45720" anchor="ctr">
                    <a:solidFill>
                      <a:srgbClr val="E8EFF5"/>
                    </a:solidFill>
                  </a:tcPr>
                </a:tc>
              </a:tr>
              <a:tr h="678656">
                <a:tc>
                  <a:txBody>
                    <a:bodyPr lIns="95250" tIns="76200" rIns="95250" bIns="76200"/>
                    <a:lstStyle/>
                    <a:p>
                      <a:pPr algn="ctr">
                        <a:buNone/>
                      </a:pPr>
                      <a:r>
                        <a:rPr sz="2100" b="0">
                          <a:solidFill>
                            <a:srgbClr val="233746"/>
                          </a:solidFill>
                          <a:latin typeface="Arial"/>
                          <a:ea typeface="Arial"/>
                          <a:cs typeface="Arial"/>
                        </a:rPr>
                        <a:t>Obstrucción</a:t>
                      </a:r>
                    </a:p>
                  </a:txBody>
                  <a:tcPr marL="91440" marR="91440" marT="45720" marB="45720" anchor="ctr">
                    <a:solidFill>
                      <a:srgbClr val="FFFFFF"/>
                    </a:solidFill>
                  </a:tcPr>
                </a:tc>
                <a:tc>
                  <a:txBody>
                    <a:bodyPr lIns="95250" tIns="76200" rIns="95250" bIns="76200"/>
                    <a:lstStyle/>
                    <a:p>
                      <a:pPr algn="ctr">
                        <a:buNone/>
                      </a:pPr>
                      <a:r>
                        <a:rPr sz="2100" b="0">
                          <a:solidFill>
                            <a:srgbClr val="233746"/>
                          </a:solidFill>
                          <a:latin typeface="Arial"/>
                          <a:ea typeface="Arial"/>
                          <a:cs typeface="Arial"/>
                        </a:rPr>
                        <a:t>0,30 × 0,90 × 0,80</a:t>
                      </a:r>
                    </a:p>
                  </a:txBody>
                  <a:tcPr marL="91440" marR="91440" marT="45720" marB="45720" anchor="ctr">
                    <a:solidFill>
                      <a:srgbClr val="FFFFFF"/>
                    </a:solidFill>
                  </a:tcPr>
                </a:tc>
                <a:tc>
                  <a:txBody>
                    <a:bodyPr lIns="95250" tIns="76200" rIns="95250" bIns="76200"/>
                    <a:lstStyle/>
                    <a:p>
                      <a:pPr algn="ctr">
                        <a:buNone/>
                      </a:pPr>
                      <a:r>
                        <a:rPr sz="2100" b="0">
                          <a:solidFill>
                            <a:srgbClr val="233746"/>
                          </a:solidFill>
                          <a:latin typeface="Arial"/>
                          <a:ea typeface="Arial"/>
                          <a:cs typeface="Arial"/>
                        </a:rPr>
                        <a:t>0,216</a:t>
                      </a:r>
                    </a:p>
                  </a:txBody>
                  <a:tcPr marL="91440" marR="91440" marT="45720" marB="45720" anchor="ctr">
                    <a:solidFill>
                      <a:srgbClr val="FFFFFF"/>
                    </a:solidFill>
                  </a:tcPr>
                </a:tc>
              </a:tr>
              <a:tr h="678656">
                <a:tc>
                  <a:txBody>
                    <a:bodyPr lIns="95250" tIns="76200" rIns="95250" bIns="76200"/>
                    <a:lstStyle/>
                    <a:p>
                      <a:pPr algn="ctr">
                        <a:buNone/>
                      </a:pPr>
                      <a:r>
                        <a:rPr sz="2100" b="0">
                          <a:solidFill>
                            <a:srgbClr val="233746"/>
                          </a:solidFill>
                          <a:latin typeface="Arial"/>
                          <a:ea typeface="Arial"/>
                          <a:cs typeface="Arial"/>
                        </a:rPr>
                        <a:t>Fuga</a:t>
                      </a:r>
                    </a:p>
                  </a:txBody>
                  <a:tcPr marL="91440" marR="91440" marT="45720" marB="45720" anchor="ctr">
                    <a:solidFill>
                      <a:srgbClr val="F5F7F9"/>
                    </a:solidFill>
                  </a:tcPr>
                </a:tc>
                <a:tc>
                  <a:txBody>
                    <a:bodyPr lIns="95250" tIns="76200" rIns="95250" bIns="76200"/>
                    <a:lstStyle/>
                    <a:p>
                      <a:pPr algn="ctr">
                        <a:buNone/>
                      </a:pPr>
                      <a:r>
                        <a:rPr sz="2100" b="0">
                          <a:solidFill>
                            <a:srgbClr val="233746"/>
                          </a:solidFill>
                          <a:latin typeface="Arial"/>
                          <a:ea typeface="Arial"/>
                          <a:cs typeface="Arial"/>
                        </a:rPr>
                        <a:t>0,20 × 0,80 × 0,20</a:t>
                      </a:r>
                    </a:p>
                  </a:txBody>
                  <a:tcPr marL="91440" marR="91440" marT="45720" marB="45720" anchor="ctr">
                    <a:solidFill>
                      <a:srgbClr val="F5F7F9"/>
                    </a:solidFill>
                  </a:tcPr>
                </a:tc>
                <a:tc>
                  <a:txBody>
                    <a:bodyPr lIns="95250" tIns="76200" rIns="95250" bIns="76200"/>
                    <a:lstStyle/>
                    <a:p>
                      <a:pPr algn="ctr">
                        <a:buNone/>
                      </a:pPr>
                      <a:r>
                        <a:rPr sz="2100" b="0">
                          <a:solidFill>
                            <a:srgbClr val="233746"/>
                          </a:solidFill>
                          <a:latin typeface="Arial"/>
                          <a:ea typeface="Arial"/>
                          <a:cs typeface="Arial"/>
                        </a:rPr>
                        <a:t>0,032</a:t>
                      </a:r>
                    </a:p>
                  </a:txBody>
                  <a:tcPr marL="91440" marR="91440" marT="45720" marB="45720" anchor="ctr">
                    <a:solidFill>
                      <a:srgbClr val="F5F7F9"/>
                    </a:solidFill>
                  </a:tcPr>
                </a:tc>
              </a:tr>
              <a:tr h="678656">
                <a:tc>
                  <a:txBody>
                    <a:bodyPr lIns="95250" tIns="76200" rIns="95250" bIns="76200"/>
                    <a:lstStyle/>
                    <a:p>
                      <a:pPr algn="ctr">
                        <a:buNone/>
                      </a:pPr>
                      <a:r>
                        <a:rPr sz="2100" b="0">
                          <a:solidFill>
                            <a:srgbClr val="233746"/>
                          </a:solidFill>
                          <a:latin typeface="Arial"/>
                          <a:ea typeface="Arial"/>
                          <a:cs typeface="Arial"/>
                        </a:rPr>
                        <a:t>Otra</a:t>
                      </a:r>
                    </a:p>
                  </a:txBody>
                  <a:tcPr marL="91440" marR="91440" marT="45720" marB="45720" anchor="ctr">
                    <a:solidFill>
                      <a:srgbClr val="FFFFFF"/>
                    </a:solidFill>
                  </a:tcPr>
                </a:tc>
                <a:tc>
                  <a:txBody>
                    <a:bodyPr lIns="95250" tIns="76200" rIns="95250" bIns="76200"/>
                    <a:lstStyle/>
                    <a:p>
                      <a:pPr algn="ctr">
                        <a:buNone/>
                      </a:pPr>
                      <a:r>
                        <a:rPr sz="2100" b="0">
                          <a:solidFill>
                            <a:srgbClr val="233746"/>
                          </a:solidFill>
                          <a:latin typeface="Arial"/>
                          <a:ea typeface="Arial"/>
                          <a:cs typeface="Arial"/>
                        </a:rPr>
                        <a:t>0,50 × 0,10 × 0,10</a:t>
                      </a:r>
                    </a:p>
                  </a:txBody>
                  <a:tcPr marL="91440" marR="91440" marT="45720" marB="45720" anchor="ctr">
                    <a:solidFill>
                      <a:srgbClr val="FFFFFF"/>
                    </a:solidFill>
                  </a:tcPr>
                </a:tc>
                <a:tc>
                  <a:txBody>
                    <a:bodyPr lIns="95250" tIns="76200" rIns="95250" bIns="76200"/>
                    <a:lstStyle/>
                    <a:p>
                      <a:pPr algn="ctr">
                        <a:buNone/>
                      </a:pPr>
                      <a:r>
                        <a:rPr sz="2100" b="0">
                          <a:solidFill>
                            <a:srgbClr val="233746"/>
                          </a:solidFill>
                          <a:latin typeface="Arial"/>
                          <a:ea typeface="Arial"/>
                          <a:cs typeface="Arial"/>
                        </a:rPr>
                        <a:t>0,005</a:t>
                      </a:r>
                    </a:p>
                  </a:txBody>
                  <a:tcPr marL="91440" marR="91440" marT="45720" marB="45720" anchor="ctr">
                    <a:solidFill>
                      <a:srgbClr val="FFFFFF"/>
                    </a:solidFill>
                  </a:tcPr>
                </a:tc>
              </a:tr>
            </a:tbl>
          </a:graphicData>
        </a:graphic>
      </p:graphicFrame>
      <p:sp>
        <p:nvSpPr>
          <p:cNvPr id="12" name="">
            <a:extLst xmlns:a="http://schemas.openxmlformats.org/drawingml/2006/main">
              <a:ext uri="{FF2B5EF4-FFF2-40B4-BE49-F238E27FC236}">
                <a16:creationId xmlns:a16="http://schemas.microsoft.com/office/drawing/2014/main" id="{39AD00B2-ED43-409A-9027-F82096DE7DA4}"/>
              </a:ext>
            </a:extLst>
          </p:cNvPr>
          <p:cNvSpPr>
            <a:spLocks xmlns:a="http://schemas.openxmlformats.org/drawingml/2006/main" noGrp="1"/>
          </p:cNvSpPr>
          <p:nvPr/>
        </p:nvSpPr>
        <p:spPr>
          <a:xfrm xmlns:a="http://schemas.openxmlformats.org/drawingml/2006/main">
            <a:off x="762000" y="51149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0">
                <a:solidFill>
                  <a:srgbClr val="233746"/>
                </a:solidFill>
                <a:latin typeface="Arial"/>
                <a:ea typeface="Arial"/>
                <a:cs typeface="Arial"/>
              </a:defRPr>
            </a:pPr>
            <a:r>
              <a:rPr sz="2325" b="0">
                <a:solidFill>
                  <a:srgbClr val="233746"/>
                </a:solidFill>
                <a:latin typeface="Arial"/>
                <a:ea typeface="Arial"/>
                <a:cs typeface="Arial"/>
              </a:rPr>
              <a:t>Total = 0,253     P(obstrucción | Q, V) = 0,216 / 0,253</a:t>
            </a:r>
          </a:p>
        </p:txBody>
      </p:sp>
      <p:sp>
        <p:nvSpPr>
          <p:cNvPr id="13" name="">
            <a:extLst xmlns:a="http://schemas.openxmlformats.org/drawingml/2006/main">
              <a:ext uri="{FF2B5EF4-FFF2-40B4-BE49-F238E27FC236}">
                <a16:creationId xmlns:a16="http://schemas.microsoft.com/office/drawing/2014/main" id="{B9235EA0-27AD-4F09-A18C-80027A2BA9D2}"/>
              </a:ext>
            </a:extLst>
          </p:cNvPr>
          <p:cNvSpPr>
            <a:spLocks xmlns:a="http://schemas.openxmlformats.org/drawingml/2006/main" noGrp="1"/>
          </p:cNvSpPr>
          <p:nvPr/>
        </p:nvSpPr>
        <p:spPr>
          <a:xfrm xmlns:a="http://schemas.openxmlformats.org/drawingml/2006/main">
            <a:off x="762000" y="60102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Resultado: obstrucción 85,38 %, fuga 12,65 %, otra 1,98 %.</a:t>
            </a:r>
          </a:p>
        </p:txBody>
      </p:sp>
    </p:spTree>
    <p:extLst>
      <p:ext uri="{BB962C8B-B14F-4D97-AF65-F5344CB8AC3E}">
        <p14:creationId xmlns:p14="http://schemas.microsoft.com/office/powerpoint/2010/main" val="172189652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Diagnóstico bayesiano · PROVISIONAL</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19</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D96B18"/>
                </a:solidFill>
                <a:latin typeface="Arial"/>
                <a:ea typeface="Arial"/>
                <a:cs typeface="Arial"/>
              </a:defRPr>
            </a:pPr>
            <a:r>
              <a:rPr sz="3000" b="0">
                <a:solidFill>
                  <a:srgbClr val="D96B18"/>
                </a:solidFill>
                <a:latin typeface="Arial"/>
                <a:ea typeface="Arial"/>
                <a:cs typeface="Arial"/>
              </a:rPr>
              <a:t>Cómo cambia el diagnóstico</a:t>
            </a:r>
          </a:p>
        </p:txBody>
      </p:sp>
      <p:sp>
        <p:nvSpPr>
          <p:cNvPr id="9" name="">
            <a:extLst xmlns:a="http://schemas.openxmlformats.org/drawingml/2006/main">
              <a:ext uri="{FF2B5EF4-FFF2-40B4-BE49-F238E27FC236}">
                <a16:creationId xmlns:a16="http://schemas.microsoft.com/office/drawing/2014/main" id="{C1180431-A3F0-4A19-AE3C-70E398EF9578}"/>
              </a:ext>
            </a:extLst>
          </p:cNvPr>
          <p:cNvSpPr>
            <a:spLocks xmlns:a="http://schemas.openxmlformats.org/drawingml/2006/main" noGrp="1"/>
          </p:cNvSpPr>
          <p:nvPr/>
        </p:nvSpPr>
        <p:spPr>
          <a:xfrm xmlns:a="http://schemas.openxmlformats.org/drawingml/2006/main">
            <a:off x="762000" y="13811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087F79"/>
                </a:solidFill>
                <a:latin typeface="Arial"/>
                <a:ea typeface="Arial"/>
                <a:cs typeface="Arial"/>
              </a:defRPr>
            </a:pPr>
            <a:r>
              <a:rPr sz="1500" b="1">
                <a:solidFill>
                  <a:srgbClr val="087F79"/>
                </a:solidFill>
                <a:latin typeface="Arial"/>
                <a:ea typeface="Arial"/>
                <a:cs typeface="Arial"/>
              </a:rPr>
              <a:t>INFERENCIA PASO A PASO</a:t>
            </a:r>
          </a:p>
        </p:txBody>
      </p:sp>
      <p:sp>
        <p:nvSpPr>
          <p:cNvPr id="10" name="">
            <a:extLst xmlns:a="http://schemas.openxmlformats.org/drawingml/2006/main">
              <a:ext uri="{FF2B5EF4-FFF2-40B4-BE49-F238E27FC236}">
                <a16:creationId xmlns:a16="http://schemas.microsoft.com/office/drawing/2014/main" id="{02DBF054-92E2-4D00-A7B8-A010F8115A8F}"/>
              </a:ext>
            </a:extLst>
          </p:cNvPr>
          <p:cNvSpPr>
            <a:spLocks xmlns:a="http://schemas.openxmlformats.org/drawingml/2006/main" noGrp="1"/>
          </p:cNvSpPr>
          <p:nvPr/>
        </p:nvSpPr>
        <p:spPr>
          <a:xfrm xmlns:a="http://schemas.openxmlformats.org/drawingml/2006/main">
            <a:off x="762000" y="1724025"/>
            <a:ext cx="10668000" cy="28575"/>
          </a:xfrm>
          <a:prstGeom xmlns:a="http://schemas.openxmlformats.org/drawingml/2006/main" prst="rect">
            <a:avLst/>
          </a:prstGeom>
          <a:solidFill xmlns:a="http://schemas.openxmlformats.org/drawingml/2006/main">
            <a:srgbClr val="087F79"/>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graphicFrame>
        <p:nvGraphicFramePr>
          <p:cNvPr id="22" name="Chart"/>
          <p:cNvGraphicFramePr/>
          <p:nvPr/>
        </p:nvGraphicFramePr>
        <p:xfrm>
          <a:off xmlns:a="http://schemas.openxmlformats.org/drawingml/2006/main" x="762000" y="2028825"/>
          <a:ext xmlns:a="http://schemas.openxmlformats.org/drawingml/2006/main" cx="10668000" cy="3524250"/>
        </p:xfrm>
        <a:graphic xmlns:a="http://schemas.openxmlformats.org/drawingml/2006/main">
          <a:graphicData uri="http://schemas.openxmlformats.org/drawingml/2006/chart">
            <c:chart xmlns:r="http://schemas.openxmlformats.org/officeDocument/2006/relationships" xmlns:c="http://schemas.openxmlformats.org/drawingml/2006/chart" r:id="R4d7b7e5def664d3b"/>
          </a:graphicData>
        </a:graphic>
      </p:graphicFrame>
      <p:sp>
        <p:nvSpPr>
          <p:cNvPr id="12" name="">
            <a:extLst xmlns:a="http://schemas.openxmlformats.org/drawingml/2006/main">
              <a:ext uri="{FF2B5EF4-FFF2-40B4-BE49-F238E27FC236}">
                <a16:creationId xmlns:a16="http://schemas.microsoft.com/office/drawing/2014/main" id="{7571E63C-FD14-4E5B-B573-F0083FA5B333}"/>
              </a:ext>
            </a:extLst>
          </p:cNvPr>
          <p:cNvSpPr>
            <a:spLocks xmlns:a="http://schemas.openxmlformats.org/drawingml/2006/main" noGrp="1"/>
          </p:cNvSpPr>
          <p:nvPr/>
        </p:nvSpPr>
        <p:spPr>
          <a:xfrm xmlns:a="http://schemas.openxmlformats.org/drawingml/2006/main">
            <a:off x="762000" y="60102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El modelo se mantiene. Cambia la evidencia y cambia la posterior.</a:t>
            </a:r>
          </a:p>
        </p:txBody>
      </p:sp>
    </p:spTree>
    <p:extLst>
      <p:ext uri="{BB962C8B-B14F-4D97-AF65-F5344CB8AC3E}">
        <p14:creationId xmlns:p14="http://schemas.microsoft.com/office/powerpoint/2010/main" val="172189652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Diagnóstico bayesiano · PROVISIONAL</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20</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D96B18"/>
                </a:solidFill>
                <a:latin typeface="Arial"/>
                <a:ea typeface="Arial"/>
                <a:cs typeface="Arial"/>
              </a:defRPr>
            </a:pPr>
            <a:r>
              <a:rPr sz="3000" b="0">
                <a:solidFill>
                  <a:srgbClr val="D96B18"/>
                </a:solidFill>
                <a:latin typeface="Arial"/>
                <a:ea typeface="Arial"/>
                <a:cs typeface="Arial"/>
              </a:rPr>
              <a:t>«No observado» y «no» producen resultados distintos</a:t>
            </a:r>
          </a:p>
        </p:txBody>
      </p:sp>
      <p:sp>
        <p:nvSpPr>
          <p:cNvPr id="9" name="">
            <a:extLst xmlns:a="http://schemas.openxmlformats.org/drawingml/2006/main">
              <a:ext uri="{FF2B5EF4-FFF2-40B4-BE49-F238E27FC236}">
                <a16:creationId xmlns:a16="http://schemas.microsoft.com/office/drawing/2014/main" id="{8B97CCF6-91F2-4EAB-918C-CC9FD7147502}"/>
              </a:ext>
            </a:extLst>
          </p:cNvPr>
          <p:cNvSpPr>
            <a:spLocks xmlns:a="http://schemas.openxmlformats.org/drawingml/2006/main" noGrp="1"/>
          </p:cNvSpPr>
          <p:nvPr/>
        </p:nvSpPr>
        <p:spPr>
          <a:xfrm xmlns:a="http://schemas.openxmlformats.org/drawingml/2006/main">
            <a:off x="762000" y="13811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087F79"/>
                </a:solidFill>
                <a:latin typeface="Arial"/>
                <a:ea typeface="Arial"/>
                <a:cs typeface="Arial"/>
              </a:defRPr>
            </a:pPr>
            <a:r>
              <a:rPr sz="1500" b="1">
                <a:solidFill>
                  <a:srgbClr val="087F79"/>
                </a:solidFill>
                <a:latin typeface="Arial"/>
                <a:ea typeface="Arial"/>
                <a:cs typeface="Arial"/>
              </a:rPr>
              <a:t>INFERENCIA PASO A PASO</a:t>
            </a:r>
          </a:p>
        </p:txBody>
      </p:sp>
      <p:sp>
        <p:nvSpPr>
          <p:cNvPr id="10" name="">
            <a:extLst xmlns:a="http://schemas.openxmlformats.org/drawingml/2006/main">
              <a:ext uri="{FF2B5EF4-FFF2-40B4-BE49-F238E27FC236}">
                <a16:creationId xmlns:a16="http://schemas.microsoft.com/office/drawing/2014/main" id="{3F186F1B-1687-43CB-A6A2-1C2ADA78A816}"/>
              </a:ext>
            </a:extLst>
          </p:cNvPr>
          <p:cNvSpPr>
            <a:spLocks xmlns:a="http://schemas.openxmlformats.org/drawingml/2006/main" noGrp="1"/>
          </p:cNvSpPr>
          <p:nvPr/>
        </p:nvSpPr>
        <p:spPr>
          <a:xfrm xmlns:a="http://schemas.openxmlformats.org/drawingml/2006/main">
            <a:off x="762000" y="1724025"/>
            <a:ext cx="10668000" cy="28575"/>
          </a:xfrm>
          <a:prstGeom xmlns:a="http://schemas.openxmlformats.org/drawingml/2006/main" prst="rect">
            <a:avLst/>
          </a:prstGeom>
          <a:solidFill xmlns:a="http://schemas.openxmlformats.org/drawingml/2006/main">
            <a:srgbClr val="087F79"/>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graphicFrame>
        <p:nvGraphicFramePr>
          <p:cNvPr id="22" name=""/>
          <p:cNvGraphicFramePr/>
          <p:nvPr/>
        </p:nvGraphicFramePr>
        <p:xfrm>
          <a:off xmlns:a="http://schemas.openxmlformats.org/drawingml/2006/main" x="762000" y="2143125"/>
          <a:ext xmlns:a="http://schemas.openxmlformats.org/drawingml/2006/main" cx="10668000" cy="2971800"/>
        </p:xfrm>
        <a:graphic xmlns:a="http://schemas.openxmlformats.org/drawingml/2006/main">
          <a:graphicData uri="http://schemas.openxmlformats.org/drawingml/2006/table">
            <a:tbl>
              <a:tblPr/>
              <a:tblGrid>
                <a:gridCol w="3143250"/>
                <a:gridCol w="4476750"/>
                <a:gridCol w="3048000"/>
              </a:tblGrid>
              <a:tr h="742950">
                <a:tc>
                  <a:txBody>
                    <a:bodyPr lIns="95250" tIns="76200" rIns="95250" bIns="76200"/>
                    <a:lstStyle/>
                    <a:p>
                      <a:pPr algn="ctr">
                        <a:buNone/>
                      </a:pPr>
                      <a:r>
                        <a:rPr sz="2025" b="1">
                          <a:solidFill>
                            <a:srgbClr val="2162A0"/>
                          </a:solidFill>
                          <a:latin typeface="Arial"/>
                          <a:ea typeface="Arial"/>
                          <a:cs typeface="Arial"/>
                        </a:rPr>
                        <a:t>Con Q = sí</a:t>
                      </a:r>
                    </a:p>
                  </a:txBody>
                  <a:tcPr marL="91440" marR="91440" marT="45720" marB="45720" anchor="ctr">
                    <a:solidFill>
                      <a:srgbClr val="E8EFF5"/>
                    </a:solidFill>
                  </a:tcPr>
                </a:tc>
                <a:tc>
                  <a:txBody>
                    <a:bodyPr lIns="95250" tIns="76200" rIns="95250" bIns="76200"/>
                    <a:lstStyle/>
                    <a:p>
                      <a:pPr algn="ctr">
                        <a:buNone/>
                      </a:pPr>
                      <a:r>
                        <a:rPr sz="2025" b="1">
                          <a:solidFill>
                            <a:srgbClr val="2162A0"/>
                          </a:solidFill>
                          <a:latin typeface="Arial"/>
                          <a:ea typeface="Arial"/>
                          <a:cs typeface="Arial"/>
                        </a:rPr>
                        <a:t>Tratamiento de la vibración</a:t>
                      </a:r>
                    </a:p>
                  </a:txBody>
                  <a:tcPr marL="91440" marR="91440" marT="45720" marB="45720" anchor="ctr">
                    <a:solidFill>
                      <a:srgbClr val="E8EFF5"/>
                    </a:solidFill>
                  </a:tcPr>
                </a:tc>
                <a:tc>
                  <a:txBody>
                    <a:bodyPr lIns="95250" tIns="76200" rIns="95250" bIns="76200"/>
                    <a:lstStyle/>
                    <a:p>
                      <a:pPr algn="ctr">
                        <a:buNone/>
                      </a:pPr>
                      <a:r>
                        <a:rPr sz="2025" b="1">
                          <a:solidFill>
                            <a:srgbClr val="2162A0"/>
                          </a:solidFill>
                          <a:latin typeface="Arial"/>
                          <a:ea typeface="Arial"/>
                          <a:cs typeface="Arial"/>
                        </a:rPr>
                        <a:t>P(obstrucción | evidencia)</a:t>
                      </a:r>
                    </a:p>
                  </a:txBody>
                  <a:tcPr marL="91440" marR="91440" marT="45720" marB="45720" anchor="ctr">
                    <a:solidFill>
                      <a:srgbClr val="E8EFF5"/>
                    </a:solidFill>
                  </a:tcPr>
                </a:tc>
              </a:tr>
              <a:tr h="742950">
                <a:tc>
                  <a:txBody>
                    <a:bodyPr lIns="95250" tIns="76200" rIns="95250" bIns="76200"/>
                    <a:lstStyle/>
                    <a:p>
                      <a:pPr algn="ctr">
                        <a:buNone/>
                      </a:pPr>
                      <a:r>
                        <a:rPr sz="2025" b="0">
                          <a:solidFill>
                            <a:srgbClr val="233746"/>
                          </a:solidFill>
                          <a:latin typeface="Arial"/>
                          <a:ea typeface="Arial"/>
                          <a:cs typeface="Arial"/>
                        </a:rPr>
                        <a:t>Vibración desconocida</a:t>
                      </a:r>
                    </a:p>
                  </a:txBody>
                  <a:tcPr marL="91440" marR="91440" marT="45720" marB="45720" anchor="ctr">
                    <a:solidFill>
                      <a:srgbClr val="FFFFFF"/>
                    </a:solidFill>
                  </a:tcPr>
                </a:tc>
                <a:tc>
                  <a:txBody>
                    <a:bodyPr lIns="95250" tIns="76200" rIns="95250" bIns="76200"/>
                    <a:lstStyle/>
                    <a:p>
                      <a:pPr algn="ctr">
                        <a:buNone/>
                      </a:pPr>
                      <a:r>
                        <a:rPr sz="2025" b="0">
                          <a:solidFill>
                            <a:srgbClr val="233746"/>
                          </a:solidFill>
                          <a:latin typeface="Arial"/>
                          <a:ea typeface="Arial"/>
                          <a:cs typeface="Arial"/>
                        </a:rPr>
                        <a:t>No añadimos V a la evidencia</a:t>
                      </a:r>
                    </a:p>
                  </a:txBody>
                  <a:tcPr marL="91440" marR="91440" marT="45720" marB="45720" anchor="ctr">
                    <a:solidFill>
                      <a:srgbClr val="FFFFFF"/>
                    </a:solidFill>
                  </a:tcPr>
                </a:tc>
                <a:tc>
                  <a:txBody>
                    <a:bodyPr lIns="95250" tIns="76200" rIns="95250" bIns="76200"/>
                    <a:lstStyle/>
                    <a:p>
                      <a:pPr algn="ctr">
                        <a:buNone/>
                      </a:pPr>
                      <a:r>
                        <a:rPr sz="2025" b="0">
                          <a:solidFill>
                            <a:srgbClr val="233746"/>
                          </a:solidFill>
                          <a:latin typeface="Arial"/>
                          <a:ea typeface="Arial"/>
                          <a:cs typeface="Arial"/>
                        </a:rPr>
                        <a:t>56,25 %</a:t>
                      </a:r>
                    </a:p>
                  </a:txBody>
                  <a:tcPr marL="91440" marR="91440" marT="45720" marB="45720" anchor="ctr">
                    <a:solidFill>
                      <a:srgbClr val="FFFFFF"/>
                    </a:solidFill>
                  </a:tcPr>
                </a:tc>
              </a:tr>
              <a:tr h="742950">
                <a:tc>
                  <a:txBody>
                    <a:bodyPr lIns="95250" tIns="76200" rIns="95250" bIns="76200"/>
                    <a:lstStyle/>
                    <a:p>
                      <a:pPr algn="ctr">
                        <a:buNone/>
                      </a:pPr>
                      <a:r>
                        <a:rPr sz="2025" b="0">
                          <a:solidFill>
                            <a:srgbClr val="233746"/>
                          </a:solidFill>
                          <a:latin typeface="Arial"/>
                          <a:ea typeface="Arial"/>
                          <a:cs typeface="Arial"/>
                        </a:rPr>
                        <a:t>Vibración alta</a:t>
                      </a:r>
                    </a:p>
                  </a:txBody>
                  <a:tcPr marL="91440" marR="91440" marT="45720" marB="45720" anchor="ctr">
                    <a:solidFill>
                      <a:srgbClr val="F5F7F9"/>
                    </a:solidFill>
                  </a:tcPr>
                </a:tc>
                <a:tc>
                  <a:txBody>
                    <a:bodyPr lIns="95250" tIns="76200" rIns="95250" bIns="76200"/>
                    <a:lstStyle/>
                    <a:p>
                      <a:pPr algn="ctr">
                        <a:buNone/>
                      </a:pPr>
                      <a:r>
                        <a:rPr sz="2025" b="0">
                          <a:solidFill>
                            <a:srgbClr val="233746"/>
                          </a:solidFill>
                          <a:latin typeface="Arial"/>
                          <a:ea typeface="Arial"/>
                          <a:cs typeface="Arial"/>
                        </a:rPr>
                        <a:t>V = sí</a:t>
                      </a:r>
                    </a:p>
                  </a:txBody>
                  <a:tcPr marL="91440" marR="91440" marT="45720" marB="45720" anchor="ctr">
                    <a:solidFill>
                      <a:srgbClr val="F5F7F9"/>
                    </a:solidFill>
                  </a:tcPr>
                </a:tc>
                <a:tc>
                  <a:txBody>
                    <a:bodyPr lIns="95250" tIns="76200" rIns="95250" bIns="76200"/>
                    <a:lstStyle/>
                    <a:p>
                      <a:pPr algn="ctr">
                        <a:buNone/>
                      </a:pPr>
                      <a:r>
                        <a:rPr sz="2025" b="0">
                          <a:solidFill>
                            <a:srgbClr val="233746"/>
                          </a:solidFill>
                          <a:latin typeface="Arial"/>
                          <a:ea typeface="Arial"/>
                          <a:cs typeface="Arial"/>
                        </a:rPr>
                        <a:t>85,38 %</a:t>
                      </a:r>
                    </a:p>
                  </a:txBody>
                  <a:tcPr marL="91440" marR="91440" marT="45720" marB="45720" anchor="ctr">
                    <a:solidFill>
                      <a:srgbClr val="F5F7F9"/>
                    </a:solidFill>
                  </a:tcPr>
                </a:tc>
              </a:tr>
              <a:tr h="742950">
                <a:tc>
                  <a:txBody>
                    <a:bodyPr lIns="95250" tIns="76200" rIns="95250" bIns="76200"/>
                    <a:lstStyle/>
                    <a:p>
                      <a:pPr algn="ctr">
                        <a:buNone/>
                      </a:pPr>
                      <a:r>
                        <a:rPr sz="2025" b="0">
                          <a:solidFill>
                            <a:srgbClr val="233746"/>
                          </a:solidFill>
                          <a:latin typeface="Arial"/>
                          <a:ea typeface="Arial"/>
                          <a:cs typeface="Arial"/>
                        </a:rPr>
                        <a:t>Vibración normal</a:t>
                      </a:r>
                    </a:p>
                  </a:txBody>
                  <a:tcPr marL="91440" marR="91440" marT="45720" marB="45720" anchor="ctr">
                    <a:solidFill>
                      <a:srgbClr val="FFFFFF"/>
                    </a:solidFill>
                  </a:tcPr>
                </a:tc>
                <a:tc>
                  <a:txBody>
                    <a:bodyPr lIns="95250" tIns="76200" rIns="95250" bIns="76200"/>
                    <a:lstStyle/>
                    <a:p>
                      <a:pPr algn="ctr">
                        <a:buNone/>
                      </a:pPr>
                      <a:r>
                        <a:rPr sz="2025" b="0">
                          <a:solidFill>
                            <a:srgbClr val="233746"/>
                          </a:solidFill>
                          <a:latin typeface="Arial"/>
                          <a:ea typeface="Arial"/>
                          <a:cs typeface="Arial"/>
                        </a:rPr>
                        <a:t>V = no</a:t>
                      </a:r>
                    </a:p>
                  </a:txBody>
                  <a:tcPr marL="91440" marR="91440" marT="45720" marB="45720" anchor="ctr">
                    <a:solidFill>
                      <a:srgbClr val="FFFFFF"/>
                    </a:solidFill>
                  </a:tcPr>
                </a:tc>
                <a:tc>
                  <a:txBody>
                    <a:bodyPr lIns="95250" tIns="76200" rIns="95250" bIns="76200"/>
                    <a:lstStyle/>
                    <a:p>
                      <a:pPr algn="ctr">
                        <a:buNone/>
                      </a:pPr>
                      <a:r>
                        <a:rPr sz="2025" b="0">
                          <a:solidFill>
                            <a:srgbClr val="233746"/>
                          </a:solidFill>
                          <a:latin typeface="Arial"/>
                          <a:ea typeface="Arial"/>
                          <a:cs typeface="Arial"/>
                        </a:rPr>
                        <a:t>23,79 %</a:t>
                      </a:r>
                    </a:p>
                  </a:txBody>
                  <a:tcPr marL="91440" marR="91440" marT="45720" marB="45720" anchor="ctr">
                    <a:solidFill>
                      <a:srgbClr val="FFFFFF"/>
                    </a:solidFill>
                  </a:tcPr>
                </a:tc>
              </a:tr>
            </a:tbl>
          </a:graphicData>
        </a:graphic>
      </p:graphicFrame>
      <p:sp>
        <p:nvSpPr>
          <p:cNvPr id="12" name="">
            <a:extLst xmlns:a="http://schemas.openxmlformats.org/drawingml/2006/main">
              <a:ext uri="{FF2B5EF4-FFF2-40B4-BE49-F238E27FC236}">
                <a16:creationId xmlns:a16="http://schemas.microsoft.com/office/drawing/2014/main" id="{6714D50D-9AEB-4FD0-AEFE-357DDB99E985}"/>
              </a:ext>
            </a:extLst>
          </p:cNvPr>
          <p:cNvSpPr>
            <a:spLocks xmlns:a="http://schemas.openxmlformats.org/drawingml/2006/main" noGrp="1"/>
          </p:cNvSpPr>
          <p:nvPr/>
        </p:nvSpPr>
        <p:spPr>
          <a:xfrm xmlns:a="http://schemas.openxmlformats.org/drawingml/2006/main">
            <a:off x="762000" y="60102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La interfaz necesita distinguir Sí, No y No observado.</a:t>
            </a:r>
          </a:p>
        </p:txBody>
      </p:sp>
    </p:spTree>
    <p:extLst>
      <p:ext uri="{BB962C8B-B14F-4D97-AF65-F5344CB8AC3E}">
        <p14:creationId xmlns:p14="http://schemas.microsoft.com/office/powerpoint/2010/main" val="172189652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Diagnóstico bayesiano · PROVISIONAL</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21</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D96B18"/>
                </a:solidFill>
                <a:latin typeface="Arial"/>
                <a:ea typeface="Arial"/>
                <a:cs typeface="Arial"/>
              </a:defRPr>
            </a:pPr>
            <a:r>
              <a:rPr sz="3000" b="0">
                <a:solidFill>
                  <a:srgbClr val="D96B18"/>
                </a:solidFill>
                <a:latin typeface="Arial"/>
                <a:ea typeface="Arial"/>
                <a:cs typeface="Arial"/>
              </a:rPr>
              <a:t>Qué hacemos con una observación desconocida</a:t>
            </a:r>
          </a:p>
        </p:txBody>
      </p:sp>
      <p:sp>
        <p:nvSpPr>
          <p:cNvPr id="9" name="">
            <a:extLst xmlns:a="http://schemas.openxmlformats.org/drawingml/2006/main">
              <a:ext uri="{FF2B5EF4-FFF2-40B4-BE49-F238E27FC236}">
                <a16:creationId xmlns:a16="http://schemas.microsoft.com/office/drawing/2014/main" id="{E775F3EF-16DB-4D1A-8836-C0B569BAB243}"/>
              </a:ext>
            </a:extLst>
          </p:cNvPr>
          <p:cNvSpPr>
            <a:spLocks xmlns:a="http://schemas.openxmlformats.org/drawingml/2006/main" noGrp="1"/>
          </p:cNvSpPr>
          <p:nvPr/>
        </p:nvSpPr>
        <p:spPr>
          <a:xfrm xmlns:a="http://schemas.openxmlformats.org/drawingml/2006/main">
            <a:off x="762000" y="13811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087F79"/>
                </a:solidFill>
                <a:latin typeface="Arial"/>
                <a:ea typeface="Arial"/>
                <a:cs typeface="Arial"/>
              </a:defRPr>
            </a:pPr>
            <a:r>
              <a:rPr sz="1500" b="1">
                <a:solidFill>
                  <a:srgbClr val="087F79"/>
                </a:solidFill>
                <a:latin typeface="Arial"/>
                <a:ea typeface="Arial"/>
                <a:cs typeface="Arial"/>
              </a:rPr>
              <a:t>INFERENCIA PASO A PASO</a:t>
            </a:r>
          </a:p>
        </p:txBody>
      </p:sp>
      <p:sp>
        <p:nvSpPr>
          <p:cNvPr id="10" name="">
            <a:extLst xmlns:a="http://schemas.openxmlformats.org/drawingml/2006/main">
              <a:ext uri="{FF2B5EF4-FFF2-40B4-BE49-F238E27FC236}">
                <a16:creationId xmlns:a16="http://schemas.microsoft.com/office/drawing/2014/main" id="{CD04DDFE-4420-4353-8DFB-AF886D670B3C}"/>
              </a:ext>
            </a:extLst>
          </p:cNvPr>
          <p:cNvSpPr>
            <a:spLocks xmlns:a="http://schemas.openxmlformats.org/drawingml/2006/main" noGrp="1"/>
          </p:cNvSpPr>
          <p:nvPr/>
        </p:nvSpPr>
        <p:spPr>
          <a:xfrm xmlns:a="http://schemas.openxmlformats.org/drawingml/2006/main">
            <a:off x="762000" y="1724025"/>
            <a:ext cx="10668000" cy="28575"/>
          </a:xfrm>
          <a:prstGeom xmlns:a="http://schemas.openxmlformats.org/drawingml/2006/main" prst="rect">
            <a:avLst/>
          </a:prstGeom>
          <a:solidFill xmlns:a="http://schemas.openxmlformats.org/drawingml/2006/main">
            <a:srgbClr val="087F79"/>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84680462-3CB0-4116-9FCC-64E193E023EB}"/>
              </a:ext>
            </a:extLst>
          </p:cNvPr>
          <p:cNvSpPr>
            <a:spLocks xmlns:a="http://schemas.openxmlformats.org/drawingml/2006/main" noGrp="1"/>
          </p:cNvSpPr>
          <p:nvPr/>
        </p:nvSpPr>
        <p:spPr>
          <a:xfrm xmlns:a="http://schemas.openxmlformats.org/drawingml/2006/main">
            <a:off x="762000" y="1981200"/>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00" b="0">
                <a:solidFill>
                  <a:srgbClr val="233746"/>
                </a:solidFill>
                <a:latin typeface="Arial"/>
                <a:ea typeface="Arial"/>
                <a:cs typeface="Arial"/>
              </a:defRPr>
            </a:pPr>
            <a:r>
              <a:rPr sz="2400" b="0">
                <a:solidFill>
                  <a:srgbClr val="233746"/>
                </a:solidFill>
                <a:latin typeface="Arial"/>
                <a:ea typeface="Arial"/>
                <a:cs typeface="Arial"/>
              </a:rPr>
              <a:t>No hemos observado V. Consideramos sus dos posibilidades.</a:t>
            </a:r>
          </a:p>
        </p:txBody>
      </p:sp>
      <p:sp>
        <p:nvSpPr>
          <p:cNvPr id="12" name="">
            <a:extLst xmlns:a="http://schemas.openxmlformats.org/drawingml/2006/main">
              <a:ext uri="{FF2B5EF4-FFF2-40B4-BE49-F238E27FC236}">
                <a16:creationId xmlns:a16="http://schemas.microsoft.com/office/drawing/2014/main" id="{EC8A1416-4856-4D45-8F54-6F81C83A958F}"/>
              </a:ext>
            </a:extLst>
          </p:cNvPr>
          <p:cNvSpPr>
            <a:spLocks xmlns:a="http://schemas.openxmlformats.org/drawingml/2006/main" noGrp="1"/>
          </p:cNvSpPr>
          <p:nvPr/>
        </p:nvSpPr>
        <p:spPr>
          <a:xfrm xmlns:a="http://schemas.openxmlformats.org/drawingml/2006/main">
            <a:off x="762000" y="30765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00" b="1">
                <a:solidFill>
                  <a:srgbClr val="2162A0"/>
                </a:solidFill>
                <a:latin typeface="Arial"/>
                <a:ea typeface="Arial"/>
                <a:cs typeface="Arial"/>
              </a:defRPr>
            </a:pPr>
            <a:r>
              <a:rPr sz="2400" b="1">
                <a:solidFill>
                  <a:srgbClr val="2162A0"/>
                </a:solidFill>
                <a:latin typeface="Arial"/>
                <a:ea typeface="Arial"/>
                <a:cs typeface="Arial"/>
              </a:rPr>
              <a:t>P(H, Q) = P(H, Q, V = sí) + P(H, Q, V = no)</a:t>
            </a:r>
          </a:p>
        </p:txBody>
      </p:sp>
      <p:sp>
        <p:nvSpPr>
          <p:cNvPr id="13" name="">
            <a:extLst xmlns:a="http://schemas.openxmlformats.org/drawingml/2006/main">
              <a:ext uri="{FF2B5EF4-FFF2-40B4-BE49-F238E27FC236}">
                <a16:creationId xmlns:a16="http://schemas.microsoft.com/office/drawing/2014/main" id="{F4DE9AB0-DA96-43E1-9300-3DEE7986F9FF}"/>
              </a:ext>
            </a:extLst>
          </p:cNvPr>
          <p:cNvSpPr>
            <a:spLocks xmlns:a="http://schemas.openxmlformats.org/drawingml/2006/main" noGrp="1"/>
          </p:cNvSpPr>
          <p:nvPr/>
        </p:nvSpPr>
        <p:spPr>
          <a:xfrm xmlns:a="http://schemas.openxmlformats.org/drawingml/2006/main">
            <a:off x="762000" y="43529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850" b="1">
                <a:solidFill>
                  <a:srgbClr val="D96B18"/>
                </a:solidFill>
                <a:latin typeface="Arial"/>
                <a:ea typeface="Arial"/>
                <a:cs typeface="Arial"/>
              </a:defRPr>
            </a:pPr>
            <a:r>
              <a:rPr sz="2850" b="1">
                <a:solidFill>
                  <a:srgbClr val="D96B18"/>
                </a:solidFill>
                <a:latin typeface="Arial"/>
                <a:ea typeface="Arial"/>
                <a:cs typeface="Arial"/>
              </a:rPr>
              <a:t>Para obstrucción: 0,216 + 0,054 = 0,270</a:t>
            </a:r>
          </a:p>
        </p:txBody>
      </p:sp>
      <p:sp>
        <p:nvSpPr>
          <p:cNvPr id="14" name="">
            <a:extLst xmlns:a="http://schemas.openxmlformats.org/drawingml/2006/main">
              <a:ext uri="{FF2B5EF4-FFF2-40B4-BE49-F238E27FC236}">
                <a16:creationId xmlns:a16="http://schemas.microsoft.com/office/drawing/2014/main" id="{C80FF6E4-FC98-48B5-B3BB-773A57C1F629}"/>
              </a:ext>
            </a:extLst>
          </p:cNvPr>
          <p:cNvSpPr>
            <a:spLocks xmlns:a="http://schemas.openxmlformats.org/drawingml/2006/main" noGrp="1"/>
          </p:cNvSpPr>
          <p:nvPr/>
        </p:nvSpPr>
        <p:spPr>
          <a:xfrm xmlns:a="http://schemas.openxmlformats.org/drawingml/2006/main">
            <a:off x="762000" y="60102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Sumar sobre los estados de una variable se llama marginalizar.</a:t>
            </a:r>
          </a:p>
        </p:txBody>
      </p:sp>
    </p:spTree>
    <p:extLst>
      <p:ext uri="{BB962C8B-B14F-4D97-AF65-F5344CB8AC3E}">
        <p14:creationId xmlns:p14="http://schemas.microsoft.com/office/powerpoint/2010/main" val="172189652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Diagnóstico bayesiano · PROVISIONAL</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22</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D96B18"/>
                </a:solidFill>
                <a:latin typeface="Arial"/>
                <a:ea typeface="Arial"/>
                <a:cs typeface="Arial"/>
              </a:defRPr>
            </a:pPr>
            <a:r>
              <a:rPr sz="3000" b="0">
                <a:solidFill>
                  <a:srgbClr val="D96B18"/>
                </a:solidFill>
                <a:latin typeface="Arial"/>
                <a:ea typeface="Arial"/>
                <a:cs typeface="Arial"/>
              </a:rPr>
              <a:t>Qué hace un motor de inferencia</a:t>
            </a:r>
          </a:p>
        </p:txBody>
      </p:sp>
      <p:sp>
        <p:nvSpPr>
          <p:cNvPr id="9" name="">
            <a:extLst xmlns:a="http://schemas.openxmlformats.org/drawingml/2006/main">
              <a:ext uri="{FF2B5EF4-FFF2-40B4-BE49-F238E27FC236}">
                <a16:creationId xmlns:a16="http://schemas.microsoft.com/office/drawing/2014/main" id="{293A4FBD-53D1-453D-AA89-9F80DC3D7E66}"/>
              </a:ext>
            </a:extLst>
          </p:cNvPr>
          <p:cNvSpPr>
            <a:spLocks xmlns:a="http://schemas.openxmlformats.org/drawingml/2006/main" noGrp="1"/>
          </p:cNvSpPr>
          <p:nvPr/>
        </p:nvSpPr>
        <p:spPr>
          <a:xfrm xmlns:a="http://schemas.openxmlformats.org/drawingml/2006/main">
            <a:off x="762000" y="13811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087F79"/>
                </a:solidFill>
                <a:latin typeface="Arial"/>
                <a:ea typeface="Arial"/>
                <a:cs typeface="Arial"/>
              </a:defRPr>
            </a:pPr>
            <a:r>
              <a:rPr sz="1500" b="1">
                <a:solidFill>
                  <a:srgbClr val="087F79"/>
                </a:solidFill>
                <a:latin typeface="Arial"/>
                <a:ea typeface="Arial"/>
                <a:cs typeface="Arial"/>
              </a:rPr>
              <a:t>INFERENCIA PASO A PASO</a:t>
            </a:r>
          </a:p>
        </p:txBody>
      </p:sp>
      <p:sp>
        <p:nvSpPr>
          <p:cNvPr id="10" name="">
            <a:extLst xmlns:a="http://schemas.openxmlformats.org/drawingml/2006/main">
              <a:ext uri="{FF2B5EF4-FFF2-40B4-BE49-F238E27FC236}">
                <a16:creationId xmlns:a16="http://schemas.microsoft.com/office/drawing/2014/main" id="{64BA2D20-7D69-440F-A2B3-48784B5AE669}"/>
              </a:ext>
            </a:extLst>
          </p:cNvPr>
          <p:cNvSpPr>
            <a:spLocks xmlns:a="http://schemas.openxmlformats.org/drawingml/2006/main" noGrp="1"/>
          </p:cNvSpPr>
          <p:nvPr/>
        </p:nvSpPr>
        <p:spPr>
          <a:xfrm xmlns:a="http://schemas.openxmlformats.org/drawingml/2006/main">
            <a:off x="762000" y="1724025"/>
            <a:ext cx="10668000" cy="28575"/>
          </a:xfrm>
          <a:prstGeom xmlns:a="http://schemas.openxmlformats.org/drawingml/2006/main" prst="rect">
            <a:avLst/>
          </a:prstGeom>
          <a:solidFill xmlns:a="http://schemas.openxmlformats.org/drawingml/2006/main">
            <a:srgbClr val="087F79"/>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7BD5C678-1FAD-4EA1-9E5D-5F7B7C9D570A}"/>
              </a:ext>
            </a:extLst>
          </p:cNvPr>
          <p:cNvSpPr>
            <a:spLocks xmlns:a="http://schemas.openxmlformats.org/drawingml/2006/main" noGrp="1"/>
          </p:cNvSpPr>
          <p:nvPr/>
        </p:nvSpPr>
        <p:spPr>
          <a:xfrm xmlns:a="http://schemas.openxmlformats.org/drawingml/2006/main">
            <a:off x="762000" y="198120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D96B18"/>
                </a:solidFill>
                <a:latin typeface="Arial"/>
                <a:ea typeface="Arial"/>
                <a:cs typeface="Arial"/>
              </a:defRPr>
            </a:pPr>
            <a:r>
              <a:rPr sz="2250" b="1">
                <a:solidFill>
                  <a:srgbClr val="D96B18"/>
                </a:solidFill>
                <a:latin typeface="Arial"/>
                <a:ea typeface="Arial"/>
                <a:cs typeface="Arial"/>
              </a:rPr>
              <a:t>Fija las observaciones</a:t>
            </a:r>
          </a:p>
        </p:txBody>
      </p:sp>
      <p:sp>
        <p:nvSpPr>
          <p:cNvPr id="12" name="">
            <a:extLst xmlns:a="http://schemas.openxmlformats.org/drawingml/2006/main">
              <a:ext uri="{FF2B5EF4-FFF2-40B4-BE49-F238E27FC236}">
                <a16:creationId xmlns:a16="http://schemas.microsoft.com/office/drawing/2014/main" id="{B918655A-06FB-4EC7-902A-47920D1EE489}"/>
              </a:ext>
            </a:extLst>
          </p:cNvPr>
          <p:cNvSpPr>
            <a:spLocks xmlns:a="http://schemas.openxmlformats.org/drawingml/2006/main" noGrp="1"/>
          </p:cNvSpPr>
          <p:nvPr/>
        </p:nvSpPr>
        <p:spPr>
          <a:xfrm xmlns:a="http://schemas.openxmlformats.org/drawingml/2006/main">
            <a:off x="762000" y="24193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Selecciona los estados que sí conocemos.</a:t>
            </a:r>
          </a:p>
        </p:txBody>
      </p:sp>
      <p:sp>
        <p:nvSpPr>
          <p:cNvPr id="13" name="">
            <a:extLst xmlns:a="http://schemas.openxmlformats.org/drawingml/2006/main">
              <a:ext uri="{FF2B5EF4-FFF2-40B4-BE49-F238E27FC236}">
                <a16:creationId xmlns:a16="http://schemas.microsoft.com/office/drawing/2014/main" id="{0631D938-17CE-4973-82AC-B2B9D2049109}"/>
              </a:ext>
            </a:extLst>
          </p:cNvPr>
          <p:cNvSpPr>
            <a:spLocks xmlns:a="http://schemas.openxmlformats.org/drawingml/2006/main" noGrp="1"/>
          </p:cNvSpPr>
          <p:nvPr/>
        </p:nvSpPr>
        <p:spPr>
          <a:xfrm xmlns:a="http://schemas.openxmlformats.org/drawingml/2006/main">
            <a:off x="762000" y="318135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D96B18"/>
                </a:solidFill>
                <a:latin typeface="Arial"/>
                <a:ea typeface="Arial"/>
                <a:cs typeface="Arial"/>
              </a:defRPr>
            </a:pPr>
            <a:r>
              <a:rPr sz="2250" b="1">
                <a:solidFill>
                  <a:srgbClr val="D96B18"/>
                </a:solidFill>
                <a:latin typeface="Arial"/>
                <a:ea typeface="Arial"/>
                <a:cs typeface="Arial"/>
              </a:rPr>
              <a:t>Combina y suma</a:t>
            </a:r>
          </a:p>
        </p:txBody>
      </p:sp>
      <p:sp>
        <p:nvSpPr>
          <p:cNvPr id="14" name="">
            <a:extLst xmlns:a="http://schemas.openxmlformats.org/drawingml/2006/main">
              <a:ext uri="{FF2B5EF4-FFF2-40B4-BE49-F238E27FC236}">
                <a16:creationId xmlns:a16="http://schemas.microsoft.com/office/drawing/2014/main" id="{F3007A74-9E3C-4C6D-8190-2D091FC9CDE9}"/>
              </a:ext>
            </a:extLst>
          </p:cNvPr>
          <p:cNvSpPr>
            <a:spLocks xmlns:a="http://schemas.openxmlformats.org/drawingml/2006/main" noGrp="1"/>
          </p:cNvSpPr>
          <p:nvPr/>
        </p:nvSpPr>
        <p:spPr>
          <a:xfrm xmlns:a="http://schemas.openxmlformats.org/drawingml/2006/main">
            <a:off x="762000" y="36195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Usa las tablas y marginaliza las variables no observadas.</a:t>
            </a:r>
          </a:p>
        </p:txBody>
      </p:sp>
      <p:sp>
        <p:nvSpPr>
          <p:cNvPr id="15" name="">
            <a:extLst xmlns:a="http://schemas.openxmlformats.org/drawingml/2006/main">
              <a:ext uri="{FF2B5EF4-FFF2-40B4-BE49-F238E27FC236}">
                <a16:creationId xmlns:a16="http://schemas.microsoft.com/office/drawing/2014/main" id="{2E9603A5-00C1-47AD-9BA4-1EA8F859C534}"/>
              </a:ext>
            </a:extLst>
          </p:cNvPr>
          <p:cNvSpPr>
            <a:spLocks xmlns:a="http://schemas.openxmlformats.org/drawingml/2006/main" noGrp="1"/>
          </p:cNvSpPr>
          <p:nvPr/>
        </p:nvSpPr>
        <p:spPr>
          <a:xfrm xmlns:a="http://schemas.openxmlformats.org/drawingml/2006/main">
            <a:off x="762000" y="438150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D96B18"/>
                </a:solidFill>
                <a:latin typeface="Arial"/>
                <a:ea typeface="Arial"/>
                <a:cs typeface="Arial"/>
              </a:defRPr>
            </a:pPr>
            <a:r>
              <a:rPr sz="2250" b="1">
                <a:solidFill>
                  <a:srgbClr val="D96B18"/>
                </a:solidFill>
                <a:latin typeface="Arial"/>
                <a:ea typeface="Arial"/>
                <a:cs typeface="Arial"/>
              </a:rPr>
              <a:t>Normaliza la consulta</a:t>
            </a:r>
          </a:p>
        </p:txBody>
      </p:sp>
      <p:sp>
        <p:nvSpPr>
          <p:cNvPr id="16" name="">
            <a:extLst xmlns:a="http://schemas.openxmlformats.org/drawingml/2006/main">
              <a:ext uri="{FF2B5EF4-FFF2-40B4-BE49-F238E27FC236}">
                <a16:creationId xmlns:a16="http://schemas.microsoft.com/office/drawing/2014/main" id="{7B70A6C9-C359-47BD-9E01-CE41C8A020FE}"/>
              </a:ext>
            </a:extLst>
          </p:cNvPr>
          <p:cNvSpPr>
            <a:spLocks xmlns:a="http://schemas.openxmlformats.org/drawingml/2006/main" noGrp="1"/>
          </p:cNvSpPr>
          <p:nvPr/>
        </p:nvSpPr>
        <p:spPr>
          <a:xfrm xmlns:a="http://schemas.openxmlformats.org/drawingml/2006/main">
            <a:off x="762000" y="48196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Devuelve una distribución sobre las hipótesis.</a:t>
            </a:r>
          </a:p>
        </p:txBody>
      </p:sp>
      <p:sp>
        <p:nvSpPr>
          <p:cNvPr id="17" name="">
            <a:extLst xmlns:a="http://schemas.openxmlformats.org/drawingml/2006/main">
              <a:ext uri="{FF2B5EF4-FFF2-40B4-BE49-F238E27FC236}">
                <a16:creationId xmlns:a16="http://schemas.microsoft.com/office/drawing/2014/main" id="{AB989C73-7F91-4E25-AFD6-85CC165743ED}"/>
              </a:ext>
            </a:extLst>
          </p:cNvPr>
          <p:cNvSpPr>
            <a:spLocks xmlns:a="http://schemas.openxmlformats.org/drawingml/2006/main" noGrp="1"/>
          </p:cNvSpPr>
          <p:nvPr/>
        </p:nvSpPr>
        <p:spPr>
          <a:xfrm xmlns:a="http://schemas.openxmlformats.org/drawingml/2006/main">
            <a:off x="762000" y="60102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La eliminación de variables realiza este cálculo evitando repetir operaciones.</a:t>
            </a:r>
          </a:p>
        </p:txBody>
      </p:sp>
    </p:spTree>
    <p:extLst>
      <p:ext uri="{BB962C8B-B14F-4D97-AF65-F5344CB8AC3E}">
        <p14:creationId xmlns:p14="http://schemas.microsoft.com/office/powerpoint/2010/main" val="172189652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Diagnóstico bayesiano · PROVISIONAL</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23</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D96B18"/>
                </a:solidFill>
                <a:latin typeface="Arial"/>
                <a:ea typeface="Arial"/>
                <a:cs typeface="Arial"/>
              </a:defRPr>
            </a:pPr>
            <a:r>
              <a:rPr sz="3000" b="0">
                <a:solidFill>
                  <a:srgbClr val="D96B18"/>
                </a:solidFill>
                <a:latin typeface="Arial"/>
                <a:ea typeface="Arial"/>
                <a:cs typeface="Arial"/>
              </a:rPr>
              <a:t>Diseñar vuestro modelo antes de programarlo</a:t>
            </a:r>
          </a:p>
        </p:txBody>
      </p:sp>
      <p:sp>
        <p:nvSpPr>
          <p:cNvPr id="9" name="">
            <a:extLst xmlns:a="http://schemas.openxmlformats.org/drawingml/2006/main">
              <a:ext uri="{FF2B5EF4-FFF2-40B4-BE49-F238E27FC236}">
                <a16:creationId xmlns:a16="http://schemas.microsoft.com/office/drawing/2014/main" id="{963520B4-7D43-442E-9A12-CC6801036DC5}"/>
              </a:ext>
            </a:extLst>
          </p:cNvPr>
          <p:cNvSpPr>
            <a:spLocks xmlns:a="http://schemas.openxmlformats.org/drawingml/2006/main" noGrp="1"/>
          </p:cNvSpPr>
          <p:nvPr/>
        </p:nvSpPr>
        <p:spPr>
          <a:xfrm xmlns:a="http://schemas.openxmlformats.org/drawingml/2006/main">
            <a:off x="762000" y="13811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AD414C"/>
                </a:solidFill>
                <a:latin typeface="Arial"/>
                <a:ea typeface="Arial"/>
                <a:cs typeface="Arial"/>
              </a:defRPr>
            </a:pPr>
            <a:r>
              <a:rPr sz="1500" b="1">
                <a:solidFill>
                  <a:srgbClr val="AD414C"/>
                </a:solidFill>
                <a:latin typeface="Arial"/>
                <a:ea typeface="Arial"/>
                <a:cs typeface="Arial"/>
              </a:rPr>
              <a:t>DISEÑO E IMPLEMENTACIÓN</a:t>
            </a:r>
          </a:p>
        </p:txBody>
      </p:sp>
      <p:sp>
        <p:nvSpPr>
          <p:cNvPr id="10" name="">
            <a:extLst xmlns:a="http://schemas.openxmlformats.org/drawingml/2006/main">
              <a:ext uri="{FF2B5EF4-FFF2-40B4-BE49-F238E27FC236}">
                <a16:creationId xmlns:a16="http://schemas.microsoft.com/office/drawing/2014/main" id="{37BAF84E-35E3-4CF7-88C2-2F32C874B617}"/>
              </a:ext>
            </a:extLst>
          </p:cNvPr>
          <p:cNvSpPr>
            <a:spLocks xmlns:a="http://schemas.openxmlformats.org/drawingml/2006/main" noGrp="1"/>
          </p:cNvSpPr>
          <p:nvPr/>
        </p:nvSpPr>
        <p:spPr>
          <a:xfrm xmlns:a="http://schemas.openxmlformats.org/drawingml/2006/main">
            <a:off x="762000" y="1724025"/>
            <a:ext cx="10668000" cy="28575"/>
          </a:xfrm>
          <a:prstGeom xmlns:a="http://schemas.openxmlformats.org/drawingml/2006/main" prst="rect">
            <a:avLst/>
          </a:prstGeom>
          <a:solidFill xmlns:a="http://schemas.openxmlformats.org/drawingml/2006/main">
            <a:srgbClr val="AD414C"/>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E998EAA3-481E-4BBF-8544-18F71B4337B9}"/>
              </a:ext>
            </a:extLst>
          </p:cNvPr>
          <p:cNvSpPr>
            <a:spLocks xmlns:a="http://schemas.openxmlformats.org/drawingml/2006/main" noGrp="1"/>
          </p:cNvSpPr>
          <p:nvPr/>
        </p:nvSpPr>
        <p:spPr>
          <a:xfrm xmlns:a="http://schemas.openxmlformats.org/drawingml/2006/main">
            <a:off x="762000" y="198120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D96B18"/>
                </a:solidFill>
                <a:latin typeface="Arial"/>
                <a:ea typeface="Arial"/>
                <a:cs typeface="Arial"/>
              </a:defRPr>
            </a:pPr>
            <a:r>
              <a:rPr sz="2250" b="1">
                <a:solidFill>
                  <a:srgbClr val="D96B18"/>
                </a:solidFill>
                <a:latin typeface="Arial"/>
                <a:ea typeface="Arial"/>
                <a:cs typeface="Arial"/>
              </a:rPr>
              <a:t>Objetivo</a:t>
            </a:r>
          </a:p>
        </p:txBody>
      </p:sp>
      <p:sp>
        <p:nvSpPr>
          <p:cNvPr id="12" name="">
            <a:extLst xmlns:a="http://schemas.openxmlformats.org/drawingml/2006/main">
              <a:ext uri="{FF2B5EF4-FFF2-40B4-BE49-F238E27FC236}">
                <a16:creationId xmlns:a16="http://schemas.microsoft.com/office/drawing/2014/main" id="{3B043BEF-8173-47D2-A6EA-DC7922221ED1}"/>
              </a:ext>
            </a:extLst>
          </p:cNvPr>
          <p:cNvSpPr>
            <a:spLocks xmlns:a="http://schemas.openxmlformats.org/drawingml/2006/main" noGrp="1"/>
          </p:cNvSpPr>
          <p:nvPr/>
        </p:nvSpPr>
        <p:spPr>
          <a:xfrm xmlns:a="http://schemas.openxmlformats.org/drawingml/2006/main">
            <a:off x="762000" y="24193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Qué queréis diagnosticar y en qué contexto se usará.</a:t>
            </a:r>
          </a:p>
        </p:txBody>
      </p:sp>
      <p:sp>
        <p:nvSpPr>
          <p:cNvPr id="13" name="">
            <a:extLst xmlns:a="http://schemas.openxmlformats.org/drawingml/2006/main">
              <a:ext uri="{FF2B5EF4-FFF2-40B4-BE49-F238E27FC236}">
                <a16:creationId xmlns:a16="http://schemas.microsoft.com/office/drawing/2014/main" id="{AD0F17E0-70D5-4665-AF4A-C5B4D71C640E}"/>
              </a:ext>
            </a:extLst>
          </p:cNvPr>
          <p:cNvSpPr>
            <a:spLocks xmlns:a="http://schemas.openxmlformats.org/drawingml/2006/main" noGrp="1"/>
          </p:cNvSpPr>
          <p:nvPr/>
        </p:nvSpPr>
        <p:spPr>
          <a:xfrm xmlns:a="http://schemas.openxmlformats.org/drawingml/2006/main">
            <a:off x="762000" y="318135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D96B18"/>
                </a:solidFill>
                <a:latin typeface="Arial"/>
                <a:ea typeface="Arial"/>
                <a:cs typeface="Arial"/>
              </a:defRPr>
            </a:pPr>
            <a:r>
              <a:rPr sz="2250" b="1">
                <a:solidFill>
                  <a:srgbClr val="D96B18"/>
                </a:solidFill>
                <a:latin typeface="Arial"/>
                <a:ea typeface="Arial"/>
                <a:cs typeface="Arial"/>
              </a:rPr>
              <a:t>Observaciones</a:t>
            </a:r>
          </a:p>
        </p:txBody>
      </p:sp>
      <p:sp>
        <p:nvSpPr>
          <p:cNvPr id="14" name="">
            <a:extLst xmlns:a="http://schemas.openxmlformats.org/drawingml/2006/main">
              <a:ext uri="{FF2B5EF4-FFF2-40B4-BE49-F238E27FC236}">
                <a16:creationId xmlns:a16="http://schemas.microsoft.com/office/drawing/2014/main" id="{F2CCF99D-CE4C-4FF7-B72B-9C3D57977E85}"/>
              </a:ext>
            </a:extLst>
          </p:cNvPr>
          <p:cNvSpPr>
            <a:spLocks xmlns:a="http://schemas.openxmlformats.org/drawingml/2006/main" noGrp="1"/>
          </p:cNvSpPr>
          <p:nvPr/>
        </p:nvSpPr>
        <p:spPr>
          <a:xfrm xmlns:a="http://schemas.openxmlformats.org/drawingml/2006/main">
            <a:off x="762000" y="36195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Qué puede introducir o medir realmente el usuario.</a:t>
            </a:r>
          </a:p>
        </p:txBody>
      </p:sp>
      <p:sp>
        <p:nvSpPr>
          <p:cNvPr id="15" name="">
            <a:extLst xmlns:a="http://schemas.openxmlformats.org/drawingml/2006/main">
              <a:ext uri="{FF2B5EF4-FFF2-40B4-BE49-F238E27FC236}">
                <a16:creationId xmlns:a16="http://schemas.microsoft.com/office/drawing/2014/main" id="{06308444-03D0-4C72-8C7B-95C2DF79563A}"/>
              </a:ext>
            </a:extLst>
          </p:cNvPr>
          <p:cNvSpPr>
            <a:spLocks xmlns:a="http://schemas.openxmlformats.org/drawingml/2006/main" noGrp="1"/>
          </p:cNvSpPr>
          <p:nvPr/>
        </p:nvSpPr>
        <p:spPr>
          <a:xfrm xmlns:a="http://schemas.openxmlformats.org/drawingml/2006/main">
            <a:off x="762000" y="438150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D96B18"/>
                </a:solidFill>
                <a:latin typeface="Arial"/>
                <a:ea typeface="Arial"/>
                <a:cs typeface="Arial"/>
              </a:defRPr>
            </a:pPr>
            <a:r>
              <a:rPr sz="2250" b="1">
                <a:solidFill>
                  <a:srgbClr val="D96B18"/>
                </a:solidFill>
                <a:latin typeface="Arial"/>
                <a:ea typeface="Arial"/>
                <a:cs typeface="Arial"/>
              </a:rPr>
              <a:t>Conocimiento</a:t>
            </a:r>
          </a:p>
        </p:txBody>
      </p:sp>
      <p:sp>
        <p:nvSpPr>
          <p:cNvPr id="16" name="">
            <a:extLst xmlns:a="http://schemas.openxmlformats.org/drawingml/2006/main">
              <a:ext uri="{FF2B5EF4-FFF2-40B4-BE49-F238E27FC236}">
                <a16:creationId xmlns:a16="http://schemas.microsoft.com/office/drawing/2014/main" id="{E4666E97-0EF9-459E-B9A5-A0BFC4C91DA2}"/>
              </a:ext>
            </a:extLst>
          </p:cNvPr>
          <p:cNvSpPr>
            <a:spLocks xmlns:a="http://schemas.openxmlformats.org/drawingml/2006/main" noGrp="1"/>
          </p:cNvSpPr>
          <p:nvPr/>
        </p:nvSpPr>
        <p:spPr>
          <a:xfrm xmlns:a="http://schemas.openxmlformats.org/drawingml/2006/main">
            <a:off x="762000" y="48196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Qué dependencias y probabilidades podéis justificar.</a:t>
            </a:r>
          </a:p>
        </p:txBody>
      </p:sp>
      <p:sp>
        <p:nvSpPr>
          <p:cNvPr id="17" name="">
            <a:extLst xmlns:a="http://schemas.openxmlformats.org/drawingml/2006/main">
              <a:ext uri="{FF2B5EF4-FFF2-40B4-BE49-F238E27FC236}">
                <a16:creationId xmlns:a16="http://schemas.microsoft.com/office/drawing/2014/main" id="{DCC868FE-98F6-482D-8141-3C50D024F32C}"/>
              </a:ext>
            </a:extLst>
          </p:cNvPr>
          <p:cNvSpPr>
            <a:spLocks xmlns:a="http://schemas.openxmlformats.org/drawingml/2006/main" noGrp="1"/>
          </p:cNvSpPr>
          <p:nvPr/>
        </p:nvSpPr>
        <p:spPr>
          <a:xfrm xmlns:a="http://schemas.openxmlformats.org/drawingml/2006/main">
            <a:off x="762000" y="60102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El tamaño de la red debe responder al problema, no al deseo de añadir nodos.</a:t>
            </a:r>
          </a:p>
        </p:txBody>
      </p:sp>
    </p:spTree>
    <p:extLst>
      <p:ext uri="{BB962C8B-B14F-4D97-AF65-F5344CB8AC3E}">
        <p14:creationId xmlns:p14="http://schemas.microsoft.com/office/powerpoint/2010/main" val="172189652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Diagnóstico bayesiano · PROVISIONAL</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24</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D96B18"/>
                </a:solidFill>
                <a:latin typeface="Arial"/>
                <a:ea typeface="Arial"/>
                <a:cs typeface="Arial"/>
              </a:defRPr>
            </a:pPr>
            <a:r>
              <a:rPr sz="3000" b="0">
                <a:solidFill>
                  <a:srgbClr val="D96B18"/>
                </a:solidFill>
                <a:latin typeface="Arial"/>
                <a:ea typeface="Arial"/>
                <a:cs typeface="Arial"/>
              </a:rPr>
              <a:t>Si las causas pueden coexistir, cambia la red</a:t>
            </a:r>
          </a:p>
        </p:txBody>
      </p:sp>
      <p:sp>
        <p:nvSpPr>
          <p:cNvPr id="9" name="">
            <a:extLst xmlns:a="http://schemas.openxmlformats.org/drawingml/2006/main">
              <a:ext uri="{FF2B5EF4-FFF2-40B4-BE49-F238E27FC236}">
                <a16:creationId xmlns:a16="http://schemas.microsoft.com/office/drawing/2014/main" id="{8D29705B-1656-462D-9BF8-0D42FBAEFC55}"/>
              </a:ext>
            </a:extLst>
          </p:cNvPr>
          <p:cNvSpPr>
            <a:spLocks xmlns:a="http://schemas.openxmlformats.org/drawingml/2006/main" noGrp="1"/>
          </p:cNvSpPr>
          <p:nvPr/>
        </p:nvSpPr>
        <p:spPr>
          <a:xfrm xmlns:a="http://schemas.openxmlformats.org/drawingml/2006/main">
            <a:off x="762000" y="13811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AD414C"/>
                </a:solidFill>
                <a:latin typeface="Arial"/>
                <a:ea typeface="Arial"/>
                <a:cs typeface="Arial"/>
              </a:defRPr>
            </a:pPr>
            <a:r>
              <a:rPr sz="1500" b="1">
                <a:solidFill>
                  <a:srgbClr val="AD414C"/>
                </a:solidFill>
                <a:latin typeface="Arial"/>
                <a:ea typeface="Arial"/>
                <a:cs typeface="Arial"/>
              </a:rPr>
              <a:t>DISEÑO E IMPLEMENTACIÓN</a:t>
            </a:r>
          </a:p>
        </p:txBody>
      </p:sp>
      <p:sp>
        <p:nvSpPr>
          <p:cNvPr id="10" name="">
            <a:extLst xmlns:a="http://schemas.openxmlformats.org/drawingml/2006/main">
              <a:ext uri="{FF2B5EF4-FFF2-40B4-BE49-F238E27FC236}">
                <a16:creationId xmlns:a16="http://schemas.microsoft.com/office/drawing/2014/main" id="{BA21C947-A086-48DB-B51E-E84F6025971C}"/>
              </a:ext>
            </a:extLst>
          </p:cNvPr>
          <p:cNvSpPr>
            <a:spLocks xmlns:a="http://schemas.openxmlformats.org/drawingml/2006/main" noGrp="1"/>
          </p:cNvSpPr>
          <p:nvPr/>
        </p:nvSpPr>
        <p:spPr>
          <a:xfrm xmlns:a="http://schemas.openxmlformats.org/drawingml/2006/main">
            <a:off x="762000" y="1724025"/>
            <a:ext cx="10668000" cy="28575"/>
          </a:xfrm>
          <a:prstGeom xmlns:a="http://schemas.openxmlformats.org/drawingml/2006/main" prst="rect">
            <a:avLst/>
          </a:prstGeom>
          <a:solidFill xmlns:a="http://schemas.openxmlformats.org/drawingml/2006/main">
            <a:srgbClr val="AD414C"/>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5A30D24B-DE6F-4A9F-A371-AD90451A7B4A}"/>
              </a:ext>
            </a:extLst>
          </p:cNvPr>
          <p:cNvSpPr>
            <a:spLocks xmlns:a="http://schemas.openxmlformats.org/drawingml/2006/main" noGrp="1"/>
          </p:cNvSpPr>
          <p:nvPr/>
        </p:nvSpPr>
        <p:spPr>
          <a:xfrm xmlns:a="http://schemas.openxmlformats.org/drawingml/2006/main">
            <a:off x="762000" y="19431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233746"/>
                </a:solidFill>
                <a:latin typeface="Arial"/>
                <a:ea typeface="Arial"/>
                <a:cs typeface="Arial"/>
              </a:defRPr>
            </a:pPr>
            <a:r>
              <a:rPr sz="2175" b="0">
                <a:solidFill>
                  <a:srgbClr val="233746"/>
                </a:solidFill>
                <a:latin typeface="Arial"/>
                <a:ea typeface="Arial"/>
                <a:cs typeface="Arial"/>
              </a:rPr>
              <a:t>Dos variables binarias permiten representar ambas causas a la vez.</a:t>
            </a:r>
          </a:p>
        </p:txBody>
      </p:sp>
      <p:sp>
        <p:nvSpPr>
          <p:cNvPr id="12" name="">
            <a:extLst xmlns:a="http://schemas.openxmlformats.org/drawingml/2006/main">
              <a:ext uri="{FF2B5EF4-FFF2-40B4-BE49-F238E27FC236}">
                <a16:creationId xmlns:a16="http://schemas.microsoft.com/office/drawing/2014/main" id="{2566757F-218A-44B3-BCD7-BA656E4C2732}"/>
              </a:ext>
            </a:extLst>
          </p:cNvPr>
          <p:cNvSpPr>
            <a:spLocks xmlns:a="http://schemas.openxmlformats.org/drawingml/2006/main" noGrp="1"/>
          </p:cNvSpPr>
          <p:nvPr/>
        </p:nvSpPr>
        <p:spPr>
          <a:xfrm xmlns:a="http://schemas.openxmlformats.org/drawingml/2006/main">
            <a:off x="762000" y="2867025"/>
            <a:ext cx="3333750"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7950A0"/>
            </a:solidFill>
          </a:ln>
        </p:spPr>
        <p:txBody>
          <a:bodyPr xmlns:a="http://schemas.openxmlformats.org/drawingml/2006/main"/>
          <a:lstStyle xmlns:a="http://schemas.openxmlformats.org/drawingml/2006/main"/>
          <a:p xmlns:a="http://schemas.openxmlformats.org/drawingml/2006/main">
            <a:r>
              <a:t/>
            </a:r>
          </a:p>
        </p:txBody>
      </p:sp>
      <p:sp>
        <p:nvSpPr>
          <p:cNvPr id="13" name="">
            <a:extLst xmlns:a="http://schemas.openxmlformats.org/drawingml/2006/main">
              <a:ext uri="{FF2B5EF4-FFF2-40B4-BE49-F238E27FC236}">
                <a16:creationId xmlns:a16="http://schemas.microsoft.com/office/drawing/2014/main" id="{43667A33-6EEC-44A6-8017-221E867FAA95}"/>
              </a:ext>
            </a:extLst>
          </p:cNvPr>
          <p:cNvSpPr>
            <a:spLocks xmlns:a="http://schemas.openxmlformats.org/drawingml/2006/main" noGrp="1"/>
          </p:cNvSpPr>
          <p:nvPr/>
        </p:nvSpPr>
        <p:spPr>
          <a:xfrm xmlns:a="http://schemas.openxmlformats.org/drawingml/2006/main">
            <a:off x="8096250" y="2867025"/>
            <a:ext cx="3333750"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7950A0"/>
            </a:solidFill>
          </a:ln>
        </p:spPr>
        <p:txBody>
          <a:bodyPr xmlns:a="http://schemas.openxmlformats.org/drawingml/2006/main"/>
          <a:lstStyle xmlns:a="http://schemas.openxmlformats.org/drawingml/2006/main"/>
          <a:p xmlns:a="http://schemas.openxmlformats.org/drawingml/2006/main">
            <a:r>
              <a:t/>
            </a:r>
          </a:p>
        </p:txBody>
      </p:sp>
      <p:sp>
        <p:nvSpPr>
          <p:cNvPr id="14" name="">
            <a:extLst xmlns:a="http://schemas.openxmlformats.org/drawingml/2006/main">
              <a:ext uri="{FF2B5EF4-FFF2-40B4-BE49-F238E27FC236}">
                <a16:creationId xmlns:a16="http://schemas.microsoft.com/office/drawing/2014/main" id="{9D9C7D76-215C-431C-AB8A-90B65926CD1E}"/>
              </a:ext>
            </a:extLst>
          </p:cNvPr>
          <p:cNvSpPr>
            <a:spLocks xmlns:a="http://schemas.openxmlformats.org/drawingml/2006/main" noGrp="1"/>
          </p:cNvSpPr>
          <p:nvPr/>
        </p:nvSpPr>
        <p:spPr>
          <a:xfrm xmlns:a="http://schemas.openxmlformats.org/drawingml/2006/main">
            <a:off x="4429125" y="4629150"/>
            <a:ext cx="3333750" cy="876300"/>
          </a:xfrm>
          <a:prstGeom xmlns:a="http://schemas.openxmlformats.org/drawingml/2006/main" prst="rect">
            <a:avLst/>
          </a:prstGeom>
          <a:solidFill xmlns:a="http://schemas.openxmlformats.org/drawingml/2006/main">
            <a:srgbClr val="FFFFFF"/>
          </a:solidFill>
          <a:ln xmlns:a="http://schemas.openxmlformats.org/drawingml/2006/main" w="19050">
            <a:solidFill>
              <a:srgbClr val="7950A0"/>
            </a:solidFill>
          </a:ln>
        </p:spPr>
        <p:txBody>
          <a:bodyPr xmlns:a="http://schemas.openxmlformats.org/drawingml/2006/main"/>
          <a:lstStyle xmlns:a="http://schemas.openxmlformats.org/drawingml/2006/main"/>
          <a:p xmlns:a="http://schemas.openxmlformats.org/drawingml/2006/main">
            <a:r>
              <a:t/>
            </a:r>
          </a:p>
        </p:txBody>
      </p:sp>
      <p:sp>
        <p:nvSpPr>
          <p:cNvPr id="15" name="">
            <a:extLst xmlns:a="http://schemas.openxmlformats.org/drawingml/2006/main">
              <a:ext uri="{FF2B5EF4-FFF2-40B4-BE49-F238E27FC236}">
                <a16:creationId xmlns:a16="http://schemas.microsoft.com/office/drawing/2014/main" id="{19B470E5-533E-4E61-B0EA-7708C996645F}"/>
              </a:ext>
            </a:extLst>
          </p:cNvPr>
          <p:cNvSpPr>
            <a:spLocks xmlns:a="http://schemas.openxmlformats.org/drawingml/2006/main" noGrp="1"/>
          </p:cNvSpPr>
          <p:nvPr/>
        </p:nvSpPr>
        <p:spPr>
          <a:xfrm xmlns:a="http://schemas.openxmlformats.org/drawingml/2006/main">
            <a:off x="895350" y="2971800"/>
            <a:ext cx="3067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33746"/>
                </a:solidFill>
                <a:latin typeface="Arial"/>
                <a:ea typeface="Arial"/>
                <a:cs typeface="Arial"/>
              </a:defRPr>
            </a:pPr>
            <a:r>
              <a:rPr sz="2100" b="0">
                <a:solidFill>
                  <a:srgbClr val="233746"/>
                </a:solidFill>
                <a:latin typeface="Arial"/>
                <a:ea typeface="Arial"/>
                <a:cs typeface="Arial"/>
              </a:rPr>
              <a:t>Obstrucción</a:t>
            </a:r>
          </a:p>
          <a:p xmlns:a="http://schemas.openxmlformats.org/drawingml/2006/main">
            <a:pPr>
              <a:defRPr sz="2100" b="0">
                <a:solidFill>
                  <a:srgbClr val="233746"/>
                </a:solidFill>
                <a:latin typeface="Arial"/>
                <a:ea typeface="Arial"/>
                <a:cs typeface="Arial"/>
              </a:defRPr>
            </a:pPr>
            <a:r>
              <a:rPr sz="2100" b="0">
                <a:solidFill>
                  <a:srgbClr val="233746"/>
                </a:solidFill>
                <a:latin typeface="Arial"/>
                <a:ea typeface="Arial"/>
                <a:cs typeface="Arial"/>
              </a:rPr>
              <a:t>Sí / No</a:t>
            </a:r>
          </a:p>
        </p:txBody>
      </p:sp>
      <p:sp>
        <p:nvSpPr>
          <p:cNvPr id="16" name="">
            <a:extLst xmlns:a="http://schemas.openxmlformats.org/drawingml/2006/main">
              <a:ext uri="{FF2B5EF4-FFF2-40B4-BE49-F238E27FC236}">
                <a16:creationId xmlns:a16="http://schemas.microsoft.com/office/drawing/2014/main" id="{6EC744A8-C5AD-4707-B0DB-FD30608F325B}"/>
              </a:ext>
            </a:extLst>
          </p:cNvPr>
          <p:cNvSpPr>
            <a:spLocks xmlns:a="http://schemas.openxmlformats.org/drawingml/2006/main" noGrp="1"/>
          </p:cNvSpPr>
          <p:nvPr/>
        </p:nvSpPr>
        <p:spPr>
          <a:xfrm xmlns:a="http://schemas.openxmlformats.org/drawingml/2006/main">
            <a:off x="8229600" y="2971800"/>
            <a:ext cx="3067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33746"/>
                </a:solidFill>
                <a:latin typeface="Arial"/>
                <a:ea typeface="Arial"/>
                <a:cs typeface="Arial"/>
              </a:defRPr>
            </a:pPr>
            <a:r>
              <a:rPr sz="2100" b="0">
                <a:solidFill>
                  <a:srgbClr val="233746"/>
                </a:solidFill>
                <a:latin typeface="Arial"/>
                <a:ea typeface="Arial"/>
                <a:cs typeface="Arial"/>
              </a:rPr>
              <a:t>Fuga</a:t>
            </a:r>
          </a:p>
          <a:p xmlns:a="http://schemas.openxmlformats.org/drawingml/2006/main">
            <a:pPr>
              <a:defRPr sz="2100" b="0">
                <a:solidFill>
                  <a:srgbClr val="233746"/>
                </a:solidFill>
                <a:latin typeface="Arial"/>
                <a:ea typeface="Arial"/>
                <a:cs typeface="Arial"/>
              </a:defRPr>
            </a:pPr>
            <a:r>
              <a:rPr sz="2100" b="0">
                <a:solidFill>
                  <a:srgbClr val="233746"/>
                </a:solidFill>
                <a:latin typeface="Arial"/>
                <a:ea typeface="Arial"/>
                <a:cs typeface="Arial"/>
              </a:rPr>
              <a:t>Sí / No</a:t>
            </a:r>
          </a:p>
        </p:txBody>
      </p:sp>
      <p:sp>
        <p:nvSpPr>
          <p:cNvPr id="17" name="">
            <a:extLst xmlns:a="http://schemas.openxmlformats.org/drawingml/2006/main">
              <a:ext uri="{FF2B5EF4-FFF2-40B4-BE49-F238E27FC236}">
                <a16:creationId xmlns:a16="http://schemas.microsoft.com/office/drawing/2014/main" id="{F93B4CCF-CF79-4E5C-825F-BC7F655DB806}"/>
              </a:ext>
            </a:extLst>
          </p:cNvPr>
          <p:cNvSpPr>
            <a:spLocks xmlns:a="http://schemas.openxmlformats.org/drawingml/2006/main" noGrp="1"/>
          </p:cNvSpPr>
          <p:nvPr/>
        </p:nvSpPr>
        <p:spPr>
          <a:xfrm xmlns:a="http://schemas.openxmlformats.org/drawingml/2006/main">
            <a:off x="4562475" y="4733925"/>
            <a:ext cx="3067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33746"/>
                </a:solidFill>
                <a:latin typeface="Arial"/>
                <a:ea typeface="Arial"/>
                <a:cs typeface="Arial"/>
              </a:defRPr>
            </a:pPr>
            <a:r>
              <a:rPr sz="2100" b="0">
                <a:solidFill>
                  <a:srgbClr val="233746"/>
                </a:solidFill>
                <a:latin typeface="Arial"/>
                <a:ea typeface="Arial"/>
                <a:cs typeface="Arial"/>
              </a:rPr>
              <a:t>Caudal bajo</a:t>
            </a:r>
          </a:p>
          <a:p xmlns:a="http://schemas.openxmlformats.org/drawingml/2006/main">
            <a:pPr>
              <a:defRPr sz="2100" b="0">
                <a:solidFill>
                  <a:srgbClr val="233746"/>
                </a:solidFill>
                <a:latin typeface="Arial"/>
                <a:ea typeface="Arial"/>
                <a:cs typeface="Arial"/>
              </a:defRPr>
            </a:pPr>
            <a:r>
              <a:rPr sz="2100" b="0">
                <a:solidFill>
                  <a:srgbClr val="233746"/>
                </a:solidFill>
                <a:latin typeface="Arial"/>
                <a:ea typeface="Arial"/>
                <a:cs typeface="Arial"/>
              </a:rPr>
              <a:t>Sí / No</a:t>
            </a:r>
          </a:p>
        </p:txBody>
      </p:sp>
      <p:cxnSp>
        <p:nvCxnSpPr>
          <p:cNvPr id="36" name=""/>
          <p:cNvCxnSpPr>
            <a:stCxn xmlns:a="http://schemas.openxmlformats.org/drawingml/2006/main" id="12" idx="2"/>
            <a:endCxn xmlns:a="http://schemas.openxmlformats.org/drawingml/2006/main" id="14" idx="0"/>
          </p:cNvCxnSpPr>
          <p:nvPr/>
        </p:nvCxnSpPr>
        <p:spPr>
          <a:xfrm xmlns:a="http://schemas.openxmlformats.org/drawingml/2006/main">
            <a:off x="2428875" y="3781425"/>
            <a:ext cx="3667125" cy="847725"/>
          </a:xfrm>
          <a:prstGeom xmlns:a="http://schemas.openxmlformats.org/drawingml/2006/main" prst="straightConnector1">
            <a:avLst/>
          </a:prstGeom>
          <a:ln xmlns:a="http://schemas.openxmlformats.org/drawingml/2006/main" w="19050">
            <a:solidFill>
              <a:srgbClr val="2162A0"/>
            </a:solidFill>
            <a:tailEnd type="arrow" w="med" len="med"/>
          </a:ln>
        </p:spPr>
      </p:cxnSp>
      <p:cxnSp>
        <p:nvCxnSpPr>
          <p:cNvPr id="37" name=""/>
          <p:cNvCxnSpPr>
            <a:stCxn xmlns:a="http://schemas.openxmlformats.org/drawingml/2006/main" id="13" idx="2"/>
            <a:endCxn xmlns:a="http://schemas.openxmlformats.org/drawingml/2006/main" id="14" idx="0"/>
          </p:cNvCxnSpPr>
          <p:nvPr/>
        </p:nvCxnSpPr>
        <p:spPr>
          <a:xfrm xmlns:a="http://schemas.openxmlformats.org/drawingml/2006/main" flipH="1">
            <a:off x="6096000" y="3781425"/>
            <a:ext cx="3667125" cy="847725"/>
          </a:xfrm>
          <a:prstGeom xmlns:a="http://schemas.openxmlformats.org/drawingml/2006/main" prst="straightConnector1">
            <a:avLst/>
          </a:prstGeom>
          <a:ln xmlns:a="http://schemas.openxmlformats.org/drawingml/2006/main" w="19050">
            <a:solidFill>
              <a:srgbClr val="2162A0"/>
            </a:solidFill>
            <a:tailEnd type="arrow" w="med" len="med"/>
          </a:ln>
        </p:spPr>
      </p:cxnSp>
      <p:sp>
        <p:nvSpPr>
          <p:cNvPr id="20" name="">
            <a:extLst xmlns:a="http://schemas.openxmlformats.org/drawingml/2006/main">
              <a:ext uri="{FF2B5EF4-FFF2-40B4-BE49-F238E27FC236}">
                <a16:creationId xmlns:a16="http://schemas.microsoft.com/office/drawing/2014/main" id="{30B89659-9519-41D6-8218-3FFC3C4570A5}"/>
              </a:ext>
            </a:extLst>
          </p:cNvPr>
          <p:cNvSpPr>
            <a:spLocks xmlns:a="http://schemas.openxmlformats.org/drawingml/2006/main" noGrp="1"/>
          </p:cNvSpPr>
          <p:nvPr/>
        </p:nvSpPr>
        <p:spPr>
          <a:xfrm xmlns:a="http://schemas.openxmlformats.org/drawingml/2006/main">
            <a:off x="762000" y="60388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D96B18"/>
                </a:solidFill>
                <a:latin typeface="Arial"/>
                <a:ea typeface="Arial"/>
                <a:cs typeface="Arial"/>
              </a:defRPr>
            </a:pPr>
            <a:r>
              <a:rPr sz="1800" b="1">
                <a:solidFill>
                  <a:srgbClr val="D96B18"/>
                </a:solidFill>
                <a:latin typeface="Arial"/>
                <a:ea typeface="Arial"/>
                <a:cs typeface="Arial"/>
              </a:rPr>
              <a:t>La tabla del caudal debe cubrir las cuatro combinaciones de sus dos padres.</a:t>
            </a:r>
          </a:p>
        </p:txBody>
      </p:sp>
    </p:spTree>
    <p:extLst>
      <p:ext uri="{BB962C8B-B14F-4D97-AF65-F5344CB8AC3E}">
        <p14:creationId xmlns:p14="http://schemas.microsoft.com/office/powerpoint/2010/main" val="172189652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Diagnóstico bayesiano · PROVISIONAL</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25</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D96B18"/>
                </a:solidFill>
                <a:latin typeface="Arial"/>
                <a:ea typeface="Arial"/>
                <a:cs typeface="Arial"/>
              </a:defRPr>
            </a:pPr>
            <a:r>
              <a:rPr sz="3000" b="0">
                <a:solidFill>
                  <a:srgbClr val="D96B18"/>
                </a:solidFill>
                <a:latin typeface="Arial"/>
                <a:ea typeface="Arial"/>
                <a:cs typeface="Arial"/>
              </a:rPr>
              <a:t>De dónde salen las probabilidades</a:t>
            </a:r>
          </a:p>
        </p:txBody>
      </p:sp>
      <p:sp>
        <p:nvSpPr>
          <p:cNvPr id="9" name="">
            <a:extLst xmlns:a="http://schemas.openxmlformats.org/drawingml/2006/main">
              <a:ext uri="{FF2B5EF4-FFF2-40B4-BE49-F238E27FC236}">
                <a16:creationId xmlns:a16="http://schemas.microsoft.com/office/drawing/2014/main" id="{6ABBB296-B057-402E-8179-2DF301D06965}"/>
              </a:ext>
            </a:extLst>
          </p:cNvPr>
          <p:cNvSpPr>
            <a:spLocks xmlns:a="http://schemas.openxmlformats.org/drawingml/2006/main" noGrp="1"/>
          </p:cNvSpPr>
          <p:nvPr/>
        </p:nvSpPr>
        <p:spPr>
          <a:xfrm xmlns:a="http://schemas.openxmlformats.org/drawingml/2006/main">
            <a:off x="762000" y="13811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AD414C"/>
                </a:solidFill>
                <a:latin typeface="Arial"/>
                <a:ea typeface="Arial"/>
                <a:cs typeface="Arial"/>
              </a:defRPr>
            </a:pPr>
            <a:r>
              <a:rPr sz="1500" b="1">
                <a:solidFill>
                  <a:srgbClr val="AD414C"/>
                </a:solidFill>
                <a:latin typeface="Arial"/>
                <a:ea typeface="Arial"/>
                <a:cs typeface="Arial"/>
              </a:rPr>
              <a:t>DISEÑO E IMPLEMENTACIÓN</a:t>
            </a:r>
          </a:p>
        </p:txBody>
      </p:sp>
      <p:sp>
        <p:nvSpPr>
          <p:cNvPr id="10" name="">
            <a:extLst xmlns:a="http://schemas.openxmlformats.org/drawingml/2006/main">
              <a:ext uri="{FF2B5EF4-FFF2-40B4-BE49-F238E27FC236}">
                <a16:creationId xmlns:a16="http://schemas.microsoft.com/office/drawing/2014/main" id="{E6086158-0BB8-4F3C-860B-EBED6B41ECB6}"/>
              </a:ext>
            </a:extLst>
          </p:cNvPr>
          <p:cNvSpPr>
            <a:spLocks xmlns:a="http://schemas.openxmlformats.org/drawingml/2006/main" noGrp="1"/>
          </p:cNvSpPr>
          <p:nvPr/>
        </p:nvSpPr>
        <p:spPr>
          <a:xfrm xmlns:a="http://schemas.openxmlformats.org/drawingml/2006/main">
            <a:off x="762000" y="1724025"/>
            <a:ext cx="10668000" cy="28575"/>
          </a:xfrm>
          <a:prstGeom xmlns:a="http://schemas.openxmlformats.org/drawingml/2006/main" prst="rect">
            <a:avLst/>
          </a:prstGeom>
          <a:solidFill xmlns:a="http://schemas.openxmlformats.org/drawingml/2006/main">
            <a:srgbClr val="AD414C"/>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F8FE95B1-EBC0-4B88-9FC4-9E995972AD81}"/>
              </a:ext>
            </a:extLst>
          </p:cNvPr>
          <p:cNvSpPr>
            <a:spLocks xmlns:a="http://schemas.openxmlformats.org/drawingml/2006/main" noGrp="1"/>
          </p:cNvSpPr>
          <p:nvPr/>
        </p:nvSpPr>
        <p:spPr>
          <a:xfrm xmlns:a="http://schemas.openxmlformats.org/drawingml/2006/main">
            <a:off x="762000" y="198120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D96B18"/>
                </a:solidFill>
                <a:latin typeface="Arial"/>
                <a:ea typeface="Arial"/>
                <a:cs typeface="Arial"/>
              </a:defRPr>
            </a:pPr>
            <a:r>
              <a:rPr sz="2250" b="1">
                <a:solidFill>
                  <a:srgbClr val="D96B18"/>
                </a:solidFill>
                <a:latin typeface="Arial"/>
                <a:ea typeface="Arial"/>
                <a:cs typeface="Arial"/>
              </a:rPr>
              <a:t>Datos</a:t>
            </a:r>
          </a:p>
        </p:txBody>
      </p:sp>
      <p:sp>
        <p:nvSpPr>
          <p:cNvPr id="12" name="">
            <a:extLst xmlns:a="http://schemas.openxmlformats.org/drawingml/2006/main">
              <a:ext uri="{FF2B5EF4-FFF2-40B4-BE49-F238E27FC236}">
                <a16:creationId xmlns:a16="http://schemas.microsoft.com/office/drawing/2014/main" id="{2A667543-5012-41C2-9754-1AD899476F5D}"/>
              </a:ext>
            </a:extLst>
          </p:cNvPr>
          <p:cNvSpPr>
            <a:spLocks xmlns:a="http://schemas.openxmlformats.org/drawingml/2006/main" noGrp="1"/>
          </p:cNvSpPr>
          <p:nvPr/>
        </p:nvSpPr>
        <p:spPr>
          <a:xfrm xmlns:a="http://schemas.openxmlformats.org/drawingml/2006/main">
            <a:off x="762000" y="24193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Estimar frecuencias condicionadas en casos representativos.</a:t>
            </a:r>
          </a:p>
        </p:txBody>
      </p:sp>
      <p:sp>
        <p:nvSpPr>
          <p:cNvPr id="13" name="">
            <a:extLst xmlns:a="http://schemas.openxmlformats.org/drawingml/2006/main">
              <a:ext uri="{FF2B5EF4-FFF2-40B4-BE49-F238E27FC236}">
                <a16:creationId xmlns:a16="http://schemas.microsoft.com/office/drawing/2014/main" id="{CECC2164-938D-4E82-8B71-31DA39C42723}"/>
              </a:ext>
            </a:extLst>
          </p:cNvPr>
          <p:cNvSpPr>
            <a:spLocks xmlns:a="http://schemas.openxmlformats.org/drawingml/2006/main" noGrp="1"/>
          </p:cNvSpPr>
          <p:nvPr/>
        </p:nvSpPr>
        <p:spPr>
          <a:xfrm xmlns:a="http://schemas.openxmlformats.org/drawingml/2006/main">
            <a:off x="762000" y="318135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D96B18"/>
                </a:solidFill>
                <a:latin typeface="Arial"/>
                <a:ea typeface="Arial"/>
                <a:cs typeface="Arial"/>
              </a:defRPr>
            </a:pPr>
            <a:r>
              <a:rPr sz="2250" b="1">
                <a:solidFill>
                  <a:srgbClr val="D96B18"/>
                </a:solidFill>
                <a:latin typeface="Arial"/>
                <a:ea typeface="Arial"/>
                <a:cs typeface="Arial"/>
              </a:rPr>
              <a:t>Conocimiento experto</a:t>
            </a:r>
          </a:p>
        </p:txBody>
      </p:sp>
      <p:sp>
        <p:nvSpPr>
          <p:cNvPr id="14" name="">
            <a:extLst xmlns:a="http://schemas.openxmlformats.org/drawingml/2006/main">
              <a:ext uri="{FF2B5EF4-FFF2-40B4-BE49-F238E27FC236}">
                <a16:creationId xmlns:a16="http://schemas.microsoft.com/office/drawing/2014/main" id="{212A655A-A2EF-44AC-8BB3-A0967F04AB20}"/>
              </a:ext>
            </a:extLst>
          </p:cNvPr>
          <p:cNvSpPr>
            <a:spLocks xmlns:a="http://schemas.openxmlformats.org/drawingml/2006/main" noGrp="1"/>
          </p:cNvSpPr>
          <p:nvPr/>
        </p:nvSpPr>
        <p:spPr>
          <a:xfrm xmlns:a="http://schemas.openxmlformats.org/drawingml/2006/main">
            <a:off x="762000" y="36195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Preguntar por situaciones concretas y registrar los supuestos.</a:t>
            </a:r>
          </a:p>
        </p:txBody>
      </p:sp>
      <p:sp>
        <p:nvSpPr>
          <p:cNvPr id="15" name="">
            <a:extLst xmlns:a="http://schemas.openxmlformats.org/drawingml/2006/main">
              <a:ext uri="{FF2B5EF4-FFF2-40B4-BE49-F238E27FC236}">
                <a16:creationId xmlns:a16="http://schemas.microsoft.com/office/drawing/2014/main" id="{A4535F85-DD45-4106-80C3-0EA5BB979434}"/>
              </a:ext>
            </a:extLst>
          </p:cNvPr>
          <p:cNvSpPr>
            <a:spLocks xmlns:a="http://schemas.openxmlformats.org/drawingml/2006/main" noGrp="1"/>
          </p:cNvSpPr>
          <p:nvPr/>
        </p:nvSpPr>
        <p:spPr>
          <a:xfrm xmlns:a="http://schemas.openxmlformats.org/drawingml/2006/main">
            <a:off x="762000" y="438150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D96B18"/>
                </a:solidFill>
                <a:latin typeface="Arial"/>
                <a:ea typeface="Arial"/>
                <a:cs typeface="Arial"/>
              </a:defRPr>
            </a:pPr>
            <a:r>
              <a:rPr sz="2250" b="1">
                <a:solidFill>
                  <a:srgbClr val="D96B18"/>
                </a:solidFill>
                <a:latin typeface="Arial"/>
                <a:ea typeface="Arial"/>
                <a:cs typeface="Arial"/>
              </a:rPr>
              <a:t>Revisión</a:t>
            </a:r>
          </a:p>
        </p:txBody>
      </p:sp>
      <p:sp>
        <p:nvSpPr>
          <p:cNvPr id="16" name="">
            <a:extLst xmlns:a="http://schemas.openxmlformats.org/drawingml/2006/main">
              <a:ext uri="{FF2B5EF4-FFF2-40B4-BE49-F238E27FC236}">
                <a16:creationId xmlns:a16="http://schemas.microsoft.com/office/drawing/2014/main" id="{D3517788-F4DF-4997-B08F-2339DEB82C9F}"/>
              </a:ext>
            </a:extLst>
          </p:cNvPr>
          <p:cNvSpPr>
            <a:spLocks xmlns:a="http://schemas.openxmlformats.org/drawingml/2006/main" noGrp="1"/>
          </p:cNvSpPr>
          <p:nvPr/>
        </p:nvSpPr>
        <p:spPr>
          <a:xfrm xmlns:a="http://schemas.openxmlformats.org/drawingml/2006/main">
            <a:off x="762000" y="48196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Contrastar con casos nuevos y comprobar la sensibilidad.</a:t>
            </a:r>
          </a:p>
        </p:txBody>
      </p:sp>
      <p:sp>
        <p:nvSpPr>
          <p:cNvPr id="17" name="">
            <a:extLst xmlns:a="http://schemas.openxmlformats.org/drawingml/2006/main">
              <a:ext uri="{FF2B5EF4-FFF2-40B4-BE49-F238E27FC236}">
                <a16:creationId xmlns:a16="http://schemas.microsoft.com/office/drawing/2014/main" id="{DB5B5291-06FF-4ABB-970E-7F66CFA61CCF}"/>
              </a:ext>
            </a:extLst>
          </p:cNvPr>
          <p:cNvSpPr>
            <a:spLocks xmlns:a="http://schemas.openxmlformats.org/drawingml/2006/main" noGrp="1"/>
          </p:cNvSpPr>
          <p:nvPr/>
        </p:nvSpPr>
        <p:spPr>
          <a:xfrm xmlns:a="http://schemas.openxmlformats.org/drawingml/2006/main">
            <a:off x="762000" y="60102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Las cifras de este ejemplo son supuestos docentes y no deben presentarse como datos.</a:t>
            </a:r>
          </a:p>
        </p:txBody>
      </p:sp>
    </p:spTree>
    <p:extLst>
      <p:ext uri="{BB962C8B-B14F-4D97-AF65-F5344CB8AC3E}">
        <p14:creationId xmlns:p14="http://schemas.microsoft.com/office/powerpoint/2010/main" val="172189652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Diagnóstico bayesiano · PROVISIONAL</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26</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D96B18"/>
                </a:solidFill>
                <a:latin typeface="Arial"/>
                <a:ea typeface="Arial"/>
                <a:cs typeface="Arial"/>
              </a:defRPr>
            </a:pPr>
            <a:r>
              <a:rPr sz="3000" b="0">
                <a:solidFill>
                  <a:srgbClr val="D96B18"/>
                </a:solidFill>
                <a:latin typeface="Arial"/>
                <a:ea typeface="Arial"/>
                <a:cs typeface="Arial"/>
              </a:rPr>
              <a:t>Código: las probabilidades del ejemplo</a:t>
            </a:r>
          </a:p>
        </p:txBody>
      </p:sp>
      <p:sp>
        <p:nvSpPr>
          <p:cNvPr id="9" name="">
            <a:extLst xmlns:a="http://schemas.openxmlformats.org/drawingml/2006/main">
              <a:ext uri="{FF2B5EF4-FFF2-40B4-BE49-F238E27FC236}">
                <a16:creationId xmlns:a16="http://schemas.microsoft.com/office/drawing/2014/main" id="{02D2C5CA-7255-45FE-AB2C-D30E1F725232}"/>
              </a:ext>
            </a:extLst>
          </p:cNvPr>
          <p:cNvSpPr>
            <a:spLocks xmlns:a="http://schemas.openxmlformats.org/drawingml/2006/main" noGrp="1"/>
          </p:cNvSpPr>
          <p:nvPr/>
        </p:nvSpPr>
        <p:spPr>
          <a:xfrm xmlns:a="http://schemas.openxmlformats.org/drawingml/2006/main">
            <a:off x="762000" y="13811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AD414C"/>
                </a:solidFill>
                <a:latin typeface="Arial"/>
                <a:ea typeface="Arial"/>
                <a:cs typeface="Arial"/>
              </a:defRPr>
            </a:pPr>
            <a:r>
              <a:rPr sz="1500" b="1">
                <a:solidFill>
                  <a:srgbClr val="AD414C"/>
                </a:solidFill>
                <a:latin typeface="Arial"/>
                <a:ea typeface="Arial"/>
                <a:cs typeface="Arial"/>
              </a:rPr>
              <a:t>DISEÑO E IMPLEMENTACIÓN</a:t>
            </a:r>
          </a:p>
        </p:txBody>
      </p:sp>
      <p:sp>
        <p:nvSpPr>
          <p:cNvPr id="10" name="">
            <a:extLst xmlns:a="http://schemas.openxmlformats.org/drawingml/2006/main">
              <a:ext uri="{FF2B5EF4-FFF2-40B4-BE49-F238E27FC236}">
                <a16:creationId xmlns:a16="http://schemas.microsoft.com/office/drawing/2014/main" id="{5255F68F-B659-4AD1-87FC-4F18FAAB0C1A}"/>
              </a:ext>
            </a:extLst>
          </p:cNvPr>
          <p:cNvSpPr>
            <a:spLocks xmlns:a="http://schemas.openxmlformats.org/drawingml/2006/main" noGrp="1"/>
          </p:cNvSpPr>
          <p:nvPr/>
        </p:nvSpPr>
        <p:spPr>
          <a:xfrm xmlns:a="http://schemas.openxmlformats.org/drawingml/2006/main">
            <a:off x="762000" y="1724025"/>
            <a:ext cx="10668000" cy="28575"/>
          </a:xfrm>
          <a:prstGeom xmlns:a="http://schemas.openxmlformats.org/drawingml/2006/main" prst="rect">
            <a:avLst/>
          </a:prstGeom>
          <a:solidFill xmlns:a="http://schemas.openxmlformats.org/drawingml/2006/main">
            <a:srgbClr val="AD414C"/>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64EC9395-7A8D-4338-99B0-BA6C4D058C3C}"/>
              </a:ext>
            </a:extLst>
          </p:cNvPr>
          <p:cNvSpPr>
            <a:spLocks xmlns:a="http://schemas.openxmlformats.org/drawingml/2006/main" noGrp="1"/>
          </p:cNvSpPr>
          <p:nvPr/>
        </p:nvSpPr>
        <p:spPr>
          <a:xfrm xmlns:a="http://schemas.openxmlformats.org/drawingml/2006/main">
            <a:off x="762000" y="2057400"/>
            <a:ext cx="106680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233746"/>
                </a:solidFill>
                <a:latin typeface="Consolas"/>
                <a:ea typeface="Consolas"/>
                <a:cs typeface="Consolas"/>
              </a:defRPr>
            </a:pPr>
            <a:r>
              <a:rPr sz="1875" b="0">
                <a:solidFill>
                  <a:srgbClr val="233746"/>
                </a:solidFill>
                <a:latin typeface="Consolas"/>
                <a:ea typeface="Consolas"/>
                <a:cs typeface="Consolas"/>
              </a:rPr>
              <a:t>PRIOR = {"obstruccion": 0.30, "fuga": 0.20, "otra": 0.50}</a:t>
            </a:r>
          </a:p>
          <a:p xmlns:a="http://schemas.openxmlformats.org/drawingml/2006/main">
            <a:r>
              <a:t/>
            </a:r>
          </a:p>
          <a:p xmlns:a="http://schemas.openxmlformats.org/drawingml/2006/main">
            <a:pPr>
              <a:buNone/>
              <a:defRPr sz="1875" b="0">
                <a:solidFill>
                  <a:srgbClr val="233746"/>
                </a:solidFill>
                <a:latin typeface="Consolas"/>
                <a:ea typeface="Consolas"/>
                <a:cs typeface="Consolas"/>
              </a:defRPr>
            </a:pPr>
            <a:r>
              <a:rPr sz="1875" b="0">
                <a:solidFill>
                  <a:srgbClr val="233746"/>
                </a:solidFill>
                <a:latin typeface="Consolas"/>
                <a:ea typeface="Consolas"/>
                <a:cs typeface="Consolas"/>
              </a:rPr>
              <a:t>PROB_SI = {</a:t>
            </a:r>
          </a:p>
          <a:p xmlns:a="http://schemas.openxmlformats.org/drawingml/2006/main">
            <a:pPr>
              <a:buNone/>
              <a:defRPr sz="1875" b="0">
                <a:solidFill>
                  <a:srgbClr val="233746"/>
                </a:solidFill>
                <a:latin typeface="Consolas"/>
                <a:ea typeface="Consolas"/>
                <a:cs typeface="Consolas"/>
              </a:defRPr>
            </a:pPr>
            <a:r>
              <a:rPr sz="1875" b="0">
                <a:solidFill>
                  <a:srgbClr val="233746"/>
                </a:solidFill>
                <a:latin typeface="Consolas"/>
                <a:ea typeface="Consolas"/>
                <a:cs typeface="Consolas"/>
              </a:rPr>
              <a:t>    "caudal_bajo": {</a:t>
            </a:r>
          </a:p>
          <a:p xmlns:a="http://schemas.openxmlformats.org/drawingml/2006/main">
            <a:pPr>
              <a:buNone/>
              <a:defRPr sz="1875" b="0">
                <a:solidFill>
                  <a:srgbClr val="233746"/>
                </a:solidFill>
                <a:latin typeface="Consolas"/>
                <a:ea typeface="Consolas"/>
                <a:cs typeface="Consolas"/>
              </a:defRPr>
            </a:pPr>
            <a:r>
              <a:rPr sz="1875" b="0">
                <a:solidFill>
                  <a:srgbClr val="233746"/>
                </a:solidFill>
                <a:latin typeface="Consolas"/>
                <a:ea typeface="Consolas"/>
                <a:cs typeface="Consolas"/>
              </a:rPr>
              <a:t>        "obstruccion": 0.90, "fuga": 0.80, "otra": 0.10</a:t>
            </a:r>
          </a:p>
          <a:p xmlns:a="http://schemas.openxmlformats.org/drawingml/2006/main">
            <a:pPr>
              <a:buNone/>
              <a:defRPr sz="1875" b="0">
                <a:solidFill>
                  <a:srgbClr val="233746"/>
                </a:solidFill>
                <a:latin typeface="Consolas"/>
                <a:ea typeface="Consolas"/>
                <a:cs typeface="Consolas"/>
              </a:defRPr>
            </a:pPr>
            <a:r>
              <a:rPr sz="1875" b="0">
                <a:solidFill>
                  <a:srgbClr val="233746"/>
                </a:solidFill>
                <a:latin typeface="Consolas"/>
                <a:ea typeface="Consolas"/>
                <a:cs typeface="Consolas"/>
              </a:rPr>
              <a:t>    },</a:t>
            </a:r>
          </a:p>
          <a:p xmlns:a="http://schemas.openxmlformats.org/drawingml/2006/main">
            <a:pPr>
              <a:buNone/>
              <a:defRPr sz="1875" b="0">
                <a:solidFill>
                  <a:srgbClr val="233746"/>
                </a:solidFill>
                <a:latin typeface="Consolas"/>
                <a:ea typeface="Consolas"/>
                <a:cs typeface="Consolas"/>
              </a:defRPr>
            </a:pPr>
            <a:r>
              <a:rPr sz="1875" b="0">
                <a:solidFill>
                  <a:srgbClr val="233746"/>
                </a:solidFill>
                <a:latin typeface="Consolas"/>
                <a:ea typeface="Consolas"/>
                <a:cs typeface="Consolas"/>
              </a:rPr>
              <a:t>    "vibracion_alta": {</a:t>
            </a:r>
          </a:p>
          <a:p xmlns:a="http://schemas.openxmlformats.org/drawingml/2006/main">
            <a:pPr>
              <a:buNone/>
              <a:defRPr sz="1875" b="0">
                <a:solidFill>
                  <a:srgbClr val="233746"/>
                </a:solidFill>
                <a:latin typeface="Consolas"/>
                <a:ea typeface="Consolas"/>
                <a:cs typeface="Consolas"/>
              </a:defRPr>
            </a:pPr>
            <a:r>
              <a:rPr sz="1875" b="0">
                <a:solidFill>
                  <a:srgbClr val="233746"/>
                </a:solidFill>
                <a:latin typeface="Consolas"/>
                <a:ea typeface="Consolas"/>
                <a:cs typeface="Consolas"/>
              </a:rPr>
              <a:t>        "obstruccion": 0.80, "fuga": 0.20, "otra": 0.10</a:t>
            </a:r>
          </a:p>
          <a:p xmlns:a="http://schemas.openxmlformats.org/drawingml/2006/main">
            <a:pPr>
              <a:buNone/>
              <a:defRPr sz="1875" b="0">
                <a:solidFill>
                  <a:srgbClr val="233746"/>
                </a:solidFill>
                <a:latin typeface="Consolas"/>
                <a:ea typeface="Consolas"/>
                <a:cs typeface="Consolas"/>
              </a:defRPr>
            </a:pPr>
            <a:r>
              <a:rPr sz="1875" b="0">
                <a:solidFill>
                  <a:srgbClr val="233746"/>
                </a:solidFill>
                <a:latin typeface="Consolas"/>
                <a:ea typeface="Consolas"/>
                <a:cs typeface="Consolas"/>
              </a:rPr>
              <a:t>    }</a:t>
            </a:r>
          </a:p>
          <a:p xmlns:a="http://schemas.openxmlformats.org/drawingml/2006/main">
            <a:pPr>
              <a:buNone/>
              <a:defRPr sz="1875" b="0">
                <a:solidFill>
                  <a:srgbClr val="233746"/>
                </a:solidFill>
                <a:latin typeface="Consolas"/>
                <a:ea typeface="Consolas"/>
                <a:cs typeface="Consolas"/>
              </a:defRPr>
            </a:pPr>
            <a:r>
              <a:rPr sz="1875" b="0">
                <a:solidFill>
                  <a:srgbClr val="233746"/>
                </a:solidFill>
                <a:latin typeface="Consolas"/>
                <a:ea typeface="Consolas"/>
                <a:cs typeface="Consolas"/>
              </a:rPr>
              <a:t>}</a:t>
            </a:r>
          </a:p>
        </p:txBody>
      </p:sp>
      <p:sp>
        <p:nvSpPr>
          <p:cNvPr id="12" name="">
            <a:extLst xmlns:a="http://schemas.openxmlformats.org/drawingml/2006/main">
              <a:ext uri="{FF2B5EF4-FFF2-40B4-BE49-F238E27FC236}">
                <a16:creationId xmlns:a16="http://schemas.microsoft.com/office/drawing/2014/main" id="{8BDF23CE-A290-4122-B8A4-9D968E9F65FF}"/>
              </a:ext>
            </a:extLst>
          </p:cNvPr>
          <p:cNvSpPr>
            <a:spLocks xmlns:a="http://schemas.openxmlformats.org/drawingml/2006/main" noGrp="1"/>
          </p:cNvSpPr>
          <p:nvPr/>
        </p:nvSpPr>
        <p:spPr>
          <a:xfrm xmlns:a="http://schemas.openxmlformats.org/drawingml/2006/main">
            <a:off x="762000" y="60102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Cada valor es P(observación = sí | causa). El «no» se obtiene por complemento.</a:t>
            </a:r>
          </a:p>
        </p:txBody>
      </p:sp>
    </p:spTree>
    <p:extLst>
      <p:ext uri="{BB962C8B-B14F-4D97-AF65-F5344CB8AC3E}">
        <p14:creationId xmlns:p14="http://schemas.microsoft.com/office/powerpoint/2010/main" val="172189652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Diagnóstico bayesiano · PROVISIONAL</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27</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D96B18"/>
                </a:solidFill>
                <a:latin typeface="Arial"/>
                <a:ea typeface="Arial"/>
                <a:cs typeface="Arial"/>
              </a:defRPr>
            </a:pPr>
            <a:r>
              <a:rPr sz="3000" b="0">
                <a:solidFill>
                  <a:srgbClr val="D96B18"/>
                </a:solidFill>
                <a:latin typeface="Arial"/>
                <a:ea typeface="Arial"/>
                <a:cs typeface="Arial"/>
              </a:rPr>
              <a:t>Código: el cálculo para esta red</a:t>
            </a:r>
          </a:p>
        </p:txBody>
      </p:sp>
      <p:sp>
        <p:nvSpPr>
          <p:cNvPr id="9" name="">
            <a:extLst xmlns:a="http://schemas.openxmlformats.org/drawingml/2006/main">
              <a:ext uri="{FF2B5EF4-FFF2-40B4-BE49-F238E27FC236}">
                <a16:creationId xmlns:a16="http://schemas.microsoft.com/office/drawing/2014/main" id="{74AB0ACF-1070-48EC-992B-22DAB4C04B7A}"/>
              </a:ext>
            </a:extLst>
          </p:cNvPr>
          <p:cNvSpPr>
            <a:spLocks xmlns:a="http://schemas.openxmlformats.org/drawingml/2006/main" noGrp="1"/>
          </p:cNvSpPr>
          <p:nvPr/>
        </p:nvSpPr>
        <p:spPr>
          <a:xfrm xmlns:a="http://schemas.openxmlformats.org/drawingml/2006/main">
            <a:off x="762000" y="13811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AD414C"/>
                </a:solidFill>
                <a:latin typeface="Arial"/>
                <a:ea typeface="Arial"/>
                <a:cs typeface="Arial"/>
              </a:defRPr>
            </a:pPr>
            <a:r>
              <a:rPr sz="1500" b="1">
                <a:solidFill>
                  <a:srgbClr val="AD414C"/>
                </a:solidFill>
                <a:latin typeface="Arial"/>
                <a:ea typeface="Arial"/>
                <a:cs typeface="Arial"/>
              </a:rPr>
              <a:t>DISEÑO E IMPLEMENTACIÓN</a:t>
            </a:r>
          </a:p>
        </p:txBody>
      </p:sp>
      <p:sp>
        <p:nvSpPr>
          <p:cNvPr id="10" name="">
            <a:extLst xmlns:a="http://schemas.openxmlformats.org/drawingml/2006/main">
              <a:ext uri="{FF2B5EF4-FFF2-40B4-BE49-F238E27FC236}">
                <a16:creationId xmlns:a16="http://schemas.microsoft.com/office/drawing/2014/main" id="{7C63C28C-961D-4F3E-AC3A-D42CB9CA5963}"/>
              </a:ext>
            </a:extLst>
          </p:cNvPr>
          <p:cNvSpPr>
            <a:spLocks xmlns:a="http://schemas.openxmlformats.org/drawingml/2006/main" noGrp="1"/>
          </p:cNvSpPr>
          <p:nvPr/>
        </p:nvSpPr>
        <p:spPr>
          <a:xfrm xmlns:a="http://schemas.openxmlformats.org/drawingml/2006/main">
            <a:off x="762000" y="1724025"/>
            <a:ext cx="10668000" cy="28575"/>
          </a:xfrm>
          <a:prstGeom xmlns:a="http://schemas.openxmlformats.org/drawingml/2006/main" prst="rect">
            <a:avLst/>
          </a:prstGeom>
          <a:solidFill xmlns:a="http://schemas.openxmlformats.org/drawingml/2006/main">
            <a:srgbClr val="AD414C"/>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60616683-76D2-4E5D-8B76-CF169E5828F0}"/>
              </a:ext>
            </a:extLst>
          </p:cNvPr>
          <p:cNvSpPr>
            <a:spLocks xmlns:a="http://schemas.openxmlformats.org/drawingml/2006/main" noGrp="1"/>
          </p:cNvSpPr>
          <p:nvPr/>
        </p:nvSpPr>
        <p:spPr>
          <a:xfrm xmlns:a="http://schemas.openxmlformats.org/drawingml/2006/main">
            <a:off x="762000" y="2019300"/>
            <a:ext cx="10668000" cy="3676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233746"/>
                </a:solidFill>
                <a:latin typeface="Consolas"/>
                <a:ea typeface="Consolas"/>
                <a:cs typeface="Consolas"/>
              </a:defRPr>
            </a:pPr>
            <a:r>
              <a:rPr sz="1875" b="0">
                <a:solidFill>
                  <a:srgbClr val="233746"/>
                </a:solidFill>
                <a:latin typeface="Consolas"/>
                <a:ea typeface="Consolas"/>
                <a:cs typeface="Consolas"/>
              </a:rPr>
              <a:t>def diagnosticar(evidencia):</a:t>
            </a:r>
          </a:p>
          <a:p xmlns:a="http://schemas.openxmlformats.org/drawingml/2006/main">
            <a:pPr>
              <a:buNone/>
              <a:defRPr sz="1875" b="0">
                <a:solidFill>
                  <a:srgbClr val="233746"/>
                </a:solidFill>
                <a:latin typeface="Consolas"/>
                <a:ea typeface="Consolas"/>
                <a:cs typeface="Consolas"/>
              </a:defRPr>
            </a:pPr>
            <a:r>
              <a:rPr sz="1875" b="0">
                <a:solidFill>
                  <a:srgbClr val="233746"/>
                </a:solidFill>
                <a:latin typeface="Consolas"/>
                <a:ea typeface="Consolas"/>
                <a:cs typeface="Consolas"/>
              </a:rPr>
              <a:t>    pesos = PRIOR.copy()</a:t>
            </a:r>
          </a:p>
          <a:p xmlns:a="http://schemas.openxmlformats.org/drawingml/2006/main">
            <a:pPr>
              <a:buNone/>
              <a:defRPr sz="1875" b="0">
                <a:solidFill>
                  <a:srgbClr val="233746"/>
                </a:solidFill>
                <a:latin typeface="Consolas"/>
                <a:ea typeface="Consolas"/>
                <a:cs typeface="Consolas"/>
              </a:defRPr>
            </a:pPr>
            <a:r>
              <a:rPr sz="1875" b="0">
                <a:solidFill>
                  <a:srgbClr val="233746"/>
                </a:solidFill>
                <a:latin typeface="Consolas"/>
                <a:ea typeface="Consolas"/>
                <a:cs typeface="Consolas"/>
              </a:rPr>
              <a:t>    for variable, observado in evidencia.items():</a:t>
            </a:r>
          </a:p>
          <a:p xmlns:a="http://schemas.openxmlformats.org/drawingml/2006/main">
            <a:pPr>
              <a:buNone/>
              <a:defRPr sz="1875" b="0">
                <a:solidFill>
                  <a:srgbClr val="233746"/>
                </a:solidFill>
                <a:latin typeface="Consolas"/>
                <a:ea typeface="Consolas"/>
                <a:cs typeface="Consolas"/>
              </a:defRPr>
            </a:pPr>
            <a:r>
              <a:rPr sz="1875" b="0">
                <a:solidFill>
                  <a:srgbClr val="233746"/>
                </a:solidFill>
                <a:latin typeface="Consolas"/>
                <a:ea typeface="Consolas"/>
                <a:cs typeface="Consolas"/>
              </a:rPr>
              <a:t>        for h in pesos:</a:t>
            </a:r>
          </a:p>
          <a:p xmlns:a="http://schemas.openxmlformats.org/drawingml/2006/main">
            <a:pPr>
              <a:buNone/>
              <a:defRPr sz="1875" b="0">
                <a:solidFill>
                  <a:srgbClr val="233746"/>
                </a:solidFill>
                <a:latin typeface="Consolas"/>
                <a:ea typeface="Consolas"/>
                <a:cs typeface="Consolas"/>
              </a:defRPr>
            </a:pPr>
            <a:r>
              <a:rPr sz="1875" b="0">
                <a:solidFill>
                  <a:srgbClr val="233746"/>
                </a:solidFill>
                <a:latin typeface="Consolas"/>
                <a:ea typeface="Consolas"/>
                <a:cs typeface="Consolas"/>
              </a:rPr>
              <a:t>            p_si = PROB_SI[variable][h]</a:t>
            </a:r>
          </a:p>
          <a:p xmlns:a="http://schemas.openxmlformats.org/drawingml/2006/main">
            <a:pPr>
              <a:buNone/>
              <a:defRPr sz="1875" b="0">
                <a:solidFill>
                  <a:srgbClr val="233746"/>
                </a:solidFill>
                <a:latin typeface="Consolas"/>
                <a:ea typeface="Consolas"/>
                <a:cs typeface="Consolas"/>
              </a:defRPr>
            </a:pPr>
            <a:r>
              <a:rPr sz="1875" b="0">
                <a:solidFill>
                  <a:srgbClr val="233746"/>
                </a:solidFill>
                <a:latin typeface="Consolas"/>
                <a:ea typeface="Consolas"/>
                <a:cs typeface="Consolas"/>
              </a:rPr>
              <a:t>            pesos[h] *= p_si if observado else 1 - p_si</a:t>
            </a:r>
          </a:p>
          <a:p xmlns:a="http://schemas.openxmlformats.org/drawingml/2006/main">
            <a:pPr>
              <a:buNone/>
              <a:defRPr sz="1875" b="0">
                <a:solidFill>
                  <a:srgbClr val="233746"/>
                </a:solidFill>
                <a:latin typeface="Consolas"/>
                <a:ea typeface="Consolas"/>
                <a:cs typeface="Consolas"/>
              </a:defRPr>
            </a:pPr>
            <a:r>
              <a:rPr sz="1875" b="0">
                <a:solidFill>
                  <a:srgbClr val="233746"/>
                </a:solidFill>
                <a:latin typeface="Consolas"/>
                <a:ea typeface="Consolas"/>
                <a:cs typeface="Consolas"/>
              </a:rPr>
              <a:t>    total = sum(pesos.values())</a:t>
            </a:r>
          </a:p>
          <a:p xmlns:a="http://schemas.openxmlformats.org/drawingml/2006/main">
            <a:pPr>
              <a:buNone/>
              <a:defRPr sz="1875" b="0">
                <a:solidFill>
                  <a:srgbClr val="233746"/>
                </a:solidFill>
                <a:latin typeface="Consolas"/>
                <a:ea typeface="Consolas"/>
                <a:cs typeface="Consolas"/>
              </a:defRPr>
            </a:pPr>
            <a:r>
              <a:rPr sz="1875" b="0">
                <a:solidFill>
                  <a:srgbClr val="233746"/>
                </a:solidFill>
                <a:latin typeface="Consolas"/>
                <a:ea typeface="Consolas"/>
                <a:cs typeface="Consolas"/>
              </a:rPr>
              <a:t>    if total &lt;= 0:</a:t>
            </a:r>
          </a:p>
          <a:p xmlns:a="http://schemas.openxmlformats.org/drawingml/2006/main">
            <a:pPr>
              <a:buNone/>
              <a:defRPr sz="1875" b="0">
                <a:solidFill>
                  <a:srgbClr val="233746"/>
                </a:solidFill>
                <a:latin typeface="Consolas"/>
                <a:ea typeface="Consolas"/>
                <a:cs typeface="Consolas"/>
              </a:defRPr>
            </a:pPr>
            <a:r>
              <a:rPr sz="1875" b="0">
                <a:solidFill>
                  <a:srgbClr val="233746"/>
                </a:solidFill>
                <a:latin typeface="Consolas"/>
                <a:ea typeface="Consolas"/>
                <a:cs typeface="Consolas"/>
              </a:rPr>
              <a:t>        raise ValueError("Evidencia imposible")</a:t>
            </a:r>
          </a:p>
          <a:p xmlns:a="http://schemas.openxmlformats.org/drawingml/2006/main">
            <a:pPr>
              <a:buNone/>
              <a:defRPr sz="1875" b="0">
                <a:solidFill>
                  <a:srgbClr val="233746"/>
                </a:solidFill>
                <a:latin typeface="Consolas"/>
                <a:ea typeface="Consolas"/>
                <a:cs typeface="Consolas"/>
              </a:defRPr>
            </a:pPr>
            <a:r>
              <a:rPr sz="1875" b="0">
                <a:solidFill>
                  <a:srgbClr val="233746"/>
                </a:solidFill>
                <a:latin typeface="Consolas"/>
                <a:ea typeface="Consolas"/>
                <a:cs typeface="Consolas"/>
              </a:rPr>
              <a:t>    return {h: peso / total for h, peso in pesos.items()}</a:t>
            </a:r>
          </a:p>
        </p:txBody>
      </p:sp>
      <p:sp>
        <p:nvSpPr>
          <p:cNvPr id="12" name="">
            <a:extLst xmlns:a="http://schemas.openxmlformats.org/drawingml/2006/main">
              <a:ext uri="{FF2B5EF4-FFF2-40B4-BE49-F238E27FC236}">
                <a16:creationId xmlns:a16="http://schemas.microsoft.com/office/drawing/2014/main" id="{77D28559-C515-4E8A-9F0E-6F184998BC33}"/>
              </a:ext>
            </a:extLst>
          </p:cNvPr>
          <p:cNvSpPr>
            <a:spLocks xmlns:a="http://schemas.openxmlformats.org/drawingml/2006/main" noGrp="1"/>
          </p:cNvSpPr>
          <p:nvPr/>
        </p:nvSpPr>
        <p:spPr>
          <a:xfrm xmlns:a="http://schemas.openxmlformats.org/drawingml/2006/main">
            <a:off x="762000" y="60102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Exacto para nuestro modelo naive Bayes. No es un motor para cualquier red.</a:t>
            </a:r>
          </a:p>
        </p:txBody>
      </p:sp>
    </p:spTree>
    <p:extLst>
      <p:ext uri="{BB962C8B-B14F-4D97-AF65-F5344CB8AC3E}">
        <p14:creationId xmlns:p14="http://schemas.microsoft.com/office/powerpoint/2010/main" val="172189652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Diagnóstico bayesiano · PROVISIONAL</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28</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D96B18"/>
                </a:solidFill>
                <a:latin typeface="Arial"/>
                <a:ea typeface="Arial"/>
                <a:cs typeface="Arial"/>
              </a:defRPr>
            </a:pPr>
            <a:r>
              <a:rPr sz="3000" b="0">
                <a:solidFill>
                  <a:srgbClr val="D96B18"/>
                </a:solidFill>
                <a:latin typeface="Arial"/>
                <a:ea typeface="Arial"/>
                <a:cs typeface="Arial"/>
              </a:rPr>
              <a:t>Código: consultar con y sin observaciones</a:t>
            </a:r>
          </a:p>
        </p:txBody>
      </p:sp>
      <p:sp>
        <p:nvSpPr>
          <p:cNvPr id="9" name="">
            <a:extLst xmlns:a="http://schemas.openxmlformats.org/drawingml/2006/main">
              <a:ext uri="{FF2B5EF4-FFF2-40B4-BE49-F238E27FC236}">
                <a16:creationId xmlns:a16="http://schemas.microsoft.com/office/drawing/2014/main" id="{2DF657EF-F1EE-42F4-B912-6340E34EA282}"/>
              </a:ext>
            </a:extLst>
          </p:cNvPr>
          <p:cNvSpPr>
            <a:spLocks xmlns:a="http://schemas.openxmlformats.org/drawingml/2006/main" noGrp="1"/>
          </p:cNvSpPr>
          <p:nvPr/>
        </p:nvSpPr>
        <p:spPr>
          <a:xfrm xmlns:a="http://schemas.openxmlformats.org/drawingml/2006/main">
            <a:off x="762000" y="13811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AD414C"/>
                </a:solidFill>
                <a:latin typeface="Arial"/>
                <a:ea typeface="Arial"/>
                <a:cs typeface="Arial"/>
              </a:defRPr>
            </a:pPr>
            <a:r>
              <a:rPr sz="1500" b="1">
                <a:solidFill>
                  <a:srgbClr val="AD414C"/>
                </a:solidFill>
                <a:latin typeface="Arial"/>
                <a:ea typeface="Arial"/>
                <a:cs typeface="Arial"/>
              </a:rPr>
              <a:t>DISEÑO E IMPLEMENTACIÓN</a:t>
            </a:r>
          </a:p>
        </p:txBody>
      </p:sp>
      <p:sp>
        <p:nvSpPr>
          <p:cNvPr id="10" name="">
            <a:extLst xmlns:a="http://schemas.openxmlformats.org/drawingml/2006/main">
              <a:ext uri="{FF2B5EF4-FFF2-40B4-BE49-F238E27FC236}">
                <a16:creationId xmlns:a16="http://schemas.microsoft.com/office/drawing/2014/main" id="{0CDA28D5-353A-48E1-86D9-9736F1511132}"/>
              </a:ext>
            </a:extLst>
          </p:cNvPr>
          <p:cNvSpPr>
            <a:spLocks xmlns:a="http://schemas.openxmlformats.org/drawingml/2006/main" noGrp="1"/>
          </p:cNvSpPr>
          <p:nvPr/>
        </p:nvSpPr>
        <p:spPr>
          <a:xfrm xmlns:a="http://schemas.openxmlformats.org/drawingml/2006/main">
            <a:off x="762000" y="1724025"/>
            <a:ext cx="10668000" cy="28575"/>
          </a:xfrm>
          <a:prstGeom xmlns:a="http://schemas.openxmlformats.org/drawingml/2006/main" prst="rect">
            <a:avLst/>
          </a:prstGeom>
          <a:solidFill xmlns:a="http://schemas.openxmlformats.org/drawingml/2006/main">
            <a:srgbClr val="AD414C"/>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806BB241-ED3F-45BB-A412-7884DEB9783D}"/>
              </a:ext>
            </a:extLst>
          </p:cNvPr>
          <p:cNvSpPr>
            <a:spLocks xmlns:a="http://schemas.openxmlformats.org/drawingml/2006/main" noGrp="1"/>
          </p:cNvSpPr>
          <p:nvPr/>
        </p:nvSpPr>
        <p:spPr>
          <a:xfrm xmlns:a="http://schemas.openxmlformats.org/drawingml/2006/main">
            <a:off x="762000" y="2114550"/>
            <a:ext cx="10668000" cy="3219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233746"/>
                </a:solidFill>
                <a:latin typeface="Consolas"/>
                <a:ea typeface="Consolas"/>
                <a:cs typeface="Consolas"/>
              </a:defRPr>
            </a:pPr>
            <a:r>
              <a:rPr sz="1875" b="0">
                <a:solidFill>
                  <a:srgbClr val="233746"/>
                </a:solidFill>
                <a:latin typeface="Consolas"/>
                <a:ea typeface="Consolas"/>
                <a:cs typeface="Consolas"/>
              </a:rPr>
              <a:t>diagnosticar({})</a:t>
            </a:r>
          </a:p>
          <a:p xmlns:a="http://schemas.openxmlformats.org/drawingml/2006/main">
            <a:pPr>
              <a:buNone/>
              <a:defRPr sz="1875" b="0">
                <a:solidFill>
                  <a:srgbClr val="233746"/>
                </a:solidFill>
                <a:latin typeface="Consolas"/>
                <a:ea typeface="Consolas"/>
                <a:cs typeface="Consolas"/>
              </a:defRPr>
            </a:pPr>
            <a:r>
              <a:rPr sz="1875" b="0">
                <a:solidFill>
                  <a:srgbClr val="233746"/>
                </a:solidFill>
                <a:latin typeface="Consolas"/>
                <a:ea typeface="Consolas"/>
                <a:cs typeface="Consolas"/>
              </a:rPr>
              <a:t># obstruccion: 0.30, fuga: 0.20, otra: 0.50</a:t>
            </a:r>
          </a:p>
          <a:p xmlns:a="http://schemas.openxmlformats.org/drawingml/2006/main">
            <a:r>
              <a:t/>
            </a:r>
          </a:p>
          <a:p xmlns:a="http://schemas.openxmlformats.org/drawingml/2006/main">
            <a:pPr>
              <a:buNone/>
              <a:defRPr sz="1875" b="0">
                <a:solidFill>
                  <a:srgbClr val="233746"/>
                </a:solidFill>
                <a:latin typeface="Consolas"/>
                <a:ea typeface="Consolas"/>
                <a:cs typeface="Consolas"/>
              </a:defRPr>
            </a:pPr>
            <a:r>
              <a:rPr sz="1875" b="0">
                <a:solidFill>
                  <a:srgbClr val="233746"/>
                </a:solidFill>
                <a:latin typeface="Consolas"/>
                <a:ea typeface="Consolas"/>
                <a:cs typeface="Consolas"/>
              </a:rPr>
              <a:t>diagnosticar({"caudal_bajo": True})</a:t>
            </a:r>
          </a:p>
          <a:p xmlns:a="http://schemas.openxmlformats.org/drawingml/2006/main">
            <a:pPr>
              <a:buNone/>
              <a:defRPr sz="1875" b="0">
                <a:solidFill>
                  <a:srgbClr val="233746"/>
                </a:solidFill>
                <a:latin typeface="Consolas"/>
                <a:ea typeface="Consolas"/>
                <a:cs typeface="Consolas"/>
              </a:defRPr>
            </a:pPr>
            <a:r>
              <a:rPr sz="1875" b="0">
                <a:solidFill>
                  <a:srgbClr val="233746"/>
                </a:solidFill>
                <a:latin typeface="Consolas"/>
                <a:ea typeface="Consolas"/>
                <a:cs typeface="Consolas"/>
              </a:rPr>
              <a:t># obstruccion: 0.5625, fuga: 0.3333, otra: 0.1042</a:t>
            </a:r>
          </a:p>
          <a:p xmlns:a="http://schemas.openxmlformats.org/drawingml/2006/main">
            <a:r>
              <a:t/>
            </a:r>
          </a:p>
          <a:p xmlns:a="http://schemas.openxmlformats.org/drawingml/2006/main">
            <a:pPr>
              <a:buNone/>
              <a:defRPr sz="1875" b="0">
                <a:solidFill>
                  <a:srgbClr val="233746"/>
                </a:solidFill>
                <a:latin typeface="Consolas"/>
                <a:ea typeface="Consolas"/>
                <a:cs typeface="Consolas"/>
              </a:defRPr>
            </a:pPr>
            <a:r>
              <a:rPr sz="1875" b="0">
                <a:solidFill>
                  <a:srgbClr val="233746"/>
                </a:solidFill>
                <a:latin typeface="Consolas"/>
                <a:ea typeface="Consolas"/>
                <a:cs typeface="Consolas"/>
              </a:rPr>
              <a:t>diagnosticar({"caudal_bajo": True, "vibracion_alta": True})</a:t>
            </a:r>
          </a:p>
          <a:p xmlns:a="http://schemas.openxmlformats.org/drawingml/2006/main">
            <a:pPr>
              <a:buNone/>
              <a:defRPr sz="1875" b="0">
                <a:solidFill>
                  <a:srgbClr val="233746"/>
                </a:solidFill>
                <a:latin typeface="Consolas"/>
                <a:ea typeface="Consolas"/>
                <a:cs typeface="Consolas"/>
              </a:defRPr>
            </a:pPr>
            <a:r>
              <a:rPr sz="1875" b="0">
                <a:solidFill>
                  <a:srgbClr val="233746"/>
                </a:solidFill>
                <a:latin typeface="Consolas"/>
                <a:ea typeface="Consolas"/>
                <a:cs typeface="Consolas"/>
              </a:rPr>
              <a:t># obstruccion: 0.8538, fuga: 0.1265, otra: 0.0198</a:t>
            </a:r>
          </a:p>
        </p:txBody>
      </p:sp>
      <p:sp>
        <p:nvSpPr>
          <p:cNvPr id="12" name="">
            <a:extLst xmlns:a="http://schemas.openxmlformats.org/drawingml/2006/main">
              <a:ext uri="{FF2B5EF4-FFF2-40B4-BE49-F238E27FC236}">
                <a16:creationId xmlns:a16="http://schemas.microsoft.com/office/drawing/2014/main" id="{B456FC4F-34B3-4A54-8D19-B2E3DA575490}"/>
              </a:ext>
            </a:extLst>
          </p:cNvPr>
          <p:cNvSpPr>
            <a:spLocks xmlns:a="http://schemas.openxmlformats.org/drawingml/2006/main" noGrp="1"/>
          </p:cNvSpPr>
          <p:nvPr/>
        </p:nvSpPr>
        <p:spPr>
          <a:xfrm xmlns:a="http://schemas.openxmlformats.org/drawingml/2006/main">
            <a:off x="762000" y="60102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Una variable no observada se omite del diccionario.</a:t>
            </a:r>
          </a:p>
        </p:txBody>
      </p:sp>
    </p:spTree>
    <p:extLst>
      <p:ext uri="{BB962C8B-B14F-4D97-AF65-F5344CB8AC3E}">
        <p14:creationId xmlns:p14="http://schemas.microsoft.com/office/powerpoint/2010/main" val="172189652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Diagnóstico bayesiano · PROVISIONAL</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29</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D96B18"/>
                </a:solidFill>
                <a:latin typeface="Arial"/>
                <a:ea typeface="Arial"/>
                <a:cs typeface="Arial"/>
              </a:defRPr>
            </a:pPr>
            <a:r>
              <a:rPr sz="3000" b="0">
                <a:solidFill>
                  <a:srgbClr val="D96B18"/>
                </a:solidFill>
                <a:latin typeface="Arial"/>
                <a:ea typeface="Arial"/>
                <a:cs typeface="Arial"/>
              </a:rPr>
              <a:t>Una biblioteca para redes más generales</a:t>
            </a:r>
          </a:p>
        </p:txBody>
      </p:sp>
      <p:sp>
        <p:nvSpPr>
          <p:cNvPr id="9" name="">
            <a:extLst xmlns:a="http://schemas.openxmlformats.org/drawingml/2006/main">
              <a:ext uri="{FF2B5EF4-FFF2-40B4-BE49-F238E27FC236}">
                <a16:creationId xmlns:a16="http://schemas.microsoft.com/office/drawing/2014/main" id="{A07FAF54-C34E-487E-A90F-4DC6FAE085BA}"/>
              </a:ext>
            </a:extLst>
          </p:cNvPr>
          <p:cNvSpPr>
            <a:spLocks xmlns:a="http://schemas.openxmlformats.org/drawingml/2006/main" noGrp="1"/>
          </p:cNvSpPr>
          <p:nvPr/>
        </p:nvSpPr>
        <p:spPr>
          <a:xfrm xmlns:a="http://schemas.openxmlformats.org/drawingml/2006/main">
            <a:off x="762000" y="13811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AD414C"/>
                </a:solidFill>
                <a:latin typeface="Arial"/>
                <a:ea typeface="Arial"/>
                <a:cs typeface="Arial"/>
              </a:defRPr>
            </a:pPr>
            <a:r>
              <a:rPr sz="1500" b="1">
                <a:solidFill>
                  <a:srgbClr val="AD414C"/>
                </a:solidFill>
                <a:latin typeface="Arial"/>
                <a:ea typeface="Arial"/>
                <a:cs typeface="Arial"/>
              </a:rPr>
              <a:t>DISEÑO E IMPLEMENTACIÓN</a:t>
            </a:r>
          </a:p>
        </p:txBody>
      </p:sp>
      <p:sp>
        <p:nvSpPr>
          <p:cNvPr id="10" name="">
            <a:extLst xmlns:a="http://schemas.openxmlformats.org/drawingml/2006/main">
              <a:ext uri="{FF2B5EF4-FFF2-40B4-BE49-F238E27FC236}">
                <a16:creationId xmlns:a16="http://schemas.microsoft.com/office/drawing/2014/main" id="{C40D49C2-3B8E-4EE8-882D-4403CFB5EBEA}"/>
              </a:ext>
            </a:extLst>
          </p:cNvPr>
          <p:cNvSpPr>
            <a:spLocks xmlns:a="http://schemas.openxmlformats.org/drawingml/2006/main" noGrp="1"/>
          </p:cNvSpPr>
          <p:nvPr/>
        </p:nvSpPr>
        <p:spPr>
          <a:xfrm xmlns:a="http://schemas.openxmlformats.org/drawingml/2006/main">
            <a:off x="762000" y="1724025"/>
            <a:ext cx="10668000" cy="28575"/>
          </a:xfrm>
          <a:prstGeom xmlns:a="http://schemas.openxmlformats.org/drawingml/2006/main" prst="rect">
            <a:avLst/>
          </a:prstGeom>
          <a:solidFill xmlns:a="http://schemas.openxmlformats.org/drawingml/2006/main">
            <a:srgbClr val="AD414C"/>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F7FD2E6A-DF08-4BB9-80DD-39B7E0065BA0}"/>
              </a:ext>
            </a:extLst>
          </p:cNvPr>
          <p:cNvSpPr>
            <a:spLocks xmlns:a="http://schemas.openxmlformats.org/drawingml/2006/main" noGrp="1"/>
          </p:cNvSpPr>
          <p:nvPr/>
        </p:nvSpPr>
        <p:spPr>
          <a:xfrm xmlns:a="http://schemas.openxmlformats.org/drawingml/2006/main">
            <a:off x="762000" y="198120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D96B18"/>
                </a:solidFill>
                <a:latin typeface="Arial"/>
                <a:ea typeface="Arial"/>
                <a:cs typeface="Arial"/>
              </a:defRPr>
            </a:pPr>
            <a:r>
              <a:rPr sz="2250" b="1">
                <a:solidFill>
                  <a:srgbClr val="D96B18"/>
                </a:solidFill>
                <a:latin typeface="Arial"/>
                <a:ea typeface="Arial"/>
                <a:cs typeface="Arial"/>
              </a:rPr>
              <a:t>Modelo</a:t>
            </a:r>
          </a:p>
        </p:txBody>
      </p:sp>
      <p:sp>
        <p:nvSpPr>
          <p:cNvPr id="12" name="">
            <a:extLst xmlns:a="http://schemas.openxmlformats.org/drawingml/2006/main">
              <a:ext uri="{FF2B5EF4-FFF2-40B4-BE49-F238E27FC236}">
                <a16:creationId xmlns:a16="http://schemas.microsoft.com/office/drawing/2014/main" id="{EC079B12-EE14-44B6-93FF-DCAB5A80823C}"/>
              </a:ext>
            </a:extLst>
          </p:cNvPr>
          <p:cNvSpPr>
            <a:spLocks xmlns:a="http://schemas.openxmlformats.org/drawingml/2006/main" noGrp="1"/>
          </p:cNvSpPr>
          <p:nvPr/>
        </p:nvSpPr>
        <p:spPr>
          <a:xfrm xmlns:a="http://schemas.openxmlformats.org/drawingml/2006/main">
            <a:off x="762000" y="24193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DiscreteBayesianNetwork define el grafo. TabularCPD define sus tablas.</a:t>
            </a:r>
          </a:p>
        </p:txBody>
      </p:sp>
      <p:sp>
        <p:nvSpPr>
          <p:cNvPr id="13" name="">
            <a:extLst xmlns:a="http://schemas.openxmlformats.org/drawingml/2006/main">
              <a:ext uri="{FF2B5EF4-FFF2-40B4-BE49-F238E27FC236}">
                <a16:creationId xmlns:a16="http://schemas.microsoft.com/office/drawing/2014/main" id="{6DADDC6C-9FBD-4D7D-9E18-6F07C765F267}"/>
              </a:ext>
            </a:extLst>
          </p:cNvPr>
          <p:cNvSpPr>
            <a:spLocks xmlns:a="http://schemas.openxmlformats.org/drawingml/2006/main" noGrp="1"/>
          </p:cNvSpPr>
          <p:nvPr/>
        </p:nvSpPr>
        <p:spPr>
          <a:xfrm xmlns:a="http://schemas.openxmlformats.org/drawingml/2006/main">
            <a:off x="762000" y="3133725"/>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D96B18"/>
                </a:solidFill>
                <a:latin typeface="Arial"/>
                <a:ea typeface="Arial"/>
                <a:cs typeface="Arial"/>
              </a:defRPr>
            </a:pPr>
            <a:r>
              <a:rPr sz="2250" b="1">
                <a:solidFill>
                  <a:srgbClr val="D96B18"/>
                </a:solidFill>
                <a:latin typeface="Arial"/>
                <a:ea typeface="Arial"/>
                <a:cs typeface="Arial"/>
              </a:rPr>
              <a:t>Comprobación</a:t>
            </a:r>
          </a:p>
        </p:txBody>
      </p:sp>
      <p:sp>
        <p:nvSpPr>
          <p:cNvPr id="14" name="">
            <a:extLst xmlns:a="http://schemas.openxmlformats.org/drawingml/2006/main">
              <a:ext uri="{FF2B5EF4-FFF2-40B4-BE49-F238E27FC236}">
                <a16:creationId xmlns:a16="http://schemas.microsoft.com/office/drawing/2014/main" id="{A632FC4B-5D5E-41BC-91B2-969DE6D58104}"/>
              </a:ext>
            </a:extLst>
          </p:cNvPr>
          <p:cNvSpPr>
            <a:spLocks xmlns:a="http://schemas.openxmlformats.org/drawingml/2006/main" noGrp="1"/>
          </p:cNvSpPr>
          <p:nvPr/>
        </p:nvSpPr>
        <p:spPr>
          <a:xfrm xmlns:a="http://schemas.openxmlformats.org/drawingml/2006/main">
            <a:off x="762000" y="357187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check_model() verifica coherencia estructural de las tablas.</a:t>
            </a:r>
          </a:p>
        </p:txBody>
      </p:sp>
      <p:sp>
        <p:nvSpPr>
          <p:cNvPr id="15" name="">
            <a:extLst xmlns:a="http://schemas.openxmlformats.org/drawingml/2006/main">
              <a:ext uri="{FF2B5EF4-FFF2-40B4-BE49-F238E27FC236}">
                <a16:creationId xmlns:a16="http://schemas.microsoft.com/office/drawing/2014/main" id="{DDFA1946-88CC-40C8-BE0D-71F0AC1C36BC}"/>
              </a:ext>
            </a:extLst>
          </p:cNvPr>
          <p:cNvSpPr>
            <a:spLocks xmlns:a="http://schemas.openxmlformats.org/drawingml/2006/main" noGrp="1"/>
          </p:cNvSpPr>
          <p:nvPr/>
        </p:nvSpPr>
        <p:spPr>
          <a:xfrm xmlns:a="http://schemas.openxmlformats.org/drawingml/2006/main">
            <a:off x="762000" y="4400550"/>
            <a:ext cx="106680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233746"/>
                </a:solidFill>
                <a:latin typeface="Consolas"/>
                <a:ea typeface="Consolas"/>
                <a:cs typeface="Consolas"/>
              </a:defRPr>
            </a:pPr>
            <a:r>
              <a:rPr sz="1875" b="0">
                <a:solidFill>
                  <a:srgbClr val="233746"/>
                </a:solidFill>
                <a:latin typeface="Consolas"/>
                <a:ea typeface="Consolas"/>
                <a:cs typeface="Consolas"/>
              </a:rPr>
              <a:t>motor = VariableElimination(modelo)</a:t>
            </a:r>
          </a:p>
          <a:p xmlns:a="http://schemas.openxmlformats.org/drawingml/2006/main">
            <a:pPr>
              <a:buNone/>
              <a:defRPr sz="1875" b="0">
                <a:solidFill>
                  <a:srgbClr val="233746"/>
                </a:solidFill>
                <a:latin typeface="Consolas"/>
                <a:ea typeface="Consolas"/>
                <a:cs typeface="Consolas"/>
              </a:defRPr>
            </a:pPr>
            <a:r>
              <a:rPr sz="1875" b="0">
                <a:solidFill>
                  <a:srgbClr val="233746"/>
                </a:solidFill>
                <a:latin typeface="Consolas"/>
                <a:ea typeface="Consolas"/>
                <a:cs typeface="Consolas"/>
              </a:rPr>
              <a:t>q = motor.query(</a:t>
            </a:r>
          </a:p>
          <a:p xmlns:a="http://schemas.openxmlformats.org/drawingml/2006/main">
            <a:pPr>
              <a:buNone/>
              <a:defRPr sz="1875" b="0">
                <a:solidFill>
                  <a:srgbClr val="233746"/>
                </a:solidFill>
                <a:latin typeface="Consolas"/>
                <a:ea typeface="Consolas"/>
                <a:cs typeface="Consolas"/>
              </a:defRPr>
            </a:pPr>
            <a:r>
              <a:rPr sz="1875" b="0">
                <a:solidFill>
                  <a:srgbClr val="233746"/>
                </a:solidFill>
                <a:latin typeface="Consolas"/>
                <a:ea typeface="Consolas"/>
                <a:cs typeface="Consolas"/>
              </a:rPr>
              <a:t>    variables=["H"], evidence={"Q": "si", "V": "si"}</a:t>
            </a:r>
          </a:p>
          <a:p xmlns:a="http://schemas.openxmlformats.org/drawingml/2006/main">
            <a:pPr>
              <a:buNone/>
              <a:defRPr sz="1875" b="0">
                <a:solidFill>
                  <a:srgbClr val="233746"/>
                </a:solidFill>
                <a:latin typeface="Consolas"/>
                <a:ea typeface="Consolas"/>
                <a:cs typeface="Consolas"/>
              </a:defRPr>
            </a:pPr>
            <a:r>
              <a:rPr sz="1875" b="0">
                <a:solidFill>
                  <a:srgbClr val="233746"/>
                </a:solidFill>
                <a:latin typeface="Consolas"/>
                <a:ea typeface="Consolas"/>
                <a:cs typeface="Consolas"/>
              </a:rPr>
              <a:t>)</a:t>
            </a:r>
          </a:p>
        </p:txBody>
      </p:sp>
      <p:sp>
        <p:nvSpPr>
          <p:cNvPr id="16" name="">
            <a:extLst xmlns:a="http://schemas.openxmlformats.org/drawingml/2006/main">
              <a:ext uri="{FF2B5EF4-FFF2-40B4-BE49-F238E27FC236}">
                <a16:creationId xmlns:a16="http://schemas.microsoft.com/office/drawing/2014/main" id="{E727313B-3618-4610-8C27-E3AA205DC9AF}"/>
              </a:ext>
            </a:extLst>
          </p:cNvPr>
          <p:cNvSpPr>
            <a:spLocks xmlns:a="http://schemas.openxmlformats.org/drawingml/2006/main" noGrp="1"/>
          </p:cNvSpPr>
          <p:nvPr/>
        </p:nvSpPr>
        <p:spPr>
          <a:xfrm xmlns:a="http://schemas.openxmlformats.org/drawingml/2006/main">
            <a:off x="762000" y="60102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Ejemplo de API de pgmpy. Las tablas y nombres de estado deben estar definidos.</a:t>
            </a:r>
          </a:p>
        </p:txBody>
      </p:sp>
    </p:spTree>
    <p:extLst>
      <p:ext uri="{BB962C8B-B14F-4D97-AF65-F5344CB8AC3E}">
        <p14:creationId xmlns:p14="http://schemas.microsoft.com/office/powerpoint/2010/main" val="172189652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Diagnóstico bayesiano · PROVISIONAL</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30</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D96B18"/>
                </a:solidFill>
                <a:latin typeface="Arial"/>
                <a:ea typeface="Arial"/>
                <a:cs typeface="Arial"/>
              </a:defRPr>
            </a:pPr>
            <a:r>
              <a:rPr sz="3000" b="0">
                <a:solidFill>
                  <a:srgbClr val="D96B18"/>
                </a:solidFill>
                <a:latin typeface="Arial"/>
                <a:ea typeface="Arial"/>
                <a:cs typeface="Arial"/>
              </a:rPr>
              <a:t>La interfaz conserva el significado de la evidencia</a:t>
            </a:r>
          </a:p>
        </p:txBody>
      </p:sp>
      <p:sp>
        <p:nvSpPr>
          <p:cNvPr id="9" name="">
            <a:extLst xmlns:a="http://schemas.openxmlformats.org/drawingml/2006/main">
              <a:ext uri="{FF2B5EF4-FFF2-40B4-BE49-F238E27FC236}">
                <a16:creationId xmlns:a16="http://schemas.microsoft.com/office/drawing/2014/main" id="{7594D777-DC44-40CD-ACAD-7C8D1B40C207}"/>
              </a:ext>
            </a:extLst>
          </p:cNvPr>
          <p:cNvSpPr>
            <a:spLocks xmlns:a="http://schemas.openxmlformats.org/drawingml/2006/main" noGrp="1"/>
          </p:cNvSpPr>
          <p:nvPr/>
        </p:nvSpPr>
        <p:spPr>
          <a:xfrm xmlns:a="http://schemas.openxmlformats.org/drawingml/2006/main">
            <a:off x="762000" y="13811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AD414C"/>
                </a:solidFill>
                <a:latin typeface="Arial"/>
                <a:ea typeface="Arial"/>
                <a:cs typeface="Arial"/>
              </a:defRPr>
            </a:pPr>
            <a:r>
              <a:rPr sz="1500" b="1">
                <a:solidFill>
                  <a:srgbClr val="AD414C"/>
                </a:solidFill>
                <a:latin typeface="Arial"/>
                <a:ea typeface="Arial"/>
                <a:cs typeface="Arial"/>
              </a:rPr>
              <a:t>DISEÑO E IMPLEMENTACIÓN</a:t>
            </a:r>
          </a:p>
        </p:txBody>
      </p:sp>
      <p:sp>
        <p:nvSpPr>
          <p:cNvPr id="10" name="">
            <a:extLst xmlns:a="http://schemas.openxmlformats.org/drawingml/2006/main">
              <a:ext uri="{FF2B5EF4-FFF2-40B4-BE49-F238E27FC236}">
                <a16:creationId xmlns:a16="http://schemas.microsoft.com/office/drawing/2014/main" id="{F67F5FF2-5BC9-4C86-BCC4-8D27D10A57AB}"/>
              </a:ext>
            </a:extLst>
          </p:cNvPr>
          <p:cNvSpPr>
            <a:spLocks xmlns:a="http://schemas.openxmlformats.org/drawingml/2006/main" noGrp="1"/>
          </p:cNvSpPr>
          <p:nvPr/>
        </p:nvSpPr>
        <p:spPr>
          <a:xfrm xmlns:a="http://schemas.openxmlformats.org/drawingml/2006/main">
            <a:off x="762000" y="1724025"/>
            <a:ext cx="10668000" cy="28575"/>
          </a:xfrm>
          <a:prstGeom xmlns:a="http://schemas.openxmlformats.org/drawingml/2006/main" prst="rect">
            <a:avLst/>
          </a:prstGeom>
          <a:solidFill xmlns:a="http://schemas.openxmlformats.org/drawingml/2006/main">
            <a:srgbClr val="AD414C"/>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graphicFrame>
        <p:nvGraphicFramePr>
          <p:cNvPr id="23" name=""/>
          <p:cNvGraphicFramePr/>
          <p:nvPr/>
        </p:nvGraphicFramePr>
        <p:xfrm>
          <a:off xmlns:a="http://schemas.openxmlformats.org/drawingml/2006/main" x="762000" y="2066925"/>
          <a:ext xmlns:a="http://schemas.openxmlformats.org/drawingml/2006/main" cx="10668000" cy="2162175"/>
        </p:xfrm>
        <a:graphic xmlns:a="http://schemas.openxmlformats.org/drawingml/2006/main">
          <a:graphicData uri="http://schemas.openxmlformats.org/drawingml/2006/table">
            <a:tbl>
              <a:tblPr/>
              <a:tblGrid>
                <a:gridCol w="5334000"/>
                <a:gridCol w="5334000"/>
              </a:tblGrid>
              <a:tr h="720725">
                <a:tc>
                  <a:txBody>
                    <a:bodyPr lIns="95250" tIns="76200" rIns="95250" bIns="76200"/>
                    <a:lstStyle/>
                    <a:p>
                      <a:pPr algn="ctr">
                        <a:buNone/>
                      </a:pPr>
                      <a:r>
                        <a:rPr sz="2250" b="1">
                          <a:solidFill>
                            <a:srgbClr val="2162A0"/>
                          </a:solidFill>
                          <a:latin typeface="Arial"/>
                          <a:ea typeface="Arial"/>
                          <a:cs typeface="Arial"/>
                        </a:rPr>
                        <a:t>Pregunta</a:t>
                      </a:r>
                    </a:p>
                  </a:txBody>
                  <a:tcPr marL="91440" marR="91440" marT="45720" marB="45720" anchor="ctr">
                    <a:solidFill>
                      <a:srgbClr val="E8EFF5"/>
                    </a:solidFill>
                  </a:tcPr>
                </a:tc>
                <a:tc>
                  <a:txBody>
                    <a:bodyPr lIns="95250" tIns="76200" rIns="95250" bIns="76200"/>
                    <a:lstStyle/>
                    <a:p>
                      <a:pPr algn="ctr">
                        <a:buNone/>
                      </a:pPr>
                      <a:r>
                        <a:rPr sz="2250" b="1">
                          <a:solidFill>
                            <a:srgbClr val="2162A0"/>
                          </a:solidFill>
                          <a:latin typeface="Arial"/>
                          <a:ea typeface="Arial"/>
                          <a:cs typeface="Arial"/>
                        </a:rPr>
                        <a:t>Opciones de entrada</a:t>
                      </a:r>
                    </a:p>
                  </a:txBody>
                  <a:tcPr marL="91440" marR="91440" marT="45720" marB="45720" anchor="ctr">
                    <a:solidFill>
                      <a:srgbClr val="E8EFF5"/>
                    </a:solidFill>
                  </a:tcPr>
                </a:tc>
              </a:tr>
              <a:tr h="720725">
                <a:tc>
                  <a:txBody>
                    <a:bodyPr lIns="95250" tIns="76200" rIns="95250" bIns="76200"/>
                    <a:lstStyle/>
                    <a:p>
                      <a:pPr algn="ctr">
                        <a:buNone/>
                      </a:pPr>
                      <a:r>
                        <a:rPr sz="2250" b="0">
                          <a:solidFill>
                            <a:srgbClr val="233746"/>
                          </a:solidFill>
                          <a:latin typeface="Arial"/>
                          <a:ea typeface="Arial"/>
                          <a:cs typeface="Arial"/>
                        </a:rPr>
                        <a:t>¿El caudal es bajo?</a:t>
                      </a:r>
                    </a:p>
                  </a:txBody>
                  <a:tcPr marL="91440" marR="91440" marT="45720" marB="45720" anchor="ctr">
                    <a:solidFill>
                      <a:srgbClr val="FFFFFF"/>
                    </a:solidFill>
                  </a:tcPr>
                </a:tc>
                <a:tc>
                  <a:txBody>
                    <a:bodyPr lIns="95250" tIns="76200" rIns="95250" bIns="76200"/>
                    <a:lstStyle/>
                    <a:p>
                      <a:pPr algn="ctr">
                        <a:buNone/>
                      </a:pPr>
                      <a:r>
                        <a:rPr sz="2250" b="0">
                          <a:solidFill>
                            <a:srgbClr val="233746"/>
                          </a:solidFill>
                          <a:latin typeface="Arial"/>
                          <a:ea typeface="Arial"/>
                          <a:cs typeface="Arial"/>
                        </a:rPr>
                        <a:t>Sí / No / No observado</a:t>
                      </a:r>
                    </a:p>
                  </a:txBody>
                  <a:tcPr marL="91440" marR="91440" marT="45720" marB="45720" anchor="ctr">
                    <a:solidFill>
                      <a:srgbClr val="FFFFFF"/>
                    </a:solidFill>
                  </a:tcPr>
                </a:tc>
              </a:tr>
              <a:tr h="720725">
                <a:tc>
                  <a:txBody>
                    <a:bodyPr lIns="95250" tIns="76200" rIns="95250" bIns="76200"/>
                    <a:lstStyle/>
                    <a:p>
                      <a:pPr algn="ctr">
                        <a:buNone/>
                      </a:pPr>
                      <a:r>
                        <a:rPr sz="2250" b="0">
                          <a:solidFill>
                            <a:srgbClr val="233746"/>
                          </a:solidFill>
                          <a:latin typeface="Arial"/>
                          <a:ea typeface="Arial"/>
                          <a:cs typeface="Arial"/>
                        </a:rPr>
                        <a:t>¿La vibración es alta?</a:t>
                      </a:r>
                    </a:p>
                  </a:txBody>
                  <a:tcPr marL="91440" marR="91440" marT="45720" marB="45720" anchor="ctr">
                    <a:solidFill>
                      <a:srgbClr val="F5F7F9"/>
                    </a:solidFill>
                  </a:tcPr>
                </a:tc>
                <a:tc>
                  <a:txBody>
                    <a:bodyPr lIns="95250" tIns="76200" rIns="95250" bIns="76200"/>
                    <a:lstStyle/>
                    <a:p>
                      <a:pPr algn="ctr">
                        <a:buNone/>
                      </a:pPr>
                      <a:r>
                        <a:rPr sz="2250" b="0">
                          <a:solidFill>
                            <a:srgbClr val="233746"/>
                          </a:solidFill>
                          <a:latin typeface="Arial"/>
                          <a:ea typeface="Arial"/>
                          <a:cs typeface="Arial"/>
                        </a:rPr>
                        <a:t>Sí / No / No observado</a:t>
                      </a:r>
                    </a:p>
                  </a:txBody>
                  <a:tcPr marL="91440" marR="91440" marT="45720" marB="45720" anchor="ctr">
                    <a:solidFill>
                      <a:srgbClr val="F5F7F9"/>
                    </a:solidFill>
                  </a:tcPr>
                </a:tc>
              </a:tr>
            </a:tbl>
          </a:graphicData>
        </a:graphic>
      </p:graphicFrame>
      <p:sp>
        <p:nvSpPr>
          <p:cNvPr id="12" name="">
            <a:extLst xmlns:a="http://schemas.openxmlformats.org/drawingml/2006/main">
              <a:ext uri="{FF2B5EF4-FFF2-40B4-BE49-F238E27FC236}">
                <a16:creationId xmlns:a16="http://schemas.microsoft.com/office/drawing/2014/main" id="{96F4F5CB-7FF9-4894-A7E5-625B80E3ACAB}"/>
              </a:ext>
            </a:extLst>
          </p:cNvPr>
          <p:cNvSpPr>
            <a:spLocks xmlns:a="http://schemas.openxmlformats.org/drawingml/2006/main" noGrp="1"/>
          </p:cNvSpPr>
          <p:nvPr/>
        </p:nvSpPr>
        <p:spPr>
          <a:xfrm xmlns:a="http://schemas.openxmlformats.org/drawingml/2006/main">
            <a:off x="762000" y="459105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00" b="0">
                <a:solidFill>
                  <a:srgbClr val="233746"/>
                </a:solidFill>
                <a:latin typeface="Arial"/>
                <a:ea typeface="Arial"/>
                <a:cs typeface="Arial"/>
              </a:defRPr>
            </a:pPr>
            <a:r>
              <a:rPr sz="2400" b="0">
                <a:solidFill>
                  <a:srgbClr val="233746"/>
                </a:solidFill>
                <a:latin typeface="Arial"/>
                <a:ea typeface="Arial"/>
                <a:cs typeface="Arial"/>
              </a:rPr>
              <a:t>Salida: probabilidades de todas las causas y observaciones utilizadas.</a:t>
            </a:r>
          </a:p>
        </p:txBody>
      </p:sp>
      <p:sp>
        <p:nvSpPr>
          <p:cNvPr id="13" name="">
            <a:extLst xmlns:a="http://schemas.openxmlformats.org/drawingml/2006/main">
              <a:ext uri="{FF2B5EF4-FFF2-40B4-BE49-F238E27FC236}">
                <a16:creationId xmlns:a16="http://schemas.microsoft.com/office/drawing/2014/main" id="{DA7D43A9-E7C9-4E3E-8EDD-C2388F0625E6}"/>
              </a:ext>
            </a:extLst>
          </p:cNvPr>
          <p:cNvSpPr>
            <a:spLocks xmlns:a="http://schemas.openxmlformats.org/drawingml/2006/main" noGrp="1"/>
          </p:cNvSpPr>
          <p:nvPr/>
        </p:nvSpPr>
        <p:spPr>
          <a:xfrm xmlns:a="http://schemas.openxmlformats.org/drawingml/2006/main">
            <a:off x="762000" y="60102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Al cambiar una respuesta, recalculamos con el conjunto actual de observaciones.</a:t>
            </a:r>
          </a:p>
        </p:txBody>
      </p:sp>
    </p:spTree>
    <p:extLst>
      <p:ext uri="{BB962C8B-B14F-4D97-AF65-F5344CB8AC3E}">
        <p14:creationId xmlns:p14="http://schemas.microsoft.com/office/powerpoint/2010/main" val="1721896526"/>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Diagnóstico bayesiano · PROVISIONAL</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31</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D96B18"/>
                </a:solidFill>
                <a:latin typeface="Arial"/>
                <a:ea typeface="Arial"/>
                <a:cs typeface="Arial"/>
              </a:defRPr>
            </a:pPr>
            <a:r>
              <a:rPr sz="3000" b="0">
                <a:solidFill>
                  <a:srgbClr val="D96B18"/>
                </a:solidFill>
                <a:latin typeface="Arial"/>
                <a:ea typeface="Arial"/>
                <a:cs typeface="Arial"/>
              </a:rPr>
              <a:t>MVC: los eventos activan el diagnóstico</a:t>
            </a:r>
          </a:p>
        </p:txBody>
      </p:sp>
      <p:sp>
        <p:nvSpPr>
          <p:cNvPr id="9" name="">
            <a:extLst xmlns:a="http://schemas.openxmlformats.org/drawingml/2006/main">
              <a:ext uri="{FF2B5EF4-FFF2-40B4-BE49-F238E27FC236}">
                <a16:creationId xmlns:a16="http://schemas.microsoft.com/office/drawing/2014/main" id="{F609ED77-ABD1-448D-A2C8-F57527C95BBC}"/>
              </a:ext>
            </a:extLst>
          </p:cNvPr>
          <p:cNvSpPr>
            <a:spLocks xmlns:a="http://schemas.openxmlformats.org/drawingml/2006/main" noGrp="1"/>
          </p:cNvSpPr>
          <p:nvPr/>
        </p:nvSpPr>
        <p:spPr>
          <a:xfrm xmlns:a="http://schemas.openxmlformats.org/drawingml/2006/main">
            <a:off x="762000" y="13811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AD414C"/>
                </a:solidFill>
                <a:latin typeface="Arial"/>
                <a:ea typeface="Arial"/>
                <a:cs typeface="Arial"/>
              </a:defRPr>
            </a:pPr>
            <a:r>
              <a:rPr sz="1500" b="1">
                <a:solidFill>
                  <a:srgbClr val="AD414C"/>
                </a:solidFill>
                <a:latin typeface="Arial"/>
                <a:ea typeface="Arial"/>
                <a:cs typeface="Arial"/>
              </a:rPr>
              <a:t>DISEÑO E IMPLEMENTACIÓN</a:t>
            </a:r>
          </a:p>
        </p:txBody>
      </p:sp>
      <p:sp>
        <p:nvSpPr>
          <p:cNvPr id="10" name="">
            <a:extLst xmlns:a="http://schemas.openxmlformats.org/drawingml/2006/main">
              <a:ext uri="{FF2B5EF4-FFF2-40B4-BE49-F238E27FC236}">
                <a16:creationId xmlns:a16="http://schemas.microsoft.com/office/drawing/2014/main" id="{9BB293D5-6F8B-4CE9-9EF9-9C498BC7266D}"/>
              </a:ext>
            </a:extLst>
          </p:cNvPr>
          <p:cNvSpPr>
            <a:spLocks xmlns:a="http://schemas.openxmlformats.org/drawingml/2006/main" noGrp="1"/>
          </p:cNvSpPr>
          <p:nvPr/>
        </p:nvSpPr>
        <p:spPr>
          <a:xfrm xmlns:a="http://schemas.openxmlformats.org/drawingml/2006/main">
            <a:off x="762000" y="1724025"/>
            <a:ext cx="10668000" cy="28575"/>
          </a:xfrm>
          <a:prstGeom xmlns:a="http://schemas.openxmlformats.org/drawingml/2006/main" prst="rect">
            <a:avLst/>
          </a:prstGeom>
          <a:solidFill xmlns:a="http://schemas.openxmlformats.org/drawingml/2006/main">
            <a:srgbClr val="AD414C"/>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EA13BA58-3F43-4A98-B044-766175DEA1CA}"/>
              </a:ext>
            </a:extLst>
          </p:cNvPr>
          <p:cNvSpPr>
            <a:spLocks xmlns:a="http://schemas.openxmlformats.org/drawingml/2006/main" noGrp="1"/>
          </p:cNvSpPr>
          <p:nvPr/>
        </p:nvSpPr>
        <p:spPr>
          <a:xfrm xmlns:a="http://schemas.openxmlformats.org/drawingml/2006/main">
            <a:off x="762000" y="2505075"/>
            <a:ext cx="2714625" cy="1152525"/>
          </a:xfrm>
          <a:prstGeom xmlns:a="http://schemas.openxmlformats.org/drawingml/2006/main" prst="rect">
            <a:avLst/>
          </a:prstGeom>
          <a:solidFill xmlns:a="http://schemas.openxmlformats.org/drawingml/2006/main">
            <a:srgbClr val="FFFFFF"/>
          </a:solidFill>
          <a:ln xmlns:a="http://schemas.openxmlformats.org/drawingml/2006/main" w="19050">
            <a:solidFill>
              <a:srgbClr val="7950A0"/>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2025">
                <a:solidFill>
                  <a:srgbClr val="233746"/>
                </a:solidFill>
                <a:latin typeface="Arial"/>
                <a:ea typeface="Arial"/>
                <a:cs typeface="Arial"/>
              </a:defRPr>
            </a:pPr>
            <a:r>
              <a:rPr sz="2025">
                <a:solidFill>
                  <a:srgbClr val="233746"/>
                </a:solidFill>
                <a:latin typeface="Arial"/>
                <a:ea typeface="Arial"/>
                <a:cs typeface="Arial"/>
              </a:rPr>
              <a:t>Vista</a:t>
            </a:r>
          </a:p>
          <a:p xmlns:a="http://schemas.openxmlformats.org/drawingml/2006/main">
            <a:pPr algn="ctr">
              <a:buNone/>
              <a:defRPr sz="2025">
                <a:solidFill>
                  <a:srgbClr val="233746"/>
                </a:solidFill>
                <a:latin typeface="Arial"/>
                <a:ea typeface="Arial"/>
                <a:cs typeface="Arial"/>
              </a:defRPr>
            </a:pPr>
            <a:r>
              <a:rPr sz="2025">
                <a:solidFill>
                  <a:srgbClr val="233746"/>
                </a:solidFill>
                <a:latin typeface="Arial"/>
                <a:ea typeface="Arial"/>
                <a:cs typeface="Arial"/>
              </a:rPr>
              <a:t>Emite «Calcular»</a:t>
            </a:r>
          </a:p>
        </p:txBody>
      </p:sp>
      <p:sp>
        <p:nvSpPr>
          <p:cNvPr id="12" name="">
            <a:extLst xmlns:a="http://schemas.openxmlformats.org/drawingml/2006/main">
              <a:ext uri="{FF2B5EF4-FFF2-40B4-BE49-F238E27FC236}">
                <a16:creationId xmlns:a16="http://schemas.microsoft.com/office/drawing/2014/main" id="{8BEFD45E-90BD-4AFB-87EC-728F473227DE}"/>
              </a:ext>
            </a:extLst>
          </p:cNvPr>
          <p:cNvSpPr>
            <a:spLocks xmlns:a="http://schemas.openxmlformats.org/drawingml/2006/main" noGrp="1"/>
          </p:cNvSpPr>
          <p:nvPr/>
        </p:nvSpPr>
        <p:spPr>
          <a:xfrm xmlns:a="http://schemas.openxmlformats.org/drawingml/2006/main">
            <a:off x="4695825" y="2505075"/>
            <a:ext cx="2714625" cy="1152525"/>
          </a:xfrm>
          <a:prstGeom xmlns:a="http://schemas.openxmlformats.org/drawingml/2006/main" prst="rect">
            <a:avLst/>
          </a:prstGeom>
          <a:solidFill xmlns:a="http://schemas.openxmlformats.org/drawingml/2006/main">
            <a:srgbClr val="FFFFFF"/>
          </a:solidFill>
          <a:ln xmlns:a="http://schemas.openxmlformats.org/drawingml/2006/main" w="19050">
            <a:solidFill>
              <a:srgbClr val="7950A0"/>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2025">
                <a:solidFill>
                  <a:srgbClr val="233746"/>
                </a:solidFill>
                <a:latin typeface="Arial"/>
                <a:ea typeface="Arial"/>
                <a:cs typeface="Arial"/>
              </a:defRPr>
            </a:pPr>
            <a:r>
              <a:rPr sz="2025">
                <a:solidFill>
                  <a:srgbClr val="233746"/>
                </a:solidFill>
                <a:latin typeface="Arial"/>
                <a:ea typeface="Arial"/>
                <a:cs typeface="Arial"/>
              </a:rPr>
              <a:t>Controlador</a:t>
            </a:r>
          </a:p>
          <a:p xmlns:a="http://schemas.openxmlformats.org/drawingml/2006/main">
            <a:pPr algn="ctr">
              <a:buNone/>
              <a:defRPr sz="2025">
                <a:solidFill>
                  <a:srgbClr val="233746"/>
                </a:solidFill>
                <a:latin typeface="Arial"/>
                <a:ea typeface="Arial"/>
                <a:cs typeface="Arial"/>
              </a:defRPr>
            </a:pPr>
            <a:r>
              <a:rPr sz="2025">
                <a:solidFill>
                  <a:srgbClr val="233746"/>
                </a:solidFill>
                <a:latin typeface="Arial"/>
                <a:ea typeface="Arial"/>
                <a:cs typeface="Arial"/>
              </a:rPr>
              <a:t>Atiende el evento</a:t>
            </a:r>
          </a:p>
        </p:txBody>
      </p:sp>
      <p:sp>
        <p:nvSpPr>
          <p:cNvPr id="13" name="">
            <a:extLst xmlns:a="http://schemas.openxmlformats.org/drawingml/2006/main">
              <a:ext uri="{FF2B5EF4-FFF2-40B4-BE49-F238E27FC236}">
                <a16:creationId xmlns:a16="http://schemas.microsoft.com/office/drawing/2014/main" id="{FA2025F3-6ECD-4878-8F9C-EC974367D759}"/>
              </a:ext>
            </a:extLst>
          </p:cNvPr>
          <p:cNvSpPr>
            <a:spLocks xmlns:a="http://schemas.openxmlformats.org/drawingml/2006/main" noGrp="1"/>
          </p:cNvSpPr>
          <p:nvPr/>
        </p:nvSpPr>
        <p:spPr>
          <a:xfrm xmlns:a="http://schemas.openxmlformats.org/drawingml/2006/main">
            <a:off x="8629650" y="2505075"/>
            <a:ext cx="2762250" cy="1152525"/>
          </a:xfrm>
          <a:prstGeom xmlns:a="http://schemas.openxmlformats.org/drawingml/2006/main" prst="rect">
            <a:avLst/>
          </a:prstGeom>
          <a:solidFill xmlns:a="http://schemas.openxmlformats.org/drawingml/2006/main">
            <a:srgbClr val="FFFFFF"/>
          </a:solidFill>
          <a:ln xmlns:a="http://schemas.openxmlformats.org/drawingml/2006/main" w="19050">
            <a:solidFill>
              <a:srgbClr val="7950A0"/>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2025">
                <a:solidFill>
                  <a:srgbClr val="233746"/>
                </a:solidFill>
                <a:latin typeface="Arial"/>
                <a:ea typeface="Arial"/>
                <a:cs typeface="Arial"/>
              </a:defRPr>
            </a:pPr>
            <a:r>
              <a:rPr sz="2025">
                <a:solidFill>
                  <a:srgbClr val="233746"/>
                </a:solidFill>
                <a:latin typeface="Arial"/>
                <a:ea typeface="Arial"/>
                <a:cs typeface="Arial"/>
              </a:rPr>
              <a:t>Modelo</a:t>
            </a:r>
          </a:p>
          <a:p xmlns:a="http://schemas.openxmlformats.org/drawingml/2006/main">
            <a:pPr algn="ctr">
              <a:buNone/>
              <a:defRPr sz="2025">
                <a:solidFill>
                  <a:srgbClr val="233746"/>
                </a:solidFill>
                <a:latin typeface="Arial"/>
                <a:ea typeface="Arial"/>
                <a:cs typeface="Arial"/>
              </a:defRPr>
            </a:pPr>
            <a:r>
              <a:rPr sz="2025">
                <a:solidFill>
                  <a:srgbClr val="233746"/>
                </a:solidFill>
                <a:latin typeface="Arial"/>
                <a:ea typeface="Arial"/>
                <a:cs typeface="Arial"/>
              </a:rPr>
              <a:t>Calcula P(H | E)</a:t>
            </a:r>
          </a:p>
        </p:txBody>
      </p:sp>
      <p:cxnSp>
        <p:nvCxnSpPr>
          <p:cNvPr id="57" name=""/>
          <p:cNvCxnSpPr>
            <a:stCxn xmlns:a="http://schemas.openxmlformats.org/drawingml/2006/main" id="11" idx="3"/>
            <a:endCxn xmlns:a="http://schemas.openxmlformats.org/drawingml/2006/main" id="12" idx="1"/>
          </p:cNvCxnSpPr>
          <p:nvPr/>
        </p:nvCxnSpPr>
        <p:spPr>
          <a:xfrm xmlns:a="http://schemas.openxmlformats.org/drawingml/2006/main">
            <a:off x="3476625" y="3081338"/>
            <a:ext cx="1219200" cy="0"/>
          </a:xfrm>
          <a:prstGeom xmlns:a="http://schemas.openxmlformats.org/drawingml/2006/main" prst="straightConnector1">
            <a:avLst/>
          </a:prstGeom>
          <a:ln xmlns:a="http://schemas.openxmlformats.org/drawingml/2006/main" w="19050">
            <a:solidFill>
              <a:srgbClr val="2162A0"/>
            </a:solidFill>
            <a:prstDash val="solid"/>
            <a:tailEnd type="arrow" w="med" len="med"/>
          </a:ln>
        </p:spPr>
      </p:cxnSp>
      <p:cxnSp>
        <p:nvCxnSpPr>
          <p:cNvPr id="58" name=""/>
          <p:cNvCxnSpPr>
            <a:stCxn xmlns:a="http://schemas.openxmlformats.org/drawingml/2006/main" id="12" idx="3"/>
            <a:endCxn xmlns:a="http://schemas.openxmlformats.org/drawingml/2006/main" id="13" idx="1"/>
          </p:cNvCxnSpPr>
          <p:nvPr/>
        </p:nvCxnSpPr>
        <p:spPr>
          <a:xfrm xmlns:a="http://schemas.openxmlformats.org/drawingml/2006/main">
            <a:off x="7410450" y="3081338"/>
            <a:ext cx="1219200" cy="0"/>
          </a:xfrm>
          <a:prstGeom xmlns:a="http://schemas.openxmlformats.org/drawingml/2006/main" prst="straightConnector1">
            <a:avLst/>
          </a:prstGeom>
          <a:ln xmlns:a="http://schemas.openxmlformats.org/drawingml/2006/main" w="19050">
            <a:solidFill>
              <a:srgbClr val="2162A0"/>
            </a:solidFill>
            <a:prstDash val="solid"/>
            <a:tailEnd type="arrow" w="med" len="med"/>
          </a:ln>
        </p:spPr>
      </p:cxnSp>
      <p:sp>
        <p:nvSpPr>
          <p:cNvPr id="16" name="">
            <a:extLst xmlns:a="http://schemas.openxmlformats.org/drawingml/2006/main">
              <a:ext uri="{FF2B5EF4-FFF2-40B4-BE49-F238E27FC236}">
                <a16:creationId xmlns:a16="http://schemas.microsoft.com/office/drawing/2014/main" id="{CD48F217-2234-4E5C-9C49-86FA0725E8E2}"/>
              </a:ext>
            </a:extLst>
          </p:cNvPr>
          <p:cNvSpPr>
            <a:spLocks xmlns:a="http://schemas.openxmlformats.org/drawingml/2006/main" noGrp="1"/>
          </p:cNvSpPr>
          <p:nvPr/>
        </p:nvSpPr>
        <p:spPr>
          <a:xfrm xmlns:a="http://schemas.openxmlformats.org/drawingml/2006/main">
            <a:off x="762000" y="41052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1. El controlador registra el manejador del evento.</a:t>
            </a:r>
          </a:p>
        </p:txBody>
      </p:sp>
      <p:sp>
        <p:nvSpPr>
          <p:cNvPr id="17" name="">
            <a:extLst xmlns:a="http://schemas.openxmlformats.org/drawingml/2006/main">
              <a:ext uri="{FF2B5EF4-FFF2-40B4-BE49-F238E27FC236}">
                <a16:creationId xmlns:a16="http://schemas.microsoft.com/office/drawing/2014/main" id="{9846561A-D22D-4709-8DD3-14FF0F6A683F}"/>
              </a:ext>
            </a:extLst>
          </p:cNvPr>
          <p:cNvSpPr>
            <a:spLocks xmlns:a="http://schemas.openxmlformats.org/drawingml/2006/main" noGrp="1"/>
          </p:cNvSpPr>
          <p:nvPr/>
        </p:nvSpPr>
        <p:spPr>
          <a:xfrm xmlns:a="http://schemas.openxmlformats.org/drawingml/2006/main">
            <a:off x="762000" y="46005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2. Valida la entrada y solicita la inferencia al modelo.</a:t>
            </a:r>
          </a:p>
        </p:txBody>
      </p:sp>
      <p:sp>
        <p:nvSpPr>
          <p:cNvPr id="18" name="">
            <a:extLst xmlns:a="http://schemas.openxmlformats.org/drawingml/2006/main">
              <a:ext uri="{FF2B5EF4-FFF2-40B4-BE49-F238E27FC236}">
                <a16:creationId xmlns:a16="http://schemas.microsoft.com/office/drawing/2014/main" id="{F4DAE058-EDA6-4C4B-9DBA-91C838707345}"/>
              </a:ext>
            </a:extLst>
          </p:cNvPr>
          <p:cNvSpPr>
            <a:spLocks xmlns:a="http://schemas.openxmlformats.org/drawingml/2006/main" noGrp="1"/>
          </p:cNvSpPr>
          <p:nvPr/>
        </p:nvSpPr>
        <p:spPr>
          <a:xfrm xmlns:a="http://schemas.openxmlformats.org/drawingml/2006/main">
            <a:off x="762000" y="50958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3. Recibe la posterior y pide a la vista que la muestre.</a:t>
            </a:r>
          </a:p>
        </p:txBody>
      </p:sp>
      <p:sp>
        <p:nvSpPr>
          <p:cNvPr id="19" name="">
            <a:extLst xmlns:a="http://schemas.openxmlformats.org/drawingml/2006/main">
              <a:ext uri="{FF2B5EF4-FFF2-40B4-BE49-F238E27FC236}">
                <a16:creationId xmlns:a16="http://schemas.microsoft.com/office/drawing/2014/main" id="{4A919606-543A-4A25-B627-8F8D8C03821F}"/>
              </a:ext>
            </a:extLst>
          </p:cNvPr>
          <p:cNvSpPr>
            <a:spLocks xmlns:a="http://schemas.openxmlformats.org/drawingml/2006/main" noGrp="1"/>
          </p:cNvSpPr>
          <p:nvPr/>
        </p:nvSpPr>
        <p:spPr>
          <a:xfrm xmlns:a="http://schemas.openxmlformats.org/drawingml/2006/main">
            <a:off x="762000" y="60102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El modelo encapsula el conocimiento y el cálculo probabilístico.</a:t>
            </a:r>
          </a:p>
        </p:txBody>
      </p:sp>
    </p:spTree>
    <p:extLst>
      <p:ext uri="{BB962C8B-B14F-4D97-AF65-F5344CB8AC3E}">
        <p14:creationId xmlns:p14="http://schemas.microsoft.com/office/powerpoint/2010/main" val="1721896526"/>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Diagnóstico bayesiano · PROVISIONAL</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32</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D96B18"/>
                </a:solidFill>
                <a:latin typeface="Arial"/>
                <a:ea typeface="Arial"/>
                <a:cs typeface="Arial"/>
              </a:defRPr>
            </a:pPr>
            <a:r>
              <a:rPr sz="3000" b="0">
                <a:solidFill>
                  <a:srgbClr val="D96B18"/>
                </a:solidFill>
                <a:latin typeface="Arial"/>
                <a:ea typeface="Arial"/>
                <a:cs typeface="Arial"/>
              </a:rPr>
              <a:t>Comprobaciones con resultados conocidos</a:t>
            </a:r>
          </a:p>
        </p:txBody>
      </p:sp>
      <p:sp>
        <p:nvSpPr>
          <p:cNvPr id="9" name="">
            <a:extLst xmlns:a="http://schemas.openxmlformats.org/drawingml/2006/main">
              <a:ext uri="{FF2B5EF4-FFF2-40B4-BE49-F238E27FC236}">
                <a16:creationId xmlns:a16="http://schemas.microsoft.com/office/drawing/2014/main" id="{868AF2D5-9ACF-48A0-97B8-629763320944}"/>
              </a:ext>
            </a:extLst>
          </p:cNvPr>
          <p:cNvSpPr>
            <a:spLocks xmlns:a="http://schemas.openxmlformats.org/drawingml/2006/main" noGrp="1"/>
          </p:cNvSpPr>
          <p:nvPr/>
        </p:nvSpPr>
        <p:spPr>
          <a:xfrm xmlns:a="http://schemas.openxmlformats.org/drawingml/2006/main">
            <a:off x="762000" y="13811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AD414C"/>
                </a:solidFill>
                <a:latin typeface="Arial"/>
                <a:ea typeface="Arial"/>
                <a:cs typeface="Arial"/>
              </a:defRPr>
            </a:pPr>
            <a:r>
              <a:rPr sz="1500" b="1">
                <a:solidFill>
                  <a:srgbClr val="AD414C"/>
                </a:solidFill>
                <a:latin typeface="Arial"/>
                <a:ea typeface="Arial"/>
                <a:cs typeface="Arial"/>
              </a:rPr>
              <a:t>DISEÑO E IMPLEMENTACIÓN</a:t>
            </a:r>
          </a:p>
        </p:txBody>
      </p:sp>
      <p:sp>
        <p:nvSpPr>
          <p:cNvPr id="10" name="">
            <a:extLst xmlns:a="http://schemas.openxmlformats.org/drawingml/2006/main">
              <a:ext uri="{FF2B5EF4-FFF2-40B4-BE49-F238E27FC236}">
                <a16:creationId xmlns:a16="http://schemas.microsoft.com/office/drawing/2014/main" id="{223B0C19-5F37-4ED2-AFD8-37F7D18B6AFC}"/>
              </a:ext>
            </a:extLst>
          </p:cNvPr>
          <p:cNvSpPr>
            <a:spLocks xmlns:a="http://schemas.openxmlformats.org/drawingml/2006/main" noGrp="1"/>
          </p:cNvSpPr>
          <p:nvPr/>
        </p:nvSpPr>
        <p:spPr>
          <a:xfrm xmlns:a="http://schemas.openxmlformats.org/drawingml/2006/main">
            <a:off x="762000" y="1724025"/>
            <a:ext cx="10668000" cy="28575"/>
          </a:xfrm>
          <a:prstGeom xmlns:a="http://schemas.openxmlformats.org/drawingml/2006/main" prst="rect">
            <a:avLst/>
          </a:prstGeom>
          <a:solidFill xmlns:a="http://schemas.openxmlformats.org/drawingml/2006/main">
            <a:srgbClr val="AD414C"/>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graphicFrame>
        <p:nvGraphicFramePr>
          <p:cNvPr id="22" name=""/>
          <p:cNvGraphicFramePr/>
          <p:nvPr/>
        </p:nvGraphicFramePr>
        <p:xfrm>
          <a:off xmlns:a="http://schemas.openxmlformats.org/drawingml/2006/main" x="762000" y="2019300"/>
          <a:ext xmlns:a="http://schemas.openxmlformats.org/drawingml/2006/main" cx="10668000" cy="3333750"/>
        </p:xfrm>
        <a:graphic xmlns:a="http://schemas.openxmlformats.org/drawingml/2006/main">
          <a:graphicData uri="http://schemas.openxmlformats.org/drawingml/2006/table">
            <a:tbl>
              <a:tblPr/>
              <a:tblGrid>
                <a:gridCol w="4810125"/>
                <a:gridCol w="1952625"/>
                <a:gridCol w="1952625"/>
                <a:gridCol w="1952625"/>
              </a:tblGrid>
              <a:tr h="666750">
                <a:tc>
                  <a:txBody>
                    <a:bodyPr lIns="95250" tIns="76200" rIns="95250" bIns="76200"/>
                    <a:lstStyle/>
                    <a:p>
                      <a:pPr algn="ctr">
                        <a:buNone/>
                      </a:pPr>
                      <a:r>
                        <a:rPr sz="1875" b="1">
                          <a:solidFill>
                            <a:srgbClr val="2162A0"/>
                          </a:solidFill>
                          <a:latin typeface="Arial"/>
                          <a:ea typeface="Arial"/>
                          <a:cs typeface="Arial"/>
                        </a:rPr>
                        <a:t>Evidencia</a:t>
                      </a:r>
                    </a:p>
                  </a:txBody>
                  <a:tcPr marL="91440" marR="91440" marT="45720" marB="45720" anchor="ctr">
                    <a:solidFill>
                      <a:srgbClr val="E8EFF5"/>
                    </a:solidFill>
                  </a:tcPr>
                </a:tc>
                <a:tc>
                  <a:txBody>
                    <a:bodyPr lIns="95250" tIns="76200" rIns="95250" bIns="76200"/>
                    <a:lstStyle/>
                    <a:p>
                      <a:pPr algn="ctr">
                        <a:buNone/>
                      </a:pPr>
                      <a:r>
                        <a:rPr sz="1875" b="1">
                          <a:solidFill>
                            <a:srgbClr val="2162A0"/>
                          </a:solidFill>
                          <a:latin typeface="Arial"/>
                          <a:ea typeface="Arial"/>
                          <a:cs typeface="Arial"/>
                        </a:rPr>
                        <a:t>Obstrucción</a:t>
                      </a:r>
                    </a:p>
                  </a:txBody>
                  <a:tcPr marL="91440" marR="91440" marT="45720" marB="45720" anchor="ctr">
                    <a:solidFill>
                      <a:srgbClr val="E8EFF5"/>
                    </a:solidFill>
                  </a:tcPr>
                </a:tc>
                <a:tc>
                  <a:txBody>
                    <a:bodyPr lIns="95250" tIns="76200" rIns="95250" bIns="76200"/>
                    <a:lstStyle/>
                    <a:p>
                      <a:pPr algn="ctr">
                        <a:buNone/>
                      </a:pPr>
                      <a:r>
                        <a:rPr sz="1875" b="1">
                          <a:solidFill>
                            <a:srgbClr val="2162A0"/>
                          </a:solidFill>
                          <a:latin typeface="Arial"/>
                          <a:ea typeface="Arial"/>
                          <a:cs typeface="Arial"/>
                        </a:rPr>
                        <a:t>Fuga</a:t>
                      </a:r>
                    </a:p>
                  </a:txBody>
                  <a:tcPr marL="91440" marR="91440" marT="45720" marB="45720" anchor="ctr">
                    <a:solidFill>
                      <a:srgbClr val="E8EFF5"/>
                    </a:solidFill>
                  </a:tcPr>
                </a:tc>
                <a:tc>
                  <a:txBody>
                    <a:bodyPr lIns="95250" tIns="76200" rIns="95250" bIns="76200"/>
                    <a:lstStyle/>
                    <a:p>
                      <a:pPr algn="ctr">
                        <a:buNone/>
                      </a:pPr>
                      <a:r>
                        <a:rPr sz="1875" b="1">
                          <a:solidFill>
                            <a:srgbClr val="2162A0"/>
                          </a:solidFill>
                          <a:latin typeface="Arial"/>
                          <a:ea typeface="Arial"/>
                          <a:cs typeface="Arial"/>
                        </a:rPr>
                        <a:t>Otra</a:t>
                      </a:r>
                    </a:p>
                  </a:txBody>
                  <a:tcPr marL="91440" marR="91440" marT="45720" marB="45720" anchor="ctr">
                    <a:solidFill>
                      <a:srgbClr val="E8EFF5"/>
                    </a:solidFill>
                  </a:tcPr>
                </a:tc>
              </a:tr>
              <a:tr h="666750">
                <a:tc>
                  <a:txBody>
                    <a:bodyPr lIns="95250" tIns="76200" rIns="95250" bIns="76200"/>
                    <a:lstStyle/>
                    <a:p>
                      <a:pPr algn="ctr">
                        <a:buNone/>
                      </a:pPr>
                      <a:r>
                        <a:rPr sz="1875" b="0">
                          <a:solidFill>
                            <a:srgbClr val="233746"/>
                          </a:solidFill>
                          <a:latin typeface="Arial"/>
                          <a:ea typeface="Arial"/>
                          <a:cs typeface="Arial"/>
                        </a:rPr>
                        <a:t>Ninguna</a:t>
                      </a:r>
                    </a:p>
                  </a:txBody>
                  <a:tcPr marL="91440" marR="91440" marT="45720" marB="45720" anchor="ctr">
                    <a:solidFill>
                      <a:srgbClr val="FFFFFF"/>
                    </a:solidFill>
                  </a:tcPr>
                </a:tc>
                <a:tc>
                  <a:txBody>
                    <a:bodyPr lIns="95250" tIns="76200" rIns="95250" bIns="76200"/>
                    <a:lstStyle/>
                    <a:p>
                      <a:pPr algn="ctr">
                        <a:buNone/>
                      </a:pPr>
                      <a:r>
                        <a:rPr sz="1875" b="0">
                          <a:solidFill>
                            <a:srgbClr val="233746"/>
                          </a:solidFill>
                          <a:latin typeface="Arial"/>
                          <a:ea typeface="Arial"/>
                          <a:cs typeface="Arial"/>
                        </a:rPr>
                        <a:t>30,00 %</a:t>
                      </a:r>
                    </a:p>
                  </a:txBody>
                  <a:tcPr marL="91440" marR="91440" marT="45720" marB="45720" anchor="ctr">
                    <a:solidFill>
                      <a:srgbClr val="FFFFFF"/>
                    </a:solidFill>
                  </a:tcPr>
                </a:tc>
                <a:tc>
                  <a:txBody>
                    <a:bodyPr lIns="95250" tIns="76200" rIns="95250" bIns="76200"/>
                    <a:lstStyle/>
                    <a:p>
                      <a:pPr algn="ctr">
                        <a:buNone/>
                      </a:pPr>
                      <a:r>
                        <a:rPr sz="1875" b="0">
                          <a:solidFill>
                            <a:srgbClr val="233746"/>
                          </a:solidFill>
                          <a:latin typeface="Arial"/>
                          <a:ea typeface="Arial"/>
                          <a:cs typeface="Arial"/>
                        </a:rPr>
                        <a:t>20,00 %</a:t>
                      </a:r>
                    </a:p>
                  </a:txBody>
                  <a:tcPr marL="91440" marR="91440" marT="45720" marB="45720" anchor="ctr">
                    <a:solidFill>
                      <a:srgbClr val="FFFFFF"/>
                    </a:solidFill>
                  </a:tcPr>
                </a:tc>
                <a:tc>
                  <a:txBody>
                    <a:bodyPr lIns="95250" tIns="76200" rIns="95250" bIns="76200"/>
                    <a:lstStyle/>
                    <a:p>
                      <a:pPr algn="ctr">
                        <a:buNone/>
                      </a:pPr>
                      <a:r>
                        <a:rPr sz="1875" b="0">
                          <a:solidFill>
                            <a:srgbClr val="233746"/>
                          </a:solidFill>
                          <a:latin typeface="Arial"/>
                          <a:ea typeface="Arial"/>
                          <a:cs typeface="Arial"/>
                        </a:rPr>
                        <a:t>50,00 %</a:t>
                      </a:r>
                    </a:p>
                  </a:txBody>
                  <a:tcPr marL="91440" marR="91440" marT="45720" marB="45720" anchor="ctr">
                    <a:solidFill>
                      <a:srgbClr val="FFFFFF"/>
                    </a:solidFill>
                  </a:tcPr>
                </a:tc>
              </a:tr>
              <a:tr h="666750">
                <a:tc>
                  <a:txBody>
                    <a:bodyPr lIns="95250" tIns="76200" rIns="95250" bIns="76200"/>
                    <a:lstStyle/>
                    <a:p>
                      <a:pPr algn="ctr">
                        <a:buNone/>
                      </a:pPr>
                      <a:r>
                        <a:rPr sz="1875" b="0">
                          <a:solidFill>
                            <a:srgbClr val="233746"/>
                          </a:solidFill>
                          <a:latin typeface="Arial"/>
                          <a:ea typeface="Arial"/>
                          <a:cs typeface="Arial"/>
                        </a:rPr>
                        <a:t>Caudal bajo</a:t>
                      </a:r>
                    </a:p>
                  </a:txBody>
                  <a:tcPr marL="91440" marR="91440" marT="45720" marB="45720" anchor="ctr">
                    <a:solidFill>
                      <a:srgbClr val="F5F7F9"/>
                    </a:solidFill>
                  </a:tcPr>
                </a:tc>
                <a:tc>
                  <a:txBody>
                    <a:bodyPr lIns="95250" tIns="76200" rIns="95250" bIns="76200"/>
                    <a:lstStyle/>
                    <a:p>
                      <a:pPr algn="ctr">
                        <a:buNone/>
                      </a:pPr>
                      <a:r>
                        <a:rPr sz="1875" b="0">
                          <a:solidFill>
                            <a:srgbClr val="233746"/>
                          </a:solidFill>
                          <a:latin typeface="Arial"/>
                          <a:ea typeface="Arial"/>
                          <a:cs typeface="Arial"/>
                        </a:rPr>
                        <a:t>56,25 %</a:t>
                      </a:r>
                    </a:p>
                  </a:txBody>
                  <a:tcPr marL="91440" marR="91440" marT="45720" marB="45720" anchor="ctr">
                    <a:solidFill>
                      <a:srgbClr val="F5F7F9"/>
                    </a:solidFill>
                  </a:tcPr>
                </a:tc>
                <a:tc>
                  <a:txBody>
                    <a:bodyPr lIns="95250" tIns="76200" rIns="95250" bIns="76200"/>
                    <a:lstStyle/>
                    <a:p>
                      <a:pPr algn="ctr">
                        <a:buNone/>
                      </a:pPr>
                      <a:r>
                        <a:rPr sz="1875" b="0">
                          <a:solidFill>
                            <a:srgbClr val="233746"/>
                          </a:solidFill>
                          <a:latin typeface="Arial"/>
                          <a:ea typeface="Arial"/>
                          <a:cs typeface="Arial"/>
                        </a:rPr>
                        <a:t>33,33 %</a:t>
                      </a:r>
                    </a:p>
                  </a:txBody>
                  <a:tcPr marL="91440" marR="91440" marT="45720" marB="45720" anchor="ctr">
                    <a:solidFill>
                      <a:srgbClr val="F5F7F9"/>
                    </a:solidFill>
                  </a:tcPr>
                </a:tc>
                <a:tc>
                  <a:txBody>
                    <a:bodyPr lIns="95250" tIns="76200" rIns="95250" bIns="76200"/>
                    <a:lstStyle/>
                    <a:p>
                      <a:pPr algn="ctr">
                        <a:buNone/>
                      </a:pPr>
                      <a:r>
                        <a:rPr sz="1875" b="0">
                          <a:solidFill>
                            <a:srgbClr val="233746"/>
                          </a:solidFill>
                          <a:latin typeface="Arial"/>
                          <a:ea typeface="Arial"/>
                          <a:cs typeface="Arial"/>
                        </a:rPr>
                        <a:t>10,42 %</a:t>
                      </a:r>
                    </a:p>
                  </a:txBody>
                  <a:tcPr marL="91440" marR="91440" marT="45720" marB="45720" anchor="ctr">
                    <a:solidFill>
                      <a:srgbClr val="F5F7F9"/>
                    </a:solidFill>
                  </a:tcPr>
                </a:tc>
              </a:tr>
              <a:tr h="666750">
                <a:tc>
                  <a:txBody>
                    <a:bodyPr lIns="95250" tIns="76200" rIns="95250" bIns="76200"/>
                    <a:lstStyle/>
                    <a:p>
                      <a:pPr algn="ctr">
                        <a:buNone/>
                      </a:pPr>
                      <a:r>
                        <a:rPr sz="1875" b="0">
                          <a:solidFill>
                            <a:srgbClr val="233746"/>
                          </a:solidFill>
                          <a:latin typeface="Arial"/>
                          <a:ea typeface="Arial"/>
                          <a:cs typeface="Arial"/>
                        </a:rPr>
                        <a:t>Caudal bajo + Vibración alta</a:t>
                      </a:r>
                    </a:p>
                  </a:txBody>
                  <a:tcPr marL="91440" marR="91440" marT="45720" marB="45720" anchor="ctr">
                    <a:solidFill>
                      <a:srgbClr val="FFFFFF"/>
                    </a:solidFill>
                  </a:tcPr>
                </a:tc>
                <a:tc>
                  <a:txBody>
                    <a:bodyPr lIns="95250" tIns="76200" rIns="95250" bIns="76200"/>
                    <a:lstStyle/>
                    <a:p>
                      <a:pPr algn="ctr">
                        <a:buNone/>
                      </a:pPr>
                      <a:r>
                        <a:rPr sz="1875" b="0">
                          <a:solidFill>
                            <a:srgbClr val="233746"/>
                          </a:solidFill>
                          <a:latin typeface="Arial"/>
                          <a:ea typeface="Arial"/>
                          <a:cs typeface="Arial"/>
                        </a:rPr>
                        <a:t>85,38 %</a:t>
                      </a:r>
                    </a:p>
                  </a:txBody>
                  <a:tcPr marL="91440" marR="91440" marT="45720" marB="45720" anchor="ctr">
                    <a:solidFill>
                      <a:srgbClr val="FFFFFF"/>
                    </a:solidFill>
                  </a:tcPr>
                </a:tc>
                <a:tc>
                  <a:txBody>
                    <a:bodyPr lIns="95250" tIns="76200" rIns="95250" bIns="76200"/>
                    <a:lstStyle/>
                    <a:p>
                      <a:pPr algn="ctr">
                        <a:buNone/>
                      </a:pPr>
                      <a:r>
                        <a:rPr sz="1875" b="0">
                          <a:solidFill>
                            <a:srgbClr val="233746"/>
                          </a:solidFill>
                          <a:latin typeface="Arial"/>
                          <a:ea typeface="Arial"/>
                          <a:cs typeface="Arial"/>
                        </a:rPr>
                        <a:t>12,65 %</a:t>
                      </a:r>
                    </a:p>
                  </a:txBody>
                  <a:tcPr marL="91440" marR="91440" marT="45720" marB="45720" anchor="ctr">
                    <a:solidFill>
                      <a:srgbClr val="FFFFFF"/>
                    </a:solidFill>
                  </a:tcPr>
                </a:tc>
                <a:tc>
                  <a:txBody>
                    <a:bodyPr lIns="95250" tIns="76200" rIns="95250" bIns="76200"/>
                    <a:lstStyle/>
                    <a:p>
                      <a:pPr algn="ctr">
                        <a:buNone/>
                      </a:pPr>
                      <a:r>
                        <a:rPr sz="1875" b="0">
                          <a:solidFill>
                            <a:srgbClr val="233746"/>
                          </a:solidFill>
                          <a:latin typeface="Arial"/>
                          <a:ea typeface="Arial"/>
                          <a:cs typeface="Arial"/>
                        </a:rPr>
                        <a:t>1,98 %</a:t>
                      </a:r>
                    </a:p>
                  </a:txBody>
                  <a:tcPr marL="91440" marR="91440" marT="45720" marB="45720" anchor="ctr">
                    <a:solidFill>
                      <a:srgbClr val="FFFFFF"/>
                    </a:solidFill>
                  </a:tcPr>
                </a:tc>
              </a:tr>
              <a:tr h="666750">
                <a:tc>
                  <a:txBody>
                    <a:bodyPr lIns="95250" tIns="76200" rIns="95250" bIns="76200"/>
                    <a:lstStyle/>
                    <a:p>
                      <a:pPr algn="ctr">
                        <a:buNone/>
                      </a:pPr>
                      <a:r>
                        <a:rPr sz="1875" b="0">
                          <a:solidFill>
                            <a:srgbClr val="233746"/>
                          </a:solidFill>
                          <a:latin typeface="Arial"/>
                          <a:ea typeface="Arial"/>
                          <a:cs typeface="Arial"/>
                        </a:rPr>
                        <a:t>Caudal bajo + Vibración normal</a:t>
                      </a:r>
                    </a:p>
                  </a:txBody>
                  <a:tcPr marL="91440" marR="91440" marT="45720" marB="45720" anchor="ctr">
                    <a:solidFill>
                      <a:srgbClr val="F5F7F9"/>
                    </a:solidFill>
                  </a:tcPr>
                </a:tc>
                <a:tc>
                  <a:txBody>
                    <a:bodyPr lIns="95250" tIns="76200" rIns="95250" bIns="76200"/>
                    <a:lstStyle/>
                    <a:p>
                      <a:pPr algn="ctr">
                        <a:buNone/>
                      </a:pPr>
                      <a:r>
                        <a:rPr sz="1875" b="0">
                          <a:solidFill>
                            <a:srgbClr val="233746"/>
                          </a:solidFill>
                          <a:latin typeface="Arial"/>
                          <a:ea typeface="Arial"/>
                          <a:cs typeface="Arial"/>
                        </a:rPr>
                        <a:t>23,79 %</a:t>
                      </a:r>
                    </a:p>
                  </a:txBody>
                  <a:tcPr marL="91440" marR="91440" marT="45720" marB="45720" anchor="ctr">
                    <a:solidFill>
                      <a:srgbClr val="F5F7F9"/>
                    </a:solidFill>
                  </a:tcPr>
                </a:tc>
                <a:tc>
                  <a:txBody>
                    <a:bodyPr lIns="95250" tIns="76200" rIns="95250" bIns="76200"/>
                    <a:lstStyle/>
                    <a:p>
                      <a:pPr algn="ctr">
                        <a:buNone/>
                      </a:pPr>
                      <a:r>
                        <a:rPr sz="1875" b="0">
                          <a:solidFill>
                            <a:srgbClr val="233746"/>
                          </a:solidFill>
                          <a:latin typeface="Arial"/>
                          <a:ea typeface="Arial"/>
                          <a:cs typeface="Arial"/>
                        </a:rPr>
                        <a:t>56,39 %</a:t>
                      </a:r>
                    </a:p>
                  </a:txBody>
                  <a:tcPr marL="91440" marR="91440" marT="45720" marB="45720" anchor="ctr">
                    <a:solidFill>
                      <a:srgbClr val="F5F7F9"/>
                    </a:solidFill>
                  </a:tcPr>
                </a:tc>
                <a:tc>
                  <a:txBody>
                    <a:bodyPr lIns="95250" tIns="76200" rIns="95250" bIns="76200"/>
                    <a:lstStyle/>
                    <a:p>
                      <a:pPr algn="ctr">
                        <a:buNone/>
                      </a:pPr>
                      <a:r>
                        <a:rPr sz="1875" b="0">
                          <a:solidFill>
                            <a:srgbClr val="233746"/>
                          </a:solidFill>
                          <a:latin typeface="Arial"/>
                          <a:ea typeface="Arial"/>
                          <a:cs typeface="Arial"/>
                        </a:rPr>
                        <a:t>19,82 %</a:t>
                      </a:r>
                    </a:p>
                  </a:txBody>
                  <a:tcPr marL="91440" marR="91440" marT="45720" marB="45720" anchor="ctr">
                    <a:solidFill>
                      <a:srgbClr val="F5F7F9"/>
                    </a:solidFill>
                  </a:tcPr>
                </a:tc>
              </a:tr>
            </a:tbl>
          </a:graphicData>
        </a:graphic>
      </p:graphicFrame>
      <p:sp>
        <p:nvSpPr>
          <p:cNvPr id="12" name="">
            <a:extLst xmlns:a="http://schemas.openxmlformats.org/drawingml/2006/main">
              <a:ext uri="{FF2B5EF4-FFF2-40B4-BE49-F238E27FC236}">
                <a16:creationId xmlns:a16="http://schemas.microsoft.com/office/drawing/2014/main" id="{40565199-202B-42FD-A192-92915B86A17E}"/>
              </a:ext>
            </a:extLst>
          </p:cNvPr>
          <p:cNvSpPr>
            <a:spLocks xmlns:a="http://schemas.openxmlformats.org/drawingml/2006/main" noGrp="1"/>
          </p:cNvSpPr>
          <p:nvPr/>
        </p:nvSpPr>
        <p:spPr>
          <a:xfrm xmlns:a="http://schemas.openxmlformats.org/drawingml/2006/main">
            <a:off x="762000" y="60102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Comprobad también reinicio, entradas inválidas y suma de probabilidades igual a 1.</a:t>
            </a:r>
          </a:p>
        </p:txBody>
      </p:sp>
    </p:spTree>
    <p:extLst>
      <p:ext uri="{BB962C8B-B14F-4D97-AF65-F5344CB8AC3E}">
        <p14:creationId xmlns:p14="http://schemas.microsoft.com/office/powerpoint/2010/main" val="172189652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Diagnóstico bayesiano · PROVISIONAL</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33</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D96B18"/>
                </a:solidFill>
                <a:latin typeface="Arial"/>
                <a:ea typeface="Arial"/>
                <a:cs typeface="Arial"/>
              </a:defRPr>
            </a:pPr>
            <a:r>
              <a:rPr sz="3000" b="0">
                <a:solidFill>
                  <a:srgbClr val="D96B18"/>
                </a:solidFill>
                <a:latin typeface="Arial"/>
                <a:ea typeface="Arial"/>
                <a:cs typeface="Arial"/>
              </a:rPr>
              <a:t>Que el código funcione no valida el modelo</a:t>
            </a:r>
          </a:p>
        </p:txBody>
      </p:sp>
      <p:sp>
        <p:nvSpPr>
          <p:cNvPr id="9" name="">
            <a:extLst xmlns:a="http://schemas.openxmlformats.org/drawingml/2006/main">
              <a:ext uri="{FF2B5EF4-FFF2-40B4-BE49-F238E27FC236}">
                <a16:creationId xmlns:a16="http://schemas.microsoft.com/office/drawing/2014/main" id="{971A53BF-5E98-4462-9AF0-2173916D16C8}"/>
              </a:ext>
            </a:extLst>
          </p:cNvPr>
          <p:cNvSpPr>
            <a:spLocks xmlns:a="http://schemas.openxmlformats.org/drawingml/2006/main" noGrp="1"/>
          </p:cNvSpPr>
          <p:nvPr/>
        </p:nvSpPr>
        <p:spPr>
          <a:xfrm xmlns:a="http://schemas.openxmlformats.org/drawingml/2006/main">
            <a:off x="762000" y="13811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AD414C"/>
                </a:solidFill>
                <a:latin typeface="Arial"/>
                <a:ea typeface="Arial"/>
                <a:cs typeface="Arial"/>
              </a:defRPr>
            </a:pPr>
            <a:r>
              <a:rPr sz="1500" b="1">
                <a:solidFill>
                  <a:srgbClr val="AD414C"/>
                </a:solidFill>
                <a:latin typeface="Arial"/>
                <a:ea typeface="Arial"/>
                <a:cs typeface="Arial"/>
              </a:rPr>
              <a:t>DISEÑO E IMPLEMENTACIÓN</a:t>
            </a:r>
          </a:p>
        </p:txBody>
      </p:sp>
      <p:sp>
        <p:nvSpPr>
          <p:cNvPr id="10" name="">
            <a:extLst xmlns:a="http://schemas.openxmlformats.org/drawingml/2006/main">
              <a:ext uri="{FF2B5EF4-FFF2-40B4-BE49-F238E27FC236}">
                <a16:creationId xmlns:a16="http://schemas.microsoft.com/office/drawing/2014/main" id="{69D89A4B-D681-443A-A2F3-5E0CD0E85ACF}"/>
              </a:ext>
            </a:extLst>
          </p:cNvPr>
          <p:cNvSpPr>
            <a:spLocks xmlns:a="http://schemas.openxmlformats.org/drawingml/2006/main" noGrp="1"/>
          </p:cNvSpPr>
          <p:nvPr/>
        </p:nvSpPr>
        <p:spPr>
          <a:xfrm xmlns:a="http://schemas.openxmlformats.org/drawingml/2006/main">
            <a:off x="762000" y="1724025"/>
            <a:ext cx="10668000" cy="28575"/>
          </a:xfrm>
          <a:prstGeom xmlns:a="http://schemas.openxmlformats.org/drawingml/2006/main" prst="rect">
            <a:avLst/>
          </a:prstGeom>
          <a:solidFill xmlns:a="http://schemas.openxmlformats.org/drawingml/2006/main">
            <a:srgbClr val="AD414C"/>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A8AA9C08-F7F6-4471-A055-4D3EDCB9C21A}"/>
              </a:ext>
            </a:extLst>
          </p:cNvPr>
          <p:cNvSpPr>
            <a:spLocks xmlns:a="http://schemas.openxmlformats.org/drawingml/2006/main" noGrp="1"/>
          </p:cNvSpPr>
          <p:nvPr/>
        </p:nvSpPr>
        <p:spPr>
          <a:xfrm xmlns:a="http://schemas.openxmlformats.org/drawingml/2006/main">
            <a:off x="762000" y="198120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D96B18"/>
                </a:solidFill>
                <a:latin typeface="Arial"/>
                <a:ea typeface="Arial"/>
                <a:cs typeface="Arial"/>
              </a:defRPr>
            </a:pPr>
            <a:r>
              <a:rPr sz="2250" b="1">
                <a:solidFill>
                  <a:srgbClr val="D96B18"/>
                </a:solidFill>
                <a:latin typeface="Arial"/>
                <a:ea typeface="Arial"/>
                <a:cs typeface="Arial"/>
              </a:rPr>
              <a:t>Casos de prueba</a:t>
            </a:r>
          </a:p>
        </p:txBody>
      </p:sp>
      <p:sp>
        <p:nvSpPr>
          <p:cNvPr id="12" name="">
            <a:extLst xmlns:a="http://schemas.openxmlformats.org/drawingml/2006/main">
              <a:ext uri="{FF2B5EF4-FFF2-40B4-BE49-F238E27FC236}">
                <a16:creationId xmlns:a16="http://schemas.microsoft.com/office/drawing/2014/main" id="{902923A5-7235-47BA-871C-A7DF400B10AA}"/>
              </a:ext>
            </a:extLst>
          </p:cNvPr>
          <p:cNvSpPr>
            <a:spLocks xmlns:a="http://schemas.openxmlformats.org/drawingml/2006/main" noGrp="1"/>
          </p:cNvSpPr>
          <p:nvPr/>
        </p:nvSpPr>
        <p:spPr>
          <a:xfrm xmlns:a="http://schemas.openxmlformats.org/drawingml/2006/main">
            <a:off x="762000" y="24193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Comprobar diagnósticos con causas conocidas y casos difíciles.</a:t>
            </a:r>
          </a:p>
        </p:txBody>
      </p:sp>
      <p:sp>
        <p:nvSpPr>
          <p:cNvPr id="13" name="">
            <a:extLst xmlns:a="http://schemas.openxmlformats.org/drawingml/2006/main">
              <a:ext uri="{FF2B5EF4-FFF2-40B4-BE49-F238E27FC236}">
                <a16:creationId xmlns:a16="http://schemas.microsoft.com/office/drawing/2014/main" id="{CC7CBF36-75A6-412C-AF1E-09B242F1ABBA}"/>
              </a:ext>
            </a:extLst>
          </p:cNvPr>
          <p:cNvSpPr>
            <a:spLocks xmlns:a="http://schemas.openxmlformats.org/drawingml/2006/main" noGrp="1"/>
          </p:cNvSpPr>
          <p:nvPr/>
        </p:nvSpPr>
        <p:spPr>
          <a:xfrm xmlns:a="http://schemas.openxmlformats.org/drawingml/2006/main">
            <a:off x="762000" y="318135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D96B18"/>
                </a:solidFill>
                <a:latin typeface="Arial"/>
                <a:ea typeface="Arial"/>
                <a:cs typeface="Arial"/>
              </a:defRPr>
            </a:pPr>
            <a:r>
              <a:rPr sz="2250" b="1">
                <a:solidFill>
                  <a:srgbClr val="D96B18"/>
                </a:solidFill>
                <a:latin typeface="Arial"/>
                <a:ea typeface="Arial"/>
                <a:cs typeface="Arial"/>
              </a:rPr>
              <a:t>Probabilidades</a:t>
            </a:r>
          </a:p>
        </p:txBody>
      </p:sp>
      <p:sp>
        <p:nvSpPr>
          <p:cNvPr id="14" name="">
            <a:extLst xmlns:a="http://schemas.openxmlformats.org/drawingml/2006/main">
              <a:ext uri="{FF2B5EF4-FFF2-40B4-BE49-F238E27FC236}">
                <a16:creationId xmlns:a16="http://schemas.microsoft.com/office/drawing/2014/main" id="{B3442EB1-F529-463E-9DCC-FB9BD8EC7DEE}"/>
              </a:ext>
            </a:extLst>
          </p:cNvPr>
          <p:cNvSpPr>
            <a:spLocks xmlns:a="http://schemas.openxmlformats.org/drawingml/2006/main" noGrp="1"/>
          </p:cNvSpPr>
          <p:nvPr/>
        </p:nvSpPr>
        <p:spPr>
          <a:xfrm xmlns:a="http://schemas.openxmlformats.org/drawingml/2006/main">
            <a:off x="762000" y="36195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Revisar si la confianza de las predicciones concuerda con los resultados.</a:t>
            </a:r>
          </a:p>
        </p:txBody>
      </p:sp>
      <p:sp>
        <p:nvSpPr>
          <p:cNvPr id="15" name="">
            <a:extLst xmlns:a="http://schemas.openxmlformats.org/drawingml/2006/main">
              <a:ext uri="{FF2B5EF4-FFF2-40B4-BE49-F238E27FC236}">
                <a16:creationId xmlns:a16="http://schemas.microsoft.com/office/drawing/2014/main" id="{C4AEE7EE-EF73-42EA-8C3F-47E85AF7A36F}"/>
              </a:ext>
            </a:extLst>
          </p:cNvPr>
          <p:cNvSpPr>
            <a:spLocks xmlns:a="http://schemas.openxmlformats.org/drawingml/2006/main" noGrp="1"/>
          </p:cNvSpPr>
          <p:nvPr/>
        </p:nvSpPr>
        <p:spPr>
          <a:xfrm xmlns:a="http://schemas.openxmlformats.org/drawingml/2006/main">
            <a:off x="762000" y="438150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D96B18"/>
                </a:solidFill>
                <a:latin typeface="Arial"/>
                <a:ea typeface="Arial"/>
                <a:cs typeface="Arial"/>
              </a:defRPr>
            </a:pPr>
            <a:r>
              <a:rPr sz="2250" b="1">
                <a:solidFill>
                  <a:srgbClr val="D96B18"/>
                </a:solidFill>
                <a:latin typeface="Arial"/>
                <a:ea typeface="Arial"/>
                <a:cs typeface="Arial"/>
              </a:rPr>
              <a:t>Sensibilidad</a:t>
            </a:r>
          </a:p>
        </p:txBody>
      </p:sp>
      <p:sp>
        <p:nvSpPr>
          <p:cNvPr id="16" name="">
            <a:extLst xmlns:a="http://schemas.openxmlformats.org/drawingml/2006/main">
              <a:ext uri="{FF2B5EF4-FFF2-40B4-BE49-F238E27FC236}">
                <a16:creationId xmlns:a16="http://schemas.microsoft.com/office/drawing/2014/main" id="{F75C97BB-4307-4DC5-8662-7BF668A6EDAC}"/>
              </a:ext>
            </a:extLst>
          </p:cNvPr>
          <p:cNvSpPr>
            <a:spLocks xmlns:a="http://schemas.openxmlformats.org/drawingml/2006/main" noGrp="1"/>
          </p:cNvSpPr>
          <p:nvPr/>
        </p:nvSpPr>
        <p:spPr>
          <a:xfrm xmlns:a="http://schemas.openxmlformats.org/drawingml/2006/main">
            <a:off x="762000" y="48196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Variar supuestos dudosos y observar si cambia la conclusión.</a:t>
            </a:r>
          </a:p>
        </p:txBody>
      </p:sp>
      <p:sp>
        <p:nvSpPr>
          <p:cNvPr id="17" name="">
            <a:extLst xmlns:a="http://schemas.openxmlformats.org/drawingml/2006/main">
              <a:ext uri="{FF2B5EF4-FFF2-40B4-BE49-F238E27FC236}">
                <a16:creationId xmlns:a16="http://schemas.microsoft.com/office/drawing/2014/main" id="{44A8291B-887E-4973-A45F-0AC611B035DE}"/>
              </a:ext>
            </a:extLst>
          </p:cNvPr>
          <p:cNvSpPr>
            <a:spLocks xmlns:a="http://schemas.openxmlformats.org/drawingml/2006/main" noGrp="1"/>
          </p:cNvSpPr>
          <p:nvPr/>
        </p:nvSpPr>
        <p:spPr>
          <a:xfrm xmlns:a="http://schemas.openxmlformats.org/drawingml/2006/main">
            <a:off x="762000" y="60102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Conservar los casos de evaluación separados de los usados para ajustar.</a:t>
            </a:r>
          </a:p>
        </p:txBody>
      </p:sp>
    </p:spTree>
    <p:extLst>
      <p:ext uri="{BB962C8B-B14F-4D97-AF65-F5344CB8AC3E}">
        <p14:creationId xmlns:p14="http://schemas.microsoft.com/office/powerpoint/2010/main" val="172189652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Diagnóstico bayesiano · PROVISIONAL</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34</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D96B18"/>
                </a:solidFill>
                <a:latin typeface="Arial"/>
                <a:ea typeface="Arial"/>
                <a:cs typeface="Arial"/>
              </a:defRPr>
            </a:pPr>
            <a:r>
              <a:rPr sz="3000" b="0">
                <a:solidFill>
                  <a:srgbClr val="D96B18"/>
                </a:solidFill>
                <a:latin typeface="Arial"/>
                <a:ea typeface="Arial"/>
                <a:cs typeface="Arial"/>
              </a:rPr>
              <a:t>La causa más probable no decide la acción</a:t>
            </a:r>
          </a:p>
        </p:txBody>
      </p:sp>
      <p:sp>
        <p:nvSpPr>
          <p:cNvPr id="9" name="">
            <a:extLst xmlns:a="http://schemas.openxmlformats.org/drawingml/2006/main">
              <a:ext uri="{FF2B5EF4-FFF2-40B4-BE49-F238E27FC236}">
                <a16:creationId xmlns:a16="http://schemas.microsoft.com/office/drawing/2014/main" id="{66C682B7-28F4-42DB-A115-739D3C79B30D}"/>
              </a:ext>
            </a:extLst>
          </p:cNvPr>
          <p:cNvSpPr>
            <a:spLocks xmlns:a="http://schemas.openxmlformats.org/drawingml/2006/main" noGrp="1"/>
          </p:cNvSpPr>
          <p:nvPr/>
        </p:nvSpPr>
        <p:spPr>
          <a:xfrm xmlns:a="http://schemas.openxmlformats.org/drawingml/2006/main">
            <a:off x="762000" y="13811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AD414C"/>
                </a:solidFill>
                <a:latin typeface="Arial"/>
                <a:ea typeface="Arial"/>
                <a:cs typeface="Arial"/>
              </a:defRPr>
            </a:pPr>
            <a:r>
              <a:rPr sz="1500" b="1">
                <a:solidFill>
                  <a:srgbClr val="AD414C"/>
                </a:solidFill>
                <a:latin typeface="Arial"/>
                <a:ea typeface="Arial"/>
                <a:cs typeface="Arial"/>
              </a:rPr>
              <a:t>DISEÑO E IMPLEMENTACIÓN</a:t>
            </a:r>
          </a:p>
        </p:txBody>
      </p:sp>
      <p:sp>
        <p:nvSpPr>
          <p:cNvPr id="10" name="">
            <a:extLst xmlns:a="http://schemas.openxmlformats.org/drawingml/2006/main">
              <a:ext uri="{FF2B5EF4-FFF2-40B4-BE49-F238E27FC236}">
                <a16:creationId xmlns:a16="http://schemas.microsoft.com/office/drawing/2014/main" id="{35A6EEFA-F3C1-4311-BA02-1F3C053DB8E7}"/>
              </a:ext>
            </a:extLst>
          </p:cNvPr>
          <p:cNvSpPr>
            <a:spLocks xmlns:a="http://schemas.openxmlformats.org/drawingml/2006/main" noGrp="1"/>
          </p:cNvSpPr>
          <p:nvPr/>
        </p:nvSpPr>
        <p:spPr>
          <a:xfrm xmlns:a="http://schemas.openxmlformats.org/drawingml/2006/main">
            <a:off x="762000" y="1724025"/>
            <a:ext cx="10668000" cy="28575"/>
          </a:xfrm>
          <a:prstGeom xmlns:a="http://schemas.openxmlformats.org/drawingml/2006/main" prst="rect">
            <a:avLst/>
          </a:prstGeom>
          <a:solidFill xmlns:a="http://schemas.openxmlformats.org/drawingml/2006/main">
            <a:srgbClr val="AD414C"/>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C87D99EA-FEF4-43D3-933A-B4072676470D}"/>
              </a:ext>
            </a:extLst>
          </p:cNvPr>
          <p:cNvSpPr>
            <a:spLocks xmlns:a="http://schemas.openxmlformats.org/drawingml/2006/main" noGrp="1"/>
          </p:cNvSpPr>
          <p:nvPr/>
        </p:nvSpPr>
        <p:spPr>
          <a:xfrm xmlns:a="http://schemas.openxmlformats.org/drawingml/2006/main">
            <a:off x="762000" y="20859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D96B18"/>
                </a:solidFill>
                <a:latin typeface="Arial"/>
                <a:ea typeface="Arial"/>
                <a:cs typeface="Arial"/>
              </a:defRPr>
            </a:pPr>
            <a:r>
              <a:rPr sz="3300" b="1">
                <a:solidFill>
                  <a:srgbClr val="D96B18"/>
                </a:solidFill>
                <a:latin typeface="Arial"/>
                <a:ea typeface="Arial"/>
                <a:cs typeface="Arial"/>
              </a:rPr>
              <a:t>Obstrucción: 85,38 %</a:t>
            </a:r>
          </a:p>
        </p:txBody>
      </p:sp>
      <p:sp>
        <p:nvSpPr>
          <p:cNvPr id="12" name="">
            <a:extLst xmlns:a="http://schemas.openxmlformats.org/drawingml/2006/main">
              <a:ext uri="{FF2B5EF4-FFF2-40B4-BE49-F238E27FC236}">
                <a16:creationId xmlns:a16="http://schemas.microsoft.com/office/drawing/2014/main" id="{ED75ED29-30FB-4D40-B432-6F09AA27DE27}"/>
              </a:ext>
            </a:extLst>
          </p:cNvPr>
          <p:cNvSpPr>
            <a:spLocks xmlns:a="http://schemas.openxmlformats.org/drawingml/2006/main" noGrp="1"/>
          </p:cNvSpPr>
          <p:nvPr/>
        </p:nvSpPr>
        <p:spPr>
          <a:xfrm xmlns:a="http://schemas.openxmlformats.org/drawingml/2006/main">
            <a:off x="762000" y="327660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0">
                <a:solidFill>
                  <a:srgbClr val="233746"/>
                </a:solidFill>
                <a:latin typeface="Arial"/>
                <a:ea typeface="Arial"/>
                <a:cs typeface="Arial"/>
              </a:defRPr>
            </a:pPr>
            <a:r>
              <a:rPr sz="2625" b="0">
                <a:solidFill>
                  <a:srgbClr val="233746"/>
                </a:solidFill>
                <a:latin typeface="Arial"/>
                <a:ea typeface="Arial"/>
                <a:cs typeface="Arial"/>
              </a:rPr>
              <a:t>¿Desmontamos directamente la tubería?</a:t>
            </a:r>
          </a:p>
          <a:p xmlns:a="http://schemas.openxmlformats.org/drawingml/2006/main">
            <a:pPr>
              <a:defRPr sz="2625" b="0">
                <a:solidFill>
                  <a:srgbClr val="233746"/>
                </a:solidFill>
                <a:latin typeface="Arial"/>
                <a:ea typeface="Arial"/>
                <a:cs typeface="Arial"/>
              </a:defRPr>
            </a:pPr>
            <a:r>
              <a:rPr sz="2625" b="0">
                <a:solidFill>
                  <a:srgbClr val="233746"/>
                </a:solidFill>
                <a:latin typeface="Arial"/>
                <a:ea typeface="Arial"/>
                <a:cs typeface="Arial"/>
              </a:rPr>
              <a:t>¿O hacemos antes una comprobación barata?</a:t>
            </a:r>
          </a:p>
        </p:txBody>
      </p:sp>
      <p:sp>
        <p:nvSpPr>
          <p:cNvPr id="13" name="">
            <a:extLst xmlns:a="http://schemas.openxmlformats.org/drawingml/2006/main">
              <a:ext uri="{FF2B5EF4-FFF2-40B4-BE49-F238E27FC236}">
                <a16:creationId xmlns:a16="http://schemas.microsoft.com/office/drawing/2014/main" id="{8FF1A108-E8D0-4694-9D5D-02956FCC8A71}"/>
              </a:ext>
            </a:extLst>
          </p:cNvPr>
          <p:cNvSpPr>
            <a:spLocks xmlns:a="http://schemas.openxmlformats.org/drawingml/2006/main" noGrp="1"/>
          </p:cNvSpPr>
          <p:nvPr/>
        </p:nvSpPr>
        <p:spPr>
          <a:xfrm xmlns:a="http://schemas.openxmlformats.org/drawingml/2006/main">
            <a:off x="762000" y="4867275"/>
            <a:ext cx="1066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0">
                <a:solidFill>
                  <a:srgbClr val="233746"/>
                </a:solidFill>
                <a:latin typeface="Arial"/>
                <a:ea typeface="Arial"/>
                <a:cs typeface="Arial"/>
              </a:defRPr>
            </a:pPr>
            <a:r>
              <a:rPr sz="2325" b="0">
                <a:solidFill>
                  <a:srgbClr val="233746"/>
                </a:solidFill>
                <a:latin typeface="Arial"/>
                <a:ea typeface="Arial"/>
                <a:cs typeface="Arial"/>
              </a:rPr>
              <a:t>Elegir una acción también requiere valorar el coste</a:t>
            </a:r>
          </a:p>
          <a:p xmlns:a="http://schemas.openxmlformats.org/drawingml/2006/main">
            <a:pPr>
              <a:defRPr sz="2325" b="0">
                <a:solidFill>
                  <a:srgbClr val="233746"/>
                </a:solidFill>
                <a:latin typeface="Arial"/>
                <a:ea typeface="Arial"/>
                <a:cs typeface="Arial"/>
              </a:defRPr>
            </a:pPr>
            <a:r>
              <a:rPr sz="2325" b="0">
                <a:solidFill>
                  <a:srgbClr val="233746"/>
                </a:solidFill>
                <a:latin typeface="Arial"/>
                <a:ea typeface="Arial"/>
                <a:cs typeface="Arial"/>
              </a:rPr>
              <a:t>y las consecuencias de equivocarse.</a:t>
            </a:r>
          </a:p>
        </p:txBody>
      </p:sp>
      <p:sp>
        <p:nvSpPr>
          <p:cNvPr id="14" name="">
            <a:extLst xmlns:a="http://schemas.openxmlformats.org/drawingml/2006/main">
              <a:ext uri="{FF2B5EF4-FFF2-40B4-BE49-F238E27FC236}">
                <a16:creationId xmlns:a16="http://schemas.microsoft.com/office/drawing/2014/main" id="{DD1AC3C6-169A-4D0C-BB9F-21787D9C2165}"/>
              </a:ext>
            </a:extLst>
          </p:cNvPr>
          <p:cNvSpPr>
            <a:spLocks xmlns:a="http://schemas.openxmlformats.org/drawingml/2006/main" noGrp="1"/>
          </p:cNvSpPr>
          <p:nvPr/>
        </p:nvSpPr>
        <p:spPr>
          <a:xfrm xmlns:a="http://schemas.openxmlformats.org/drawingml/2006/main">
            <a:off x="762000" y="60388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D96B18"/>
                </a:solidFill>
                <a:latin typeface="Arial"/>
                <a:ea typeface="Arial"/>
                <a:cs typeface="Arial"/>
              </a:defRPr>
            </a:pPr>
            <a:r>
              <a:rPr sz="1800" b="1">
                <a:solidFill>
                  <a:srgbClr val="D96B18"/>
                </a:solidFill>
                <a:latin typeface="Arial"/>
                <a:ea typeface="Arial"/>
                <a:cs typeface="Arial"/>
              </a:rPr>
              <a:t>El sistema apoya el diagnóstico. La acción requiere criterios adicionales.</a:t>
            </a:r>
          </a:p>
        </p:txBody>
      </p:sp>
    </p:spTree>
    <p:extLst>
      <p:ext uri="{BB962C8B-B14F-4D97-AF65-F5344CB8AC3E}">
        <p14:creationId xmlns:p14="http://schemas.microsoft.com/office/powerpoint/2010/main" val="1721896526"/>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Diagnóstico bayesiano · PROVISIONAL</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35</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D96B18"/>
                </a:solidFill>
                <a:latin typeface="Arial"/>
                <a:ea typeface="Arial"/>
                <a:cs typeface="Arial"/>
              </a:defRPr>
            </a:pPr>
            <a:r>
              <a:rPr sz="3000" b="0">
                <a:solidFill>
                  <a:srgbClr val="D96B18"/>
                </a:solidFill>
                <a:latin typeface="Arial"/>
                <a:ea typeface="Arial"/>
                <a:cs typeface="Arial"/>
              </a:rPr>
              <a:t>Ejercicio: aparece una observación diferente</a:t>
            </a:r>
          </a:p>
        </p:txBody>
      </p:sp>
      <p:sp>
        <p:nvSpPr>
          <p:cNvPr id="9" name="">
            <a:extLst xmlns:a="http://schemas.openxmlformats.org/drawingml/2006/main">
              <a:ext uri="{FF2B5EF4-FFF2-40B4-BE49-F238E27FC236}">
                <a16:creationId xmlns:a16="http://schemas.microsoft.com/office/drawing/2014/main" id="{75AD3141-0BF5-4368-8F5C-776E4D5CC93D}"/>
              </a:ext>
            </a:extLst>
          </p:cNvPr>
          <p:cNvSpPr>
            <a:spLocks xmlns:a="http://schemas.openxmlformats.org/drawingml/2006/main" noGrp="1"/>
          </p:cNvSpPr>
          <p:nvPr/>
        </p:nvSpPr>
        <p:spPr>
          <a:xfrm xmlns:a="http://schemas.openxmlformats.org/drawingml/2006/main">
            <a:off x="762000" y="13811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AD414C"/>
                </a:solidFill>
                <a:latin typeface="Arial"/>
                <a:ea typeface="Arial"/>
                <a:cs typeface="Arial"/>
              </a:defRPr>
            </a:pPr>
            <a:r>
              <a:rPr sz="1500" b="1">
                <a:solidFill>
                  <a:srgbClr val="AD414C"/>
                </a:solidFill>
                <a:latin typeface="Arial"/>
                <a:ea typeface="Arial"/>
                <a:cs typeface="Arial"/>
              </a:rPr>
              <a:t>DISEÑO E IMPLEMENTACIÓN</a:t>
            </a:r>
          </a:p>
        </p:txBody>
      </p:sp>
      <p:sp>
        <p:nvSpPr>
          <p:cNvPr id="10" name="">
            <a:extLst xmlns:a="http://schemas.openxmlformats.org/drawingml/2006/main">
              <a:ext uri="{FF2B5EF4-FFF2-40B4-BE49-F238E27FC236}">
                <a16:creationId xmlns:a16="http://schemas.microsoft.com/office/drawing/2014/main" id="{FAE6B95F-D31D-43E0-8FA1-4E56AC90B59A}"/>
              </a:ext>
            </a:extLst>
          </p:cNvPr>
          <p:cNvSpPr>
            <a:spLocks xmlns:a="http://schemas.openxmlformats.org/drawingml/2006/main" noGrp="1"/>
          </p:cNvSpPr>
          <p:nvPr/>
        </p:nvSpPr>
        <p:spPr>
          <a:xfrm xmlns:a="http://schemas.openxmlformats.org/drawingml/2006/main">
            <a:off x="762000" y="1724025"/>
            <a:ext cx="10668000" cy="28575"/>
          </a:xfrm>
          <a:prstGeom xmlns:a="http://schemas.openxmlformats.org/drawingml/2006/main" prst="rect">
            <a:avLst/>
          </a:prstGeom>
          <a:solidFill xmlns:a="http://schemas.openxmlformats.org/drawingml/2006/main">
            <a:srgbClr val="AD414C"/>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D1AFC65C-0116-4D2F-80E7-5A1995AC6B96}"/>
              </a:ext>
            </a:extLst>
          </p:cNvPr>
          <p:cNvSpPr>
            <a:spLocks xmlns:a="http://schemas.openxmlformats.org/drawingml/2006/main" noGrp="1"/>
          </p:cNvSpPr>
          <p:nvPr/>
        </p:nvSpPr>
        <p:spPr>
          <a:xfrm xmlns:a="http://schemas.openxmlformats.org/drawingml/2006/main">
            <a:off x="762000" y="21240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233746"/>
                </a:solidFill>
                <a:latin typeface="Arial"/>
                <a:ea typeface="Arial"/>
                <a:cs typeface="Arial"/>
              </a:defRPr>
            </a:pPr>
            <a:r>
              <a:rPr sz="2700" b="1">
                <a:solidFill>
                  <a:srgbClr val="233746"/>
                </a:solidFill>
                <a:latin typeface="Arial"/>
                <a:ea typeface="Arial"/>
                <a:cs typeface="Arial"/>
              </a:rPr>
              <a:t>La bomba tiene caudal bajo, pero la vibración es normal.</a:t>
            </a:r>
          </a:p>
        </p:txBody>
      </p:sp>
      <p:sp>
        <p:nvSpPr>
          <p:cNvPr id="12" name="">
            <a:extLst xmlns:a="http://schemas.openxmlformats.org/drawingml/2006/main">
              <a:ext uri="{FF2B5EF4-FFF2-40B4-BE49-F238E27FC236}">
                <a16:creationId xmlns:a16="http://schemas.microsoft.com/office/drawing/2014/main" id="{65C050E4-FE58-4664-851F-D8A4C860E400}"/>
              </a:ext>
            </a:extLst>
          </p:cNvPr>
          <p:cNvSpPr>
            <a:spLocks xmlns:a="http://schemas.openxmlformats.org/drawingml/2006/main" noGrp="1"/>
          </p:cNvSpPr>
          <p:nvPr/>
        </p:nvSpPr>
        <p:spPr>
          <a:xfrm xmlns:a="http://schemas.openxmlformats.org/drawingml/2006/main">
            <a:off x="762000" y="3276600"/>
            <a:ext cx="106680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0">
                <a:solidFill>
                  <a:srgbClr val="233746"/>
                </a:solidFill>
                <a:latin typeface="Arial"/>
                <a:ea typeface="Arial"/>
                <a:cs typeface="Arial"/>
              </a:defRPr>
            </a:pPr>
            <a:r>
              <a:rPr sz="2325" b="0">
                <a:solidFill>
                  <a:srgbClr val="233746"/>
                </a:solidFill>
                <a:latin typeface="Arial"/>
                <a:ea typeface="Arial"/>
                <a:cs typeface="Arial"/>
              </a:rPr>
              <a:t>1. ¿Qué valores tiene la evidencia Q, V?</a:t>
            </a:r>
          </a:p>
          <a:p xmlns:a="http://schemas.openxmlformats.org/drawingml/2006/main">
            <a:r>
              <a:t/>
            </a:r>
          </a:p>
          <a:p xmlns:a="http://schemas.openxmlformats.org/drawingml/2006/main">
            <a:pPr>
              <a:buNone/>
              <a:defRPr sz="2325" b="0">
                <a:solidFill>
                  <a:srgbClr val="233746"/>
                </a:solidFill>
                <a:latin typeface="Arial"/>
                <a:ea typeface="Arial"/>
                <a:cs typeface="Arial"/>
              </a:defRPr>
            </a:pPr>
            <a:r>
              <a:rPr sz="2325" b="0">
                <a:solidFill>
                  <a:srgbClr val="233746"/>
                </a:solidFill>
                <a:latin typeface="Arial"/>
                <a:ea typeface="Arial"/>
                <a:cs typeface="Arial"/>
              </a:rPr>
              <a:t>2. Calculad los tres pesos usando la tabla.</a:t>
            </a:r>
          </a:p>
          <a:p xmlns:a="http://schemas.openxmlformats.org/drawingml/2006/main">
            <a:r>
              <a:t/>
            </a:r>
          </a:p>
          <a:p xmlns:a="http://schemas.openxmlformats.org/drawingml/2006/main">
            <a:pPr>
              <a:buNone/>
              <a:defRPr sz="2325" b="0">
                <a:solidFill>
                  <a:srgbClr val="233746"/>
                </a:solidFill>
                <a:latin typeface="Arial"/>
                <a:ea typeface="Arial"/>
                <a:cs typeface="Arial"/>
              </a:defRPr>
            </a:pPr>
            <a:r>
              <a:rPr sz="2325" b="0">
                <a:solidFill>
                  <a:srgbClr val="233746"/>
                </a:solidFill>
                <a:latin typeface="Arial"/>
                <a:ea typeface="Arial"/>
                <a:cs typeface="Arial"/>
              </a:rPr>
              <a:t>3. Normalizad y decidid qué causa resulta más probable.</a:t>
            </a:r>
          </a:p>
        </p:txBody>
      </p:sp>
      <p:sp>
        <p:nvSpPr>
          <p:cNvPr id="13" name="">
            <a:extLst xmlns:a="http://schemas.openxmlformats.org/drawingml/2006/main">
              <a:ext uri="{FF2B5EF4-FFF2-40B4-BE49-F238E27FC236}">
                <a16:creationId xmlns:a16="http://schemas.microsoft.com/office/drawing/2014/main" id="{07D90928-D53E-46EB-AE30-5B1128A37863}"/>
              </a:ext>
            </a:extLst>
          </p:cNvPr>
          <p:cNvSpPr>
            <a:spLocks xmlns:a="http://schemas.openxmlformats.org/drawingml/2006/main" noGrp="1"/>
          </p:cNvSpPr>
          <p:nvPr/>
        </p:nvSpPr>
        <p:spPr>
          <a:xfrm xmlns:a="http://schemas.openxmlformats.org/drawingml/2006/main">
            <a:off x="762000" y="60102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Usad P(V = no | H) = 1 − P(V = sí | H).</a:t>
            </a:r>
          </a:p>
        </p:txBody>
      </p:sp>
    </p:spTree>
    <p:extLst>
      <p:ext uri="{BB962C8B-B14F-4D97-AF65-F5344CB8AC3E}">
        <p14:creationId xmlns:p14="http://schemas.microsoft.com/office/powerpoint/2010/main" val="1721896526"/>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Diagnóstico bayesiano · PROVISIONAL</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36</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D96B18"/>
                </a:solidFill>
                <a:latin typeface="Arial"/>
                <a:ea typeface="Arial"/>
                <a:cs typeface="Arial"/>
              </a:defRPr>
            </a:pPr>
            <a:r>
              <a:rPr sz="3000" b="0">
                <a:solidFill>
                  <a:srgbClr val="D96B18"/>
                </a:solidFill>
                <a:latin typeface="Arial"/>
                <a:ea typeface="Arial"/>
                <a:cs typeface="Arial"/>
              </a:rPr>
              <a:t>Solución: la nueva evidencia cambia la prioridad</a:t>
            </a:r>
          </a:p>
        </p:txBody>
      </p:sp>
      <p:sp>
        <p:nvSpPr>
          <p:cNvPr id="9" name="">
            <a:extLst xmlns:a="http://schemas.openxmlformats.org/drawingml/2006/main">
              <a:ext uri="{FF2B5EF4-FFF2-40B4-BE49-F238E27FC236}">
                <a16:creationId xmlns:a16="http://schemas.microsoft.com/office/drawing/2014/main" id="{891BCB62-BF76-4B79-8168-926215EA9355}"/>
              </a:ext>
            </a:extLst>
          </p:cNvPr>
          <p:cNvSpPr>
            <a:spLocks xmlns:a="http://schemas.openxmlformats.org/drawingml/2006/main" noGrp="1"/>
          </p:cNvSpPr>
          <p:nvPr/>
        </p:nvSpPr>
        <p:spPr>
          <a:xfrm xmlns:a="http://schemas.openxmlformats.org/drawingml/2006/main">
            <a:off x="762000" y="13811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AD414C"/>
                </a:solidFill>
                <a:latin typeface="Arial"/>
                <a:ea typeface="Arial"/>
                <a:cs typeface="Arial"/>
              </a:defRPr>
            </a:pPr>
            <a:r>
              <a:rPr sz="1500" b="1">
                <a:solidFill>
                  <a:srgbClr val="AD414C"/>
                </a:solidFill>
                <a:latin typeface="Arial"/>
                <a:ea typeface="Arial"/>
                <a:cs typeface="Arial"/>
              </a:rPr>
              <a:t>DISEÑO E IMPLEMENTACIÓN</a:t>
            </a:r>
          </a:p>
        </p:txBody>
      </p:sp>
      <p:sp>
        <p:nvSpPr>
          <p:cNvPr id="10" name="">
            <a:extLst xmlns:a="http://schemas.openxmlformats.org/drawingml/2006/main">
              <a:ext uri="{FF2B5EF4-FFF2-40B4-BE49-F238E27FC236}">
                <a16:creationId xmlns:a16="http://schemas.microsoft.com/office/drawing/2014/main" id="{9F3ED8F0-7651-4C56-992B-554556E8D66C}"/>
              </a:ext>
            </a:extLst>
          </p:cNvPr>
          <p:cNvSpPr>
            <a:spLocks xmlns:a="http://schemas.openxmlformats.org/drawingml/2006/main" noGrp="1"/>
          </p:cNvSpPr>
          <p:nvPr/>
        </p:nvSpPr>
        <p:spPr>
          <a:xfrm xmlns:a="http://schemas.openxmlformats.org/drawingml/2006/main">
            <a:off x="762000" y="1724025"/>
            <a:ext cx="10668000" cy="28575"/>
          </a:xfrm>
          <a:prstGeom xmlns:a="http://schemas.openxmlformats.org/drawingml/2006/main" prst="rect">
            <a:avLst/>
          </a:prstGeom>
          <a:solidFill xmlns:a="http://schemas.openxmlformats.org/drawingml/2006/main">
            <a:srgbClr val="AD414C"/>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graphicFrame>
        <p:nvGraphicFramePr>
          <p:cNvPr id="23" name=""/>
          <p:cNvGraphicFramePr/>
          <p:nvPr/>
        </p:nvGraphicFramePr>
        <p:xfrm>
          <a:off xmlns:a="http://schemas.openxmlformats.org/drawingml/2006/main" x="762000" y="2047875"/>
          <a:ext xmlns:a="http://schemas.openxmlformats.org/drawingml/2006/main" cx="10668000" cy="2952750"/>
        </p:xfrm>
        <a:graphic xmlns:a="http://schemas.openxmlformats.org/drawingml/2006/main">
          <a:graphicData uri="http://schemas.openxmlformats.org/drawingml/2006/table">
            <a:tbl>
              <a:tblPr/>
              <a:tblGrid>
                <a:gridCol w="2428875"/>
                <a:gridCol w="5810250"/>
                <a:gridCol w="2428875"/>
              </a:tblGrid>
              <a:tr h="738188">
                <a:tc>
                  <a:txBody>
                    <a:bodyPr lIns="95250" tIns="76200" rIns="95250" bIns="76200"/>
                    <a:lstStyle/>
                    <a:p>
                      <a:pPr algn="ctr">
                        <a:buNone/>
                      </a:pPr>
                      <a:r>
                        <a:rPr sz="2025" b="1">
                          <a:solidFill>
                            <a:srgbClr val="2162A0"/>
                          </a:solidFill>
                          <a:latin typeface="Arial"/>
                          <a:ea typeface="Arial"/>
                          <a:cs typeface="Arial"/>
                        </a:rPr>
                        <a:t>Hipótesis</a:t>
                      </a:r>
                    </a:p>
                  </a:txBody>
                  <a:tcPr marL="91440" marR="91440" marT="45720" marB="45720" anchor="ctr">
                    <a:solidFill>
                      <a:srgbClr val="E8EFF5"/>
                    </a:solidFill>
                  </a:tcPr>
                </a:tc>
                <a:tc>
                  <a:txBody>
                    <a:bodyPr lIns="95250" tIns="76200" rIns="95250" bIns="76200"/>
                    <a:lstStyle/>
                    <a:p>
                      <a:pPr algn="ctr">
                        <a:buNone/>
                      </a:pPr>
                      <a:r>
                        <a:rPr sz="2025" b="1">
                          <a:solidFill>
                            <a:srgbClr val="2162A0"/>
                          </a:solidFill>
                          <a:latin typeface="Arial"/>
                          <a:ea typeface="Arial"/>
                          <a:cs typeface="Arial"/>
                        </a:rPr>
                        <a:t>Peso con Q = sí, V = no</a:t>
                      </a:r>
                    </a:p>
                  </a:txBody>
                  <a:tcPr marL="91440" marR="91440" marT="45720" marB="45720" anchor="ctr">
                    <a:solidFill>
                      <a:srgbClr val="E8EFF5"/>
                    </a:solidFill>
                  </a:tcPr>
                </a:tc>
                <a:tc>
                  <a:txBody>
                    <a:bodyPr lIns="95250" tIns="76200" rIns="95250" bIns="76200"/>
                    <a:lstStyle/>
                    <a:p>
                      <a:pPr algn="ctr">
                        <a:buNone/>
                      </a:pPr>
                      <a:r>
                        <a:rPr sz="2025" b="1">
                          <a:solidFill>
                            <a:srgbClr val="2162A0"/>
                          </a:solidFill>
                          <a:latin typeface="Arial"/>
                          <a:ea typeface="Arial"/>
                          <a:cs typeface="Arial"/>
                        </a:rPr>
                        <a:t>Posterior</a:t>
                      </a:r>
                    </a:p>
                  </a:txBody>
                  <a:tcPr marL="91440" marR="91440" marT="45720" marB="45720" anchor="ctr">
                    <a:solidFill>
                      <a:srgbClr val="E8EFF5"/>
                    </a:solidFill>
                  </a:tcPr>
                </a:tc>
              </a:tr>
              <a:tr h="738188">
                <a:tc>
                  <a:txBody>
                    <a:bodyPr lIns="95250" tIns="76200" rIns="95250" bIns="76200"/>
                    <a:lstStyle/>
                    <a:p>
                      <a:pPr algn="ctr">
                        <a:buNone/>
                      </a:pPr>
                      <a:r>
                        <a:rPr sz="2025" b="0">
                          <a:solidFill>
                            <a:srgbClr val="233746"/>
                          </a:solidFill>
                          <a:latin typeface="Arial"/>
                          <a:ea typeface="Arial"/>
                          <a:cs typeface="Arial"/>
                        </a:rPr>
                        <a:t>Obstrucción</a:t>
                      </a:r>
                    </a:p>
                  </a:txBody>
                  <a:tcPr marL="91440" marR="91440" marT="45720" marB="45720" anchor="ctr">
                    <a:solidFill>
                      <a:srgbClr val="FFFFFF"/>
                    </a:solidFill>
                  </a:tcPr>
                </a:tc>
                <a:tc>
                  <a:txBody>
                    <a:bodyPr lIns="95250" tIns="76200" rIns="95250" bIns="76200"/>
                    <a:lstStyle/>
                    <a:p>
                      <a:pPr algn="ctr">
                        <a:buNone/>
                      </a:pPr>
                      <a:r>
                        <a:rPr sz="2025" b="0">
                          <a:solidFill>
                            <a:srgbClr val="233746"/>
                          </a:solidFill>
                          <a:latin typeface="Arial"/>
                          <a:ea typeface="Arial"/>
                          <a:cs typeface="Arial"/>
                        </a:rPr>
                        <a:t>0,30 × 0,90 × 0,20 = 0,054</a:t>
                      </a:r>
                    </a:p>
                  </a:txBody>
                  <a:tcPr marL="91440" marR="91440" marT="45720" marB="45720" anchor="ctr">
                    <a:solidFill>
                      <a:srgbClr val="FFFFFF"/>
                    </a:solidFill>
                  </a:tcPr>
                </a:tc>
                <a:tc>
                  <a:txBody>
                    <a:bodyPr lIns="95250" tIns="76200" rIns="95250" bIns="76200"/>
                    <a:lstStyle/>
                    <a:p>
                      <a:pPr algn="ctr">
                        <a:buNone/>
                      </a:pPr>
                      <a:r>
                        <a:rPr sz="2025" b="0">
                          <a:solidFill>
                            <a:srgbClr val="233746"/>
                          </a:solidFill>
                          <a:latin typeface="Arial"/>
                          <a:ea typeface="Arial"/>
                          <a:cs typeface="Arial"/>
                        </a:rPr>
                        <a:t>23,79 %</a:t>
                      </a:r>
                    </a:p>
                  </a:txBody>
                  <a:tcPr marL="91440" marR="91440" marT="45720" marB="45720" anchor="ctr">
                    <a:solidFill>
                      <a:srgbClr val="FFFFFF"/>
                    </a:solidFill>
                  </a:tcPr>
                </a:tc>
              </a:tr>
              <a:tr h="738188">
                <a:tc>
                  <a:txBody>
                    <a:bodyPr lIns="95250" tIns="76200" rIns="95250" bIns="76200"/>
                    <a:lstStyle/>
                    <a:p>
                      <a:pPr algn="ctr">
                        <a:buNone/>
                      </a:pPr>
                      <a:r>
                        <a:rPr sz="2025" b="0">
                          <a:solidFill>
                            <a:srgbClr val="233746"/>
                          </a:solidFill>
                          <a:latin typeface="Arial"/>
                          <a:ea typeface="Arial"/>
                          <a:cs typeface="Arial"/>
                        </a:rPr>
                        <a:t>Fuga</a:t>
                      </a:r>
                    </a:p>
                  </a:txBody>
                  <a:tcPr marL="91440" marR="91440" marT="45720" marB="45720" anchor="ctr">
                    <a:solidFill>
                      <a:srgbClr val="F5F7F9"/>
                    </a:solidFill>
                  </a:tcPr>
                </a:tc>
                <a:tc>
                  <a:txBody>
                    <a:bodyPr lIns="95250" tIns="76200" rIns="95250" bIns="76200"/>
                    <a:lstStyle/>
                    <a:p>
                      <a:pPr algn="ctr">
                        <a:buNone/>
                      </a:pPr>
                      <a:r>
                        <a:rPr sz="2025" b="0">
                          <a:solidFill>
                            <a:srgbClr val="233746"/>
                          </a:solidFill>
                          <a:latin typeface="Arial"/>
                          <a:ea typeface="Arial"/>
                          <a:cs typeface="Arial"/>
                        </a:rPr>
                        <a:t>0,20 × 0,80 × 0,80 = 0,128</a:t>
                      </a:r>
                    </a:p>
                  </a:txBody>
                  <a:tcPr marL="91440" marR="91440" marT="45720" marB="45720" anchor="ctr">
                    <a:solidFill>
                      <a:srgbClr val="F5F7F9"/>
                    </a:solidFill>
                  </a:tcPr>
                </a:tc>
                <a:tc>
                  <a:txBody>
                    <a:bodyPr lIns="95250" tIns="76200" rIns="95250" bIns="76200"/>
                    <a:lstStyle/>
                    <a:p>
                      <a:pPr algn="ctr">
                        <a:buNone/>
                      </a:pPr>
                      <a:r>
                        <a:rPr sz="2025" b="0">
                          <a:solidFill>
                            <a:srgbClr val="233746"/>
                          </a:solidFill>
                          <a:latin typeface="Arial"/>
                          <a:ea typeface="Arial"/>
                          <a:cs typeface="Arial"/>
                        </a:rPr>
                        <a:t>56,39 %</a:t>
                      </a:r>
                    </a:p>
                  </a:txBody>
                  <a:tcPr marL="91440" marR="91440" marT="45720" marB="45720" anchor="ctr">
                    <a:solidFill>
                      <a:srgbClr val="F5F7F9"/>
                    </a:solidFill>
                  </a:tcPr>
                </a:tc>
              </a:tr>
              <a:tr h="738188">
                <a:tc>
                  <a:txBody>
                    <a:bodyPr lIns="95250" tIns="76200" rIns="95250" bIns="76200"/>
                    <a:lstStyle/>
                    <a:p>
                      <a:pPr algn="ctr">
                        <a:buNone/>
                      </a:pPr>
                      <a:r>
                        <a:rPr sz="2025" b="0">
                          <a:solidFill>
                            <a:srgbClr val="233746"/>
                          </a:solidFill>
                          <a:latin typeface="Arial"/>
                          <a:ea typeface="Arial"/>
                          <a:cs typeface="Arial"/>
                        </a:rPr>
                        <a:t>Otra</a:t>
                      </a:r>
                    </a:p>
                  </a:txBody>
                  <a:tcPr marL="91440" marR="91440" marT="45720" marB="45720" anchor="ctr">
                    <a:solidFill>
                      <a:srgbClr val="FFFFFF"/>
                    </a:solidFill>
                  </a:tcPr>
                </a:tc>
                <a:tc>
                  <a:txBody>
                    <a:bodyPr lIns="95250" tIns="76200" rIns="95250" bIns="76200"/>
                    <a:lstStyle/>
                    <a:p>
                      <a:pPr algn="ctr">
                        <a:buNone/>
                      </a:pPr>
                      <a:r>
                        <a:rPr sz="2025" b="0">
                          <a:solidFill>
                            <a:srgbClr val="233746"/>
                          </a:solidFill>
                          <a:latin typeface="Arial"/>
                          <a:ea typeface="Arial"/>
                          <a:cs typeface="Arial"/>
                        </a:rPr>
                        <a:t>0,50 × 0,10 × 0,90 = 0,045</a:t>
                      </a:r>
                    </a:p>
                  </a:txBody>
                  <a:tcPr marL="91440" marR="91440" marT="45720" marB="45720" anchor="ctr">
                    <a:solidFill>
                      <a:srgbClr val="FFFFFF"/>
                    </a:solidFill>
                  </a:tcPr>
                </a:tc>
                <a:tc>
                  <a:txBody>
                    <a:bodyPr lIns="95250" tIns="76200" rIns="95250" bIns="76200"/>
                    <a:lstStyle/>
                    <a:p>
                      <a:pPr algn="ctr">
                        <a:buNone/>
                      </a:pPr>
                      <a:r>
                        <a:rPr sz="2025" b="0">
                          <a:solidFill>
                            <a:srgbClr val="233746"/>
                          </a:solidFill>
                          <a:latin typeface="Arial"/>
                          <a:ea typeface="Arial"/>
                          <a:cs typeface="Arial"/>
                        </a:rPr>
                        <a:t>19,82 %</a:t>
                      </a:r>
                    </a:p>
                  </a:txBody>
                  <a:tcPr marL="91440" marR="91440" marT="45720" marB="45720" anchor="ctr">
                    <a:solidFill>
                      <a:srgbClr val="FFFFFF"/>
                    </a:solidFill>
                  </a:tcPr>
                </a:tc>
              </a:tr>
            </a:tbl>
          </a:graphicData>
        </a:graphic>
      </p:graphicFrame>
      <p:sp>
        <p:nvSpPr>
          <p:cNvPr id="12" name="">
            <a:extLst xmlns:a="http://schemas.openxmlformats.org/drawingml/2006/main">
              <a:ext uri="{FF2B5EF4-FFF2-40B4-BE49-F238E27FC236}">
                <a16:creationId xmlns:a16="http://schemas.microsoft.com/office/drawing/2014/main" id="{CDDFE1DE-8236-458A-B7C9-034397B8BF81}"/>
              </a:ext>
            </a:extLst>
          </p:cNvPr>
          <p:cNvSpPr>
            <a:spLocks xmlns:a="http://schemas.openxmlformats.org/drawingml/2006/main" noGrp="1"/>
          </p:cNvSpPr>
          <p:nvPr/>
        </p:nvSpPr>
        <p:spPr>
          <a:xfrm xmlns:a="http://schemas.openxmlformats.org/drawingml/2006/main">
            <a:off x="762000" y="52863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0">
                <a:solidFill>
                  <a:srgbClr val="233746"/>
                </a:solidFill>
                <a:latin typeface="Arial"/>
                <a:ea typeface="Arial"/>
                <a:cs typeface="Arial"/>
              </a:defRPr>
            </a:pPr>
            <a:r>
              <a:rPr sz="2325" b="0">
                <a:solidFill>
                  <a:srgbClr val="233746"/>
                </a:solidFill>
                <a:latin typeface="Arial"/>
                <a:ea typeface="Arial"/>
                <a:cs typeface="Arial"/>
              </a:rPr>
              <a:t>Total = 0,227. Ahora la hipótesis más probable es fuga.</a:t>
            </a:r>
          </a:p>
        </p:txBody>
      </p:sp>
      <p:sp>
        <p:nvSpPr>
          <p:cNvPr id="13" name="">
            <a:extLst xmlns:a="http://schemas.openxmlformats.org/drawingml/2006/main">
              <a:ext uri="{FF2B5EF4-FFF2-40B4-BE49-F238E27FC236}">
                <a16:creationId xmlns:a16="http://schemas.microsoft.com/office/drawing/2014/main" id="{FE069A8F-84DE-4CEB-9B5D-D62C73CBE996}"/>
              </a:ext>
            </a:extLst>
          </p:cNvPr>
          <p:cNvSpPr>
            <a:spLocks xmlns:a="http://schemas.openxmlformats.org/drawingml/2006/main" noGrp="1"/>
          </p:cNvSpPr>
          <p:nvPr/>
        </p:nvSpPr>
        <p:spPr>
          <a:xfrm xmlns:a="http://schemas.openxmlformats.org/drawingml/2006/main">
            <a:off x="762000" y="60102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«Vibración normal» y «Vibración desconocida» no son la misma evidencia.</a:t>
            </a:r>
          </a:p>
        </p:txBody>
      </p:sp>
    </p:spTree>
    <p:extLst>
      <p:ext uri="{BB962C8B-B14F-4D97-AF65-F5344CB8AC3E}">
        <p14:creationId xmlns:p14="http://schemas.microsoft.com/office/powerpoint/2010/main" val="1721896526"/>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Diagnóstico bayesiano · PROVISIONAL</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37</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D96B18"/>
                </a:solidFill>
                <a:latin typeface="Arial"/>
                <a:ea typeface="Arial"/>
                <a:cs typeface="Arial"/>
              </a:defRPr>
            </a:pPr>
            <a:r>
              <a:rPr sz="3000" b="0">
                <a:solidFill>
                  <a:srgbClr val="D96B18"/>
                </a:solidFill>
                <a:latin typeface="Arial"/>
                <a:ea typeface="Arial"/>
                <a:cs typeface="Arial"/>
              </a:rPr>
              <a:t>Qué debería quedar en vuestro diseño</a:t>
            </a:r>
          </a:p>
        </p:txBody>
      </p:sp>
      <p:sp>
        <p:nvSpPr>
          <p:cNvPr id="9" name="">
            <a:extLst xmlns:a="http://schemas.openxmlformats.org/drawingml/2006/main">
              <a:ext uri="{FF2B5EF4-FFF2-40B4-BE49-F238E27FC236}">
                <a16:creationId xmlns:a16="http://schemas.microsoft.com/office/drawing/2014/main" id="{6796ABE9-50FD-4007-BDE2-A2157531A6DA}"/>
              </a:ext>
            </a:extLst>
          </p:cNvPr>
          <p:cNvSpPr>
            <a:spLocks xmlns:a="http://schemas.openxmlformats.org/drawingml/2006/main" noGrp="1"/>
          </p:cNvSpPr>
          <p:nvPr/>
        </p:nvSpPr>
        <p:spPr>
          <a:xfrm xmlns:a="http://schemas.openxmlformats.org/drawingml/2006/main">
            <a:off x="762000" y="13811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AD414C"/>
                </a:solidFill>
                <a:latin typeface="Arial"/>
                <a:ea typeface="Arial"/>
                <a:cs typeface="Arial"/>
              </a:defRPr>
            </a:pPr>
            <a:r>
              <a:rPr sz="1500" b="1">
                <a:solidFill>
                  <a:srgbClr val="AD414C"/>
                </a:solidFill>
                <a:latin typeface="Arial"/>
                <a:ea typeface="Arial"/>
                <a:cs typeface="Arial"/>
              </a:rPr>
              <a:t>DISEÑO E IMPLEMENTACIÓN</a:t>
            </a:r>
          </a:p>
        </p:txBody>
      </p:sp>
      <p:sp>
        <p:nvSpPr>
          <p:cNvPr id="10" name="">
            <a:extLst xmlns:a="http://schemas.openxmlformats.org/drawingml/2006/main">
              <a:ext uri="{FF2B5EF4-FFF2-40B4-BE49-F238E27FC236}">
                <a16:creationId xmlns:a16="http://schemas.microsoft.com/office/drawing/2014/main" id="{F9BD8749-58A0-4641-B211-2E824CB16C69}"/>
              </a:ext>
            </a:extLst>
          </p:cNvPr>
          <p:cNvSpPr>
            <a:spLocks xmlns:a="http://schemas.openxmlformats.org/drawingml/2006/main" noGrp="1"/>
          </p:cNvSpPr>
          <p:nvPr/>
        </p:nvSpPr>
        <p:spPr>
          <a:xfrm xmlns:a="http://schemas.openxmlformats.org/drawingml/2006/main">
            <a:off x="762000" y="1724025"/>
            <a:ext cx="10668000" cy="28575"/>
          </a:xfrm>
          <a:prstGeom xmlns:a="http://schemas.openxmlformats.org/drawingml/2006/main" prst="rect">
            <a:avLst/>
          </a:prstGeom>
          <a:solidFill xmlns:a="http://schemas.openxmlformats.org/drawingml/2006/main">
            <a:srgbClr val="AD414C"/>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ACAE6CCC-D547-45A9-9398-454F49582F8C}"/>
              </a:ext>
            </a:extLst>
          </p:cNvPr>
          <p:cNvSpPr>
            <a:spLocks xmlns:a="http://schemas.openxmlformats.org/drawingml/2006/main" noGrp="1"/>
          </p:cNvSpPr>
          <p:nvPr/>
        </p:nvSpPr>
        <p:spPr>
          <a:xfrm xmlns:a="http://schemas.openxmlformats.org/drawingml/2006/main">
            <a:off x="762000" y="198120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D96B18"/>
                </a:solidFill>
                <a:latin typeface="Arial"/>
                <a:ea typeface="Arial"/>
                <a:cs typeface="Arial"/>
              </a:defRPr>
            </a:pPr>
            <a:r>
              <a:rPr sz="2250" b="1">
                <a:solidFill>
                  <a:srgbClr val="D96B18"/>
                </a:solidFill>
                <a:latin typeface="Arial"/>
                <a:ea typeface="Arial"/>
                <a:cs typeface="Arial"/>
              </a:rPr>
              <a:t>Modelo explícito</a:t>
            </a:r>
          </a:p>
        </p:txBody>
      </p:sp>
      <p:sp>
        <p:nvSpPr>
          <p:cNvPr id="12" name="">
            <a:extLst xmlns:a="http://schemas.openxmlformats.org/drawingml/2006/main">
              <a:ext uri="{FF2B5EF4-FFF2-40B4-BE49-F238E27FC236}">
                <a16:creationId xmlns:a16="http://schemas.microsoft.com/office/drawing/2014/main" id="{7707537D-AB5F-4D54-BECE-2E92DA1901B6}"/>
              </a:ext>
            </a:extLst>
          </p:cNvPr>
          <p:cNvSpPr>
            <a:spLocks xmlns:a="http://schemas.openxmlformats.org/drawingml/2006/main" noGrp="1"/>
          </p:cNvSpPr>
          <p:nvPr/>
        </p:nvSpPr>
        <p:spPr>
          <a:xfrm xmlns:a="http://schemas.openxmlformats.org/drawingml/2006/main">
            <a:off x="762000" y="24193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Variables, estados, grafo, tablas y fuentes o supuestos.</a:t>
            </a:r>
          </a:p>
        </p:txBody>
      </p:sp>
      <p:sp>
        <p:nvSpPr>
          <p:cNvPr id="13" name="">
            <a:extLst xmlns:a="http://schemas.openxmlformats.org/drawingml/2006/main">
              <a:ext uri="{FF2B5EF4-FFF2-40B4-BE49-F238E27FC236}">
                <a16:creationId xmlns:a16="http://schemas.microsoft.com/office/drawing/2014/main" id="{E2127FE1-C2F8-4F12-8CF3-8AEAC3CDF633}"/>
              </a:ext>
            </a:extLst>
          </p:cNvPr>
          <p:cNvSpPr>
            <a:spLocks xmlns:a="http://schemas.openxmlformats.org/drawingml/2006/main" noGrp="1"/>
          </p:cNvSpPr>
          <p:nvPr/>
        </p:nvSpPr>
        <p:spPr>
          <a:xfrm xmlns:a="http://schemas.openxmlformats.org/drawingml/2006/main">
            <a:off x="762000" y="318135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D96B18"/>
                </a:solidFill>
                <a:latin typeface="Arial"/>
                <a:ea typeface="Arial"/>
                <a:cs typeface="Arial"/>
              </a:defRPr>
            </a:pPr>
            <a:r>
              <a:rPr sz="2250" b="1">
                <a:solidFill>
                  <a:srgbClr val="D96B18"/>
                </a:solidFill>
                <a:latin typeface="Arial"/>
                <a:ea typeface="Arial"/>
                <a:cs typeface="Arial"/>
              </a:rPr>
              <a:t>Aplicación local con interfaz</a:t>
            </a:r>
          </a:p>
        </p:txBody>
      </p:sp>
      <p:sp>
        <p:nvSpPr>
          <p:cNvPr id="14" name="">
            <a:extLst xmlns:a="http://schemas.openxmlformats.org/drawingml/2006/main">
              <a:ext uri="{FF2B5EF4-FFF2-40B4-BE49-F238E27FC236}">
                <a16:creationId xmlns:a16="http://schemas.microsoft.com/office/drawing/2014/main" id="{9BA2AFE6-A1C0-4679-AA03-DBECA756B06B}"/>
              </a:ext>
            </a:extLst>
          </p:cNvPr>
          <p:cNvSpPr>
            <a:spLocks xmlns:a="http://schemas.openxmlformats.org/drawingml/2006/main" noGrp="1"/>
          </p:cNvSpPr>
          <p:nvPr/>
        </p:nvSpPr>
        <p:spPr>
          <a:xfrm xmlns:a="http://schemas.openxmlformats.org/drawingml/2006/main">
            <a:off x="762000" y="36195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Introducción de evidencias, inferencia y presentación del diagnóstico.</a:t>
            </a:r>
          </a:p>
        </p:txBody>
      </p:sp>
      <p:sp>
        <p:nvSpPr>
          <p:cNvPr id="15" name="">
            <a:extLst xmlns:a="http://schemas.openxmlformats.org/drawingml/2006/main">
              <a:ext uri="{FF2B5EF4-FFF2-40B4-BE49-F238E27FC236}">
                <a16:creationId xmlns:a16="http://schemas.microsoft.com/office/drawing/2014/main" id="{D15D371E-6C39-45D4-B286-F5BD9E5DAB8D}"/>
              </a:ext>
            </a:extLst>
          </p:cNvPr>
          <p:cNvSpPr>
            <a:spLocks xmlns:a="http://schemas.openxmlformats.org/drawingml/2006/main" noGrp="1"/>
          </p:cNvSpPr>
          <p:nvPr/>
        </p:nvSpPr>
        <p:spPr>
          <a:xfrm xmlns:a="http://schemas.openxmlformats.org/drawingml/2006/main">
            <a:off x="762000" y="438150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D96B18"/>
                </a:solidFill>
                <a:latin typeface="Arial"/>
                <a:ea typeface="Arial"/>
                <a:cs typeface="Arial"/>
              </a:defRPr>
            </a:pPr>
            <a:r>
              <a:rPr sz="2250" b="1">
                <a:solidFill>
                  <a:srgbClr val="D96B18"/>
                </a:solidFill>
                <a:latin typeface="Arial"/>
                <a:ea typeface="Arial"/>
                <a:cs typeface="Arial"/>
              </a:rPr>
              <a:t>Comprobaciones</a:t>
            </a:r>
          </a:p>
        </p:txBody>
      </p:sp>
      <p:sp>
        <p:nvSpPr>
          <p:cNvPr id="16" name="">
            <a:extLst xmlns:a="http://schemas.openxmlformats.org/drawingml/2006/main">
              <a:ext uri="{FF2B5EF4-FFF2-40B4-BE49-F238E27FC236}">
                <a16:creationId xmlns:a16="http://schemas.microsoft.com/office/drawing/2014/main" id="{D9F4C0CB-15D2-410B-BBCD-168E6C056FCA}"/>
              </a:ext>
            </a:extLst>
          </p:cNvPr>
          <p:cNvSpPr>
            <a:spLocks xmlns:a="http://schemas.openxmlformats.org/drawingml/2006/main" noGrp="1"/>
          </p:cNvSpPr>
          <p:nvPr/>
        </p:nvSpPr>
        <p:spPr>
          <a:xfrm xmlns:a="http://schemas.openxmlformats.org/drawingml/2006/main">
            <a:off x="762000" y="48196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Casos de prueba y límites de lo que el sistema puede concluir.</a:t>
            </a:r>
          </a:p>
        </p:txBody>
      </p:sp>
      <p:sp>
        <p:nvSpPr>
          <p:cNvPr id="17" name="">
            <a:extLst xmlns:a="http://schemas.openxmlformats.org/drawingml/2006/main">
              <a:ext uri="{FF2B5EF4-FFF2-40B4-BE49-F238E27FC236}">
                <a16:creationId xmlns:a16="http://schemas.microsoft.com/office/drawing/2014/main" id="{1B7F1463-174B-41F5-915D-3848A2FDD6FE}"/>
              </a:ext>
            </a:extLst>
          </p:cNvPr>
          <p:cNvSpPr>
            <a:spLocks xmlns:a="http://schemas.openxmlformats.org/drawingml/2006/main" noGrp="1"/>
          </p:cNvSpPr>
          <p:nvPr/>
        </p:nvSpPr>
        <p:spPr>
          <a:xfrm xmlns:a="http://schemas.openxmlformats.org/drawingml/2006/main">
            <a:off x="762000" y="60102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Libertad de implementación. Lo esencial es justificar cómo se obtiene el diagnóstico.</a:t>
            </a:r>
          </a:p>
        </p:txBody>
      </p:sp>
    </p:spTree>
    <p:extLst>
      <p:ext uri="{BB962C8B-B14F-4D97-AF65-F5344CB8AC3E}">
        <p14:creationId xmlns:p14="http://schemas.microsoft.com/office/powerpoint/2010/main" val="172189652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Diagnóstico bayesiano · PROVISIONAL</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38</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D96B18"/>
                </a:solidFill>
                <a:latin typeface="Arial"/>
                <a:ea typeface="Arial"/>
                <a:cs typeface="Arial"/>
              </a:defRPr>
            </a:pPr>
            <a:r>
              <a:rPr sz="3000" b="0">
                <a:solidFill>
                  <a:srgbClr val="D96B18"/>
                </a:solidFill>
                <a:latin typeface="Arial"/>
                <a:ea typeface="Arial"/>
                <a:cs typeface="Arial"/>
              </a:rPr>
              <a:t>Referencias y continuación de la lectura</a:t>
            </a:r>
          </a:p>
        </p:txBody>
      </p:sp>
      <p:sp>
        <p:nvSpPr>
          <p:cNvPr id="9" name="">
            <a:extLst xmlns:a="http://schemas.openxmlformats.org/drawingml/2006/main">
              <a:ext uri="{FF2B5EF4-FFF2-40B4-BE49-F238E27FC236}">
                <a16:creationId xmlns:a16="http://schemas.microsoft.com/office/drawing/2014/main" id="{8CEEC963-25A6-4668-AF23-73261B29CFBB}"/>
              </a:ext>
            </a:extLst>
          </p:cNvPr>
          <p:cNvSpPr>
            <a:spLocks xmlns:a="http://schemas.openxmlformats.org/drawingml/2006/main" noGrp="1"/>
          </p:cNvSpPr>
          <p:nvPr/>
        </p:nvSpPr>
        <p:spPr>
          <a:xfrm xmlns:a="http://schemas.openxmlformats.org/drawingml/2006/main">
            <a:off x="762000" y="13811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1">
                <a:solidFill>
                  <a:srgbClr val="AD414C"/>
                </a:solidFill>
                <a:latin typeface="Arial"/>
                <a:ea typeface="Arial"/>
                <a:cs typeface="Arial"/>
              </a:defRPr>
            </a:pPr>
            <a:r>
              <a:rPr sz="1500" b="1">
                <a:solidFill>
                  <a:srgbClr val="AD414C"/>
                </a:solidFill>
                <a:latin typeface="Arial"/>
                <a:ea typeface="Arial"/>
                <a:cs typeface="Arial"/>
              </a:rPr>
              <a:t>DISEÑO E IMPLEMENTACIÓN</a:t>
            </a:r>
          </a:p>
        </p:txBody>
      </p:sp>
      <p:sp>
        <p:nvSpPr>
          <p:cNvPr id="10" name="">
            <a:extLst xmlns:a="http://schemas.openxmlformats.org/drawingml/2006/main">
              <a:ext uri="{FF2B5EF4-FFF2-40B4-BE49-F238E27FC236}">
                <a16:creationId xmlns:a16="http://schemas.microsoft.com/office/drawing/2014/main" id="{848FC8B8-7BD0-4FB0-94D2-2021E3360AE1}"/>
              </a:ext>
            </a:extLst>
          </p:cNvPr>
          <p:cNvSpPr>
            <a:spLocks xmlns:a="http://schemas.openxmlformats.org/drawingml/2006/main" noGrp="1"/>
          </p:cNvSpPr>
          <p:nvPr/>
        </p:nvSpPr>
        <p:spPr>
          <a:xfrm xmlns:a="http://schemas.openxmlformats.org/drawingml/2006/main">
            <a:off x="762000" y="1724025"/>
            <a:ext cx="10668000" cy="28575"/>
          </a:xfrm>
          <a:prstGeom xmlns:a="http://schemas.openxmlformats.org/drawingml/2006/main" prst="rect">
            <a:avLst/>
          </a:prstGeom>
          <a:solidFill xmlns:a="http://schemas.openxmlformats.org/drawingml/2006/main">
            <a:srgbClr val="AD414C"/>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E2E38FF0-8E8C-42B6-9F4B-8986B9F41DF9}"/>
              </a:ext>
            </a:extLst>
          </p:cNvPr>
          <p:cNvSpPr>
            <a:spLocks xmlns:a="http://schemas.openxmlformats.org/drawingml/2006/main" noGrp="1"/>
          </p:cNvSpPr>
          <p:nvPr/>
        </p:nvSpPr>
        <p:spPr>
          <a:xfrm xmlns:a="http://schemas.openxmlformats.org/drawingml/2006/main">
            <a:off x="762000" y="200025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1">
                <a:solidFill>
                  <a:srgbClr val="D96B18"/>
                </a:solidFill>
                <a:latin typeface="Arial"/>
                <a:ea typeface="Arial"/>
                <a:cs typeface="Arial"/>
              </a:defRPr>
            </a:pPr>
            <a:r>
              <a:rPr sz="2325" b="1">
                <a:solidFill>
                  <a:srgbClr val="D96B18"/>
                </a:solidFill>
                <a:latin typeface="Arial"/>
                <a:ea typeface="Arial"/>
                <a:cs typeface="Arial"/>
              </a:rPr>
              <a:t>Luis Enrique Sucar</a:t>
            </a:r>
          </a:p>
        </p:txBody>
      </p:sp>
      <p:sp>
        <p:nvSpPr>
          <p:cNvPr id="12" name="">
            <a:extLst xmlns:a="http://schemas.openxmlformats.org/drawingml/2006/main">
              <a:ext uri="{FF2B5EF4-FFF2-40B4-BE49-F238E27FC236}">
                <a16:creationId xmlns:a16="http://schemas.microsoft.com/office/drawing/2014/main" id="{C8B349EA-30CF-43B9-941E-CD38A49EF434}"/>
              </a:ext>
            </a:extLst>
          </p:cNvPr>
          <p:cNvSpPr>
            <a:spLocks xmlns:a="http://schemas.openxmlformats.org/drawingml/2006/main" noGrp="1"/>
          </p:cNvSpPr>
          <p:nvPr/>
        </p:nvSpPr>
        <p:spPr>
          <a:xfrm xmlns:a="http://schemas.openxmlformats.org/drawingml/2006/main">
            <a:off x="762000" y="251460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0">
                <a:solidFill>
                  <a:srgbClr val="233746"/>
                </a:solidFill>
                <a:latin typeface="Arial"/>
                <a:ea typeface="Arial"/>
                <a:cs typeface="Arial"/>
              </a:defRPr>
            </a:pPr>
            <a:r>
              <a:rPr sz="2250" b="0">
                <a:solidFill>
                  <a:srgbClr val="233746"/>
                </a:solidFill>
                <a:latin typeface="Arial"/>
                <a:ea typeface="Arial"/>
                <a:cs typeface="Arial"/>
              </a:rPr>
              <a:t>Probabilistic Graphical Models: Principles and Applications</a:t>
            </a:r>
          </a:p>
          <a:p xmlns:a="http://schemas.openxmlformats.org/drawingml/2006/main">
            <a:pPr>
              <a:buNone/>
              <a:defRPr sz="2250" b="0">
                <a:solidFill>
                  <a:srgbClr val="233746"/>
                </a:solidFill>
                <a:latin typeface="Arial"/>
                <a:ea typeface="Arial"/>
                <a:cs typeface="Arial"/>
              </a:defRPr>
            </a:pPr>
            <a:r>
              <a:rPr sz="2250" b="0">
                <a:solidFill>
                  <a:srgbClr val="233746"/>
                </a:solidFill>
                <a:latin typeface="Arial"/>
                <a:ea typeface="Arial"/>
                <a:cs typeface="Arial"/>
              </a:rPr>
              <a:t>2.ª edición, Springer, 2021</a:t>
            </a:r>
          </a:p>
        </p:txBody>
      </p:sp>
      <p:sp>
        <p:nvSpPr>
          <p:cNvPr id="13" name="">
            <a:extLst xmlns:a="http://schemas.openxmlformats.org/drawingml/2006/main">
              <a:ext uri="{FF2B5EF4-FFF2-40B4-BE49-F238E27FC236}">
                <a16:creationId xmlns:a16="http://schemas.microsoft.com/office/drawing/2014/main" id="{57DE45B1-6D7B-4A8F-986D-B5B33F357460}"/>
              </a:ext>
            </a:extLst>
          </p:cNvPr>
          <p:cNvSpPr>
            <a:spLocks xmlns:a="http://schemas.openxmlformats.org/drawingml/2006/main" noGrp="1"/>
          </p:cNvSpPr>
          <p:nvPr/>
        </p:nvSpPr>
        <p:spPr>
          <a:xfrm xmlns:a="http://schemas.openxmlformats.org/drawingml/2006/main">
            <a:off x="762000" y="3800475"/>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Para esta práctica: capítulo 2 y, especialmente, capítulo 7.</a:t>
            </a:r>
          </a:p>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Capítulo 4 para naive Bayes. Capítulo 8 si vais a aprender con datos.</a:t>
            </a:r>
          </a:p>
        </p:txBody>
      </p:sp>
      <p:sp>
        <p:nvSpPr>
          <p:cNvPr id="14" name="">
            <a:extLst xmlns:a="http://schemas.openxmlformats.org/drawingml/2006/main">
              <a:ext uri="{FF2B5EF4-FFF2-40B4-BE49-F238E27FC236}">
                <a16:creationId xmlns:a16="http://schemas.microsoft.com/office/drawing/2014/main" id="{C4A8314E-D530-4EE8-8199-2648E679A6A6}"/>
              </a:ext>
            </a:extLst>
          </p:cNvPr>
          <p:cNvSpPr>
            <a:spLocks xmlns:a="http://schemas.openxmlformats.org/drawingml/2006/main" noGrp="1"/>
          </p:cNvSpPr>
          <p:nvPr/>
        </p:nvSpPr>
        <p:spPr>
          <a:xfrm xmlns:a="http://schemas.openxmlformats.org/drawingml/2006/main">
            <a:off x="762000" y="5238750"/>
            <a:ext cx="1066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233746"/>
                </a:solidFill>
                <a:latin typeface="Arial"/>
                <a:ea typeface="Arial"/>
                <a:cs typeface="Arial"/>
              </a:defRPr>
            </a:pPr>
            <a:r>
              <a:rPr sz="1950" b="0">
                <a:solidFill>
                  <a:srgbClr val="233746"/>
                </a:solidFill>
                <a:latin typeface="Arial"/>
                <a:ea typeface="Arial"/>
                <a:cs typeface="Arial"/>
              </a:rPr>
              <a:t>Materiales públicos del autor y documentación de pgmpy:</a:t>
            </a:r>
          </a:p>
          <a:p xmlns:a="http://schemas.openxmlformats.org/drawingml/2006/main">
            <a:pPr>
              <a:buNone/>
              <a:defRPr sz="1950" b="0">
                <a:solidFill>
                  <a:srgbClr val="233746"/>
                </a:solidFill>
                <a:latin typeface="Arial"/>
                <a:ea typeface="Arial"/>
                <a:cs typeface="Arial"/>
              </a:defRPr>
            </a:pPr>
            <a:r>
              <a:rPr sz="1950" b="0">
                <a:solidFill>
                  <a:srgbClr val="233746"/>
                </a:solidFill>
                <a:latin typeface="Arial"/>
                <a:ea typeface="Arial"/>
                <a:cs typeface="Arial"/>
              </a:rPr>
              <a:t>enlaces completos en las notas de las diapositivas.</a:t>
            </a:r>
          </a:p>
        </p:txBody>
      </p:sp>
    </p:spTree>
    <p:extLst>
      <p:ext uri="{BB962C8B-B14F-4D97-AF65-F5344CB8AC3E}">
        <p14:creationId xmlns:p14="http://schemas.microsoft.com/office/powerpoint/2010/main" val="17218965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2026-10-04T20:16:59.1500000Z</dcterms:created>
  <dcterms:modified xsi:type="dcterms:W3CDTF">2026-10-04T20:16:59.1500000Z</dcterms:modified>
</coreProperties>
</file>