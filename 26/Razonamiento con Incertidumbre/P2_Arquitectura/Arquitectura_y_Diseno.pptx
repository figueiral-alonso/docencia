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2cd209ca67490a" /><Relationship Type="http://schemas.openxmlformats.org/officeDocument/2006/relationships/extended-properties" Target="/docProps/app.xml" Id="R2222bbbcfd854e0b" /><Relationship Type="http://schemas.openxmlformats.org/officeDocument/2006/relationships/officeDocument" Target="/ppt/presentation.xml" Id="R58df4b4eea1b42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692e8893464c5f"/>
  </p:sldMasterIdLst>
  <p:notesMasterIdLst>
    <p:notesMasterId xmlns:r="http://schemas.openxmlformats.org/officeDocument/2006/relationships" r:id="R668dfdb515164de7"/>
  </p:notesMasterIdLst>
  <p:sldIdLst>
    <p:sldId xmlns:r="http://schemas.openxmlformats.org/officeDocument/2006/relationships" id="256" r:id="Ra65028d1528e4a95"/>
    <p:sldId xmlns:r="http://schemas.openxmlformats.org/officeDocument/2006/relationships" id="257" r:id="R40f10ce687e9413f"/>
    <p:sldId xmlns:r="http://schemas.openxmlformats.org/officeDocument/2006/relationships" id="258" r:id="Rc461d562a0dd475b"/>
    <p:sldId xmlns:r="http://schemas.openxmlformats.org/officeDocument/2006/relationships" id="259" r:id="Rd30f74e1f70e4eaa"/>
    <p:sldId xmlns:r="http://schemas.openxmlformats.org/officeDocument/2006/relationships" id="260" r:id="Rf1a89e43aa0148fa"/>
    <p:sldId xmlns:r="http://schemas.openxmlformats.org/officeDocument/2006/relationships" id="261" r:id="Rd3099be96dbf44d4"/>
    <p:sldId xmlns:r="http://schemas.openxmlformats.org/officeDocument/2006/relationships" id="262" r:id="Raa26f734eb244dda"/>
    <p:sldId xmlns:r="http://schemas.openxmlformats.org/officeDocument/2006/relationships" id="263" r:id="R7748e047f61d44ff"/>
    <p:sldId xmlns:r="http://schemas.openxmlformats.org/officeDocument/2006/relationships" id="264" r:id="R8795f692c9844929"/>
    <p:sldId xmlns:r="http://schemas.openxmlformats.org/officeDocument/2006/relationships" id="265" r:id="R04d1eefdac9e4f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96057f5d6c45e7" /><Relationship Type="http://schemas.openxmlformats.org/officeDocument/2006/relationships/slideMaster" Target="/ppt/slideMasters/slideMaster1.xml" Id="R1a692e8893464c5f" /><Relationship Type="http://schemas.openxmlformats.org/officeDocument/2006/relationships/notesMaster" Target="/ppt/notesMasters/notesMaster1.xml" Id="R668dfdb515164de7" /><Relationship Type="http://schemas.openxmlformats.org/officeDocument/2006/relationships/presProps" Target="/ppt/presProps.xml" Id="R4439e436d9f84541" /><Relationship Type="http://schemas.openxmlformats.org/officeDocument/2006/relationships/tableStyles" Target="/ppt/tableStyles.xml" Id="Rbccbed14f08f4700" /><Relationship Type="http://schemas.openxmlformats.org/officeDocument/2006/relationships/slide" Target="/ppt/slides/slide1.xml" Id="Ra65028d1528e4a95" /><Relationship Type="http://schemas.openxmlformats.org/officeDocument/2006/relationships/slide" Target="/ppt/slides/slide2.xml" Id="R40f10ce687e9413f" /><Relationship Type="http://schemas.openxmlformats.org/officeDocument/2006/relationships/slide" Target="/ppt/slides/slide3.xml" Id="Rc461d562a0dd475b" /><Relationship Type="http://schemas.openxmlformats.org/officeDocument/2006/relationships/slide" Target="/ppt/slides/slide4.xml" Id="Rd30f74e1f70e4eaa" /><Relationship Type="http://schemas.openxmlformats.org/officeDocument/2006/relationships/slide" Target="/ppt/slides/slide5.xml" Id="Rf1a89e43aa0148fa" /><Relationship Type="http://schemas.openxmlformats.org/officeDocument/2006/relationships/slide" Target="/ppt/slides/slide6.xml" Id="Rd3099be96dbf44d4" /><Relationship Type="http://schemas.openxmlformats.org/officeDocument/2006/relationships/slide" Target="/ppt/slides/slide7.xml" Id="Raa26f734eb244dda" /><Relationship Type="http://schemas.openxmlformats.org/officeDocument/2006/relationships/slide" Target="/ppt/slides/slide8.xml" Id="R7748e047f61d44ff" /><Relationship Type="http://schemas.openxmlformats.org/officeDocument/2006/relationships/slide" Target="/ppt/slides/slide9.xml" Id="R8795f692c9844929" /><Relationship Type="http://schemas.openxmlformats.org/officeDocument/2006/relationships/slide" Target="/ppt/slides/slide10.xml" Id="R04d1eefdac9e4f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c6cd0b83c544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281c45b278402c" /><Relationship Type="http://schemas.openxmlformats.org/officeDocument/2006/relationships/notesMaster" Target="/ppt/notesMasters/notesMaster1.xml" Id="R5193fbba5afd46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fdae56ef77460f" /><Relationship Type="http://schemas.openxmlformats.org/officeDocument/2006/relationships/notesMaster" Target="/ppt/notesMasters/notesMaster1.xml" Id="Rbaa753d720ac4b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86537c558543c5" /><Relationship Type="http://schemas.openxmlformats.org/officeDocument/2006/relationships/notesMaster" Target="/ppt/notesMasters/notesMaster1.xml" Id="R75aeb59d330b40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5d0985d3f94ea3" /><Relationship Type="http://schemas.openxmlformats.org/officeDocument/2006/relationships/notesMaster" Target="/ppt/notesMasters/notesMaster1.xml" Id="R80bc24e5fb984b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3ae3bbc2b7418f" /><Relationship Type="http://schemas.openxmlformats.org/officeDocument/2006/relationships/notesMaster" Target="/ppt/notesMasters/notesMaster1.xml" Id="Rc664d294960943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525c444f85411c" /><Relationship Type="http://schemas.openxmlformats.org/officeDocument/2006/relationships/notesMaster" Target="/ppt/notesMasters/notesMaster1.xml" Id="Rf582cae5cb4542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4c2c16336c4f30" /><Relationship Type="http://schemas.openxmlformats.org/officeDocument/2006/relationships/notesMaster" Target="/ppt/notesMasters/notesMaster1.xml" Id="R0a4710e2167f41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b67ca1e73a4bc6" /><Relationship Type="http://schemas.openxmlformats.org/officeDocument/2006/relationships/notesMaster" Target="/ppt/notesMasters/notesMaster1.xml" Id="R6201dda9d04b4c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ff5ea74e1343f1" /><Relationship Type="http://schemas.openxmlformats.org/officeDocument/2006/relationships/notesMaster" Target="/ppt/notesMasters/notesMaster1.xml" Id="R28b9b576a92447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dc077f4dbd418c" /><Relationship Type="http://schemas.openxmlformats.org/officeDocument/2006/relationships/notesMaster" Target="/ppt/notesMasters/notesMaster1.xml" Id="R60d89cbbd2464a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3 original de RAIN_Planificacion.pptx, reutilizada conservando tablas, dimensiones, tipografías y colores. Se actualiza la próxima sesión a 5–9 de octubre según el 4 de octubre de 2026, así como el texto inferior y la numeración. Entrega de arquitectura y diseño: sesión 7, semana del 26 al 30 de octubre.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Resumen no exhaustivo. Capas, MVC y núcleo con extensiones organizan responsabilidades. Distribución y nube responden a ejecución y despliegue, y pueden combinarse con esos patrones. Fuentes: https://learn.microsoft.com/en-us/azure/architecture/guide/architecture-styles/ y https://csrc.nist.gov/pubs/sp/800/145/final</a:t>
            </a:r>
          </a:p>
          <a:p xmlns:a="http://schemas.openxmlformats.org/drawingml/2006/main">
            <a:r>
              <a:t>Imagen sin modificar: Lubaochuan (2014), Client-server model.svg, Wikimedia Commons, CC BY-SA 4.0. https://commons.wikimedia.org/wiki/File:Client-server_model.svg https://creativecommons.org/licenses/by-sa/4.0/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docente indica que la mayoría de los proyectos se ejecutarán en local. Es una opción habitual, no una obligación de despliegue. Interfaz de usuario obligatoria. Fuzzy o bayesiano según el objetivo elegido.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MVC separa estado/lógica del dominio, presentación y gestión de las acciones. El Modelo incluye el módulo fuzzy o bayesiano. El controlador MVC coordina interacciones; no debe confundirse con el controlador fuzzy. Fuente: https://learn.microsoft.com/en-us/aspnet/core/mvc/overview</a:t>
            </a:r>
          </a:p>
          <a:p xmlns:a="http://schemas.openxmlformats.org/drawingml/2006/main">
            <a:r>
              <a:t>Imagen: ModelViewControllerDiagram.svg, trazado por Stannered sobre original de Gfbares, dominio público. https://commons.wikimedia.org/wiki/File:ModelViewControllerDiagram.svg. Se conserva la imagen original. Las líneas continuas representan asociaciones directas; la discontinua, indirecta.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Distinción docente entre la organización global y el detalle suficiente para implementar. Se conserva libertad de patrón, lenguaje y biblioteca. Un listado de librerías no sustituye las responsabilidades y relaciones entre módulos.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Orientación para el diseño del módulo de control. Las diapositivas específicas de control fuzzy desarrollan el proceso. Ross (2010), Fuzzy Logic with Engineering Applications, 3.ª ed., caps. 4, 5 y 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Orientación para el diseño del módulo bayesiano. Las diapositivas específicas de diagnóstico se proporcionan por separado. Definir la tabla condicional para las combinaciones de todos los padres, justificar fuentes y supuestos. Distinguir ausencia de observación y observación negativa.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Ejemplo de MVC con eventos. El controlador registra un manejador para la acción Calcular. La vista recoge los datos y emite el evento. El manejador del controlador valida los datos, llama Modelo.inferir(datos), recibe el resultado y llama Vista.mostrar(resultado). La vista lo representa. La flecha 1 representa la entrega del evento al manejador registrado, no que la vista supervise el cálculo. Las flechas 2 y 4 son llamadas; 3 es retorno. El modelo no conoce la interfaz. Otras variantes notifican cambios del modelo a la vista; aquí el controlador coordina explícitamente la actualización. Válido para control fuzzy o diagnóstico bayesiano.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Requisitos del docente: arquitectura y diseño del sistema, como mínimo del núcleo fuzzy o bayesiano; interfaz a desarrollar en el proyecto. La entrega no exige una aplicación terminada. Diagrama de clases/módulos recomendado, secuencia opcional. Calendario: RAIN_Planificacion.pptx, diapositiva 3. No se fija día ni hora adicional.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c12d8c67be4f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1fbbc435094ec0" /><Relationship Type="http://schemas.openxmlformats.org/officeDocument/2006/relationships/slideLayout" Target="/ppt/slideLayouts/slideLayout1.xml" Id="R525277e40d9644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5277e40d9644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6c953e965420f" /><Relationship Type="http://schemas.openxmlformats.org/officeDocument/2006/relationships/notesSlide" Target="/ppt/notesSlides/notesSlide1.xml" Id="R8f08b53a410a4d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3fb196a4b47e9" /><Relationship Type="http://schemas.openxmlformats.org/officeDocument/2006/relationships/notesSlide" Target="/ppt/notesSlides/notesSlide2.xml" Id="R960c38a9da2a42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5605cea864d26" /><Relationship Type="http://schemas.openxmlformats.org/officeDocument/2006/relationships/image" Target="/ppt/media/image.png" Id="Rdf96e66161054567" /><Relationship Type="http://schemas.openxmlformats.org/officeDocument/2006/relationships/notesSlide" Target="/ppt/notesSlides/notesSlide3.xml" Id="R520fa2812c4246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846ce54aa453f" /><Relationship Type="http://schemas.openxmlformats.org/officeDocument/2006/relationships/notesSlide" Target="/ppt/notesSlides/notesSlide4.xml" Id="Rf40e9f22306149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cb0f3a4d04443" /><Relationship Type="http://schemas.openxmlformats.org/officeDocument/2006/relationships/image" Target="/ppt/media/image2.png" Id="Rf3a8b46cb0614807" /><Relationship Type="http://schemas.openxmlformats.org/officeDocument/2006/relationships/notesSlide" Target="/ppt/notesSlides/notesSlide5.xml" Id="R74603030846647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9e39d76244ccb" /><Relationship Type="http://schemas.openxmlformats.org/officeDocument/2006/relationships/notesSlide" Target="/ppt/notesSlides/notesSlide6.xml" Id="R269620d3cc9143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7d89a74764d74" /><Relationship Type="http://schemas.openxmlformats.org/officeDocument/2006/relationships/notesSlide" Target="/ppt/notesSlides/notesSlide7.xml" Id="R568f2475d30e4b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fe73e41314d75" /><Relationship Type="http://schemas.openxmlformats.org/officeDocument/2006/relationships/notesSlide" Target="/ppt/notesSlides/notesSlide8.xml" Id="R9aa12fc9eeda49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4a4d8dcd94f55" /><Relationship Type="http://schemas.openxmlformats.org/officeDocument/2006/relationships/notesSlide" Target="/ppt/notesSlides/notesSlide9.xml" Id="R9f911dacd5df42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f895c74df4d72" /><Relationship Type="http://schemas.openxmlformats.org/officeDocument/2006/relationships/notesSlide" Target="/ppt/notesSlides/notesSlide10.xml" Id="Re7d27f3b40b64c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97A16-AD2D-45A8-B0DF-AA7DECDC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AE8A1-14E3-4DF6-9F1F-95F244DC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4A714-2ACA-47C4-B363-3506A6B5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Razonamiento con Incertidumbre · Arquitectura y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24440-8556-43E5-AFB8-7106500C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2DCEDA-C903-469B-9098-0C5E897F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484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0F6B7-ED79-4C6B-B379-D8563E60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D96B18"/>
                </a:solidFill>
                <a:latin typeface="Arial"/>
                <a:ea typeface="Arial"/>
                <a:cs typeface="Arial"/>
              </a:rPr>
              <a:t>Razonamiento con Incertidumbre (RAIN)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F540E-1CE5-49B2-930A-7A9B3FBC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7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Arquitectura y diseño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4FD4B0-C59B-46E5-9119-75499107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38575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96B18"/>
                </a:solidFill>
                <a:latin typeface="Arial"/>
                <a:ea typeface="Arial"/>
                <a:cs typeface="Arial"/>
              </a:rPr>
              <a:t>Guía general del proyecto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4CB1F5-597E-4C87-8DF6-257F54ED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CF16A6-BBF9-4018-88C4-7360C154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erik.figueiral.alonso@uvigo.gal</a:t>
            </a:r>
          </a:p>
        </p:txBody>
      </p:sp>
    </p:spTree>
    <p:extLst>
      <p:ext uri="{BB962C8B-B14F-4D97-AF65-F5344CB8AC3E}">
        <p14:creationId xmlns:p14="http://schemas.microsoft.com/office/powerpoint/2010/main" val="17218965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D5274C-F74A-4F9A-8ECD-D7C90E9B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5DC6B-C0C9-4F51-8044-0CC40583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D017B5-907D-47B0-BE84-FD1E33DE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Razonamiento con Incertidumbre · Arquitectura y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6FFD6-BE8B-4899-A65C-010FCCA4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B648B9-E9E7-468E-A902-086F7EE8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484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A0E64-46B6-4EAD-AE9D-8957A006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D96B18"/>
                </a:solidFill>
                <a:latin typeface="Arial"/>
                <a:ea typeface="Arial"/>
                <a:cs typeface="Arial"/>
              </a:rPr>
              <a:t>Calendario de prácticas y entregas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65D76-BD3D-4073-A6DE-10D9DFDE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B52E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52E36"/>
                </a:solidFill>
                <a:latin typeface="Arial"/>
                <a:ea typeface="Arial"/>
                <a:cs typeface="Arial"/>
              </a:rPr>
              <a:t>Realizado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023A23-7A74-4950-BC3F-E2DFA874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4382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Próxima sesión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57FEC-2738-4C7D-A044-970733F9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382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2162A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62A0"/>
                </a:solidFill>
                <a:latin typeface="Arial"/>
                <a:ea typeface="Arial"/>
                <a:cs typeface="Arial"/>
              </a:rPr>
              <a:t>Pendiente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5334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742950"/>
                <a:gridCol w="3067050"/>
              </a:tblGrid>
              <a:tr h="45243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Semana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Ses.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Actividad / entrega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52E36"/>
                          </a:solidFill>
                          <a:latin typeface="Arial"/>
                          <a:ea typeface="Arial"/>
                          <a:cs typeface="Arial"/>
                        </a:rPr>
                        <a:t>7–11 sep</a:t>
                      </a:r>
                    </a:p>
                  </a:txBody>
                  <a:tcPr marL="91440" marR="91440" marT="45720" marB="45720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52E36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52E36"/>
                          </a:solidFill>
                          <a:latin typeface="Arial"/>
                          <a:ea typeface="Arial"/>
                          <a:cs typeface="Arial"/>
                        </a:rPr>
                        <a:t>Avance inicial</a:t>
                      </a:r>
                    </a:p>
                  </a:txBody>
                  <a:tcPr marL="91440" marR="91440" marT="45720" marB="45720">
                    <a:solidFill>
                      <a:srgbClr val="FFF0F0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52E36"/>
                          </a:solidFill>
                          <a:latin typeface="Arial"/>
                          <a:ea typeface="Arial"/>
                          <a:cs typeface="Arial"/>
                        </a:rPr>
                        <a:t>14–18 sep</a:t>
                      </a:r>
                    </a:p>
                  </a:txBody>
                  <a:tcPr marL="91440" marR="91440" marT="45720" marB="45720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52E36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52E36"/>
                          </a:solidFill>
                          <a:latin typeface="Arial"/>
                          <a:ea typeface="Arial"/>
                          <a:cs typeface="Arial"/>
                        </a:rPr>
                        <a:t>Tema entregado</a:t>
                      </a:r>
                    </a:p>
                  </a:txBody>
                  <a:tcPr marL="91440" marR="91440" marT="45720" marB="45720">
                    <a:solidFill>
                      <a:srgbClr val="FFF0F0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52E36"/>
                          </a:solidFill>
                          <a:latin typeface="Arial"/>
                          <a:ea typeface="Arial"/>
                          <a:cs typeface="Arial"/>
                        </a:rPr>
                        <a:t>21–25 sep</a:t>
                      </a:r>
                    </a:p>
                  </a:txBody>
                  <a:tcPr marL="91440" marR="91440" marT="45720" marB="45720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52E36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52E36"/>
                          </a:solidFill>
                          <a:latin typeface="Arial"/>
                          <a:ea typeface="Arial"/>
                          <a:cs typeface="Arial"/>
                        </a:rPr>
                        <a:t>Avanzar planificación</a:t>
                      </a:r>
                    </a:p>
                  </a:txBody>
                  <a:tcPr marL="91440" marR="91440" marT="45720" marB="45720">
                    <a:solidFill>
                      <a:srgbClr val="FFF0F0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52E36"/>
                          </a:solidFill>
                          <a:latin typeface="Arial"/>
                          <a:ea typeface="Arial"/>
                          <a:cs typeface="Arial"/>
                        </a:rPr>
                        <a:t>28 sep–2 oct</a:t>
                      </a:r>
                    </a:p>
                  </a:txBody>
                  <a:tcPr marL="91440" marR="91440" marT="45720" marB="45720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52E36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52E36"/>
                          </a:solidFill>
                          <a:latin typeface="Arial"/>
                          <a:ea typeface="Arial"/>
                          <a:cs typeface="Arial"/>
                        </a:rPr>
                        <a:t>Planificación: defensa 28 sep</a:t>
                      </a:r>
                    </a:p>
                  </a:txBody>
                  <a:tcPr marL="91440" marR="91440" marT="45720" marB="45720">
                    <a:solidFill>
                      <a:srgbClr val="FFF0F0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D96B18"/>
                          </a:solidFill>
                          <a:latin typeface="Arial"/>
                          <a:ea typeface="Arial"/>
                          <a:cs typeface="Arial"/>
                        </a:rPr>
                        <a:t>5–9 oct</a:t>
                      </a:r>
                    </a:p>
                  </a:txBody>
                  <a:tcPr marL="91440" marR="91440" marT="45720" marB="45720">
                    <a:solidFill>
                      <a:srgbClr val="FFF0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D96B18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0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D96B18"/>
                          </a:solidFill>
                          <a:latin typeface="Arial"/>
                          <a:ea typeface="Arial"/>
                          <a:cs typeface="Arial"/>
                        </a:rPr>
                        <a:t>Avance</a:t>
                      </a:r>
                    </a:p>
                  </a:txBody>
                  <a:tcPr marL="91440" marR="91440" marT="45720" marB="45720">
                    <a:solidFill>
                      <a:srgbClr val="FFF0D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19–23 oct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Avance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26–30 oct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Arquitectura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"/>
          <p:cNvGraphicFramePr/>
          <p:nvPr/>
        </p:nvGraphicFramePr>
        <p:xfrm>
          <a:off xmlns:a="http://schemas.openxmlformats.org/drawingml/2006/main" x="6248400" y="1952625"/>
          <a:ext xmlns:a="http://schemas.openxmlformats.org/drawingml/2006/main" cx="5334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742950"/>
                <a:gridCol w="3067050"/>
              </a:tblGrid>
              <a:tr h="45243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Semana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Ses.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Actividad / entrega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2–6 nov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Avance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9–13 nov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Prototipo y código fuente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16–20 nov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Estructura de la memoria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23–27 nov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Avance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30 nov–4 dic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Avance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7–11 dic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Defensa del proyecto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14–18 dic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Defensa del proyecto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C7B1A8-24EA-4C21-A11D-C05A652D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Próxima entrega: arquitectura y diseño. Semana del 26 al 30 de octubre.</a:t>
            </a:r>
          </a:p>
        </p:txBody>
      </p:sp>
    </p:spTree>
    <p:extLst>
      <p:ext uri="{BB962C8B-B14F-4D97-AF65-F5344CB8AC3E}">
        <p14:creationId xmlns:p14="http://schemas.microsoft.com/office/powerpoint/2010/main" val="3152702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97A16-AD2D-45A8-B0DF-AA7DECDC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AE8A1-14E3-4DF6-9F1F-95F244DC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4A714-2ACA-47C4-B363-3506A6B5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Razonamiento con Incertidumbre · Arquitectura y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24440-8556-43E5-AFB8-7106500C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2DCEDA-C903-469B-9098-0C5E897F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484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0F6B7-ED79-4C6B-B379-D8563E60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D96B18"/>
                </a:solidFill>
                <a:latin typeface="Arial"/>
                <a:ea typeface="Arial"/>
                <a:cs typeface="Arial"/>
              </a:rPr>
              <a:t>Hay distintas formas de organizar un sistema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9F735E-8DD2-4653-8549-FA7D4AAF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Capas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0B054E-20EE-45C1-BC86-AB8535B7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667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Separación de responsabilidades.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0D5EBC-8E45-4D8D-B048-7C366C4C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MVC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28F5A0-E2F7-47D5-92A8-0885676D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71775"/>
            <a:ext cx="5667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Modelo, vista y controlador.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4DFC72-1E1E-4425-BE93-FF247BAB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Núcleo y extensiones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216FA1-AAD6-4BF6-A44F-AD94EF1B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5667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Funciones añadidas mediante módulos.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08A9B6-2D7D-4073-9AA4-DC5737AF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Distribuida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581B95-4C28-4B9D-8F59-DA4D5C02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71975"/>
            <a:ext cx="5667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Cliente–servidor, microservicios…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FFAF52-6A49-4584-BA19-9ED311B9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En la nube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9910EB-F949-409C-8D92-C8149A48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72075"/>
            <a:ext cx="5667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Recursos y servicios remotos.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96e66161054567"/>
          <a:stretch xmlns:a="http://schemas.openxmlformats.org/drawingml/2006/main"/>
        </p:blipFill>
        <p:spPr>
          <a:xfrm xmlns:a="http://schemas.openxmlformats.org/drawingml/2006/main">
            <a:off x="6810375" y="2563192"/>
            <a:ext cx="4476750" cy="176971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252DC3-7CBE-4314-A12F-EE8544A2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19275"/>
            <a:ext cx="4619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2162A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162A0"/>
                </a:solidFill>
                <a:latin typeface="Arial"/>
                <a:ea typeface="Arial"/>
                <a:cs typeface="Arial"/>
              </a:rPr>
              <a:t>Ejemplo: cliente–servidor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370933-8E66-4EDB-8BFC-E8E24AE9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48200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Imagen: Lubaochuan · Wikimedia Commons</a:t>
            </a:r>
          </a:p>
          <a:p xmlns:a="http://schemas.openxmlformats.org/drawingml/2006/main">
            <a:pPr>
              <a:buNone/>
              <a:defRPr sz="135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CC BY-SA 4.0 · Sin modificaciones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0D5EC9-DD01-40DE-91B7-1C991505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1502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Pueden combinarse. Elegid según las necesidades de vuestro proyecto.</a:t>
            </a:r>
          </a:p>
        </p:txBody>
      </p:sp>
    </p:spTree>
    <p:extLst>
      <p:ext uri="{BB962C8B-B14F-4D97-AF65-F5344CB8AC3E}">
        <p14:creationId xmlns:p14="http://schemas.microsoft.com/office/powerpoint/2010/main" val="17218965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97A16-AD2D-45A8-B0DF-AA7DECDC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AE8A1-14E3-4DF6-9F1F-95F244DC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4A714-2ACA-47C4-B363-3506A6B5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Razonamiento con Incertidumbre · Arquitectura y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24440-8556-43E5-AFB8-7106500C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2DCEDA-C903-469B-9098-0C5E897F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484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0F6B7-ED79-4C6B-B379-D8563E60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D96B18"/>
                </a:solidFill>
                <a:latin typeface="Arial"/>
                <a:ea typeface="Arial"/>
                <a:cs typeface="Arial"/>
              </a:rPr>
              <a:t>Nuestro proyecto: interfaz y ejecución local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E20FB2-5149-422B-9047-FB6FDA23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La mayoría de los proyectos funcionarán en vuestro equipo.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ADC14F-AEB0-4B31-8A90-664B73EF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Interfaz de usuario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EC426B-7140-471D-96C5-F72989BE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Permite introducir datos, ejecutar y entender el resultado.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F3F9C0-8355-4D6F-85A8-8610A21A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Módulo de incertidumbre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20264-A5DB-4930-B981-B46DAF89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Resuelve el razonamiento dentro de la aplicación.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031A46-B549-41F0-8AC6-5DC47CB8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1502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Según vuestro proyecto: diagnóstico bayesiano O control fuzzy.</a:t>
            </a:r>
          </a:p>
        </p:txBody>
      </p:sp>
    </p:spTree>
    <p:extLst>
      <p:ext uri="{BB962C8B-B14F-4D97-AF65-F5344CB8AC3E}">
        <p14:creationId xmlns:p14="http://schemas.microsoft.com/office/powerpoint/2010/main" val="17218965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97A16-AD2D-45A8-B0DF-AA7DECDC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AE8A1-14E3-4DF6-9F1F-95F244DC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4A714-2ACA-47C4-B363-3506A6B5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Razonamiento con Incertidumbre · Arquitectura y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24440-8556-43E5-AFB8-7106500C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2DCEDA-C903-469B-9098-0C5E897F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484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0F6B7-ED79-4C6B-B379-D8563E60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D96B18"/>
                </a:solidFill>
                <a:latin typeface="Arial"/>
                <a:ea typeface="Arial"/>
                <a:cs typeface="Arial"/>
              </a:rPr>
              <a:t>MVC: una opción habitual para la práctica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a8b46cb0614807"/>
          <a:stretch xmlns:a="http://schemas.openxmlformats.org/drawingml/2006/main"/>
        </p:blipFill>
        <p:spPr>
          <a:xfrm xmlns:a="http://schemas.openxmlformats.org/drawingml/2006/main">
            <a:off x="619125" y="2240756"/>
            <a:ext cx="6096000" cy="2871788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3ADF26-067C-49FE-A5D5-4778E3EA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954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Modelo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207CFC-8886-43AB-BE67-F2F409DF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Datos y razonamiento</a:t>
            </a:r>
          </a:p>
          <a:p xmlns:a="http://schemas.openxmlformats.org/drawingml/2006/main">
            <a:pPr>
              <a:buNone/>
              <a:defRPr sz="21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fuzzy o bayesiano.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52D0A2-E903-4EF7-B972-E1EA76ED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99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Vista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F7E769-F630-4481-949C-E1A582B6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6710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Interfaz y resultados.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39584F-5BFB-4BE7-A3D3-05A86506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243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Controlador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26DF8E-C24A-411F-BB57-FFD64B4C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8155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Recibe acciones y</a:t>
            </a:r>
          </a:p>
          <a:p xmlns:a="http://schemas.openxmlformats.org/drawingml/2006/main">
            <a:pPr>
              <a:buNone/>
              <a:defRPr sz="21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coordina su ejecución.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9D4FA4-C73D-4D4C-BF85-2F8F71A7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Wikimedia Commons · Stannered / Gfbares · Dominio público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7A246A-33A9-43B0-A1AA-4DAC22CB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1502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El controlador MVC organiza la interacción; el controlador fuzzy calcula una acción.</a:t>
            </a:r>
          </a:p>
        </p:txBody>
      </p:sp>
    </p:spTree>
    <p:extLst>
      <p:ext uri="{BB962C8B-B14F-4D97-AF65-F5344CB8AC3E}">
        <p14:creationId xmlns:p14="http://schemas.microsoft.com/office/powerpoint/2010/main" val="17218965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97A16-AD2D-45A8-B0DF-AA7DECDC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AE8A1-14E3-4DF6-9F1F-95F244DC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4A714-2ACA-47C4-B363-3506A6B5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Razonamiento con Incertidumbre · Arquitectura y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24440-8556-43E5-AFB8-7106500C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2DCEDA-C903-469B-9098-0C5E897F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484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0F6B7-ED79-4C6B-B379-D8563E60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D96B18"/>
                </a:solidFill>
                <a:latin typeface="Arial"/>
                <a:ea typeface="Arial"/>
                <a:cs typeface="Arial"/>
              </a:rPr>
              <a:t>Arquitectura y diseño: qué explicar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D9CDB0-57DE-4CF3-8B65-04B54E79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ARQUITECTURA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CA4F25-C35A-4340-91FF-B8448CEE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Qué módulos tenemos.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40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Qué hace cada uno.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40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Cómo se comunican.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4E01C6-009B-44F6-9842-83B91A47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2162A0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162A0"/>
                </a:solidFill>
                <a:latin typeface="Arial"/>
                <a:ea typeface="Arial"/>
                <a:cs typeface="Arial"/>
              </a:rPr>
              <a:t>DISEÑO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48F543-9F71-49A4-934C-EB331210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0325"/>
            <a:ext cx="4667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Qué datos manejan.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40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Qué clases o funciones usamos.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40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Cómo funciona la inferencia.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1DF778-08B4-4A8A-9C1F-B47ED80F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1502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Dejar definido el núcleo fuzzy o bayesiano antes de implementar.</a:t>
            </a:r>
          </a:p>
        </p:txBody>
      </p:sp>
    </p:spTree>
    <p:extLst>
      <p:ext uri="{BB962C8B-B14F-4D97-AF65-F5344CB8AC3E}">
        <p14:creationId xmlns:p14="http://schemas.microsoft.com/office/powerpoint/2010/main" val="17218965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97A16-AD2D-45A8-B0DF-AA7DECDC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AE8A1-14E3-4DF6-9F1F-95F244DC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4A714-2ACA-47C4-B363-3506A6B5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Razonamiento con Incertidumbre · Arquitectura y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24440-8556-43E5-AFB8-7106500C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2DCEDA-C903-469B-9098-0C5E897F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484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0F6B7-ED79-4C6B-B379-D8563E60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D96B18"/>
                </a:solidFill>
                <a:latin typeface="Arial"/>
                <a:ea typeface="Arial"/>
                <a:cs typeface="Arial"/>
              </a:rPr>
              <a:t>Diseño: control fuzzy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986E9D-08AB-4519-8467-E8B2826A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9A04D2-06FA-43C7-AFEA-9435B8FF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Entradas, salida, unidades y rangos.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E7AE9D-4D10-4D5B-9926-3116D3A3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Conocimiento fuzzy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85EAE4-759B-41EC-B5EE-B7DCBFC3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Funciones de pertenencia y base de reglas.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14C343-6DAD-4A91-B6A6-ADF3329D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290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Inferencia y acción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347008-91A2-4CDE-857E-DAD90D60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Operadores, Mamdani o Sugeno y cálculo de la salida.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D4F93A-753C-4B96-8E63-E62D5CC1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386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Funcionamiento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5E649E-D7A7-4574-B364-63BEE268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Muestreo, proceso o simulador y casos de prueba.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CAF614-6299-4896-845C-DDE3EF8F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1502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Tenéis una presentación específica que os guía en el diseño de control fuzzy.</a:t>
            </a:r>
          </a:p>
        </p:txBody>
      </p:sp>
    </p:spTree>
    <p:extLst>
      <p:ext uri="{BB962C8B-B14F-4D97-AF65-F5344CB8AC3E}">
        <p14:creationId xmlns:p14="http://schemas.microsoft.com/office/powerpoint/2010/main" val="17218965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97A16-AD2D-45A8-B0DF-AA7DECDC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AE8A1-14E3-4DF6-9F1F-95F244DC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4A714-2ACA-47C4-B363-3506A6B5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Razonamiento con Incertidumbre · Arquitectura y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24440-8556-43E5-AFB8-7106500C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2DCEDA-C903-469B-9098-0C5E897F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484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0F6B7-ED79-4C6B-B379-D8563E60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D96B18"/>
                </a:solidFill>
                <a:latin typeface="Arial"/>
                <a:ea typeface="Arial"/>
                <a:cs typeface="Arial"/>
              </a:rPr>
              <a:t>Diseño: diagnóstico bayesiano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ACD53-11B0-4850-BE12-13C627CD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F5D04-F73D-4A88-BB14-CE03D340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Nodos, estados y qué queremos diagnosticar.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50C5DA-6F9D-4BCF-B077-DC0042E1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Conocimiento probabilístico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6D1FE7-47AC-4F59-B4BC-D32388A4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Red bayesiana, probabilidades y sus fuentes o supuestos.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FE7FBD-6AA0-487D-9476-C4292DC0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290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Inferencia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C8CAEC-E5D0-44B1-8513-DCCDA166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Evidencias disponibles, datos desconocidos y consulta.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D77BF1-820C-4C55-AF4E-16A455F1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386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Comprobación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EC65E5-A569-4ABD-8B92-13D2FBE0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Casos de prueba y resultados esperados.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F28BAE-5B1F-4D09-876E-53566BF1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1502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Tenéis una presentación específica que os guía en el diseño de diagnóstico.</a:t>
            </a:r>
          </a:p>
        </p:txBody>
      </p:sp>
    </p:spTree>
    <p:extLst>
      <p:ext uri="{BB962C8B-B14F-4D97-AF65-F5344CB8AC3E}">
        <p14:creationId xmlns:p14="http://schemas.microsoft.com/office/powerpoint/2010/main" val="17218965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97A16-AD2D-45A8-B0DF-AA7DECDC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AE8A1-14E3-4DF6-9F1F-95F244DC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4A714-2ACA-47C4-B363-3506A6B5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Razonamiento con Incertidumbre · Arquitectura y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24440-8556-43E5-AFB8-7106500C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2DCEDA-C903-469B-9098-0C5E897F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484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0F6B7-ED79-4C6B-B379-D8563E60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D96B18"/>
                </a:solidFill>
                <a:latin typeface="Arial"/>
                <a:ea typeface="Arial"/>
                <a:cs typeface="Arial"/>
              </a:rPr>
              <a:t>Diseño: tres clases y quién llama a quién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EA2DF-F7F6-4985-A968-0AC9963E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Ejemplo común para control fuzzy y diagnóstico bayesiano.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D47D53-4AA7-4AC9-93F8-3A2A85F0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950A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DCEE9E-1658-4897-83A6-DC219AB4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95525"/>
            <a:ext cx="2628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7950A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950A0"/>
                </a:solidFill>
                <a:latin typeface="Arial"/>
                <a:ea typeface="Arial"/>
                <a:cs typeface="Arial"/>
              </a:rPr>
              <a:t>Vista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34B154-D0DC-4B14-91B8-4D39B383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90D499-9013-4721-A526-73D6C6AF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241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71525" y="2728913"/>
            <a:ext cx="2847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950A0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52DF11-6806-4E09-8858-472DBD17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8607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Interfaz de usuario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B84167-C1ED-448F-B0EC-D935B116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+ mostrar(resultado)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5D5265-8103-4CD6-939B-3C9250A6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00275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950A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37CFBB-4A8D-4A04-9FDE-3640CD83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95525"/>
            <a:ext cx="2628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7950A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950A0"/>
                </a:solidFill>
                <a:latin typeface="Arial"/>
                <a:ea typeface="Arial"/>
                <a:cs typeface="Arial"/>
              </a:rPr>
              <a:t>Controlador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8D0C6A-043E-4CB6-B401-EC43F96A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241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A2D21C-6ADD-4B9A-AB44-87804AB0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241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3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4676775" y="2728913"/>
            <a:ext cx="2847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950A0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DF3E64-3030-43F9-9444-618F9B7B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8607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Coordina la operación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DAEC1B-D80A-4EE6-90A1-03BDB380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76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+ ejecutar(datos)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A6A776-13F7-423B-BF64-DF8C9FC6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0275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950A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313B16-AC29-4F7B-9D16-17FDFA09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95525"/>
            <a:ext cx="2628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7950A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950A0"/>
                </a:solidFill>
                <a:latin typeface="Arial"/>
                <a:ea typeface="Arial"/>
                <a:cs typeface="Arial"/>
              </a:rPr>
              <a:t>Modelo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7B3244-4027-48E0-93E3-541A0557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967119-E900-4B7C-B01E-EFB02A19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7241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0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8582025" y="2728913"/>
            <a:ext cx="2847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950A0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93041D-6F93-4A0C-9C05-B6F10052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8607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Motor fuzzy o bayesiano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34AE31-2816-4F2B-99C1-AFFAFE2E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76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+ inferir(datos)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5507F4-6A91-402D-8A43-DED94707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241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9789E6-F286-4B26-A62F-651CC545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241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3629025" y="2928938"/>
            <a:ext cx="1038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62A0"/>
            </a:solidFill>
            <a:prstDash val="solid"/>
            <a:tail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D051E3-C493-4B0E-8CF5-9CE3E22A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609850"/>
            <a:ext cx="333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162A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62A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6EE88D-8BD2-4DA4-A01C-F1A12418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241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71203D-C4FF-4654-9CFD-06C7CAB2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241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9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7534275" y="2928938"/>
            <a:ext cx="1038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62A0"/>
            </a:solidFill>
            <a:prstDash val="solid"/>
            <a:tailEnd type="arrow" w="med" len="me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124B2B-75E9-40F2-BD41-5D1FA0A4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609850"/>
            <a:ext cx="333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162A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62A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F4EA1A-7D53-4360-93C0-62134204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623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0BED84-9B8E-432C-9F37-9A4BBFE3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623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3" name=""/>
          <p:cNvCxnSpPr>
            <a:stCxn xmlns:a="http://schemas.openxmlformats.org/drawingml/2006/main" id="39" idx="1"/>
            <a:endCxn xmlns:a="http://schemas.openxmlformats.org/drawingml/2006/main" id="40" idx="3"/>
          </p:cNvCxnSpPr>
          <p:nvPr/>
        </p:nvCxnSpPr>
        <p:spPr>
          <a:xfrm xmlns:a="http://schemas.openxmlformats.org/drawingml/2006/main" flipH="1">
            <a:off x="7534275" y="3567113"/>
            <a:ext cx="1038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62A0"/>
            </a:solidFill>
            <a:prstDash val="dash"/>
            <a:tailEnd type="arrow" w="med" len="me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B46ED7D-2EFF-4E6D-B771-A1C344EE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219450"/>
            <a:ext cx="333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162A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62A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749B2A-77F3-441C-A67B-BD08D38B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623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A4D957-031E-4503-9C08-1D4DFD9D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623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7" name=""/>
          <p:cNvCxnSpPr>
            <a:stCxn xmlns:a="http://schemas.openxmlformats.org/drawingml/2006/main" id="43" idx="1"/>
            <a:endCxn xmlns:a="http://schemas.openxmlformats.org/drawingml/2006/main" id="44" idx="3"/>
          </p:cNvCxnSpPr>
          <p:nvPr/>
        </p:nvCxnSpPr>
        <p:spPr>
          <a:xfrm xmlns:a="http://schemas.openxmlformats.org/drawingml/2006/main" flipH="1">
            <a:off x="3629025" y="3567113"/>
            <a:ext cx="1038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62A0"/>
            </a:solidFill>
            <a:prstDash val="solid"/>
            <a:tailEnd type="arrow" w="med" len="me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0B11671-CF03-42A5-A426-BFB9CDA5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219450"/>
            <a:ext cx="333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162A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62A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2D285D4-2139-4F9D-A712-B3ADCDAA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767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1. La vista emite un evento y el controlador lo atiende.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5267BED-056E-40F6-9890-07DA62FF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2. El controlador pide al modelo que calcule el resultado.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337256D-613C-4B16-A041-2A8968F3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577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3. El modelo devuelve el resultado al controlador.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846E7AB-083B-4EBD-9330-BF422313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4. El controlador llama a mostrar(resultado) y la vista se actualiza.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2DD3249-D14D-4342-A5E0-B7A6A48A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98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En este ejemplo, el controlador coordina el cálculo y la actualización de la vista.</a:t>
            </a:r>
          </a:p>
        </p:txBody>
      </p:sp>
    </p:spTree>
    <p:extLst>
      <p:ext uri="{BB962C8B-B14F-4D97-AF65-F5344CB8AC3E}">
        <p14:creationId xmlns:p14="http://schemas.microsoft.com/office/powerpoint/2010/main" val="17218965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97A16-AD2D-45A8-B0DF-AA7DECDC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AE8A1-14E3-4DF6-9F1F-95F244DC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4A714-2ACA-47C4-B363-3506A6B5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Razonamiento con Incertidumbre · Arquitectura y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24440-8556-43E5-AFB8-7106500C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2DCEDA-C903-469B-9098-0C5E897F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484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0F6B7-ED79-4C6B-B379-D8563E60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D96B18"/>
                </a:solidFill>
                <a:latin typeface="Arial"/>
                <a:ea typeface="Arial"/>
                <a:cs typeface="Arial"/>
              </a:rPr>
              <a:t>Entrega: arquitectura y diseño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12CD62-5382-42A8-A6F3-4B6D0EF9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Sesión 7 · Semana del 26 al 30 de octubre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2B2DD6-C77C-4840-B32C-8631727A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717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Arquitectura de vuestra aplicación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0743DA-18F6-414F-BD5E-F7092B6E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Módulos, comunicación y elección justificada.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29960D-E2C3-4C27-9103-9C8AC47B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Diseño de vuestro sistema fuzzy O bayesiano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42634A-8A92-4D77-93DA-4B2DB06A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Variables, conocimiento e inferencia definidos.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FC8D36-3D85-4DAC-94FF-E86520AF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Interfaz prevista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B964AC-D665-4637-A6C2-F4DA353F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006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Pantallas, entradas y resultados que verá el usuario.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05AC4E-3709-499B-8691-BA80F2E6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1502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Libertad de solución. La entrega debe permitir empezar a construir el sistema.</a:t>
            </a:r>
          </a:p>
        </p:txBody>
      </p:sp>
    </p:spTree>
    <p:extLst>
      <p:ext uri="{BB962C8B-B14F-4D97-AF65-F5344CB8AC3E}">
        <p14:creationId xmlns:p14="http://schemas.microsoft.com/office/powerpoint/2010/main" val="17218965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2026-10-04T19:55:14.8320000Z</dcterms:created>
  <dcterms:modified xsi:type="dcterms:W3CDTF">2026-10-04T19:55:14.8320000Z</dcterms:modified>
</coreProperties>
</file>