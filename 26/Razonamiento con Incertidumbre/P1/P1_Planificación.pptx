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6caffafe6b44a0" /><Relationship Type="http://schemas.openxmlformats.org/officeDocument/2006/relationships/extended-properties" Target="/docProps/app.xml" Id="R6be435f8b1a04d97" /><Relationship Type="http://schemas.openxmlformats.org/officeDocument/2006/relationships/officeDocument" Target="/ppt/presentation.xml" Id="R663340a6d5aa46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6270ffab99485e"/>
  </p:sldMasterIdLst>
  <p:notesMasterIdLst>
    <p:notesMasterId xmlns:r="http://schemas.openxmlformats.org/officeDocument/2006/relationships" r:id="R6ea475be25ac4035"/>
  </p:notesMasterIdLst>
  <p:sldIdLst>
    <p:sldId xmlns:r="http://schemas.openxmlformats.org/officeDocument/2006/relationships" id="256" r:id="R7a5c3b36370b4b79"/>
    <p:sldId xmlns:r="http://schemas.openxmlformats.org/officeDocument/2006/relationships" id="257" r:id="R4b78d72f557e4d23"/>
    <p:sldId xmlns:r="http://schemas.openxmlformats.org/officeDocument/2006/relationships" id="258" r:id="R08876a2740054b9c"/>
    <p:sldId xmlns:r="http://schemas.openxmlformats.org/officeDocument/2006/relationships" id="259" r:id="R6873cad084e8432c"/>
    <p:sldId xmlns:r="http://schemas.openxmlformats.org/officeDocument/2006/relationships" id="260" r:id="Rdbfe24078aef4c98"/>
    <p:sldId xmlns:r="http://schemas.openxmlformats.org/officeDocument/2006/relationships" id="261" r:id="R952e2d4ecd5a40f2"/>
    <p:sldId xmlns:r="http://schemas.openxmlformats.org/officeDocument/2006/relationships" id="262" r:id="R4554e21819d14521"/>
    <p:sldId xmlns:r="http://schemas.openxmlformats.org/officeDocument/2006/relationships" id="263" r:id="R3efc0ef01a064288"/>
    <p:sldId xmlns:r="http://schemas.openxmlformats.org/officeDocument/2006/relationships" id="264" r:id="R50f45ba5a64541a1"/>
    <p:sldId xmlns:r="http://schemas.openxmlformats.org/officeDocument/2006/relationships" id="265" r:id="R76471bad4090463f"/>
    <p:sldId xmlns:r="http://schemas.openxmlformats.org/officeDocument/2006/relationships" id="266" r:id="R9ed96c3ad18e49c9"/>
    <p:sldId xmlns:ns1="http://schemas.openxmlformats.org/officeDocument/2006/relationships" id="269" ns1:id="rIdGanttGuidance"/>
    <p:sldId xmlns:r="http://schemas.openxmlformats.org/officeDocument/2006/relationships" id="267" r:id="R14691ca826244383"/>
    <p:sldId xmlns:r="http://schemas.openxmlformats.org/officeDocument/2006/relationships" id="268" r:id="Rf544d2a0189644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Relationships xmlns="http://schemas.openxmlformats.org/package/2006/relationships"><Relationship Type="http://schemas.openxmlformats.org/officeDocument/2006/relationships/theme" Target="/ppt/theme/theme1.xml" Id="R06cfcfc28468433e"/><Relationship Type="http://schemas.openxmlformats.org/officeDocument/2006/relationships/slideMaster" Target="/ppt/slideMasters/slideMaster1.xml" Id="R6b6270ffab99485e"/><Relationship Type="http://schemas.openxmlformats.org/officeDocument/2006/relationships/notesMaster" Target="/ppt/notesMasters/notesMaster1.xml" Id="R6ea475be25ac4035"/><Relationship Type="http://schemas.openxmlformats.org/officeDocument/2006/relationships/presProps" Target="/ppt/presProps.xml" Id="R57ed0c0d0f7c4b02"/><Relationship Type="http://schemas.openxmlformats.org/officeDocument/2006/relationships/tableStyles" Target="/ppt/tableStyles.xml" Id="Ra0b9a28c2e484afb"/><Relationship Type="http://schemas.openxmlformats.org/officeDocument/2006/relationships/slide" Target="/ppt/slides/slide1.xml" Id="R7a5c3b36370b4b79"/><Relationship Type="http://schemas.openxmlformats.org/officeDocument/2006/relationships/slide" Target="/ppt/slides/slide2.xml" Id="R4b78d72f557e4d23"/><Relationship Type="http://schemas.openxmlformats.org/officeDocument/2006/relationships/slide" Target="/ppt/slides/slide3.xml" Id="R08876a2740054b9c"/><Relationship Type="http://schemas.openxmlformats.org/officeDocument/2006/relationships/slide" Target="/ppt/slides/slide4.xml" Id="R6873cad084e8432c"/><Relationship Type="http://schemas.openxmlformats.org/officeDocument/2006/relationships/slide" Target="/ppt/slides/slide5.xml" Id="Rdbfe24078aef4c98"/><Relationship Type="http://schemas.openxmlformats.org/officeDocument/2006/relationships/slide" Target="/ppt/slides/slide6.xml" Id="R952e2d4ecd5a40f2"/><Relationship Type="http://schemas.openxmlformats.org/officeDocument/2006/relationships/slide" Target="/ppt/slides/slide7.xml" Id="R4554e21819d14521"/><Relationship Type="http://schemas.openxmlformats.org/officeDocument/2006/relationships/slide" Target="/ppt/slides/slide8.xml" Id="R3efc0ef01a064288"/><Relationship Type="http://schemas.openxmlformats.org/officeDocument/2006/relationships/slide" Target="/ppt/slides/slide9.xml" Id="R50f45ba5a64541a1"/><Relationship Type="http://schemas.openxmlformats.org/officeDocument/2006/relationships/slide" Target="/ppt/slides/slide10.xml" Id="R76471bad4090463f"/><Relationship Type="http://schemas.openxmlformats.org/officeDocument/2006/relationships/slide" Target="/ppt/slides/slide11.xml" Id="R9ed96c3ad18e49c9"/><Relationship Type="http://schemas.openxmlformats.org/officeDocument/2006/relationships/slide" Target="/ppt/slides/slide12.xml" Id="R14691ca826244383"/><Relationship Type="http://schemas.openxmlformats.org/officeDocument/2006/relationships/slide" Target="/ppt/slides/slide13.xml" Id="Rf544d2a0189644c4"/><Relationship Id="rIdGanttGuidance" Type="http://schemas.openxmlformats.org/officeDocument/2006/relationships/slide" Target="slides/slide14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dc53103fc0643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f375917c824a99" /><Relationship Type="http://schemas.openxmlformats.org/officeDocument/2006/relationships/notesMaster" Target="/ppt/notesMasters/notesMaster1.xml" Id="R5694afde5b0644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880c0983a8466d" /><Relationship Type="http://schemas.openxmlformats.org/officeDocument/2006/relationships/notesMaster" Target="/ppt/notesMasters/notesMaster1.xml" Id="R1dd3444a46ae49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830cc49a474762" /><Relationship Type="http://schemas.openxmlformats.org/officeDocument/2006/relationships/notesMaster" Target="/ppt/notesMasters/notesMaster1.xml" Id="R55a04d6e2bc745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6b7d1c295242d7" /><Relationship Type="http://schemas.openxmlformats.org/officeDocument/2006/relationships/notesMaster" Target="/ppt/notesMasters/notesMaster1.xml" Id="Rffc840cb686549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07efa228094784" /><Relationship Type="http://schemas.openxmlformats.org/officeDocument/2006/relationships/notesMaster" Target="/ppt/notesMasters/notesMaster1.xml" Id="R1dfe287724fc49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6c9ec1270540f6" /><Relationship Type="http://schemas.openxmlformats.org/officeDocument/2006/relationships/notesMaster" Target="/ppt/notesMasters/notesMaster1.xml" Id="Rcd1cde7e35d94a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1784e2c728e4d4e" /><Relationship Type="http://schemas.openxmlformats.org/officeDocument/2006/relationships/notesMaster" Target="/ppt/notesMasters/notesMaster1.xml" Id="Rb13c9584d07e4c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77d08a6b5e4dfd" /><Relationship Type="http://schemas.openxmlformats.org/officeDocument/2006/relationships/notesMaster" Target="/ppt/notesMasters/notesMaster1.xml" Id="R07cd495d43404d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3287556c9f47e8" /><Relationship Type="http://schemas.openxmlformats.org/officeDocument/2006/relationships/notesMaster" Target="/ppt/notesMasters/notesMaster1.xml" Id="Rb19686b126c742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0035909d65249d9" /><Relationship Type="http://schemas.openxmlformats.org/officeDocument/2006/relationships/notesMaster" Target="/ppt/notesMasters/notesMaster1.xml" Id="Rb00b968bcbef4e2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95f769565f94556" /><Relationship Type="http://schemas.openxmlformats.org/officeDocument/2006/relationships/notesMaster" Target="/ppt/notesMasters/notesMaster1.xml" Id="Rfb885189ec8a47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4f07a005f1143d7" /><Relationship Type="http://schemas.openxmlformats.org/officeDocument/2006/relationships/notesMaster" Target="/ppt/notesMasters/notesMaster1.xml" Id="R0043a24cce08485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14b135cac5740c7" /><Relationship Type="http://schemas.openxmlformats.org/officeDocument/2006/relationships/notesMaster" Target="/ppt/notesMasters/notesMaster1.xml" Id="Rf111f07b92af49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d39be1130c4e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f9d1de81e64c56" /><Relationship Type="http://schemas.openxmlformats.org/officeDocument/2006/relationships/slideLayout" Target="/ppt/slideLayouts/slideLayout1.xml" Id="R2f32c590a10247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32c590a10247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b22f308e8c4ca8" /><Relationship Type="http://schemas.openxmlformats.org/officeDocument/2006/relationships/notesSlide" Target="/ppt/notesSlides/notesSlide1.xml" Id="R81f56a4f84b947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a16d8addc46c5" /><Relationship Type="http://schemas.openxmlformats.org/officeDocument/2006/relationships/hyperlink" Target="mailto:erik.figueiral.alonso@uvigo.gal" TargetMode="External" Id="Rd3422e4c17654f0a" /><Relationship Type="http://schemas.openxmlformats.org/officeDocument/2006/relationships/notesSlide" Target="/ppt/notesSlides/notesSlide2.xml" Id="R48bc9f98e8824a3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8eccc684d47aa" /><Relationship Type="http://schemas.openxmlformats.org/officeDocument/2006/relationships/notesSlide" Target="/ppt/notesSlides/notesSlide3.xml" Id="R9447f6a3a3994d7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f363e3321946a4" /><Relationship Type="http://schemas.openxmlformats.org/officeDocument/2006/relationships/hyperlink" Target="https://secretaria.uvigo.gal/docnet-nuevo/docencia/guia_docent/pdf/?idioma=cast&amp;pdf=Y&amp;pdf_any_academic=2025_26&amp;pdf_assig=1217" TargetMode="External" Id="R6a7d6cac64294fe4" /><Relationship Type="http://schemas.openxmlformats.org/officeDocument/2006/relationships/notesSlide" Target="/ppt/notesSlides/notesSlide4.xml" Id="R25a0c106ca244b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f1dc18cbf4d50" /><Relationship Type="http://schemas.openxmlformats.org/officeDocument/2006/relationships/image" Target="/ppt/media/image.png" Id="R5cfc1df7b8ac48bd" /><Relationship Type="http://schemas.openxmlformats.org/officeDocument/2006/relationships/hyperlink" Target="https://esei.uvigo.es/wp-content/uploads/formularios/traballos-fin-de-grao/documentacion/estrutura-da-documentacion-do-tfg/GuiaElaboracionTFG_2024_2025.pdf" TargetMode="External" Id="Rf30fe2da825546ca" /><Relationship Type="http://schemas.openxmlformats.org/officeDocument/2006/relationships/notesSlide" Target="/ppt/notesSlides/notesSlide5.xml" Id="Rd58e968e03074fb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d9f546f5c497d" /><Relationship Type="http://schemas.openxmlformats.org/officeDocument/2006/relationships/image" Target="/ppt/media/image2.png" Id="Re08e2ae7e97b403d" /><Relationship Type="http://schemas.openxmlformats.org/officeDocument/2006/relationships/hyperlink" Target="https://esei.uvigo.es/wp-content/uploads/formularios/traballos-fin-de-grao/documentacion/estrutura-da-documentacion-do-tfg/GuiaElaboracionTFG_2024_2025.pdf" TargetMode="External" Id="Re745eb56991e4740" /><Relationship Type="http://schemas.openxmlformats.org/officeDocument/2006/relationships/notesSlide" Target="/ppt/notesSlides/notesSlide6.xml" Id="Rd259b5869ddb41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ffb04f29b4a60" /><Relationship Type="http://schemas.openxmlformats.org/officeDocument/2006/relationships/image" Target="/ppt/media/image3.png" Id="R4444c0c636b840e8" /><Relationship Type="http://schemas.openxmlformats.org/officeDocument/2006/relationships/hyperlink" Target="https://repositorio.ucsm.edu.pe/bitstream/20.500.12920/10583/1/4M.0380.IM.pdf#page=125" TargetMode="External" Id="R50b99a51eba642aa" /><Relationship Type="http://schemas.openxmlformats.org/officeDocument/2006/relationships/notesSlide" Target="/ppt/notesSlides/notesSlide7.xml" Id="Rf4250bba8cb241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c45d219b434863" /><Relationship Type="http://schemas.openxmlformats.org/officeDocument/2006/relationships/hyperlink" Target="https://www.ibm.com/docs/en/spss-modeler/18.6.0?topic=dm-crisp-help-overview" TargetMode="External" Id="Rd0ce809273784ae9" /><Relationship Type="http://schemas.openxmlformats.org/officeDocument/2006/relationships/hyperlink" Target="https://commonkads.org/basics/" TargetMode="External" Id="R411e3cd0f7914698" /><Relationship Type="http://schemas.openxmlformats.org/officeDocument/2006/relationships/hyperlink" Target="https://scrumguides.org/scrum-guide.html" TargetMode="External" Id="R69ce52ef039940ec" /><Relationship Type="http://schemas.openxmlformats.org/officeDocument/2006/relationships/notesSlide" Target="/ppt/notesSlides/notesSlide8.xml" Id="R424072c4c4b2424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2a5daf1bc4321" /><Relationship Type="http://schemas.openxmlformats.org/officeDocument/2006/relationships/notesSlide" Target="/ppt/notesSlides/notesSlide9.xml" Id="R4e6e5f63222c476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86b92d90154ef2" /><Relationship Type="http://schemas.openxmlformats.org/officeDocument/2006/relationships/notesSlide" Target="/ppt/notesSlides/notesSlide10.xml" Id="R6ef42e15a3694d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19dd1ef7e4dbf" /><Relationship Type="http://schemas.openxmlformats.org/officeDocument/2006/relationships/notesSlide" Target="/ppt/notesSlides/notesSlide11.xml" Id="R17294f542041485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5d1c59d2a4bf9" /><Relationship Type="http://schemas.openxmlformats.org/officeDocument/2006/relationships/notesSlide" Target="/ppt/notesSlides/notesSlide12.xml" Id="Rf0abc63f5d744ea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d4f3450084c0b" /><Relationship Type="http://schemas.openxmlformats.org/officeDocument/2006/relationships/image" Target="/ppt/media/image.jpeg" Id="R8bf45439b5c04750" /><Relationship Type="http://schemas.openxmlformats.org/officeDocument/2006/relationships/image" Target="/ppt/media/image2.jpeg" Id="Rdfd74b42006c490d" /><Relationship Type="http://schemas.openxmlformats.org/officeDocument/2006/relationships/hyperlink" Target="https://www.amazon.com/-/es/dp/047074376X" TargetMode="External" Id="R553e8b94ca4642d5" /><Relationship Type="http://schemas.openxmlformats.org/officeDocument/2006/relationships/hyperlink" Target="https://www.amazon.com/-/es/dp/3030619451" TargetMode="External" Id="R75dd84f805aa48d9" /><Relationship Type="http://schemas.openxmlformats.org/officeDocument/2006/relationships/hyperlink" Target="https://github.com/Figueiral-Alonso/Docencia" TargetMode="External" Id="R4e7a5086e8b24618" /><Relationship Type="http://schemas.openxmlformats.org/officeDocument/2006/relationships/notesSlide" Target="/ppt/notesSlides/notesSlide13.xml" Id="R07f981dc4cc14186" /></Relationships>
</file>

<file path=ppt/slides/_rels/slide14.xml.rels><Relationships xmlns="http://schemas.openxmlformats.org/package/2006/relationships"><Relationship Type="http://schemas.openxmlformats.org/officeDocument/2006/relationships/slideLayout" Target="/ppt/slideLayouts/slideLayout1.xml" Id="R89c19dd1ef7e4dbf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B97A16-AD2D-45A8-B0DF-AA7DECDC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AAE8A1-14E3-4DF6-9F1F-95F244DC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4A714-2ACA-47C4-B363-3506A6B52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D24440-8556-43E5-AFB8-7106500C3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DCEDA-C903-469B-9098-0C5E897F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0F6B7-ED79-4C6B-B379-D8563E607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Razonamiento con Incertidumbre (RAIN)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C29CFB-A300-4903-A8CD-3A766704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765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Parte de Planificación</a:t>
            </a:r>
          </a:p>
        </p:txBody>
      </p:sp>
    </p:spTree>
    <p:extLst>
      <p:ext uri="{BB962C8B-B14F-4D97-AF65-F5344CB8AC3E}">
        <p14:creationId xmlns:p14="http://schemas.microsoft.com/office/powerpoint/2010/main" val="17218965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4FE9C6-60B1-4A7A-B257-AF5FA0ADF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CAF793-2868-4275-8446-A0652DA3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37ABB1-BB81-4097-91B1-67B3C7B5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D0C076-C8B3-4ABE-B331-98E72891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AE1BF9-8E05-4EC5-8738-E9FCDB1EB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74506-851A-46A0-97BE-DE8C94FC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Horario · Erik Figueiral Alonso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FD193B-FAAB-4D7D-9D15-834B8B26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1930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Lunes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86B16-2C17-4C33-BBA1-F847BAF2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1930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09:00–10:30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7D53E3-9C09-42CC-9702-ED4FBCBE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Jueves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2B70C-7208-4E6F-A5AA-9BFF642DD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67050"/>
            <a:ext cx="5238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15:00–16:30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A1BBC-A4F7-428A-8431-580BADDE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767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Laboratorio de Ciencia Computacional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69DAF-B008-4876-88A5-CF941F5C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5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3 horas concertadas · </a:t>
            </a:r>
            <a:r>
              <a:rPr sz="2025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d3422e4c17654f0a"/>
              </a:rPr>
              <a:t>erik.figueiral.alonso@uvigo.gal</a:t>
            </a:r>
          </a:p>
        </p:txBody>
      </p:sp>
    </p:spTree>
    <p:extLst>
      <p:ext uri="{BB962C8B-B14F-4D97-AF65-F5344CB8AC3E}">
        <p14:creationId xmlns:p14="http://schemas.microsoft.com/office/powerpoint/2010/main" val="949630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D5274C-F74A-4F9A-8ECD-D7C90E9B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5DC6B-C0C9-4F51-8044-0CC40583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D017B5-907D-47B0-BE84-FD1E33DE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6FFD6-BE8B-4899-A65C-010FCCA47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648B9-E9E7-468E-A902-086F7EE8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EA0E64-46B6-4EAD-AE9D-8957A006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Calendario de prácticas y entregas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365D76-BD3D-4073-A6DE-10D9DFDE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52E36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52E36"/>
                </a:solidFill>
                <a:latin typeface="Arial"/>
                <a:ea typeface="Arial"/>
                <a:cs typeface="Arial"/>
              </a:rPr>
              <a:t>Realizado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023A23-7A74-4950-BC3F-E2DFA874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438275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Estamos aquí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57FEC-2738-4C7D-A044-970733F9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382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162A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162A0"/>
                </a:solidFill>
                <a:latin typeface="Arial"/>
                <a:ea typeface="Arial"/>
                <a:cs typeface="Arial"/>
              </a:rPr>
              <a:t>Pendiente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42950"/>
                <a:gridCol w="306705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Ses.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 / entrega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7–11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Avance inicial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14–18 sep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B52E36"/>
                          </a:solidFill>
                          <a:latin typeface="Arial"/>
                          <a:ea typeface="Arial"/>
                          <a:cs typeface="Arial"/>
                        </a:rPr>
                        <a:t>Tema entregado</a:t>
                      </a:r>
                    </a:p>
                  </a:txBody>
                  <a:tcPr marL="91440" marR="91440" marT="45720" marB="45720">
                    <a:solidFill>
                      <a:srgbClr val="FFF0F0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21–25 sep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96B18"/>
                          </a:solidFill>
                          <a:latin typeface="Arial"/>
                          <a:ea typeface="Arial"/>
                          <a:cs typeface="Arial"/>
                        </a:rPr>
                        <a:t>Avanzar planificación</a:t>
                      </a:r>
                    </a:p>
                  </a:txBody>
                  <a:tcPr marL="91440" marR="91440" marT="45720" marB="45720">
                    <a:solidFill>
                      <a:srgbClr val="FFF0DF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28 sep–2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Planificación: defensa 28 sep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5–9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19–23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26–30 oct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Arquitectura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"/>
          <p:cNvGraphicFramePr/>
          <p:nvPr/>
        </p:nvGraphicFramePr>
        <p:xfrm>
          <a:off xmlns:a="http://schemas.openxmlformats.org/drawingml/2006/main" x="6248400" y="1952625"/>
          <a:ext xmlns:a="http://schemas.openxmlformats.org/drawingml/2006/main" cx="5334000" cy="3619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742950"/>
                <a:gridCol w="3067050"/>
              </a:tblGrid>
              <a:tr h="45243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Semana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Ses.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Actividad / entrega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2–6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9–13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Prototipo y código fuente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16–20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Estructura de la memoria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23–27 nov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30 nov–4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12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Avance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7–11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Defensa del proyecto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  <a:tr h="452438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14–18 dic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14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Defensa del proyecto</a:t>
                      </a:r>
                    </a:p>
                  </a:txBody>
                  <a:tcPr marL="91440" marR="91440" marT="45720" marB="45720">
                    <a:solidFill>
                      <a:srgbClr val="F0F6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C7B1A8-24EA-4C21-A11D-C05A652D8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34050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Esta semana: avanzar la planificación. Defensa: lunes 28 de septiembre.</a:t>
            </a:r>
          </a:p>
        </p:txBody>
      </p:sp>
    </p:spTree>
    <p:extLst>
      <p:ext uri="{BB962C8B-B14F-4D97-AF65-F5344CB8AC3E}">
        <p14:creationId xmlns:p14="http://schemas.microsoft.com/office/powerpoint/2010/main" val="3152702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AC117-AC3A-459E-9C84-1C525EB3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58DB90-DB9F-40A0-832B-E4C3C71A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1C6DA-70FD-463D-88C4-6CC0A1A6C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8209C-C59B-4D64-ACB0-B16E465C6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9BDF38-7FFB-4B56-AAD5-628D24CB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782F65-769C-4FAF-A095-B8239544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Dedicación a la práctica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838200" y="1685925"/>
          <a:ext xmlns:a="http://schemas.openxmlformats.org/drawingml/2006/main" cx="1047750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2381250"/>
                <a:gridCol w="2476500"/>
              </a:tblGrid>
              <a:tr h="607219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Guía docente: dedicación práctica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Por estudiante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Pareja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Prácticas presenciales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30 h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60 h-persona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Trabajo en casa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50 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100 h-persona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80 h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160 h-persona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1991F1-85F1-4A32-B6A8-983DA5DD4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95800"/>
            <a:ext cx="1047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Como máximo, 160 horas-persona por pareja.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6ECD64-A4D1-44F6-88CA-4023C9DC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530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Podéis planificar solo las horas de casa: 100 h por pareja como referencia. Indicad el criterio y ajustad el alcance.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132D2-61E8-4A4C-A912-C32C09CB1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960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6a7d6cac64294fe4"/>
              </a:rPr>
              <a:t>Fuente: guía docente 2025–2026 · Planificación de prácticas</a:t>
            </a:r>
          </a:p>
        </p:txBody>
      </p:sp>
    </p:spTree>
    <p:extLst>
      <p:ext uri="{BB962C8B-B14F-4D97-AF65-F5344CB8AC3E}">
        <p14:creationId xmlns:p14="http://schemas.microsoft.com/office/powerpoint/2010/main" val="10820072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8E2B58-DA4C-4D02-AA6C-8644F32E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0D8AD-8647-47BB-BD4C-DADB9B7C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860DF-23E7-4BC7-B79C-0B0E553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E4666-1E14-4C66-B21C-AE2FA1C2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3D3727-3FF2-4438-AEF2-FCEFE4A07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06B61-7B74-4FEB-9EE3-73EDC00A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La documentación del TFG como guía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fc1df7b8ac48bd"/>
          <a:stretch xmlns:a="http://schemas.openxmlformats.org/drawingml/2006/main"/>
        </p:blipFill>
        <p:spPr>
          <a:xfrm xmlns:a="http://schemas.openxmlformats.org/drawingml/2006/main">
            <a:off x="609600" y="1504950"/>
            <a:ext cx="6477000" cy="45339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D2B702-6A40-4407-9A5B-C9E10DD94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571625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Es solo una guía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43AE53-C2D0-4FDC-B35C-C8D02EE1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86000"/>
            <a:ext cx="4000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 memoria de la práctica será una simulación del TFG, con menos horas y un alcance menor.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75787-BCA7-43B3-A98E-D04C406F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62375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Ahora nos interesa el apartado 5.10: planificación y seguimiento.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4A42CC-4533-4778-93ED-B19648D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5048250"/>
            <a:ext cx="40005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Lo que preparéis ahora servirá para la memoria final.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57DBBB-56AE-45FA-B8A5-723BBDC4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f30fe2da825546ca"/>
              </a:rPr>
              <a:t>ESEI · Estructura oficial de la documentación del TFG (PDF)</a:t>
            </a:r>
          </a:p>
        </p:txBody>
      </p:sp>
    </p:spTree>
    <p:extLst>
      <p:ext uri="{BB962C8B-B14F-4D97-AF65-F5344CB8AC3E}">
        <p14:creationId xmlns:p14="http://schemas.microsoft.com/office/powerpoint/2010/main" val="32228032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FEDA1-2F0C-43FF-85FD-9376148C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C7783-1210-4753-9BF3-1AF91B2A6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368EF0-D828-4C78-9E47-896CC2F6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72EFE6-FC96-4839-B28C-A5DD68C1F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C28FD-E7F4-4226-A4A3-42F25125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4EE608-690C-432F-89F3-A92537EC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La memoria: desarrollo y resultados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e2ae7e97b403d"/>
          <a:stretch xmlns:a="http://schemas.openxmlformats.org/drawingml/2006/main"/>
        </p:blipFill>
        <p:spPr>
          <a:xfrm xmlns:a="http://schemas.openxmlformats.org/drawingml/2006/main">
            <a:off x="2730381" y="1466850"/>
            <a:ext cx="6731239" cy="45910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EEA41F-865F-4C3A-9761-5F11D19A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674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e745eb56991e4740"/>
              </a:rPr>
              <a:t>Documento completo · Guía de elaboración del TFG</a:t>
            </a:r>
          </a:p>
        </p:txBody>
      </p:sp>
    </p:spTree>
    <p:extLst>
      <p:ext uri="{BB962C8B-B14F-4D97-AF65-F5344CB8AC3E}">
        <p14:creationId xmlns:p14="http://schemas.microsoft.com/office/powerpoint/2010/main" val="19922092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677A8E-54B3-45A9-8444-C97D0E6C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31D54-EF6B-4DEB-BDA3-A167B1F0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E52C7-1477-4E54-A933-FCCB59E3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267DC9-9216-4A33-B360-21C9DCE6E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9954D4-E98C-491F-8DDE-78196279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13666-8E0C-453B-9FD6-5E939792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Ejemplo real: planificación de un control difuso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AA3538-B28C-47B1-98BF-3E5B72DED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Control PID y control difuso de un cuadricóptero. Tesis de la UCSM.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44c0c636b840e8"/>
          <a:stretch xmlns:a="http://schemas.openxmlformats.org/drawingml/2006/main"/>
        </p:blipFill>
        <p:spPr>
          <a:xfrm xmlns:a="http://schemas.openxmlformats.org/drawingml/2006/main">
            <a:off x="1513640" y="1885950"/>
            <a:ext cx="9164720" cy="39814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F65FAB-2FD7-4E40-930B-2D87DF3B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24575"/>
            <a:ext cx="109728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50b99a51eba642aa"/>
              </a:rPr>
              <a:t>Andree Gutierrez Suclla (2021) · Figura 95, p. 108 · Ver tesis</a:t>
            </a:r>
          </a:p>
        </p:txBody>
      </p:sp>
    </p:spTree>
    <p:extLst>
      <p:ext uri="{BB962C8B-B14F-4D97-AF65-F5344CB8AC3E}">
        <p14:creationId xmlns:p14="http://schemas.microsoft.com/office/powerpoint/2010/main" val="15540304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239D7-E5C5-4B71-AB01-E21B288D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1BAA7-FC90-43B9-A86E-D0DB005A6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81225D-4428-45D6-9F4E-7B95A1C1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F7D8F-37E8-4CF6-8A26-8EE44809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00A4EB-E3EB-48A5-9F5E-95433FCEA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B30CA-F06E-4ECA-9880-9CA64B6B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Metodologías y organización del trabajo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14C0B-5EB7-43E0-AE06-FDE63A921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9542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CommonKADS · Conocimiento experto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AC64A6-C050-4CCF-9DF3-FD673447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66900"/>
            <a:ext cx="1047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La referencia más cercana a esta práctica: representar el conocimiento y validarlo.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8D120-B0C1-4D02-8EF5-2DDCB903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CRISP-DM · Proyectos basados en datos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DA76C6-7347-41B6-B140-5567E9CE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1047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Comprender y preparar datos, modelar y evaluar; volver atrás cuando sea necesario.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09EB9B-EBDC-4CF8-99D8-BC72FB670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9975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Scrum · Trabajo en sprints e incrementos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22D05-B67D-46D3-81C9-DAB03ACD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104775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Encaja peor con nuestras fechas. Dos entregas por sí solas no implican aplicar Scrum.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6B635-9E57-43C6-BFCC-DD9DA73A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910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Los tres enfoques son iterativos: construir, probar y revisar.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81BDAD-8C70-438B-BEAE-A777CC88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9115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Dos hitos del sistema: prototipo y entrega final.</a:t>
            </a:r>
          </a:p>
          <a:p xmlns:a="http://schemas.openxmlformats.org/drawingml/2006/main">
            <a:pPr>
              <a:defRPr sz="19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Se valorará justificar la metodología.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5DEE13-4E3F-4A5F-A6D7-664946028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00775"/>
            <a:ext cx="314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d0ce809273784ae9"/>
              </a:rPr>
              <a:t>CRISP-DM · IBM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0BA9FE-6F63-442E-A2E6-3DBACCC4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20077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411e3cd0f7914698"/>
              </a:rPr>
              <a:t>CommonKADS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0B3CBB-E9B1-43E6-90DF-DBEAB1C6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20077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69ce52ef039940ec"/>
              </a:rPr>
              <a:t>Guía Scrum</a:t>
            </a:r>
          </a:p>
        </p:txBody>
      </p:sp>
    </p:spTree>
    <p:extLst>
      <p:ext uri="{BB962C8B-B14F-4D97-AF65-F5344CB8AC3E}">
        <p14:creationId xmlns:p14="http://schemas.microsoft.com/office/powerpoint/2010/main" val="3244094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E9DB3-823B-41F1-BA36-4839F377E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07779-F731-4AE2-9E47-069B5CC88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46F0B-8DFF-4E14-B088-D237A8493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C6DAF8-B048-44DB-9958-8D5D826A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A555E0-6640-4902-8B77-A8D9D3CC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E694EF-F40D-41B5-85E6-BA16398B0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Dos hitos del sistema: ejemplo de un invernadero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838200" y="1762125"/>
          <a:ext xmlns:a="http://schemas.openxmlformats.org/drawingml/2006/main" cx="10477500" cy="2781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6667500"/>
              </a:tblGrid>
              <a:tr h="927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Hito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Qué se puede demostrar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1. Prototipo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Sesión 9: entrega prevista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Controlar la ventilación con la temperatura.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Reglas básicas y casos de prueba.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927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2. Entrega final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Sesiones 13–14: defensa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Incorporar humedad y revisar las reglas.</a:t>
                      </a:r>
                    </a:p>
                    <a:p>
                      <a:r>
                        <a:rPr sz="195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Comprobar el conjunto con nuevos casos.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79A9A5-1468-4447-AD01-C72E62FF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1047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El prototipo permite probar y corregir antes de la entrega final y su defensa.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ED4C79-5F61-4B5D-B6A9-42A46675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81675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Indicad vuestra metodología. Se valorará positivamente su justificación, sin exigir una aplicación rígida.</a:t>
            </a:r>
          </a:p>
        </p:txBody>
      </p:sp>
    </p:spTree>
    <p:extLst>
      <p:ext uri="{BB962C8B-B14F-4D97-AF65-F5344CB8AC3E}">
        <p14:creationId xmlns:p14="http://schemas.microsoft.com/office/powerpoint/2010/main" val="120658126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BD748-AC84-40A9-853B-9E3100A7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75301-34E3-4DF8-8200-46491B2D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E520E-4CB2-4C81-A4A2-F946A322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5FCDD6-C89C-4304-BDEE-E5EEE05B9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3A853-B29E-4486-9B28-E8FC58EB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D7BE1-A555-4FD8-B49D-41C4169A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Gantt organizado en dos incrementos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C3F385-1D13-4017-967A-9991815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Cada incremento prepara una entrega: prototipo y entrega final.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34700" cy="321469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43350"/>
                <a:gridCol w="91440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357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Trabajo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Quién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S6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S7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S8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S9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S10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S11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S12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S13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Incremento 1 · Prototipo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Arquitectura y diseño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del prototipo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Incremento 2 · Entrega final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E8AD7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final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Pruebas y correcciones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Memoria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F4B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Preparación de la defensa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0E0AF-0DC4-44DD-9254-B0856C36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Naranja: trabajo previsto · ● Entrega o defensa · S: sesión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C9606A-3FA8-4F47-A1E5-D5C55DF7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53B4A"/>
                </a:solidFill>
                <a:latin typeface="Arial"/>
                <a:ea typeface="Arial"/>
                <a:cs typeface="Arial"/>
              </a:rPr>
              <a:t>Punto de partida (S4): tema elegido y plan inicial entregado.</a:t>
            </a:r>
          </a:p>
          <a:p xmlns:a="http://schemas.openxmlformats.org/drawingml/2006/main">
            <a:pPr>
              <a:defRPr sz="150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53B4A"/>
                </a:solidFill>
                <a:latin typeface="Arial"/>
                <a:ea typeface="Arial"/>
                <a:cs typeface="Arial"/>
              </a:rPr>
              <a:t>El Gantt representa el trabajo pendiente desde esa entrega.</a:t>
            </a:r>
          </a:p>
        </p:txBody>
      </p:sp>
    </p:spTree>
    <p:extLst>
      <p:ext uri="{BB962C8B-B14F-4D97-AF65-F5344CB8AC3E}">
        <p14:creationId xmlns:p14="http://schemas.microsoft.com/office/powerpoint/2010/main" val="10065284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E440E-9400-482A-8370-4AB50AA70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BD298-07F0-4605-B13F-A8C7C73D5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0B45A-C57A-45B9-94F6-4DDB1832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4F64E-02AB-46EF-B36A-0978E0E2B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ABCE8-94A0-4038-BA87-F18D863C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F7CBF-2E0F-4765-948F-3A414E9A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Gantt organizado por tareas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FB3E0A-1669-4E0F-BEC3-C256A2C6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También permite trabajar de forma iterativa, sin agrupar las tareas en incrementos.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52625"/>
          <a:ext xmlns:a="http://schemas.openxmlformats.org/drawingml/2006/main" cx="10934700" cy="3125388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43350"/>
                <a:gridCol w="91440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  <a:gridCol w="552450"/>
              </a:tblGrid>
              <a:tr h="44648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Trabajo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Quién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S5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S6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S7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S8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S9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S10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S11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S12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S13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S14</a:t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Arquitectura y diseño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del prototipo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Implementación final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Pruebas y correcciones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Memoria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F4BA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46484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Preparación de la defensa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>A y B</a:t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FFF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33746"/>
                          </a:solidFill>
                          <a:latin typeface="Arial"/>
                          <a:ea typeface="Arial"/>
                          <a:cs typeface="Arial"/>
                        </a:rPr>
                        <a:t/>
                      </a:r>
                    </a:p>
                  </a:txBody>
                  <a:tcPr marL="91440" marR="91440" marT="45720" marB="45720">
                    <a:solidFill>
                      <a:srgbClr val="D96B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162A0"/>
                          </a:solidFill>
                          <a:latin typeface="Arial"/>
                          <a:ea typeface="Arial"/>
                          <a:cs typeface="Arial"/>
                        </a:rPr>
                        <a:t>●</a:t>
                      </a:r>
                    </a:p>
                  </a:txBody>
                  <a:tcPr marL="91440" marR="91440" marT="45720" marB="45720"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CFDD1C-26F1-47F8-832F-4A093FB1E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Naranja: trabajo previsto · ● Entrega o defensa · S: sesión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078CF-EDFE-451C-B762-6685FD44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53B4A"/>
                </a:solidFill>
                <a:latin typeface="Arial"/>
                <a:ea typeface="Arial"/>
                <a:cs typeface="Arial"/>
              </a:rPr>
              <a:t>Punto de partida (S4): tema elegido y plan inicial entregado.</a:t>
            </a:r>
          </a:p>
          <a:p xmlns:a="http://schemas.openxmlformats.org/drawingml/2006/main">
            <a:pPr>
              <a:defRPr sz="150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253B4A"/>
                </a:solidFill>
                <a:latin typeface="Arial"/>
                <a:ea typeface="Arial"/>
                <a:cs typeface="Arial"/>
              </a:rPr>
              <a:t>El Gantt representa el trabajo pendiente desde esa entrega.</a:t>
            </a:r>
          </a:p>
        </p:txBody>
      </p:sp>
    </p:spTree>
    <p:extLst>
      <p:ext uri="{BB962C8B-B14F-4D97-AF65-F5344CB8AC3E}">
        <p14:creationId xmlns:p14="http://schemas.microsoft.com/office/powerpoint/2010/main" val="68389546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0E7422-B328-459E-9B90-91618049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A174BE-6DE1-47CB-897C-83391EAF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C4336A-C6BE-44E0-AB21-D56DC482B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0918B2-DF14-4438-BA75-F6D47DB3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111A4F-E46E-46BB-B2DC-16BC6DCC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51BD6-77EC-44AB-890D-CFDC29AF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Gantt y máxima calificación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5703C-DBED-4BF8-9C50-7908DA64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477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El Gantt es necesario para optar a la máxima calificación.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BFE1E2-3B86-4A19-BEC2-828AEA0FF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5287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Podéis usar sesiones, semanas o fechas como escala temporal.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EE1B3-E88C-4C37-9040-0187F2BA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4775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Podéis organizarlo por tareas o por incrementos. Ambos permiten trabajar de forma iterativa.</a:t>
            </a:r>
          </a:p>
        </p:txBody>
      </p:sp>
    </p:spTree>
    <p:extLst>
      <p:ext uri="{BB962C8B-B14F-4D97-AF65-F5344CB8AC3E}">
        <p14:creationId xmlns:p14="http://schemas.microsoft.com/office/powerpoint/2010/main" val="19357101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AE8EA-2A1F-4FAD-809D-12665B7B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015DC9-3AD4-4CC3-8F08-011FCBC6B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B1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B6E1F-2CF8-4149-B792-906DEFBC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D35F9-B305-4431-A2DF-AC084F72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1B4FC-FD78-481F-AB61-8D86D20B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9FE2C1-D3DE-4837-8FC4-3BED73B8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25" b="0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D96B18"/>
                </a:solidFill>
                <a:latin typeface="Arial"/>
                <a:ea typeface="Arial"/>
                <a:cs typeface="Arial"/>
              </a:rPr>
              <a:t>Próxima semana: incertidumbre y arquitectura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568DD-94C7-4B56-A834-40876BB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Control difuso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7B760-80E6-4194-A120-A3B8952B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76375"/>
            <a:ext cx="5048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D96B18"/>
                </a:solidFill>
                <a:latin typeface="Arial"/>
                <a:ea typeface="Arial"/>
                <a:cs typeface="Arial"/>
              </a:rPr>
              <a:t>Diagnóstico probabilístico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45439b5c04750"/>
          <a:stretch xmlns:a="http://schemas.openxmlformats.org/drawingml/2006/main"/>
        </p:blipFill>
        <p:spPr>
          <a:xfrm xmlns:a="http://schemas.openxmlformats.org/drawingml/2006/main">
            <a:off x="842645" y="2095500"/>
            <a:ext cx="2086610" cy="3028950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74b42006c490d"/>
          <a:stretch xmlns:a="http://schemas.openxmlformats.org/drawingml/2006/main"/>
        </p:blipFill>
        <p:spPr>
          <a:xfrm xmlns:a="http://schemas.openxmlformats.org/drawingml/2006/main">
            <a:off x="6408524" y="2095500"/>
            <a:ext cx="1908601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FD4E4F-2FDB-4E20-AF39-540949D6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33600"/>
            <a:ext cx="276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Timothy J. Ross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ED8DE8-E745-42AF-B320-B1F97DFC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724150"/>
            <a:ext cx="2762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Fuzzy Logic with Engineering Applications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9AA17-7661-4758-8BFD-9366CB61A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048125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3.ª edición</a:t>
            </a:r>
          </a:p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Wiley, 2010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5BD356-ABF0-4A13-980F-68FBC8BC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3360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Luis Enrique Sucar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FD16E-9062-4AAE-B54E-E9700BAC0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24150"/>
            <a:ext cx="295275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Probabilistic Graphical Models</a:t>
            </a:r>
          </a:p>
          <a:p xmlns:a="http://schemas.openxmlformats.org/drawingml/2006/main">
            <a:pPr>
              <a:defRPr sz="187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Principles and Applications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DC2B73-D0A6-46A8-95CE-9A727796D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248150"/>
            <a:ext cx="285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2.ª edición</a:t>
            </a:r>
          </a:p>
          <a:p xmlns:a="http://schemas.openxmlformats.org/drawingml/2006/main">
            <a:pPr>
              <a:defRPr sz="1725" b="0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33746"/>
                </a:solidFill>
                <a:latin typeface="Arial"/>
                <a:ea typeface="Arial"/>
                <a:cs typeface="Arial"/>
              </a:rPr>
              <a:t>Springer, 2021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4510EC-5EAB-4E78-9F11-2844E2C22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0175"/>
            <a:ext cx="4857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553e8b94ca4642d5"/>
              </a:rPr>
              <a:t>Referencia del libro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B254C-3860-47F5-A0DB-B0BED37B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0175"/>
            <a:ext cx="5048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75dd84f805aa48d9"/>
              </a:rPr>
              <a:t>Referencia del libro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12C460-B4DF-4D65-A278-696C1299B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48325"/>
            <a:ext cx="1047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3374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3746"/>
                </a:solidFill>
                <a:latin typeface="Arial"/>
                <a:ea typeface="Arial"/>
                <a:cs typeface="Arial"/>
              </a:rPr>
              <a:t>Veremos cómo llevar vuestro problema a una arquitectura de diagnóstico o de control.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9CC590-AB7D-4027-9B61-2A452D28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2293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6B1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96B18"/>
                </a:solidFill>
                <a:latin typeface="Arial"/>
                <a:ea typeface="Arial"/>
                <a:cs typeface="Arial"/>
                <a:hlinkClick xmlns:r="http://schemas.openxmlformats.org/officeDocument/2006/relationships" r:id="R4e7a5086e8b24618"/>
              </a:rPr>
              <a:t>GitHub Docencia · Materiales de la asignatura</a:t>
            </a:r>
          </a:p>
        </p:txBody>
      </p:sp>
    </p:spTree>
    <p:extLst>
      <p:ext uri="{BB962C8B-B14F-4D97-AF65-F5344CB8AC3E}">
        <p14:creationId xmlns:p14="http://schemas.microsoft.com/office/powerpoint/2010/main" val="136615195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84292-CF77-49F8-98AC-A43E01B6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690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B356E9-0DC3-48E2-BAE4-C940298A0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91300"/>
            <a:ext cx="12192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690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8BB62-AF8A-48F2-B4EE-4184629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Razonamiento con Incertidumbre · Planificación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F514D-556C-4E5A-A4A9-984BE60B9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48450"/>
            <a:ext cx="9048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Erik Figueiral Alonso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8256A-9FB7-439F-B2E6-C6FCD3E3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48450"/>
            <a:ext cx="428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B36E7-FFC2-4D43-97DE-57CF35EB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DE690D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DE690D"/>
                </a:solidFill>
                <a:latin typeface="Arial"/>
                <a:ea typeface="Arial"/>
                <a:cs typeface="Arial"/>
              </a:rPr>
              <a:t>Tareas según el tipo de proyecto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FFB9A3-7201-4EE6-919C-69548168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Los Gantt anteriores son ejemplos. Añadid tareas concretas según vuestro sistema.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E9FA86-3C95-4F8F-AA05-70A66D7D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E69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E690D"/>
                </a:solidFill>
                <a:latin typeface="Arial"/>
                <a:ea typeface="Arial"/>
                <a:cs typeface="Arial"/>
              </a:rPr>
              <a:t>Control difuso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C60B6C-14FE-4653-AB63-82195B023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33600"/>
            <a:ext cx="5219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E690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E690D"/>
                </a:solidFill>
                <a:latin typeface="Arial"/>
                <a:ea typeface="Arial"/>
                <a:cs typeface="Arial"/>
              </a:rPr>
              <a:t>Diagnóstico probabilístico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602DFD-962D-455F-BFD9-5BD4AFB72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Definir entradas, salidas y rangos.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029A46-4DDB-4FF6-878F-89A40EED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467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Diseñar las funciones de pertenencia.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33A14A-ACDC-415F-85FB-660CB659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140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Construir y ajustar las reglas de control.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9F9BE7B-BBF1-4F12-8418-74D234A9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Simular escenarios y evaluar la respuesta.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EA37B3-A9F5-4925-BBD1-3F0585F4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4795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Definir variables y estados.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B33AB7-94F6-4949-A6AE-462F6D79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1467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Diseñar la estructura de la red.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1F3F8E-8A06-47E9-AF4B-FF28710BB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581400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Estimar las probabilidades del modelo.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069C09-D133-417B-8881-96E64CFA9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048125"/>
            <a:ext cx="5219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Validar el diagnóstico con casos de prueba.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0D9AF-10A6-444C-9DA9-2B8CC51CA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E690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E690D"/>
                </a:solidFill>
                <a:latin typeface="Arial"/>
                <a:ea typeface="Arial"/>
                <a:cs typeface="Arial"/>
              </a:rPr>
              <a:t>Alcance del Gantt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6651E3-E2E1-4482-BAFA-0B3422B58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67325"/>
            <a:ext cx="10972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En este Gantt, «temática» y «planificación inicial» son pasos previos ya completados.</a:t>
            </a:r>
          </a:p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Incluirlos como tareas pendientes al entregar el plan no es correcto.</a:t>
            </a:r>
          </a:p>
          <a:p xmlns:a="http://schemas.openxmlformats.org/drawingml/2006/main">
            <a:pPr>
              <a:defRPr sz="1800" b="0">
                <a:solidFill>
                  <a:srgbClr val="253B4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53B4A"/>
                </a:solidFill>
                <a:latin typeface="Arial"/>
                <a:ea typeface="Arial"/>
                <a:cs typeface="Arial"/>
              </a:rPr>
              <a:t>Cada tarea debe describir trabajo por realizar y un resultado comprobable.</a:t>
            </a:r>
          </a:p>
        </p:txBody>
      </p:sp>
    </p:spTree>
    <p:extLst>
      <p:ext uri="{BB962C8B-B14F-4D97-AF65-F5344CB8AC3E}">
        <p14:creationId xmlns:p14="http://schemas.microsoft.com/office/powerpoint/2010/main" val="729891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14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2026-09-20T23:17:12.5110000Z</dcterms:created>
  <dcterms:modified xsi:type="dcterms:W3CDTF">2026-09-20T23:17:12.5110000Z</dcterms:modified>
</coreProperties>
</file>