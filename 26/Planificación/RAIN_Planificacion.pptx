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60e5135ec24a49" /><Relationship Type="http://schemas.openxmlformats.org/officeDocument/2006/relationships/extended-properties" Target="/docProps/app.xml" Id="R4b8b1211e6d64d4e" /><Relationship Type="http://schemas.openxmlformats.org/officeDocument/2006/relationships/officeDocument" Target="/ppt/presentation.xml" Id="R6021f1e1e91b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688873f9948c9"/>
  </p:sldMasterIdLst>
  <p:notesMasterIdLst>
    <p:notesMasterId xmlns:r="http://schemas.openxmlformats.org/officeDocument/2006/relationships" r:id="R399780945ad6480f"/>
  </p:notesMasterIdLst>
  <p:sldIdLst>
    <p:sldId xmlns:r="http://schemas.openxmlformats.org/officeDocument/2006/relationships" id="256" r:id="R2649a5bf7b904ddb"/>
    <p:sldId xmlns:r="http://schemas.openxmlformats.org/officeDocument/2006/relationships" id="257" r:id="Rc2feea5710a04ca7"/>
    <p:sldId xmlns:r="http://schemas.openxmlformats.org/officeDocument/2006/relationships" id="258" r:id="R059dabd40f794f39"/>
    <p:sldId xmlns:r="http://schemas.openxmlformats.org/officeDocument/2006/relationships" id="259" r:id="R416d5ffff3dd49a7"/>
    <p:sldId xmlns:r="http://schemas.openxmlformats.org/officeDocument/2006/relationships" id="260" r:id="R5a24f1165c7c4902"/>
    <p:sldId xmlns:r="http://schemas.openxmlformats.org/officeDocument/2006/relationships" id="261" r:id="R04552fcee210453e"/>
    <p:sldId xmlns:r="http://schemas.openxmlformats.org/officeDocument/2006/relationships" id="262" r:id="R28fb70f0b9804d9d"/>
    <p:sldId xmlns:r="http://schemas.openxmlformats.org/officeDocument/2006/relationships" id="263" r:id="R6bbcce34db524431"/>
    <p:sldId xmlns:r="http://schemas.openxmlformats.org/officeDocument/2006/relationships" id="264" r:id="Rfdd4ec237059422f"/>
    <p:sldId xmlns:r="http://schemas.openxmlformats.org/officeDocument/2006/relationships" id="265" r:id="R408b05a2d4094ce0"/>
    <p:sldId xmlns:r="http://schemas.openxmlformats.org/officeDocument/2006/relationships" id="266" r:id="Rde77049d52314f69"/>
    <p:sldId xmlns:r="http://schemas.openxmlformats.org/officeDocument/2006/relationships" id="267" r:id="Rfe69a3fbbb3f4b36"/>
    <p:sldId xmlns:r="http://schemas.openxmlformats.org/officeDocument/2006/relationships" id="268" r:id="Rb4a546f987234d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721ed5a1d49ef" /><Relationship Type="http://schemas.openxmlformats.org/officeDocument/2006/relationships/slideMaster" Target="/ppt/slideMasters/slideMaster1.xml" Id="R2a5688873f9948c9" /><Relationship Type="http://schemas.openxmlformats.org/officeDocument/2006/relationships/notesMaster" Target="/ppt/notesMasters/notesMaster1.xml" Id="R399780945ad6480f" /><Relationship Type="http://schemas.openxmlformats.org/officeDocument/2006/relationships/presProps" Target="/ppt/presProps.xml" Id="R13f7b2eac9c14e65" /><Relationship Type="http://schemas.openxmlformats.org/officeDocument/2006/relationships/tableStyles" Target="/ppt/tableStyles.xml" Id="R64ef8fd362414495" /><Relationship Type="http://schemas.openxmlformats.org/officeDocument/2006/relationships/slide" Target="/ppt/slides/slide1.xml" Id="R2649a5bf7b904ddb" /><Relationship Type="http://schemas.openxmlformats.org/officeDocument/2006/relationships/slide" Target="/ppt/slides/slide2.xml" Id="Rc2feea5710a04ca7" /><Relationship Type="http://schemas.openxmlformats.org/officeDocument/2006/relationships/slide" Target="/ppt/slides/slide3.xml" Id="R059dabd40f794f39" /><Relationship Type="http://schemas.openxmlformats.org/officeDocument/2006/relationships/slide" Target="/ppt/slides/slide4.xml" Id="R416d5ffff3dd49a7" /><Relationship Type="http://schemas.openxmlformats.org/officeDocument/2006/relationships/slide" Target="/ppt/slides/slide5.xml" Id="R5a24f1165c7c4902" /><Relationship Type="http://schemas.openxmlformats.org/officeDocument/2006/relationships/slide" Target="/ppt/slides/slide6.xml" Id="R04552fcee210453e" /><Relationship Type="http://schemas.openxmlformats.org/officeDocument/2006/relationships/slide" Target="/ppt/slides/slide7.xml" Id="R28fb70f0b9804d9d" /><Relationship Type="http://schemas.openxmlformats.org/officeDocument/2006/relationships/slide" Target="/ppt/slides/slide8.xml" Id="R6bbcce34db524431" /><Relationship Type="http://schemas.openxmlformats.org/officeDocument/2006/relationships/slide" Target="/ppt/slides/slide9.xml" Id="Rfdd4ec237059422f" /><Relationship Type="http://schemas.openxmlformats.org/officeDocument/2006/relationships/slide" Target="/ppt/slides/slide10.xml" Id="R408b05a2d4094ce0" /><Relationship Type="http://schemas.openxmlformats.org/officeDocument/2006/relationships/slide" Target="/ppt/slides/slide11.xml" Id="Rde77049d52314f69" /><Relationship Type="http://schemas.openxmlformats.org/officeDocument/2006/relationships/slide" Target="/ppt/slides/slide12.xml" Id="Rfe69a3fbbb3f4b36" /><Relationship Type="http://schemas.openxmlformats.org/officeDocument/2006/relationships/slide" Target="/ppt/slides/slide13.xml" Id="Rb4a546f98723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27ea9b046445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008456142422d" /><Relationship Type="http://schemas.openxmlformats.org/officeDocument/2006/relationships/notesMaster" Target="/ppt/notesMasters/notesMaster1.xml" Id="Rf5604d25b75244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558998f922464c" /><Relationship Type="http://schemas.openxmlformats.org/officeDocument/2006/relationships/notesMaster" Target="/ppt/notesMasters/notesMaster1.xml" Id="R22d26401247846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7044a90c1548d1" /><Relationship Type="http://schemas.openxmlformats.org/officeDocument/2006/relationships/notesMaster" Target="/ppt/notesMasters/notesMaster1.xml" Id="R1d26c82c86b84e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bcc518775b43ca" /><Relationship Type="http://schemas.openxmlformats.org/officeDocument/2006/relationships/notesMaster" Target="/ppt/notesMasters/notesMaster1.xml" Id="Rf75bd1e2a7ba42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a803b66d584015" /><Relationship Type="http://schemas.openxmlformats.org/officeDocument/2006/relationships/notesMaster" Target="/ppt/notesMasters/notesMaster1.xml" Id="R561ae678b046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03dfad7f84350" /><Relationship Type="http://schemas.openxmlformats.org/officeDocument/2006/relationships/notesMaster" Target="/ppt/notesMasters/notesMaster1.xml" Id="R0fb104210dd540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0e9ebb0a23486a" /><Relationship Type="http://schemas.openxmlformats.org/officeDocument/2006/relationships/notesMaster" Target="/ppt/notesMasters/notesMaster1.xml" Id="R645bacfbf59741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67f7abf3c84d60" /><Relationship Type="http://schemas.openxmlformats.org/officeDocument/2006/relationships/notesMaster" Target="/ppt/notesMasters/notesMaster1.xml" Id="Rf3115805862246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3117c01cc24786" /><Relationship Type="http://schemas.openxmlformats.org/officeDocument/2006/relationships/notesMaster" Target="/ppt/notesMasters/notesMaster1.xml" Id="Rff4db33a17b7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387d971394166" /><Relationship Type="http://schemas.openxmlformats.org/officeDocument/2006/relationships/notesMaster" Target="/ppt/notesMasters/notesMaster1.xml" Id="Rcfdfbe8e83094e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aa56bd80c4423a" /><Relationship Type="http://schemas.openxmlformats.org/officeDocument/2006/relationships/notesMaster" Target="/ppt/notesMasters/notesMaster1.xml" Id="Rd15943e617b246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ef6bd81f3e4eee" /><Relationship Type="http://schemas.openxmlformats.org/officeDocument/2006/relationships/notesMaster" Target="/ppt/notesMasters/notesMaster1.xml" Id="R5402b3a3d3d14f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3442ada0db4717" /><Relationship Type="http://schemas.openxmlformats.org/officeDocument/2006/relationships/notesMaster" Target="/ppt/notesMasters/notesMaster1.xml" Id="R0f1bbac4487c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72b43ee28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9dd25da6a4447" /><Relationship Type="http://schemas.openxmlformats.org/officeDocument/2006/relationships/slideLayout" Target="/ppt/slideLayouts/slideLayout1.xml" Id="R10c5d2e02fb54a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5d2e02fb54a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55ddb5690474d" /><Relationship Type="http://schemas.openxmlformats.org/officeDocument/2006/relationships/notesSlide" Target="/ppt/notesSlides/notesSlide1.xml" Id="R115e25e99172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c9a272a464f59" /><Relationship Type="http://schemas.openxmlformats.org/officeDocument/2006/relationships/hyperlink" Target="mailto:erik.figueiral.alonso@uvigo.gal" TargetMode="External" Id="R2123df45e0af4554" /><Relationship Type="http://schemas.openxmlformats.org/officeDocument/2006/relationships/notesSlide" Target="/ppt/notesSlides/notesSlide2.xml" Id="Rc85382a21a7f49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36c0cbd154c39" /><Relationship Type="http://schemas.openxmlformats.org/officeDocument/2006/relationships/notesSlide" Target="/ppt/notesSlides/notesSlide3.xml" Id="Ra0f3fc0ddc5840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69373a27d47ba" /><Relationship Type="http://schemas.openxmlformats.org/officeDocument/2006/relationships/hyperlink" Target="https://secretaria.uvigo.gal/docnet-nuevo/docencia/guia_docent/pdf/?idioma=cast&amp;pdf=Y&amp;pdf_any_academic=2025_26&amp;pdf_assig=1217" TargetMode="External" Id="R1fb2ecf3b64a4827" /><Relationship Type="http://schemas.openxmlformats.org/officeDocument/2006/relationships/notesSlide" Target="/ppt/notesSlides/notesSlide4.xml" Id="R5bba711056b543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1db6ce020409b" /><Relationship Type="http://schemas.openxmlformats.org/officeDocument/2006/relationships/image" Target="/ppt/media/image.png" Id="Rff02bd5501dd430e" /><Relationship Type="http://schemas.openxmlformats.org/officeDocument/2006/relationships/hyperlink" Target="https://esei.uvigo.es/wp-content/uploads/formularios/traballos-fin-de-grao/documentacion/estrutura-da-documentacion-do-tfg/GuiaElaboracionTFG_2024_2025.pdf" TargetMode="External" Id="R947b26a9639a4bce" /><Relationship Type="http://schemas.openxmlformats.org/officeDocument/2006/relationships/notesSlide" Target="/ppt/notesSlides/notesSlide5.xml" Id="Rd49fa57e2c1c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4da62f1074980" /><Relationship Type="http://schemas.openxmlformats.org/officeDocument/2006/relationships/image" Target="/ppt/media/image2.png" Id="Ref4f864d6c7649b4" /><Relationship Type="http://schemas.openxmlformats.org/officeDocument/2006/relationships/hyperlink" Target="https://esei.uvigo.es/wp-content/uploads/formularios/traballos-fin-de-grao/documentacion/estrutura-da-documentacion-do-tfg/GuiaElaboracionTFG_2024_2025.pdf" TargetMode="External" Id="R1c3e5e016c7445a5" /><Relationship Type="http://schemas.openxmlformats.org/officeDocument/2006/relationships/notesSlide" Target="/ppt/notesSlides/notesSlide6.xml" Id="Rb06e53e580d644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9b62dd9ab4ad5" /><Relationship Type="http://schemas.openxmlformats.org/officeDocument/2006/relationships/image" Target="/ppt/media/image3.png" Id="R38e075f316014372" /><Relationship Type="http://schemas.openxmlformats.org/officeDocument/2006/relationships/hyperlink" Target="https://repositorio.ucsm.edu.pe/bitstream/20.500.12920/10583/1/4M.0380.IM.pdf#page=125" TargetMode="External" Id="Ra9f6c4874f154489" /><Relationship Type="http://schemas.openxmlformats.org/officeDocument/2006/relationships/notesSlide" Target="/ppt/notesSlides/notesSlide7.xml" Id="Rc1c5102b94f148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f4dc9bd294918" /><Relationship Type="http://schemas.openxmlformats.org/officeDocument/2006/relationships/hyperlink" Target="https://www.ibm.com/docs/en/spss-modeler/18.6.0?topic=dm-crisp-help-overview" TargetMode="External" Id="R24fba22e67194703" /><Relationship Type="http://schemas.openxmlformats.org/officeDocument/2006/relationships/hyperlink" Target="https://commonkads.org/basics/" TargetMode="External" Id="Rc184de5a502a4baf" /><Relationship Type="http://schemas.openxmlformats.org/officeDocument/2006/relationships/hyperlink" Target="https://scrumguides.org/scrum-guide.html" TargetMode="External" Id="R441bb4ae3a644740" /><Relationship Type="http://schemas.openxmlformats.org/officeDocument/2006/relationships/notesSlide" Target="/ppt/notesSlides/notesSlide8.xml" Id="Rce0a09e629204a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dddb099824257" /><Relationship Type="http://schemas.openxmlformats.org/officeDocument/2006/relationships/notesSlide" Target="/ppt/notesSlides/notesSlide9.xml" Id="R364ca545a8174f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c1fbe430e43a8" /><Relationship Type="http://schemas.openxmlformats.org/officeDocument/2006/relationships/notesSlide" Target="/ppt/notesSlides/notesSlide10.xml" Id="Rcba50da7973743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c032cab7b47a9" /><Relationship Type="http://schemas.openxmlformats.org/officeDocument/2006/relationships/notesSlide" Target="/ppt/notesSlides/notesSlide11.xml" Id="Ra9e0f11af29a4e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13ff9e2094eb0" /><Relationship Type="http://schemas.openxmlformats.org/officeDocument/2006/relationships/notesSlide" Target="/ppt/notesSlides/notesSlide12.xml" Id="Rbec3b3952c4041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fed4005f46a5" /><Relationship Type="http://schemas.openxmlformats.org/officeDocument/2006/relationships/image" Target="/ppt/media/image.jpeg" Id="R6fecf32cfcf7447a" /><Relationship Type="http://schemas.openxmlformats.org/officeDocument/2006/relationships/image" Target="/ppt/media/image2.jpeg" Id="R2afa0e0fff574165" /><Relationship Type="http://schemas.openxmlformats.org/officeDocument/2006/relationships/hyperlink" Target="https://www.amazon.com/-/es/dp/047074376X" TargetMode="External" Id="R0794d06e1fdb492a" /><Relationship Type="http://schemas.openxmlformats.org/officeDocument/2006/relationships/hyperlink" Target="https://www.amazon.com/-/es/dp/3030619451" TargetMode="External" Id="R113ba18de5ff40e8" /><Relationship Type="http://schemas.openxmlformats.org/officeDocument/2006/relationships/hyperlink" Target="https://github.com/Figueiral-Alonso/Docencia" TargetMode="External" Id="R13fb3ab5bbd84521" /><Relationship Type="http://schemas.openxmlformats.org/officeDocument/2006/relationships/notesSlide" Target="/ppt/notesSlides/notesSlide13.xml" Id="R80506321b0b3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57578-EC20-4486-8792-1F8829A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81A05-606A-4E73-B12E-32A0CC1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CD500-69DB-4F3C-B1E1-C68CF047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34894-E3F4-493C-8101-E281D6ED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5E499-9988-4DF5-89D1-26D902D6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000F4-0192-4A92-9D91-6F2BA12C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Razonamiento con Incertidumbre (RAIN)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63821-EC48-48F5-9366-F949133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Parte de Planificación</a:t>
            </a:r>
          </a:p>
        </p:txBody>
      </p:sp>
    </p:spTree>
    <p:extLst>
      <p:ext uri="{BB962C8B-B14F-4D97-AF65-F5344CB8AC3E}">
        <p14:creationId xmlns:p14="http://schemas.microsoft.com/office/powerpoint/2010/main" val="1004563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900CB-AC0F-4557-83E8-D986398E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B3388-DD87-47F0-8404-2971CACB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9D67D-4A35-4D54-AA63-82E598C6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EF9BA-914A-4A52-BC95-958509F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EA2C5-8E63-4718-9E74-DFA63FF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2BB91-0960-4214-9DB8-69E3F9A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Horario · Erik Figueiral Alonso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C1F15-292A-42E4-BE15-5701AC8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Lunes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9C32B-B248-49CF-8824-5059121D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09:00–10:30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6C54B-8D1B-42DF-B826-BE14B6A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Jueves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6B7EA-9FF3-4334-B2C6-656C116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15:00–16:30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0F09C-C903-4ED0-BCE6-D07EB624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Laboratorio de Ciencia Computacional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952F6-F67C-4FF0-A2E4-50C24D57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3 horas concertadas · </a:t>
            </a:r>
            <a:r>
              <a:rPr sz="2025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2123df45e0af4554"/>
              </a:rPr>
              <a:t>erik.figueiral.alonso@uvigo.gal</a:t>
            </a:r>
          </a:p>
        </p:txBody>
      </p:sp>
    </p:spTree>
    <p:extLst>
      <p:ext uri="{BB962C8B-B14F-4D97-AF65-F5344CB8AC3E}">
        <p14:creationId xmlns:p14="http://schemas.microsoft.com/office/powerpoint/2010/main" val="1732712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547A-9A9F-4726-9A11-2A5E3C45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AF45D-CC0D-406A-94F9-6F29567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56EB8-46CC-48CE-BB50-76A63BEF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18605-416A-4F71-A4C9-792142D0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A3F8-3EB8-4ECA-A391-11F2189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F14E9-28AB-4978-B539-EC8EBC0F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Calendario de prácticas y entregas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09198-2459-438B-987B-634689D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52E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E36"/>
                </a:solidFill>
                <a:latin typeface="Arial"/>
                <a:ea typeface="Arial"/>
                <a:cs typeface="Arial"/>
              </a:rPr>
              <a:t>Realizado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FC986-4DE1-4768-B4B7-1B9A487D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Estamos aquí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4272F-9E8E-4587-B2B7-14755669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42950"/>
                <a:gridCol w="306705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Ses.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/ entrega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7–11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Avance inicial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14–18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Tema entregado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21–25 sep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Avanzar planificación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28 sep–2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Planificación: defensa 28 sep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5–9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19–23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26–30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Arquitectura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248400" y="1952625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42950"/>
                <a:gridCol w="306705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Ses.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/ entrega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2–6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9–13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Prototipo y código fuente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16–20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Estructura de la memoria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23–27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30 nov–4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7–11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Defensa del proyecto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14–18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Defensa del proyecto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A4B41-DDDF-4A69-B830-A77D56D4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Esta semana: avanzar la planificación. Defensa: lunes 28 de septiembre.</a:t>
            </a:r>
          </a:p>
        </p:txBody>
      </p:sp>
    </p:spTree>
    <p:extLst>
      <p:ext uri="{BB962C8B-B14F-4D97-AF65-F5344CB8AC3E}">
        <p14:creationId xmlns:p14="http://schemas.microsoft.com/office/powerpoint/2010/main" val="859802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79844-D12C-491A-99E8-D923D0F7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45A5D-B093-4B43-BCC2-797D7BEC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F8EA7-24C0-4A08-B433-24DA615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CF177-37AA-4E63-A34E-1BB96613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39836-68FB-4A4A-BBA2-1F3ABA59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81A68-913D-404E-B78C-B176CAE1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Dedicación a la práctica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38200" y="1685925"/>
          <a:ext xmlns:a="http://schemas.openxmlformats.org/drawingml/2006/main" cx="104775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381250"/>
                <a:gridCol w="2476500"/>
              </a:tblGrid>
              <a:tr h="6072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Guía docente: dedicación práctica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 estudiante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Pareja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Prácticas presenciales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30 h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60 h-persona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Trabajo en casa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50 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100 h-persona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80 h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160 h-persona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C2DA9-4308-4188-A399-5037ECD4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Como máximo, 160 horas-persona por pareja.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57109-FE02-4ACC-AB8F-6689981F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Podéis planificar solo las horas de casa: 100 h por pareja como referencia. Indicad el criterio y ajustad el alcance.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228C5-64D2-43B0-93C9-A560B71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1fb2ecf3b64a4827"/>
              </a:rPr>
              <a:t>Fuente: guía docente 2025–2026 · Planificación de prácticas</a:t>
            </a:r>
          </a:p>
        </p:txBody>
      </p:sp>
    </p:spTree>
    <p:extLst>
      <p:ext uri="{BB962C8B-B14F-4D97-AF65-F5344CB8AC3E}">
        <p14:creationId xmlns:p14="http://schemas.microsoft.com/office/powerpoint/2010/main" val="43579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20938-9C2A-4C85-B3FD-5235EF56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6E2FD-FB78-4FB5-B49A-91F1EAF9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0B708-62B4-4FEB-9372-72BB893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3DBA-178B-4F1A-8C3C-27945A5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1BD2C-A0F0-49A8-A8D2-1B6AB3B4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2D42B-DB19-455D-89B6-E27D0AE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La documentación del TFG como guía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2bd5501dd430e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647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8BA47-232F-470D-8084-DA644A04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71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Es solo una guía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B1F1D-C50C-4534-B9BB-88DBC94C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 memoria de la práctica será una simulación del TFG, con menos horas y un alcance menor.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D086D-8539-4E51-A524-124E46EA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6237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Ahora nos interesa el apartado 5.10: planificación y seguimiento.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C1631-6943-4AB7-B236-6D140743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48250"/>
            <a:ext cx="4000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Lo que preparéis ahora servirá para la memoria final.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49DC7-FC09-4108-96CA-928DDB8C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947b26a9639a4bce"/>
              </a:rPr>
              <a:t>ESEI · Estructura oficial de la documentación del TFG (PDF)</a:t>
            </a:r>
          </a:p>
        </p:txBody>
      </p:sp>
    </p:spTree>
    <p:extLst>
      <p:ext uri="{BB962C8B-B14F-4D97-AF65-F5344CB8AC3E}">
        <p14:creationId xmlns:p14="http://schemas.microsoft.com/office/powerpoint/2010/main" val="1975356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5F4E0-56E7-4D54-B3ED-5EFF94D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FCAE-00F6-4A83-848B-5AF5D60F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391CB-251D-4140-A443-BFD37E67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86B32-3A66-4765-B9E1-5CD30021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F95C-79AC-4F69-B773-534F4DE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FC204-AF60-4842-81E6-37142E06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La memoria: desarrollo y resultados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f864d6c7649b4"/>
          <a:stretch xmlns:a="http://schemas.openxmlformats.org/drawingml/2006/main"/>
        </p:blipFill>
        <p:spPr>
          <a:xfrm xmlns:a="http://schemas.openxmlformats.org/drawingml/2006/main">
            <a:off x="2730381" y="1466850"/>
            <a:ext cx="6731239" cy="4591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A2762-0F41-4AB4-BFCC-40439C93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1c3e5e016c7445a5"/>
              </a:rPr>
              <a:t>Documento completo · Guía de elaboración del TFG</a:t>
            </a:r>
          </a:p>
        </p:txBody>
      </p:sp>
    </p:spTree>
    <p:extLst>
      <p:ext uri="{BB962C8B-B14F-4D97-AF65-F5344CB8AC3E}">
        <p14:creationId xmlns:p14="http://schemas.microsoft.com/office/powerpoint/2010/main" val="183874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7EAA3-4C77-4795-A02E-B0691EFB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CE5A3-BFB0-41F2-8E5A-72C75B9C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3A14-EE30-4438-B9B2-401C51F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C6449-32D6-4D69-9998-9627AFF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EEF3-0AA6-425E-8908-0437DCF5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507D1-9CA1-46AA-B92A-C86EF495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Ejemplo real: planificación de un control difuso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2DB50-9B24-4898-8AF9-FBB7E1CB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Control PID y control difuso de un cuadricóptero. Tesis de la UCSM.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075f316014372"/>
          <a:stretch xmlns:a="http://schemas.openxmlformats.org/drawingml/2006/main"/>
        </p:blipFill>
        <p:spPr>
          <a:xfrm xmlns:a="http://schemas.openxmlformats.org/drawingml/2006/main">
            <a:off x="1513640" y="1885950"/>
            <a:ext cx="9164720" cy="398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38988-FA3A-4DFA-A5EC-757A6D8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a9f6c4874f154489"/>
              </a:rPr>
              <a:t>Andree Gutierrez Suclla (2021) · Figura 95, p. 108 · Ver tesis</a:t>
            </a:r>
          </a:p>
        </p:txBody>
      </p:sp>
    </p:spTree>
    <p:extLst>
      <p:ext uri="{BB962C8B-B14F-4D97-AF65-F5344CB8AC3E}">
        <p14:creationId xmlns:p14="http://schemas.microsoft.com/office/powerpoint/2010/main" val="855973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05E1E-1923-4869-8BA2-964FF2CE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35085-ACB5-48F4-BCCA-CBEA966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AE8FC-3211-4450-B341-554F83A6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CC98-5677-4648-9EB5-F175CDD8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A6F74-8E45-42B2-94A9-75FB272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8FD5D-DC56-4D6C-BA77-BCC35F6C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Metodologías y organización del trabajo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C1854-9E48-4347-825A-A07062A6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CRISP-DM · Si el proyecto se basa en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EAD20-9148-4372-810F-F87C4074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Comprender y preparar los datos, modelar, evaluar y poner en uso.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0FB68-1A2A-4DCF-B9F6-BEE0F6A9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CommonKADS · Si se basa en conocimiento experto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D0F0C-2C0A-410C-8F23-9EBA50F9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Obtener y representar el conocimiento, diseñar el razonamiento y validarlo.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A5418-78E1-4FCD-8153-D2BEDE77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Desarrollo iterativo con prototipos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2C1D6-46EF-473F-9489-B21EC15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Construir una versión, probarla y mejorar el modelo y la implementación.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4D73E-9565-488D-B8AD-C3CA861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Scrum · Encaja peor con nuestras fechas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90712-3E3F-4D6A-A161-D5829E6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Sí aprovechamos el trabajo iterativo: construir, probar y mejorar.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DE789-D8B4-4465-8357-5C2CC915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149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Dos hitos: prototipo y entrega final. Se valorará justificar el enfoque, sin exigir Scrum.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42A9D-E752-466D-9ED1-55D13DC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24fba22e67194703"/>
              </a:rPr>
              <a:t>CRISP-DM · IBM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009DF-F0C6-4761-A7BF-4672A924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007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c184de5a502a4baf"/>
              </a:rPr>
              <a:t>CommonKADS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057F3-044E-4471-A800-891A2708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007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441bb4ae3a644740"/>
              </a:rPr>
              <a:t>Guía Scrum</a:t>
            </a:r>
          </a:p>
        </p:txBody>
      </p:sp>
    </p:spTree>
    <p:extLst>
      <p:ext uri="{BB962C8B-B14F-4D97-AF65-F5344CB8AC3E}">
        <p14:creationId xmlns:p14="http://schemas.microsoft.com/office/powerpoint/2010/main" val="1910946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07C00-C45A-4E59-A015-5A087CF0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B4A4F-C5A6-4D10-93F0-DE907D33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0CC5C-6C38-471D-B01D-5807359E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AE122-FFC4-44A6-98C5-9148D77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85358-65BB-4773-A698-3E70C3E0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163C5-A245-4635-A3CE-DA4E01BA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Dos incrementos: ejemplo de un invernadero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38200" y="1762125"/>
          <a:ext xmlns:a="http://schemas.openxmlformats.org/drawingml/2006/main" cx="104775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667500"/>
              </a:tblGrid>
              <a:tr h="927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Incremento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se puede demostrar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1. Prototipo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Sesión 9: entrega prevista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Controlar la ventilación con la temperatura.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Reglas básicas y casos de prueba.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2. Entrega final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Sesiones 13–14: defensa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Incorporar humedad y revisar las reglas.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Comprobar el conjunto con nuevos casos.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22290-80D0-429E-90DE-00E6E20A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El prototipo permite probar y corregir antes de la entrega final y su defensa.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1181B-3A00-421D-9520-9EDB0441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Indicad vuestra metodología. Se valorará positivamente su justificación, sin exigir una aplicación rígida.</a:t>
            </a:r>
          </a:p>
        </p:txBody>
      </p:sp>
    </p:spTree>
    <p:extLst>
      <p:ext uri="{BB962C8B-B14F-4D97-AF65-F5344CB8AC3E}">
        <p14:creationId xmlns:p14="http://schemas.microsoft.com/office/powerpoint/2010/main" val="13065075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17835-D36F-4C8F-AB87-23C3DBD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56967-FF84-47FC-9D11-7181AE9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FD895-1D93-42D9-AE4A-C5D81EDB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20BC4-98B5-4FE7-81F8-8A6491E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748CA-6C1B-4222-A97E-BB00FBE5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D987F-03B3-4D12-9C4F-EE29BD0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Gantt con incrementos: ejemplo inspirado en Scrum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DA80D-E4A8-4ECE-A4EE-78AAF5D8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1. Prototipo · 2. Entrega final. Adaptación al calendario de la asignatura.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90900"/>
                <a:gridCol w="91440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Trabajo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Quién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Planificación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Incremento 1 · Prototipo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Arquitectura y diseño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del prototipo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Incremento 2 · Entrega final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Pruebas y correcciones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Memoria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F4B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Preparación de la defensa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D9B2C-DC96-4CEC-B227-158A4FE9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Naranja: trabajo previsto · ● Entrega o defensa · S: sesión</a:t>
            </a:r>
          </a:p>
        </p:txBody>
      </p:sp>
    </p:spTree>
    <p:extLst>
      <p:ext uri="{BB962C8B-B14F-4D97-AF65-F5344CB8AC3E}">
        <p14:creationId xmlns:p14="http://schemas.microsoft.com/office/powerpoint/2010/main" val="1724759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4F3DC-684C-4136-8C17-81C7FAF9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ED82E-E8E9-48C0-B1B2-DD1A0C4C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6CE6A-0601-4B00-A7F1-86A99463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DAB55-4F94-4A79-9D4B-0A041F0A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32858-5A1E-441A-8A33-1B1238CB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9D531-D30B-4F5E-8935-475E077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Gantt sin incrementos: ejemplo por entregas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61FF7-C939-4F02-A9C0-4A85CC9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Las mismas entregas, organizadas directamente como tareas.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347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90900"/>
                <a:gridCol w="91440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4464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Trabajo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Quién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Planificación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Arquitectura y diseño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del prototipo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Pruebas y correcciones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Memoria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F4B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Preparación de la defensa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FBAD2-196E-4056-A41F-BAB1986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Naranja: trabajo previsto · ● Entrega o defensa · S: sesión</a:t>
            </a:r>
          </a:p>
        </p:txBody>
      </p:sp>
    </p:spTree>
    <p:extLst>
      <p:ext uri="{BB962C8B-B14F-4D97-AF65-F5344CB8AC3E}">
        <p14:creationId xmlns:p14="http://schemas.microsoft.com/office/powerpoint/2010/main" val="1057494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177B2-4685-42A1-9E91-1FC09D5C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CE969-E060-4E94-A3DE-52DF5B34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F298B-29CC-4809-843E-E699DBE5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0118-7E09-4BA4-86AB-AA1FBE9A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7B9E2-AB54-43BD-AF2C-6B926D8B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D3627-DEF6-41DA-ACA2-2140D8D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Gantt y máxima calificación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9F9C-9CAF-440D-8DD3-9D28C85F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El Gantt es necesario para optar a la máxima calificación.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ABD0F-DC35-4A85-A065-EDE43357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Podéis usar sesiones, semanas o fechas como escala temporal.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41E5C-3C65-4D42-B1DB-A25AD8C6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Elegid el formato que os resulte más claro. Dividir las tareas en subtareas es opcional.</a:t>
            </a:r>
          </a:p>
        </p:txBody>
      </p:sp>
    </p:spTree>
    <p:extLst>
      <p:ext uri="{BB962C8B-B14F-4D97-AF65-F5344CB8AC3E}">
        <p14:creationId xmlns:p14="http://schemas.microsoft.com/office/powerpoint/2010/main" val="993771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C19F8-2402-4EC8-8DFD-9C2C2AD6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1E73C-CF8B-406B-8868-C04535E3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64E33-A55B-419D-8691-29ABCC2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C6F2B-576E-49C9-908C-1D952887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6A676-CB0C-4F8B-95FE-C44D23F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2DE87-069D-463C-A2FA-375883D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Próxima semana: incertidumbre y arquitectura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3664B-32FD-41EB-929A-19BA7EDA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Control difuso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67CCA-11B1-48D5-BC06-040E5EF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763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Diagnóstico probabilístico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cf32cfcf7447a"/>
          <a:stretch xmlns:a="http://schemas.openxmlformats.org/drawingml/2006/main"/>
        </p:blipFill>
        <p:spPr>
          <a:xfrm xmlns:a="http://schemas.openxmlformats.org/drawingml/2006/main">
            <a:off x="842645" y="2095500"/>
            <a:ext cx="2086610" cy="30289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a0e0fff574165"/>
          <a:stretch xmlns:a="http://schemas.openxmlformats.org/drawingml/2006/main"/>
        </p:blipFill>
        <p:spPr>
          <a:xfrm xmlns:a="http://schemas.openxmlformats.org/drawingml/2006/main">
            <a:off x="6408524" y="2095500"/>
            <a:ext cx="1908601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77F50-84B2-43E9-A74D-5A486F9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Timothy J. Ross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130A2-10FB-45F1-92A0-317C729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2762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Fuzzy Logic with Engineering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D2950-2A3A-4E4F-97A3-DCE0B63D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4812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3.ª edición</a:t>
            </a:r>
          </a:p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Wiley, 2010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8DB0B-F43C-495F-83B1-B55E5358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Luis Enrique Sucar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9DC2D-5994-45E7-9A8F-A073C607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95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Probabilistic Graphical Models</a:t>
            </a:r>
          </a:p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Principles and Applications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F2913-A3D9-4E16-A64F-0A4484C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2.ª edición</a:t>
            </a:r>
          </a:p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Springer, 2021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AF76E-4A35-414A-88D7-DA80CB3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0794d06e1fdb492a"/>
              </a:rPr>
              <a:t>Referencia del libro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33062-C3A1-4705-852E-3C088083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01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113ba18de5ff40e8"/>
              </a:rPr>
              <a:t>Referencia del libro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CEF36-C558-4D86-ABD1-F7D0118D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Veremos cómo llevar vuestro problema a una arquitectura de diagnóstico o de control.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75636-B004-45A3-A30B-6B79168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13fb3ab5bbd84521"/>
              </a:rPr>
              <a:t>GitHub Docencia · Materiales de la asignatura</a:t>
            </a:r>
          </a:p>
        </p:txBody>
      </p:sp>
    </p:spTree>
    <p:extLst>
      <p:ext uri="{BB962C8B-B14F-4D97-AF65-F5344CB8AC3E}">
        <p14:creationId xmlns:p14="http://schemas.microsoft.com/office/powerpoint/2010/main" val="475487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2026-09-20T23:06:06.9630000Z</dcterms:created>
  <dcterms:modified xsi:type="dcterms:W3CDTF">2026-09-20T23:06:06.9630000Z</dcterms:modified>
</coreProperties>
</file>